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92A3E"/>
                </a:solidFill>
                <a:latin typeface="Aptos"/>
              </a:rPr>
              <a:t>Dissertation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148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5C8A"/>
                </a:solidFill>
                <a:latin typeface="Aptos"/>
              </a:rPr>
              <a:t>Performance → Success → Network → Peers → Pool → Advancement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97078"/>
                </a:solidFill>
                <a:latin typeface="Aptos"/>
              </a:rPr>
              <a:t>Working slide architecture • completion map • coding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078"/>
                </a:solidFill>
                <a:latin typeface="Aptos"/>
              </a:rPr>
              <a:t>v0.1 •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F22"/>
                </a:solidFill>
                <a:latin typeface="Aptos"/>
              </a:rPr>
              <a:t>Purpose: approve the STORY first; let the remaining analyses follow from the claims the story requires.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Project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A fast read on what is established, what needs strengthening, and what remains exploratory.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34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D4E"/>
                </a:solidFill>
                <a:latin typeface="Aptos"/>
              </a:rPr>
              <a:t>ARMY — discovery / bedrock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642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HERO locked; largest N; refresh key porch figures; recover/review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13432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86584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MBB — cross-domain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Sound analysis; HERO weaker after defensible cleaning; ~2.7% draft scarcity is a candidate boundary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4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R1 CS — academic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906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Reliable pilot; N≈391 resolved; expand sample + deepen robustness.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9896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13048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MODEL —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0390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ASSIGN→SCORE→SELECT exists; LG fixed-size homophilic ASSIGN; λ proof-of-concept exists.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53128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AA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3F3F"/>
                </a:solidFill>
                <a:latin typeface="Aptos"/>
              </a:rPr>
              <a:t>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1713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Comparative statics, band-of-excellence, targeted empirical tests still to develop.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A4C93"/>
                </a:solidFill>
                <a:latin typeface="Aptos"/>
              </a:rPr>
              <a:t>NETWORK / ORG EXTENSIONS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2303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High-upside stretch: predictive network metrics; organizational talent leverage.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Validate this dashboard against the current repo as figures are regenerated.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COMPASS handoff / Sep 16 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Performance is not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Barabási’s success framing separates individual performance from socially allocated success.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When performance is difficult to measure, reputation and networks can strongly shape access to rewards.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Anchor contrast: tennis-like measurable performance ↔ modern art’s network-mediated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09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Performance  ≠ 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exact quotation/page from The Formula before final defense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Barabási (2018); Fraiberger et al. (2018)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what if performance CAN be measured?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5C8A"/>
                </a:solidFill>
                <a:latin typeface="Aptos"/>
              </a:rPr>
              <a:t>Does the network still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1C1F22"/>
                </a:solidFill>
                <a:latin typeface="Aptos"/>
              </a:rPr>
              <a:t>How much of success belongs to individual performance—and how much depends on the local peer environment in which that performance occurs?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A7B"/>
                </a:solidFill>
                <a:latin typeface="Aptos"/>
              </a:rPr>
              <a:t>NETWORK SCIENCE DOORWAY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Polish the central research-question wording after story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Peers: the missing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What we already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Talent / performance strongly relates to success.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Mentors and senior relationships have received substantial attention in Army careers.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Peer effects are well developed in adjacent literatures.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What we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how good YOU are, does WHO SURROUNDS YOU affect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Can local peer quality help at first, then reduce distinction?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Under what system conditions should that relationship change?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Targeted literature synthesis: Army peers vs mentors; nearest-neighbor novelty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Three systems of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Same skeleton; radically different institutions.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Army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NCAA MBB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R1 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Performance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Top-block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Player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9659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Career publication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24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Local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243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Rating / senior-rater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6243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Team-season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624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CS department × decision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8269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8269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Global promotion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8269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Global NBA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28269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Mostly local tenure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41063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Scarcity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4106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94106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Extreme (~2.7%)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941063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Substantial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9431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Peer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9943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pool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59943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teammate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599431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dept career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Confirm exact Army selection-rate language and final academic sample after expansion.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Why Army?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Discovery domain and empirical bedrock.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Large longitudinal population with standardized career stages and consequential advancement.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Unusually rich and scarce data access.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Just enough institutional context to calibrate the evidence—then move quickly to the result.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current sample sizes and canonical Army figure paths from AWS/CAC.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G1 refresh pending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Talent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The naïve plot is a feature of the story, not a throwaway.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92A3E"/>
                </a:solidFill>
                <a:latin typeface="Aptos"/>
              </a:rPr>
              <a:t>Own performance  →  advancement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Expected result: higher own top-block ratio is associated with faster / more likely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7078"/>
                </a:solidFill>
                <a:latin typeface="Aptos"/>
              </a:rPr>
              <a:t>[PLACEHOLDER: canonical Army own-TB monotone plot]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Insert/regenerate canonical own-TB figure; confirm exact outcome wording.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talent does not compete in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4028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YOUR LOCAL PEER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HERO asks about the peer environment without mechanically mixing the focal individual into the pond mean.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Use a simple visual defining whole-pool mean vs leave-one-out peer mean.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HERO: the Army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8"/>
                </a:solidFill>
                <a:latin typeface="Aptos"/>
              </a:rPr>
              <a:t>[PLACEHOLDER: Army HERO — LOO pool quality → promotion]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A3E"/>
                </a:solidFill>
                <a:latin typeface="Aptos"/>
              </a:rPr>
              <a:t>Core empirical discovery: advancement rises and then declines across the local peer-quality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3F3F"/>
                </a:solidFill>
                <a:latin typeface="Aptos"/>
              </a:rPr>
              <a:t>Claim discipline: empirical association / regularity, not causal peer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all-branches anchor PNG; retain CS+CSS stronger slice as supporting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Army HERO shape: locked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For whom does the pool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FIND/REVIEW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Existing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TB Ratio × Rank-in-Pool → Promotion Hazard Ratio.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Higher hazard = faster promotion in this application.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Recover and review the hundreds-of-plots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New candidate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performance × LOO peer quality → advancement.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Could expose a high-but-not-extreme ‘band of excellence’.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Candidate parallel surface for MBB and R1.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Locate existing Army surface deck; create own-performance × LOO-pool-quality surface.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Discovery was exploratory—and 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Many plausible plots/specifications were explored to understand the phenomenon.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MBB cleaning removed one-game player-seasons even though it weakened the visually beautiful tail.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Final defense should distinguish exploration from targeted validation.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Use multiverse/specification logic where useful rather than selecting the prettiest HERO.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5C8A"/>
                </a:solidFill>
                <a:latin typeface="Aptos"/>
              </a:rPr>
              <a:t>Steegen et al. (2016) — Increasing transparency through a multiverse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how much discovery-process history belongs in core vs backup.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Steegen et al. 2016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Abstract the common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192A3E"/>
                </a:solidFill>
                <a:latin typeface="Aptos"/>
              </a:rPr>
              <a:t>Individuals  →  Pools  →  Peer benefit / competition  →  Scarce advancement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Where else does this structure exist?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this conceptual, not mechanistic; literature-first remains a strong alternate route.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NCAA MBB: a demanding boundary-condition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Individual performance is comparatively measurable.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Global selection into the NBA Draft is extremely scarce (~2.7% working estimate).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After defensible cleaning of one-game player-seasons, the long dipping HERO tail weakened.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interpretation: sound analysis; definite tendency; visually weaker than Army.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Scientific question: does extreme scarcity alter the geometry of the phenomenon?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draft-rate denominator; harmonize naïve/HERO plots; consider specification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MBB current best interpretation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R1 CS: the academic domain must carry real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pilot: ~168 R1 CS departments; ≈391 resolved tenure/attrition decisions.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Pool: whole observed CS department in decision year, all ranks.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HERO exposure: leave-one-out mean peer pubs_per_career_year.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Own axis: focal scholar’s career publication rate at decision 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Priority: expand N and deepen robustness—not add fields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Continue R1 scraping/resolution; test whole-dept vs assistant-only and performance-metric sensitivity.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PD29 reigning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One visual grammar across all three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OWN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LOO PEER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CONDITIONAL 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Recreate harmonized plots; surface plots are candidate work for all domains.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Same phenomenon, different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Working claim: consistent phenomenon across domains, expressed to varying degrees.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Candidate moderators / boundary conditions: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selection scarcity / K:N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assortativity / homophily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pool size and variance in pool means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local vs global recognition and selection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measurement / evaluation structure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Differences are data for the theory—not failures to produce identical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Classify which moderators are already measured vs model hypotheses.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 minimal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7A7B"/>
                </a:solidFill>
                <a:latin typeface="Aptos"/>
              </a:rPr>
              <a:t>Benefit of stronger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E8022"/>
                </a:solidFill>
                <a:latin typeface="Aptos"/>
              </a:rPr>
              <a:t>Loss of relative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AA3F3F"/>
                </a:solidFill>
                <a:latin typeface="Aptos"/>
              </a:rPr>
              <a:t>Scarce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47472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Potential inverted-U in advancement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Literature neighbor: Big Fish / Small Pond — own ability, relative rank, and peer quality must be separated.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Nearest-neighbor review before strong novelty claim; dedicated Big Fish slide may move earlier/later.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Big Fish / Small Pond: an intellectual neighbor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What it helps us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ability / performance.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Relative rank within the local peer group.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Mean peer quality / caliber of the pond.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Our next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prior studies estimate mean peer quality separately from own ability and rank?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they predict scarce career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opposing peer-benefit and distinction forces generate our geometry?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Read/annotate Elsner &amp; Isphording closely; build nearest-neighbor comparison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real pools are not random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92A3E"/>
                </a:solidFill>
                <a:latin typeface="Aptos"/>
              </a:rPr>
              <a:t>Simple mechanism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C8A"/>
                </a:solidFill>
                <a:latin typeface="Aptos"/>
              </a:rPr>
              <a:t>Then the complication: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People and talent sort into pools.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That is why ASSIGN needs controlled assortativity / homophily.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network machinery subordinate to the scientific mechanism in the main 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LG / ASSIGN: controlled bipartite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Fixed-size bipartite network generator: individuals ↔ pools/teams.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Assignment is assortative on node metadata / talent rather than degree.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Tunable homophily allows realistic nonrandom pool formation while preserving size constraints.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Required role: generate plausible assignment geometry for the minimal model.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Possible independent role: methodological contribution / standalone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 canonical LG equation, parameter definitions, validation plots; perform dedicated novelty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LG methods paper: potential, not claimed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ASSIGN → SCORE → SELECT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E8022"/>
                </a:solidFill>
                <a:latin typeface="Aptos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3F3F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Homophilic pools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Talent + congestion (λ)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63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Top K / scarcity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λ=0 vs λ&gt;0 knockout already provides qualitative proof-of-concept curvature.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Regenerate/insert core λ knockout; keep environment distinct from advancement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G2 must-show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The model must do more than redraw the HERO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Explanation  →  Prediction  →  Targeted empirical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When does the inverted-U strengthen, weaken, shift, or disappear?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parameters alter peak location or downturn strength?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predictions distinguish congestion from a talent-only explanation?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Define the smallest set of discriminating comparative statics.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prediction: the ‘band of excellence’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Exploratory memory: the very best players still tended to be drafted.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Candidate hypothesis: pool sensitivity is greatest for high-but-not-extreme talent.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Model test: map advancement over own talent × LOO peer quality.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Then return to Army/MBB/R1 for targeted heterogeneous-effect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0060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A4C93"/>
                </a:solidFill>
                <a:latin typeface="Aptos"/>
              </a:rPr>
              <a:t>P(success | own talent, peer environment)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Recover MBB plots if possible; do not present as established until recreated/tested.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phase map / comparative statics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ρ — assignment assortativity / homophily.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λ — congestion / distinction penalty in SCORE.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K/N — advancement scarcity.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Pool size / capacity and variance in pool means.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Potential output: regimes with monotone, peaked, flat, or threshold-like advancement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which parameters are behavioral mechanisms vs empirical structural constraints vs simulation choices.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Two sides of the phenomenon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my talent, which pool maximizes my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Where you compete may matter even when we know how good you are.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Possible risk: excellent-but-not-extreme individuals naively enter environments that reduce distinction.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finite resources, what talent configuration best leverages the talent assembled?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Not merely recognition/retention—collective output is the dependent variable.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Individual optimum and organizational optimum need not coincide.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organizational leverage as extension unless a clean team-output analysis is feasible.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Organizational leverage: the roster-allocation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$30M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A3F3F"/>
                </a:solidFill>
                <a:latin typeface="Aptos"/>
              </a:rPr>
              <a:t>3 × $10M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7432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97078"/>
                </a:solidFill>
                <a:latin typeface="Aptos"/>
              </a:rPr>
              <a:t>vs.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A7B"/>
                </a:solidFill>
                <a:latin typeface="Aptos"/>
              </a:rPr>
              <a:t>2 × $10M + 5 × $2M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1C1F22"/>
                </a:solidFill>
                <a:latin typeface="Aptos"/>
              </a:rPr>
              <a:t>When does the marginal contribution of another superstar become smaller than a broader allocation of talent?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Possible MBB/team-performance extension; compare with ‘too-much-talent’ literature.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High-upside network 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A4C93"/>
                </a:solidFill>
                <a:latin typeface="Aptos"/>
              </a:rPr>
              <a:t>Can network structure itself predict advancement?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P(Yᵢ) = f(own talent, peer quality, relative rank, network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Dream integration: bipartite structure becomes substantive explanation, not just assignment machinery.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not make dissertation completion depend on this.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If unsuccessful, LG still serves the generative model and may stand alone methodologically.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Explore only after core explanation/prediction path is secured.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What constitutes a complete dissertation?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38988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Phenomenon +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Strong Army; strengthened R1; honest MBB; working model generates phenomenon.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414016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96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Model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44144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Comparative statics: when the curve emerges, shifts, weakens, disappears.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655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3438144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204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65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Empirical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65576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Return to real domains and test selected model-derived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89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462272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544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89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Network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489704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Network metrics become substantively explanatory/predictive; stretch goal.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Discussion: defense requirement vs paper vs future work. No choice locked.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Where does the model enter the story?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Routes A /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 — Empirics first: Army → MBB → R1 → synthesis → model.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B — Discovery/model first: Army → model → MBB/R1 as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Route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Army → MBB/R1 → brief cross-domain pattern → model → predictions → return to domains.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Creates a discovery → explanation → test loop.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Potentially strongest, but may require more completed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Present as architecture options; do not lock until discussion.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How much of the discovery journey?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A — Working choice: foreground the scientific journey and analytical transparency.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B — Selective journey: only moments that strengthen credibility.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 — Finished argument only: minimize research-history narrative.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Current storyboard uses A, with B/C available if a tighter defense narrative is preferred.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Revisit after first full storyboard read-through.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APPENDIX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Parking lot / reserve forces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NCAA football — modular codebase can interrogate quickly; reserve pending theory-driven need.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League of Legends — reserve dataset.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Two additional academic datasets — not yet understood; reserve.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Additional academic fields — not current priority; expand + robustify R1 CS first.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Organizational output / team success analysis — possible extension.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LG standalone methods paper — possible independent contribution.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Big Fish / Small Pond — literature bridge, not a new defense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Only activate a reserve dataset when a model prediction gives a reason to use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Near-term work implied by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1. Army: refresh canonical HERO / naïve figures; recover TB×rank×hazard surfaces; create own×LOO surface.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2. R1: expand resolved sample; run predefined robustness across pool and performance definitions.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3. MBB: harmonize descriptive plots; document cleaning and specification sensitivity; verify selection rate.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4. Model: insert LG equation/validation; regenerate λ knockout; define minimal comparative-statics plan.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5. Literature: nearest-neighbor review (Big Fish, peer quality/rank, success networks); verify The Formula wording.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6. Story: choose dissertation endpoint, model placement, and discovery-process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Use this as the coding/results roadmap after the story is approved.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VII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Working 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Talent does not operate independently of the pool in which it is embedded.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Which environment best supports my advancement?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How should talent be configured so the organization can best leverage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Discovery → Generality → Explanation → Prediction → Test → Consequence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Final wording should follow what the completed analyses actually support.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Selected anchors for the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Barabási, A.-L. (2018). The Formula: The Universal Laws of Success. Little, Brown.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Fraiberger, S. P., Sinatra, R., Resch, M., Riedl, C., &amp; Barabási, A.-L. (2018). Quantifying reputation and success in art. Science, 362(6416), 825–829. https://doi.org/10.1126/science.aau7224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Steegen, S., Tuerlinckx, F., Gelman, A., &amp; Vanpaemel, W. (2016). Increasing transparency through a multiverse analysis. Perspectives on Psychological Science, 11(5), 702–712. https://doi.org/10.1177/1745691616658637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Elsner, B., &amp; Isphording, I. E. (2017). A Big Fish in a Small Pond: Ability Rank and Human Capital Investment. Journal of Labor Economics, 35(3), 787–828. https://doi.org/10.1086/690714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Swaab, R. I., et al. (2014). The Too-Much-Talent Effect. Psychological Science, 25(8), 1581–1591. https://doi.org/10.1177/0956797614537280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Expand only as specific slides require; this is not yet the dissertation bibliography.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