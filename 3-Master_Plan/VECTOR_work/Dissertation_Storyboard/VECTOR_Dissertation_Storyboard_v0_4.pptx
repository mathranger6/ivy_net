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5"/>
    <p:restoredTop sz="94646"/>
  </p:normalViewPr>
  <p:slideViewPr>
    <p:cSldViewPr snapToGrid="0" snapToObjects="1">
      <p:cViewPr varScale="1">
        <p:scale>
          <a:sx n="112" d="100"/>
          <a:sy n="112" d="100"/>
        </p:scale>
        <p:origin x="224" y="2200"/>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167" d="100"/>
          <a:sy n="167" d="100"/>
        </p:scale>
        <p:origin x="1856"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DBCC46-9610-FE48-B864-A28B54F1B7B9}" type="datetimeFigureOut">
              <a:rPr lang="en-US" smtClean="0"/>
              <a:t>9/17/26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8912" y="4315310"/>
            <a:ext cx="6740176" cy="42397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4D10B-03DC-5049-892F-9C09D8079E57}" type="slidenum">
              <a:rPr lang="en-US" smtClean="0"/>
              <a:t>‹#›</a:t>
            </a:fld>
            <a:endParaRPr lang="en-US"/>
          </a:p>
        </p:txBody>
      </p:sp>
    </p:spTree>
    <p:extLst>
      <p:ext uri="{BB962C8B-B14F-4D97-AF65-F5344CB8AC3E}">
        <p14:creationId xmlns:p14="http://schemas.microsoft.com/office/powerpoint/2010/main" val="3081296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ooks.google.com/books?id=zWJPDwAAQBAJ"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link.springer.com/article/10.1140/epjds/s13688-016-0079-z"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journals.sagepub.com/doi/abs/10.1177/01492063221138225"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ubsonline.informs.org/doi/abs/10.1287/mnsc.2013.184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cambridge.org/core/journals/network-science/article/when-can-networks-be-inferred-from-observed-groups/7DC873B0E2D9174DAB80AF25C4B68D51"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journals.uchicago.edu/doi/abs/10.1086/673372"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nk.springer.com/article/10.1007/s11123-023-00695-y"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tandfonline.com/doi/abs/10.1080/03075079.2018.1466873"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a:xfrm>
            <a:off x="162731" y="4400549"/>
            <a:ext cx="6610027" cy="4588467"/>
          </a:xfrm>
        </p:spPr>
        <p:txBody>
          <a:bodyPr/>
          <a:lstStyle/>
          <a:p>
            <a:r>
              <a:rPr lang="en-US" sz="800" b="1" dirty="0"/>
              <a:t>SLIDE 1 — Title Slide</a:t>
            </a:r>
          </a:p>
          <a:p>
            <a:r>
              <a:rPr lang="en-US" sz="800" b="1" dirty="0"/>
              <a:t>PURPOSE</a:t>
            </a:r>
            <a:endParaRPr lang="en-US" sz="800" dirty="0"/>
          </a:p>
          <a:p>
            <a:r>
              <a:rPr lang="en-US" sz="800" dirty="0"/>
              <a:t>Open with the working intellectual frame. Do </a:t>
            </a:r>
            <a:r>
              <a:rPr lang="en-US" sz="800" b="1" dirty="0"/>
              <a:t>not</a:t>
            </a:r>
            <a:r>
              <a:rPr lang="en-US" sz="800" dirty="0"/>
              <a:t> try to explain the phenomenon yet. Establish immediately that this is about the relationship among </a:t>
            </a:r>
            <a:r>
              <a:rPr lang="en-US" sz="800" b="1" dirty="0"/>
              <a:t>individual performance, peer networks, and advancement in competitive systems</a:t>
            </a:r>
            <a:r>
              <a:rPr lang="en-US" sz="800" dirty="0"/>
              <a:t>.</a:t>
            </a:r>
          </a:p>
          <a:p>
            <a:r>
              <a:rPr lang="en-US" sz="800" b="1" dirty="0"/>
              <a:t>SAY / REHEARSAL LANGUAGE</a:t>
            </a:r>
            <a:endParaRPr lang="en-US" sz="800" dirty="0"/>
          </a:p>
          <a:p>
            <a:r>
              <a:rPr lang="en-US" sz="800" dirty="0"/>
              <a:t>“Most of us are comfortable with the idea that talent and performance predict success. I’m not here to argue that they don’t. In fact, that relationship is going to be an important part of this story.”</a:t>
            </a:r>
          </a:p>
          <a:p>
            <a:r>
              <a:rPr lang="en-US" sz="800" dirty="0"/>
              <a:t>“What I’m asking is a narrower—and I think much more interesting—question: when talented people are embedded in competitive peer pools, does the network still have a say?”</a:t>
            </a:r>
          </a:p>
          <a:p>
            <a:r>
              <a:rPr lang="en-US" sz="800" dirty="0"/>
              <a:t>“The working title is </a:t>
            </a:r>
            <a:r>
              <a:rPr lang="en-US" sz="800" i="1" dirty="0"/>
              <a:t>Success in a School of Big Fish</a:t>
            </a:r>
            <a:r>
              <a:rPr lang="en-US" sz="800" dirty="0"/>
              <a:t>. The fish-and-pond language will become more meaningful as we go, because there are actually two ways to look at the same pond: from the perspective of the individual fish, and from the perspective of the organization assembling the pond.”</a:t>
            </a:r>
          </a:p>
          <a:p>
            <a:r>
              <a:rPr lang="en-US" sz="800" dirty="0"/>
              <a:t>“This is ultimately a network-science story about competitive systems: how individual performance interacts with the people surrounding you as talent gets converted into advancement.”</a:t>
            </a:r>
          </a:p>
          <a:p>
            <a:r>
              <a:rPr lang="en-US" sz="800" b="1" dirty="0"/>
              <a:t>STORY SPINE — REMEMBER WHERE WE ARE GOING</a:t>
            </a:r>
            <a:endParaRPr lang="en-US" sz="800" dirty="0"/>
          </a:p>
          <a:p>
            <a:r>
              <a:rPr lang="en-US" sz="800" dirty="0"/>
              <a:t>Performance predicts success</a:t>
            </a:r>
            <a:br>
              <a:rPr lang="en-US" sz="800" dirty="0"/>
            </a:br>
            <a:r>
              <a:rPr lang="en-US" sz="800" dirty="0"/>
              <a:t>→ </a:t>
            </a:r>
            <a:r>
              <a:rPr lang="en-US" sz="800" b="1" dirty="0"/>
              <a:t>BUT</a:t>
            </a:r>
            <a:r>
              <a:rPr lang="en-US" sz="800" dirty="0"/>
              <a:t> performance is not always the whole story</a:t>
            </a:r>
            <a:br>
              <a:rPr lang="en-US" sz="800" dirty="0"/>
            </a:br>
            <a:r>
              <a:rPr lang="en-US" sz="800" dirty="0"/>
              <a:t>→ people compete inside pools</a:t>
            </a:r>
            <a:br>
              <a:rPr lang="en-US" sz="800" dirty="0"/>
            </a:br>
            <a:r>
              <a:rPr lang="en-US" sz="800" dirty="0"/>
              <a:t>→ pools create peer networks</a:t>
            </a:r>
            <a:br>
              <a:rPr lang="en-US" sz="800" dirty="0"/>
            </a:br>
            <a:r>
              <a:rPr lang="en-US" sz="800" dirty="0"/>
              <a:t>→ peer environments may affect advancement even given own performance</a:t>
            </a:r>
            <a:br>
              <a:rPr lang="en-US" sz="800" dirty="0"/>
            </a:br>
            <a:r>
              <a:rPr lang="en-US" sz="800" dirty="0"/>
              <a:t>→ the relationship appears differently across competitive systems</a:t>
            </a:r>
            <a:br>
              <a:rPr lang="en-US" sz="800" dirty="0"/>
            </a:br>
            <a:r>
              <a:rPr lang="en-US" sz="800" dirty="0"/>
              <a:t>→ </a:t>
            </a:r>
            <a:r>
              <a:rPr lang="en-US" sz="800" b="1" dirty="0"/>
              <a:t>those differences may be scientifically informative</a:t>
            </a:r>
            <a:br>
              <a:rPr lang="en-US" sz="800" dirty="0"/>
            </a:br>
            <a:r>
              <a:rPr lang="en-US" sz="800" dirty="0"/>
              <a:t>→ characterize the response geometry</a:t>
            </a:r>
            <a:br>
              <a:rPr lang="en-US" sz="800" dirty="0"/>
            </a:br>
            <a:r>
              <a:rPr lang="en-US" sz="800" dirty="0"/>
              <a:t>→ identify what properties of systems morph that geometry</a:t>
            </a:r>
            <a:br>
              <a:rPr lang="en-US" sz="800" dirty="0"/>
            </a:br>
            <a:r>
              <a:rPr lang="en-US" sz="800" dirty="0"/>
              <a:t>→ build a model that can explain and predict those changes.</a:t>
            </a:r>
          </a:p>
          <a:p>
            <a:r>
              <a:rPr lang="en-US" sz="800" b="1" dirty="0"/>
              <a:t>KEY IDEA TO KEEP IN YOUR HEAD</a:t>
            </a:r>
            <a:endParaRPr lang="en-US" sz="800" dirty="0"/>
          </a:p>
          <a:p>
            <a:r>
              <a:rPr lang="en-US" sz="800" dirty="0"/>
              <a:t>“Talent matters. But talent does not compete alone.”</a:t>
            </a:r>
          </a:p>
          <a:p>
            <a:r>
              <a:rPr lang="en-US" sz="800" dirty="0"/>
              <a:t>Do </a:t>
            </a:r>
            <a:r>
              <a:rPr lang="en-US" sz="800" b="1" dirty="0"/>
              <a:t>not</a:t>
            </a:r>
            <a:r>
              <a:rPr lang="en-US" sz="800" dirty="0"/>
              <a:t> necessarily use that line yet. It may become more powerful later after we have established that talent really does predict success.</a:t>
            </a:r>
          </a:p>
          <a:p>
            <a:r>
              <a:rPr lang="en-US" sz="800" b="1" dirty="0"/>
              <a:t>CAUTION / DON'T OVERCLAIM</a:t>
            </a:r>
            <a:endParaRPr lang="en-US" sz="800" dirty="0"/>
          </a:p>
          <a:p>
            <a:r>
              <a:rPr lang="en-US" sz="800" dirty="0"/>
              <a:t>We are </a:t>
            </a:r>
            <a:r>
              <a:rPr lang="en-US" sz="800" b="1" dirty="0"/>
              <a:t>not</a:t>
            </a:r>
            <a:r>
              <a:rPr lang="en-US" sz="800" dirty="0"/>
              <a:t> opening by claiming that networks determine success, that performance is unimportant, or that we have already established a causal peer effect.</a:t>
            </a:r>
          </a:p>
          <a:p>
            <a:r>
              <a:rPr lang="en-US" sz="800" dirty="0"/>
              <a:t>The puzzle is precisely interesting </a:t>
            </a:r>
            <a:r>
              <a:rPr lang="en-US" sz="800" b="1" dirty="0"/>
              <a:t>because performance matters so much</a:t>
            </a:r>
            <a:r>
              <a:rPr lang="en-US" sz="800" dirty="0"/>
              <a:t>.</a:t>
            </a:r>
          </a:p>
          <a:p>
            <a:r>
              <a:rPr lang="en-US" sz="800" b="1" dirty="0"/>
              <a:t>TRANSITION OUT</a:t>
            </a:r>
            <a:endParaRPr lang="en-US" sz="800" dirty="0"/>
          </a:p>
          <a:p>
            <a:r>
              <a:rPr lang="en-US" sz="800" dirty="0"/>
              <a:t>“Before I tell you that story, though, let me very quickly show you where the project actually stands—because some pieces are established, some are still being strengthened, and some are choices I specifically want your help thinking through.”</a:t>
            </a:r>
          </a:p>
          <a:p>
            <a:endParaRPr lang="en-US" sz="800" dirty="0"/>
          </a:p>
        </p:txBody>
      </p:sp>
      <p:sp>
        <p:nvSpPr>
          <p:cNvPr id="4" name="Slide Number Placeholder 3"/>
          <p:cNvSpPr>
            <a:spLocks noGrp="1"/>
          </p:cNvSpPr>
          <p:nvPr>
            <p:ph type="sldNum" sz="quarter" idx="5"/>
          </p:nvPr>
        </p:nvSpPr>
        <p:spPr/>
        <p:txBody>
          <a:bodyPr/>
          <a:lstStyle/>
          <a:p>
            <a:fld id="{0D34D10B-03DC-5049-892F-9C09D8079E57}" type="slidenum">
              <a:rPr lang="en-US" smtClean="0"/>
              <a:t>1</a:t>
            </a:fld>
            <a:endParaRPr lang="en-US"/>
          </a:p>
        </p:txBody>
      </p:sp>
    </p:spTree>
    <p:extLst>
      <p:ext uri="{BB962C8B-B14F-4D97-AF65-F5344CB8AC3E}">
        <p14:creationId xmlns:p14="http://schemas.microsoft.com/office/powerpoint/2010/main" val="3294800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SLIDE 2 — Project Dashboard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PURPOSE</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Orient Alex immediately to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what exists, what is promising, and what remains work</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This is not really part of the scientific argument yet; it is the map for the conversation.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The slide currently distinguishes Army as the empirical bedrock, MBB as the cross-domain test, R1 CS as the academic leg requiring expansion, the existing minimal model, predictions still to develop, and the higher-upside network/organizational extensions.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SAY / REHEARSAL LANGUAGE</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“Before I launch into the story, I want to give you a quick dashboard of where everything actually stands.”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“This is a storyboard, not a victory lap. Some pieces are established, some are promising, and some are deliberately placeholders because I want to make sure we agree on the scientific architecture before I spend weeks polishing the wrong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“Army is the empirical bedrock. That is where we discovered the phenomenon, it has our largest and richest dataset, and the core result exists.”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“Basketball is our strongest cross-domain test right now. The analysis is sound, although—as I’ll show you—the HERO became less dramatic after a cleaning decision that I think was absolutely the correct one. Interestingly, that may have exposed a boundary condition rather than weakened the story.”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“Academia is the leg I most want to strengthen. The R1 computer-science pilot is promising, but I agree with you that for this paper to work, the academic domain needs to become a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substantial empirical domain</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not merely an interesting 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“The model already exists in a minimal form: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ASSIGN → SCORE → SELECT</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We also have the LG assignment machinery and an initial proof-of-concept for the peer-effect parameter. But we have not yet decided how much institutional structure that model ultimately needs.”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“Then there are two things farther out. First are the actual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predictions</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—comparative statics, the band-of-excellence idea, and targeted tests. Second are the high-upside extensions: predictive network metrics and the organizational question of whether organizations are actually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leveraging</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the talent they concentrate.”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WHAT I WANT FROM ALEX</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“I want us to separate two questions as we go through this: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One:</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Is this the right scientific story?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Two:</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If it is, what evidence and modeling work does each part of that story require before we can defend 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That distinction is important. We don't want today's conversation to get trapped in </a:t>
            </a:r>
            <a:r>
              <a:rPr kumimoji="0" lang="en-US" sz="700" b="0" i="1" u="none" strike="noStrike" kern="1200" cap="none" spc="0" normalizeH="0" baseline="0" noProof="0" dirty="0">
                <a:ln>
                  <a:noFill/>
                </a:ln>
                <a:solidFill>
                  <a:prstClr val="black"/>
                </a:solidFill>
                <a:effectLst/>
                <a:uLnTx/>
                <a:uFillTx/>
                <a:latin typeface="Aptos" panose="02110004020202020204"/>
                <a:ea typeface="+mn-ea"/>
                <a:cs typeface="+mn-cs"/>
              </a:rPr>
              <a:t>“that particular plot needs to be prettier”</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before deciding whether that plot belongs in the eventual argument at 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OPTIONAL — IF THE CONVERSATION STARTS DIVING INTO DETAILS TOO EARLY</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“I absolutely want to come back to that. For the first pass, though, I’d like to keep asking: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does the architecture work?</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Then the architecture becomes our work order.”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CAUTION / DON'T OVERCLAIM</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The labels on this slide are </a:t>
            </a: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project-management status</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 not grades of evidentiary quality.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In particular: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Academic ≠ established final result.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The ~2.7% MBB number still needs its denominator frozen and verified.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“Band of excellence” is currently a candidate empirical/model prediction.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Network metrics and organizational leverage are high-upside extensions, not required contributions yet.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TRANSITION OUT</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“Okay. With that map in mind, forget the dashboard for a minute. Let me start with an almost embarrassingly obvious proposition.”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ptos" panose="02110004020202020204"/>
                <a:ea typeface="+mn-ea"/>
                <a:cs typeface="+mn-cs"/>
              </a:rPr>
              <a:t>“Performance predicts success.”</a:t>
            </a:r>
            <a:endPar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endParaRP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2</a:t>
            </a:fld>
            <a:endParaRPr lang="en-US"/>
          </a:p>
        </p:txBody>
      </p:sp>
    </p:spTree>
    <p:extLst>
      <p:ext uri="{BB962C8B-B14F-4D97-AF65-F5344CB8AC3E}">
        <p14:creationId xmlns:p14="http://schemas.microsoft.com/office/powerpoint/2010/main" val="3983791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050" b="1" dirty="0"/>
              <a:t>SLIDE 3 — Performance Predicts Success</a:t>
            </a:r>
          </a:p>
          <a:p>
            <a:r>
              <a:rPr lang="en-US" sz="1050" b="1" dirty="0"/>
              <a:t>PURPOSE / LOGIC:</a:t>
            </a:r>
            <a:r>
              <a:rPr lang="en-US" sz="1050" dirty="0"/>
              <a:t> Start with something almost everyone accepts: </a:t>
            </a:r>
            <a:r>
              <a:rPr lang="en-US" sz="1050" b="1" dirty="0"/>
              <a:t>when performance is measurable, it can be remarkably predictive of success.</a:t>
            </a:r>
            <a:r>
              <a:rPr lang="en-US" sz="1050" dirty="0"/>
              <a:t> This baseline is critical because our argument is NOT that performance doesn't matter. Quite the opposite—the peer-environment result becomes more interesting if it appears </a:t>
            </a:r>
            <a:r>
              <a:rPr lang="en-US" sz="1050" b="1" dirty="0"/>
              <a:t>even when individual performance matters enormously.</a:t>
            </a:r>
            <a:endParaRPr lang="en-US" sz="1050" dirty="0"/>
          </a:p>
          <a:p>
            <a:r>
              <a:rPr lang="en-US" sz="1050" b="1" dirty="0"/>
              <a:t>SAY:</a:t>
            </a:r>
            <a:r>
              <a:rPr lang="en-US" sz="1050" dirty="0"/>
              <a:t> “Let me start with the obvious: </a:t>
            </a:r>
            <a:r>
              <a:rPr lang="en-US" sz="1050" b="1" dirty="0"/>
              <a:t>performance predicts success.</a:t>
            </a:r>
            <a:r>
              <a:rPr lang="en-US" sz="1050" dirty="0"/>
              <a:t> In some domains that relationship is unusually clean. Professional tennis is a great intuitive example. Winning is observable; there is a scoreboard; performance can be measured in ways that are meaningful and broadly agreed upon. If I want to predict success in tennis, knowing how the player actually performs gets me a very long way.”</a:t>
            </a:r>
          </a:p>
          <a:p>
            <a:r>
              <a:rPr lang="en-US" sz="1050" dirty="0"/>
              <a:t>“And we see the same basic relationship in the Army data. Here I'm doing the naïve thing: looking at an officer's own performance signal—top-block ratio—and asking whether it predicts advancement. </a:t>
            </a:r>
            <a:r>
              <a:rPr lang="en-US" sz="1050" b="1" dirty="0"/>
              <a:t>And it does.</a:t>
            </a:r>
            <a:r>
              <a:rPr lang="en-US" sz="1050" dirty="0"/>
              <a:t>”</a:t>
            </a:r>
          </a:p>
          <a:p>
            <a:r>
              <a:rPr lang="en-US" sz="1050" b="1" dirty="0"/>
              <a:t>KEY LINE:</a:t>
            </a:r>
            <a:r>
              <a:rPr lang="en-US" sz="1050" dirty="0"/>
              <a:t> “The argument is NOT that talent doesn't matter. </a:t>
            </a:r>
            <a:r>
              <a:rPr lang="en-US" sz="1050" b="1" dirty="0"/>
              <a:t>Talent matters enormously.</a:t>
            </a:r>
            <a:r>
              <a:rPr lang="en-US" sz="1050" dirty="0"/>
              <a:t>” Maybe even: </a:t>
            </a:r>
            <a:r>
              <a:rPr lang="en-US" sz="1050" b="1" dirty="0"/>
              <a:t>“Talent wins.”</a:t>
            </a:r>
            <a:r>
              <a:rPr lang="en-US" sz="1050" dirty="0"/>
              <a:t> [PAUSE.] Save </a:t>
            </a:r>
            <a:r>
              <a:rPr lang="en-US" sz="1050" i="1" dirty="0"/>
              <a:t>“but talent does not compete in isolation”</a:t>
            </a:r>
            <a:r>
              <a:rPr lang="en-US" sz="1050" dirty="0"/>
              <a:t> for later when it can land harder.</a:t>
            </a:r>
          </a:p>
          <a:p>
            <a:r>
              <a:rPr lang="en-US" sz="1050" b="1" dirty="0"/>
              <a:t>REMEMBER THE LOGIC:</a:t>
            </a:r>
            <a:r>
              <a:rPr lang="en-US" sz="1050" dirty="0"/>
              <a:t> </a:t>
            </a:r>
            <a:r>
              <a:rPr lang="en-US" sz="1050" b="1" dirty="0"/>
              <a:t>OWN PERFORMANCE → SUCCESS.</a:t>
            </a:r>
            <a:r>
              <a:rPr lang="en-US" sz="1050" dirty="0"/>
              <a:t> Establish this first so nobody hears the later argument as </a:t>
            </a:r>
            <a:r>
              <a:rPr lang="en-US" sz="1050" i="1" dirty="0"/>
              <a:t>“success is really networks instead of talent.”</a:t>
            </a:r>
            <a:r>
              <a:rPr lang="en-US" sz="1050" dirty="0"/>
              <a:t> The actual argument is much more interesting: </a:t>
            </a:r>
            <a:r>
              <a:rPr lang="en-US" sz="1050" b="1" dirty="0"/>
              <a:t>Talent is powerful. Now let's see whether that's enough.</a:t>
            </a:r>
            <a:endParaRPr lang="en-US" sz="1050" dirty="0"/>
          </a:p>
          <a:p>
            <a:r>
              <a:rPr lang="en-US" sz="1050" b="1" dirty="0"/>
              <a:t>OPTIONAL BARABÁSI:</a:t>
            </a:r>
            <a:r>
              <a:rPr lang="en-US" sz="1050" dirty="0"/>
              <a:t> “This is close to the intuition Barabási uses in </a:t>
            </a:r>
            <a:r>
              <a:rPr lang="en-US" sz="1050" i="1" dirty="0"/>
              <a:t>The Formula</a:t>
            </a:r>
            <a:r>
              <a:rPr lang="en-US" sz="1050" dirty="0"/>
              <a:t>: where performance is readily measurable, it can be extraordinarily informative about success.” Keep this brief—Slide 4 is where the tennis/art contrast does real work.</a:t>
            </a:r>
          </a:p>
          <a:p>
            <a:r>
              <a:rPr lang="en-US" sz="1050" b="1" dirty="0"/>
              <a:t>CAUTION:</a:t>
            </a:r>
            <a:r>
              <a:rPr lang="en-US" sz="1050" dirty="0"/>
              <a:t> Don't say performance </a:t>
            </a:r>
            <a:r>
              <a:rPr lang="en-US" sz="1050" i="1" dirty="0"/>
              <a:t>determines</a:t>
            </a:r>
            <a:r>
              <a:rPr lang="en-US" sz="1050" dirty="0"/>
              <a:t> success, and don't equate top-block ratio with latent “talent.” It is our </a:t>
            </a:r>
            <a:r>
              <a:rPr lang="en-US" sz="1050" b="1" dirty="0"/>
              <a:t>observable performance signal</a:t>
            </a:r>
            <a:r>
              <a:rPr lang="en-US" sz="1050" dirty="0"/>
              <a:t>. That distinction becomes important later when we reveal that Army scoring itself is locally produced, subjective, and comparative. [GESTURE TO CANONICAL ARMY NAÏVE PLOT ONCE INSERTED.]</a:t>
            </a:r>
          </a:p>
          <a:p>
            <a:r>
              <a:rPr lang="en-US" sz="1050" b="1" dirty="0"/>
              <a:t>TRANSITION OUT:</a:t>
            </a:r>
            <a:r>
              <a:rPr lang="en-US" sz="1050" dirty="0"/>
              <a:t> “So, </a:t>
            </a:r>
            <a:r>
              <a:rPr lang="en-US" sz="1050" b="1" dirty="0"/>
              <a:t>performance predicts success. But performance is not always enough.</a:t>
            </a:r>
            <a:r>
              <a:rPr lang="en-US" sz="1050" dirty="0"/>
              <a:t> And there are domains where the relationship between performance and success becomes much less straightforward.”</a:t>
            </a:r>
          </a:p>
        </p:txBody>
      </p:sp>
      <p:sp>
        <p:nvSpPr>
          <p:cNvPr id="4" name="Slide Number Placeholder 3"/>
          <p:cNvSpPr>
            <a:spLocks noGrp="1"/>
          </p:cNvSpPr>
          <p:nvPr>
            <p:ph type="sldNum" sz="quarter" idx="5"/>
          </p:nvPr>
        </p:nvSpPr>
        <p:spPr/>
        <p:txBody>
          <a:bodyPr/>
          <a:lstStyle/>
          <a:p>
            <a:fld id="{0D34D10B-03DC-5049-892F-9C09D8079E57}" type="slidenum">
              <a:rPr lang="en-US" smtClean="0"/>
              <a:t>3</a:t>
            </a:fld>
            <a:endParaRPr lang="en-US"/>
          </a:p>
        </p:txBody>
      </p:sp>
    </p:spTree>
    <p:extLst>
      <p:ext uri="{BB962C8B-B14F-4D97-AF65-F5344CB8AC3E}">
        <p14:creationId xmlns:p14="http://schemas.microsoft.com/office/powerpoint/2010/main" val="3991466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SLIDE 4 — But Performance Is Not Always Enough</a:t>
            </a:r>
          </a:p>
          <a:p>
            <a:r>
              <a:rPr lang="en-US" b="1" dirty="0"/>
              <a:t>PURPOSE / LOGIC:</a:t>
            </a:r>
            <a:r>
              <a:rPr lang="en-US" dirty="0"/>
              <a:t> Create the first turn without saying “performance isn’t success.” Performance can be success, and it often strongly predicts success; it simply may </a:t>
            </a:r>
            <a:r>
              <a:rPr lang="en-US" b="1" dirty="0"/>
              <a:t>not be sufficient</a:t>
            </a:r>
            <a:r>
              <a:rPr lang="en-US" dirty="0"/>
              <a:t>. This opens the door for the network.</a:t>
            </a:r>
          </a:p>
          <a:p>
            <a:r>
              <a:rPr lang="en-US" b="1" dirty="0"/>
              <a:t>SAY:</a:t>
            </a:r>
            <a:r>
              <a:rPr lang="en-US" dirty="0"/>
              <a:t> “But performance is not always enough. Barabási gives us a useful contrast. In professional tennis, performance is comparatively easy to measure—wins and losses give us a meaningful external scoreboard. But think about modern art. What is the equivalent performance metric? There really isn’t a universally accepted scoreboard for the intrinsic ‘performance’ of an artwork. In that kind of domain, success—recognition, access, reputation—becomes much more visibly entangled with the network.”</a:t>
            </a:r>
          </a:p>
          <a:p>
            <a:r>
              <a:rPr lang="en-US" b="1" dirty="0"/>
              <a:t>KEY LINE:</a:t>
            </a:r>
            <a:r>
              <a:rPr lang="en-US" dirty="0"/>
              <a:t> “When performance is difficult to measure directly, the network’s role in success becomes much easier to see.” This is consistent with </a:t>
            </a:r>
            <a:r>
              <a:rPr lang="en-US" dirty="0" err="1"/>
              <a:t>Barabási’s</a:t>
            </a:r>
            <a:r>
              <a:rPr lang="en-US" dirty="0"/>
              <a:t> performance-versus-success framing and his tennis-to-art contrast. </a:t>
            </a:r>
            <a:r>
              <a:rPr lang="en-US" dirty="0">
                <a:hlinkClick r:id="rId3"/>
              </a:rPr>
              <a:t>Barabási, </a:t>
            </a:r>
            <a:r>
              <a:rPr lang="en-US" i="1" dirty="0">
                <a:hlinkClick r:id="rId3"/>
              </a:rPr>
              <a:t>The Formula</a:t>
            </a:r>
            <a:r>
              <a:rPr lang="en-US" dirty="0"/>
              <a:t>; related empirical treatment: </a:t>
            </a:r>
            <a:r>
              <a:rPr lang="en-US" dirty="0">
                <a:hlinkClick r:id="rId4"/>
              </a:rPr>
              <a:t>Yucesoy &amp; Barabási, 2016</a:t>
            </a:r>
            <a:r>
              <a:rPr lang="en-US" dirty="0"/>
              <a:t>.</a:t>
            </a:r>
          </a:p>
          <a:p>
            <a:r>
              <a:rPr lang="en-US" b="1" dirty="0"/>
              <a:t>THE TURN:</a:t>
            </a:r>
            <a:r>
              <a:rPr lang="en-US" dirty="0"/>
              <a:t> “But that leaves me with what I think is the more interesting question. </a:t>
            </a:r>
            <a:r>
              <a:rPr lang="en-US" b="1" dirty="0"/>
              <a:t>What about domains where performance IS measurable?</a:t>
            </a:r>
            <a:r>
              <a:rPr lang="en-US" dirty="0"/>
              <a:t> If we have a credible individual performance metric, does talent simply take over? Or can the network still have a say?”</a:t>
            </a:r>
          </a:p>
          <a:p>
            <a:r>
              <a:rPr lang="en-US" b="1" dirty="0"/>
              <a:t>CAUTION:</a:t>
            </a:r>
            <a:r>
              <a:rPr lang="en-US" dirty="0"/>
              <a:t> Don’t claim “tennis = performance, art = network.” It is a motivating contrast, not a dichotomy. And don’t yet claim our network effect; we are constructing the question.</a:t>
            </a:r>
          </a:p>
          <a:p>
            <a:r>
              <a:rPr lang="en-US" b="1" dirty="0"/>
              <a:t>TRANSITION OUT:</a:t>
            </a:r>
            <a:r>
              <a:rPr lang="en-US" dirty="0"/>
              <a:t> “So that became the question: </a:t>
            </a:r>
            <a:r>
              <a:rPr lang="en-US" b="1" dirty="0"/>
              <a:t>when performance is measurable, does the network still matter?</a:t>
            </a:r>
            <a:r>
              <a:rPr lang="en-US" dirty="0"/>
              <a:t>”</a:t>
            </a: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4</a:t>
            </a:fld>
            <a:endParaRPr lang="en-US"/>
          </a:p>
        </p:txBody>
      </p:sp>
    </p:spTree>
    <p:extLst>
      <p:ext uri="{BB962C8B-B14F-4D97-AF65-F5344CB8AC3E}">
        <p14:creationId xmlns:p14="http://schemas.microsoft.com/office/powerpoint/2010/main" val="3251314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7388" y="1196975"/>
            <a:ext cx="5486400" cy="3086100"/>
          </a:xfrm>
        </p:spPr>
      </p:sp>
      <p:sp>
        <p:nvSpPr>
          <p:cNvPr id="3" name="Notes Placeholder 2"/>
          <p:cNvSpPr>
            <a:spLocks noGrp="1"/>
          </p:cNvSpPr>
          <p:nvPr>
            <p:ph type="body" idx="1"/>
          </p:nvPr>
        </p:nvSpPr>
        <p:spPr>
          <a:xfrm>
            <a:off x="60499" y="4369554"/>
            <a:ext cx="6740176" cy="4239754"/>
          </a:xfrm>
        </p:spPr>
        <p:txBody>
          <a:bodyPr/>
          <a:lstStyle/>
          <a:p>
            <a:r>
              <a:rPr lang="en-US" sz="1050" b="1" dirty="0"/>
              <a:t>SLIDE 5 — The Question</a:t>
            </a:r>
          </a:p>
          <a:p>
            <a:r>
              <a:rPr lang="en-US" sz="1050" b="1" dirty="0"/>
              <a:t>PURPOSE / LOGIC:</a:t>
            </a:r>
            <a:r>
              <a:rPr lang="en-US" sz="1050" dirty="0"/>
              <a:t> State the core question as simply as possible. Slide 4 established that networks obviously matter when performance is hard to measure. Now make our contribution harder: </a:t>
            </a:r>
            <a:r>
              <a:rPr lang="en-US" sz="1050" b="1" dirty="0"/>
              <a:t>do peers still matter when performance is measurable?</a:t>
            </a:r>
            <a:endParaRPr lang="en-US" sz="1050" dirty="0"/>
          </a:p>
          <a:p>
            <a:r>
              <a:rPr lang="en-US" sz="1050" b="1" dirty="0"/>
              <a:t>SAY:</a:t>
            </a:r>
            <a:r>
              <a:rPr lang="en-US" sz="1050" dirty="0"/>
              <a:t> “So this is the question that really grabbed me. Suppose we move away from modern art and into domains where we actually CAN observe individual performance. We know who performs well. We know who gets promoted, drafted, or tenured. Does talent then tell us essentially everything we need to know?”</a:t>
            </a:r>
          </a:p>
          <a:p>
            <a:r>
              <a:rPr lang="en-US" sz="1050" dirty="0"/>
              <a:t>“Or, </a:t>
            </a:r>
            <a:r>
              <a:rPr lang="en-US" sz="1050" b="1" dirty="0"/>
              <a:t>even after I know how good you are, does knowing how good the people around you are tell me something additional about your chances of success?</a:t>
            </a:r>
            <a:r>
              <a:rPr lang="en-US" sz="1050" dirty="0"/>
              <a:t>”</a:t>
            </a:r>
          </a:p>
          <a:p>
            <a:r>
              <a:rPr lang="en-US" sz="1050" b="1" dirty="0"/>
              <a:t>CORE QUESTION:</a:t>
            </a:r>
            <a:br>
              <a:rPr lang="en-US" sz="1050" dirty="0"/>
            </a:br>
            <a:r>
              <a:rPr lang="en-US" sz="1050" b="1" dirty="0"/>
              <a:t>Own performance → Success</a:t>
            </a:r>
            <a:br>
              <a:rPr lang="en-US" sz="1050" dirty="0"/>
            </a:br>
            <a:r>
              <a:rPr lang="en-US" sz="1050" b="1" dirty="0"/>
              <a:t>BUT THEN:</a:t>
            </a:r>
            <a:br>
              <a:rPr lang="en-US" sz="1050" dirty="0"/>
            </a:br>
            <a:r>
              <a:rPr lang="en-US" sz="1050" b="1" dirty="0"/>
              <a:t>Peer environment → Success | Own performance ?</a:t>
            </a:r>
            <a:endParaRPr lang="en-US" sz="1050" dirty="0"/>
          </a:p>
          <a:p>
            <a:r>
              <a:rPr lang="en-US" sz="1050" dirty="0"/>
              <a:t>“That conditional bar is really the dissertation. I don't want to rediscover that talented people succeed. I want to know whether the </a:t>
            </a:r>
            <a:r>
              <a:rPr lang="en-US" sz="1050" b="1" dirty="0"/>
              <a:t>peer environment retains explanatory power once individual performance is visible.</a:t>
            </a:r>
            <a:r>
              <a:rPr lang="en-US" sz="1050" dirty="0"/>
              <a:t>”</a:t>
            </a:r>
          </a:p>
          <a:p>
            <a:r>
              <a:rPr lang="en-US" sz="1050" b="1" dirty="0"/>
              <a:t>NETWORK-SCIENCE HOOK:</a:t>
            </a:r>
            <a:r>
              <a:rPr lang="en-US" sz="1050" dirty="0"/>
              <a:t> “That turns this from a talent story into a network story. Individuals aren't isolated observations. They are embedded in competitive peer structures.” There is a substantial peer-effects literature showing that coworkers and peers can influence performance through learning, social influence, and competition; our distinctive question is how </a:t>
            </a:r>
            <a:r>
              <a:rPr lang="en-US" sz="1050" b="1" dirty="0"/>
              <a:t>peer-pool caliber relates to advancement conditional on own performance across very different competitive systems</a:t>
            </a:r>
            <a:r>
              <a:rPr lang="en-US" sz="1050" dirty="0"/>
              <a:t>. </a:t>
            </a:r>
            <a:r>
              <a:rPr lang="en-US" sz="1050" dirty="0">
                <a:hlinkClick r:id="rId3"/>
              </a:rPr>
              <a:t>Hendricks et al., 2023</a:t>
            </a:r>
            <a:endParaRPr lang="en-US" sz="1050" dirty="0"/>
          </a:p>
          <a:p>
            <a:r>
              <a:rPr lang="en-US" sz="1050" b="1" dirty="0"/>
              <a:t>CAUTION:</a:t>
            </a:r>
            <a:r>
              <a:rPr lang="en-US" sz="1050" dirty="0"/>
              <a:t> “Explanatory power” here does </a:t>
            </a:r>
            <a:r>
              <a:rPr lang="en-US" sz="1050" b="1" dirty="0"/>
              <a:t>not yet mean causal peer effect</a:t>
            </a:r>
            <a:r>
              <a:rPr lang="en-US" sz="1050" dirty="0"/>
              <a:t>. At this point in the talk we are asking the empirical question.</a:t>
            </a:r>
          </a:p>
          <a:p>
            <a:r>
              <a:rPr lang="en-US" sz="1050" b="1" dirty="0"/>
              <a:t>TRANSITION OUT:</a:t>
            </a:r>
            <a:r>
              <a:rPr lang="en-US" sz="1050" dirty="0"/>
              <a:t> “And that immediately changes where we need to look. Instead of looking only at the individual—or above them at mentors and leaders—we need to look </a:t>
            </a:r>
            <a:r>
              <a:rPr lang="en-US" sz="1050" b="1" dirty="0"/>
              <a:t>beside them, at their peers.</a:t>
            </a:r>
            <a:r>
              <a:rPr lang="en-US" sz="1050" dirty="0"/>
              <a:t>”</a:t>
            </a:r>
          </a:p>
          <a:p>
            <a:endParaRPr lang="en-US" sz="1050" dirty="0"/>
          </a:p>
        </p:txBody>
      </p:sp>
      <p:sp>
        <p:nvSpPr>
          <p:cNvPr id="4" name="Slide Number Placeholder 3"/>
          <p:cNvSpPr>
            <a:spLocks noGrp="1"/>
          </p:cNvSpPr>
          <p:nvPr>
            <p:ph type="sldNum" sz="quarter" idx="5"/>
          </p:nvPr>
        </p:nvSpPr>
        <p:spPr>
          <a:xfrm>
            <a:off x="3886200" y="8739457"/>
            <a:ext cx="2971800" cy="458787"/>
          </a:xfrm>
        </p:spPr>
        <p:txBody>
          <a:bodyPr/>
          <a:lstStyle/>
          <a:p>
            <a:fld id="{0D34D10B-03DC-5049-892F-9C09D8079E57}" type="slidenum">
              <a:rPr lang="en-US" smtClean="0"/>
              <a:t>5</a:t>
            </a:fld>
            <a:endParaRPr lang="en-US"/>
          </a:p>
        </p:txBody>
      </p:sp>
    </p:spTree>
    <p:extLst>
      <p:ext uri="{BB962C8B-B14F-4D97-AF65-F5344CB8AC3E}">
        <p14:creationId xmlns:p14="http://schemas.microsoft.com/office/powerpoint/2010/main" val="4263355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27125"/>
            <a:ext cx="5486400" cy="3086100"/>
          </a:xfrm>
        </p:spPr>
      </p:sp>
      <p:sp>
        <p:nvSpPr>
          <p:cNvPr id="3" name="Notes Placeholder 2"/>
          <p:cNvSpPr>
            <a:spLocks noGrp="1"/>
          </p:cNvSpPr>
          <p:nvPr>
            <p:ph type="body" idx="1"/>
          </p:nvPr>
        </p:nvSpPr>
        <p:spPr/>
        <p:txBody>
          <a:bodyPr/>
          <a:lstStyle/>
          <a:p>
            <a:r>
              <a:rPr lang="en-US" b="1" dirty="0"/>
              <a:t>SLIDE 6 — Look Beside You</a:t>
            </a:r>
          </a:p>
          <a:p>
            <a:r>
              <a:rPr lang="en-US" b="1" dirty="0"/>
              <a:t>PURPOSE / LOGIC:</a:t>
            </a:r>
            <a:r>
              <a:rPr lang="en-US" dirty="0"/>
              <a:t> Move from the abstract research question to the </a:t>
            </a:r>
            <a:r>
              <a:rPr lang="en-US" b="1" dirty="0"/>
              <a:t>specific social object we have been overlooking: peers</a:t>
            </a:r>
            <a:r>
              <a:rPr lang="en-US" dirty="0"/>
              <a:t>. Mentors, leaders, and individual talent have obvious places in advancement research; our focus is the horizontal network.</a:t>
            </a:r>
          </a:p>
          <a:p>
            <a:r>
              <a:rPr lang="en-US" b="1" dirty="0"/>
              <a:t>SAY:</a:t>
            </a:r>
            <a:r>
              <a:rPr lang="en-US" dirty="0"/>
              <a:t> “Once I framed the question this way, I realized something surprisingly simple: we spend enormous effort looking at the individual, and we spend a lot of time looking </a:t>
            </a:r>
            <a:r>
              <a:rPr lang="en-US" b="1" dirty="0"/>
              <a:t>upward</a:t>
            </a:r>
            <a:r>
              <a:rPr lang="en-US" dirty="0"/>
              <a:t>—at leaders, mentors, evaluators, institutions. But what about the people standing </a:t>
            </a:r>
            <a:r>
              <a:rPr lang="en-US" b="1" dirty="0"/>
              <a:t>beside you</a:t>
            </a:r>
            <a:r>
              <a:rPr lang="en-US" dirty="0"/>
              <a:t>?”</a:t>
            </a:r>
          </a:p>
          <a:p>
            <a:r>
              <a:rPr lang="en-US" dirty="0"/>
              <a:t>“In the Army especially, there is substantial work on talent and success, and even more discussion of mentors and leaders. What I have found much less of is the role of the </a:t>
            </a:r>
            <a:r>
              <a:rPr lang="en-US" b="1" dirty="0"/>
              <a:t>peer environment in advancement</a:t>
            </a:r>
            <a:r>
              <a:rPr lang="en-US" dirty="0"/>
              <a:t>.”</a:t>
            </a:r>
          </a:p>
          <a:p>
            <a:r>
              <a:rPr lang="en-US" dirty="0"/>
              <a:t>“And peers can plausibly operate in both directions. Better peers can teach me, motivate me, provide information, raise standards, and make me better. But those exact same peers can also compete with me for attention, opportunities, distinction, ratings, and scarce advancement.” Existing workplace research supports both peer-performance effects and the importance of competitive context. Cornelissen et al., 2017; </a:t>
            </a:r>
            <a:r>
              <a:rPr lang="en-US" dirty="0">
                <a:hlinkClick r:id="rId3"/>
              </a:rPr>
              <a:t>Chan et al., 2014</a:t>
            </a:r>
            <a:endParaRPr lang="en-US" dirty="0"/>
          </a:p>
          <a:p>
            <a:r>
              <a:rPr lang="en-US" b="1" dirty="0"/>
              <a:t>KEY LINE:</a:t>
            </a:r>
            <a:r>
              <a:rPr lang="en-US" dirty="0"/>
              <a:t> “The same talented peers who make the environment better may also make it harder for me to distinguish myself within it.”</a:t>
            </a:r>
          </a:p>
          <a:p>
            <a:r>
              <a:rPr lang="en-US" b="1" dirty="0"/>
              <a:t>NETWORK TURN:</a:t>
            </a:r>
            <a:r>
              <a:rPr lang="en-US" dirty="0"/>
              <a:t> “And now this becomes naturally a network-science problem, because those peers aren't randomly floating around me. People are organized into teams, units, departments—</a:t>
            </a:r>
            <a:r>
              <a:rPr lang="en-US" b="1" dirty="0"/>
              <a:t>pools</a:t>
            </a:r>
            <a:r>
              <a:rPr lang="en-US" dirty="0"/>
              <a:t>.”</a:t>
            </a:r>
          </a:p>
          <a:p>
            <a:r>
              <a:rPr lang="en-US" b="1" dirty="0"/>
              <a:t>TRANSITION OUT:</a:t>
            </a:r>
            <a:r>
              <a:rPr lang="en-US" dirty="0"/>
              <a:t> “So the next move is structural: </a:t>
            </a:r>
            <a:r>
              <a:rPr lang="en-US" b="1" dirty="0"/>
              <a:t>people compete in pools.</a:t>
            </a:r>
            <a:r>
              <a:rPr lang="en-US" dirty="0"/>
              <a:t> And those pools create the local peer environments we want to measure.”</a:t>
            </a: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6</a:t>
            </a:fld>
            <a:endParaRPr lang="en-US"/>
          </a:p>
        </p:txBody>
      </p:sp>
    </p:spTree>
    <p:extLst>
      <p:ext uri="{BB962C8B-B14F-4D97-AF65-F5344CB8AC3E}">
        <p14:creationId xmlns:p14="http://schemas.microsoft.com/office/powerpoint/2010/main" val="179814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7 — People Compete in Pools</a:t>
            </a:r>
          </a:p>
          <a:p>
            <a:r>
              <a:rPr lang="en-US" sz="1100" b="1" dirty="0"/>
              <a:t>PURPOSE / LOGIC:</a:t>
            </a:r>
            <a:r>
              <a:rPr lang="en-US" sz="1100" dirty="0"/>
              <a:t> Introduce the common network skeleton underlying all three domains. People are not simply surrounded by an amorphous “network”; they are repeatedly organized into </a:t>
            </a:r>
            <a:r>
              <a:rPr lang="en-US" sz="1100" b="1" dirty="0"/>
              <a:t>local competitive pools</a:t>
            </a:r>
            <a:r>
              <a:rPr lang="en-US" sz="1100" dirty="0"/>
              <a:t>. That gives us the structural object we can measure and eventually model.</a:t>
            </a:r>
          </a:p>
          <a:p>
            <a:r>
              <a:rPr lang="en-US" sz="1100" b="1" dirty="0"/>
              <a:t>SAY:</a:t>
            </a:r>
            <a:r>
              <a:rPr lang="en-US" sz="1100" dirty="0"/>
              <a:t> “People don't compete in isolation. They are organized into pools: officers into rating pools, players onto teams, faculty into departments. Structurally, that gives us a bipartite network—</a:t>
            </a:r>
            <a:r>
              <a:rPr lang="en-US" sz="1100" b="1" dirty="0"/>
              <a:t>people on one side, pools on the other, with membership connecting them.</a:t>
            </a:r>
            <a:r>
              <a:rPr lang="en-US" sz="1100" dirty="0"/>
              <a:t>”</a:t>
            </a:r>
          </a:p>
          <a:p>
            <a:r>
              <a:rPr lang="en-US" sz="1100" dirty="0"/>
              <a:t>“But because these are humans, we usually care about what that affiliation means socially. When we project the bipartite network back onto the people, shared pool membership creates the peer ties: these are the people around me, the people I experience, and often the people against whom I am locally compared.” That bipartite-to-one-mode projection is a standard way of representing shared-group affiliation as person-to-person exposure, though projection can discard information from the original two-mode structure. </a:t>
            </a:r>
            <a:r>
              <a:rPr lang="en-US" sz="1100" dirty="0">
                <a:hlinkClick r:id="rId3"/>
              </a:rPr>
              <a:t>Neal, 2024</a:t>
            </a:r>
            <a:endParaRPr lang="en-US" sz="1100" dirty="0"/>
          </a:p>
          <a:p>
            <a:r>
              <a:rPr lang="en-US" sz="1100" b="1" dirty="0"/>
              <a:t>KEY LINE:</a:t>
            </a:r>
            <a:r>
              <a:rPr lang="en-US" sz="1100" dirty="0"/>
              <a:t> “The pool isn't just a container. </a:t>
            </a:r>
            <a:r>
              <a:rPr lang="en-US" sz="1100" b="1" dirty="0"/>
              <a:t>It determines who is beside you.</a:t>
            </a:r>
            <a:r>
              <a:rPr lang="en-US" sz="1100" dirty="0"/>
              <a:t> And those peers can simultaneously be sources of learning, opportunity, comparison, and competition.”</a:t>
            </a:r>
          </a:p>
          <a:p>
            <a:r>
              <a:rPr lang="en-US" sz="1100" b="1" dirty="0"/>
              <a:t>KEEP IN RESERVE:</a:t>
            </a:r>
            <a:r>
              <a:rPr lang="en-US" sz="1100" dirty="0"/>
              <a:t> This is also why the bipartite structure matters later for the LG/ASSIGN model. Real pools are not random—talented people assort into particular teams, units, and departments—so eventually we need a model capable of generating realistic pools while controlling that assortativity.</a:t>
            </a:r>
          </a:p>
          <a:p>
            <a:r>
              <a:rPr lang="en-US" sz="1100" b="1" dirty="0"/>
              <a:t>CAUTION:</a:t>
            </a:r>
            <a:r>
              <a:rPr lang="en-US" sz="1100" dirty="0"/>
              <a:t> Don't spend time teaching bipartite-network theory here. This slide only needs enough network language to establish </a:t>
            </a:r>
            <a:r>
              <a:rPr lang="en-US" sz="1100" b="1" dirty="0"/>
              <a:t>people → pools → peer exposure</a:t>
            </a:r>
            <a:r>
              <a:rPr lang="en-US" sz="1100" dirty="0"/>
              <a:t>. Save projection metrics and the LG method for much later.</a:t>
            </a:r>
          </a:p>
          <a:p>
            <a:r>
              <a:rPr lang="en-US" sz="1100" b="1" dirty="0"/>
              <a:t>TRANSITION OUT:</a:t>
            </a:r>
            <a:r>
              <a:rPr lang="en-US" sz="1100" dirty="0"/>
              <a:t> “And the Army gave us an unusually rich place to ask the first empirical question: </a:t>
            </a:r>
            <a:r>
              <a:rPr lang="en-US" sz="1100" b="1" dirty="0"/>
              <a:t>once I know how well an officer performs, does the caliber of the officers around them tell me anything more about advancement?</a:t>
            </a:r>
            <a:r>
              <a:rPr lang="en-US" sz="1100" dirty="0"/>
              <a:t>”</a:t>
            </a:r>
          </a:p>
        </p:txBody>
      </p:sp>
      <p:sp>
        <p:nvSpPr>
          <p:cNvPr id="4" name="Slide Number Placeholder 3"/>
          <p:cNvSpPr>
            <a:spLocks noGrp="1"/>
          </p:cNvSpPr>
          <p:nvPr>
            <p:ph type="sldNum" sz="quarter" idx="5"/>
          </p:nvPr>
        </p:nvSpPr>
        <p:spPr/>
        <p:txBody>
          <a:bodyPr/>
          <a:lstStyle/>
          <a:p>
            <a:fld id="{0D34D10B-03DC-5049-892F-9C09D8079E57}" type="slidenum">
              <a:rPr lang="en-US" smtClean="0"/>
              <a:t>7</a:t>
            </a:fld>
            <a:endParaRPr lang="en-US"/>
          </a:p>
        </p:txBody>
      </p:sp>
    </p:spTree>
    <p:extLst>
      <p:ext uri="{BB962C8B-B14F-4D97-AF65-F5344CB8AC3E}">
        <p14:creationId xmlns:p14="http://schemas.microsoft.com/office/powerpoint/2010/main" val="124264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8 — Why Start With the Army?</a:t>
            </a:r>
          </a:p>
          <a:p>
            <a:r>
              <a:rPr lang="en-US" sz="1100" b="1" dirty="0"/>
              <a:t>PURPOSE / LOGIC:</a:t>
            </a:r>
            <a:r>
              <a:rPr lang="en-US" sz="1100" dirty="0"/>
              <a:t> Explain why Army is the </a:t>
            </a:r>
            <a:r>
              <a:rPr lang="en-US" sz="1100" b="1" dirty="0"/>
              <a:t>discovery laboratory</a:t>
            </a:r>
            <a:r>
              <a:rPr lang="en-US" sz="1100" dirty="0"/>
              <a:t>, not merely the dataset we happened to have. It combines repeated local peer pools, longitudinal performance observations, and consequential global advancement.</a:t>
            </a:r>
          </a:p>
          <a:p>
            <a:r>
              <a:rPr lang="en-US" sz="1100" b="1" dirty="0"/>
              <a:t>SAY:</a:t>
            </a:r>
            <a:r>
              <a:rPr lang="en-US" sz="1100" dirty="0"/>
              <a:t> “The Army is where this started because structurally it is almost an ideal laboratory. Officers repeatedly enter local rating pools, we observe them over long careers, we have a meaningful performance signal in top-block evaluations, and eventually they compete in a centralized promotion system.”</a:t>
            </a:r>
          </a:p>
          <a:p>
            <a:r>
              <a:rPr lang="en-US" sz="1100" dirty="0"/>
              <a:t>“So we have </a:t>
            </a:r>
            <a:r>
              <a:rPr lang="en-US" sz="1100" b="1" dirty="0"/>
              <a:t>local competitive environments feeding a global selection process</a:t>
            </a:r>
            <a:r>
              <a:rPr lang="en-US" sz="1100" dirty="0"/>
              <a:t>. And because careers unfold over time, we can observe the same basic process repeatedly rather than taking a single snapshot.”</a:t>
            </a:r>
          </a:p>
          <a:p>
            <a:r>
              <a:rPr lang="en-US" sz="1100" dirty="0"/>
              <a:t>“There is also a substantive reason I care about this domain. The Army has studied talent, selection, leadership, and mentoring extensively—including evidence that high-performing mentors predict junior-officer promotion. But the question that kept nagging me was much more horizontal: </a:t>
            </a:r>
            <a:r>
              <a:rPr lang="en-US" sz="1100" b="1" dirty="0"/>
              <a:t>what about the other officers in the pool?</a:t>
            </a:r>
            <a:r>
              <a:rPr lang="en-US" sz="1100" dirty="0"/>
              <a:t>” </a:t>
            </a:r>
            <a:r>
              <a:rPr lang="en-US" sz="1100" dirty="0">
                <a:hlinkClick r:id="rId3"/>
              </a:rPr>
              <a:t>Lyle &amp; Smith, 2014</a:t>
            </a:r>
            <a:endParaRPr lang="en-US" sz="1100" dirty="0"/>
          </a:p>
          <a:p>
            <a:r>
              <a:rPr lang="en-US" sz="1100" b="1" dirty="0"/>
              <a:t>IMPORTANT — SAVE THE TWIST:</a:t>
            </a:r>
            <a:r>
              <a:rPr lang="en-US" sz="1100" dirty="0"/>
              <a:t> For now, let top-block ratio behave in the story as our observable individual performance metric. </a:t>
            </a:r>
            <a:r>
              <a:rPr lang="en-US" sz="1100" b="1" dirty="0"/>
              <a:t>Do NOT yet dwell on the fact that it is locally assigned, subjective, and explicitly comparative.</a:t>
            </a:r>
            <a:r>
              <a:rPr lang="en-US" sz="1100" dirty="0"/>
              <a:t> We reveal that later, after using it as “performance,” because then the Army becomes even more interesting: the peer network may help </a:t>
            </a:r>
            <a:r>
              <a:rPr lang="en-US" sz="1100" b="1" dirty="0"/>
              <a:t>produce the performance signal itself.</a:t>
            </a:r>
            <a:endParaRPr lang="en-US" sz="1100" dirty="0"/>
          </a:p>
          <a:p>
            <a:r>
              <a:rPr lang="en-US" sz="1100" b="1" dirty="0"/>
              <a:t>KEY LINE:</a:t>
            </a:r>
            <a:r>
              <a:rPr lang="en-US" sz="1100" dirty="0"/>
              <a:t> “Army gives us repeated local peer environments, observable individual performance, and consequential global advancement.”</a:t>
            </a:r>
          </a:p>
          <a:p>
            <a:r>
              <a:rPr lang="en-US" sz="1100" b="1" dirty="0"/>
              <a:t>TRANSITION OUT:</a:t>
            </a:r>
            <a:r>
              <a:rPr lang="en-US" sz="1100" dirty="0"/>
              <a:t> “But before asking whether those peers matter, we have to establish the obvious baseline. </a:t>
            </a:r>
            <a:r>
              <a:rPr lang="en-US" sz="1100" b="1" dirty="0"/>
              <a:t>Does an officer's own performance predict advancement?</a:t>
            </a:r>
            <a:r>
              <a:rPr lang="en-US" sz="1100" dirty="0"/>
              <a:t>”</a:t>
            </a:r>
          </a:p>
          <a:p>
            <a:endParaRPr lang="en-US" sz="1100" dirty="0"/>
          </a:p>
        </p:txBody>
      </p:sp>
      <p:sp>
        <p:nvSpPr>
          <p:cNvPr id="4" name="Slide Number Placeholder 3"/>
          <p:cNvSpPr>
            <a:spLocks noGrp="1"/>
          </p:cNvSpPr>
          <p:nvPr>
            <p:ph type="sldNum" sz="quarter" idx="5"/>
          </p:nvPr>
        </p:nvSpPr>
        <p:spPr/>
        <p:txBody>
          <a:bodyPr/>
          <a:lstStyle/>
          <a:p>
            <a:fld id="{0D34D10B-03DC-5049-892F-9C09D8079E57}" type="slidenum">
              <a:rPr lang="en-US" smtClean="0"/>
              <a:t>8</a:t>
            </a:fld>
            <a:endParaRPr lang="en-US"/>
          </a:p>
        </p:txBody>
      </p:sp>
    </p:spTree>
    <p:extLst>
      <p:ext uri="{BB962C8B-B14F-4D97-AF65-F5344CB8AC3E}">
        <p14:creationId xmlns:p14="http://schemas.microsoft.com/office/powerpoint/2010/main" val="2257734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9 — Talent Wins</a:t>
            </a:r>
          </a:p>
          <a:p>
            <a:r>
              <a:rPr lang="en-US" sz="1100" b="1" dirty="0"/>
              <a:t>PURPOSE / LOGIC:</a:t>
            </a:r>
            <a:r>
              <a:rPr lang="en-US" sz="1100" dirty="0"/>
              <a:t> Establish the Army naïve result cleanly. This is the control intuition for the entire talk: </a:t>
            </a:r>
            <a:r>
              <a:rPr lang="en-US" sz="1100" b="1" dirty="0"/>
              <a:t>better individual performance strongly predicts advancement.</a:t>
            </a:r>
            <a:r>
              <a:rPr lang="en-US" sz="1100" dirty="0"/>
              <a:t> We need the audience believing this before introducing the pond.</a:t>
            </a:r>
          </a:p>
          <a:p>
            <a:r>
              <a:rPr lang="en-US" sz="1100" b="1" dirty="0"/>
              <a:t>SAY:</a:t>
            </a:r>
            <a:r>
              <a:rPr lang="en-US" sz="1100" dirty="0"/>
              <a:t> “And the answer is emphatically yes. This is the naïve plot: an officer’s own top-block performance against subsequent advancement. Better performers do better.”</a:t>
            </a:r>
          </a:p>
          <a:p>
            <a:r>
              <a:rPr lang="en-US" sz="1100" dirty="0"/>
              <a:t>“This matters because I don't want the rest of this talk interpreted as an argument that talent somehow doesn't matter. </a:t>
            </a:r>
            <a:r>
              <a:rPr lang="en-US" sz="1100" b="1" dirty="0"/>
              <a:t>Talent wins.</a:t>
            </a:r>
            <a:r>
              <a:rPr lang="en-US" sz="1100" dirty="0"/>
              <a:t> Individual performance is enormously consequential.”</a:t>
            </a:r>
          </a:p>
          <a:p>
            <a:r>
              <a:rPr lang="en-US" sz="1100" dirty="0"/>
              <a:t>“And in some of the exploratory work, I think we see something even more interesting: at the extreme upper end, the very best individuals may succeed almost regardless of the environment around them. I need to recreate and formally test those plots before I make that an empirical claim—but it gives us an important hypothesis for later.”</a:t>
            </a:r>
          </a:p>
          <a:p>
            <a:r>
              <a:rPr lang="en-US" sz="1100" b="1" dirty="0"/>
              <a:t>KEY IDEA:</a:t>
            </a:r>
            <a:r>
              <a:rPr lang="en-US" sz="1100" dirty="0"/>
              <a:t> “The interesting population may therefore not be the very top or the mediocre. There may be a </a:t>
            </a:r>
            <a:r>
              <a:rPr lang="en-US" sz="1100" b="1" dirty="0"/>
              <a:t>band of excellence</a:t>
            </a:r>
            <a:r>
              <a:rPr lang="en-US" sz="1100" dirty="0"/>
              <a:t> below the absolute superstars—people who are clearly talented enough to succeed, but whose outcomes remain sensitive to the competitive environment around them.”</a:t>
            </a:r>
          </a:p>
          <a:p>
            <a:r>
              <a:rPr lang="en-US" sz="1100" b="1" dirty="0"/>
              <a:t>KEEP IN RESERVE:</a:t>
            </a:r>
            <a:r>
              <a:rPr lang="en-US" sz="1100" dirty="0"/>
              <a:t> This eventually becomes something the </a:t>
            </a:r>
            <a:r>
              <a:rPr lang="en-US" sz="1100" b="1" dirty="0"/>
              <a:t>model should predict</a:t>
            </a:r>
            <a:r>
              <a:rPr lang="en-US" sz="1100" dirty="0"/>
              <a:t>, not merely something we notice in a plot: </a:t>
            </a:r>
            <a:r>
              <a:rPr lang="en-US" sz="1100" i="1" dirty="0"/>
              <a:t>Under what system conditions does a context-sensitive band of excellence emerge, where is it located, and how wide is it?</a:t>
            </a:r>
            <a:endParaRPr lang="en-US" sz="1100" dirty="0"/>
          </a:p>
          <a:p>
            <a:r>
              <a:rPr lang="en-US" sz="1100" b="1" dirty="0"/>
              <a:t>CAUTION:</a:t>
            </a:r>
            <a:r>
              <a:rPr lang="en-US" sz="1100" dirty="0"/>
              <a:t> The “very best still prevail” and “band of excellence” ideas are </a:t>
            </a:r>
            <a:r>
              <a:rPr lang="en-US" sz="1100" b="1" dirty="0"/>
              <a:t>candidate hypotheses until we recover/recreate the relevant plots</a:t>
            </a:r>
            <a:r>
              <a:rPr lang="en-US" sz="1100" dirty="0"/>
              <a:t>. On this slide, the established point is simply that own performance strongly predicts advancement.</a:t>
            </a:r>
          </a:p>
          <a:p>
            <a:r>
              <a:rPr lang="en-US" sz="1100" b="1" dirty="0"/>
              <a:t>TRANSITION OUT:</a:t>
            </a:r>
            <a:r>
              <a:rPr lang="en-US" sz="1100" dirty="0"/>
              <a:t> “So talent matters—a lot. </a:t>
            </a:r>
            <a:r>
              <a:rPr lang="en-US" sz="1100" b="1" dirty="0"/>
              <a:t>But talent does not compete in isolation.</a:t>
            </a:r>
            <a:r>
              <a:rPr lang="en-US" sz="1100" dirty="0"/>
              <a:t> Now let's hold onto the individual and ask what happens when we look at the people around them.”</a:t>
            </a:r>
          </a:p>
          <a:p>
            <a:endParaRPr lang="en-US" sz="1100" dirty="0"/>
          </a:p>
        </p:txBody>
      </p:sp>
      <p:sp>
        <p:nvSpPr>
          <p:cNvPr id="4" name="Slide Number Placeholder 3"/>
          <p:cNvSpPr>
            <a:spLocks noGrp="1"/>
          </p:cNvSpPr>
          <p:nvPr>
            <p:ph type="sldNum" sz="quarter" idx="5"/>
          </p:nvPr>
        </p:nvSpPr>
        <p:spPr/>
        <p:txBody>
          <a:bodyPr/>
          <a:lstStyle/>
          <a:p>
            <a:fld id="{0D34D10B-03DC-5049-892F-9C09D8079E57}" type="slidenum">
              <a:rPr lang="en-US" smtClean="0"/>
              <a:t>9</a:t>
            </a:fld>
            <a:endParaRPr lang="en-US"/>
          </a:p>
        </p:txBody>
      </p:sp>
    </p:spTree>
    <p:extLst>
      <p:ext uri="{BB962C8B-B14F-4D97-AF65-F5344CB8AC3E}">
        <p14:creationId xmlns:p14="http://schemas.microsoft.com/office/powerpoint/2010/main" val="3205197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SLIDE 10 — But Talent Does Not Compete in Isolation</a:t>
            </a:r>
          </a:p>
          <a:p>
            <a:r>
              <a:rPr lang="en-US" b="1" dirty="0"/>
              <a:t>PURPOSE / LOGIC:</a:t>
            </a:r>
            <a:r>
              <a:rPr lang="en-US" dirty="0"/>
              <a:t> Make the crucial pivot from </a:t>
            </a:r>
            <a:r>
              <a:rPr lang="en-US" b="1" dirty="0"/>
              <a:t>own performance</a:t>
            </a:r>
            <a:r>
              <a:rPr lang="en-US" dirty="0"/>
              <a:t> to </a:t>
            </a:r>
            <a:r>
              <a:rPr lang="en-US" b="1" dirty="0"/>
              <a:t>peer environment</a:t>
            </a:r>
            <a:r>
              <a:rPr lang="en-US" dirty="0"/>
              <a:t>. Slide 9 asked “How good are YOU?” Slide 10 asks: </a:t>
            </a:r>
            <a:r>
              <a:rPr lang="en-US" b="1" dirty="0"/>
              <a:t>given how good you are, what happens as the caliber of the people surrounding you changes?</a:t>
            </a:r>
            <a:r>
              <a:rPr lang="en-US" dirty="0"/>
              <a:t> That is exactly the question written into v0.4. </a:t>
            </a:r>
          </a:p>
          <a:p>
            <a:r>
              <a:rPr lang="en-US" b="1" dirty="0"/>
              <a:t>SAY:</a:t>
            </a:r>
            <a:r>
              <a:rPr lang="en-US" dirty="0"/>
              <a:t> “So talent wins—but talent does not compete in isolation. Every officer we just plotted was embedded in a local competitive environment.”</a:t>
            </a:r>
          </a:p>
          <a:p>
            <a:r>
              <a:rPr lang="en-US" dirty="0"/>
              <a:t>“The naïve plot asks, </a:t>
            </a:r>
            <a:r>
              <a:rPr lang="en-US" b="1" dirty="0"/>
              <a:t>‘How good are you?’</a:t>
            </a:r>
            <a:r>
              <a:rPr lang="en-US" dirty="0"/>
              <a:t> Now I want to ask a different question: </a:t>
            </a:r>
            <a:r>
              <a:rPr lang="en-US" b="1" dirty="0"/>
              <a:t>given how good you are, what happens as the caliber of the people surrounding you changes?</a:t>
            </a:r>
            <a:r>
              <a:rPr lang="en-US" dirty="0"/>
              <a:t>”</a:t>
            </a:r>
          </a:p>
          <a:p>
            <a:r>
              <a:rPr lang="en-US" dirty="0"/>
              <a:t>“And this is where we have to be careful statistically. If I want to measure YOUR peer environment, I shouldn't let YOUR own performance leak back into the measure of the pond. Otherwise, the x-axis partly contains the very person whose outcome I'm trying to explain.”</a:t>
            </a:r>
          </a:p>
          <a:p>
            <a:r>
              <a:rPr lang="en-US" b="1" dirty="0"/>
              <a:t>KEY LINE:</a:t>
            </a:r>
            <a:r>
              <a:rPr lang="en-US" dirty="0"/>
              <a:t> “We want to measure the environment around you </a:t>
            </a:r>
            <a:r>
              <a:rPr lang="en-US" b="1" dirty="0"/>
              <a:t>without measuring you twice.</a:t>
            </a:r>
            <a:r>
              <a:rPr lang="en-US" dirty="0"/>
              <a:t>”</a:t>
            </a:r>
          </a:p>
          <a:p>
            <a:r>
              <a:rPr lang="en-US" b="1" dirty="0"/>
              <a:t>THE NEXT IDEA:</a:t>
            </a:r>
            <a:r>
              <a:rPr lang="en-US" dirty="0"/>
              <a:t> “And that sounds like a simple leave-one-out calculation—but conceptually it exposed something much more interesting. There are actually </a:t>
            </a:r>
            <a:r>
              <a:rPr lang="en-US" b="1" dirty="0"/>
              <a:t>two perfectly legitimate ways to look at the same pond</a:t>
            </a:r>
            <a:r>
              <a:rPr lang="en-US" dirty="0"/>
              <a:t>, depending on whose question we're answering.” The deck explicitly sets up this move from the focal individual into the whole-pool versus leave-one-out distinction. </a:t>
            </a:r>
          </a:p>
          <a:p>
            <a:r>
              <a:rPr lang="en-US" b="1" dirty="0"/>
              <a:t>TRANSITION OUT:</a:t>
            </a:r>
            <a:r>
              <a:rPr lang="en-US" dirty="0"/>
              <a:t> “If you're the fisherman, you care about all the fish. </a:t>
            </a:r>
            <a:r>
              <a:rPr lang="en-US" b="1" dirty="0"/>
              <a:t>But if you're one of the fish, you care about all the OTHER fish.</a:t>
            </a:r>
            <a:r>
              <a:rPr lang="en-US" dirty="0"/>
              <a:t>”</a:t>
            </a: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10</a:t>
            </a:fld>
            <a:endParaRPr lang="en-US"/>
          </a:p>
        </p:txBody>
      </p:sp>
    </p:spTree>
    <p:extLst>
      <p:ext uri="{BB962C8B-B14F-4D97-AF65-F5344CB8AC3E}">
        <p14:creationId xmlns:p14="http://schemas.microsoft.com/office/powerpoint/2010/main" val="2912969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11 — Whose View of the Pond?</a:t>
            </a:r>
          </a:p>
          <a:p>
            <a:r>
              <a:rPr lang="en-US" b="1" dirty="0"/>
              <a:t>PURPOSE / LOGIC:</a:t>
            </a:r>
            <a:r>
              <a:rPr lang="en-US" dirty="0"/>
              <a:t> Make whole-pool mean versus leave-one-out peer quality a </a:t>
            </a:r>
            <a:r>
              <a:rPr lang="en-US" b="1" dirty="0"/>
              <a:t>substantive distinction</a:t>
            </a:r>
            <a:r>
              <a:rPr lang="en-US" dirty="0"/>
              <a:t>, not merely a statistical trick. The same pond supports two different questions depending on whether we are the organization or the focal individual. That is exactly how v0.4 frames the slide. </a:t>
            </a:r>
          </a:p>
          <a:p>
            <a:r>
              <a:rPr lang="en-US" b="1" dirty="0"/>
              <a:t>SAY:</a:t>
            </a:r>
            <a:r>
              <a:rPr lang="en-US" dirty="0"/>
              <a:t> “This is where the fish metaphor actually becomes useful. If I'm the fisherman—or Manchester United—I care about </a:t>
            </a:r>
            <a:r>
              <a:rPr lang="en-US" b="1" dirty="0"/>
              <a:t>all the fish</a:t>
            </a:r>
            <a:r>
              <a:rPr lang="en-US" dirty="0"/>
              <a:t>. My question is: ‘How much talent have I assembled in this pond?’ The focal person belongs in that mean.”</a:t>
            </a:r>
          </a:p>
          <a:p>
            <a:r>
              <a:rPr lang="en-US" dirty="0"/>
              <a:t>“But if I'm Cristiano Ronaldo, my question is different: ‘How talented are the OTHER players around me?’ Now including Ronaldo in his own environment partly measures Ronaldo twice. So for the individual question, we use the </a:t>
            </a:r>
            <a:r>
              <a:rPr lang="en-US" b="1" dirty="0"/>
              <a:t>leave-one-out mean</a:t>
            </a:r>
            <a:r>
              <a:rPr lang="en-US" dirty="0"/>
              <a:t>.”</a:t>
            </a:r>
          </a:p>
          <a:p>
            <a:r>
              <a:rPr lang="en-US" b="1" dirty="0"/>
              <a:t>KEY LINE:</a:t>
            </a:r>
            <a:r>
              <a:rPr lang="en-US" dirty="0"/>
              <a:t> “Same pond. Two questions. Two measures.”</a:t>
            </a:r>
          </a:p>
          <a:p>
            <a:r>
              <a:rPr lang="en-US" dirty="0"/>
              <a:t>“That's more than a statistical correction. These are two different </a:t>
            </a:r>
            <a:r>
              <a:rPr lang="en-US" dirty="0" err="1"/>
              <a:t>estimands</a:t>
            </a:r>
            <a:r>
              <a:rPr lang="en-US" dirty="0"/>
              <a:t>. The organization sees </a:t>
            </a:r>
            <a:r>
              <a:rPr lang="en-US" b="1" dirty="0"/>
              <a:t>whole-pool talent</a:t>
            </a:r>
            <a:r>
              <a:rPr lang="en-US" dirty="0"/>
              <a:t>; the individual experiences </a:t>
            </a:r>
            <a:r>
              <a:rPr lang="en-US" b="1" dirty="0"/>
              <a:t>peer talent around them</a:t>
            </a:r>
            <a:r>
              <a:rPr lang="en-US" dirty="0"/>
              <a:t>.”</a:t>
            </a:r>
          </a:p>
          <a:p>
            <a:r>
              <a:rPr lang="en-US" b="1" dirty="0"/>
              <a:t>IMPORTANT LATER PAYOFF:</a:t>
            </a:r>
            <a:r>
              <a:rPr lang="en-US" dirty="0"/>
              <a:t> “Eventually this gives us two sides of the phenomenon. The fish asks, ‘What environment maximizes MY chances?’ The fisherman asks, ‘What composition lets the ORGANIZATION leverage the most talent?’ We are going to focus first on the fish; the organizational side comes back later.”</a:t>
            </a:r>
          </a:p>
          <a:p>
            <a:r>
              <a:rPr lang="en-US" b="1" dirty="0"/>
              <a:t>CAUTION:</a:t>
            </a:r>
            <a:r>
              <a:rPr lang="en-US" dirty="0"/>
              <a:t> The organizational/fisherman side is conceptually powerful but not yet equally developed empirically across the domains. Don't imply we've already solved that optimization problem.</a:t>
            </a:r>
          </a:p>
          <a:p>
            <a:r>
              <a:rPr lang="en-US" b="1" dirty="0"/>
              <a:t>TRANSITION OUT:</a:t>
            </a:r>
            <a:r>
              <a:rPr lang="en-US" dirty="0"/>
              <a:t> “So for now, let's look through the eyes of the fish. </a:t>
            </a:r>
            <a:r>
              <a:rPr lang="en-US" b="1" dirty="0"/>
              <a:t>Given my own performance, does the caliber of the OTHER fish in my pond matter?</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12 — Does the Pond Matter?</a:t>
            </a:r>
          </a:p>
          <a:p>
            <a:r>
              <a:rPr lang="en-US" b="1" dirty="0"/>
              <a:t>PURPOSE / LOGIC:</a:t>
            </a:r>
            <a:r>
              <a:rPr lang="en-US" dirty="0"/>
              <a:t> This is the </a:t>
            </a:r>
            <a:r>
              <a:rPr lang="en-US" b="1" dirty="0"/>
              <a:t>first empirical reveal</a:t>
            </a:r>
            <a:r>
              <a:rPr lang="en-US" dirty="0"/>
              <a:t>. Slides 3–11 built the question carefully; now let the Army result earn the audience's attention. The canonical Army HERO is the lead phenomenon in the project materials. </a:t>
            </a:r>
          </a:p>
          <a:p>
            <a:r>
              <a:rPr lang="en-US" b="1" dirty="0"/>
              <a:t>SAY:</a:t>
            </a:r>
            <a:r>
              <a:rPr lang="en-US" dirty="0"/>
              <a:t> “Now we ask the different question. On the x-axis is not the officer's own performance. It is the caliber of the </a:t>
            </a:r>
            <a:r>
              <a:rPr lang="en-US" b="1" dirty="0"/>
              <a:t>OTHER officers in the local pool</a:t>
            </a:r>
            <a:r>
              <a:rPr lang="en-US" dirty="0"/>
              <a:t>—our leave-one-out peer environment. On the y-axis is advancement.”</a:t>
            </a:r>
          </a:p>
          <a:p>
            <a:r>
              <a:rPr lang="en-US" dirty="0"/>
              <a:t>[PAUSE — LET THEM LOOK.]</a:t>
            </a:r>
          </a:p>
          <a:p>
            <a:r>
              <a:rPr lang="en-US" dirty="0"/>
              <a:t>“And something remarkable happens. As peer quality initially rises, advancement rises with it. Being surrounded by stronger people appears beneficial. </a:t>
            </a:r>
            <a:r>
              <a:rPr lang="en-US" b="1" dirty="0"/>
              <a:t>But that benefit doesn't continue indefinitely. At sufficiently high peer quality, advancement begins to fall.</a:t>
            </a:r>
            <a:r>
              <a:rPr lang="en-US" dirty="0"/>
              <a:t>”</a:t>
            </a:r>
          </a:p>
          <a:p>
            <a:r>
              <a:rPr lang="en-US" b="1" dirty="0"/>
              <a:t>KEY LINE:</a:t>
            </a:r>
            <a:r>
              <a:rPr lang="en-US" dirty="0"/>
              <a:t> “This is the moment the pond stops being scenery.”</a:t>
            </a:r>
          </a:p>
          <a:p>
            <a:r>
              <a:rPr lang="en-US" dirty="0"/>
              <a:t>“I don't even need to call this an inverted-U yet. In fact, I would rather not. First I want the empirical shape to speak for itself: </a:t>
            </a:r>
            <a:r>
              <a:rPr lang="en-US" b="1" dirty="0"/>
              <a:t>better peers appear beneficial—until, eventually, they aren't.</a:t>
            </a:r>
            <a:r>
              <a:rPr lang="en-US" dirty="0"/>
              <a:t>” The v0.4 slide intentionally states only that advancement initially rises with peer quality and then falls. </a:t>
            </a:r>
          </a:p>
          <a:p>
            <a:r>
              <a:rPr lang="en-US" b="1" dirty="0"/>
              <a:t>CAUTION:</a:t>
            </a:r>
            <a:r>
              <a:rPr lang="en-US" dirty="0"/>
              <a:t> Don't explain the mechanism yet. Benefit, competition, distinction, opportunity, evaluation effects—those are hypotheses. And use </a:t>
            </a:r>
            <a:r>
              <a:rPr lang="en-US" b="1" dirty="0"/>
              <a:t>association language</a:t>
            </a:r>
            <a:r>
              <a:rPr lang="en-US" dirty="0"/>
              <a:t>, not causal “peer effect” language, until the identification warrants it.</a:t>
            </a:r>
          </a:p>
          <a:p>
            <a:r>
              <a:rPr lang="en-US" b="1" dirty="0"/>
              <a:t>TRANSITION OUT:</a:t>
            </a:r>
            <a:r>
              <a:rPr lang="en-US" dirty="0"/>
              <a:t> “But this is an average response curve, and averages can hide exactly the people we care about. </a:t>
            </a:r>
            <a:r>
              <a:rPr lang="en-US" b="1" dirty="0"/>
              <a:t>Does the same pond affect every officer the same way?</a:t>
            </a:r>
            <a:r>
              <a:rPr lang="en-US"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100" b="1" dirty="0"/>
              <a:t>SLIDE 13 — The Average Curve Hides the Individual</a:t>
            </a:r>
          </a:p>
          <a:p>
            <a:r>
              <a:rPr lang="en-US" sz="1100" b="1" dirty="0"/>
              <a:t>PURPOSE / LOGIC:</a:t>
            </a:r>
            <a:r>
              <a:rPr lang="en-US" sz="1100" dirty="0"/>
              <a:t> Introduce </a:t>
            </a:r>
            <a:r>
              <a:rPr lang="en-US" sz="1100" b="1" dirty="0"/>
              <a:t>heterogeneity</a:t>
            </a:r>
            <a:r>
              <a:rPr lang="en-US" sz="1100" dirty="0"/>
              <a:t> and the conditional surface. This is a major conceptual advance: don't reduce the phenomenon to “is there an inverted-U?” Ask </a:t>
            </a:r>
            <a:r>
              <a:rPr lang="en-US" sz="1100" b="1" dirty="0"/>
              <a:t>for whom, and under what combinations of own performance and peer environment?</a:t>
            </a:r>
            <a:endParaRPr lang="en-US" sz="1100" dirty="0"/>
          </a:p>
          <a:p>
            <a:r>
              <a:rPr lang="en-US" sz="1100" b="1" dirty="0"/>
              <a:t>SAY:</a:t>
            </a:r>
            <a:r>
              <a:rPr lang="en-US" sz="1100" dirty="0"/>
              <a:t> “The average curve hides the individual. And we've actually already started looking underneath it.”</a:t>
            </a:r>
          </a:p>
          <a:p>
            <a:r>
              <a:rPr lang="en-US" sz="1100" dirty="0"/>
              <a:t>“In the Army work I created this surface: </a:t>
            </a:r>
            <a:r>
              <a:rPr lang="en-US" sz="1100" b="1" dirty="0"/>
              <a:t>top-block ratio × rank in pool → promotion hazard</a:t>
            </a:r>
            <a:r>
              <a:rPr lang="en-US" sz="1100" dirty="0"/>
              <a:t>. Higher hazard here is good—it means faster promotion. So we're no longer asking for one average curve; we're asking how advancement changes jointly with the individual's performance and their position in the competitive environment.” The existing surface and the proposed direct LOO surface are explicitly distinguished in v0.4. </a:t>
            </a:r>
          </a:p>
          <a:p>
            <a:r>
              <a:rPr lang="en-US" sz="1100" dirty="0"/>
              <a:t>“But notice: </a:t>
            </a:r>
            <a:r>
              <a:rPr lang="en-US" sz="1100" b="1" dirty="0"/>
              <a:t>rank in pool is not the same thing as peer quality.</a:t>
            </a:r>
            <a:r>
              <a:rPr lang="en-US" sz="1100" dirty="0"/>
              <a:t> So there is another surface we should create that maps even more directly onto the theory: </a:t>
            </a:r>
            <a:r>
              <a:rPr lang="en-US" sz="1100" b="1" dirty="0"/>
              <a:t>own performance × LOO peer quality → advancement.</a:t>
            </a:r>
            <a:r>
              <a:rPr lang="en-US" sz="1100" dirty="0"/>
              <a:t>”</a:t>
            </a:r>
          </a:p>
          <a:p>
            <a:r>
              <a:rPr lang="en-US" sz="1100" b="1" dirty="0"/>
              <a:t>KEY LINE:</a:t>
            </a:r>
            <a:r>
              <a:rPr lang="en-US" sz="1100" dirty="0"/>
              <a:t> “Instead of asking only whether there is an inverted-U, ask for the </a:t>
            </a:r>
            <a:r>
              <a:rPr lang="en-US" sz="1100" b="1" dirty="0"/>
              <a:t>conditional surface</a:t>
            </a:r>
            <a:r>
              <a:rPr lang="en-US" sz="1100" dirty="0"/>
              <a:t>.”</a:t>
            </a:r>
          </a:p>
          <a:p>
            <a:r>
              <a:rPr lang="en-US" sz="1100" dirty="0"/>
              <a:t>“And eventually I want this same visual grammar across domains. It may show us something we suspect from the exploratory work: perhaps the very best performers are relatively insensitive to pond quality, while a </a:t>
            </a:r>
            <a:r>
              <a:rPr lang="en-US" sz="1100" b="1" dirty="0"/>
              <a:t>band of excellence below them is much more vulnerable to context.</a:t>
            </a:r>
            <a:r>
              <a:rPr lang="en-US" sz="1100" dirty="0"/>
              <a:t>”</a:t>
            </a:r>
          </a:p>
          <a:p>
            <a:r>
              <a:rPr lang="en-US" sz="1100" b="1" dirty="0"/>
              <a:t>CAUTION:</a:t>
            </a:r>
            <a:r>
              <a:rPr lang="en-US" sz="1100" dirty="0"/>
              <a:t> Be explicit: the TB-ratio × rank surface </a:t>
            </a:r>
            <a:r>
              <a:rPr lang="en-US" sz="1100" b="1" dirty="0"/>
              <a:t>exists</a:t>
            </a:r>
            <a:r>
              <a:rPr lang="en-US" sz="1100" dirty="0"/>
              <a:t>; the direct own-performance × LOO-peer-quality surface </a:t>
            </a:r>
            <a:r>
              <a:rPr lang="en-US" sz="1100" b="1" dirty="0"/>
              <a:t>has not been created yet</a:t>
            </a:r>
            <a:r>
              <a:rPr lang="en-US" sz="1100" dirty="0"/>
              <a:t>. The band-of-excellence interpretation is a candidate hypothesis until we recover/recreate and test it.</a:t>
            </a:r>
          </a:p>
          <a:p>
            <a:r>
              <a:rPr lang="en-US" sz="1100" b="1" dirty="0"/>
              <a:t>TRANSITION OUT:</a:t>
            </a:r>
            <a:r>
              <a:rPr lang="en-US" sz="1100" dirty="0"/>
              <a:t> “So Army has given us a surprisingly rich empirical phenomenon. But before we build an elaborate Army explanation, there's a much more fundamental question: </a:t>
            </a:r>
            <a:r>
              <a:rPr lang="en-US" sz="1100" b="1" dirty="0"/>
              <a:t>Is this actually an Army story?</a:t>
            </a:r>
            <a:r>
              <a:rPr lang="en-US" sz="11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14 — Is This an Army Story?</a:t>
            </a:r>
          </a:p>
          <a:p>
            <a:r>
              <a:rPr lang="en-US" b="1" dirty="0"/>
              <a:t>PURPOSE / LOGIC:</a:t>
            </a:r>
            <a:r>
              <a:rPr lang="en-US" dirty="0"/>
              <a:t> This is the </a:t>
            </a:r>
            <a:r>
              <a:rPr lang="en-US" b="1" dirty="0"/>
              <a:t>GENERALITY pivot</a:t>
            </a:r>
            <a:r>
              <a:rPr lang="en-US" dirty="0"/>
              <a:t>. Move from “interesting Army result” to a potential property of </a:t>
            </a:r>
            <a:r>
              <a:rPr lang="en-US" b="1" dirty="0"/>
              <a:t>competitive systems</a:t>
            </a:r>
            <a:r>
              <a:rPr lang="en-US" dirty="0"/>
              <a:t>. Keep this slide sparse and let the question carry it, exactly as v0.4 intends. </a:t>
            </a:r>
          </a:p>
          <a:p>
            <a:r>
              <a:rPr lang="en-US" b="1" dirty="0"/>
              <a:t>SAY:</a:t>
            </a:r>
            <a:r>
              <a:rPr lang="en-US" dirty="0"/>
              <a:t> “This is where I became much less interested in explaining an Army curiosity.”</a:t>
            </a:r>
          </a:p>
          <a:p>
            <a:r>
              <a:rPr lang="en-US" dirty="0"/>
              <a:t>“Is this an Army story? Or have we stumbled onto something more general—a property of </a:t>
            </a:r>
            <a:r>
              <a:rPr lang="en-US" b="1" dirty="0"/>
              <a:t>competitive systems in which individuals are embedded in local pools but compete for scarce advancement?</a:t>
            </a:r>
            <a:r>
              <a:rPr lang="en-US" dirty="0"/>
              <a:t>”</a:t>
            </a:r>
          </a:p>
          <a:p>
            <a:r>
              <a:rPr lang="en-US" dirty="0"/>
              <a:t>“If it's real, I don't want to show that one personnel system produces an odd-looking curve. I want to know </a:t>
            </a:r>
            <a:r>
              <a:rPr lang="en-US" b="1" dirty="0"/>
              <a:t>what class of systems can generate this phenomenon, and what properties of those systems make it stronger, weaker, move the peak, or make it disappear.</a:t>
            </a:r>
            <a:r>
              <a:rPr lang="en-US" dirty="0"/>
              <a:t>”</a:t>
            </a:r>
          </a:p>
          <a:p>
            <a:r>
              <a:rPr lang="en-US" b="1" dirty="0"/>
              <a:t>KEY LINE:</a:t>
            </a:r>
            <a:r>
              <a:rPr lang="en-US" dirty="0"/>
              <a:t> “The question changes from </a:t>
            </a:r>
            <a:r>
              <a:rPr lang="en-US" i="1" dirty="0"/>
              <a:t>‘Why does the Army curve look like this?’</a:t>
            </a:r>
            <a:r>
              <a:rPr lang="en-US" dirty="0"/>
              <a:t> to </a:t>
            </a:r>
            <a:r>
              <a:rPr lang="en-US" i="1" dirty="0"/>
              <a:t>‘What kind of competitive system produces a curve like this?’</a:t>
            </a:r>
            <a:r>
              <a:rPr lang="en-US" dirty="0"/>
              <a:t>”</a:t>
            </a:r>
          </a:p>
          <a:p>
            <a:r>
              <a:rPr lang="en-US" dirty="0"/>
              <a:t>“And that immediately suggests how to test generality. Don't choose another domain that looks like the Army. Choose one that changes something important.”</a:t>
            </a:r>
          </a:p>
          <a:p>
            <a:r>
              <a:rPr lang="en-US" b="1" dirty="0"/>
              <a:t>TRANSITION OUT:</a:t>
            </a:r>
            <a:r>
              <a:rPr lang="en-US" dirty="0"/>
              <a:t> “So let's make the test harder. Let's go somewhere where it is much more difficult to argue about whether individual performance is real and observable.”</a:t>
            </a:r>
          </a:p>
          <a:p>
            <a:r>
              <a:rPr lang="en-US" b="1" dirty="0"/>
              <a:t>“Go where performance is hard to argue about.”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15 — Go Where Performance Is Hard to Argue About</a:t>
            </a:r>
          </a:p>
          <a:p>
            <a:r>
              <a:rPr lang="en-US" b="1" dirty="0"/>
              <a:t>PURPOSE / LOGIC:</a:t>
            </a:r>
            <a:r>
              <a:rPr lang="en-US" dirty="0"/>
              <a:t> Explain why NCAA men's basketball is a </a:t>
            </a:r>
            <a:r>
              <a:rPr lang="en-US" b="1" dirty="0"/>
              <a:t>deliberate scientific contrast</a:t>
            </a:r>
            <a:r>
              <a:rPr lang="en-US" dirty="0"/>
              <a:t>, not simply another available dataset. We want a setting where individual performance is comparatively legible, the local pool is obvious, and success is consequential and globally selected.</a:t>
            </a:r>
          </a:p>
          <a:p>
            <a:r>
              <a:rPr lang="en-US" b="1" dirty="0"/>
              <a:t>SAY:</a:t>
            </a:r>
            <a:r>
              <a:rPr lang="en-US" dirty="0"/>
              <a:t> “If the Army result is really about peer context, let's take it somewhere that changes the measurement problem. Basketball is attractive because individual performance is unusually observable. We have points, rebounds, assists, minutes, efficiency measures—a rich statistical record of what the player actually did.”</a:t>
            </a:r>
          </a:p>
          <a:p>
            <a:r>
              <a:rPr lang="en-US" dirty="0"/>
              <a:t>“The local pond is also unusually clean: </a:t>
            </a:r>
            <a:r>
              <a:rPr lang="en-US" b="1" dirty="0"/>
              <a:t>the team-season</a:t>
            </a:r>
            <a:r>
              <a:rPr lang="en-US" dirty="0"/>
              <a:t>. And the success outcome is consequential and unmistakable: </a:t>
            </a:r>
            <a:r>
              <a:rPr lang="en-US" b="1" dirty="0"/>
              <a:t>NBA Draft selection</a:t>
            </a:r>
            <a:r>
              <a:rPr lang="en-US" dirty="0"/>
              <a:t>.”</a:t>
            </a:r>
          </a:p>
          <a:p>
            <a:r>
              <a:rPr lang="en-US" dirty="0"/>
              <a:t>“So this gives us almost the same conceptual experiment in a very different institutional setting: </a:t>
            </a:r>
            <a:r>
              <a:rPr lang="en-US" b="1" dirty="0"/>
              <a:t>player → team → observable performance → global selection.</a:t>
            </a:r>
            <a:r>
              <a:rPr lang="en-US" dirty="0"/>
              <a:t>”</a:t>
            </a:r>
          </a:p>
          <a:p>
            <a:r>
              <a:rPr lang="en-US" b="1" dirty="0"/>
              <a:t>KEY LINE:</a:t>
            </a:r>
            <a:r>
              <a:rPr lang="en-US" dirty="0"/>
              <a:t> “This isn't just another dataset. </a:t>
            </a:r>
            <a:r>
              <a:rPr lang="en-US" b="1" dirty="0"/>
              <a:t>It changes the measurement architecture.</a:t>
            </a:r>
            <a:r>
              <a:rPr lang="en-US" dirty="0"/>
              <a:t>” There is also direct literature showing that teammate context complicates evaluation of college prospects for the NBA Draft, which makes this a particularly relevant test bed. </a:t>
            </a:r>
            <a:r>
              <a:rPr lang="en-US" dirty="0">
                <a:hlinkClick r:id="rId3"/>
              </a:rPr>
              <a:t>Kuehn, 2023</a:t>
            </a:r>
            <a:endParaRPr lang="en-US" dirty="0"/>
          </a:p>
          <a:p>
            <a:r>
              <a:rPr lang="en-US" b="1" dirty="0"/>
              <a:t>CAUTION:</a:t>
            </a:r>
            <a:r>
              <a:rPr lang="en-US" dirty="0"/>
              <a:t> Don't say basketball performance is perfectly objective or context-free—minutes, role, coaching, teammates, and opportunities still matter. That's actually useful later. The narrower claim is that performance is </a:t>
            </a:r>
            <a:r>
              <a:rPr lang="en-US" b="1" dirty="0"/>
              <a:t>comparatively observable and externally legible</a:t>
            </a:r>
            <a:r>
              <a:rPr lang="en-US" dirty="0"/>
              <a:t>.</a:t>
            </a:r>
          </a:p>
          <a:p>
            <a:r>
              <a:rPr lang="en-US" b="1" dirty="0"/>
              <a:t>TRANSITION OUT:</a:t>
            </a:r>
            <a:r>
              <a:rPr lang="en-US" dirty="0"/>
              <a:t> “And again, before looking at the pond, we repeat exactly the same baseline test: </a:t>
            </a:r>
            <a:r>
              <a:rPr lang="en-US" b="1" dirty="0"/>
              <a:t>does individual performance predict selection?</a:t>
            </a:r>
            <a:r>
              <a:rPr lang="en-US"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16 — Talent Wins Here, Too</a:t>
            </a:r>
          </a:p>
          <a:p>
            <a:r>
              <a:rPr lang="en-US" b="1" dirty="0"/>
              <a:t>PURPOSE / LOGIC:</a:t>
            </a:r>
            <a:r>
              <a:rPr lang="en-US" dirty="0"/>
              <a:t> Repeat the naïve baseline in a second domain. The audience should now recognize the experimental rhythm: </a:t>
            </a:r>
            <a:r>
              <a:rPr lang="en-US" b="1" dirty="0"/>
              <a:t>own performance first; peer environment second.</a:t>
            </a:r>
            <a:endParaRPr lang="en-US" dirty="0"/>
          </a:p>
          <a:p>
            <a:r>
              <a:rPr lang="en-US" b="1" dirty="0"/>
              <a:t>SAY:</a:t>
            </a:r>
            <a:r>
              <a:rPr lang="en-US" dirty="0"/>
              <a:t> “And again: </a:t>
            </a:r>
            <a:r>
              <a:rPr lang="en-US" b="1" dirty="0"/>
              <a:t>talent wins.</a:t>
            </a:r>
            <a:r>
              <a:rPr lang="en-US" dirty="0"/>
              <a:t> Better individual performance strongly predicts NBA Draft selection.”</a:t>
            </a:r>
          </a:p>
          <a:p>
            <a:r>
              <a:rPr lang="en-US" dirty="0"/>
              <a:t>“This repetition is deliberate. I don't want the peer-environment story to survive by pretending individual ability is weak. We're choosing domains where individual performance is powerful and asking whether the network still contains additional information.”</a:t>
            </a:r>
          </a:p>
          <a:p>
            <a:r>
              <a:rPr lang="en-US" dirty="0"/>
              <a:t>“So now we've seen the same baseline twice: in Army, performance predicts advancement; in basketball, performance predicts selection.”</a:t>
            </a:r>
          </a:p>
          <a:p>
            <a:r>
              <a:rPr lang="en-US" b="1" dirty="0"/>
              <a:t>KEY LINE:</a:t>
            </a:r>
            <a:r>
              <a:rPr lang="en-US" dirty="0"/>
              <a:t> “Peers don't replace talent. </a:t>
            </a:r>
            <a:r>
              <a:rPr lang="en-US" b="1" dirty="0"/>
              <a:t>The harder question is whether peers still matter after talent has announced itself.</a:t>
            </a:r>
            <a:r>
              <a:rPr lang="en-US" dirty="0"/>
              <a:t>”</a:t>
            </a:r>
          </a:p>
          <a:p>
            <a:r>
              <a:rPr lang="en-US" b="1" dirty="0"/>
              <a:t>REHEARSAL REMINDER:</a:t>
            </a:r>
            <a:r>
              <a:rPr lang="en-US" dirty="0"/>
              <a:t> This is where the repeated experimental grammar should become obvious to Alex:</a:t>
            </a:r>
            <a:br>
              <a:rPr lang="en-US" dirty="0"/>
            </a:br>
            <a:r>
              <a:rPr lang="en-US" b="1" dirty="0"/>
              <a:t>OWN PERFORMANCE → SUCCESS</a:t>
            </a:r>
            <a:br>
              <a:rPr lang="en-US" dirty="0"/>
            </a:br>
            <a:r>
              <a:rPr lang="en-US" dirty="0"/>
              <a:t>then</a:t>
            </a:r>
            <a:br>
              <a:rPr lang="en-US" dirty="0"/>
            </a:br>
            <a:r>
              <a:rPr lang="en-US" b="1" dirty="0"/>
              <a:t>PEER ENVIRONMENT → SUCCESS | OWN PERFORMANCE</a:t>
            </a:r>
            <a:endParaRPr lang="en-US" dirty="0"/>
          </a:p>
          <a:p>
            <a:r>
              <a:rPr lang="en-US" dirty="0"/>
              <a:t>Don't overwork this slide. It exists mainly to make Slide 17 scientifically clean.</a:t>
            </a:r>
          </a:p>
          <a:p>
            <a:r>
              <a:rPr lang="en-US" b="1" dirty="0"/>
              <a:t>TRANSITION OUT:</a:t>
            </a:r>
            <a:r>
              <a:rPr lang="en-US" dirty="0"/>
              <a:t> “So now we ask basketball exactly the same question we asked Army: </a:t>
            </a:r>
            <a:r>
              <a:rPr lang="en-US" b="1" dirty="0"/>
              <a:t>given how good the player is, does the caliber of the other players in his pond still matter?</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100" b="1" dirty="0"/>
              <a:t>SLIDE 17 — Does the Pond Still Matter?</a:t>
            </a:r>
          </a:p>
          <a:p>
            <a:r>
              <a:rPr lang="en-US" sz="1100" b="1" dirty="0"/>
              <a:t>PURPOSE / LOGIC:</a:t>
            </a:r>
            <a:r>
              <a:rPr lang="en-US" sz="1100" dirty="0"/>
              <a:t> This is the crucial cross-domain replication </a:t>
            </a:r>
            <a:r>
              <a:rPr lang="en-US" sz="1100" b="1" dirty="0"/>
              <a:t>and</a:t>
            </a:r>
            <a:r>
              <a:rPr lang="en-US" sz="1100" dirty="0"/>
              <a:t> the beginning of the boundary-condition story. The cleaned MBB result is weaker than the original exploratory result. </a:t>
            </a:r>
            <a:r>
              <a:rPr lang="en-US" sz="1100" b="1" dirty="0"/>
              <a:t>Do not apologize for that. Use it.</a:t>
            </a:r>
            <a:endParaRPr lang="en-US" sz="1100" dirty="0"/>
          </a:p>
          <a:p>
            <a:r>
              <a:rPr lang="en-US" sz="1100" b="1" dirty="0"/>
              <a:t>SAY:</a:t>
            </a:r>
            <a:r>
              <a:rPr lang="en-US" sz="1100" dirty="0"/>
              <a:t> “And here is where the story gets much more interesting. In the exploratory basketball work, this curve was almost uncannily beautiful. The downturn ran for several bars. It looked like exactly the Army phenomenon.”</a:t>
            </a:r>
          </a:p>
          <a:p>
            <a:r>
              <a:rPr lang="en-US" sz="1100" dirty="0"/>
              <a:t>“Then we discovered a data problem. A meaningful number of player-seasons represented only </a:t>
            </a:r>
            <a:r>
              <a:rPr lang="en-US" sz="1100" b="1" dirty="0"/>
              <a:t>one observed game</a:t>
            </a:r>
            <a:r>
              <a:rPr lang="en-US" sz="1100" dirty="0"/>
              <a:t>, often because the dataset captured both sides of an isolated matchup. Those observations did not represent defensible season-level performance environments.”</a:t>
            </a:r>
          </a:p>
          <a:p>
            <a:r>
              <a:rPr lang="en-US" sz="1100" dirty="0"/>
              <a:t>“So we removed them.”</a:t>
            </a:r>
          </a:p>
          <a:p>
            <a:r>
              <a:rPr lang="en-US" sz="1100" dirty="0"/>
              <a:t>[PAUSE.]</a:t>
            </a:r>
          </a:p>
          <a:p>
            <a:r>
              <a:rPr lang="en-US" sz="1100" dirty="0"/>
              <a:t>“And it hurt the picture. </a:t>
            </a:r>
            <a:r>
              <a:rPr lang="en-US" sz="1100" b="1" dirty="0"/>
              <a:t>The dramatic right-hand tail contracted.</a:t>
            </a:r>
            <a:r>
              <a:rPr lang="en-US" sz="1100" dirty="0"/>
              <a:t> What remains is a weaker downturn.”</a:t>
            </a:r>
          </a:p>
          <a:p>
            <a:r>
              <a:rPr lang="en-US" sz="1100" dirty="0"/>
              <a:t>“But I think that is scientifically better, not worse. I would much rather have the weaker curve I can defend than the gorgeous curve I can't.”</a:t>
            </a:r>
          </a:p>
          <a:p>
            <a:r>
              <a:rPr lang="en-US" sz="1100" b="1" dirty="0"/>
              <a:t>KEY LINE:</a:t>
            </a:r>
            <a:r>
              <a:rPr lang="en-US" sz="1100" dirty="0"/>
              <a:t> “And now something important happens: </a:t>
            </a:r>
            <a:r>
              <a:rPr lang="en-US" sz="1100" b="1" dirty="0"/>
              <a:t>the effect does not simply reproduce identically everywhere. Good.</a:t>
            </a:r>
            <a:r>
              <a:rPr lang="en-US" sz="1100" dirty="0"/>
              <a:t> That means the differences between systems may teach us what generates it.”</a:t>
            </a:r>
          </a:p>
          <a:p>
            <a:r>
              <a:rPr lang="en-US" sz="1100" dirty="0"/>
              <a:t>“This is where I stopped thinking only about finding inverted-U's and started thinking about </a:t>
            </a:r>
            <a:r>
              <a:rPr lang="en-US" sz="1100" b="1" dirty="0"/>
              <a:t>what morphs the response geometry</a:t>
            </a:r>
            <a:r>
              <a:rPr lang="en-US" sz="1100" dirty="0"/>
              <a:t>.”</a:t>
            </a:r>
          </a:p>
          <a:p>
            <a:r>
              <a:rPr lang="en-US" sz="1100" b="1" dirty="0"/>
              <a:t>CAUTION:</a:t>
            </a:r>
            <a:r>
              <a:rPr lang="en-US" sz="1100" dirty="0"/>
              <a:t> Never imply the cleaning decision was chosen because of the result. The defensibility of the season-level observation is the reason. Also, “same phenomenon” should remain measured language until harmonized specifications and robustness checks are complete.</a:t>
            </a:r>
          </a:p>
          <a:p>
            <a:r>
              <a:rPr lang="en-US" sz="1100" b="1" dirty="0"/>
              <a:t>TRANSITION OUT:</a:t>
            </a:r>
            <a:r>
              <a:rPr lang="en-US" sz="1100" dirty="0"/>
              <a:t> “So why might basketball have a much weaker right-hand tail than Army? One difference jumps off the page: </a:t>
            </a:r>
            <a:r>
              <a:rPr lang="en-US" sz="1100" b="1" dirty="0"/>
              <a:t>the advancement event is extraordinarily scarce.</a:t>
            </a:r>
            <a:r>
              <a:rPr lang="en-US" sz="11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18 — A Boundary Condition?</a:t>
            </a:r>
          </a:p>
          <a:p>
            <a:r>
              <a:rPr lang="en-US" b="1" dirty="0"/>
              <a:t>PURPOSE / LOGIC:</a:t>
            </a:r>
            <a:r>
              <a:rPr lang="en-US" dirty="0"/>
              <a:t> Do not treat MBB's weaker downturn as a disappointing replication. Ask what differs structurally from Army. The first obvious candidate is </a:t>
            </a:r>
            <a:r>
              <a:rPr lang="en-US" b="1" dirty="0"/>
              <a:t>extreme selection scarcity</a:t>
            </a:r>
            <a:r>
              <a:rPr lang="en-US" dirty="0"/>
              <a:t>.</a:t>
            </a:r>
          </a:p>
          <a:p>
            <a:r>
              <a:rPr lang="en-US" b="1" dirty="0"/>
              <a:t>SAY:</a:t>
            </a:r>
            <a:r>
              <a:rPr lang="en-US" dirty="0"/>
              <a:t> “So why might basketball have a much weaker right-hand tail? One thing jumps out: this is an extraordinarily selective advancement event. Under our current denominator, only about </a:t>
            </a:r>
            <a:r>
              <a:rPr lang="en-US" b="1" dirty="0"/>
              <a:t>2.7%</a:t>
            </a:r>
            <a:r>
              <a:rPr lang="en-US" dirty="0"/>
              <a:t> of the relevant player population reaches the NBA Draft.”</a:t>
            </a:r>
          </a:p>
          <a:p>
            <a:r>
              <a:rPr lang="en-US" dirty="0"/>
              <a:t>“I still want to freeze and verify that exact denominator before publication, but substantively this is clearly an extreme-selection environment.”</a:t>
            </a:r>
          </a:p>
          <a:p>
            <a:r>
              <a:rPr lang="en-US" dirty="0"/>
              <a:t>“And that could matter enormously. If only a tiny fraction can advance, perhaps individual talent overwhelms much of the peer-context effect. Maybe only particular parts of the talent distribution remain vulnerable to the pond.”</a:t>
            </a:r>
          </a:p>
          <a:p>
            <a:r>
              <a:rPr lang="en-US" b="1" dirty="0"/>
              <a:t>KEY LINE:</a:t>
            </a:r>
            <a:r>
              <a:rPr lang="en-US" dirty="0"/>
              <a:t> “Maybe the weak tail isn't a failed replication. </a:t>
            </a:r>
            <a:r>
              <a:rPr lang="en-US" b="1" dirty="0"/>
              <a:t>Maybe scarcity morphs the curve.</a:t>
            </a:r>
            <a:r>
              <a:rPr lang="en-US" dirty="0"/>
              <a:t>”</a:t>
            </a:r>
          </a:p>
          <a:p>
            <a:r>
              <a:rPr lang="en-US" b="1" dirty="0"/>
              <a:t>BIGGER IDEA:</a:t>
            </a:r>
            <a:r>
              <a:rPr lang="en-US" dirty="0"/>
              <a:t> “This is the beginning of a different scientific question. Instead of hunting for the same inverted-U everywhere, ask: </a:t>
            </a:r>
            <a:r>
              <a:rPr lang="en-US" b="1" dirty="0"/>
              <a:t>what properties of competitive systems strengthen it, weaken it, shift it, or make it disappear?</a:t>
            </a:r>
            <a:r>
              <a:rPr lang="en-US" dirty="0"/>
              <a:t>”</a:t>
            </a:r>
          </a:p>
          <a:p>
            <a:r>
              <a:rPr lang="en-US" b="1" dirty="0"/>
              <a:t>CAUTION:</a:t>
            </a:r>
            <a:r>
              <a:rPr lang="en-US" dirty="0"/>
              <a:t> The ~2.7% needs denominator verification. Scarcity is a </a:t>
            </a:r>
            <a:r>
              <a:rPr lang="en-US" b="1" dirty="0"/>
              <a:t>candidate boundary condition</a:t>
            </a:r>
            <a:r>
              <a:rPr lang="en-US" dirty="0"/>
              <a:t>, not yet the explanation.</a:t>
            </a:r>
          </a:p>
          <a:p>
            <a:r>
              <a:rPr lang="en-US" b="1" dirty="0"/>
              <a:t>TRANSITION OUT:</a:t>
            </a:r>
            <a:r>
              <a:rPr lang="en-US" dirty="0"/>
              <a:t> “But basketball still gives us a comparatively clean performance signal. So let's change the architecture again. </a:t>
            </a:r>
            <a:r>
              <a:rPr lang="en-US" b="1" dirty="0"/>
              <a:t>What happens when performance is observable, but success is decided through a much more socially mediated process?</a:t>
            </a:r>
            <a:r>
              <a:rPr lang="en-US"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19 — Why Academia?</a:t>
            </a:r>
          </a:p>
          <a:p>
            <a:r>
              <a:rPr lang="en-US" b="1" dirty="0"/>
              <a:t>PURPOSE / LOGIC:</a:t>
            </a:r>
            <a:r>
              <a:rPr lang="en-US" dirty="0"/>
              <a:t> Make academia a </a:t>
            </a:r>
            <a:r>
              <a:rPr lang="en-US" b="1" dirty="0"/>
              <a:t>scientifically necessary third test</a:t>
            </a:r>
            <a:r>
              <a:rPr lang="en-US" dirty="0"/>
              <a:t>, not an appended dataset. It changes both the measurement and selection architecture while retaining observable individual output.</a:t>
            </a:r>
          </a:p>
          <a:p>
            <a:r>
              <a:rPr lang="en-US" b="1" dirty="0"/>
              <a:t>SAY:</a:t>
            </a:r>
            <a:r>
              <a:rPr lang="en-US" dirty="0"/>
              <a:t> “This is why I think the academic domain is essential—and why I agree that it needs to become a strong empirical leg of the paper.”</a:t>
            </a:r>
          </a:p>
          <a:p>
            <a:r>
              <a:rPr lang="en-US" dirty="0"/>
              <a:t>“In academia, we still have observable individual-output signals: publications, citations, career publication rates. They are imperfect, but they're real and widely used in evaluating scholarly careers. Research productivity and contextual factors have both been studied in academic career progression. </a:t>
            </a:r>
            <a:r>
              <a:rPr lang="en-US" dirty="0">
                <a:hlinkClick r:id="rId3"/>
              </a:rPr>
              <a:t>Carli et al., 2019</a:t>
            </a:r>
            <a:r>
              <a:rPr lang="en-US" dirty="0"/>
              <a:t>”</a:t>
            </a:r>
          </a:p>
          <a:p>
            <a:r>
              <a:rPr lang="en-US" dirty="0"/>
              <a:t>“But now the selection architecture changes dramatically. Tenure isn't a global draft. It is a </a:t>
            </a:r>
            <a:r>
              <a:rPr lang="en-US" b="1" dirty="0"/>
              <a:t>local institutional decision</a:t>
            </a:r>
            <a:r>
              <a:rPr lang="en-US" dirty="0"/>
              <a:t>, made by people who know the candidate and who themselves inhabit the department.”</a:t>
            </a:r>
          </a:p>
          <a:p>
            <a:r>
              <a:rPr lang="en-US" b="1" dirty="0"/>
              <a:t>KEY LINE:</a:t>
            </a:r>
            <a:r>
              <a:rPr lang="en-US" dirty="0"/>
              <a:t> “Academia isn't just another domain. </a:t>
            </a:r>
            <a:r>
              <a:rPr lang="en-US" b="1" dirty="0"/>
              <a:t>It changes where scoring and selection live.</a:t>
            </a:r>
            <a:r>
              <a:rPr lang="en-US" dirty="0"/>
              <a:t>”</a:t>
            </a:r>
          </a:p>
          <a:p>
            <a:r>
              <a:rPr lang="en-US" dirty="0"/>
              <a:t>“So across the three systems we begin to vary something important: Army has local scoring and global selection; basketball has complex/hybrid performance production with global selection; academia has broadly visible scholarly-output signals but primarily </a:t>
            </a:r>
            <a:r>
              <a:rPr lang="en-US" b="1" dirty="0"/>
              <a:t>local selection</a:t>
            </a:r>
            <a:r>
              <a:rPr lang="en-US" dirty="0"/>
              <a:t>.”</a:t>
            </a:r>
          </a:p>
          <a:p>
            <a:r>
              <a:rPr lang="en-US" b="1" dirty="0"/>
              <a:t>CAUTION:</a:t>
            </a:r>
            <a:r>
              <a:rPr lang="en-US" dirty="0"/>
              <a:t> Don't call publications/citations a perfectly objective “global score.” Scholarly output is field-dependent, collaborative, network-mediated, and evaluated contextually. The contrast is about </a:t>
            </a:r>
            <a:r>
              <a:rPr lang="en-US" b="1" dirty="0"/>
              <a:t>institutional architecture</a:t>
            </a:r>
            <a:r>
              <a:rPr lang="en-US" dirty="0"/>
              <a:t>, not objectivity.</a:t>
            </a:r>
          </a:p>
          <a:p>
            <a:r>
              <a:rPr lang="en-US" b="1" dirty="0"/>
              <a:t>TRANSITION OUT:</a:t>
            </a:r>
            <a:r>
              <a:rPr lang="en-US" dirty="0"/>
              <a:t> “But to ask the pond question in academia, we first have to define the pond very carefully.”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100" b="1" dirty="0"/>
              <a:t>SLIDE 20 — Define the Academic Pond</a:t>
            </a:r>
          </a:p>
          <a:p>
            <a:r>
              <a:rPr lang="en-US" sz="1100" b="1" dirty="0"/>
              <a:t>PURPOSE / LOGIC:</a:t>
            </a:r>
            <a:r>
              <a:rPr lang="en-US" sz="1100" dirty="0"/>
              <a:t> Lock down the reigning academic operationalization so Alex knows exactly what the HERO x-axis means. This is </a:t>
            </a:r>
            <a:r>
              <a:rPr lang="en-US" sz="1100" b="1" dirty="0"/>
              <a:t>R1 computer science</a:t>
            </a:r>
            <a:r>
              <a:rPr lang="en-US" sz="1100" dirty="0"/>
              <a:t>, department × decision year, whole observed roster, leave-one-out career publication rate.</a:t>
            </a:r>
          </a:p>
          <a:p>
            <a:r>
              <a:rPr lang="en-US" sz="1100" b="1" dirty="0"/>
              <a:t>SAY:</a:t>
            </a:r>
            <a:r>
              <a:rPr lang="en-US" sz="1100" dirty="0"/>
              <a:t> “For the current pilot, the focal person is an assistant professor reaching the tenure decision cohort. The pond is </a:t>
            </a:r>
            <a:r>
              <a:rPr lang="en-US" sz="1100" b="1" dirty="0"/>
              <a:t>not the university</a:t>
            </a:r>
            <a:r>
              <a:rPr lang="en-US" sz="1100" dirty="0"/>
              <a:t>, and it is not assistants only. It is the observed </a:t>
            </a:r>
            <a:r>
              <a:rPr lang="en-US" sz="1100" b="1" dirty="0"/>
              <a:t>CS department roster in that decision year</a:t>
            </a:r>
            <a:r>
              <a:rPr lang="en-US" sz="1100" dirty="0"/>
              <a:t>.”</a:t>
            </a:r>
          </a:p>
          <a:p>
            <a:r>
              <a:rPr lang="en-US" sz="1100" dirty="0"/>
              <a:t>“Our individual performance measure is career publication rate at decision year. Then, for the peer environment, I remove the focal professor and calculate the mean career publication rate of everybody else in that department-year.”</a:t>
            </a:r>
          </a:p>
          <a:p>
            <a:r>
              <a:rPr lang="en-US" sz="1100" dirty="0"/>
              <a:t>“So again we're using the fish's view of the pond: </a:t>
            </a:r>
            <a:r>
              <a:rPr lang="en-US" sz="1100" b="1" dirty="0"/>
              <a:t>how productive are the other scholars around me?</a:t>
            </a:r>
            <a:r>
              <a:rPr lang="en-US" sz="1100" dirty="0"/>
              <a:t>”</a:t>
            </a:r>
          </a:p>
          <a:p>
            <a:r>
              <a:rPr lang="en-US" sz="1100" b="1" dirty="0"/>
              <a:t>ONE-LINER FOR ALEX:</a:t>
            </a:r>
            <a:r>
              <a:rPr lang="en-US" sz="1100" dirty="0"/>
              <a:t> “We don't ask whether tenure rises with department average talent; we ask whether it rises with </a:t>
            </a:r>
            <a:r>
              <a:rPr lang="en-US" sz="1100" b="1" dirty="0"/>
              <a:t>where you stand versus leave-one-out peers in your CS department at the tenure decision year</a:t>
            </a:r>
            <a:r>
              <a:rPr lang="en-US" sz="1100" dirty="0"/>
              <a:t>, using career publication rate as the peer metric.”</a:t>
            </a:r>
          </a:p>
          <a:p>
            <a:r>
              <a:rPr lang="en-US" sz="1100" b="1" dirty="0"/>
              <a:t>CURRENT SCOPE:</a:t>
            </a:r>
            <a:r>
              <a:rPr lang="en-US" sz="1100" dirty="0"/>
              <a:t> Roughly </a:t>
            </a:r>
            <a:r>
              <a:rPr lang="en-US" sz="1100" b="1" dirty="0"/>
              <a:t>168 R1 CS departments and ~391 resolved cases</a:t>
            </a:r>
            <a:r>
              <a:rPr lang="en-US" sz="1100" dirty="0"/>
              <a:t> in the reigning pilot; HIGH/MEDIUM OpenAlex matches; resolved tenure versus attrition cases only. Refresh before treating counts as final.</a:t>
            </a:r>
          </a:p>
          <a:p>
            <a:r>
              <a:rPr lang="en-US" sz="1100" b="1" dirty="0"/>
              <a:t>CAUTION:</a:t>
            </a:r>
            <a:r>
              <a:rPr lang="en-US" sz="1100" dirty="0"/>
              <a:t> Earlier specifications used assistant-only pools, annual publications, cumulative publications, etc. The current choice is the </a:t>
            </a:r>
            <a:r>
              <a:rPr lang="en-US" sz="1100" b="1" dirty="0"/>
              <a:t>reigning specification</a:t>
            </a:r>
            <a:r>
              <a:rPr lang="en-US" sz="1100" dirty="0"/>
              <a:t>, not the only defensible one. Those alternatives belong in robustness/multiverse analysis.</a:t>
            </a:r>
          </a:p>
          <a:p>
            <a:r>
              <a:rPr lang="en-US" sz="1100" b="1" dirty="0"/>
              <a:t>TRANSITION OUT:</a:t>
            </a:r>
            <a:r>
              <a:rPr lang="en-US" sz="1100" dirty="0"/>
              <a:t> “And now we repeat the exact same experimental rhythm. </a:t>
            </a:r>
            <a:r>
              <a:rPr lang="en-US" sz="1100" b="1" dirty="0"/>
              <a:t>Before asking whether the department matters, does the professor's own performance predict tenure?</a:t>
            </a:r>
            <a:r>
              <a:rPr lang="en-US" sz="11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21 — Talent Wins Here Too?</a:t>
            </a:r>
          </a:p>
          <a:p>
            <a:r>
              <a:rPr lang="en-US" b="1" dirty="0"/>
              <a:t>PURPOSE / LOGIC:</a:t>
            </a:r>
            <a:r>
              <a:rPr lang="en-US" dirty="0"/>
              <a:t> Academic version of Slides 9 and 16: establish the </a:t>
            </a:r>
            <a:r>
              <a:rPr lang="en-US" b="1" dirty="0"/>
              <a:t>own-performance baseline</a:t>
            </a:r>
            <a:r>
              <a:rPr lang="en-US" dirty="0"/>
              <a:t> before asking about peers. The question mark matters because this leg still needs to be refreshed and expanded.</a:t>
            </a:r>
          </a:p>
          <a:p>
            <a:r>
              <a:rPr lang="en-US" b="1" dirty="0"/>
              <a:t>SAY:</a:t>
            </a:r>
            <a:r>
              <a:rPr lang="en-US" dirty="0"/>
              <a:t> “Same experiment, third domain. First ask the naïve question: </a:t>
            </a:r>
            <a:r>
              <a:rPr lang="en-US" b="1" dirty="0"/>
              <a:t>does the individual's own career publication rate predict tenure?</a:t>
            </a:r>
            <a:r>
              <a:rPr lang="en-US" dirty="0"/>
              <a:t>”</a:t>
            </a:r>
          </a:p>
          <a:p>
            <a:r>
              <a:rPr lang="en-US" dirty="0"/>
              <a:t>“If we see the expected monotone relationship, then academia gives us another version of the same baseline: own performance matters.”</a:t>
            </a:r>
          </a:p>
          <a:p>
            <a:r>
              <a:rPr lang="en-US" dirty="0"/>
              <a:t>“And again, that is exactly what we WANT. The peer story is much more interesting if it survives in a setting where the individual's own measurable output already tells us a great deal.”</a:t>
            </a:r>
          </a:p>
          <a:p>
            <a:r>
              <a:rPr lang="en-US" b="1" dirty="0"/>
              <a:t>REPEATED GRAMMAR:</a:t>
            </a:r>
            <a:br>
              <a:rPr lang="en-US" dirty="0"/>
            </a:br>
            <a:r>
              <a:rPr lang="en-US" b="1" dirty="0"/>
              <a:t>Own performance → success</a:t>
            </a:r>
            <a:br>
              <a:rPr lang="en-US" dirty="0"/>
            </a:br>
            <a:r>
              <a:rPr lang="en-US" dirty="0"/>
              <a:t>THEN ask</a:t>
            </a:r>
            <a:br>
              <a:rPr lang="en-US" dirty="0"/>
            </a:br>
            <a:r>
              <a:rPr lang="en-US" b="1" dirty="0"/>
              <a:t>Peer environment → success | own performance?</a:t>
            </a:r>
            <a:endParaRPr lang="en-US" dirty="0"/>
          </a:p>
          <a:p>
            <a:r>
              <a:rPr lang="en-US" b="1" dirty="0"/>
              <a:t>CAUTION:</a:t>
            </a:r>
            <a:r>
              <a:rPr lang="en-US" dirty="0"/>
              <a:t> Keep the question mark. Do not verbally turn the current pilot into a finalized academic result. The expanded R1 analysis needs to establish the precise relationship cleanly.</a:t>
            </a:r>
          </a:p>
          <a:p>
            <a:r>
              <a:rPr lang="en-US" b="1" dirty="0"/>
              <a:t>TRANSITION OUT:</a:t>
            </a:r>
            <a:r>
              <a:rPr lang="en-US" dirty="0"/>
              <a:t> “Then comes the question we've now asked in every domain: </a:t>
            </a:r>
            <a:r>
              <a:rPr lang="en-US" b="1" dirty="0"/>
              <a:t>given my own productivity, does the caliber of the scholars around me still matter?</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b="1" dirty="0"/>
              <a:t>SLIDE 22 — Does the Department Matter?</a:t>
            </a:r>
          </a:p>
          <a:p>
            <a:r>
              <a:rPr lang="en-US" b="1" dirty="0"/>
              <a:t>PURPOSE / LOGIC:</a:t>
            </a:r>
            <a:r>
              <a:rPr lang="en-US" dirty="0"/>
              <a:t> Show why the academic pilot is exciting </a:t>
            </a:r>
            <a:r>
              <a:rPr lang="en-US" b="1" dirty="0"/>
              <a:t>without overselling it</a:t>
            </a:r>
            <a:r>
              <a:rPr lang="en-US" dirty="0"/>
              <a:t>. This is the third HERO analogue, but the current sample is not yet the evidentiary standard we want.</a:t>
            </a:r>
          </a:p>
          <a:p>
            <a:r>
              <a:rPr lang="en-US" b="1" dirty="0"/>
              <a:t>SAY:</a:t>
            </a:r>
            <a:r>
              <a:rPr lang="en-US" dirty="0"/>
              <a:t> “And this is the academic analogue of the HERO plot. On the x-axis is the leave-one-out productivity of the department around the focal professor; the outcome is the tenure decision.”</a:t>
            </a:r>
          </a:p>
          <a:p>
            <a:r>
              <a:rPr lang="en-US" dirty="0"/>
              <a:t>“The pilot geometry is promising. But I don't want to sell this harder than the data deserve. </a:t>
            </a:r>
            <a:r>
              <a:rPr lang="en-US" b="1" dirty="0"/>
              <a:t>Right now this is evidence that academia is worth pursuing, not evidence that the academic leg is finished.</a:t>
            </a:r>
            <a:r>
              <a:rPr lang="en-US" dirty="0"/>
              <a:t>”</a:t>
            </a:r>
          </a:p>
          <a:p>
            <a:r>
              <a:rPr lang="en-US" dirty="0"/>
              <a:t>“And that's why the expanded R1 scrape is so important. If this paper is going to make a serious cross-domain claim, academia cannot be a decorative third example. </a:t>
            </a:r>
            <a:r>
              <a:rPr lang="en-US" b="1" dirty="0"/>
              <a:t>It has to be a real empirical domain.</a:t>
            </a:r>
            <a:r>
              <a:rPr lang="en-US" dirty="0"/>
              <a:t>”</a:t>
            </a:r>
          </a:p>
          <a:p>
            <a:r>
              <a:rPr lang="en-US" b="1" dirty="0"/>
              <a:t>KEY LINE:</a:t>
            </a:r>
            <a:r>
              <a:rPr lang="en-US" dirty="0"/>
              <a:t> “The academic pilot gives us enough signal to justify the investment. </a:t>
            </a:r>
            <a:r>
              <a:rPr lang="en-US" b="1" dirty="0"/>
              <a:t>The expanded dataset has to earn the claim.</a:t>
            </a:r>
            <a:r>
              <a:rPr lang="en-US" dirty="0"/>
              <a:t>”</a:t>
            </a:r>
          </a:p>
          <a:p>
            <a:r>
              <a:rPr lang="en-US" b="1" dirty="0"/>
              <a:t>WHY THIS MATTERS:</a:t>
            </a:r>
            <a:r>
              <a:rPr lang="en-US" dirty="0"/>
              <a:t> If the result survives at scale, we now have three systems with very different scoring and selection architectures producing related—but potentially differently shaped—peer-environment relationships. That variation becomes the raw material for theory.</a:t>
            </a:r>
          </a:p>
          <a:p>
            <a:r>
              <a:rPr lang="en-US" b="1" dirty="0"/>
              <a:t>CAUTION:</a:t>
            </a:r>
            <a:r>
              <a:rPr lang="en-US" dirty="0"/>
              <a:t> No causal language; no claim that the academic inverted-U is established. Keep sample counts and precise geometry provisional until the scrape/refresh is complete.</a:t>
            </a:r>
          </a:p>
          <a:p>
            <a:r>
              <a:rPr lang="en-US" b="1" dirty="0"/>
              <a:t>TRANSITION OUT:</a:t>
            </a:r>
            <a:r>
              <a:rPr lang="en-US" dirty="0"/>
              <a:t> “And if academia holds up, then I think something important changes in how we describe this project.”</a:t>
            </a:r>
          </a:p>
          <a:p>
            <a:r>
              <a:rPr lang="en-US" b="1" dirty="0"/>
              <a:t>“These aren't three anecdotes. We are applying the same conceptual experiment across three different competitive architectures.”</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100" b="1" dirty="0"/>
              <a:t>SLIDE 23 — Three Domains. One Experiment.</a:t>
            </a:r>
          </a:p>
          <a:p>
            <a:r>
              <a:rPr lang="en-US" sz="1100" b="1" dirty="0"/>
              <a:t>PURPOSE / LOGIC:</a:t>
            </a:r>
            <a:r>
              <a:rPr lang="en-US" sz="1100" dirty="0"/>
              <a:t> Pull back from the individual domains and reveal the repeated structure. We have not assembled three anecdotes; we have applied essentially the </a:t>
            </a:r>
            <a:r>
              <a:rPr lang="en-US" sz="1100" b="1" dirty="0"/>
              <a:t>same conceptual experiment across three different competitive systems.</a:t>
            </a:r>
            <a:r>
              <a:rPr lang="en-US" sz="1100" dirty="0"/>
              <a:t> The current slide deliberately reduces that experiment to two questions. </a:t>
            </a:r>
          </a:p>
          <a:p>
            <a:r>
              <a:rPr lang="en-US" sz="1100" b="1" dirty="0"/>
              <a:t>SAY:</a:t>
            </a:r>
            <a:r>
              <a:rPr lang="en-US" sz="1100" dirty="0"/>
              <a:t> “Let me pull back for a moment. What we've actually been doing is remarkably consistent. In every domain we first ask: </a:t>
            </a:r>
            <a:r>
              <a:rPr lang="en-US" sz="1100" b="1" dirty="0"/>
              <a:t>does my own performance predict my success?</a:t>
            </a:r>
            <a:r>
              <a:rPr lang="en-US" sz="1100" dirty="0"/>
              <a:t> That's the naïve question—and we want the answer to be yes.”</a:t>
            </a:r>
          </a:p>
          <a:p>
            <a:r>
              <a:rPr lang="en-US" sz="1100" dirty="0"/>
              <a:t>“Then we ask the pond question: </a:t>
            </a:r>
            <a:r>
              <a:rPr lang="en-US" sz="1100" b="1" dirty="0"/>
              <a:t>given what I know about your own performance, does knowing the caliber of the people around you tell me something additional about your advancement?</a:t>
            </a:r>
            <a:r>
              <a:rPr lang="en-US" sz="1100" dirty="0"/>
              <a:t>”</a:t>
            </a:r>
          </a:p>
          <a:p>
            <a:r>
              <a:rPr lang="en-US" sz="1100" dirty="0"/>
              <a:t>“Army, basketball, and academia are institutionally very different, but the conceptual experiment stays remarkably constant.”</a:t>
            </a:r>
          </a:p>
          <a:p>
            <a:r>
              <a:rPr lang="en-US" sz="1100" b="1" dirty="0"/>
              <a:t>KEY LINE:</a:t>
            </a:r>
            <a:r>
              <a:rPr lang="en-US" sz="1100" dirty="0"/>
              <a:t> “These aren't three anecdotes. </a:t>
            </a:r>
            <a:r>
              <a:rPr lang="en-US" sz="1100" b="1" dirty="0"/>
              <a:t>We hold the question approximately constant while deliberately changing the competitive system around it.</a:t>
            </a:r>
            <a:r>
              <a:rPr lang="en-US" sz="1100" dirty="0"/>
              <a:t>”</a:t>
            </a:r>
          </a:p>
          <a:p>
            <a:r>
              <a:rPr lang="en-US" sz="1100" b="1" dirty="0"/>
              <a:t>PROGRESSION:</a:t>
            </a:r>
            <a:r>
              <a:rPr lang="en-US" sz="1100" dirty="0"/>
              <a:t> </a:t>
            </a:r>
            <a:r>
              <a:rPr lang="en-US" sz="1100" b="1" dirty="0"/>
              <a:t>Own performance → success</a:t>
            </a:r>
            <a:r>
              <a:rPr lang="en-US" sz="1100" dirty="0"/>
              <a:t> → THEN </a:t>
            </a:r>
            <a:r>
              <a:rPr lang="en-US" sz="1100" b="1" dirty="0"/>
              <a:t>Peer environment → success | own performance</a:t>
            </a:r>
            <a:r>
              <a:rPr lang="en-US" sz="1100" dirty="0"/>
              <a:t> → THEN compare how that relationship changes as the </a:t>
            </a:r>
            <a:r>
              <a:rPr lang="en-US" sz="1100" b="1" dirty="0"/>
              <a:t>competitive architecture changes</a:t>
            </a:r>
            <a:r>
              <a:rPr lang="en-US" sz="1100" dirty="0"/>
              <a:t>. That final step is where the second half of the project begins. </a:t>
            </a:r>
          </a:p>
          <a:p>
            <a:r>
              <a:rPr lang="en-US" sz="1100" b="1" dirty="0"/>
              <a:t>CAUTION:</a:t>
            </a:r>
            <a:r>
              <a:rPr lang="en-US" sz="1100" dirty="0"/>
              <a:t> “Same experiment” means the same </a:t>
            </a:r>
            <a:r>
              <a:rPr lang="en-US" sz="1100" b="1" dirty="0"/>
              <a:t>conceptual test</a:t>
            </a:r>
            <a:r>
              <a:rPr lang="en-US" sz="1100" dirty="0"/>
              <a:t>, not that the </a:t>
            </a:r>
            <a:r>
              <a:rPr lang="en-US" sz="1100" dirty="0" err="1"/>
              <a:t>estimands</a:t>
            </a:r>
            <a:r>
              <a:rPr lang="en-US" sz="1100" dirty="0"/>
              <a:t>, outcome models, or performance measures are already perfectly harmonized across domains. Harmonization remains required.</a:t>
            </a:r>
          </a:p>
          <a:p>
            <a:r>
              <a:rPr lang="en-US" sz="1100" b="1" dirty="0"/>
              <a:t>TRANSITION OUT:</a:t>
            </a:r>
            <a:r>
              <a:rPr lang="en-US" sz="1100" dirty="0"/>
              <a:t> “And once we see them as versions of the same experiment, something important happens: </a:t>
            </a:r>
            <a:r>
              <a:rPr lang="en-US" sz="1100" b="1" dirty="0"/>
              <a:t>the differences among these systems stop being inconveniences. They become analytically useful.</a:t>
            </a:r>
            <a:r>
              <a:rPr lang="en-US" sz="11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050" b="1" dirty="0"/>
              <a:t>Slide 24 should establish variation, not explain it yet.</a:t>
            </a:r>
            <a:endParaRPr lang="en-US" sz="1050" dirty="0"/>
          </a:p>
          <a:p>
            <a:r>
              <a:rPr lang="en-US" sz="1050" b="1" dirty="0"/>
              <a:t>SLIDE 24 — Same Network Skeleton. Different Competitive Systems.</a:t>
            </a:r>
          </a:p>
          <a:p>
            <a:r>
              <a:rPr lang="en-US" sz="1050" b="1" dirty="0"/>
              <a:t>PURPOSE / LOGIC:</a:t>
            </a:r>
            <a:r>
              <a:rPr lang="en-US" sz="1050" dirty="0"/>
              <a:t> Show that the three domains share the same basic network structure—</a:t>
            </a:r>
            <a:r>
              <a:rPr lang="en-US" sz="1050" b="1" dirty="0"/>
              <a:t>individuals embedded in local pools</a:t>
            </a:r>
            <a:r>
              <a:rPr lang="en-US" sz="1050" dirty="0"/>
              <a:t>—while varying on dimensions that may eventually explain why the peer-environment response looks different across domains.</a:t>
            </a:r>
          </a:p>
          <a:p>
            <a:r>
              <a:rPr lang="en-US" sz="1050" b="1" dirty="0"/>
              <a:t>SAY:</a:t>
            </a:r>
            <a:r>
              <a:rPr lang="en-US" sz="1050" dirty="0"/>
              <a:t> “Here's why I think having very different domains is actually an advantage. Structurally, they share the same skeleton: an individual sits inside a local competitive pool, we observe some measure of individual performance, we characterize the other people in the pool, and eventually some selection process determines advancement.”</a:t>
            </a:r>
          </a:p>
          <a:p>
            <a:r>
              <a:rPr lang="en-US" sz="1050" dirty="0"/>
              <a:t>“But almost everything around that skeleton changes. The individual is an officer, player, or scholar. The pond is a rating pool, team-season, or department-year. Performance is measured differently. Selection occurs differently. And critically, </a:t>
            </a:r>
            <a:r>
              <a:rPr lang="en-US" sz="1050" b="1" dirty="0"/>
              <a:t>the scarcity of advancement and the way talent sorts into pools can differ dramatically.</a:t>
            </a:r>
            <a:r>
              <a:rPr lang="en-US" sz="1050" dirty="0"/>
              <a:t>”</a:t>
            </a:r>
          </a:p>
          <a:p>
            <a:r>
              <a:rPr lang="en-US" sz="1050" b="1" dirty="0"/>
              <a:t>KEY LINE:</a:t>
            </a:r>
            <a:r>
              <a:rPr lang="en-US" sz="1050" dirty="0"/>
              <a:t> “The network skeleton stays similar while the </a:t>
            </a:r>
            <a:r>
              <a:rPr lang="en-US" sz="1050" b="1" dirty="0"/>
              <a:t>competitive architecture changes around it.</a:t>
            </a:r>
            <a:r>
              <a:rPr lang="en-US" sz="1050" dirty="0"/>
              <a:t>”</a:t>
            </a:r>
          </a:p>
          <a:p>
            <a:r>
              <a:rPr lang="en-US" sz="1050" dirty="0"/>
              <a:t>“This is exactly what we want if the eventual goal is explanation. If all three systems were institutionally identical, seeing the same curve three times would establish replication but teach us relatively little about what generates it. </a:t>
            </a:r>
            <a:r>
              <a:rPr lang="en-US" sz="1050" b="1" dirty="0"/>
              <a:t>Variation among the systems gives us leverage.</a:t>
            </a:r>
            <a:r>
              <a:rPr lang="en-US" sz="1050" dirty="0"/>
              <a:t>”</a:t>
            </a:r>
          </a:p>
          <a:p>
            <a:r>
              <a:rPr lang="en-US" sz="1050" b="1" dirty="0"/>
              <a:t>IMPORTANT:</a:t>
            </a:r>
            <a:r>
              <a:rPr lang="en-US" sz="1050" dirty="0"/>
              <a:t> “Some of these differences are already observable; others still need to be quantified. Assortativity is the obvious example—we should eventually measure rather than merely label how strongly talent sorts into pools in each domain.”</a:t>
            </a:r>
          </a:p>
          <a:p>
            <a:r>
              <a:rPr lang="en-US" sz="1050" b="1" dirty="0"/>
              <a:t>CAUTION:</a:t>
            </a:r>
            <a:r>
              <a:rPr lang="en-US" sz="1050" dirty="0"/>
              <a:t> Don't yet claim that scarcity, assortativity, pool size, or scoring architecture </a:t>
            </a:r>
            <a:r>
              <a:rPr lang="en-US" sz="1050" b="1" dirty="0"/>
              <a:t>cause</a:t>
            </a:r>
            <a:r>
              <a:rPr lang="en-US" sz="1050" dirty="0"/>
              <a:t> the different geometries. At this point they are candidate dimensions of system variation. Also keep the ~2.7% MBB selection rate provisional until the denominator is frozen.</a:t>
            </a:r>
          </a:p>
          <a:p>
            <a:r>
              <a:rPr lang="en-US" sz="1050" b="1" dirty="0"/>
              <a:t>TRANSITION OUT:</a:t>
            </a:r>
            <a:r>
              <a:rPr lang="en-US" sz="1050" dirty="0"/>
              <a:t> “And here's where that variation becomes scientifically useful. When we ask the same question in these different systems, </a:t>
            </a:r>
            <a:r>
              <a:rPr lang="en-US" sz="1050" b="1" dirty="0"/>
              <a:t>we don't get exactly the same shape.</a:t>
            </a:r>
            <a:r>
              <a:rPr lang="en-US" sz="105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000" b="1" dirty="0"/>
              <a:t>SLIDE 25 — Same Question. Different Geometry.</a:t>
            </a:r>
          </a:p>
          <a:p>
            <a:r>
              <a:rPr lang="en-US" sz="1000" b="1" dirty="0"/>
              <a:t>PURPOSE / LOGIC:</a:t>
            </a:r>
            <a:r>
              <a:rPr lang="en-US" sz="1000" dirty="0"/>
              <a:t> Put the three HERO responses side-by-side and make the major scientific turn. We are no longer asking simply, </a:t>
            </a:r>
            <a:r>
              <a:rPr lang="en-US" sz="1000" b="1" dirty="0"/>
              <a:t>“Is there an inverted-U?”</a:t>
            </a:r>
            <a:r>
              <a:rPr lang="en-US" sz="1000" dirty="0"/>
              <a:t> We are asking: </a:t>
            </a:r>
            <a:r>
              <a:rPr lang="en-US" sz="1000" b="1" dirty="0"/>
              <a:t>“Why does the peer-environment response take different shapes in different competitive systems?”</a:t>
            </a:r>
            <a:endParaRPr lang="en-US" sz="1000" dirty="0"/>
          </a:p>
          <a:p>
            <a:r>
              <a:rPr lang="en-US" sz="1000" b="1" dirty="0"/>
              <a:t>SAY:</a:t>
            </a:r>
            <a:r>
              <a:rPr lang="en-US" sz="1000" dirty="0"/>
              <a:t> “Now look at what happens when we ask essentially the same pond question across these systems. </a:t>
            </a:r>
            <a:r>
              <a:rPr lang="en-US" sz="1000" b="1" dirty="0"/>
              <a:t>We don't get the same curve.</a:t>
            </a:r>
            <a:r>
              <a:rPr lang="en-US" sz="1000" dirty="0"/>
              <a:t> Army gives us the strongest right-hand downturn. Basketball, after the defensible cleaning decision, gives us a much weaker tail. Academia is still provisional, but appears to give us another geometry.”</a:t>
            </a:r>
          </a:p>
          <a:p>
            <a:r>
              <a:rPr lang="en-US" sz="1000" dirty="0"/>
              <a:t>“My first instinct was to worry about that. If this is one phenomenon, shouldn't the plots all look alike? </a:t>
            </a:r>
            <a:r>
              <a:rPr lang="en-US" sz="1000" b="1" dirty="0"/>
              <a:t>I now think that may be exactly backwards.</a:t>
            </a:r>
            <a:r>
              <a:rPr lang="en-US" sz="1000" dirty="0"/>
              <a:t>”</a:t>
            </a:r>
          </a:p>
          <a:p>
            <a:r>
              <a:rPr lang="en-US" sz="1000" b="1" dirty="0"/>
              <a:t>KEY LINE:</a:t>
            </a:r>
            <a:r>
              <a:rPr lang="en-US" sz="1000" dirty="0"/>
              <a:t> “The variation in the curves may not be noise around the phenomenon. </a:t>
            </a:r>
            <a:r>
              <a:rPr lang="en-US" sz="1000" b="1" dirty="0"/>
              <a:t>The variation may be part of the phenomenon.</a:t>
            </a:r>
            <a:r>
              <a:rPr lang="en-US" sz="1000" dirty="0"/>
              <a:t>”</a:t>
            </a:r>
          </a:p>
          <a:p>
            <a:r>
              <a:rPr lang="en-US" sz="1000" dirty="0"/>
              <a:t>“If peer context operates inside competitive systems, why would we expect identical responses when those systems differ in selection scarcity, assortativity, pool structure, scoring, and where selection occurs?”</a:t>
            </a:r>
          </a:p>
          <a:p>
            <a:r>
              <a:rPr lang="en-US" sz="1000" b="1" dirty="0"/>
              <a:t>THE SCIENTIFIC TURN:</a:t>
            </a:r>
            <a:r>
              <a:rPr lang="en-US" sz="1000" dirty="0"/>
              <a:t> “So I don't think our target should be: </a:t>
            </a:r>
            <a:r>
              <a:rPr lang="en-US" sz="1000" i="1" dirty="0"/>
              <a:t>find three inverted-U's.</a:t>
            </a:r>
            <a:r>
              <a:rPr lang="en-US" sz="1000" dirty="0"/>
              <a:t> Our target should be: </a:t>
            </a:r>
            <a:r>
              <a:rPr lang="en-US" sz="1000" b="1" dirty="0"/>
              <a:t>characterize the response geometry, then explain what properties of the competitive system morph that geometry.</a:t>
            </a:r>
            <a:r>
              <a:rPr lang="en-US" sz="1000" dirty="0"/>
              <a:t>”</a:t>
            </a:r>
          </a:p>
          <a:p>
            <a:r>
              <a:rPr lang="en-US" sz="1000" b="1" dirty="0"/>
              <a:t>LITERATURE CONNECTION:</a:t>
            </a:r>
            <a:r>
              <a:rPr lang="en-US" sz="1000" dirty="0"/>
              <a:t> This is compatible with existing big-fish/peer-effect work, where mean-context effects, relative-rank effects, positive peer influences, and social-comparison mechanisms can coexist and vary across settings. The important opportunity for us is to ask whether </a:t>
            </a:r>
            <a:r>
              <a:rPr lang="en-US" sz="1000" b="1" dirty="0"/>
              <a:t>competitive-system architecture helps explain that variation.</a:t>
            </a:r>
            <a:endParaRPr lang="en-US" sz="1000" dirty="0"/>
          </a:p>
          <a:p>
            <a:r>
              <a:rPr lang="en-US" sz="1000" b="1" dirty="0"/>
              <a:t>CAUTION:</a:t>
            </a:r>
            <a:r>
              <a:rPr lang="en-US" sz="1000" dirty="0"/>
              <a:t> Academia is not yet a finished third geometry, and specifications are not yet fully harmonized across domains. We have </a:t>
            </a:r>
            <a:r>
              <a:rPr lang="en-US" sz="1000" b="1" dirty="0"/>
              <a:t>not</a:t>
            </a:r>
            <a:r>
              <a:rPr lang="en-US" sz="1000" dirty="0"/>
              <a:t> established that system architecture explains these differences—that becomes the next scientific task.</a:t>
            </a:r>
          </a:p>
          <a:p>
            <a:r>
              <a:rPr lang="en-US" sz="1000" b="1" dirty="0"/>
              <a:t>TRANSITION OUT:</a:t>
            </a:r>
            <a:r>
              <a:rPr lang="en-US" sz="1000" dirty="0"/>
              <a:t> “And that means we need to stop treating ‘inverted-U’ as a yes-or-no visual judgment. </a:t>
            </a:r>
            <a:r>
              <a:rPr lang="en-US" sz="1000" b="1" dirty="0"/>
              <a:t>We need a language for describing the shape itself.</a:t>
            </a:r>
            <a:r>
              <a:rPr lang="en-US" sz="10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mc:AlternateContent xmlns:mc="http://schemas.openxmlformats.org/markup-compatibility/2006">
        <mc:Choice xmlns:a14="http://schemas.microsoft.com/office/drawing/2010/main" Requires="a14">
          <p:sp>
            <p:nvSpPr>
              <p:cNvPr id="3" name="Notes Placeholder 2"/>
              <p:cNvSpPr>
                <a:spLocks noGrp="1"/>
              </p:cNvSpPr>
              <p:nvPr>
                <p:ph type="body" sz="quarter" idx="3"/>
              </p:nvPr>
            </p:nvSpPr>
            <p:spPr/>
            <p:txBody>
              <a:bodyPr/>
              <a:lstStyle/>
              <a:p>
                <a:r>
                  <a:rPr lang="en-US" sz="1050" b="1" dirty="0"/>
                  <a:t>SLIDE 26 — From Inverted-U to Response Geometry</a:t>
                </a:r>
              </a:p>
              <a:p>
                <a:r>
                  <a:rPr lang="en-US" sz="1050" b="1" dirty="0"/>
                  <a:t>PURPOSE / LOGIC:</a:t>
                </a:r>
                <a:r>
                  <a:rPr lang="en-US" sz="1050" dirty="0"/>
                  <a:t> Stop treating “inverted-U” as a visual yes/no label and define a measurable </a:t>
                </a:r>
                <a:r>
                  <a:rPr lang="en-US" sz="1050" b="1" dirty="0"/>
                  <a:t>response geometry</a:t>
                </a:r>
                <a:r>
                  <a:rPr lang="en-US" sz="1050" dirty="0"/>
                  <a:t>. If systems produce different shapes, we need quantities that describe those differences before we can explain or predict them.</a:t>
                </a:r>
              </a:p>
              <a:p>
                <a:r>
                  <a:rPr lang="en-US" sz="1050" b="1" dirty="0"/>
                  <a:t>SAY:</a:t>
                </a:r>
                <a:r>
                  <a:rPr lang="en-US" sz="1050" dirty="0"/>
                  <a:t> “Up to now I've been casually calling this an inverted-U. But that's actually too crude for where I want this project to go. Two systems can both produce something we call an inverted-U while producing scientifically very different responses.”</a:t>
                </a:r>
              </a:p>
              <a:p>
                <a:r>
                  <a:rPr lang="en-US" sz="1050" dirty="0"/>
                  <a:t>“One might peak early; another late. One may have a strong initial benefit from better peers and then collapse. Another may rise similarly but barely decline at all. So instead of asking </a:t>
                </a:r>
                <a:r>
                  <a:rPr lang="en-US" sz="1050" b="1" dirty="0"/>
                  <a:t>‘Is there an inverted-U?’</a:t>
                </a:r>
                <a:r>
                  <a:rPr lang="en-US" sz="1050" dirty="0"/>
                  <a:t>, I want to characterize the geometry itself.”</a:t>
                </a:r>
              </a:p>
              <a:p>
                <a:r>
                  <a:rPr lang="en-US" sz="1050" b="1" dirty="0"/>
                  <a:t>KEY LINE:</a:t>
                </a:r>
                <a:r>
                  <a:rPr lang="en-US" sz="1050" dirty="0"/>
                  <a:t> “The curve isn't the answer anymore. </a:t>
                </a:r>
                <a:r>
                  <a:rPr lang="en-US" sz="1050" b="1" dirty="0"/>
                  <a:t>The shape of the curve becomes something we want to explain.</a:t>
                </a:r>
                <a:r>
                  <a:rPr lang="en-US" sz="1050" dirty="0"/>
                  <a:t>”</a:t>
                </a:r>
              </a:p>
              <a:p>
                <a:r>
                  <a:rPr lang="en-US" sz="1050" dirty="0"/>
                  <a:t>“We can quantify things like </a:t>
                </a:r>
                <a:r>
                  <a:rPr lang="en-US" sz="1050" b="1" dirty="0"/>
                  <a:t>where the peak occurs, how rapidly the response rises, how rapidly it declines, and how strong the downturn is.</a:t>
                </a:r>
                <a:r>
                  <a:rPr lang="en-US" sz="1050" dirty="0"/>
                  <a:t> A quadratic gives us one simple mathematical language for curvature and an estimated turning point—but we shouldn't force the phenomenon to be quadratic. We can compare that against flexible fits and uncertainty.”</a:t>
                </a:r>
              </a:p>
              <a:p>
                <a:r>
                  <a:rPr lang="en-US" sz="1050" b="1" dirty="0"/>
                  <a:t>IMPORTANT DISTINCTION:</a:t>
                </a:r>
                <a:r>
                  <a:rPr lang="en-US" sz="1050" dirty="0"/>
                  <a:t> “And the </a:t>
                </a:r>
                <a:r>
                  <a:rPr lang="en-US" sz="1050" b="1" dirty="0"/>
                  <a:t>band of excellence</a:t>
                </a:r>
                <a:r>
                  <a:rPr lang="en-US" sz="1050" dirty="0"/>
                  <a:t> is slightly different. That's not simply another feature of this 2-D curve. It asks </a:t>
                </a:r>
                <a:r>
                  <a:rPr lang="en-US" sz="1050" i="1" dirty="0"/>
                  <a:t>whose outcomes are most sensitive to the pond</a:t>
                </a:r>
                <a:r>
                  <a:rPr lang="en-US" sz="1050" dirty="0"/>
                  <a:t>—which requires the conditional surface of </a:t>
                </a:r>
                <a:r>
                  <a:rPr lang="en-US" sz="1050" b="1" dirty="0"/>
                  <a:t>own performance × peer quality → success</a:t>
                </a:r>
                <a:r>
                  <a:rPr lang="en-US" sz="1050" dirty="0"/>
                  <a:t>. I want to keep that as a related but distinct target.”</a:t>
                </a:r>
              </a:p>
              <a:p>
                <a:r>
                  <a:rPr lang="en-US" sz="1050" b="1" dirty="0"/>
                  <a:t>CAUTION:</a:t>
                </a:r>
                <a:r>
                  <a:rPr lang="en-US" sz="1050" dirty="0"/>
                  <a:t> Don't define an inverted-U solely by </a:t>
                </a:r>
                <a14:m>
                  <m:oMath xmlns:m="http://schemas.openxmlformats.org/officeDocument/2006/math">
                    <m:sSub>
                      <m:sSubPr>
                        <m:ctrlPr>
                          <a:rPr lang="en-US" sz="1050" i="1">
                            <a:latin typeface="Cambria Math" panose="02040503050406030204" pitchFamily="18" charset="0"/>
                          </a:rPr>
                        </m:ctrlPr>
                      </m:sSubPr>
                      <m:e>
                        <m:r>
                          <a:rPr lang="en-US" sz="1050" i="1">
                            <a:latin typeface="Cambria Math" panose="02040503050406030204" pitchFamily="18" charset="0"/>
                          </a:rPr>
                          <m:t>𝛽</m:t>
                        </m:r>
                      </m:e>
                      <m:sub>
                        <m:r>
                          <a:rPr lang="en-US" sz="1050">
                            <a:latin typeface="Cambria Math" panose="02040503050406030204" pitchFamily="18" charset="0"/>
                          </a:rPr>
                          <m:t>2</m:t>
                        </m:r>
                      </m:sub>
                    </m:sSub>
                    <m:r>
                      <a:rPr lang="en-US" sz="1050">
                        <a:latin typeface="Cambria Math" panose="02040503050406030204" pitchFamily="18" charset="0"/>
                      </a:rPr>
                      <m:t>&lt;0</m:t>
                    </m:r>
                  </m:oMath>
                </a14:m>
                <a:r>
                  <a:rPr lang="en-US" sz="1050" dirty="0"/>
                  <a:t>. We need an interior turning point within observed support, appropriate uncertainty, and robustness to alternative functional forms. Geometry metrics themselves remain candidates until we determine which are stable and interpretable across domains.</a:t>
                </a:r>
              </a:p>
              <a:p>
                <a:r>
                  <a:rPr lang="en-US" sz="1050" b="1" dirty="0"/>
                  <a:t>TRANSITION OUT:</a:t>
                </a:r>
                <a:r>
                  <a:rPr lang="en-US" sz="1050" dirty="0"/>
                  <a:t> “Once we can describe how the curve changes, we can finally ask the question the empirical results are begging us to ask: </a:t>
                </a:r>
                <a:r>
                  <a:rPr lang="en-US" sz="1050" b="1" dirty="0"/>
                  <a:t>what properties of a competitive system morph that geometry?</a:t>
                </a:r>
                <a:r>
                  <a:rPr lang="en-US" sz="1050" dirty="0"/>
                  <a:t>”</a:t>
                </a:r>
              </a:p>
              <a:p>
                <a:endParaRPr sz="1050" dirty="0"/>
              </a:p>
            </p:txBody>
          </p:sp>
        </mc:Choice>
        <mc:Fallback>
          <p:sp>
            <p:nvSpPr>
              <p:cNvPr id="3" name="Notes Placeholder 2"/>
              <p:cNvSpPr>
                <a:spLocks noGrp="1"/>
              </p:cNvSpPr>
              <p:nvPr>
                <p:ph type="body" sz="quarter" idx="3"/>
              </p:nvPr>
            </p:nvSpPr>
            <p:spPr/>
            <p:txBody>
              <a:bodyPr/>
              <a:lstStyle/>
              <a:p>
                <a:r>
                  <a:rPr lang="en-US" sz="1050" b="1" dirty="0"/>
                  <a:t>SLIDE 26 — From Inverted-U to Response Geometry</a:t>
                </a:r>
              </a:p>
              <a:p>
                <a:r>
                  <a:rPr lang="en-US" sz="1050" b="1" dirty="0"/>
                  <a:t>PURPOSE / LOGIC:</a:t>
                </a:r>
                <a:r>
                  <a:rPr lang="en-US" sz="1050" dirty="0"/>
                  <a:t> Stop treating “inverted-U” as a visual yes/no label and define a measurable </a:t>
                </a:r>
                <a:r>
                  <a:rPr lang="en-US" sz="1050" b="1" dirty="0"/>
                  <a:t>response geometry</a:t>
                </a:r>
                <a:r>
                  <a:rPr lang="en-US" sz="1050" dirty="0"/>
                  <a:t>. If systems produce different shapes, we need quantities that describe those differences before we can explain or predict them.</a:t>
                </a:r>
              </a:p>
              <a:p>
                <a:r>
                  <a:rPr lang="en-US" sz="1050" b="1" dirty="0"/>
                  <a:t>SAY:</a:t>
                </a:r>
                <a:r>
                  <a:rPr lang="en-US" sz="1050" dirty="0"/>
                  <a:t> “Up to now I've been casually calling this an inverted-U. But that's actually too crude for where I want this project to go. Two systems can both produce something we call an inverted-U while producing scientifically very different responses.”</a:t>
                </a:r>
              </a:p>
              <a:p>
                <a:r>
                  <a:rPr lang="en-US" sz="1050" dirty="0"/>
                  <a:t>“One might peak early; another late. One may have a strong initial benefit from better peers and then collapse. Another may rise similarly but barely decline at all. So instead of asking </a:t>
                </a:r>
                <a:r>
                  <a:rPr lang="en-US" sz="1050" b="1" dirty="0"/>
                  <a:t>‘Is there an inverted-U?’</a:t>
                </a:r>
                <a:r>
                  <a:rPr lang="en-US" sz="1050" dirty="0"/>
                  <a:t>, I want to characterize the geometry itself.”</a:t>
                </a:r>
              </a:p>
              <a:p>
                <a:r>
                  <a:rPr lang="en-US" sz="1050" b="1" dirty="0"/>
                  <a:t>KEY LINE:</a:t>
                </a:r>
                <a:r>
                  <a:rPr lang="en-US" sz="1050" dirty="0"/>
                  <a:t> “The curve isn't the answer anymore. </a:t>
                </a:r>
                <a:r>
                  <a:rPr lang="en-US" sz="1050" b="1" dirty="0"/>
                  <a:t>The shape of the curve becomes something we want to explain.</a:t>
                </a:r>
                <a:r>
                  <a:rPr lang="en-US" sz="1050" dirty="0"/>
                  <a:t>”</a:t>
                </a:r>
              </a:p>
              <a:p>
                <a:r>
                  <a:rPr lang="en-US" sz="1050" dirty="0"/>
                  <a:t>“We can quantify things like </a:t>
                </a:r>
                <a:r>
                  <a:rPr lang="en-US" sz="1050" b="1" dirty="0"/>
                  <a:t>where the peak occurs, how rapidly the response rises, how rapidly it declines, and how strong the downturn is.</a:t>
                </a:r>
                <a:r>
                  <a:rPr lang="en-US" sz="1050" dirty="0"/>
                  <a:t> A quadratic gives us one simple mathematical language for curvature and an estimated turning point—but we shouldn't force the phenomenon to be quadratic. We can compare that against flexible fits and uncertainty.”</a:t>
                </a:r>
              </a:p>
              <a:p>
                <a:r>
                  <a:rPr lang="en-US" sz="1050" b="1" dirty="0"/>
                  <a:t>IMPORTANT DISTINCTION:</a:t>
                </a:r>
                <a:r>
                  <a:rPr lang="en-US" sz="1050" dirty="0"/>
                  <a:t> “And the </a:t>
                </a:r>
                <a:r>
                  <a:rPr lang="en-US" sz="1050" b="1" dirty="0"/>
                  <a:t>band of excellence</a:t>
                </a:r>
                <a:r>
                  <a:rPr lang="en-US" sz="1050" dirty="0"/>
                  <a:t> is slightly different. That's not simply another feature of this 2-D curve. It asks </a:t>
                </a:r>
                <a:r>
                  <a:rPr lang="en-US" sz="1050" i="1" dirty="0"/>
                  <a:t>whose outcomes are most sensitive to the pond</a:t>
                </a:r>
                <a:r>
                  <a:rPr lang="en-US" sz="1050" dirty="0"/>
                  <a:t>—which requires the conditional surface of </a:t>
                </a:r>
                <a:r>
                  <a:rPr lang="en-US" sz="1050" b="1" dirty="0"/>
                  <a:t>own performance × peer quality → success</a:t>
                </a:r>
                <a:r>
                  <a:rPr lang="en-US" sz="1050" dirty="0"/>
                  <a:t>. I want to keep that as a related but distinct target.”</a:t>
                </a:r>
              </a:p>
              <a:p>
                <a:r>
                  <a:rPr lang="en-US" sz="1050" b="1" dirty="0"/>
                  <a:t>CAUTION:</a:t>
                </a:r>
                <a:r>
                  <a:rPr lang="en-US" sz="1050" dirty="0"/>
                  <a:t> Don't define an inverted-U solely by </a:t>
                </a:r>
                <a:r>
                  <a:rPr lang="en-US" sz="1050" i="0">
                    <a:latin typeface="Cambria Math" panose="02040503050406030204" pitchFamily="18" charset="0"/>
                  </a:rPr>
                  <a:t>𝛽_2&lt;0</a:t>
                </a:r>
                <a:r>
                  <a:rPr lang="en-US" sz="1050" dirty="0"/>
                  <a:t>. We need an interior turning point within observed support, appropriate uncertainty, and robustness to alternative functional forms. Geometry metrics themselves remain candidates until we determine which are stable and interpretable across domains.</a:t>
                </a:r>
              </a:p>
              <a:p>
                <a:r>
                  <a:rPr lang="en-US" sz="1050" b="1" dirty="0"/>
                  <a:t>TRANSITION OUT:</a:t>
                </a:r>
                <a:r>
                  <a:rPr lang="en-US" sz="1050" dirty="0"/>
                  <a:t> “Once we can describe how the curve changes, we can finally ask the question the empirical results are begging us to ask: </a:t>
                </a:r>
                <a:r>
                  <a:rPr lang="en-US" sz="1050" b="1" dirty="0"/>
                  <a:t>what properties of a competitive system morph that geometry?</a:t>
                </a:r>
                <a:r>
                  <a:rPr lang="en-US" sz="1050" dirty="0"/>
                  <a:t>”</a:t>
                </a:r>
              </a:p>
              <a:p>
                <a:endParaRPr sz="1050"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000" b="1" dirty="0"/>
              <a:t>SLIDE 27 — Candidate Moderators</a:t>
            </a:r>
          </a:p>
          <a:p>
            <a:r>
              <a:rPr lang="en-US" sz="1000" dirty="0"/>
              <a:t>I think the current slide has the </a:t>
            </a:r>
            <a:r>
              <a:rPr lang="en-US" sz="1000" b="1" dirty="0"/>
              <a:t>right six candidates</a:t>
            </a:r>
            <a:r>
              <a:rPr lang="en-US" sz="1000" dirty="0"/>
              <a:t>: selection scarcity, assortativity, pool size, peer-quality variance, scoring/evaluation regime, and local vs global selection. But we need to be careful: these are </a:t>
            </a:r>
            <a:r>
              <a:rPr lang="en-US" sz="1000" b="1" dirty="0"/>
              <a:t>hypotheses about what morphs the geometry</a:t>
            </a:r>
            <a:r>
              <a:rPr lang="en-US" sz="1000" dirty="0"/>
              <a:t>, not six variables we have already validated.</a:t>
            </a:r>
          </a:p>
          <a:p>
            <a:r>
              <a:rPr lang="en-US" sz="1000" b="1" dirty="0"/>
              <a:t>PURPOSE / LOGIC:</a:t>
            </a:r>
            <a:r>
              <a:rPr lang="en-US" sz="1000" dirty="0"/>
              <a:t> Having defined the response geometry, ask what properties of a competitive system might explain why that geometry changes. These become candidate </a:t>
            </a:r>
            <a:r>
              <a:rPr lang="en-US" sz="1000" b="1" dirty="0"/>
              <a:t>moderators / control parameters</a:t>
            </a:r>
            <a:r>
              <a:rPr lang="en-US" sz="1000" dirty="0"/>
              <a:t> for both empirical comparison and the model.</a:t>
            </a:r>
          </a:p>
          <a:p>
            <a:r>
              <a:rPr lang="en-US" sz="1000" b="1" dirty="0"/>
              <a:t>SAY:</a:t>
            </a:r>
            <a:r>
              <a:rPr lang="en-US" sz="1000" dirty="0"/>
              <a:t> “Now we can ask the question I really want the model eventually to answer: </a:t>
            </a:r>
            <a:r>
              <a:rPr lang="en-US" sz="1000" b="1" dirty="0"/>
              <a:t>what morphs the curve?</a:t>
            </a:r>
            <a:r>
              <a:rPr lang="en-US" sz="1000" dirty="0"/>
              <a:t> Why does one competitive system produce a strong downturn while another produces a weak one—or perhaps none at all?”</a:t>
            </a:r>
          </a:p>
          <a:p>
            <a:r>
              <a:rPr lang="en-US" sz="1000" dirty="0"/>
              <a:t>“We already have several plausible candidates. </a:t>
            </a:r>
            <a:r>
              <a:rPr lang="en-US" sz="1000" b="1" dirty="0"/>
              <a:t>Selection scarcity:</a:t>
            </a:r>
            <a:r>
              <a:rPr lang="en-US" sz="1000" dirty="0"/>
              <a:t> how many people can actually advance? </a:t>
            </a:r>
            <a:r>
              <a:rPr lang="en-US" sz="1000" b="1" dirty="0"/>
              <a:t>Assortativity:</a:t>
            </a:r>
            <a:r>
              <a:rPr lang="en-US" sz="1000" dirty="0"/>
              <a:t> how strongly does talent cluster with talent? </a:t>
            </a:r>
            <a:r>
              <a:rPr lang="en-US" sz="1000" b="1" dirty="0"/>
              <a:t>Pool size:</a:t>
            </a:r>
            <a:r>
              <a:rPr lang="en-US" sz="1000" dirty="0"/>
              <a:t> how many peers define the local competitive environment? </a:t>
            </a:r>
            <a:r>
              <a:rPr lang="en-US" sz="1000" b="1" dirty="0"/>
              <a:t>Peer-quality variance:</a:t>
            </a:r>
            <a:r>
              <a:rPr lang="en-US" sz="1000" dirty="0"/>
              <a:t> how different are the ponds from one another?”</a:t>
            </a:r>
          </a:p>
          <a:p>
            <a:r>
              <a:rPr lang="en-US" sz="1000" dirty="0"/>
              <a:t>“Then there are institutional dimensions: </a:t>
            </a:r>
            <a:r>
              <a:rPr lang="en-US" sz="1000" b="1" dirty="0"/>
              <a:t>how is performance scored or evaluated, and where does selection occur—locally or globally?</a:t>
            </a:r>
            <a:r>
              <a:rPr lang="en-US" sz="1000" dirty="0"/>
              <a:t>”</a:t>
            </a:r>
          </a:p>
          <a:p>
            <a:r>
              <a:rPr lang="en-US" sz="1000" b="1" dirty="0"/>
              <a:t>KEY LINE:</a:t>
            </a:r>
            <a:r>
              <a:rPr lang="en-US" sz="1000" dirty="0"/>
              <a:t> “These aren't six explanations. </a:t>
            </a:r>
            <a:r>
              <a:rPr lang="en-US" sz="1000" b="1" dirty="0"/>
              <a:t>They're candidate dimensions of the competitive architecture that may act like control parameters on the response geometry.</a:t>
            </a:r>
            <a:r>
              <a:rPr lang="en-US" sz="1000" dirty="0"/>
              <a:t>”</a:t>
            </a:r>
          </a:p>
          <a:p>
            <a:r>
              <a:rPr lang="en-US" sz="1000" b="1" dirty="0"/>
              <a:t>WHY THIS IS NETWORK SCIENCE:</a:t>
            </a:r>
            <a:r>
              <a:rPr lang="en-US" sz="1000" dirty="0"/>
              <a:t> “Assortativity is especially exciting because it takes us directly back to the network. People aren't randomly assigned to ponds. Talented officers, players, and scholars may systematically cluster—and that sorting determines the peer environments the system actually produces.” Network assortativity has been linked to performance in other organizational/collaboration settings, reinforcing its plausibility as a structural moderator rather than proving our mechanism. Khanna &amp; Guler, 2022</a:t>
            </a:r>
          </a:p>
          <a:p>
            <a:r>
              <a:rPr lang="en-US" sz="1000" b="1" dirty="0"/>
              <a:t>CAUTION:</a:t>
            </a:r>
            <a:r>
              <a:rPr lang="en-US" sz="1000" dirty="0"/>
              <a:t> Don't present all six as equally established or independent. Some may collapse into one another; others may ultimately be unmeasurable or irrelevant. </a:t>
            </a:r>
            <a:r>
              <a:rPr lang="en-US" sz="1000" b="1" dirty="0"/>
              <a:t>This is our candidate parameter space, not our final theory.</a:t>
            </a:r>
            <a:endParaRPr lang="en-US" sz="1000" dirty="0"/>
          </a:p>
          <a:p>
            <a:r>
              <a:rPr lang="en-US" sz="1000" b="1" dirty="0"/>
              <a:t>TRANSITION OUT:</a:t>
            </a:r>
            <a:r>
              <a:rPr lang="en-US" sz="1000" dirty="0"/>
              <a:t> “And one of these dimensions deserves special attention, because it reveals something I hadn't appreciated when we first started comparing the domains: </a:t>
            </a:r>
            <a:r>
              <a:rPr lang="en-US" sz="1000" b="1" dirty="0"/>
              <a:t>the network can enter the success process at more than one stage.</a:t>
            </a:r>
            <a:r>
              <a:rPr lang="en-US" sz="10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900" b="1" dirty="0"/>
              <a:t>SLIDE 28 — Where Does the Network Enter?</a:t>
            </a:r>
          </a:p>
          <a:p>
            <a:r>
              <a:rPr lang="en-US" sz="900" b="1" dirty="0"/>
              <a:t>PURPOSE / LOGIC:</a:t>
            </a:r>
            <a:r>
              <a:rPr lang="en-US" sz="900" dirty="0"/>
              <a:t> Broaden the mechanism before introducing the formal model. Until now, we have mostly treated performance as something we observe and then asked whether peer context predicts success beyond it. But the network may enter </a:t>
            </a:r>
            <a:r>
              <a:rPr lang="en-US" sz="900" b="1" dirty="0"/>
              <a:t>at multiple stages along the path from talent to success</a:t>
            </a:r>
            <a:r>
              <a:rPr lang="en-US" sz="900" dirty="0"/>
              <a:t>. This is a candidate framework—not yet a causal claim.</a:t>
            </a:r>
          </a:p>
          <a:p>
            <a:r>
              <a:rPr lang="en-US" sz="900" b="1" dirty="0"/>
              <a:t>SAY:</a:t>
            </a:r>
            <a:r>
              <a:rPr lang="en-US" sz="900" dirty="0"/>
              <a:t> “There's another wrinkle here. So far I've been talking almost as though individual performance exists first, and then the network somehow matters afterward. </a:t>
            </a:r>
            <a:r>
              <a:rPr lang="en-US" sz="900" b="1" dirty="0"/>
              <a:t>But that may be too simple.</a:t>
            </a:r>
            <a:r>
              <a:rPr lang="en-US" sz="900" dirty="0"/>
              <a:t>”</a:t>
            </a:r>
          </a:p>
          <a:p>
            <a:r>
              <a:rPr lang="en-US" sz="900" dirty="0"/>
              <a:t>“The network may enter at multiple points along the path from talent to success—through </a:t>
            </a:r>
            <a:r>
              <a:rPr lang="en-US" sz="900" b="1" dirty="0"/>
              <a:t>opportunity</a:t>
            </a:r>
            <a:r>
              <a:rPr lang="en-US" sz="900" dirty="0"/>
              <a:t>, through how performance is </a:t>
            </a:r>
            <a:r>
              <a:rPr lang="en-US" sz="900" b="1" dirty="0"/>
              <a:t>produced or scored</a:t>
            </a:r>
            <a:r>
              <a:rPr lang="en-US" sz="900" dirty="0"/>
              <a:t>, through </a:t>
            </a:r>
            <a:r>
              <a:rPr lang="en-US" sz="900" b="1" dirty="0"/>
              <a:t>recognition</a:t>
            </a:r>
            <a:r>
              <a:rPr lang="en-US" sz="900" dirty="0"/>
              <a:t>, or through the eventual </a:t>
            </a:r>
            <a:r>
              <a:rPr lang="en-US" sz="900" b="1" dirty="0"/>
              <a:t>selection</a:t>
            </a:r>
            <a:r>
              <a:rPr lang="en-US" sz="900" dirty="0"/>
              <a:t> process.”</a:t>
            </a:r>
          </a:p>
          <a:p>
            <a:r>
              <a:rPr lang="en-US" sz="900" dirty="0"/>
              <a:t>“So two people with identical underlying talent could potentially experience different opportunities, generate or receive different performance signals, be recognized differently, or face different selection environments because of the people around them.”</a:t>
            </a:r>
          </a:p>
          <a:p>
            <a:r>
              <a:rPr lang="en-US" sz="900" b="1" dirty="0"/>
              <a:t>KEY LINE:</a:t>
            </a:r>
            <a:r>
              <a:rPr lang="en-US" sz="900" dirty="0"/>
              <a:t> “The network may affect not only what happens </a:t>
            </a:r>
            <a:r>
              <a:rPr lang="en-US" sz="900" b="1" dirty="0"/>
              <a:t>given performance</a:t>
            </a:r>
            <a:r>
              <a:rPr lang="en-US" sz="900" dirty="0"/>
              <a:t>. In some systems, the network may help shape the performance signal we're conditioning on in the first place.”</a:t>
            </a:r>
          </a:p>
          <a:p>
            <a:r>
              <a:rPr lang="en-US" sz="900" b="1" dirty="0"/>
              <a:t>WHY ARMY BECOMES INTERESTING:</a:t>
            </a:r>
            <a:r>
              <a:rPr lang="en-US" sz="900" dirty="0"/>
              <a:t> “Army gives us a particularly interesting twist. I've been treating top-block ratio as our observable performance signal—and it is. But this isn't a stopwatch. Officer evaluation is </a:t>
            </a:r>
            <a:r>
              <a:rPr lang="en-US" sz="900" b="1" dirty="0"/>
              <a:t>locally produced, subjective, and explicitly comparative</a:t>
            </a:r>
            <a:r>
              <a:rPr lang="en-US" sz="900" dirty="0"/>
              <a:t>. Senior raters are required to differentiate officers through the Army's evaluation categories and profile constraints. So the local competitive environment is potentially involved in producing the evaluation signal before that signal ever reaches a centralized promotion board.”</a:t>
            </a:r>
          </a:p>
          <a:p>
            <a:r>
              <a:rPr lang="en-US" sz="900" b="1" dirty="0"/>
              <a:t>KEY ARMY LINE:</a:t>
            </a:r>
            <a:r>
              <a:rPr lang="en-US" sz="900" dirty="0"/>
              <a:t> “In the Army, </a:t>
            </a:r>
            <a:r>
              <a:rPr lang="en-US" sz="900" b="1" dirty="0"/>
              <a:t>the pond may already be inside the performance measure before the promotion board ever sees it.</a:t>
            </a:r>
            <a:r>
              <a:rPr lang="en-US" sz="900" dirty="0"/>
              <a:t>”</a:t>
            </a:r>
          </a:p>
          <a:p>
            <a:r>
              <a:rPr lang="en-US" sz="900" b="1" dirty="0"/>
              <a:t>IMPORTANT MODEL DISTINCTION:</a:t>
            </a:r>
            <a:r>
              <a:rPr lang="en-US" sz="900" dirty="0"/>
              <a:t> Do </a:t>
            </a:r>
            <a:r>
              <a:rPr lang="en-US" sz="900" b="1" dirty="0"/>
              <a:t>not</a:t>
            </a:r>
            <a:r>
              <a:rPr lang="en-US" sz="900" dirty="0"/>
              <a:t> introduce </a:t>
            </a:r>
            <a:r>
              <a:rPr lang="en-US" sz="900" b="1" dirty="0"/>
              <a:t>ASSIGN → SCORE → SELECT</a:t>
            </a:r>
            <a:r>
              <a:rPr lang="en-US" sz="900" dirty="0"/>
              <a:t> here as our formal model. This slide intentionally shows the richer empirical process: </a:t>
            </a:r>
            <a:r>
              <a:rPr lang="en-US" sz="900" b="1" dirty="0"/>
              <a:t>TALENT → OPPORTUNITY → SCORE → RECOGNITION → SELECTION → SUCCESS.</a:t>
            </a:r>
            <a:r>
              <a:rPr lang="en-US" sz="900" dirty="0"/>
              <a:t> Later, when we need a tractable generative model, we can deliberately compress this complexity into </a:t>
            </a:r>
            <a:r>
              <a:rPr lang="en-US" sz="900" b="1" dirty="0"/>
              <a:t>ASSIGN → SCORE → SELECT</a:t>
            </a:r>
            <a:r>
              <a:rPr lang="en-US" sz="900" dirty="0"/>
              <a:t>. That compression should feel like an abstraction we earned, not terminology introduced prematurely.</a:t>
            </a:r>
          </a:p>
          <a:p>
            <a:r>
              <a:rPr lang="en-US" sz="900" b="1" dirty="0"/>
              <a:t>CAUTION:</a:t>
            </a:r>
            <a:r>
              <a:rPr lang="en-US" sz="900" dirty="0"/>
              <a:t> This framework identifies </a:t>
            </a:r>
            <a:r>
              <a:rPr lang="en-US" sz="900" b="1" dirty="0"/>
              <a:t>possible network entry points</a:t>
            </a:r>
            <a:r>
              <a:rPr lang="en-US" sz="900" dirty="0"/>
              <a:t>, not mechanisms we have causally identified. For Army, distinguish the documented comparative/profile structure of the evaluation system from the stronger empirical claim that peer quality </a:t>
            </a:r>
            <a:r>
              <a:rPr lang="en-US" sz="900" i="1" dirty="0"/>
              <a:t>causes</a:t>
            </a:r>
            <a:r>
              <a:rPr lang="en-US" sz="900" dirty="0"/>
              <a:t> a particular officer's rating—we have not established that.</a:t>
            </a:r>
          </a:p>
          <a:p>
            <a:r>
              <a:rPr lang="en-US" sz="900" b="1" dirty="0"/>
              <a:t>TRANSITION OUT:</a:t>
            </a:r>
            <a:r>
              <a:rPr lang="en-US" sz="900" dirty="0"/>
              <a:t> “And once we recognize that the network can enter at different stages, the differences among our three domains become even more interesting: </a:t>
            </a:r>
            <a:r>
              <a:rPr lang="en-US" sz="900" b="1" dirty="0"/>
              <a:t>where is performance produced or evaluated, and where is advancement actually decided?</a:t>
            </a:r>
            <a:r>
              <a:rPr lang="en-US" sz="9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900" b="1" dirty="0"/>
              <a:t>SLIDE 29 — Scoring and Selection Occur in Different Places</a:t>
            </a:r>
          </a:p>
          <a:p>
            <a:r>
              <a:rPr lang="en-US" sz="900" dirty="0"/>
              <a:t>I think this slide is </a:t>
            </a:r>
            <a:r>
              <a:rPr lang="en-US" sz="900" b="1" dirty="0"/>
              <a:t>very good conceptually</a:t>
            </a:r>
            <a:r>
              <a:rPr lang="en-US" sz="900" dirty="0"/>
              <a:t>, especially immediately after Slide 28. The deck's current mapping is Army = local scoring/global selection; MBB = hybrid scoring/global selection; academia = broad/global production and recognition signals/mostly local selection. </a:t>
            </a:r>
          </a:p>
          <a:p>
            <a:r>
              <a:rPr lang="en-US" sz="900" b="1" dirty="0"/>
              <a:t>PURPOSE / LOGIC:</a:t>
            </a:r>
            <a:r>
              <a:rPr lang="en-US" sz="900" dirty="0"/>
              <a:t> Take Slide 28's abstract process and map it onto the three actual domains. The systems share a network skeleton, but </a:t>
            </a:r>
            <a:r>
              <a:rPr lang="en-US" sz="900" b="1" dirty="0"/>
              <a:t>performance signals are produced and advancement decisions are made in different institutional locations.</a:t>
            </a:r>
            <a:endParaRPr lang="en-US" sz="900" dirty="0"/>
          </a:p>
          <a:p>
            <a:r>
              <a:rPr lang="en-US" sz="900" b="1" dirty="0"/>
              <a:t>SAY:</a:t>
            </a:r>
            <a:r>
              <a:rPr lang="en-US" sz="900" dirty="0"/>
              <a:t> “Now we can map that framework back onto our three systems. And this is where they become really different.”</a:t>
            </a:r>
          </a:p>
          <a:p>
            <a:r>
              <a:rPr lang="en-US" sz="900" dirty="0"/>
              <a:t>“</a:t>
            </a:r>
            <a:r>
              <a:rPr lang="en-US" sz="900" b="1" dirty="0"/>
              <a:t>Army is local scoring, global selection.</a:t>
            </a:r>
            <a:r>
              <a:rPr lang="en-US" sz="900" dirty="0"/>
              <a:t> The officer's evaluation is produced locally by a senior rater in an explicitly comparative evaluation system. That record then travels upward into an Army-wide promotion process.”</a:t>
            </a:r>
          </a:p>
          <a:p>
            <a:r>
              <a:rPr lang="en-US" sz="900" dirty="0"/>
              <a:t>“</a:t>
            </a:r>
            <a:r>
              <a:rPr lang="en-US" sz="900" b="1" dirty="0"/>
              <a:t>Basketball is more complicated—I'd call it hybrid.</a:t>
            </a:r>
            <a:r>
              <a:rPr lang="en-US" sz="900" dirty="0"/>
              <a:t> A coach locally allocates minutes, roles, lineups, touches, and opportunities. The player then produces observable statistics inside that locally allocated opportunity structure. But eventual NBA Draft selection occurs in a much broader, global market.”</a:t>
            </a:r>
          </a:p>
          <a:p>
            <a:r>
              <a:rPr lang="en-US" sz="900" dirty="0"/>
              <a:t>“</a:t>
            </a:r>
            <a:r>
              <a:rPr lang="en-US" sz="900" b="1" dirty="0"/>
              <a:t>Academia almost flips the architecture.</a:t>
            </a:r>
            <a:r>
              <a:rPr lang="en-US" sz="900" dirty="0"/>
              <a:t> Publications and citations are broadly visible production and recognition signals—they aren't simply created by one local evaluator. But the tenure decision itself is primarily made locally, by the institution.”</a:t>
            </a:r>
          </a:p>
          <a:p>
            <a:r>
              <a:rPr lang="en-US" sz="900" b="1" dirty="0"/>
              <a:t>KEY LINE:</a:t>
            </a:r>
            <a:r>
              <a:rPr lang="en-US" sz="900" dirty="0"/>
              <a:t> “So the same basic pond question sits inside </a:t>
            </a:r>
            <a:r>
              <a:rPr lang="en-US" sz="900" b="1" dirty="0"/>
              <a:t>very different institutional pipelines.</a:t>
            </a:r>
            <a:r>
              <a:rPr lang="en-US" sz="900" dirty="0"/>
              <a:t>”</a:t>
            </a:r>
          </a:p>
          <a:p>
            <a:r>
              <a:rPr lang="en-US" sz="900" dirty="0"/>
              <a:t>“And that matters because the network may have different opportunities to enter those pipelines. In Army it may enter the evaluation signal itself. In basketball it may enter through opportunity and role. In academia it may enter through productivity, recognition, collaboration, comparison, or the local tenure process.”</a:t>
            </a:r>
          </a:p>
          <a:p>
            <a:r>
              <a:rPr lang="en-US" sz="900" b="1" dirty="0"/>
              <a:t>IMPORTANT:</a:t>
            </a:r>
            <a:r>
              <a:rPr lang="en-US" sz="900" dirty="0"/>
              <a:t> “This gives us more than three different datasets. </a:t>
            </a:r>
            <a:r>
              <a:rPr lang="en-US" sz="900" b="1" dirty="0"/>
              <a:t>It gives us variation in the architecture connecting performance to success.</a:t>
            </a:r>
            <a:r>
              <a:rPr lang="en-US" sz="900" dirty="0"/>
              <a:t> And that variation may help explain why the response geometries differ.”</a:t>
            </a:r>
          </a:p>
          <a:p>
            <a:r>
              <a:rPr lang="en-US" sz="900" b="1" dirty="0"/>
              <a:t>CAUTION:</a:t>
            </a:r>
            <a:r>
              <a:rPr lang="en-US" sz="900" dirty="0"/>
              <a:t> Local/global is an organizing abstraction, not an absolute distinction; each system contains processes operating at multiple levels.</a:t>
            </a:r>
          </a:p>
          <a:p>
            <a:r>
              <a:rPr lang="en-US" sz="900" b="1" dirty="0"/>
              <a:t>TRANSITION OUT:</a:t>
            </a:r>
            <a:r>
              <a:rPr lang="en-US" sz="900" dirty="0"/>
              <a:t> “And Army now gives us an especially useful case, because there's something hiding inside the performance variable we've been using from the very beginning.”</a:t>
            </a:r>
          </a:p>
          <a:p>
            <a:r>
              <a:rPr lang="en-US" sz="900" b="1" dirty="0"/>
              <a:t>“Remember top-block ratio? We've been calling it individual performance. But where does that number actually come from?”</a:t>
            </a:r>
            <a:endParaRPr lang="en-US" sz="900" dirty="0"/>
          </a:p>
          <a:p>
            <a:endParaRPr sz="900"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900" b="1" dirty="0"/>
              <a:t>SLIDE 30 — Army’s Twist: The Score Is Already Social</a:t>
            </a:r>
          </a:p>
          <a:p>
            <a:r>
              <a:rPr lang="en-US" sz="900" dirty="0"/>
              <a:t>I think this is a </a:t>
            </a:r>
            <a:r>
              <a:rPr lang="en-US" sz="900" b="1" dirty="0"/>
              <a:t>very important slide</a:t>
            </a:r>
            <a:r>
              <a:rPr lang="en-US" sz="900" dirty="0"/>
              <a:t>, and Slide 29 sets it up perfectly. This is where we reveal that our supposedly “individual” Army performance measure is not generated independently of the local competitive environment.</a:t>
            </a:r>
          </a:p>
          <a:p>
            <a:r>
              <a:rPr lang="en-US" sz="900" b="1" dirty="0"/>
              <a:t>PURPOSE / LOGIC:</a:t>
            </a:r>
            <a:r>
              <a:rPr lang="en-US" sz="900" dirty="0"/>
              <a:t> Revisit top-block ratio—the variable we've been calling the officer's own performance signal—and show that Army evaluation is itself </a:t>
            </a:r>
            <a:r>
              <a:rPr lang="en-US" sz="900" b="1" dirty="0"/>
              <a:t>locally produced, subjective, and comparative</a:t>
            </a:r>
            <a:r>
              <a:rPr lang="en-US" sz="900" dirty="0"/>
              <a:t>. The peer environment may therefore enter the pathway to success </a:t>
            </a:r>
            <a:r>
              <a:rPr lang="en-US" sz="900" i="1" dirty="0"/>
              <a:t>before</a:t>
            </a:r>
            <a:r>
              <a:rPr lang="en-US" sz="900" dirty="0"/>
              <a:t> centralized selection.</a:t>
            </a:r>
          </a:p>
          <a:p>
            <a:r>
              <a:rPr lang="en-US" sz="900" b="1" dirty="0"/>
              <a:t>SAY:</a:t>
            </a:r>
            <a:r>
              <a:rPr lang="en-US" sz="900" dirty="0"/>
              <a:t> “Now I want to go back to the Army variable I've been calling individual performance: </a:t>
            </a:r>
            <a:r>
              <a:rPr lang="en-US" sz="900" b="1" dirty="0"/>
              <a:t>top-block ratio.</a:t>
            </a:r>
            <a:r>
              <a:rPr lang="en-US" sz="900" dirty="0"/>
              <a:t> That's a perfectly legitimate observable performance signal—but we need to remember how that signal gets created.”</a:t>
            </a:r>
          </a:p>
          <a:p>
            <a:r>
              <a:rPr lang="en-US" sz="900" dirty="0"/>
              <a:t>“This isn't tennis. There isn't a scoreboard somewhere producing an independent measure of officer performance. A senior rater evaluates officers locally, and the Army's evaluation system requires differentiation among those officers through rating categories and profile constraints.”</a:t>
            </a:r>
          </a:p>
          <a:p>
            <a:r>
              <a:rPr lang="en-US" sz="900" dirty="0"/>
              <a:t>“So even before an officer's record reaches a promotion board, </a:t>
            </a:r>
            <a:r>
              <a:rPr lang="en-US" sz="900" b="1" dirty="0"/>
              <a:t>comparison with other officers is already built into the institutional process that produces part of that record.</a:t>
            </a:r>
            <a:r>
              <a:rPr lang="en-US" sz="900" dirty="0"/>
              <a:t>”</a:t>
            </a:r>
          </a:p>
          <a:p>
            <a:r>
              <a:rPr lang="en-US" sz="900" b="1" dirty="0"/>
              <a:t>KEY LINE:</a:t>
            </a:r>
            <a:r>
              <a:rPr lang="en-US" sz="900" dirty="0"/>
              <a:t> “In the Army, </a:t>
            </a:r>
            <a:r>
              <a:rPr lang="en-US" sz="900" b="1" dirty="0"/>
              <a:t>the pond may already be inside the performance measure before the promotion board ever sees it.</a:t>
            </a:r>
            <a:r>
              <a:rPr lang="en-US" sz="900" dirty="0"/>
              <a:t>”</a:t>
            </a:r>
          </a:p>
          <a:p>
            <a:r>
              <a:rPr lang="en-US" sz="900" b="1" dirty="0"/>
              <a:t>WHY THIS MATTERS:</a:t>
            </a:r>
            <a:r>
              <a:rPr lang="en-US" sz="900" dirty="0"/>
              <a:t> “That gives Army a really interesting architecture: </a:t>
            </a:r>
            <a:r>
              <a:rPr lang="en-US" sz="900" b="1" dirty="0"/>
              <a:t>local comparative scoring → global selection.</a:t>
            </a:r>
            <a:r>
              <a:rPr lang="en-US" sz="900" dirty="0"/>
              <a:t> And it means our observed relationship between peer quality and advancement could potentially involve multiple channels. The pond might influence opportunities and performance; it might influence how performance is evaluated; and then that evaluation enters a broader selection process.”</a:t>
            </a:r>
          </a:p>
          <a:p>
            <a:r>
              <a:rPr lang="en-US" sz="900" dirty="0"/>
              <a:t>“This is one reason I don't want to reduce the project to ‘good peers help until they hurt.’ The institutional machinery connecting peers, performance, and success may actually help determine </a:t>
            </a:r>
            <a:r>
              <a:rPr lang="en-US" sz="900" b="1" dirty="0"/>
              <a:t>the shape of the response itself.</a:t>
            </a:r>
            <a:r>
              <a:rPr lang="en-US" sz="900" dirty="0"/>
              <a:t>”</a:t>
            </a:r>
          </a:p>
          <a:p>
            <a:r>
              <a:rPr lang="en-US" sz="900" b="1" dirty="0"/>
              <a:t>NETWORK SCIENCE CONNECTION:</a:t>
            </a:r>
            <a:r>
              <a:rPr lang="en-US" sz="900" dirty="0"/>
              <a:t> “This also brings us back to the network-science framing. The network isn't merely a set of relationships surrounding an independently measured individual. </a:t>
            </a:r>
            <a:r>
              <a:rPr lang="en-US" sz="900" b="1" dirty="0"/>
              <a:t>The social context can participate in producing the signals by which the individual is subsequently judged.</a:t>
            </a:r>
            <a:r>
              <a:rPr lang="en-US" sz="900" dirty="0"/>
              <a:t>” Research on subjective performance evaluation provides a broader precedent for peer context affecting evaluation, although that literature does not establish our Army mechanism.</a:t>
            </a:r>
          </a:p>
          <a:p>
            <a:r>
              <a:rPr lang="en-US" sz="900" b="1" dirty="0"/>
              <a:t>CAUTION:</a:t>
            </a:r>
            <a:r>
              <a:rPr lang="en-US" sz="900" dirty="0"/>
              <a:t> We have established the comparative structure of the Army evaluation system; we have </a:t>
            </a:r>
            <a:r>
              <a:rPr lang="en-US" sz="900" b="1" dirty="0"/>
              <a:t>not</a:t>
            </a:r>
            <a:r>
              <a:rPr lang="en-US" sz="900" dirty="0"/>
              <a:t> established that peer quality causally changes an individual officer's rating or that this mechanism explains the HERO downturn.</a:t>
            </a:r>
          </a:p>
          <a:p>
            <a:r>
              <a:rPr lang="en-US" sz="900" b="1" dirty="0"/>
              <a:t>TRANSITION OUT:</a:t>
            </a:r>
            <a:r>
              <a:rPr lang="en-US" sz="900" dirty="0"/>
              <a:t> “And once we admit that the system itself may be generating these different response shapes, I think we reach a fork in the road: </a:t>
            </a:r>
            <a:r>
              <a:rPr lang="en-US" sz="900" b="1" dirty="0"/>
              <a:t>do we simply describe those differences—or do we try to build a model capable of generating them?</a:t>
            </a:r>
            <a:r>
              <a:rPr lang="en-US" sz="900"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900" b="1" dirty="0"/>
              <a:t>SLIDE 31 — Candidate Bifurcation: What Kind of Paper Are We Building?</a:t>
            </a:r>
          </a:p>
          <a:p>
            <a:r>
              <a:rPr lang="en-US" sz="900" dirty="0"/>
              <a:t>I still really like that we called this a </a:t>
            </a:r>
            <a:r>
              <a:rPr lang="en-US" sz="900" b="1" dirty="0"/>
              <a:t>candidate bifurcation</a:t>
            </a:r>
            <a:r>
              <a:rPr lang="en-US" sz="900" dirty="0"/>
              <a:t>. This is not a false choice we're forcing today; it's a decision Alex and Laszlo should help make. And as you said earlier, </a:t>
            </a:r>
            <a:r>
              <a:rPr lang="en-US" sz="900" b="1" dirty="0"/>
              <a:t>you lean toward A</a:t>
            </a:r>
            <a:r>
              <a:rPr lang="en-US" sz="900" dirty="0"/>
              <a:t>, while recognizing B or C may ultimately be more appropriate.</a:t>
            </a:r>
          </a:p>
          <a:p>
            <a:r>
              <a:rPr lang="en-US" sz="900" b="1" dirty="0"/>
              <a:t>PURPOSE / LOGIC:</a:t>
            </a:r>
            <a:r>
              <a:rPr lang="en-US" sz="900" dirty="0"/>
              <a:t> Make the strategic research decision explicit. The empirical work has now generated a phenomenon and candidate moderators. The question is how ambitious the explanatory layer should become—and what must be completed for a defensible dissertation/paper.</a:t>
            </a:r>
          </a:p>
          <a:p>
            <a:r>
              <a:rPr lang="en-US" sz="900" b="1" dirty="0"/>
              <a:t>SAY:</a:t>
            </a:r>
            <a:r>
              <a:rPr lang="en-US" sz="900" dirty="0"/>
              <a:t> “At this point I think the project reaches a genuine fork. We have an empirical phenomenon across multiple competitive systems, with variation that may itself be informative. </a:t>
            </a:r>
            <a:r>
              <a:rPr lang="en-US" sz="900" b="1" dirty="0"/>
              <a:t>How far do we want to push the explanation?</a:t>
            </a:r>
            <a:r>
              <a:rPr lang="en-US" sz="900" dirty="0"/>
              <a:t>”</a:t>
            </a:r>
          </a:p>
          <a:p>
            <a:r>
              <a:rPr lang="en-US" sz="900" dirty="0"/>
              <a:t>“</a:t>
            </a:r>
            <a:r>
              <a:rPr lang="en-US" sz="900" b="1" dirty="0"/>
              <a:t>Path A is the direction I'm most excited about:</a:t>
            </a:r>
            <a:r>
              <a:rPr lang="en-US" sz="900" dirty="0"/>
              <a:t> build a minimal generative model—eventually something like </a:t>
            </a:r>
            <a:r>
              <a:rPr lang="en-US" sz="900" b="1" dirty="0"/>
              <a:t>ASSIGN → SCORE → SELECT</a:t>
            </a:r>
            <a:r>
              <a:rPr lang="en-US" sz="900" dirty="0"/>
              <a:t>—and ask what ingredients are sufficient to produce and morph the empirical response geometry.”</a:t>
            </a:r>
          </a:p>
          <a:p>
            <a:r>
              <a:rPr lang="en-US" sz="900" dirty="0"/>
              <a:t>“</a:t>
            </a:r>
            <a:r>
              <a:rPr lang="en-US" sz="900" b="1" dirty="0"/>
              <a:t>Path B</a:t>
            </a:r>
            <a:r>
              <a:rPr lang="en-US" sz="900" dirty="0"/>
              <a:t> is more conservative: make the cross-domain empirical result the primary contribution. Harmonize the specifications, characterize the geometry rigorously, establish robustness, and treat mechanism as interpretation rather than something we claim to have generated.”</a:t>
            </a:r>
          </a:p>
          <a:p>
            <a:r>
              <a:rPr lang="en-US" sz="900" dirty="0"/>
              <a:t>“And </a:t>
            </a:r>
            <a:r>
              <a:rPr lang="en-US" sz="900" b="1" dirty="0"/>
              <a:t>Path C</a:t>
            </a:r>
            <a:r>
              <a:rPr lang="en-US" sz="900" dirty="0"/>
              <a:t> is potentially the most network-science-heavy extension: ask whether the bipartite network—and ultimately its projection—contains structural information that predicts who experiences the effect or where it becomes strongest.”</a:t>
            </a:r>
          </a:p>
          <a:p>
            <a:r>
              <a:rPr lang="en-US" sz="900" b="1" dirty="0"/>
              <a:t>KEY LINE:</a:t>
            </a:r>
            <a:r>
              <a:rPr lang="en-US" sz="900" dirty="0"/>
              <a:t> “My preference is </a:t>
            </a:r>
            <a:r>
              <a:rPr lang="en-US" sz="900" b="1" dirty="0"/>
              <a:t>A</a:t>
            </a:r>
            <a:r>
              <a:rPr lang="en-US" sz="900" dirty="0"/>
              <a:t>, because the changing geometry seems to beg for an explanatory model. But I want to distinguish what excites me from what the evidence can ultimately support—and Alex and Laszlo may reasonably prefer B or C.”</a:t>
            </a:r>
          </a:p>
          <a:p>
            <a:r>
              <a:rPr lang="en-US" sz="900" b="1" dirty="0"/>
              <a:t>IMPORTANT:</a:t>
            </a:r>
            <a:r>
              <a:rPr lang="en-US" sz="900" dirty="0"/>
              <a:t> “These paths aren't necessarily mutually exclusive. A strong empirical paper could contain a minimal model; the deeper network analysis could become a later extension—or potentially its own paper. The question is </a:t>
            </a:r>
            <a:r>
              <a:rPr lang="en-US" sz="900" b="1" dirty="0"/>
              <a:t>what becomes load-bearing for this dissertation.</a:t>
            </a:r>
            <a:r>
              <a:rPr lang="en-US" sz="900" dirty="0"/>
              <a:t>”</a:t>
            </a:r>
          </a:p>
          <a:p>
            <a:r>
              <a:rPr lang="en-US" sz="900" b="1" dirty="0"/>
              <a:t>WHY A IS ATTRACTIVE:</a:t>
            </a:r>
            <a:r>
              <a:rPr lang="en-US" sz="900" dirty="0"/>
              <a:t> “If the model works, it changes the contribution from </a:t>
            </a:r>
            <a:r>
              <a:rPr lang="en-US" sz="900" i="1" dirty="0"/>
              <a:t>‘we found a recurring nonlinear pattern’</a:t>
            </a:r>
            <a:r>
              <a:rPr lang="en-US" sz="900" dirty="0"/>
              <a:t> to </a:t>
            </a:r>
            <a:r>
              <a:rPr lang="en-US" sz="900" i="1" dirty="0"/>
              <a:t>‘here are candidate system-level ingredients that can generate the pattern, change its shape, and tell us where to look next.’</a:t>
            </a:r>
            <a:r>
              <a:rPr lang="en-US" sz="900" dirty="0"/>
              <a:t>” Agent-based and computational network models are commonly used precisely for this kind of micro-to-macro generative reasoning; that supports the methodological strategy, not our specific mechanism.</a:t>
            </a:r>
          </a:p>
          <a:p>
            <a:r>
              <a:rPr lang="en-US" sz="900" b="1" dirty="0"/>
              <a:t>CAUTION:</a:t>
            </a:r>
            <a:r>
              <a:rPr lang="en-US" sz="900" dirty="0"/>
              <a:t> The model must earn its place through explanation and new testable predictions; otherwise the harmonized empirical contribution should stand on its own.</a:t>
            </a:r>
          </a:p>
          <a:p>
            <a:r>
              <a:rPr lang="en-US" sz="900" b="1" dirty="0"/>
              <a:t>TRANSITION OUT:</a:t>
            </a:r>
            <a:r>
              <a:rPr lang="en-US" sz="900" dirty="0"/>
              <a:t> “Whichever path we choose, there is a core set of work that does </a:t>
            </a:r>
            <a:r>
              <a:rPr lang="en-US" sz="900" b="1" dirty="0"/>
              <a:t>not</a:t>
            </a:r>
            <a:r>
              <a:rPr lang="en-US" sz="900" dirty="0"/>
              <a:t> depend on that decision. So before I show you the model dream, let me separate the dissertation floor from the ceiling.”</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en-US" sz="1000" b="1" dirty="0"/>
              <a:t>SLIDE 32 — Minimum Publishable Core</a:t>
            </a:r>
          </a:p>
          <a:p>
            <a:r>
              <a:rPr lang="en-US" sz="1000" dirty="0"/>
              <a:t>This slide is important because it </a:t>
            </a:r>
            <a:r>
              <a:rPr lang="en-US" sz="1000" b="1" dirty="0"/>
              <a:t>takes pressure off the bifurcation</a:t>
            </a:r>
            <a:r>
              <a:rPr lang="en-US" sz="1000" dirty="0"/>
              <a:t>. We don't need to decide today whether the dissertation ultimately becomes A, B, or C. There is a substantial body of work that is necessary under </a:t>
            </a:r>
            <a:r>
              <a:rPr lang="en-US" sz="1000" b="1" dirty="0"/>
              <a:t>every path</a:t>
            </a:r>
            <a:r>
              <a:rPr lang="en-US" sz="1000" dirty="0"/>
              <a:t>.</a:t>
            </a:r>
          </a:p>
          <a:p>
            <a:r>
              <a:rPr lang="en-US" sz="1000" b="1" dirty="0"/>
              <a:t>PURPOSE / LOGIC:</a:t>
            </a:r>
            <a:r>
              <a:rPr lang="en-US" sz="1000" dirty="0"/>
              <a:t> Define the dissertation floor—the work that must be completed regardless of how ambitious the model or network extensions become. This separates </a:t>
            </a:r>
            <a:r>
              <a:rPr lang="en-US" sz="1000" b="1" dirty="0"/>
              <a:t>necessary science</a:t>
            </a:r>
            <a:r>
              <a:rPr lang="en-US" sz="1000" dirty="0"/>
              <a:t> from exciting extensions.</a:t>
            </a:r>
          </a:p>
          <a:p>
            <a:r>
              <a:rPr lang="en-US" sz="1000" b="1" dirty="0"/>
              <a:t>SAY:</a:t>
            </a:r>
            <a:r>
              <a:rPr lang="en-US" sz="1000" dirty="0"/>
              <a:t> “Before I get too excited about models and mechanisms, I want to be disciplined about what absolutely has to happen no matter which path we choose.”</a:t>
            </a:r>
          </a:p>
          <a:p>
            <a:r>
              <a:rPr lang="en-US" sz="1000" dirty="0"/>
              <a:t>“First, we need to </a:t>
            </a:r>
            <a:r>
              <a:rPr lang="en-US" sz="1000" b="1" dirty="0"/>
              <a:t>freeze the cohort definitions and denominators</a:t>
            </a:r>
            <a:r>
              <a:rPr lang="en-US" sz="1000" dirty="0"/>
              <a:t> in all three domains. I don't want any result depending on a denominator whose meaning is still moving.”</a:t>
            </a:r>
          </a:p>
          <a:p>
            <a:r>
              <a:rPr lang="en-US" sz="1000" dirty="0"/>
              <a:t>“Second, we need to </a:t>
            </a:r>
            <a:r>
              <a:rPr lang="en-US" sz="1000" b="1" dirty="0"/>
              <a:t>harmonize the peer metrics and </a:t>
            </a:r>
            <a:r>
              <a:rPr lang="en-US" sz="1000" b="1" dirty="0" err="1"/>
              <a:t>estimands</a:t>
            </a:r>
            <a:r>
              <a:rPr lang="en-US" sz="1000" dirty="0"/>
              <a:t> as much as the domains legitimately allow. Same conceptual experiment does not mean forcing unlike systems into identical measures—but it does mean being explicit about what is comparable and what isn't.”</a:t>
            </a:r>
          </a:p>
          <a:p>
            <a:r>
              <a:rPr lang="en-US" sz="1000" dirty="0"/>
              <a:t>“Third, we need to </a:t>
            </a:r>
            <a:r>
              <a:rPr lang="en-US" sz="1000" b="1" dirty="0"/>
              <a:t>lock the outcome models and controls</a:t>
            </a:r>
            <a:r>
              <a:rPr lang="en-US" sz="1000" dirty="0"/>
              <a:t>, quantify the response geometry rather than eyeballing it, and run the robustness checks that distinguish a recurring empirical pattern from an artifact of specification.”</a:t>
            </a:r>
          </a:p>
          <a:p>
            <a:r>
              <a:rPr lang="en-US" sz="1000" dirty="0"/>
              <a:t>“And finally, we need to establish the </a:t>
            </a:r>
            <a:r>
              <a:rPr lang="en-US" sz="1000" b="1" dirty="0"/>
              <a:t>uncertainty around the geometry itself</a:t>
            </a:r>
            <a:r>
              <a:rPr lang="en-US" sz="1000" dirty="0"/>
              <a:t>—not just whether individual coefficients happen to cross a significance threshold.”</a:t>
            </a:r>
          </a:p>
          <a:p>
            <a:r>
              <a:rPr lang="en-US" sz="1000" b="1" dirty="0"/>
              <a:t>KEY LINE:</a:t>
            </a:r>
            <a:r>
              <a:rPr lang="en-US" sz="1000" dirty="0"/>
              <a:t> “Whatever the dissertation ceiling becomes, </a:t>
            </a:r>
            <a:r>
              <a:rPr lang="en-US" sz="1000" b="1" dirty="0"/>
              <a:t>this is the floor.</a:t>
            </a:r>
            <a:r>
              <a:rPr lang="en-US" sz="1000" dirty="0"/>
              <a:t>”</a:t>
            </a:r>
          </a:p>
          <a:p>
            <a:r>
              <a:rPr lang="en-US" sz="1000" b="1" dirty="0"/>
              <a:t>WHY THIS MATTERS:</a:t>
            </a:r>
            <a:r>
              <a:rPr lang="en-US" sz="1000" dirty="0"/>
              <a:t> “If we do this well, the empirical contribution can stand on its own: three competitive systems, a common conceptual experiment, explicit attention to own performance versus peer environment, and a rigorous characterization of when the response strengthens, weakens, or changes shape.”</a:t>
            </a:r>
          </a:p>
          <a:p>
            <a:r>
              <a:rPr lang="en-US" sz="1000" b="1" dirty="0"/>
              <a:t>IDENTIFICATION REMINDER:</a:t>
            </a:r>
            <a:r>
              <a:rPr lang="en-US" sz="1000" dirty="0"/>
              <a:t> “And because these are observational peer environments, we need to be precise about language. LOO helps with mechanical contamination, but it does </a:t>
            </a:r>
            <a:r>
              <a:rPr lang="en-US" sz="1000" b="1" dirty="0"/>
              <a:t>not</a:t>
            </a:r>
            <a:r>
              <a:rPr lang="en-US" sz="1000" dirty="0"/>
              <a:t> solve selection, reflection, or causal identification by itself.” That distinction is well established in the observational peer-effects literature.</a:t>
            </a:r>
          </a:p>
          <a:p>
            <a:r>
              <a:rPr lang="en-US" sz="1000" b="1" dirty="0"/>
              <a:t>CAUTION:</a:t>
            </a:r>
            <a:r>
              <a:rPr lang="en-US" sz="1000" dirty="0"/>
              <a:t> Do not let the model become an excuse to postpone cohort freezes, harmonization, uncertainty, or robustness—those remain required under every path.</a:t>
            </a:r>
          </a:p>
          <a:p>
            <a:r>
              <a:rPr lang="en-US" sz="1000" b="1" dirty="0"/>
              <a:t>TRANSITION OUT:</a:t>
            </a:r>
            <a:r>
              <a:rPr lang="en-US" sz="1000" dirty="0"/>
              <a:t> “So that's the floor. </a:t>
            </a:r>
            <a:r>
              <a:rPr lang="en-US" sz="1000" b="1" dirty="0"/>
              <a:t>Now let me show you why I'm excited about raising the ceiling.</a:t>
            </a:r>
            <a:r>
              <a:rPr lang="en-US" sz="1000" dirty="0"/>
              <a:t> If these different systems really are producing different geometries, can a minimal model tell us why?”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000" b="1" dirty="0"/>
              <a:t>SLIDE 33 — What Must the Model Explain?</a:t>
            </a:r>
          </a:p>
          <a:p>
            <a:r>
              <a:rPr lang="en-US" sz="1000" dirty="0"/>
              <a:t>I like this slide because </a:t>
            </a:r>
            <a:r>
              <a:rPr lang="en-US" sz="1000" b="1" dirty="0"/>
              <a:t>we should define the model's job before showing the machinery</a:t>
            </a:r>
            <a:r>
              <a:rPr lang="en-US" sz="1000" dirty="0"/>
              <a:t>. Otherwise there's a danger of presenting a clever simulation and only afterward deciding what it means.</a:t>
            </a:r>
          </a:p>
          <a:p>
            <a:r>
              <a:rPr lang="en-US" sz="1000" b="1" dirty="0"/>
              <a:t>PURPOSE / LOGIC:</a:t>
            </a:r>
            <a:r>
              <a:rPr lang="en-US" sz="1000" dirty="0"/>
              <a:t> Set the success criteria for the model. We are not asking it to reproduce every empirical bar. We want the </a:t>
            </a:r>
            <a:r>
              <a:rPr lang="en-US" sz="1000" b="1" dirty="0"/>
              <a:t>simplest generative explanation</a:t>
            </a:r>
            <a:r>
              <a:rPr lang="en-US" sz="1000" dirty="0"/>
              <a:t> capable of producing the important qualitative features we observe—and, eventually, explaining why those features vary across systems.</a:t>
            </a:r>
          </a:p>
          <a:p>
            <a:r>
              <a:rPr lang="en-US" sz="1000" b="1" dirty="0"/>
              <a:t>SAY:</a:t>
            </a:r>
            <a:r>
              <a:rPr lang="en-US" sz="1000" dirty="0"/>
              <a:t> “If we're going to build a model, I want to be very clear about what we're asking it to do. </a:t>
            </a:r>
            <a:r>
              <a:rPr lang="en-US" sz="1000" b="1" dirty="0"/>
              <a:t>The goal is not to redraw the Army HERO bar-for-bar.</a:t>
            </a:r>
            <a:r>
              <a:rPr lang="en-US" sz="1000" dirty="0"/>
              <a:t> That would be curve fitting, not explanation.”</a:t>
            </a:r>
          </a:p>
          <a:p>
            <a:r>
              <a:rPr lang="en-US" sz="1000" dirty="0"/>
              <a:t>“At minimum, the model needs a world in which </a:t>
            </a:r>
            <a:r>
              <a:rPr lang="en-US" sz="1000" b="1" dirty="0"/>
              <a:t>own talent remains strongly predictive of success</a:t>
            </a:r>
            <a:r>
              <a:rPr lang="en-US" sz="1000" dirty="0"/>
              <a:t>. That's our baseline and we cannot lose it.”</a:t>
            </a:r>
          </a:p>
          <a:p>
            <a:r>
              <a:rPr lang="en-US" sz="1000" dirty="0"/>
              <a:t>“But that same world also needs to allow the </a:t>
            </a:r>
            <a:r>
              <a:rPr lang="en-US" sz="1000" b="1" dirty="0"/>
              <a:t>peer environment to matter</a:t>
            </a:r>
            <a:r>
              <a:rPr lang="en-US" sz="1000" dirty="0"/>
              <a:t>, even after we know something about the individual's own talent or performance.”</a:t>
            </a:r>
          </a:p>
          <a:p>
            <a:r>
              <a:rPr lang="en-US" sz="1000" dirty="0"/>
              <a:t>“And most importantly, it needs to be capable of producing </a:t>
            </a:r>
            <a:r>
              <a:rPr lang="en-US" sz="1000" b="1" dirty="0"/>
              <a:t>different response geometries under different competitive conditions</a:t>
            </a:r>
            <a:r>
              <a:rPr lang="en-US" sz="1000" dirty="0"/>
              <a:t>—a strong downturn here, a weak downturn there, perhaps no downturn somewhere else.”</a:t>
            </a:r>
          </a:p>
          <a:p>
            <a:r>
              <a:rPr lang="en-US" sz="1000" b="1" dirty="0"/>
              <a:t>KEY LINE:</a:t>
            </a:r>
            <a:r>
              <a:rPr lang="en-US" sz="1000" dirty="0"/>
              <a:t> “I'm not looking for a model that reproduces one curve. </a:t>
            </a:r>
            <a:r>
              <a:rPr lang="en-US" sz="1000" b="1" dirty="0"/>
              <a:t>I'm looking for a model that explains why the curve can change.</a:t>
            </a:r>
            <a:r>
              <a:rPr lang="en-US" sz="1000" dirty="0"/>
              <a:t>”</a:t>
            </a:r>
          </a:p>
          <a:p>
            <a:r>
              <a:rPr lang="en-US" sz="1000" b="1" dirty="0"/>
              <a:t>WHAT WOULD MAKE IT INTERESTING:</a:t>
            </a:r>
            <a:r>
              <a:rPr lang="en-US" sz="1000" dirty="0"/>
              <a:t> “If changing a small number of interpretable system parameters—scarcity, assortativity, congestion, perhaps pool structure—systematically moves the peak or strengthens, weakens, or eliminates the downturn, then we've begun converting an empirical pattern into a theory.”</a:t>
            </a:r>
          </a:p>
          <a:p>
            <a:r>
              <a:rPr lang="en-US" sz="1000" dirty="0"/>
              <a:t>“And importantly, we already have a proof-of-concept foothold: in the existing simulation, the </a:t>
            </a:r>
            <a:r>
              <a:rPr lang="en-US" sz="1000" b="1" dirty="0" err="1"/>
              <a:t>λ</a:t>
            </a:r>
            <a:r>
              <a:rPr lang="en-US" sz="1000" b="1" dirty="0"/>
              <a:t> knockout</a:t>
            </a:r>
            <a:r>
              <a:rPr lang="en-US" sz="1000" dirty="0"/>
              <a:t> changes the qualitative outcome—talent-only scoring is monotone, while introducing congestion can compress the elite bins. That's encouraging, but it is not yet the finished model.” </a:t>
            </a:r>
          </a:p>
          <a:p>
            <a:r>
              <a:rPr lang="en-US" sz="1000" b="1" dirty="0"/>
              <a:t>CAUTION:</a:t>
            </a:r>
            <a:r>
              <a:rPr lang="en-US" sz="1000" dirty="0"/>
              <a:t> The model is a generative thought experiment, not a claim that Army, basketball, or academia literally uses our equations.</a:t>
            </a:r>
          </a:p>
          <a:p>
            <a:r>
              <a:rPr lang="en-US" sz="1000" b="1" dirty="0"/>
              <a:t>TRANSITION OUT:</a:t>
            </a:r>
            <a:r>
              <a:rPr lang="en-US" sz="1000" dirty="0"/>
              <a:t> “So what is the smallest mechanism that might plausibly do all of that? I think it begins with a very simple tension: </a:t>
            </a:r>
            <a:r>
              <a:rPr lang="en-US" sz="1000" b="1" dirty="0"/>
              <a:t>stronger peers can help you—and stronger peers can make it harder to distinguish yourself.</a:t>
            </a:r>
            <a:r>
              <a:rPr lang="en-US" sz="1000" dirty="0"/>
              <a:t>”</a:t>
            </a:r>
          </a:p>
          <a:p>
            <a:endParaRPr lang="en-US" sz="1000" dirty="0"/>
          </a:p>
        </p:txBody>
      </p:sp>
      <p:sp>
        <p:nvSpPr>
          <p:cNvPr id="4" name="Slide Number Placeholder 3"/>
          <p:cNvSpPr>
            <a:spLocks noGrp="1"/>
          </p:cNvSpPr>
          <p:nvPr>
            <p:ph type="sldNum" sz="quarter" idx="5"/>
          </p:nvPr>
        </p:nvSpPr>
        <p:spPr/>
        <p:txBody>
          <a:bodyPr/>
          <a:lstStyle/>
          <a:p>
            <a:fld id="{0D34D10B-03DC-5049-892F-9C09D8079E57}" type="slidenum">
              <a:rPr lang="en-US" smtClean="0"/>
              <a:t>33</a:t>
            </a:fld>
            <a:endParaRPr lang="en-US"/>
          </a:p>
        </p:txBody>
      </p:sp>
    </p:spTree>
    <p:extLst>
      <p:ext uri="{BB962C8B-B14F-4D97-AF65-F5344CB8AC3E}">
        <p14:creationId xmlns:p14="http://schemas.microsoft.com/office/powerpoint/2010/main" val="1589463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050" b="1" dirty="0"/>
              <a:t>SLIDE 34 — A Minimal Explanation</a:t>
            </a:r>
          </a:p>
          <a:p>
            <a:r>
              <a:rPr lang="en-US" sz="1050" dirty="0"/>
              <a:t>This is where we get back out of the methodological weeds and return to something </a:t>
            </a:r>
            <a:r>
              <a:rPr lang="en-US" sz="1050" b="1" dirty="0"/>
              <a:t>intuitive and memorable</a:t>
            </a:r>
            <a:r>
              <a:rPr lang="en-US" sz="1050" dirty="0"/>
              <a:t>. The existing slide's basic tension—benefit versus congestion—is exactly the right idea. </a:t>
            </a:r>
          </a:p>
          <a:p>
            <a:r>
              <a:rPr lang="en-US" sz="1050" b="1" dirty="0"/>
              <a:t>PURPOSE / LOGIC:</a:t>
            </a:r>
            <a:r>
              <a:rPr lang="en-US" sz="1050" dirty="0"/>
              <a:t> Give a simple intuition for why the pond effect might become nonlinear. Better peers can create </a:t>
            </a:r>
            <a:r>
              <a:rPr lang="en-US" sz="1050" b="1" dirty="0"/>
              <a:t>benefits</a:t>
            </a:r>
            <a:r>
              <a:rPr lang="en-US" sz="1050" dirty="0"/>
              <a:t>, while sufficiently strong peers can also create </a:t>
            </a:r>
            <a:r>
              <a:rPr lang="en-US" sz="1050" b="1" dirty="0"/>
              <a:t>competition/congestion</a:t>
            </a:r>
            <a:r>
              <a:rPr lang="en-US" sz="1050" dirty="0"/>
              <a:t>. The observed curve may emerge from the balance between those forces.</a:t>
            </a:r>
          </a:p>
          <a:p>
            <a:r>
              <a:rPr lang="en-US" sz="1050" b="1" dirty="0"/>
              <a:t>SAY:</a:t>
            </a:r>
            <a:r>
              <a:rPr lang="en-US" sz="1050" dirty="0"/>
              <a:t> “At the simplest level, I think there may be two forces operating at the same time.”</a:t>
            </a:r>
          </a:p>
          <a:p>
            <a:r>
              <a:rPr lang="en-US" sz="1050" dirty="0"/>
              <a:t>“Being surrounded by stronger people can be </a:t>
            </a:r>
            <a:r>
              <a:rPr lang="en-US" sz="1050" b="1" dirty="0"/>
              <a:t>good for me</a:t>
            </a:r>
            <a:r>
              <a:rPr lang="en-US" sz="1050" dirty="0"/>
              <a:t>. I can learn from them, gain access to better opportunities, become part of stronger teams, receive better information, and potentially produce more.”</a:t>
            </a:r>
          </a:p>
          <a:p>
            <a:r>
              <a:rPr lang="en-US" sz="1050" dirty="0"/>
              <a:t>“But those same strong peers can also make the environment </a:t>
            </a:r>
            <a:r>
              <a:rPr lang="en-US" sz="1050" b="1" dirty="0"/>
              <a:t>more competitive</a:t>
            </a:r>
            <a:r>
              <a:rPr lang="en-US" sz="1050" dirty="0"/>
              <a:t>. Opportunities are finite. Attention is finite. Roles are finite. Distinction may be relative. At some point, being surrounded by exceptional people may make it harder for my own performance to translate into advancement.”</a:t>
            </a:r>
          </a:p>
          <a:p>
            <a:r>
              <a:rPr lang="en-US" sz="1050" dirty="0"/>
              <a:t>“So as peer quality increases, the first force can initially dominate. But eventually the second may catch up.”</a:t>
            </a:r>
          </a:p>
          <a:p>
            <a:r>
              <a:rPr lang="en-US" sz="1050" b="1" dirty="0"/>
              <a:t>KEY LINE:</a:t>
            </a:r>
            <a:r>
              <a:rPr lang="en-US" sz="1050" dirty="0"/>
              <a:t> “The same pond can provide </a:t>
            </a:r>
            <a:r>
              <a:rPr lang="en-US" sz="1050" b="1" dirty="0"/>
              <a:t>resources and competition at the same time.</a:t>
            </a:r>
            <a:r>
              <a:rPr lang="en-US" sz="1050" dirty="0"/>
              <a:t>”</a:t>
            </a:r>
          </a:p>
          <a:p>
            <a:r>
              <a:rPr lang="en-US" sz="1050" b="1" dirty="0"/>
              <a:t>THE SIMPLE IDEA:</a:t>
            </a:r>
            <a:r>
              <a:rPr lang="en-US" sz="1050" dirty="0"/>
              <a:t> </a:t>
            </a:r>
            <a:r>
              <a:rPr lang="en-US" sz="1050" b="1" dirty="0"/>
              <a:t>Peer benefit ↑ + competitive congestion ↑ → potentially nonlinear success response.</a:t>
            </a:r>
            <a:endParaRPr lang="en-US" sz="1050" dirty="0"/>
          </a:p>
          <a:p>
            <a:r>
              <a:rPr lang="en-US" sz="1050" dirty="0"/>
              <a:t>“This gives us a very simple explanation for why we might see a rise followed by a downturn—and also why the downturn need not look identical everywhere. Change the balance between those forces and </a:t>
            </a:r>
            <a:r>
              <a:rPr lang="en-US" sz="1050" b="1" dirty="0"/>
              <a:t>you change the geometry.</a:t>
            </a:r>
            <a:r>
              <a:rPr lang="en-US" sz="1050" dirty="0"/>
              <a:t>”</a:t>
            </a:r>
          </a:p>
          <a:p>
            <a:r>
              <a:rPr lang="en-US" sz="1050" b="1" dirty="0"/>
              <a:t>IMPORTANT:</a:t>
            </a:r>
            <a:r>
              <a:rPr lang="en-US" sz="1050" dirty="0"/>
              <a:t> “I'm not claiming these are the only mechanisms. They're the smallest set of competing forces I can currently imagine that could generate what we're observing.”</a:t>
            </a:r>
          </a:p>
          <a:p>
            <a:r>
              <a:rPr lang="en-US" sz="1050" b="1" dirty="0"/>
              <a:t>CAUTION:</a:t>
            </a:r>
            <a:r>
              <a:rPr lang="en-US" sz="1050" dirty="0"/>
              <a:t> Treat benefit and congestion as candidate generative mechanisms, not causally identified explanations for the empirical HERO.</a:t>
            </a:r>
          </a:p>
          <a:p>
            <a:r>
              <a:rPr lang="en-US" sz="1050" b="1" dirty="0"/>
              <a:t>TRANSITION OUT:</a:t>
            </a:r>
            <a:r>
              <a:rPr lang="en-US" sz="1050" dirty="0"/>
              <a:t> “And we already have one small piece of evidence that this idea is worth pursuing—not from another dataset, but from the model itself. </a:t>
            </a:r>
            <a:r>
              <a:rPr lang="en-US" sz="1050" b="1" dirty="0"/>
              <a:t>When we remove congestion, something important happens to the curve.</a:t>
            </a:r>
            <a:r>
              <a:rPr lang="en-US" sz="1050" dirty="0"/>
              <a:t>”</a:t>
            </a:r>
          </a:p>
          <a:p>
            <a:endParaRPr lang="en-US" sz="1050" dirty="0"/>
          </a:p>
        </p:txBody>
      </p:sp>
      <p:sp>
        <p:nvSpPr>
          <p:cNvPr id="4" name="Slide Number Placeholder 3"/>
          <p:cNvSpPr>
            <a:spLocks noGrp="1"/>
          </p:cNvSpPr>
          <p:nvPr>
            <p:ph type="sldNum" sz="quarter" idx="5"/>
          </p:nvPr>
        </p:nvSpPr>
        <p:spPr/>
        <p:txBody>
          <a:bodyPr/>
          <a:lstStyle/>
          <a:p>
            <a:fld id="{0D34D10B-03DC-5049-892F-9C09D8079E57}" type="slidenum">
              <a:rPr lang="en-US" smtClean="0"/>
              <a:t>34</a:t>
            </a:fld>
            <a:endParaRPr lang="en-US"/>
          </a:p>
        </p:txBody>
      </p:sp>
    </p:spTree>
    <p:extLst>
      <p:ext uri="{BB962C8B-B14F-4D97-AF65-F5344CB8AC3E}">
        <p14:creationId xmlns:p14="http://schemas.microsoft.com/office/powerpoint/2010/main" val="42675155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35 — LG / ASSIGN: Controlled Bipartite Formation</a:t>
            </a:r>
          </a:p>
          <a:p>
            <a:r>
              <a:rPr lang="en-US" sz="1100" b="1" dirty="0"/>
              <a:t>This is the actual Slide 35.</a:t>
            </a:r>
            <a:r>
              <a:rPr lang="en-US" sz="1100" dirty="0"/>
              <a:t> It introduces the network machinery that lets us create realistic, nonrandom competitive pools. The slide says the network is bipartite—</a:t>
            </a:r>
            <a:r>
              <a:rPr lang="en-US" sz="1100" b="1" dirty="0"/>
              <a:t>individuals ↔ pools/teams</a:t>
            </a:r>
            <a:r>
              <a:rPr lang="en-US" sz="1100" dirty="0"/>
              <a:t>—and assignment can be assortative on talent/metadata while preserving pool-size constraints. </a:t>
            </a:r>
          </a:p>
          <a:p>
            <a:r>
              <a:rPr lang="en-US" sz="1100" dirty="0"/>
              <a:t>For </a:t>
            </a:r>
            <a:r>
              <a:rPr lang="en-US" sz="1100" b="1" dirty="0"/>
              <a:t>today's presentation, I would move through this quickly unless it generates questions.</a:t>
            </a:r>
            <a:r>
              <a:rPr lang="en-US" sz="1100" dirty="0"/>
              <a:t> This is machinery, not the central finding.</a:t>
            </a:r>
          </a:p>
          <a:p>
            <a:r>
              <a:rPr lang="en-US" sz="1100" b="1" dirty="0"/>
              <a:t>ONE THING TO REMEMBER:</a:t>
            </a:r>
            <a:endParaRPr lang="en-US" sz="1100" dirty="0"/>
          </a:p>
          <a:p>
            <a:r>
              <a:rPr lang="en-US" sz="1100" b="1" dirty="0"/>
              <a:t>“Real ponds aren't random, so the model needs a way to control who ends up swimming with whom.”</a:t>
            </a:r>
            <a:endParaRPr lang="en-US" sz="1100" dirty="0"/>
          </a:p>
          <a:p>
            <a:r>
              <a:rPr lang="en-US" sz="1100" dirty="0"/>
              <a:t>Then:</a:t>
            </a:r>
          </a:p>
          <a:p>
            <a:r>
              <a:rPr lang="en-US" sz="1100" dirty="0"/>
              <a:t>“The network object is bipartite: people on one side, pools on the other. We built an assignment mechanism that lets us control assortativity on talent—not just network degree—while preserving the pool structure.”</a:t>
            </a:r>
          </a:p>
          <a:p>
            <a:r>
              <a:rPr lang="en-US" sz="1100" dirty="0"/>
              <a:t>And importantly, given your earlier point about bipartite networks:</a:t>
            </a:r>
          </a:p>
          <a:p>
            <a:r>
              <a:rPr lang="en-US" sz="1100" dirty="0"/>
              <a:t>“The bipartite structure creates the pools. We can then project it when we want to talk about the resulting social ties among individuals.”</a:t>
            </a:r>
          </a:p>
          <a:p>
            <a:r>
              <a:rPr lang="en-US" sz="1100" b="1" dirty="0"/>
              <a:t>WHY IT'S HERE:</a:t>
            </a:r>
            <a:r>
              <a:rPr lang="en-US" sz="1100" dirty="0"/>
              <a:t> “For this dissertation, LG's immediate job is simple: </a:t>
            </a:r>
            <a:r>
              <a:rPr lang="en-US" sz="1100" b="1" dirty="0"/>
              <a:t>let me turn assortativity up or down and ask whether changing how talent clusters changes the response geometry.</a:t>
            </a:r>
            <a:r>
              <a:rPr lang="en-US" sz="1100" dirty="0"/>
              <a:t>”</a:t>
            </a:r>
          </a:p>
          <a:p>
            <a:r>
              <a:rPr lang="en-US" sz="1100" b="1" dirty="0"/>
              <a:t>CAUTION:</a:t>
            </a:r>
            <a:r>
              <a:rPr lang="en-US" sz="1100" dirty="0"/>
              <a:t> Don't spend time today defending LG as a standalone methodological contribution. The deck itself says that's only a </a:t>
            </a:r>
            <a:r>
              <a:rPr lang="en-US" sz="1100" i="1" dirty="0"/>
              <a:t>possible</a:t>
            </a:r>
            <a:r>
              <a:rPr lang="en-US" sz="1100" dirty="0"/>
              <a:t> independent contribution and still needs a dedicated novelty search. </a:t>
            </a:r>
          </a:p>
          <a:p>
            <a:r>
              <a:rPr lang="en-US" sz="1100" b="1" dirty="0"/>
              <a:t>TRANSITION OUT:</a:t>
            </a:r>
            <a:endParaRPr lang="en-US" sz="1100" dirty="0"/>
          </a:p>
          <a:p>
            <a:r>
              <a:rPr lang="en-US" sz="1100" dirty="0"/>
              <a:t>“Once I can control who gets assigned to which pond, the generative model becomes very simple.”</a:t>
            </a:r>
          </a:p>
          <a:p>
            <a:r>
              <a:rPr lang="en-US" sz="1100" dirty="0"/>
              <a:t>→ </a:t>
            </a:r>
            <a:r>
              <a:rPr lang="en-US" sz="1100" b="1" dirty="0"/>
              <a:t>SLIDE 36 — ASSIGN → SCORE → SELECT.</a:t>
            </a:r>
            <a:endParaRPr lang="en-US" sz="1100" dirty="0"/>
          </a:p>
          <a:p>
            <a:endParaRPr lang="en-US" sz="1100" dirty="0"/>
          </a:p>
        </p:txBody>
      </p:sp>
      <p:sp>
        <p:nvSpPr>
          <p:cNvPr id="4" name="Slide Number Placeholder 3"/>
          <p:cNvSpPr>
            <a:spLocks noGrp="1"/>
          </p:cNvSpPr>
          <p:nvPr>
            <p:ph type="sldNum" sz="quarter" idx="5"/>
          </p:nvPr>
        </p:nvSpPr>
        <p:spPr/>
        <p:txBody>
          <a:bodyPr/>
          <a:lstStyle/>
          <a:p>
            <a:fld id="{0D34D10B-03DC-5049-892F-9C09D8079E57}" type="slidenum">
              <a:rPr lang="en-US" smtClean="0"/>
              <a:t>35</a:t>
            </a:fld>
            <a:endParaRPr lang="en-US"/>
          </a:p>
        </p:txBody>
      </p:sp>
    </p:spTree>
    <p:extLst>
      <p:ext uri="{BB962C8B-B14F-4D97-AF65-F5344CB8AC3E}">
        <p14:creationId xmlns:p14="http://schemas.microsoft.com/office/powerpoint/2010/main" val="24481201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SLIDE 36 — ASSIGN → SCORE → SELECT</a:t>
                </a:r>
              </a:p>
              <a:p>
                <a:r>
                  <a:rPr lang="en-US" b="1" dirty="0"/>
                  <a:t>This is a MUST-SHOW model slide.</a:t>
                </a:r>
                <a:r>
                  <a:rPr lang="en-US" dirty="0"/>
                  <a:t> The current deck explicitly tags it G2/must-show. </a:t>
                </a:r>
              </a:p>
              <a:p>
                <a:r>
                  <a:rPr lang="en-US" b="1" dirty="0"/>
                  <a:t>PURPOSE / LOGIC:</a:t>
                </a:r>
                <a:r>
                  <a:rPr lang="en-US" dirty="0"/>
                  <a:t> Compress all the institutional complexity we've discussed into the </a:t>
                </a:r>
                <a:r>
                  <a:rPr lang="en-US" b="1" dirty="0"/>
                  <a:t>smallest generative machine</a:t>
                </a:r>
                <a:r>
                  <a:rPr lang="en-US" dirty="0"/>
                  <a:t> we think might reproduce and morph the phenomenon.</a:t>
                </a:r>
              </a:p>
              <a:p>
                <a:r>
                  <a:rPr lang="en-US" b="1" dirty="0"/>
                  <a:t>SAY:</a:t>
                </a:r>
                <a:r>
                  <a:rPr lang="en-US" dirty="0"/>
                  <a:t> “Here's the abstraction. Three steps: </a:t>
                </a:r>
                <a:r>
                  <a:rPr lang="en-US" b="1" dirty="0"/>
                  <a:t>ASSIGN, SCORE, SELECT.</a:t>
                </a:r>
                <a:r>
                  <a:rPr lang="en-US" dirty="0"/>
                  <a:t>”</a:t>
                </a:r>
              </a:p>
              <a:p>
                <a:r>
                  <a:rPr lang="en-US" dirty="0"/>
                  <a:t>“</a:t>
                </a:r>
                <a:r>
                  <a:rPr lang="en-US" b="1" dirty="0"/>
                  <a:t>ASSIGN</a:t>
                </a:r>
                <a:r>
                  <a:rPr lang="en-US" dirty="0"/>
                  <a:t> creates the ponds. Individuals are placed into pools, and we can control how </a:t>
                </a:r>
                <a:r>
                  <a:rPr lang="en-US" dirty="0" err="1"/>
                  <a:t>assortatively</a:t>
                </a:r>
                <a:r>
                  <a:rPr lang="en-US" dirty="0"/>
                  <a:t> talent is distributed.”</a:t>
                </a:r>
              </a:p>
              <a:p>
                <a:r>
                  <a:rPr lang="en-US" dirty="0"/>
                  <a:t>“</a:t>
                </a:r>
                <a:r>
                  <a:rPr lang="en-US" b="1" dirty="0"/>
                  <a:t>SCORE</a:t>
                </a:r>
                <a:r>
                  <a:rPr lang="en-US" dirty="0"/>
                  <a:t> takes individual talent and lets the local competitive environment affect the signal on which people compete. This is where the congestion parameter </a:t>
                </a:r>
                <a:r>
                  <a:rPr lang="en-US" dirty="0" err="1"/>
                  <a:t>λ</a:t>
                </a:r>
                <a:r>
                  <a:rPr lang="en-US" dirty="0"/>
                  <a:t> enters.”</a:t>
                </a:r>
              </a:p>
              <a:p>
                <a:r>
                  <a:rPr lang="en-US" dirty="0"/>
                  <a:t>“</a:t>
                </a:r>
                <a:r>
                  <a:rPr lang="en-US" b="1" dirty="0"/>
                  <a:t>SELECT</a:t>
                </a:r>
                <a:r>
                  <a:rPr lang="en-US" dirty="0"/>
                  <a:t> then converts those scores into advancement under scarcity—initially, simply the top </a:t>
                </a:r>
                <a14:m>
                  <m:oMath xmlns:m="http://schemas.openxmlformats.org/officeDocument/2006/math">
                    <m:r>
                      <a:rPr lang="en-US" i="1">
                        <a:latin typeface="Cambria Math" panose="02040503050406030204" pitchFamily="18" charset="0"/>
                      </a:rPr>
                      <m:t>𝐾</m:t>
                    </m:r>
                  </m:oMath>
                </a14:m>
                <a:r>
                  <a:rPr lang="en-US" dirty="0"/>
                  <a:t>.”</a:t>
                </a:r>
              </a:p>
              <a:p>
                <a:r>
                  <a:rPr lang="en-US" b="1" dirty="0"/>
                  <a:t>KEY LINE:</a:t>
                </a:r>
                <a:r>
                  <a:rPr lang="en-US" dirty="0"/>
                  <a:t> “The point isn't institutional realism. </a:t>
                </a:r>
                <a:r>
                  <a:rPr lang="en-US" b="1" dirty="0"/>
                  <a:t>It's whether a very small number of mechanisms can generate—and more importantly morph—the empirical geometry.</a:t>
                </a:r>
                <a:r>
                  <a:rPr lang="en-US" dirty="0"/>
                  <a:t>”</a:t>
                </a:r>
              </a:p>
              <a:p>
                <a:r>
                  <a:rPr lang="en-US" b="1" dirty="0"/>
                  <a:t>MODEL PROGRESSION:</a:t>
                </a:r>
                <a:r>
                  <a:rPr lang="en-US" dirty="0"/>
                  <a:t> </a:t>
                </a:r>
                <a:r>
                  <a:rPr lang="en-US" b="1" dirty="0"/>
                  <a:t>ASSIGN pools</a:t>
                </a:r>
                <a:r>
                  <a:rPr lang="en-US" dirty="0"/>
                  <a:t> → </a:t>
                </a:r>
                <a:r>
                  <a:rPr lang="en-US" b="1" dirty="0"/>
                  <a:t>SCORE individuals</a:t>
                </a:r>
                <a:r>
                  <a:rPr lang="en-US" dirty="0"/>
                  <a:t> → </a:t>
                </a:r>
                <a:r>
                  <a:rPr lang="en-US" b="1" dirty="0"/>
                  <a:t>SELECT winners</a:t>
                </a:r>
                <a:r>
                  <a:rPr lang="en-US" dirty="0"/>
                  <a:t> → calculate the resulting pond-response curve → change the parameters and watch the geometry move.</a:t>
                </a:r>
              </a:p>
              <a:p>
                <a:r>
                  <a:rPr lang="en-US" b="1" dirty="0"/>
                  <a:t>IMPORTANT:</a:t>
                </a:r>
                <a:r>
                  <a:rPr lang="en-US" dirty="0"/>
                  <a:t> Keep </a:t>
                </a:r>
                <a:r>
                  <a:rPr lang="en-US" b="1" dirty="0"/>
                  <a:t>score and selection separate</a:t>
                </a:r>
                <a:r>
                  <a:rPr lang="en-US" dirty="0"/>
                  <a:t>. The project materials explicitly lock this distinction: </a:t>
                </a:r>
                <a:r>
                  <a:rPr lang="en-US" dirty="0" err="1"/>
                  <a:t>λ</a:t>
                </a:r>
                <a:r>
                  <a:rPr lang="en-US" dirty="0"/>
                  <a:t> changes what enters the score; the top-</a:t>
                </a:r>
                <a14:m>
                  <m:oMath xmlns:m="http://schemas.openxmlformats.org/officeDocument/2006/math">
                    <m:r>
                      <a:rPr lang="en-US" i="1">
                        <a:latin typeface="Cambria Math" panose="02040503050406030204" pitchFamily="18" charset="0"/>
                      </a:rPr>
                      <m:t>𝐾</m:t>
                    </m:r>
                  </m:oMath>
                </a14:m>
                <a:r>
                  <a:rPr lang="en-US" dirty="0"/>
                  <a:t> selection rule remains a separate step. </a:t>
                </a:r>
              </a:p>
              <a:p>
                <a:r>
                  <a:rPr lang="en-US" b="1" dirty="0"/>
                  <a:t>CAUTION:</a:t>
                </a:r>
                <a:r>
                  <a:rPr lang="en-US" dirty="0"/>
                  <a:t> This is a minimal generative model, not a literal description of how any of the three institutions make decisions.</a:t>
                </a:r>
              </a:p>
              <a:p>
                <a:r>
                  <a:rPr lang="en-US" b="1" dirty="0"/>
                  <a:t>TRANSITION OUT:</a:t>
                </a:r>
                <a:r>
                  <a:rPr lang="en-US" dirty="0"/>
                  <a:t> “And the model earns its place only if it can do more than redraw a curve we've already seen. </a:t>
                </a:r>
                <a:r>
                  <a:rPr lang="en-US" b="1" dirty="0"/>
                  <a:t>It needs to make predictions.</a:t>
                </a:r>
                <a:r>
                  <a:rPr lang="en-US" dirty="0"/>
                  <a:t>”</a:t>
                </a:r>
              </a:p>
              <a:p>
                <a:endParaRPr lang="en-US" dirty="0"/>
              </a:p>
            </p:txBody>
          </p:sp>
        </mc:Choice>
        <mc:Fallback xmlns="">
          <p:sp>
            <p:nvSpPr>
              <p:cNvPr id="3" name="Notes Placeholder 2"/>
              <p:cNvSpPr>
                <a:spLocks noGrp="1"/>
              </p:cNvSpPr>
              <p:nvPr>
                <p:ph type="body" idx="1"/>
              </p:nvPr>
            </p:nvSpPr>
            <p:spPr/>
            <p:txBody>
              <a:bodyPr/>
              <a:lstStyle/>
              <a:p>
                <a:r>
                  <a:rPr lang="en-US" b="1" dirty="0"/>
                  <a:t>SLIDE 36 — ASSIGN → SCORE → SELECT</a:t>
                </a:r>
              </a:p>
              <a:p>
                <a:r>
                  <a:rPr lang="en-US" b="1" dirty="0"/>
                  <a:t>This is a MUST-SHOW model slide.</a:t>
                </a:r>
                <a:r>
                  <a:rPr lang="en-US" dirty="0"/>
                  <a:t> The current deck explicitly tags it G2/must-show. </a:t>
                </a:r>
              </a:p>
              <a:p>
                <a:r>
                  <a:rPr lang="en-US" b="1" dirty="0"/>
                  <a:t>PURPOSE / LOGIC:</a:t>
                </a:r>
                <a:r>
                  <a:rPr lang="en-US" dirty="0"/>
                  <a:t> Compress all the institutional complexity we've discussed into the </a:t>
                </a:r>
                <a:r>
                  <a:rPr lang="en-US" b="1" dirty="0"/>
                  <a:t>smallest generative machine</a:t>
                </a:r>
                <a:r>
                  <a:rPr lang="en-US" dirty="0"/>
                  <a:t> we think might reproduce and morph the phenomenon.</a:t>
                </a:r>
              </a:p>
              <a:p>
                <a:r>
                  <a:rPr lang="en-US" b="1" dirty="0"/>
                  <a:t>SAY:</a:t>
                </a:r>
                <a:r>
                  <a:rPr lang="en-US" dirty="0"/>
                  <a:t> “Here's the abstraction. Three steps: </a:t>
                </a:r>
                <a:r>
                  <a:rPr lang="en-US" b="1" dirty="0"/>
                  <a:t>ASSIGN, SCORE, SELECT.</a:t>
                </a:r>
                <a:r>
                  <a:rPr lang="en-US" dirty="0"/>
                  <a:t>”</a:t>
                </a:r>
              </a:p>
              <a:p>
                <a:r>
                  <a:rPr lang="en-US" dirty="0"/>
                  <a:t>“</a:t>
                </a:r>
                <a:r>
                  <a:rPr lang="en-US" b="1" dirty="0"/>
                  <a:t>ASSIGN</a:t>
                </a:r>
                <a:r>
                  <a:rPr lang="en-US" dirty="0"/>
                  <a:t> creates the ponds. Individuals are placed into pools, and we can control how </a:t>
                </a:r>
                <a:r>
                  <a:rPr lang="en-US" dirty="0" err="1"/>
                  <a:t>assortatively</a:t>
                </a:r>
                <a:r>
                  <a:rPr lang="en-US" dirty="0"/>
                  <a:t> talent is distributed.”</a:t>
                </a:r>
              </a:p>
              <a:p>
                <a:r>
                  <a:rPr lang="en-US" dirty="0"/>
                  <a:t>“</a:t>
                </a:r>
                <a:r>
                  <a:rPr lang="en-US" b="1" dirty="0"/>
                  <a:t>SCORE</a:t>
                </a:r>
                <a:r>
                  <a:rPr lang="en-US" dirty="0"/>
                  <a:t> takes individual talent and lets the local competitive environment affect the signal on which people compete. This is where the congestion parameter </a:t>
                </a:r>
                <a:r>
                  <a:rPr lang="en-US" dirty="0" err="1"/>
                  <a:t>λ</a:t>
                </a:r>
                <a:r>
                  <a:rPr lang="en-US" dirty="0"/>
                  <a:t> enters.”</a:t>
                </a:r>
              </a:p>
              <a:p>
                <a:r>
                  <a:rPr lang="en-US" dirty="0"/>
                  <a:t>“</a:t>
                </a:r>
                <a:r>
                  <a:rPr lang="en-US" b="1" dirty="0"/>
                  <a:t>SELECT</a:t>
                </a:r>
                <a:r>
                  <a:rPr lang="en-US" dirty="0"/>
                  <a:t> then converts those scores into advancement under scarcity—initially, simply the top </a:t>
                </a:r>
                <a:r>
                  <a:rPr lang="en-US" i="0"/>
                  <a:t>𝐾</a:t>
                </a:r>
                <a:r>
                  <a:rPr lang="en-US" dirty="0"/>
                  <a:t>.”</a:t>
                </a:r>
              </a:p>
              <a:p>
                <a:r>
                  <a:rPr lang="en-US" b="1" dirty="0"/>
                  <a:t>KEY LINE:</a:t>
                </a:r>
                <a:r>
                  <a:rPr lang="en-US" dirty="0"/>
                  <a:t> “The point isn't institutional realism. </a:t>
                </a:r>
                <a:r>
                  <a:rPr lang="en-US" b="1" dirty="0"/>
                  <a:t>It's whether a very small number of mechanisms can generate—and more importantly morph—the empirical geometry.</a:t>
                </a:r>
                <a:r>
                  <a:rPr lang="en-US" dirty="0"/>
                  <a:t>”</a:t>
                </a:r>
              </a:p>
              <a:p>
                <a:r>
                  <a:rPr lang="en-US" b="1" dirty="0"/>
                  <a:t>MODEL PROGRESSION:</a:t>
                </a:r>
                <a:r>
                  <a:rPr lang="en-US" dirty="0"/>
                  <a:t> </a:t>
                </a:r>
                <a:r>
                  <a:rPr lang="en-US" b="1" dirty="0"/>
                  <a:t>ASSIGN pools</a:t>
                </a:r>
                <a:r>
                  <a:rPr lang="en-US" dirty="0"/>
                  <a:t> → </a:t>
                </a:r>
                <a:r>
                  <a:rPr lang="en-US" b="1" dirty="0"/>
                  <a:t>SCORE individuals</a:t>
                </a:r>
                <a:r>
                  <a:rPr lang="en-US" dirty="0"/>
                  <a:t> → </a:t>
                </a:r>
                <a:r>
                  <a:rPr lang="en-US" b="1" dirty="0"/>
                  <a:t>SELECT winners</a:t>
                </a:r>
                <a:r>
                  <a:rPr lang="en-US" dirty="0"/>
                  <a:t> → calculate the resulting pond-response curve → change the parameters and watch the geometry move.</a:t>
                </a:r>
              </a:p>
              <a:p>
                <a:r>
                  <a:rPr lang="en-US" b="1" dirty="0"/>
                  <a:t>IMPORTANT:</a:t>
                </a:r>
                <a:r>
                  <a:rPr lang="en-US" dirty="0"/>
                  <a:t> Keep </a:t>
                </a:r>
                <a:r>
                  <a:rPr lang="en-US" b="1" dirty="0"/>
                  <a:t>score and selection separate</a:t>
                </a:r>
                <a:r>
                  <a:rPr lang="en-US" dirty="0"/>
                  <a:t>. The project materials explicitly lock this distinction: </a:t>
                </a:r>
                <a:r>
                  <a:rPr lang="en-US" dirty="0" err="1"/>
                  <a:t>λ</a:t>
                </a:r>
                <a:r>
                  <a:rPr lang="en-US" dirty="0"/>
                  <a:t> changes what enters the score; the top-</a:t>
                </a:r>
                <a:r>
                  <a:rPr lang="en-US" i="0"/>
                  <a:t>𝐾</a:t>
                </a:r>
                <a:r>
                  <a:rPr lang="en-US" dirty="0"/>
                  <a:t> selection rule remains a separate step. </a:t>
                </a:r>
              </a:p>
              <a:p>
                <a:r>
                  <a:rPr lang="en-US" b="1" dirty="0"/>
                  <a:t>CAUTION:</a:t>
                </a:r>
                <a:r>
                  <a:rPr lang="en-US" dirty="0"/>
                  <a:t> This is a minimal generative model, not a literal description of how any of the three institutions make decisions.</a:t>
                </a:r>
              </a:p>
              <a:p>
                <a:r>
                  <a:rPr lang="en-US" b="1" dirty="0"/>
                  <a:t>TRANSITION OUT:</a:t>
                </a:r>
                <a:r>
                  <a:rPr lang="en-US" dirty="0"/>
                  <a:t> “And the model earns its place only if it can do more than redraw a curve we've already seen. </a:t>
                </a:r>
                <a:r>
                  <a:rPr lang="en-US" b="1" dirty="0"/>
                  <a:t>It needs to make predictions.</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0D34D10B-03DC-5049-892F-9C09D8079E57}" type="slidenum">
              <a:rPr lang="en-US" smtClean="0"/>
              <a:t>36</a:t>
            </a:fld>
            <a:endParaRPr lang="en-US"/>
          </a:p>
        </p:txBody>
      </p:sp>
    </p:spTree>
    <p:extLst>
      <p:ext uri="{BB962C8B-B14F-4D97-AF65-F5344CB8AC3E}">
        <p14:creationId xmlns:p14="http://schemas.microsoft.com/office/powerpoint/2010/main" val="5565169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SLIDE 37 — The Model Must Do More Than Redraw the HERO</a:t>
            </a:r>
          </a:p>
          <a:p>
            <a:r>
              <a:rPr lang="en-US" b="1" dirty="0"/>
              <a:t>WAVETOP ONLY — DON'T DWELL.</a:t>
            </a:r>
            <a:r>
              <a:rPr lang="en-US" dirty="0"/>
              <a:t> This slide is explicitly marked </a:t>
            </a:r>
            <a:r>
              <a:rPr lang="en-US" b="1" dirty="0"/>
              <a:t>NOT STARTED</a:t>
            </a:r>
            <a:r>
              <a:rPr lang="en-US" dirty="0"/>
              <a:t> in the current deck. </a:t>
            </a:r>
          </a:p>
          <a:p>
            <a:r>
              <a:rPr lang="en-US" b="1" dirty="0"/>
              <a:t>SAY:</a:t>
            </a:r>
            <a:r>
              <a:rPr lang="en-US" dirty="0"/>
              <a:t> “This is where I want to go next. If I change scarcity, assortativity, or congestion, </a:t>
            </a:r>
            <a:r>
              <a:rPr lang="en-US" b="1" dirty="0"/>
              <a:t>when should the downturn strengthen, weaken, shift, or disappear?</a:t>
            </a:r>
            <a:r>
              <a:rPr lang="en-US" dirty="0"/>
              <a:t>”</a:t>
            </a:r>
          </a:p>
          <a:p>
            <a:r>
              <a:rPr lang="en-US" b="1" dirty="0"/>
              <a:t>KEY LINE:</a:t>
            </a:r>
            <a:endParaRPr lang="en-US" dirty="0"/>
          </a:p>
          <a:p>
            <a:r>
              <a:rPr lang="en-US" b="1" dirty="0"/>
              <a:t>“Explanation → prediction → targeted empirical test.”</a:t>
            </a:r>
            <a:endParaRPr lang="en-US" dirty="0"/>
          </a:p>
          <a:p>
            <a:r>
              <a:rPr lang="en-US" dirty="0"/>
              <a:t>“If the model predicts where the effect should be strongest—or where it should disappear—we can go back to the real data and deliberately look for that condition.”</a:t>
            </a:r>
          </a:p>
          <a:p>
            <a:r>
              <a:rPr lang="en-US" b="1" dirty="0"/>
              <a:t>CAUTION:</a:t>
            </a:r>
            <a:r>
              <a:rPr lang="en-US" dirty="0"/>
              <a:t> This is the </a:t>
            </a:r>
            <a:r>
              <a:rPr lang="en-US" b="1" dirty="0"/>
              <a:t>research agenda</a:t>
            </a:r>
            <a:r>
              <a:rPr lang="en-US" dirty="0"/>
              <a:t>, not a completed result.</a:t>
            </a:r>
          </a:p>
          <a:p>
            <a:r>
              <a:rPr lang="en-US" b="1" dirty="0"/>
              <a:t>TRANSITION:</a:t>
            </a:r>
            <a:r>
              <a:rPr lang="en-US" dirty="0"/>
              <a:t> “One particularly interesting prediction may concern not just </a:t>
            </a:r>
            <a:r>
              <a:rPr lang="en-US" i="1" dirty="0"/>
              <a:t>which ponds</a:t>
            </a:r>
            <a:r>
              <a:rPr lang="en-US" dirty="0"/>
              <a:t> matter, but </a:t>
            </a:r>
            <a:r>
              <a:rPr lang="en-US" b="1" dirty="0"/>
              <a:t>which people are most sensitive to the pond.</a:t>
            </a:r>
            <a:r>
              <a:rPr lang="en-US" dirty="0"/>
              <a:t>”</a:t>
            </a: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37</a:t>
            </a:fld>
            <a:endParaRPr lang="en-US"/>
          </a:p>
        </p:txBody>
      </p:sp>
    </p:spTree>
    <p:extLst>
      <p:ext uri="{BB962C8B-B14F-4D97-AF65-F5344CB8AC3E}">
        <p14:creationId xmlns:p14="http://schemas.microsoft.com/office/powerpoint/2010/main" val="36515968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SLIDE 38 — Candidate Prediction: The “Band of Excellence”</a:t>
            </a:r>
          </a:p>
          <a:p>
            <a:r>
              <a:rPr lang="en-US" b="1" dirty="0"/>
              <a:t>KEEP — but clearly label as candidate.</a:t>
            </a:r>
            <a:endParaRPr lang="en-US" dirty="0"/>
          </a:p>
          <a:p>
            <a:r>
              <a:rPr lang="en-US" dirty="0"/>
              <a:t>This is your </a:t>
            </a:r>
            <a:r>
              <a:rPr lang="en-US" b="1" dirty="0"/>
              <a:t>WHO</a:t>
            </a:r>
            <a:r>
              <a:rPr lang="en-US" dirty="0"/>
              <a:t> question. Not everybody should be equally vulnerable to the pond.</a:t>
            </a:r>
          </a:p>
          <a:p>
            <a:r>
              <a:rPr lang="en-US" b="1" dirty="0"/>
              <a:t>ONE THING TO REMEMBER:</a:t>
            </a:r>
            <a:endParaRPr lang="en-US" dirty="0"/>
          </a:p>
          <a:p>
            <a:r>
              <a:rPr lang="en-US" b="1" dirty="0"/>
              <a:t>“The very best may win almost regardless of pond. The people most vulnerable may be the excellent-but-not-untouchable.”</a:t>
            </a:r>
            <a:endParaRPr lang="en-US" dirty="0"/>
          </a:p>
          <a:p>
            <a:r>
              <a:rPr lang="en-US" dirty="0"/>
              <a:t>That's the </a:t>
            </a:r>
            <a:r>
              <a:rPr lang="en-US" b="1" dirty="0"/>
              <a:t>band of excellence</a:t>
            </a:r>
            <a:r>
              <a:rPr lang="en-US" dirty="0"/>
              <a:t> idea.</a:t>
            </a:r>
          </a:p>
          <a:p>
            <a:r>
              <a:rPr lang="en-US" dirty="0"/>
              <a:t>You remember seeing this in exploratory MBB work, but we have </a:t>
            </a:r>
            <a:r>
              <a:rPr lang="en-US" b="1" dirty="0"/>
              <a:t>not yet recovered/recreated the plots</a:t>
            </a:r>
            <a:r>
              <a:rPr lang="en-US" dirty="0"/>
              <a:t>, so don't present it as a result. Say:</a:t>
            </a:r>
          </a:p>
          <a:p>
            <a:r>
              <a:rPr lang="en-US" dirty="0"/>
              <a:t>“I have an exploratory memory that the very best players tended to get drafted regardless. That gives us a testable prediction: maybe peer context matters most in a band just below the absolute elite.”</a:t>
            </a:r>
          </a:p>
          <a:p>
            <a:r>
              <a:rPr lang="en-US" dirty="0"/>
              <a:t>Then the model should map:</a:t>
            </a:r>
          </a:p>
          <a:p>
            <a:r>
              <a:rPr lang="en-US" b="1" dirty="0"/>
              <a:t>Own talent × LOO peer quality → P(success)</a:t>
            </a:r>
            <a:endParaRPr lang="en-US" dirty="0"/>
          </a:p>
          <a:p>
            <a:r>
              <a:rPr lang="en-US" b="1" dirty="0"/>
              <a:t>KEY PHRASE:</a:t>
            </a:r>
            <a:r>
              <a:rPr lang="en-US" dirty="0"/>
              <a:t> “There may be a </a:t>
            </a:r>
            <a:r>
              <a:rPr lang="en-US" b="1" dirty="0"/>
              <a:t>band of excellence</a:t>
            </a:r>
            <a:r>
              <a:rPr lang="en-US" dirty="0"/>
              <a:t> where the pond matters most.”</a:t>
            </a:r>
          </a:p>
          <a:p>
            <a:r>
              <a:rPr lang="en-US" b="1" dirty="0"/>
              <a:t>CAUTION:</a:t>
            </a:r>
            <a:r>
              <a:rPr lang="en-US" dirty="0"/>
              <a:t> Candidate hypothesis until recreated and tested.</a:t>
            </a:r>
          </a:p>
          <a:p>
            <a:r>
              <a:rPr lang="en-US" b="1" dirty="0"/>
              <a:t>TRANSITION:</a:t>
            </a:r>
            <a:r>
              <a:rPr lang="en-US" dirty="0"/>
              <a:t> “And if that's real, the model should tell us not only </a:t>
            </a:r>
            <a:r>
              <a:rPr lang="en-US" i="1" dirty="0"/>
              <a:t>that</a:t>
            </a:r>
            <a:r>
              <a:rPr lang="en-US" dirty="0"/>
              <a:t> the band exists, but </a:t>
            </a:r>
            <a:r>
              <a:rPr lang="en-US" b="1" dirty="0"/>
              <a:t>when and where it appears.</a:t>
            </a:r>
            <a:r>
              <a:rPr lang="en-US" dirty="0"/>
              <a:t>”</a:t>
            </a:r>
          </a:p>
          <a:p>
            <a:endParaRPr lang="en-US" dirty="0"/>
          </a:p>
          <a:p>
            <a:r>
              <a:rPr lang="en-US" b="1" dirty="0"/>
              <a:t>YOUR MEMORY HOOK FOR ALL THREE</a:t>
            </a:r>
          </a:p>
          <a:p>
            <a:r>
              <a:rPr lang="en-US" b="1" dirty="0"/>
              <a:t>38 = WHO is vulnerable?</a:t>
            </a:r>
            <a:r>
              <a:rPr lang="en-US" dirty="0"/>
              <a:t> → Band of excellence</a:t>
            </a:r>
            <a:br>
              <a:rPr lang="en-US" dirty="0"/>
            </a:br>
            <a:r>
              <a:rPr lang="en-US" b="1" dirty="0"/>
              <a:t>39 = WHEN does it happen?</a:t>
            </a:r>
            <a:r>
              <a:rPr lang="en-US" dirty="0"/>
              <a:t> → Phase map</a:t>
            </a:r>
            <a:br>
              <a:rPr lang="en-US" dirty="0"/>
            </a:br>
            <a:r>
              <a:rPr lang="en-US" b="1" dirty="0"/>
              <a:t>40 = WHOSE optimum?</a:t>
            </a:r>
            <a:r>
              <a:rPr lang="en-US" dirty="0"/>
              <a:t> → Fish vs fisherman</a:t>
            </a:r>
          </a:p>
          <a:p>
            <a:endParaRPr lang="en-US" dirty="0"/>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38</a:t>
            </a:fld>
            <a:endParaRPr lang="en-US"/>
          </a:p>
        </p:txBody>
      </p:sp>
    </p:spTree>
    <p:extLst>
      <p:ext uri="{BB962C8B-B14F-4D97-AF65-F5344CB8AC3E}">
        <p14:creationId xmlns:p14="http://schemas.microsoft.com/office/powerpoint/2010/main" val="34091224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39 — Candidate Phase Map / Comparative Statics</a:t>
            </a:r>
          </a:p>
          <a:p>
            <a:r>
              <a:rPr lang="en-US" sz="1100" b="1" dirty="0"/>
              <a:t>KEEP AS FUTURE WORK — VERY FAST.</a:t>
            </a:r>
            <a:endParaRPr lang="en-US" sz="1100" dirty="0"/>
          </a:p>
          <a:p>
            <a:r>
              <a:rPr lang="en-US" sz="1100" dirty="0"/>
              <a:t>This is the </a:t>
            </a:r>
            <a:r>
              <a:rPr lang="en-US" sz="1100" b="1" dirty="0"/>
              <a:t>WHEN</a:t>
            </a:r>
            <a:r>
              <a:rPr lang="en-US" sz="1100" dirty="0"/>
              <a:t> question.</a:t>
            </a:r>
          </a:p>
          <a:p>
            <a:r>
              <a:rPr lang="en-US" sz="1100" dirty="0"/>
              <a:t>We turn the knobs:</a:t>
            </a:r>
          </a:p>
          <a:p>
            <a:r>
              <a:rPr lang="en-US" sz="1100" b="1" dirty="0" err="1"/>
              <a:t>ρ</a:t>
            </a:r>
            <a:r>
              <a:rPr lang="en-US" sz="1100" dirty="0"/>
              <a:t> = assortativity</a:t>
            </a:r>
            <a:br>
              <a:rPr lang="en-US" sz="1100" dirty="0"/>
            </a:br>
            <a:r>
              <a:rPr lang="en-US" sz="1100" b="1" dirty="0" err="1"/>
              <a:t>λ</a:t>
            </a:r>
            <a:r>
              <a:rPr lang="en-US" sz="1100" dirty="0"/>
              <a:t> = congestion/distinction penalty</a:t>
            </a:r>
            <a:br>
              <a:rPr lang="en-US" sz="1100" dirty="0"/>
            </a:br>
            <a:r>
              <a:rPr lang="en-US" sz="1100" b="1" dirty="0"/>
              <a:t>K/N</a:t>
            </a:r>
            <a:r>
              <a:rPr lang="en-US" sz="1100" dirty="0"/>
              <a:t> = scarcity</a:t>
            </a:r>
            <a:br>
              <a:rPr lang="en-US" sz="1100" dirty="0"/>
            </a:br>
            <a:r>
              <a:rPr lang="en-US" sz="1100" dirty="0"/>
              <a:t>plus pool size / variance</a:t>
            </a:r>
          </a:p>
          <a:p>
            <a:r>
              <a:rPr lang="en-US" sz="1100" dirty="0"/>
              <a:t>…and ask what kind of curve comes out.</a:t>
            </a:r>
          </a:p>
          <a:p>
            <a:r>
              <a:rPr lang="en-US" sz="1100" b="1" dirty="0"/>
              <a:t>ONE THING TO REMEMBER:</a:t>
            </a:r>
            <a:endParaRPr lang="en-US" sz="1100" dirty="0"/>
          </a:p>
          <a:p>
            <a:r>
              <a:rPr lang="en-US" sz="1100" b="1" dirty="0"/>
              <a:t>“I don't ultimately want one fitted curve. I want a map of the conditions that produce different kinds of curves.”</a:t>
            </a:r>
            <a:endParaRPr lang="en-US" sz="1100" dirty="0"/>
          </a:p>
          <a:p>
            <a:r>
              <a:rPr lang="en-US" sz="1100" dirty="0" err="1"/>
              <a:t>Say:“Imagine</a:t>
            </a:r>
            <a:r>
              <a:rPr lang="en-US" sz="1100" dirty="0"/>
              <a:t> a phase map. As I change assortativity, scarcity, congestion, or pool structure, where do I get monotone benefit? Where do I get a plateau? A weak downturn? A strong inverted-U? And where does the peak move?”</a:t>
            </a:r>
          </a:p>
          <a:p>
            <a:r>
              <a:rPr lang="en-US" sz="1100" dirty="0"/>
              <a:t>Then connect straight back to the data:</a:t>
            </a:r>
          </a:p>
          <a:p>
            <a:r>
              <a:rPr lang="en-US" sz="1100" b="1" dirty="0"/>
              <a:t>“That's potentially how the model explains why Army looks strong while MBB looks weaker.”</a:t>
            </a:r>
            <a:endParaRPr lang="en-US" sz="1100" dirty="0"/>
          </a:p>
          <a:p>
            <a:r>
              <a:rPr lang="en-US" sz="1100" dirty="0"/>
              <a:t>Don't explain the parameters beyond that unless asked. </a:t>
            </a:r>
            <a:r>
              <a:rPr lang="en-US" sz="1100" b="1" dirty="0"/>
              <a:t>30 seconds.</a:t>
            </a:r>
            <a:r>
              <a:rPr lang="en-US" sz="1100" dirty="0"/>
              <a:t> This slide is explicitly still NOT STARTED. </a:t>
            </a:r>
          </a:p>
          <a:p>
            <a:r>
              <a:rPr lang="en-US" sz="1100" b="1" dirty="0"/>
              <a:t>TRANSITION:</a:t>
            </a:r>
            <a:r>
              <a:rPr lang="en-US" sz="1100" dirty="0"/>
              <a:t> “And every one of those curves can be viewed from two sides—</a:t>
            </a:r>
            <a:r>
              <a:rPr lang="en-US" sz="1100" b="1" dirty="0"/>
              <a:t>the fish and the fisherman.</a:t>
            </a:r>
            <a:r>
              <a:rPr lang="en-US" sz="1100" dirty="0"/>
              <a:t>”</a:t>
            </a:r>
          </a:p>
          <a:p>
            <a:r>
              <a:rPr lang="en-US" sz="1100" b="1" dirty="0"/>
              <a:t>YOUR MEMORY HOOK FOR ALL THREE</a:t>
            </a:r>
          </a:p>
          <a:p>
            <a:r>
              <a:rPr lang="en-US" sz="1100" b="1" dirty="0"/>
              <a:t>38 = WHO is vulnerable?</a:t>
            </a:r>
            <a:r>
              <a:rPr lang="en-US" sz="1100" dirty="0"/>
              <a:t> → Band of excellence</a:t>
            </a:r>
            <a:br>
              <a:rPr lang="en-US" sz="1100" dirty="0"/>
            </a:br>
            <a:r>
              <a:rPr lang="en-US" sz="1100" b="1" dirty="0"/>
              <a:t>39 = WHEN does it happen?</a:t>
            </a:r>
            <a:r>
              <a:rPr lang="en-US" sz="1100" dirty="0"/>
              <a:t> → Phase map</a:t>
            </a:r>
            <a:br>
              <a:rPr lang="en-US" sz="1100" dirty="0"/>
            </a:br>
            <a:r>
              <a:rPr lang="en-US" sz="1100" b="1" dirty="0"/>
              <a:t>40 = WHOSE optimum?</a:t>
            </a:r>
            <a:r>
              <a:rPr lang="en-US" sz="1100" dirty="0"/>
              <a:t> → Fish vs fisherman</a:t>
            </a:r>
          </a:p>
          <a:p>
            <a:endParaRPr lang="en-US" sz="1100" dirty="0"/>
          </a:p>
        </p:txBody>
      </p:sp>
      <p:sp>
        <p:nvSpPr>
          <p:cNvPr id="4" name="Slide Number Placeholder 3"/>
          <p:cNvSpPr>
            <a:spLocks noGrp="1"/>
          </p:cNvSpPr>
          <p:nvPr>
            <p:ph type="sldNum" sz="quarter" idx="5"/>
          </p:nvPr>
        </p:nvSpPr>
        <p:spPr/>
        <p:txBody>
          <a:bodyPr/>
          <a:lstStyle/>
          <a:p>
            <a:fld id="{0D34D10B-03DC-5049-892F-9C09D8079E57}" type="slidenum">
              <a:rPr lang="en-US" smtClean="0"/>
              <a:t>39</a:t>
            </a:fld>
            <a:endParaRPr lang="en-US"/>
          </a:p>
        </p:txBody>
      </p:sp>
    </p:spTree>
    <p:extLst>
      <p:ext uri="{BB962C8B-B14F-4D97-AF65-F5344CB8AC3E}">
        <p14:creationId xmlns:p14="http://schemas.microsoft.com/office/powerpoint/2010/main" val="3358515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SLIDE 40 — Two Sides of the Phenomenon</a:t>
            </a:r>
          </a:p>
          <a:p>
            <a:r>
              <a:rPr lang="en-US" b="1" dirty="0"/>
              <a:t>YES. THIS ONE MATTERS.</a:t>
            </a:r>
            <a:r>
              <a:rPr lang="en-US" dirty="0"/>
              <a:t> This brings us beautifully back to your earlier Manchester United / Cristiano Ronaldo insight.</a:t>
            </a:r>
          </a:p>
          <a:p>
            <a:r>
              <a:rPr lang="en-US" b="1" dirty="0"/>
              <a:t>INDIVIDUAL / THE FISH:</a:t>
            </a:r>
            <a:br>
              <a:rPr lang="en-US" dirty="0"/>
            </a:br>
            <a:r>
              <a:rPr lang="en-US" dirty="0"/>
              <a:t>Given my talent, </a:t>
            </a:r>
            <a:r>
              <a:rPr lang="en-US" b="1" dirty="0"/>
              <a:t>which pond maximizes my probability of advancement?</a:t>
            </a:r>
            <a:endParaRPr lang="en-US" dirty="0"/>
          </a:p>
          <a:p>
            <a:r>
              <a:rPr lang="en-US" b="1" dirty="0"/>
              <a:t>ORGANIZATION / THE FISHERMAN:</a:t>
            </a:r>
            <a:br>
              <a:rPr lang="en-US" dirty="0"/>
            </a:br>
            <a:r>
              <a:rPr lang="en-US" dirty="0"/>
              <a:t>Given the talent available, </a:t>
            </a:r>
            <a:r>
              <a:rPr lang="en-US" b="1" dirty="0"/>
              <a:t>how should I compose ponds to best leverage it?</a:t>
            </a:r>
            <a:endParaRPr lang="en-US" dirty="0"/>
          </a:p>
          <a:p>
            <a:r>
              <a:rPr lang="en-US" b="1" dirty="0"/>
              <a:t>ONE THING TO REMEMBER:</a:t>
            </a:r>
            <a:endParaRPr lang="en-US" dirty="0"/>
          </a:p>
          <a:p>
            <a:r>
              <a:rPr lang="en-US" b="1" dirty="0"/>
              <a:t>“Same pond. Two optimization problems.”</a:t>
            </a:r>
            <a:endParaRPr lang="en-US" dirty="0"/>
          </a:p>
          <a:p>
            <a:r>
              <a:rPr lang="en-US" dirty="0"/>
              <a:t>I'd actually slow down here:</a:t>
            </a:r>
          </a:p>
          <a:p>
            <a:r>
              <a:rPr lang="en-US" dirty="0"/>
              <a:t>“Remember the distinction from earlier. Cristiano Ronaldo cares about the other fish in his pond. Manchester United cares about </a:t>
            </a:r>
            <a:r>
              <a:rPr lang="en-US" b="1" dirty="0"/>
              <a:t>all the fish in the pond.</a:t>
            </a:r>
            <a:r>
              <a:rPr lang="en-US" dirty="0"/>
              <a:t>”</a:t>
            </a:r>
          </a:p>
          <a:p>
            <a:r>
              <a:rPr lang="en-US" dirty="0"/>
              <a:t>“For the individual, the question is: </a:t>
            </a:r>
            <a:r>
              <a:rPr lang="en-US" i="1" dirty="0"/>
              <a:t>where should I compete?</a:t>
            </a:r>
            <a:r>
              <a:rPr lang="en-US" dirty="0"/>
              <a:t> For the organization, the question is: </a:t>
            </a:r>
            <a:r>
              <a:rPr lang="en-US" i="1" dirty="0"/>
              <a:t>how should I assemble talent?</a:t>
            </a:r>
            <a:r>
              <a:rPr lang="en-US" dirty="0"/>
              <a:t>”</a:t>
            </a:r>
          </a:p>
          <a:p>
            <a:r>
              <a:rPr lang="en-US" dirty="0"/>
              <a:t>“And those optima </a:t>
            </a:r>
            <a:r>
              <a:rPr lang="en-US" b="1" dirty="0"/>
              <a:t>need not be the same</a:t>
            </a:r>
            <a:r>
              <a:rPr lang="en-US" dirty="0"/>
              <a:t>.”</a:t>
            </a:r>
          </a:p>
          <a:p>
            <a:r>
              <a:rPr lang="en-US" dirty="0"/>
              <a:t>That is the conceptual payoff. The deck correctly cautions that organizational leverage should remain an extension unless we develop a clean team-output analysis. </a:t>
            </a:r>
          </a:p>
          <a:p>
            <a:r>
              <a:rPr lang="en-US" b="1" dirty="0"/>
              <a:t>TRANSITION:</a:t>
            </a:r>
            <a:r>
              <a:rPr lang="en-US" dirty="0"/>
              <a:t> “That organizational side turns the problem into a roster-allocation question.”</a:t>
            </a:r>
          </a:p>
          <a:p>
            <a:r>
              <a:rPr lang="en-US" b="1" dirty="0"/>
              <a:t>YOUR MEMORY HOOK FOR ALL THREE</a:t>
            </a:r>
          </a:p>
          <a:p>
            <a:r>
              <a:rPr lang="en-US" b="1" dirty="0"/>
              <a:t>38 = WHO is vulnerable?</a:t>
            </a:r>
            <a:r>
              <a:rPr lang="en-US" dirty="0"/>
              <a:t> → Band of excellence</a:t>
            </a:r>
            <a:br>
              <a:rPr lang="en-US" dirty="0"/>
            </a:br>
            <a:r>
              <a:rPr lang="en-US" b="1" dirty="0"/>
              <a:t>39 = WHEN does it happen?</a:t>
            </a:r>
            <a:r>
              <a:rPr lang="en-US" dirty="0"/>
              <a:t> → Phase map</a:t>
            </a:r>
            <a:br>
              <a:rPr lang="en-US" dirty="0"/>
            </a:br>
            <a:r>
              <a:rPr lang="en-US" b="1" dirty="0"/>
              <a:t>40 = WHOSE optimum?</a:t>
            </a:r>
            <a:r>
              <a:rPr lang="en-US" dirty="0"/>
              <a:t> → Fish vs fisherman</a:t>
            </a:r>
          </a:p>
          <a:p>
            <a:endParaRPr lang="en-US" dirty="0"/>
          </a:p>
        </p:txBody>
      </p:sp>
      <p:sp>
        <p:nvSpPr>
          <p:cNvPr id="4" name="Slide Number Placeholder 3"/>
          <p:cNvSpPr>
            <a:spLocks noGrp="1"/>
          </p:cNvSpPr>
          <p:nvPr>
            <p:ph type="sldNum" sz="quarter" idx="5"/>
          </p:nvPr>
        </p:nvSpPr>
        <p:spPr/>
        <p:txBody>
          <a:bodyPr/>
          <a:lstStyle/>
          <a:p>
            <a:fld id="{0D34D10B-03DC-5049-892F-9C09D8079E57}" type="slidenum">
              <a:rPr lang="en-US" smtClean="0"/>
              <a:t>40</a:t>
            </a:fld>
            <a:endParaRPr lang="en-US"/>
          </a:p>
        </p:txBody>
      </p:sp>
    </p:spTree>
    <p:extLst>
      <p:ext uri="{BB962C8B-B14F-4D97-AF65-F5344CB8AC3E}">
        <p14:creationId xmlns:p14="http://schemas.microsoft.com/office/powerpoint/2010/main" val="17750358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41</a:t>
            </a:fld>
            <a:endParaRPr lang="en-US"/>
          </a:p>
        </p:txBody>
      </p:sp>
    </p:spTree>
    <p:extLst>
      <p:ext uri="{BB962C8B-B14F-4D97-AF65-F5344CB8AC3E}">
        <p14:creationId xmlns:p14="http://schemas.microsoft.com/office/powerpoint/2010/main" val="31077870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42</a:t>
            </a:fld>
            <a:endParaRPr lang="en-US"/>
          </a:p>
        </p:txBody>
      </p:sp>
    </p:spTree>
    <p:extLst>
      <p:ext uri="{BB962C8B-B14F-4D97-AF65-F5344CB8AC3E}">
        <p14:creationId xmlns:p14="http://schemas.microsoft.com/office/powerpoint/2010/main" val="1453490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43</a:t>
            </a:fld>
            <a:endParaRPr lang="en-US"/>
          </a:p>
        </p:txBody>
      </p:sp>
    </p:spTree>
    <p:extLst>
      <p:ext uri="{BB962C8B-B14F-4D97-AF65-F5344CB8AC3E}">
        <p14:creationId xmlns:p14="http://schemas.microsoft.com/office/powerpoint/2010/main" val="36177326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44</a:t>
            </a:fld>
            <a:endParaRPr lang="en-US"/>
          </a:p>
        </p:txBody>
      </p:sp>
    </p:spTree>
    <p:extLst>
      <p:ext uri="{BB962C8B-B14F-4D97-AF65-F5344CB8AC3E}">
        <p14:creationId xmlns:p14="http://schemas.microsoft.com/office/powerpoint/2010/main" val="2222066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45</a:t>
            </a:fld>
            <a:endParaRPr lang="en-US"/>
          </a:p>
        </p:txBody>
      </p:sp>
    </p:spTree>
    <p:extLst>
      <p:ext uri="{BB962C8B-B14F-4D97-AF65-F5344CB8AC3E}">
        <p14:creationId xmlns:p14="http://schemas.microsoft.com/office/powerpoint/2010/main" val="15657135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46</a:t>
            </a:fld>
            <a:endParaRPr lang="en-US"/>
          </a:p>
        </p:txBody>
      </p:sp>
    </p:spTree>
    <p:extLst>
      <p:ext uri="{BB962C8B-B14F-4D97-AF65-F5344CB8AC3E}">
        <p14:creationId xmlns:p14="http://schemas.microsoft.com/office/powerpoint/2010/main" val="26536587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47</a:t>
            </a:fld>
            <a:endParaRPr lang="en-US"/>
          </a:p>
        </p:txBody>
      </p:sp>
    </p:spTree>
    <p:extLst>
      <p:ext uri="{BB962C8B-B14F-4D97-AF65-F5344CB8AC3E}">
        <p14:creationId xmlns:p14="http://schemas.microsoft.com/office/powerpoint/2010/main" val="21594470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48</a:t>
            </a:fld>
            <a:endParaRPr lang="en-US"/>
          </a:p>
        </p:txBody>
      </p:sp>
    </p:spTree>
    <p:extLst>
      <p:ext uri="{BB962C8B-B14F-4D97-AF65-F5344CB8AC3E}">
        <p14:creationId xmlns:p14="http://schemas.microsoft.com/office/powerpoint/2010/main" val="31168579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34D10B-03DC-5049-892F-9C09D8079E57}" type="slidenum">
              <a:rPr lang="en-US" smtClean="0"/>
              <a:t>49</a:t>
            </a:fld>
            <a:endParaRPr lang="en-US"/>
          </a:p>
        </p:txBody>
      </p:sp>
    </p:spTree>
    <p:extLst>
      <p:ext uri="{BB962C8B-B14F-4D97-AF65-F5344CB8AC3E}">
        <p14:creationId xmlns:p14="http://schemas.microsoft.com/office/powerpoint/2010/main" val="1579722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457181" indent="0" algn="ctr">
              <a:buNone/>
              <a:defRPr>
                <a:solidFill>
                  <a:schemeClr val="tx1">
                    <a:tint val="75000"/>
                  </a:schemeClr>
                </a:solidFill>
              </a:defRPr>
            </a:lvl2pPr>
            <a:lvl3pPr marL="914363" indent="0" algn="ctr">
              <a:buNone/>
              <a:defRPr>
                <a:solidFill>
                  <a:schemeClr val="tx1">
                    <a:tint val="75000"/>
                  </a:schemeClr>
                </a:solidFill>
              </a:defRPr>
            </a:lvl3pPr>
            <a:lvl4pPr marL="1371544" indent="0" algn="ctr">
              <a:buNone/>
              <a:defRPr>
                <a:solidFill>
                  <a:schemeClr val="tx1">
                    <a:tint val="75000"/>
                  </a:schemeClr>
                </a:solidFill>
              </a:defRPr>
            </a:lvl4pPr>
            <a:lvl5pPr marL="1828724" indent="0" algn="ctr">
              <a:buNone/>
              <a:defRPr>
                <a:solidFill>
                  <a:schemeClr val="tx1">
                    <a:tint val="75000"/>
                  </a:schemeClr>
                </a:solidFill>
              </a:defRPr>
            </a:lvl5pPr>
            <a:lvl6pPr marL="2285905" indent="0" algn="ctr">
              <a:buNone/>
              <a:defRPr>
                <a:solidFill>
                  <a:schemeClr val="tx1">
                    <a:tint val="75000"/>
                  </a:schemeClr>
                </a:solidFill>
              </a:defRPr>
            </a:lvl6pPr>
            <a:lvl7pPr marL="2743087" indent="0" algn="ctr">
              <a:buNone/>
              <a:defRPr>
                <a:solidFill>
                  <a:schemeClr val="tx1">
                    <a:tint val="75000"/>
                  </a:schemeClr>
                </a:solidFill>
              </a:defRPr>
            </a:lvl7pPr>
            <a:lvl8pPr marL="3200268" indent="0" algn="ctr">
              <a:buNone/>
              <a:defRPr>
                <a:solidFill>
                  <a:schemeClr val="tx1">
                    <a:tint val="75000"/>
                  </a:schemeClr>
                </a:solidFill>
              </a:defRPr>
            </a:lvl8pPr>
            <a:lvl9pPr marL="365744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1" indent="0">
              <a:buNone/>
              <a:defRPr sz="1800">
                <a:solidFill>
                  <a:schemeClr val="tx1">
                    <a:tint val="75000"/>
                  </a:schemeClr>
                </a:solidFill>
              </a:defRPr>
            </a:lvl2pPr>
            <a:lvl3pPr marL="914363" indent="0">
              <a:buNone/>
              <a:defRPr sz="1600">
                <a:solidFill>
                  <a:schemeClr val="tx1">
                    <a:tint val="75000"/>
                  </a:schemeClr>
                </a:solidFill>
              </a:defRPr>
            </a:lvl3pPr>
            <a:lvl4pPr marL="1371544" indent="0">
              <a:buNone/>
              <a:defRPr sz="1400">
                <a:solidFill>
                  <a:schemeClr val="tx1">
                    <a:tint val="75000"/>
                  </a:schemeClr>
                </a:solidFill>
              </a:defRPr>
            </a:lvl4pPr>
            <a:lvl5pPr marL="1828724" indent="0">
              <a:buNone/>
              <a:defRPr sz="1400">
                <a:solidFill>
                  <a:schemeClr val="tx1">
                    <a:tint val="75000"/>
                  </a:schemeClr>
                </a:solidFill>
              </a:defRPr>
            </a:lvl5pPr>
            <a:lvl6pPr marL="2285905" indent="0">
              <a:buNone/>
              <a:defRPr sz="1400">
                <a:solidFill>
                  <a:schemeClr val="tx1">
                    <a:tint val="75000"/>
                  </a:schemeClr>
                </a:solidFill>
              </a:defRPr>
            </a:lvl6pPr>
            <a:lvl7pPr marL="2743087" indent="0">
              <a:buNone/>
              <a:defRPr sz="1400">
                <a:solidFill>
                  <a:schemeClr val="tx1">
                    <a:tint val="75000"/>
                  </a:schemeClr>
                </a:solidFill>
              </a:defRPr>
            </a:lvl7pPr>
            <a:lvl8pPr marL="3200268" indent="0">
              <a:buNone/>
              <a:defRPr sz="1400">
                <a:solidFill>
                  <a:schemeClr val="tx1">
                    <a:tint val="75000"/>
                  </a:schemeClr>
                </a:solidFill>
              </a:defRPr>
            </a:lvl8pPr>
            <a:lvl9pPr marL="365744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1"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1" indent="0">
              <a:buNone/>
              <a:defRPr sz="2000" b="1"/>
            </a:lvl2pPr>
            <a:lvl3pPr marL="914363" indent="0">
              <a:buNone/>
              <a:defRPr sz="1800" b="1"/>
            </a:lvl3pPr>
            <a:lvl4pPr marL="1371544" indent="0">
              <a:buNone/>
              <a:defRPr sz="1600" b="1"/>
            </a:lvl4pPr>
            <a:lvl5pPr marL="1828724" indent="0">
              <a:buNone/>
              <a:defRPr sz="1600" b="1"/>
            </a:lvl5pPr>
            <a:lvl6pPr marL="2285905" indent="0">
              <a:buNone/>
              <a:defRPr sz="1600" b="1"/>
            </a:lvl6pPr>
            <a:lvl7pPr marL="2743087" indent="0">
              <a:buNone/>
              <a:defRPr sz="1600" b="1"/>
            </a:lvl7pPr>
            <a:lvl8pPr marL="3200268" indent="0">
              <a:buNone/>
              <a:defRPr sz="1600" b="1"/>
            </a:lvl8pPr>
            <a:lvl9pPr marL="365744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81" indent="0">
              <a:buNone/>
              <a:defRPr sz="2000" b="1"/>
            </a:lvl2pPr>
            <a:lvl3pPr marL="914363" indent="0">
              <a:buNone/>
              <a:defRPr sz="1800" b="1"/>
            </a:lvl3pPr>
            <a:lvl4pPr marL="1371544" indent="0">
              <a:buNone/>
              <a:defRPr sz="1600" b="1"/>
            </a:lvl4pPr>
            <a:lvl5pPr marL="1828724" indent="0">
              <a:buNone/>
              <a:defRPr sz="1600" b="1"/>
            </a:lvl5pPr>
            <a:lvl6pPr marL="2285905" indent="0">
              <a:buNone/>
              <a:defRPr sz="1600" b="1"/>
            </a:lvl6pPr>
            <a:lvl7pPr marL="2743087" indent="0">
              <a:buNone/>
              <a:defRPr sz="1600" b="1"/>
            </a:lvl7pPr>
            <a:lvl8pPr marL="3200268" indent="0">
              <a:buNone/>
              <a:defRPr sz="1600" b="1"/>
            </a:lvl8pPr>
            <a:lvl9pPr marL="365744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1"/>
            <a:ext cx="3008313" cy="4691063"/>
          </a:xfrm>
        </p:spPr>
        <p:txBody>
          <a:bodyPr/>
          <a:lstStyle>
            <a:lvl1pPr marL="0" indent="0">
              <a:buNone/>
              <a:defRPr sz="1400"/>
            </a:lvl1pPr>
            <a:lvl2pPr marL="457181" indent="0">
              <a:buNone/>
              <a:defRPr sz="1200"/>
            </a:lvl2pPr>
            <a:lvl3pPr marL="914363" indent="0">
              <a:buNone/>
              <a:defRPr sz="1000"/>
            </a:lvl3pPr>
            <a:lvl4pPr marL="1371544" indent="0">
              <a:buNone/>
              <a:defRPr sz="900"/>
            </a:lvl4pPr>
            <a:lvl5pPr marL="1828724" indent="0">
              <a:buNone/>
              <a:defRPr sz="900"/>
            </a:lvl5pPr>
            <a:lvl6pPr marL="2285905" indent="0">
              <a:buNone/>
              <a:defRPr sz="900"/>
            </a:lvl6pPr>
            <a:lvl7pPr marL="2743087" indent="0">
              <a:buNone/>
              <a:defRPr sz="900"/>
            </a:lvl7pPr>
            <a:lvl8pPr marL="3200268" indent="0">
              <a:buNone/>
              <a:defRPr sz="900"/>
            </a:lvl8pPr>
            <a:lvl9pPr marL="365744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9" y="612775"/>
            <a:ext cx="5486400" cy="4114800"/>
          </a:xfrm>
        </p:spPr>
        <p:txBody>
          <a:bodyPr/>
          <a:lstStyle>
            <a:lvl1pPr marL="0" indent="0">
              <a:buNone/>
              <a:defRPr sz="3200"/>
            </a:lvl1pPr>
            <a:lvl2pPr marL="457181" indent="0">
              <a:buNone/>
              <a:defRPr sz="2800"/>
            </a:lvl2pPr>
            <a:lvl3pPr marL="914363" indent="0">
              <a:buNone/>
              <a:defRPr sz="2400"/>
            </a:lvl3pPr>
            <a:lvl4pPr marL="1371544" indent="0">
              <a:buNone/>
              <a:defRPr sz="2000"/>
            </a:lvl4pPr>
            <a:lvl5pPr marL="1828724" indent="0">
              <a:buNone/>
              <a:defRPr sz="2000"/>
            </a:lvl5pPr>
            <a:lvl6pPr marL="2285905" indent="0">
              <a:buNone/>
              <a:defRPr sz="2000"/>
            </a:lvl6pPr>
            <a:lvl7pPr marL="2743087" indent="0">
              <a:buNone/>
              <a:defRPr sz="2000"/>
            </a:lvl7pPr>
            <a:lvl8pPr marL="3200268" indent="0">
              <a:buNone/>
              <a:defRPr sz="2000"/>
            </a:lvl8pPr>
            <a:lvl9pPr marL="3657449" indent="0">
              <a:buNone/>
              <a:defRPr sz="2000"/>
            </a:lvl9pPr>
          </a:lstStyle>
          <a:p>
            <a:endParaRPr lang="en-US"/>
          </a:p>
        </p:txBody>
      </p:sp>
      <p:sp>
        <p:nvSpPr>
          <p:cNvPr id="4" name="Text Placeholder 3"/>
          <p:cNvSpPr>
            <a:spLocks noGrp="1"/>
          </p:cNvSpPr>
          <p:nvPr>
            <p:ph type="body" sz="half" idx="2"/>
          </p:nvPr>
        </p:nvSpPr>
        <p:spPr>
          <a:xfrm>
            <a:off x="1792289" y="5367339"/>
            <a:ext cx="5486400" cy="804862"/>
          </a:xfrm>
        </p:spPr>
        <p:txBody>
          <a:bodyPr/>
          <a:lstStyle>
            <a:lvl1pPr marL="0" indent="0">
              <a:buNone/>
              <a:defRPr sz="1400"/>
            </a:lvl1pPr>
            <a:lvl2pPr marL="457181" indent="0">
              <a:buNone/>
              <a:defRPr sz="1200"/>
            </a:lvl2pPr>
            <a:lvl3pPr marL="914363" indent="0">
              <a:buNone/>
              <a:defRPr sz="1000"/>
            </a:lvl3pPr>
            <a:lvl4pPr marL="1371544" indent="0">
              <a:buNone/>
              <a:defRPr sz="900"/>
            </a:lvl4pPr>
            <a:lvl5pPr marL="1828724" indent="0">
              <a:buNone/>
              <a:defRPr sz="900"/>
            </a:lvl5pPr>
            <a:lvl6pPr marL="2285905" indent="0">
              <a:buNone/>
              <a:defRPr sz="900"/>
            </a:lvl6pPr>
            <a:lvl7pPr marL="2743087" indent="0">
              <a:buNone/>
              <a:defRPr sz="900"/>
            </a:lvl7pPr>
            <a:lvl8pPr marL="3200268" indent="0">
              <a:buNone/>
              <a:defRPr sz="900"/>
            </a:lvl8pPr>
            <a:lvl9pPr marL="365744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1"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1"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9/17/26</a:t>
            </a:fld>
            <a:endParaRPr lang="en-US"/>
          </a:p>
        </p:txBody>
      </p:sp>
      <p:sp>
        <p:nvSpPr>
          <p:cNvPr id="5" name="Footer Placeholder 4"/>
          <p:cNvSpPr>
            <a:spLocks noGrp="1"/>
          </p:cNvSpPr>
          <p:nvPr>
            <p:ph type="ftr" sz="quarter" idx="3"/>
          </p:nvPr>
        </p:nvSpPr>
        <p:spPr>
          <a:xfrm>
            <a:off x="3124199" y="6356350"/>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181" rtl="0" eaLnBrk="1" latinLnBrk="0" hangingPunct="1">
        <a:spcBef>
          <a:spcPct val="0"/>
        </a:spcBef>
        <a:buNone/>
        <a:defRPr sz="4400" kern="1200">
          <a:solidFill>
            <a:schemeClr val="tx1"/>
          </a:solidFill>
          <a:latin typeface="+mj-lt"/>
          <a:ea typeface="+mj-ea"/>
          <a:cs typeface="+mj-cs"/>
        </a:defRPr>
      </a:lvl1pPr>
    </p:titleStyle>
    <p:bodyStyle>
      <a:lvl1pPr marL="342886" indent="-342886" algn="l" defTabSz="457181" rtl="0" eaLnBrk="1" latinLnBrk="0" hangingPunct="1">
        <a:spcBef>
          <a:spcPct val="20000"/>
        </a:spcBef>
        <a:buFont typeface="Arial"/>
        <a:buChar char="•"/>
        <a:defRPr sz="3200" kern="1200">
          <a:solidFill>
            <a:schemeClr val="tx1"/>
          </a:solidFill>
          <a:latin typeface="+mn-lt"/>
          <a:ea typeface="+mn-ea"/>
          <a:cs typeface="+mn-cs"/>
        </a:defRPr>
      </a:lvl1pPr>
      <a:lvl2pPr marL="742920" indent="-285738" algn="l" defTabSz="457181" rtl="0" eaLnBrk="1" latinLnBrk="0" hangingPunct="1">
        <a:spcBef>
          <a:spcPct val="20000"/>
        </a:spcBef>
        <a:buFont typeface="Arial"/>
        <a:buChar char="–"/>
        <a:defRPr sz="2800" kern="1200">
          <a:solidFill>
            <a:schemeClr val="tx1"/>
          </a:solidFill>
          <a:latin typeface="+mn-lt"/>
          <a:ea typeface="+mn-ea"/>
          <a:cs typeface="+mn-cs"/>
        </a:defRPr>
      </a:lvl2pPr>
      <a:lvl3pPr marL="1142953" indent="-228590" algn="l" defTabSz="457181" rtl="0" eaLnBrk="1" latinLnBrk="0" hangingPunct="1">
        <a:spcBef>
          <a:spcPct val="20000"/>
        </a:spcBef>
        <a:buFont typeface="Arial"/>
        <a:buChar char="•"/>
        <a:defRPr sz="2400" kern="1200">
          <a:solidFill>
            <a:schemeClr val="tx1"/>
          </a:solidFill>
          <a:latin typeface="+mn-lt"/>
          <a:ea typeface="+mn-ea"/>
          <a:cs typeface="+mn-cs"/>
        </a:defRPr>
      </a:lvl3pPr>
      <a:lvl4pPr marL="1600134" indent="-228590" algn="l" defTabSz="457181" rtl="0" eaLnBrk="1" latinLnBrk="0" hangingPunct="1">
        <a:spcBef>
          <a:spcPct val="20000"/>
        </a:spcBef>
        <a:buFont typeface="Arial"/>
        <a:buChar char="–"/>
        <a:defRPr sz="2000" kern="1200">
          <a:solidFill>
            <a:schemeClr val="tx1"/>
          </a:solidFill>
          <a:latin typeface="+mn-lt"/>
          <a:ea typeface="+mn-ea"/>
          <a:cs typeface="+mn-cs"/>
        </a:defRPr>
      </a:lvl4pPr>
      <a:lvl5pPr marL="2057315" indent="-228590" algn="l" defTabSz="457181" rtl="0" eaLnBrk="1" latinLnBrk="0" hangingPunct="1">
        <a:spcBef>
          <a:spcPct val="20000"/>
        </a:spcBef>
        <a:buFont typeface="Arial"/>
        <a:buChar char="»"/>
        <a:defRPr sz="2000" kern="1200">
          <a:solidFill>
            <a:schemeClr val="tx1"/>
          </a:solidFill>
          <a:latin typeface="+mn-lt"/>
          <a:ea typeface="+mn-ea"/>
          <a:cs typeface="+mn-cs"/>
        </a:defRPr>
      </a:lvl5pPr>
      <a:lvl6pPr marL="2514497" indent="-228590" algn="l" defTabSz="457181" rtl="0" eaLnBrk="1" latinLnBrk="0" hangingPunct="1">
        <a:spcBef>
          <a:spcPct val="20000"/>
        </a:spcBef>
        <a:buFont typeface="Arial"/>
        <a:buChar char="•"/>
        <a:defRPr sz="2000" kern="1200">
          <a:solidFill>
            <a:schemeClr val="tx1"/>
          </a:solidFill>
          <a:latin typeface="+mn-lt"/>
          <a:ea typeface="+mn-ea"/>
          <a:cs typeface="+mn-cs"/>
        </a:defRPr>
      </a:lvl6pPr>
      <a:lvl7pPr marL="2971677" indent="-228590" algn="l" defTabSz="457181" rtl="0" eaLnBrk="1" latinLnBrk="0" hangingPunct="1">
        <a:spcBef>
          <a:spcPct val="20000"/>
        </a:spcBef>
        <a:buFont typeface="Arial"/>
        <a:buChar char="•"/>
        <a:defRPr sz="2000" kern="1200">
          <a:solidFill>
            <a:schemeClr val="tx1"/>
          </a:solidFill>
          <a:latin typeface="+mn-lt"/>
          <a:ea typeface="+mn-ea"/>
          <a:cs typeface="+mn-cs"/>
        </a:defRPr>
      </a:lvl7pPr>
      <a:lvl8pPr marL="3428858" indent="-228590" algn="l" defTabSz="457181" rtl="0" eaLnBrk="1" latinLnBrk="0" hangingPunct="1">
        <a:spcBef>
          <a:spcPct val="20000"/>
        </a:spcBef>
        <a:buFont typeface="Arial"/>
        <a:buChar char="•"/>
        <a:defRPr sz="2000" kern="1200">
          <a:solidFill>
            <a:schemeClr val="tx1"/>
          </a:solidFill>
          <a:latin typeface="+mn-lt"/>
          <a:ea typeface="+mn-ea"/>
          <a:cs typeface="+mn-cs"/>
        </a:defRPr>
      </a:lvl8pPr>
      <a:lvl9pPr marL="3886039" indent="-228590" algn="l" defTabSz="457181"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1" rtl="0" eaLnBrk="1" latinLnBrk="0" hangingPunct="1">
        <a:defRPr sz="1800" kern="1200">
          <a:solidFill>
            <a:schemeClr val="tx1"/>
          </a:solidFill>
          <a:latin typeface="+mn-lt"/>
          <a:ea typeface="+mn-ea"/>
          <a:cs typeface="+mn-cs"/>
        </a:defRPr>
      </a:lvl1pPr>
      <a:lvl2pPr marL="457181" algn="l" defTabSz="457181" rtl="0" eaLnBrk="1" latinLnBrk="0" hangingPunct="1">
        <a:defRPr sz="1800" kern="1200">
          <a:solidFill>
            <a:schemeClr val="tx1"/>
          </a:solidFill>
          <a:latin typeface="+mn-lt"/>
          <a:ea typeface="+mn-ea"/>
          <a:cs typeface="+mn-cs"/>
        </a:defRPr>
      </a:lvl2pPr>
      <a:lvl3pPr marL="914363" algn="l" defTabSz="457181" rtl="0" eaLnBrk="1" latinLnBrk="0" hangingPunct="1">
        <a:defRPr sz="1800" kern="1200">
          <a:solidFill>
            <a:schemeClr val="tx1"/>
          </a:solidFill>
          <a:latin typeface="+mn-lt"/>
          <a:ea typeface="+mn-ea"/>
          <a:cs typeface="+mn-cs"/>
        </a:defRPr>
      </a:lvl3pPr>
      <a:lvl4pPr marL="1371544" algn="l" defTabSz="457181" rtl="0" eaLnBrk="1" latinLnBrk="0" hangingPunct="1">
        <a:defRPr sz="1800" kern="1200">
          <a:solidFill>
            <a:schemeClr val="tx1"/>
          </a:solidFill>
          <a:latin typeface="+mn-lt"/>
          <a:ea typeface="+mn-ea"/>
          <a:cs typeface="+mn-cs"/>
        </a:defRPr>
      </a:lvl4pPr>
      <a:lvl5pPr marL="1828724" algn="l" defTabSz="457181" rtl="0" eaLnBrk="1" latinLnBrk="0" hangingPunct="1">
        <a:defRPr sz="1800" kern="1200">
          <a:solidFill>
            <a:schemeClr val="tx1"/>
          </a:solidFill>
          <a:latin typeface="+mn-lt"/>
          <a:ea typeface="+mn-ea"/>
          <a:cs typeface="+mn-cs"/>
        </a:defRPr>
      </a:lvl5pPr>
      <a:lvl6pPr marL="2285905" algn="l" defTabSz="457181" rtl="0" eaLnBrk="1" latinLnBrk="0" hangingPunct="1">
        <a:defRPr sz="1800" kern="1200">
          <a:solidFill>
            <a:schemeClr val="tx1"/>
          </a:solidFill>
          <a:latin typeface="+mn-lt"/>
          <a:ea typeface="+mn-ea"/>
          <a:cs typeface="+mn-cs"/>
        </a:defRPr>
      </a:lvl6pPr>
      <a:lvl7pPr marL="2743087" algn="l" defTabSz="457181" rtl="0" eaLnBrk="1" latinLnBrk="0" hangingPunct="1">
        <a:defRPr sz="1800" kern="1200">
          <a:solidFill>
            <a:schemeClr val="tx1"/>
          </a:solidFill>
          <a:latin typeface="+mn-lt"/>
          <a:ea typeface="+mn-ea"/>
          <a:cs typeface="+mn-cs"/>
        </a:defRPr>
      </a:lvl7pPr>
      <a:lvl8pPr marL="3200268" algn="l" defTabSz="457181" rtl="0" eaLnBrk="1" latinLnBrk="0" hangingPunct="1">
        <a:defRPr sz="1800" kern="1200">
          <a:solidFill>
            <a:schemeClr val="tx1"/>
          </a:solidFill>
          <a:latin typeface="+mn-lt"/>
          <a:ea typeface="+mn-ea"/>
          <a:cs typeface="+mn-cs"/>
        </a:defRPr>
      </a:lvl8pPr>
      <a:lvl9pPr marL="3657449" algn="l" defTabSz="45718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58368"/>
            <a:ext cx="2743200" cy="261610"/>
          </a:xfrm>
          <a:prstGeom prst="rect">
            <a:avLst/>
          </a:prstGeom>
          <a:noFill/>
        </p:spPr>
        <p:txBody>
          <a:bodyPr wrap="square">
            <a:spAutoFit/>
          </a:bodyPr>
          <a:lstStyle/>
          <a:p>
            <a:pPr algn="l"/>
            <a:r>
              <a:rPr sz="1100" b="1">
                <a:solidFill>
                  <a:srgbClr val="2E7A7B"/>
                </a:solidFill>
                <a:latin typeface="Aptos"/>
              </a:rPr>
              <a:t>[WORKING TITLE]</a:t>
            </a:r>
          </a:p>
        </p:txBody>
      </p:sp>
      <p:sp>
        <p:nvSpPr>
          <p:cNvPr id="3" name="TextBox 2"/>
          <p:cNvSpPr txBox="1"/>
          <p:nvPr/>
        </p:nvSpPr>
        <p:spPr>
          <a:xfrm>
            <a:off x="658368" y="1234440"/>
            <a:ext cx="10881360" cy="584775"/>
          </a:xfrm>
          <a:prstGeom prst="rect">
            <a:avLst/>
          </a:prstGeom>
          <a:noFill/>
        </p:spPr>
        <p:txBody>
          <a:bodyPr wrap="square">
            <a:spAutoFit/>
          </a:bodyPr>
          <a:lstStyle/>
          <a:p>
            <a:pPr algn="l"/>
            <a:r>
              <a:rPr sz="3200" b="1">
                <a:solidFill>
                  <a:srgbClr val="192A3E"/>
                </a:solidFill>
                <a:latin typeface="Aptos"/>
              </a:rPr>
              <a:t>Success in a School of Big Fish</a:t>
            </a:r>
          </a:p>
        </p:txBody>
      </p:sp>
      <p:sp>
        <p:nvSpPr>
          <p:cNvPr id="4" name="TextBox 3"/>
          <p:cNvSpPr txBox="1"/>
          <p:nvPr/>
        </p:nvSpPr>
        <p:spPr>
          <a:xfrm>
            <a:off x="676656" y="2148840"/>
            <a:ext cx="10698480" cy="415498"/>
          </a:xfrm>
          <a:prstGeom prst="rect">
            <a:avLst/>
          </a:prstGeom>
          <a:noFill/>
        </p:spPr>
        <p:txBody>
          <a:bodyPr wrap="square">
            <a:spAutoFit/>
          </a:bodyPr>
          <a:lstStyle/>
          <a:p>
            <a:pPr algn="l"/>
            <a:r>
              <a:rPr sz="2100" b="1">
                <a:solidFill>
                  <a:srgbClr val="2E5C8A"/>
                </a:solidFill>
                <a:latin typeface="Aptos"/>
              </a:rPr>
              <a:t>Performance, Peer Networks, and Advancement Across Competitive Systems</a:t>
            </a:r>
          </a:p>
        </p:txBody>
      </p:sp>
      <p:sp>
        <p:nvSpPr>
          <p:cNvPr id="5" name="TextBox 4"/>
          <p:cNvSpPr txBox="1"/>
          <p:nvPr/>
        </p:nvSpPr>
        <p:spPr>
          <a:xfrm>
            <a:off x="676656" y="3154680"/>
            <a:ext cx="10515600" cy="338554"/>
          </a:xfrm>
          <a:prstGeom prst="rect">
            <a:avLst/>
          </a:prstGeom>
          <a:noFill/>
        </p:spPr>
        <p:txBody>
          <a:bodyPr wrap="square">
            <a:spAutoFit/>
          </a:bodyPr>
          <a:lstStyle/>
          <a:p>
            <a:pPr algn="l"/>
            <a:r>
              <a:rPr sz="1600">
                <a:solidFill>
                  <a:srgbClr val="697078"/>
                </a:solidFill>
                <a:latin typeface="Aptos"/>
              </a:rPr>
              <a:t>Dissertation Storyboard — Working Scientific Narrative &amp; Analysis Roadmap</a:t>
            </a:r>
          </a:p>
        </p:txBody>
      </p:sp>
      <p:sp>
        <p:nvSpPr>
          <p:cNvPr id="6" name="TextBox 5"/>
          <p:cNvSpPr txBox="1"/>
          <p:nvPr/>
        </p:nvSpPr>
        <p:spPr>
          <a:xfrm>
            <a:off x="676656" y="5257800"/>
            <a:ext cx="4572000" cy="276999"/>
          </a:xfrm>
          <a:prstGeom prst="rect">
            <a:avLst/>
          </a:prstGeom>
          <a:noFill/>
        </p:spPr>
        <p:txBody>
          <a:bodyPr wrap="square">
            <a:spAutoFit/>
          </a:bodyPr>
          <a:lstStyle/>
          <a:p>
            <a:pPr algn="l"/>
            <a:r>
              <a:rPr sz="1200">
                <a:solidFill>
                  <a:srgbClr val="697078"/>
                </a:solidFill>
                <a:latin typeface="Aptos"/>
              </a:rPr>
              <a:t>v0.3 • September 2026</a:t>
            </a:r>
          </a:p>
        </p:txBody>
      </p:sp>
      <p:sp>
        <p:nvSpPr>
          <p:cNvPr id="7" name="TextBox 6"/>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ORIENTATION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Project dashboard</a:t>
            </a:r>
          </a:p>
        </p:txBody>
      </p:sp>
      <p:sp>
        <p:nvSpPr>
          <p:cNvPr id="5" name="TextBox 4"/>
          <p:cNvSpPr txBox="1"/>
          <p:nvPr/>
        </p:nvSpPr>
        <p:spPr>
          <a:xfrm>
            <a:off x="530352" y="1078992"/>
            <a:ext cx="10789920" cy="307777"/>
          </a:xfrm>
          <a:prstGeom prst="rect">
            <a:avLst/>
          </a:prstGeom>
          <a:noFill/>
        </p:spPr>
        <p:txBody>
          <a:bodyPr wrap="square">
            <a:spAutoFit/>
          </a:bodyPr>
          <a:lstStyle/>
          <a:p>
            <a:pPr algn="l"/>
            <a:r>
              <a:rPr sz="1400">
                <a:solidFill>
                  <a:srgbClr val="697078"/>
                </a:solidFill>
                <a:latin typeface="Aptos"/>
              </a:rPr>
              <a:t>A fast read on what is established, what needs strengthening, and what remains exploratory.</a:t>
            </a:r>
          </a:p>
        </p:txBody>
      </p:sp>
      <p:sp>
        <p:nvSpPr>
          <p:cNvPr id="6" name="Rounded Rectangle 5"/>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8" name="Rounded Rectangle 7"/>
          <p:cNvSpPr/>
          <p:nvPr/>
        </p:nvSpPr>
        <p:spPr>
          <a:xfrm>
            <a:off x="640080" y="1600200"/>
            <a:ext cx="10881360" cy="603504"/>
          </a:xfrm>
          <a:prstGeom prst="roundRect">
            <a:avLst/>
          </a:prstGeom>
          <a:solidFill>
            <a:srgbClr val="F8F9FA"/>
          </a:solidFill>
          <a:ln>
            <a:solidFill>
              <a:srgbClr val="347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73352"/>
            <a:ext cx="2880360" cy="292388"/>
          </a:xfrm>
          <a:prstGeom prst="rect">
            <a:avLst/>
          </a:prstGeom>
          <a:noFill/>
        </p:spPr>
        <p:txBody>
          <a:bodyPr wrap="square">
            <a:spAutoFit/>
          </a:bodyPr>
          <a:lstStyle/>
          <a:p>
            <a:pPr algn="l"/>
            <a:r>
              <a:rPr sz="1300" b="1">
                <a:solidFill>
                  <a:srgbClr val="347D4E"/>
                </a:solidFill>
                <a:latin typeface="Aptos"/>
              </a:rPr>
              <a:t>ARMY — discovery / bedrock</a:t>
            </a:r>
          </a:p>
        </p:txBody>
      </p:sp>
      <p:sp>
        <p:nvSpPr>
          <p:cNvPr id="10" name="TextBox 9"/>
          <p:cNvSpPr txBox="1"/>
          <p:nvPr/>
        </p:nvSpPr>
        <p:spPr>
          <a:xfrm>
            <a:off x="3703321" y="1664209"/>
            <a:ext cx="7498079" cy="276999"/>
          </a:xfrm>
          <a:prstGeom prst="rect">
            <a:avLst/>
          </a:prstGeom>
          <a:noFill/>
        </p:spPr>
        <p:txBody>
          <a:bodyPr wrap="square">
            <a:spAutoFit/>
          </a:bodyPr>
          <a:lstStyle/>
          <a:p>
            <a:pPr algn="l"/>
            <a:r>
              <a:rPr sz="1200">
                <a:solidFill>
                  <a:srgbClr val="1C1F22"/>
                </a:solidFill>
                <a:latin typeface="Aptos"/>
              </a:rPr>
              <a:t>HERO locked; largest N; refresh key porch figures; recover/review surfaces.</a:t>
            </a:r>
          </a:p>
        </p:txBody>
      </p:sp>
      <p:sp>
        <p:nvSpPr>
          <p:cNvPr id="11" name="Rounded Rectangle 10"/>
          <p:cNvSpPr/>
          <p:nvPr/>
        </p:nvSpPr>
        <p:spPr>
          <a:xfrm>
            <a:off x="640080" y="2313432"/>
            <a:ext cx="10881360" cy="603504"/>
          </a:xfrm>
          <a:prstGeom prst="roundRect">
            <a:avLst/>
          </a:prstGeom>
          <a:solidFill>
            <a:srgbClr val="F8F9FA"/>
          </a:solidFill>
          <a:ln>
            <a:solidFill>
              <a:srgbClr val="BE80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386584"/>
            <a:ext cx="2880360" cy="292388"/>
          </a:xfrm>
          <a:prstGeom prst="rect">
            <a:avLst/>
          </a:prstGeom>
          <a:noFill/>
        </p:spPr>
        <p:txBody>
          <a:bodyPr wrap="square">
            <a:spAutoFit/>
          </a:bodyPr>
          <a:lstStyle/>
          <a:p>
            <a:pPr algn="l"/>
            <a:r>
              <a:rPr sz="1300" b="1">
                <a:solidFill>
                  <a:srgbClr val="BE8022"/>
                </a:solidFill>
                <a:latin typeface="Aptos"/>
              </a:rPr>
              <a:t>MBB — cross-domain test</a:t>
            </a:r>
          </a:p>
        </p:txBody>
      </p:sp>
      <p:sp>
        <p:nvSpPr>
          <p:cNvPr id="13" name="TextBox 12"/>
          <p:cNvSpPr txBox="1"/>
          <p:nvPr/>
        </p:nvSpPr>
        <p:spPr>
          <a:xfrm>
            <a:off x="3703321" y="2377440"/>
            <a:ext cx="7498079" cy="276999"/>
          </a:xfrm>
          <a:prstGeom prst="rect">
            <a:avLst/>
          </a:prstGeom>
          <a:noFill/>
        </p:spPr>
        <p:txBody>
          <a:bodyPr wrap="square">
            <a:spAutoFit/>
          </a:bodyPr>
          <a:lstStyle/>
          <a:p>
            <a:pPr algn="l"/>
            <a:r>
              <a:rPr sz="1200">
                <a:solidFill>
                  <a:srgbClr val="1C1F22"/>
                </a:solidFill>
                <a:latin typeface="Aptos"/>
              </a:rPr>
              <a:t>Sound analysis; HERO weaker after defensible cleaning; ~2.7% draft scarcity is a candidate boundary condition.</a:t>
            </a:r>
          </a:p>
        </p:txBody>
      </p:sp>
      <p:sp>
        <p:nvSpPr>
          <p:cNvPr id="14" name="Rounded Rectangle 13"/>
          <p:cNvSpPr/>
          <p:nvPr/>
        </p:nvSpPr>
        <p:spPr>
          <a:xfrm>
            <a:off x="640080" y="3026664"/>
            <a:ext cx="10881360" cy="603504"/>
          </a:xfrm>
          <a:prstGeom prst="roundRect">
            <a:avLst/>
          </a:prstGeom>
          <a:solidFill>
            <a:srgbClr val="F8F9FA"/>
          </a:solidFill>
          <a:ln>
            <a:solidFill>
              <a:srgbClr val="BE80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099816"/>
            <a:ext cx="2880360" cy="292388"/>
          </a:xfrm>
          <a:prstGeom prst="rect">
            <a:avLst/>
          </a:prstGeom>
          <a:noFill/>
        </p:spPr>
        <p:txBody>
          <a:bodyPr wrap="square">
            <a:spAutoFit/>
          </a:bodyPr>
          <a:lstStyle/>
          <a:p>
            <a:pPr algn="l"/>
            <a:r>
              <a:rPr sz="1300" b="1">
                <a:solidFill>
                  <a:srgbClr val="BE8022"/>
                </a:solidFill>
                <a:latin typeface="Aptos"/>
              </a:rPr>
              <a:t>R1 CS — academic domain</a:t>
            </a:r>
          </a:p>
        </p:txBody>
      </p:sp>
      <p:sp>
        <p:nvSpPr>
          <p:cNvPr id="16" name="TextBox 15"/>
          <p:cNvSpPr txBox="1"/>
          <p:nvPr/>
        </p:nvSpPr>
        <p:spPr>
          <a:xfrm>
            <a:off x="3703321" y="3090672"/>
            <a:ext cx="7498079" cy="276999"/>
          </a:xfrm>
          <a:prstGeom prst="rect">
            <a:avLst/>
          </a:prstGeom>
          <a:noFill/>
        </p:spPr>
        <p:txBody>
          <a:bodyPr wrap="square">
            <a:spAutoFit/>
          </a:bodyPr>
          <a:lstStyle/>
          <a:p>
            <a:pPr algn="l"/>
            <a:r>
              <a:rPr sz="1200">
                <a:solidFill>
                  <a:srgbClr val="1C1F22"/>
                </a:solidFill>
                <a:latin typeface="Aptos"/>
              </a:rPr>
              <a:t>Reliable pilot; N≈391 resolved; expand sample + deepen robustness.</a:t>
            </a:r>
          </a:p>
        </p:txBody>
      </p:sp>
      <p:sp>
        <p:nvSpPr>
          <p:cNvPr id="17" name="Rounded Rectangle 16"/>
          <p:cNvSpPr/>
          <p:nvPr/>
        </p:nvSpPr>
        <p:spPr>
          <a:xfrm>
            <a:off x="640080" y="3739896"/>
            <a:ext cx="10881360" cy="603504"/>
          </a:xfrm>
          <a:prstGeom prst="roundRect">
            <a:avLst/>
          </a:prstGeom>
          <a:solidFill>
            <a:srgbClr val="F8F9FA"/>
          </a:solidFill>
          <a:ln>
            <a:solidFill>
              <a:srgbClr val="BE80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813048"/>
            <a:ext cx="2880360" cy="292388"/>
          </a:xfrm>
          <a:prstGeom prst="rect">
            <a:avLst/>
          </a:prstGeom>
          <a:noFill/>
        </p:spPr>
        <p:txBody>
          <a:bodyPr wrap="square">
            <a:spAutoFit/>
          </a:bodyPr>
          <a:lstStyle/>
          <a:p>
            <a:pPr algn="l"/>
            <a:r>
              <a:rPr sz="1300" b="1">
                <a:solidFill>
                  <a:srgbClr val="BE8022"/>
                </a:solidFill>
                <a:latin typeface="Aptos"/>
              </a:rPr>
              <a:t>MODEL — explanation</a:t>
            </a:r>
          </a:p>
        </p:txBody>
      </p:sp>
      <p:sp>
        <p:nvSpPr>
          <p:cNvPr id="19" name="TextBox 18"/>
          <p:cNvSpPr txBox="1"/>
          <p:nvPr/>
        </p:nvSpPr>
        <p:spPr>
          <a:xfrm>
            <a:off x="3703321" y="3803905"/>
            <a:ext cx="7498079" cy="276999"/>
          </a:xfrm>
          <a:prstGeom prst="rect">
            <a:avLst/>
          </a:prstGeom>
          <a:noFill/>
        </p:spPr>
        <p:txBody>
          <a:bodyPr wrap="square">
            <a:spAutoFit/>
          </a:bodyPr>
          <a:lstStyle/>
          <a:p>
            <a:pPr algn="l"/>
            <a:r>
              <a:rPr sz="1200">
                <a:solidFill>
                  <a:srgbClr val="1C1F22"/>
                </a:solidFill>
                <a:latin typeface="Aptos"/>
              </a:rPr>
              <a:t>ASSIGN→SCORE→SELECT exists; LG fixed-size homophilic ASSIGN; λ proof-of-concept exists.</a:t>
            </a:r>
          </a:p>
        </p:txBody>
      </p:sp>
      <p:sp>
        <p:nvSpPr>
          <p:cNvPr id="20" name="Rounded Rectangle 19"/>
          <p:cNvSpPr/>
          <p:nvPr/>
        </p:nvSpPr>
        <p:spPr>
          <a:xfrm>
            <a:off x="640080" y="4453128"/>
            <a:ext cx="10881360" cy="603504"/>
          </a:xfrm>
          <a:prstGeom prst="roundRect">
            <a:avLst/>
          </a:prstGeom>
          <a:solidFill>
            <a:srgbClr val="F8F9FA"/>
          </a:solidFill>
          <a:ln>
            <a:solidFill>
              <a:srgbClr val="AA3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526280"/>
            <a:ext cx="2880360" cy="292388"/>
          </a:xfrm>
          <a:prstGeom prst="rect">
            <a:avLst/>
          </a:prstGeom>
          <a:noFill/>
        </p:spPr>
        <p:txBody>
          <a:bodyPr wrap="square">
            <a:spAutoFit/>
          </a:bodyPr>
          <a:lstStyle/>
          <a:p>
            <a:pPr algn="l"/>
            <a:r>
              <a:rPr sz="1300" b="1">
                <a:solidFill>
                  <a:srgbClr val="AA3F3F"/>
                </a:solidFill>
                <a:latin typeface="Aptos"/>
              </a:rPr>
              <a:t>PREDICTIONS</a:t>
            </a:r>
          </a:p>
        </p:txBody>
      </p:sp>
      <p:sp>
        <p:nvSpPr>
          <p:cNvPr id="22" name="TextBox 21"/>
          <p:cNvSpPr txBox="1"/>
          <p:nvPr/>
        </p:nvSpPr>
        <p:spPr>
          <a:xfrm>
            <a:off x="3703321" y="4517137"/>
            <a:ext cx="7498079" cy="276999"/>
          </a:xfrm>
          <a:prstGeom prst="rect">
            <a:avLst/>
          </a:prstGeom>
          <a:noFill/>
        </p:spPr>
        <p:txBody>
          <a:bodyPr wrap="square">
            <a:spAutoFit/>
          </a:bodyPr>
          <a:lstStyle/>
          <a:p>
            <a:pPr algn="l"/>
            <a:r>
              <a:rPr sz="1200" dirty="0">
                <a:solidFill>
                  <a:srgbClr val="1C1F22"/>
                </a:solidFill>
                <a:latin typeface="Aptos"/>
              </a:rPr>
              <a:t>Comparative statics, band-of-excellence, targeted empirical tests still to develop.</a:t>
            </a:r>
          </a:p>
        </p:txBody>
      </p:sp>
      <p:sp>
        <p:nvSpPr>
          <p:cNvPr id="23" name="Rounded Rectangle 22"/>
          <p:cNvSpPr/>
          <p:nvPr/>
        </p:nvSpPr>
        <p:spPr>
          <a:xfrm>
            <a:off x="640080" y="5166360"/>
            <a:ext cx="10881360" cy="603504"/>
          </a:xfrm>
          <a:prstGeom prst="roundRect">
            <a:avLst/>
          </a:prstGeom>
          <a:solidFill>
            <a:srgbClr val="F8F9FA"/>
          </a:solidFill>
          <a:ln>
            <a:solidFill>
              <a:srgbClr val="6A4C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239512"/>
            <a:ext cx="2880360" cy="292388"/>
          </a:xfrm>
          <a:prstGeom prst="rect">
            <a:avLst/>
          </a:prstGeom>
          <a:noFill/>
        </p:spPr>
        <p:txBody>
          <a:bodyPr wrap="square">
            <a:spAutoFit/>
          </a:bodyPr>
          <a:lstStyle/>
          <a:p>
            <a:pPr algn="l"/>
            <a:r>
              <a:rPr sz="1300" b="1">
                <a:solidFill>
                  <a:srgbClr val="6A4C93"/>
                </a:solidFill>
                <a:latin typeface="Aptos"/>
              </a:rPr>
              <a:t>NETWORK / ORG EXTENSIONS</a:t>
            </a:r>
          </a:p>
        </p:txBody>
      </p:sp>
      <p:sp>
        <p:nvSpPr>
          <p:cNvPr id="25" name="TextBox 24"/>
          <p:cNvSpPr txBox="1"/>
          <p:nvPr/>
        </p:nvSpPr>
        <p:spPr>
          <a:xfrm>
            <a:off x="3703321" y="5230369"/>
            <a:ext cx="7498079" cy="276999"/>
          </a:xfrm>
          <a:prstGeom prst="rect">
            <a:avLst/>
          </a:prstGeom>
          <a:noFill/>
        </p:spPr>
        <p:txBody>
          <a:bodyPr wrap="square">
            <a:spAutoFit/>
          </a:bodyPr>
          <a:lstStyle/>
          <a:p>
            <a:pPr algn="l"/>
            <a:r>
              <a:rPr sz="1200">
                <a:solidFill>
                  <a:srgbClr val="1C1F22"/>
                </a:solidFill>
                <a:latin typeface="Aptos"/>
              </a:rPr>
              <a:t>High-upside stretch: predictive network metrics; organizational talent leverage.</a:t>
            </a:r>
          </a:p>
        </p:txBody>
      </p:sp>
      <p:sp>
        <p:nvSpPr>
          <p:cNvPr id="26" name="Rectangle 25"/>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Validate this dashboard against the current repo as figures are regenerated.</a:t>
            </a:r>
          </a:p>
        </p:txBody>
      </p:sp>
      <p:sp>
        <p:nvSpPr>
          <p:cNvPr id="28" name="TextBox 27"/>
          <p:cNvSpPr txBox="1"/>
          <p:nvPr/>
        </p:nvSpPr>
        <p:spPr>
          <a:xfrm>
            <a:off x="8458200" y="6217921"/>
            <a:ext cx="3154680" cy="215444"/>
          </a:xfrm>
          <a:prstGeom prst="rect">
            <a:avLst/>
          </a:prstGeom>
          <a:noFill/>
        </p:spPr>
        <p:txBody>
          <a:bodyPr wrap="square">
            <a:spAutoFit/>
          </a:bodyPr>
          <a:lstStyle/>
          <a:p>
            <a:pPr algn="r"/>
            <a:r>
              <a:rPr sz="800">
                <a:solidFill>
                  <a:srgbClr val="697078"/>
                </a:solidFill>
                <a:latin typeface="Aptos"/>
              </a:rPr>
              <a:t>COMPASS handoff / Sep 16 locks</a:t>
            </a:r>
          </a:p>
        </p:txBody>
      </p:sp>
      <p:sp>
        <p:nvSpPr>
          <p:cNvPr id="29" name="TextBox 28"/>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 — THE PUZZLE</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Performance predicts success</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1417320"/>
            <a:ext cx="10332720" cy="861774"/>
          </a:xfrm>
          <a:prstGeom prst="rect">
            <a:avLst/>
          </a:prstGeom>
          <a:noFill/>
        </p:spPr>
        <p:txBody>
          <a:bodyPr wrap="square">
            <a:spAutoFit/>
          </a:bodyPr>
          <a:lstStyle/>
          <a:p>
            <a:pPr algn="ctr"/>
            <a:r>
              <a:rPr sz="2500" b="1">
                <a:solidFill>
                  <a:srgbClr val="192A3E"/>
                </a:solidFill>
                <a:latin typeface="Aptos"/>
              </a:rPr>
              <a:t>When performance is measurable, it can be remarkably predictive of success.</a:t>
            </a:r>
          </a:p>
        </p:txBody>
      </p:sp>
      <p:sp>
        <p:nvSpPr>
          <p:cNvPr id="8" name="TextBox 7"/>
          <p:cNvSpPr txBox="1"/>
          <p:nvPr/>
        </p:nvSpPr>
        <p:spPr>
          <a:xfrm>
            <a:off x="822960" y="2743200"/>
            <a:ext cx="3291840" cy="353943"/>
          </a:xfrm>
          <a:prstGeom prst="rect">
            <a:avLst/>
          </a:prstGeom>
          <a:noFill/>
        </p:spPr>
        <p:txBody>
          <a:bodyPr wrap="square">
            <a:spAutoFit/>
          </a:bodyPr>
          <a:lstStyle/>
          <a:p>
            <a:pPr algn="ctr"/>
            <a:r>
              <a:rPr sz="1700" b="1">
                <a:solidFill>
                  <a:srgbClr val="2E5C8A"/>
                </a:solidFill>
                <a:latin typeface="Aptos"/>
              </a:rPr>
              <a:t>PROFESSIONAL TENNIS</a:t>
            </a:r>
          </a:p>
        </p:txBody>
      </p:sp>
      <p:sp>
        <p:nvSpPr>
          <p:cNvPr id="9" name="TextBox 8"/>
          <p:cNvSpPr txBox="1"/>
          <p:nvPr/>
        </p:nvSpPr>
        <p:spPr>
          <a:xfrm>
            <a:off x="822960" y="3200400"/>
            <a:ext cx="3291840" cy="877163"/>
          </a:xfrm>
          <a:prstGeom prst="rect">
            <a:avLst/>
          </a:prstGeom>
          <a:noFill/>
        </p:spPr>
        <p:txBody>
          <a:bodyPr wrap="square">
            <a:spAutoFit/>
          </a:bodyPr>
          <a:lstStyle/>
          <a:p>
            <a:pPr algn="ctr"/>
            <a:r>
              <a:rPr sz="1700">
                <a:solidFill>
                  <a:srgbClr val="1C1F22"/>
                </a:solidFill>
                <a:latin typeface="Aptos"/>
              </a:rPr>
              <a:t>Winning is observable.
Performance strongly informs success.</a:t>
            </a:r>
          </a:p>
        </p:txBody>
      </p:sp>
      <p:sp>
        <p:nvSpPr>
          <p:cNvPr id="10" name="TextBox 9"/>
          <p:cNvSpPr txBox="1"/>
          <p:nvPr/>
        </p:nvSpPr>
        <p:spPr>
          <a:xfrm>
            <a:off x="4206241" y="3200400"/>
            <a:ext cx="3749039" cy="415498"/>
          </a:xfrm>
          <a:prstGeom prst="rect">
            <a:avLst/>
          </a:prstGeom>
          <a:noFill/>
        </p:spPr>
        <p:txBody>
          <a:bodyPr wrap="square">
            <a:spAutoFit/>
          </a:bodyPr>
          <a:lstStyle/>
          <a:p>
            <a:pPr algn="ctr"/>
            <a:r>
              <a:rPr sz="2100" b="1">
                <a:solidFill>
                  <a:srgbClr val="192A3E"/>
                </a:solidFill>
                <a:latin typeface="Aptos"/>
              </a:rPr>
              <a:t>Performance  →  Success</a:t>
            </a:r>
          </a:p>
        </p:txBody>
      </p:sp>
      <p:sp>
        <p:nvSpPr>
          <p:cNvPr id="11" name="TextBox 10"/>
          <p:cNvSpPr txBox="1"/>
          <p:nvPr/>
        </p:nvSpPr>
        <p:spPr>
          <a:xfrm>
            <a:off x="8229600" y="2743200"/>
            <a:ext cx="3017520" cy="353943"/>
          </a:xfrm>
          <a:prstGeom prst="rect">
            <a:avLst/>
          </a:prstGeom>
          <a:noFill/>
        </p:spPr>
        <p:txBody>
          <a:bodyPr wrap="square">
            <a:spAutoFit/>
          </a:bodyPr>
          <a:lstStyle/>
          <a:p>
            <a:pPr algn="ctr"/>
            <a:r>
              <a:rPr sz="1700" b="1">
                <a:solidFill>
                  <a:srgbClr val="2E7A7B"/>
                </a:solidFill>
                <a:latin typeface="Aptos"/>
              </a:rPr>
              <a:t>ARMY</a:t>
            </a:r>
          </a:p>
        </p:txBody>
      </p:sp>
      <p:sp>
        <p:nvSpPr>
          <p:cNvPr id="12" name="TextBox 11"/>
          <p:cNvSpPr txBox="1"/>
          <p:nvPr/>
        </p:nvSpPr>
        <p:spPr>
          <a:xfrm>
            <a:off x="7955279" y="3200401"/>
            <a:ext cx="3566160" cy="323165"/>
          </a:xfrm>
          <a:prstGeom prst="rect">
            <a:avLst/>
          </a:prstGeom>
          <a:noFill/>
        </p:spPr>
        <p:txBody>
          <a:bodyPr wrap="square">
            <a:spAutoFit/>
          </a:bodyPr>
          <a:lstStyle/>
          <a:p>
            <a:pPr algn="ctr"/>
            <a:r>
              <a:rPr sz="1500" b="1">
                <a:solidFill>
                  <a:srgbClr val="697078"/>
                </a:solidFill>
                <a:latin typeface="Aptos"/>
              </a:rPr>
              <a:t>[Naïve own-TB → promotion plot]</a:t>
            </a:r>
          </a:p>
        </p:txBody>
      </p:sp>
      <p:sp>
        <p:nvSpPr>
          <p:cNvPr id="13" name="Rectangle 12"/>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Insert canonical Army naïve plot; keep opening intuitive and brief.</a:t>
            </a:r>
          </a:p>
        </p:txBody>
      </p:sp>
      <p:sp>
        <p:nvSpPr>
          <p:cNvPr id="15" name="TextBox 14"/>
          <p:cNvSpPr txBox="1"/>
          <p:nvPr/>
        </p:nvSpPr>
        <p:spPr>
          <a:xfrm>
            <a:off x="8458200" y="6217921"/>
            <a:ext cx="3108960" cy="215444"/>
          </a:xfrm>
          <a:prstGeom prst="rect">
            <a:avLst/>
          </a:prstGeom>
          <a:noFill/>
        </p:spPr>
        <p:txBody>
          <a:bodyPr wrap="square">
            <a:spAutoFit/>
          </a:bodyPr>
          <a:lstStyle/>
          <a:p>
            <a:pPr algn="r"/>
            <a:r>
              <a:rPr sz="800">
                <a:solidFill>
                  <a:srgbClr val="697078"/>
                </a:solidFill>
                <a:latin typeface="Aptos"/>
              </a:rPr>
              <a:t>Barabási (2018)</a:t>
            </a:r>
          </a:p>
        </p:txBody>
      </p:sp>
      <p:sp>
        <p:nvSpPr>
          <p:cNvPr id="16" name="TextBox 15"/>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 — THE PUZZLE</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But performance is not always enough</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1417320"/>
            <a:ext cx="10332720" cy="830997"/>
          </a:xfrm>
          <a:prstGeom prst="rect">
            <a:avLst/>
          </a:prstGeom>
          <a:noFill/>
        </p:spPr>
        <p:txBody>
          <a:bodyPr wrap="square">
            <a:spAutoFit/>
          </a:bodyPr>
          <a:lstStyle/>
          <a:p>
            <a:pPr algn="ctr"/>
            <a:r>
              <a:rPr sz="2400" b="1">
                <a:solidFill>
                  <a:srgbClr val="192A3E"/>
                </a:solidFill>
                <a:latin typeface="Aptos"/>
              </a:rPr>
              <a:t>When performance is difficult to quantify, networks and reputation can become central to success.</a:t>
            </a:r>
          </a:p>
        </p:txBody>
      </p:sp>
      <p:sp>
        <p:nvSpPr>
          <p:cNvPr id="8" name="TextBox 7"/>
          <p:cNvSpPr txBox="1"/>
          <p:nvPr/>
        </p:nvSpPr>
        <p:spPr>
          <a:xfrm>
            <a:off x="914400" y="2743200"/>
            <a:ext cx="3840480" cy="353943"/>
          </a:xfrm>
          <a:prstGeom prst="rect">
            <a:avLst/>
          </a:prstGeom>
          <a:noFill/>
        </p:spPr>
        <p:txBody>
          <a:bodyPr wrap="square">
            <a:spAutoFit/>
          </a:bodyPr>
          <a:lstStyle/>
          <a:p>
            <a:pPr algn="ctr"/>
            <a:r>
              <a:rPr sz="1700" b="1">
                <a:solidFill>
                  <a:srgbClr val="2E5C8A"/>
                </a:solidFill>
                <a:latin typeface="Aptos"/>
              </a:rPr>
              <a:t>TENNIS-LIKE</a:t>
            </a:r>
          </a:p>
        </p:txBody>
      </p:sp>
      <p:sp>
        <p:nvSpPr>
          <p:cNvPr id="9" name="TextBox 8"/>
          <p:cNvSpPr txBox="1"/>
          <p:nvPr/>
        </p:nvSpPr>
        <p:spPr>
          <a:xfrm>
            <a:off x="914400" y="3246120"/>
            <a:ext cx="3840480" cy="369332"/>
          </a:xfrm>
          <a:prstGeom prst="rect">
            <a:avLst/>
          </a:prstGeom>
          <a:noFill/>
        </p:spPr>
        <p:txBody>
          <a:bodyPr wrap="square">
            <a:spAutoFit/>
          </a:bodyPr>
          <a:lstStyle/>
          <a:p>
            <a:pPr algn="ctr"/>
            <a:r>
              <a:rPr>
                <a:solidFill>
                  <a:srgbClr val="1C1F22"/>
                </a:solidFill>
                <a:latin typeface="Aptos"/>
              </a:rPr>
              <a:t>Performance readily measurable</a:t>
            </a:r>
          </a:p>
        </p:txBody>
      </p:sp>
      <p:sp>
        <p:nvSpPr>
          <p:cNvPr id="10" name="TextBox 9"/>
          <p:cNvSpPr txBox="1"/>
          <p:nvPr/>
        </p:nvSpPr>
        <p:spPr>
          <a:xfrm>
            <a:off x="5303520" y="3154681"/>
            <a:ext cx="1554480" cy="523220"/>
          </a:xfrm>
          <a:prstGeom prst="rect">
            <a:avLst/>
          </a:prstGeom>
          <a:noFill/>
        </p:spPr>
        <p:txBody>
          <a:bodyPr wrap="square">
            <a:spAutoFit/>
          </a:bodyPr>
          <a:lstStyle/>
          <a:p>
            <a:pPr algn="ctr"/>
            <a:r>
              <a:rPr sz="2800" b="1">
                <a:solidFill>
                  <a:srgbClr val="697078"/>
                </a:solidFill>
                <a:latin typeface="Aptos"/>
              </a:rPr>
              <a:t>↔</a:t>
            </a:r>
          </a:p>
        </p:txBody>
      </p:sp>
      <p:sp>
        <p:nvSpPr>
          <p:cNvPr id="11" name="TextBox 10"/>
          <p:cNvSpPr txBox="1"/>
          <p:nvPr/>
        </p:nvSpPr>
        <p:spPr>
          <a:xfrm>
            <a:off x="7315200" y="2743200"/>
            <a:ext cx="3840480" cy="353943"/>
          </a:xfrm>
          <a:prstGeom prst="rect">
            <a:avLst/>
          </a:prstGeom>
          <a:noFill/>
        </p:spPr>
        <p:txBody>
          <a:bodyPr wrap="square">
            <a:spAutoFit/>
          </a:bodyPr>
          <a:lstStyle/>
          <a:p>
            <a:pPr algn="ctr"/>
            <a:r>
              <a:rPr sz="1700" b="1">
                <a:solidFill>
                  <a:srgbClr val="2E7A7B"/>
                </a:solidFill>
                <a:latin typeface="Aptos"/>
              </a:rPr>
              <a:t>MODERN ART</a:t>
            </a:r>
          </a:p>
        </p:txBody>
      </p:sp>
      <p:sp>
        <p:nvSpPr>
          <p:cNvPr id="12" name="TextBox 11"/>
          <p:cNvSpPr txBox="1"/>
          <p:nvPr/>
        </p:nvSpPr>
        <p:spPr>
          <a:xfrm>
            <a:off x="7315200" y="3246120"/>
            <a:ext cx="3840480" cy="369332"/>
          </a:xfrm>
          <a:prstGeom prst="rect">
            <a:avLst/>
          </a:prstGeom>
          <a:noFill/>
        </p:spPr>
        <p:txBody>
          <a:bodyPr wrap="square">
            <a:spAutoFit/>
          </a:bodyPr>
          <a:lstStyle/>
          <a:p>
            <a:pPr algn="ctr"/>
            <a:r>
              <a:rPr>
                <a:solidFill>
                  <a:srgbClr val="1C1F22"/>
                </a:solidFill>
                <a:latin typeface="Aptos"/>
              </a:rPr>
              <a:t>Performance difficult to quantify</a:t>
            </a:r>
          </a:p>
        </p:txBody>
      </p:sp>
      <p:sp>
        <p:nvSpPr>
          <p:cNvPr id="13" name="TextBox 12"/>
          <p:cNvSpPr txBox="1"/>
          <p:nvPr/>
        </p:nvSpPr>
        <p:spPr>
          <a:xfrm>
            <a:off x="1828800" y="4617721"/>
            <a:ext cx="8595360" cy="384721"/>
          </a:xfrm>
          <a:prstGeom prst="rect">
            <a:avLst/>
          </a:prstGeom>
          <a:noFill/>
        </p:spPr>
        <p:txBody>
          <a:bodyPr wrap="square">
            <a:spAutoFit/>
          </a:bodyPr>
          <a:lstStyle/>
          <a:p>
            <a:pPr algn="ctr"/>
            <a:r>
              <a:rPr sz="1900" b="1">
                <a:solidFill>
                  <a:srgbClr val="6A4C93"/>
                </a:solidFill>
                <a:latin typeface="Aptos"/>
              </a:rPr>
              <a:t>Network position and reputation can structure access and rewards.</a:t>
            </a:r>
          </a:p>
        </p:txBody>
      </p:sp>
      <p:sp>
        <p:nvSpPr>
          <p:cNvPr id="14" name="Rectangle 13"/>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Verify exact The Formula quotation/page before final deck.</a:t>
            </a:r>
          </a:p>
        </p:txBody>
      </p:sp>
      <p:sp>
        <p:nvSpPr>
          <p:cNvPr id="16" name="TextBox 15"/>
          <p:cNvSpPr txBox="1"/>
          <p:nvPr/>
        </p:nvSpPr>
        <p:spPr>
          <a:xfrm>
            <a:off x="8458200" y="6217921"/>
            <a:ext cx="3108960" cy="215444"/>
          </a:xfrm>
          <a:prstGeom prst="rect">
            <a:avLst/>
          </a:prstGeom>
          <a:noFill/>
        </p:spPr>
        <p:txBody>
          <a:bodyPr wrap="square">
            <a:spAutoFit/>
          </a:bodyPr>
          <a:lstStyle/>
          <a:p>
            <a:pPr algn="r"/>
            <a:r>
              <a:rPr sz="800">
                <a:solidFill>
                  <a:srgbClr val="697078"/>
                </a:solidFill>
                <a:latin typeface="Aptos"/>
              </a:rPr>
              <a:t>Barabási (2018); Fraiberger et al. (2018)</a:t>
            </a:r>
          </a:p>
        </p:txBody>
      </p:sp>
      <p:sp>
        <p:nvSpPr>
          <p:cNvPr id="17" name="TextBox 16"/>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 — THE PUZZLE</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But what happens when performance IS measurable?</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1828800"/>
            <a:ext cx="4754880" cy="569387"/>
          </a:xfrm>
          <a:prstGeom prst="rect">
            <a:avLst/>
          </a:prstGeom>
          <a:noFill/>
        </p:spPr>
        <p:txBody>
          <a:bodyPr wrap="square">
            <a:spAutoFit/>
          </a:bodyPr>
          <a:lstStyle/>
          <a:p>
            <a:pPr algn="ctr"/>
            <a:r>
              <a:rPr sz="3100" b="1">
                <a:solidFill>
                  <a:srgbClr val="192A3E"/>
                </a:solidFill>
                <a:latin typeface="Aptos"/>
              </a:rPr>
              <a:t>Does talent rule?</a:t>
            </a:r>
          </a:p>
        </p:txBody>
      </p:sp>
      <p:sp>
        <p:nvSpPr>
          <p:cNvPr id="8" name="TextBox 7"/>
          <p:cNvSpPr txBox="1"/>
          <p:nvPr/>
        </p:nvSpPr>
        <p:spPr>
          <a:xfrm>
            <a:off x="5943600" y="1828801"/>
            <a:ext cx="5303520" cy="1046440"/>
          </a:xfrm>
          <a:prstGeom prst="rect">
            <a:avLst/>
          </a:prstGeom>
          <a:noFill/>
        </p:spPr>
        <p:txBody>
          <a:bodyPr wrap="square">
            <a:spAutoFit/>
          </a:bodyPr>
          <a:lstStyle/>
          <a:p>
            <a:pPr algn="ctr"/>
            <a:r>
              <a:rPr sz="3100" b="1">
                <a:solidFill>
                  <a:srgbClr val="2E5C8A"/>
                </a:solidFill>
                <a:latin typeface="Aptos"/>
              </a:rPr>
              <a:t>Or does the network still have a say?</a:t>
            </a:r>
          </a:p>
        </p:txBody>
      </p:sp>
      <p:sp>
        <p:nvSpPr>
          <p:cNvPr id="9" name="TextBox 8"/>
          <p:cNvSpPr txBox="1"/>
          <p:nvPr/>
        </p:nvSpPr>
        <p:spPr>
          <a:xfrm>
            <a:off x="1051560" y="3429000"/>
            <a:ext cx="10058400" cy="861774"/>
          </a:xfrm>
          <a:prstGeom prst="rect">
            <a:avLst/>
          </a:prstGeom>
          <a:noFill/>
        </p:spPr>
        <p:txBody>
          <a:bodyPr wrap="square">
            <a:spAutoFit/>
          </a:bodyPr>
          <a:lstStyle/>
          <a:p>
            <a:pPr algn="ctr"/>
            <a:r>
              <a:rPr sz="2500" b="1">
                <a:solidFill>
                  <a:srgbClr val="2E7A7B"/>
                </a:solidFill>
                <a:latin typeface="Aptos"/>
              </a:rPr>
              <a:t>Given how good YOU are, does WHO SURROUNDS YOU still affect your success?</a:t>
            </a:r>
          </a:p>
        </p:txBody>
      </p:sp>
      <p:sp>
        <p:nvSpPr>
          <p:cNvPr id="10" name="Rectangle 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Refine final research-question wording after full story approval.</a:t>
            </a:r>
          </a:p>
        </p:txBody>
      </p:sp>
      <p:sp>
        <p:nvSpPr>
          <p:cNvPr id="12" name="TextBox 1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 — THE PUZZLE</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What about the people beside you?</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731520" y="1828800"/>
            <a:ext cx="2926080" cy="369332"/>
          </a:xfrm>
          <a:prstGeom prst="rect">
            <a:avLst/>
          </a:prstGeom>
          <a:noFill/>
        </p:spPr>
        <p:txBody>
          <a:bodyPr wrap="square">
            <a:spAutoFit/>
          </a:bodyPr>
          <a:lstStyle/>
          <a:p>
            <a:pPr algn="ctr"/>
            <a:r>
              <a:rPr b="1">
                <a:solidFill>
                  <a:srgbClr val="2E5C8A"/>
                </a:solidFill>
                <a:latin typeface="Aptos"/>
              </a:rPr>
              <a:t>TALENT</a:t>
            </a:r>
          </a:p>
        </p:txBody>
      </p:sp>
      <p:sp>
        <p:nvSpPr>
          <p:cNvPr id="8" name="TextBox 7"/>
          <p:cNvSpPr txBox="1"/>
          <p:nvPr/>
        </p:nvSpPr>
        <p:spPr>
          <a:xfrm>
            <a:off x="731520" y="2331720"/>
            <a:ext cx="2926080" cy="323165"/>
          </a:xfrm>
          <a:prstGeom prst="rect">
            <a:avLst/>
          </a:prstGeom>
          <a:noFill/>
        </p:spPr>
        <p:txBody>
          <a:bodyPr wrap="square">
            <a:spAutoFit/>
          </a:bodyPr>
          <a:lstStyle/>
          <a:p>
            <a:pPr algn="ctr"/>
            <a:r>
              <a:rPr sz="1500">
                <a:solidFill>
                  <a:srgbClr val="697078"/>
                </a:solidFill>
                <a:latin typeface="Aptos"/>
              </a:rPr>
              <a:t>well studied</a:t>
            </a:r>
          </a:p>
        </p:txBody>
      </p:sp>
      <p:sp>
        <p:nvSpPr>
          <p:cNvPr id="9" name="TextBox 8"/>
          <p:cNvSpPr txBox="1"/>
          <p:nvPr/>
        </p:nvSpPr>
        <p:spPr>
          <a:xfrm>
            <a:off x="4572000" y="1828800"/>
            <a:ext cx="2926080" cy="369332"/>
          </a:xfrm>
          <a:prstGeom prst="rect">
            <a:avLst/>
          </a:prstGeom>
          <a:noFill/>
        </p:spPr>
        <p:txBody>
          <a:bodyPr wrap="square">
            <a:spAutoFit/>
          </a:bodyPr>
          <a:lstStyle/>
          <a:p>
            <a:pPr algn="ctr"/>
            <a:r>
              <a:rPr b="1">
                <a:solidFill>
                  <a:srgbClr val="192A3E"/>
                </a:solidFill>
                <a:latin typeface="Aptos"/>
              </a:rPr>
              <a:t>MENTORS / LEADERS</a:t>
            </a:r>
          </a:p>
        </p:txBody>
      </p:sp>
      <p:sp>
        <p:nvSpPr>
          <p:cNvPr id="10" name="TextBox 9"/>
          <p:cNvSpPr txBox="1"/>
          <p:nvPr/>
        </p:nvSpPr>
        <p:spPr>
          <a:xfrm>
            <a:off x="4572000" y="2331721"/>
            <a:ext cx="2926080" cy="323165"/>
          </a:xfrm>
          <a:prstGeom prst="rect">
            <a:avLst/>
          </a:prstGeom>
          <a:noFill/>
        </p:spPr>
        <p:txBody>
          <a:bodyPr wrap="square">
            <a:spAutoFit/>
          </a:bodyPr>
          <a:lstStyle/>
          <a:p>
            <a:pPr algn="ctr"/>
            <a:r>
              <a:rPr sz="1500">
                <a:solidFill>
                  <a:srgbClr val="697078"/>
                </a:solidFill>
                <a:latin typeface="Aptos"/>
              </a:rPr>
              <a:t>well studied</a:t>
            </a:r>
          </a:p>
        </p:txBody>
      </p:sp>
      <p:sp>
        <p:nvSpPr>
          <p:cNvPr id="11" name="TextBox 10"/>
          <p:cNvSpPr txBox="1"/>
          <p:nvPr/>
        </p:nvSpPr>
        <p:spPr>
          <a:xfrm>
            <a:off x="8503920" y="1828800"/>
            <a:ext cx="2926080" cy="369332"/>
          </a:xfrm>
          <a:prstGeom prst="rect">
            <a:avLst/>
          </a:prstGeom>
          <a:noFill/>
        </p:spPr>
        <p:txBody>
          <a:bodyPr wrap="square">
            <a:spAutoFit/>
          </a:bodyPr>
          <a:lstStyle/>
          <a:p>
            <a:pPr algn="ctr"/>
            <a:r>
              <a:rPr b="1">
                <a:solidFill>
                  <a:srgbClr val="2E7A7B"/>
                </a:solidFill>
                <a:latin typeface="Aptos"/>
              </a:rPr>
              <a:t>PEERS</a:t>
            </a:r>
          </a:p>
        </p:txBody>
      </p:sp>
      <p:sp>
        <p:nvSpPr>
          <p:cNvPr id="12" name="TextBox 11"/>
          <p:cNvSpPr txBox="1"/>
          <p:nvPr/>
        </p:nvSpPr>
        <p:spPr>
          <a:xfrm>
            <a:off x="8503920" y="2331721"/>
            <a:ext cx="2926080" cy="323165"/>
          </a:xfrm>
          <a:prstGeom prst="rect">
            <a:avLst/>
          </a:prstGeom>
          <a:noFill/>
        </p:spPr>
        <p:txBody>
          <a:bodyPr wrap="square">
            <a:spAutoFit/>
          </a:bodyPr>
          <a:lstStyle/>
          <a:p>
            <a:pPr algn="ctr"/>
            <a:r>
              <a:rPr sz="1500" b="1">
                <a:solidFill>
                  <a:srgbClr val="2E7A7B"/>
                </a:solidFill>
                <a:latin typeface="Aptos"/>
              </a:rPr>
              <a:t>our focus</a:t>
            </a:r>
          </a:p>
        </p:txBody>
      </p:sp>
      <p:sp>
        <p:nvSpPr>
          <p:cNvPr id="13" name="TextBox 12"/>
          <p:cNvSpPr txBox="1"/>
          <p:nvPr/>
        </p:nvSpPr>
        <p:spPr>
          <a:xfrm>
            <a:off x="1005840" y="3657600"/>
            <a:ext cx="10149840" cy="738664"/>
          </a:xfrm>
          <a:prstGeom prst="rect">
            <a:avLst/>
          </a:prstGeom>
          <a:noFill/>
        </p:spPr>
        <p:txBody>
          <a:bodyPr wrap="square">
            <a:spAutoFit/>
          </a:bodyPr>
          <a:lstStyle/>
          <a:p>
            <a:pPr algn="ctr"/>
            <a:r>
              <a:rPr sz="2100">
                <a:solidFill>
                  <a:srgbClr val="1C1F22"/>
                </a:solidFill>
                <a:latin typeface="Aptos"/>
              </a:rPr>
              <a:t>The people against whom you are compared, with whom you share opportunities and resources, and whose presence helps determine whether you stand out.</a:t>
            </a:r>
          </a:p>
        </p:txBody>
      </p:sp>
      <p:sp>
        <p:nvSpPr>
          <p:cNvPr id="14" name="Rectangle 13"/>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Distinguish broad peer-effects literature from our specific advancement question.</a:t>
            </a:r>
          </a:p>
        </p:txBody>
      </p:sp>
      <p:sp>
        <p:nvSpPr>
          <p:cNvPr id="16" name="TextBox 15"/>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 — THE PUZZLE</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People don't compete alone. They compete in pools.</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1645920"/>
            <a:ext cx="2743200" cy="369332"/>
          </a:xfrm>
          <a:prstGeom prst="rect">
            <a:avLst/>
          </a:prstGeom>
          <a:noFill/>
        </p:spPr>
        <p:txBody>
          <a:bodyPr wrap="square">
            <a:spAutoFit/>
          </a:bodyPr>
          <a:lstStyle/>
          <a:p>
            <a:pPr algn="ctr"/>
            <a:r>
              <a:rPr b="1">
                <a:solidFill>
                  <a:srgbClr val="2E5C8A"/>
                </a:solidFill>
                <a:latin typeface="Aptos"/>
              </a:rPr>
              <a:t>INDIVIDUALS</a:t>
            </a:r>
          </a:p>
        </p:txBody>
      </p:sp>
      <p:sp>
        <p:nvSpPr>
          <p:cNvPr id="8" name="TextBox 7"/>
          <p:cNvSpPr txBox="1"/>
          <p:nvPr/>
        </p:nvSpPr>
        <p:spPr>
          <a:xfrm>
            <a:off x="3749039" y="1645921"/>
            <a:ext cx="914400" cy="492443"/>
          </a:xfrm>
          <a:prstGeom prst="rect">
            <a:avLst/>
          </a:prstGeom>
          <a:noFill/>
        </p:spPr>
        <p:txBody>
          <a:bodyPr wrap="square">
            <a:spAutoFit/>
          </a:bodyPr>
          <a:lstStyle/>
          <a:p>
            <a:pPr algn="ctr"/>
            <a:r>
              <a:rPr sz="2600" b="1">
                <a:solidFill>
                  <a:srgbClr val="192A3E"/>
                </a:solidFill>
                <a:latin typeface="Aptos"/>
              </a:rPr>
              <a:t>↔</a:t>
            </a:r>
          </a:p>
        </p:txBody>
      </p:sp>
      <p:sp>
        <p:nvSpPr>
          <p:cNvPr id="9" name="TextBox 8"/>
          <p:cNvSpPr txBox="1"/>
          <p:nvPr/>
        </p:nvSpPr>
        <p:spPr>
          <a:xfrm>
            <a:off x="4572000" y="1645920"/>
            <a:ext cx="3017520" cy="369332"/>
          </a:xfrm>
          <a:prstGeom prst="rect">
            <a:avLst/>
          </a:prstGeom>
          <a:noFill/>
        </p:spPr>
        <p:txBody>
          <a:bodyPr wrap="square">
            <a:spAutoFit/>
          </a:bodyPr>
          <a:lstStyle/>
          <a:p>
            <a:pPr algn="ctr"/>
            <a:r>
              <a:rPr b="1">
                <a:solidFill>
                  <a:srgbClr val="2E7A7B"/>
                </a:solidFill>
                <a:latin typeface="Aptos"/>
              </a:rPr>
              <a:t>POOLS / GROUPS</a:t>
            </a:r>
          </a:p>
        </p:txBody>
      </p:sp>
      <p:sp>
        <p:nvSpPr>
          <p:cNvPr id="10" name="TextBox 9"/>
          <p:cNvSpPr txBox="1"/>
          <p:nvPr/>
        </p:nvSpPr>
        <p:spPr>
          <a:xfrm>
            <a:off x="7635240" y="1645921"/>
            <a:ext cx="914400" cy="492443"/>
          </a:xfrm>
          <a:prstGeom prst="rect">
            <a:avLst/>
          </a:prstGeom>
          <a:noFill/>
        </p:spPr>
        <p:txBody>
          <a:bodyPr wrap="square">
            <a:spAutoFit/>
          </a:bodyPr>
          <a:lstStyle/>
          <a:p>
            <a:pPr algn="ctr"/>
            <a:r>
              <a:rPr sz="2600" b="1">
                <a:solidFill>
                  <a:srgbClr val="192A3E"/>
                </a:solidFill>
                <a:latin typeface="Aptos"/>
              </a:rPr>
              <a:t>→</a:t>
            </a:r>
          </a:p>
        </p:txBody>
      </p:sp>
      <p:sp>
        <p:nvSpPr>
          <p:cNvPr id="11" name="TextBox 10"/>
          <p:cNvSpPr txBox="1"/>
          <p:nvPr/>
        </p:nvSpPr>
        <p:spPr>
          <a:xfrm>
            <a:off x="8366760" y="1645920"/>
            <a:ext cx="2834640" cy="369332"/>
          </a:xfrm>
          <a:prstGeom prst="rect">
            <a:avLst/>
          </a:prstGeom>
          <a:noFill/>
        </p:spPr>
        <p:txBody>
          <a:bodyPr wrap="square">
            <a:spAutoFit/>
          </a:bodyPr>
          <a:lstStyle/>
          <a:p>
            <a:pPr algn="ctr"/>
            <a:r>
              <a:rPr b="1">
                <a:solidFill>
                  <a:srgbClr val="6A4C93"/>
                </a:solidFill>
                <a:latin typeface="Aptos"/>
              </a:rPr>
              <a:t>PEER NETWORK</a:t>
            </a:r>
          </a:p>
        </p:txBody>
      </p:sp>
      <p:sp>
        <p:nvSpPr>
          <p:cNvPr id="12" name="TextBox 11"/>
          <p:cNvSpPr txBox="1"/>
          <p:nvPr/>
        </p:nvSpPr>
        <p:spPr>
          <a:xfrm>
            <a:off x="1097280" y="2743200"/>
            <a:ext cx="3108960" cy="369332"/>
          </a:xfrm>
          <a:prstGeom prst="rect">
            <a:avLst/>
          </a:prstGeom>
          <a:noFill/>
        </p:spPr>
        <p:txBody>
          <a:bodyPr wrap="square">
            <a:spAutoFit/>
          </a:bodyPr>
          <a:lstStyle/>
          <a:p>
            <a:pPr algn="ctr"/>
            <a:r>
              <a:rPr b="1">
                <a:solidFill>
                  <a:srgbClr val="2E5C8A"/>
                </a:solidFill>
                <a:latin typeface="Aptos"/>
              </a:rPr>
              <a:t>Army officer</a:t>
            </a:r>
          </a:p>
        </p:txBody>
      </p:sp>
      <p:sp>
        <p:nvSpPr>
          <p:cNvPr id="13" name="TextBox 12"/>
          <p:cNvSpPr txBox="1"/>
          <p:nvPr/>
        </p:nvSpPr>
        <p:spPr>
          <a:xfrm>
            <a:off x="4251960" y="2743200"/>
            <a:ext cx="640080" cy="400110"/>
          </a:xfrm>
          <a:prstGeom prst="rect">
            <a:avLst/>
          </a:prstGeom>
          <a:noFill/>
        </p:spPr>
        <p:txBody>
          <a:bodyPr wrap="square">
            <a:spAutoFit/>
          </a:bodyPr>
          <a:lstStyle/>
          <a:p>
            <a:pPr algn="ctr"/>
            <a:r>
              <a:rPr sz="2000" b="1">
                <a:solidFill>
                  <a:srgbClr val="697078"/>
                </a:solidFill>
                <a:latin typeface="Aptos"/>
              </a:rPr>
              <a:t>→</a:t>
            </a:r>
          </a:p>
        </p:txBody>
      </p:sp>
      <p:sp>
        <p:nvSpPr>
          <p:cNvPr id="14" name="TextBox 13"/>
          <p:cNvSpPr txBox="1"/>
          <p:nvPr/>
        </p:nvSpPr>
        <p:spPr>
          <a:xfrm>
            <a:off x="4892040" y="2743200"/>
            <a:ext cx="3017520" cy="369332"/>
          </a:xfrm>
          <a:prstGeom prst="rect">
            <a:avLst/>
          </a:prstGeom>
          <a:noFill/>
        </p:spPr>
        <p:txBody>
          <a:bodyPr wrap="square">
            <a:spAutoFit/>
          </a:bodyPr>
          <a:lstStyle/>
          <a:p>
            <a:pPr algn="ctr"/>
            <a:r>
              <a:rPr b="1">
                <a:solidFill>
                  <a:srgbClr val="2E7A7B"/>
                </a:solidFill>
                <a:latin typeface="Aptos"/>
              </a:rPr>
              <a:t>rating pool</a:t>
            </a:r>
          </a:p>
        </p:txBody>
      </p:sp>
      <p:sp>
        <p:nvSpPr>
          <p:cNvPr id="15" name="TextBox 14"/>
          <p:cNvSpPr txBox="1"/>
          <p:nvPr/>
        </p:nvSpPr>
        <p:spPr>
          <a:xfrm>
            <a:off x="1097280" y="3429000"/>
            <a:ext cx="3108960" cy="369332"/>
          </a:xfrm>
          <a:prstGeom prst="rect">
            <a:avLst/>
          </a:prstGeom>
          <a:noFill/>
        </p:spPr>
        <p:txBody>
          <a:bodyPr wrap="square">
            <a:spAutoFit/>
          </a:bodyPr>
          <a:lstStyle/>
          <a:p>
            <a:pPr algn="ctr"/>
            <a:r>
              <a:rPr b="1">
                <a:solidFill>
                  <a:srgbClr val="2E5C8A"/>
                </a:solidFill>
                <a:latin typeface="Aptos"/>
              </a:rPr>
              <a:t>Basketball player</a:t>
            </a:r>
          </a:p>
        </p:txBody>
      </p:sp>
      <p:sp>
        <p:nvSpPr>
          <p:cNvPr id="16" name="TextBox 15"/>
          <p:cNvSpPr txBox="1"/>
          <p:nvPr/>
        </p:nvSpPr>
        <p:spPr>
          <a:xfrm>
            <a:off x="4251960" y="3429000"/>
            <a:ext cx="640080" cy="400110"/>
          </a:xfrm>
          <a:prstGeom prst="rect">
            <a:avLst/>
          </a:prstGeom>
          <a:noFill/>
        </p:spPr>
        <p:txBody>
          <a:bodyPr wrap="square">
            <a:spAutoFit/>
          </a:bodyPr>
          <a:lstStyle/>
          <a:p>
            <a:pPr algn="ctr"/>
            <a:r>
              <a:rPr sz="2000" b="1">
                <a:solidFill>
                  <a:srgbClr val="697078"/>
                </a:solidFill>
                <a:latin typeface="Aptos"/>
              </a:rPr>
              <a:t>→</a:t>
            </a:r>
          </a:p>
        </p:txBody>
      </p:sp>
      <p:sp>
        <p:nvSpPr>
          <p:cNvPr id="17" name="TextBox 16"/>
          <p:cNvSpPr txBox="1"/>
          <p:nvPr/>
        </p:nvSpPr>
        <p:spPr>
          <a:xfrm>
            <a:off x="4892040" y="3429000"/>
            <a:ext cx="3017520" cy="369332"/>
          </a:xfrm>
          <a:prstGeom prst="rect">
            <a:avLst/>
          </a:prstGeom>
          <a:noFill/>
        </p:spPr>
        <p:txBody>
          <a:bodyPr wrap="square">
            <a:spAutoFit/>
          </a:bodyPr>
          <a:lstStyle/>
          <a:p>
            <a:pPr algn="ctr"/>
            <a:r>
              <a:rPr b="1">
                <a:solidFill>
                  <a:srgbClr val="2E7A7B"/>
                </a:solidFill>
                <a:latin typeface="Aptos"/>
              </a:rPr>
              <a:t>team</a:t>
            </a:r>
          </a:p>
        </p:txBody>
      </p:sp>
      <p:sp>
        <p:nvSpPr>
          <p:cNvPr id="18" name="TextBox 17"/>
          <p:cNvSpPr txBox="1"/>
          <p:nvPr/>
        </p:nvSpPr>
        <p:spPr>
          <a:xfrm>
            <a:off x="1097280" y="4114800"/>
            <a:ext cx="3108960" cy="369332"/>
          </a:xfrm>
          <a:prstGeom prst="rect">
            <a:avLst/>
          </a:prstGeom>
          <a:noFill/>
        </p:spPr>
        <p:txBody>
          <a:bodyPr wrap="square">
            <a:spAutoFit/>
          </a:bodyPr>
          <a:lstStyle/>
          <a:p>
            <a:pPr algn="ctr"/>
            <a:r>
              <a:rPr b="1">
                <a:solidFill>
                  <a:srgbClr val="2E5C8A"/>
                </a:solidFill>
                <a:latin typeface="Aptos"/>
              </a:rPr>
              <a:t>Scholar</a:t>
            </a:r>
          </a:p>
        </p:txBody>
      </p:sp>
      <p:sp>
        <p:nvSpPr>
          <p:cNvPr id="19" name="TextBox 18"/>
          <p:cNvSpPr txBox="1"/>
          <p:nvPr/>
        </p:nvSpPr>
        <p:spPr>
          <a:xfrm>
            <a:off x="4251960" y="4114800"/>
            <a:ext cx="640080" cy="400110"/>
          </a:xfrm>
          <a:prstGeom prst="rect">
            <a:avLst/>
          </a:prstGeom>
          <a:noFill/>
        </p:spPr>
        <p:txBody>
          <a:bodyPr wrap="square">
            <a:spAutoFit/>
          </a:bodyPr>
          <a:lstStyle/>
          <a:p>
            <a:pPr algn="ctr"/>
            <a:r>
              <a:rPr sz="2000" b="1">
                <a:solidFill>
                  <a:srgbClr val="697078"/>
                </a:solidFill>
                <a:latin typeface="Aptos"/>
              </a:rPr>
              <a:t>→</a:t>
            </a:r>
          </a:p>
        </p:txBody>
      </p:sp>
      <p:sp>
        <p:nvSpPr>
          <p:cNvPr id="20" name="TextBox 19"/>
          <p:cNvSpPr txBox="1"/>
          <p:nvPr/>
        </p:nvSpPr>
        <p:spPr>
          <a:xfrm>
            <a:off x="4892040" y="4114800"/>
            <a:ext cx="3017520" cy="369332"/>
          </a:xfrm>
          <a:prstGeom prst="rect">
            <a:avLst/>
          </a:prstGeom>
          <a:noFill/>
        </p:spPr>
        <p:txBody>
          <a:bodyPr wrap="square">
            <a:spAutoFit/>
          </a:bodyPr>
          <a:lstStyle/>
          <a:p>
            <a:pPr algn="ctr"/>
            <a:r>
              <a:rPr b="1">
                <a:solidFill>
                  <a:srgbClr val="2E7A7B"/>
                </a:solidFill>
                <a:latin typeface="Aptos"/>
              </a:rPr>
              <a:t>department</a:t>
            </a:r>
          </a:p>
        </p:txBody>
      </p:sp>
      <p:sp>
        <p:nvSpPr>
          <p:cNvPr id="21" name="TextBox 20"/>
          <p:cNvSpPr txBox="1"/>
          <p:nvPr/>
        </p:nvSpPr>
        <p:spPr>
          <a:xfrm>
            <a:off x="1828800" y="5074920"/>
            <a:ext cx="8595360" cy="353943"/>
          </a:xfrm>
          <a:prstGeom prst="rect">
            <a:avLst/>
          </a:prstGeom>
          <a:noFill/>
        </p:spPr>
        <p:txBody>
          <a:bodyPr wrap="square">
            <a:spAutoFit/>
          </a:bodyPr>
          <a:lstStyle/>
          <a:p>
            <a:pPr algn="ctr"/>
            <a:r>
              <a:rPr sz="1700">
                <a:solidFill>
                  <a:srgbClr val="1C1F22"/>
                </a:solidFill>
                <a:latin typeface="Aptos"/>
              </a:rPr>
              <a:t>Shared membership induces the local peer / co-membership network.</a:t>
            </a:r>
          </a:p>
        </p:txBody>
      </p:sp>
      <p:sp>
        <p:nvSpPr>
          <p:cNvPr id="22" name="Rectangle 21"/>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Replace schematic with bipartite → one-mode projection visual.</a:t>
            </a:r>
          </a:p>
        </p:txBody>
      </p:sp>
      <p:sp>
        <p:nvSpPr>
          <p:cNvPr id="24" name="TextBox 23"/>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II — DISCOVERY</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Our first laboratory: The U.S. Army</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822960" y="1508760"/>
            <a:ext cx="8340745" cy="1964640"/>
          </a:xfrm>
          <a:prstGeom prst="rect">
            <a:avLst/>
          </a:prstGeom>
          <a:noFill/>
        </p:spPr>
        <p:txBody>
          <a:bodyPr wrap="none">
            <a:spAutoFit/>
          </a:bodyPr>
          <a:lstStyle/>
          <a:p>
            <a:pPr>
              <a:spcAft>
                <a:spcPts val="800"/>
              </a:spcAft>
              <a:defRPr sz="1900">
                <a:solidFill>
                  <a:srgbClr val="1C1F22"/>
                </a:solidFill>
                <a:latin typeface="Aptos"/>
              </a:defRPr>
            </a:pPr>
            <a:r>
              <a:rPr sz="1900"/>
              <a:t>Individual: Army officer</a:t>
            </a:r>
          </a:p>
          <a:p>
            <a:pPr>
              <a:spcAft>
                <a:spcPts val="800"/>
              </a:spcAft>
              <a:defRPr sz="1900">
                <a:solidFill>
                  <a:srgbClr val="1C1F22"/>
                </a:solidFill>
                <a:latin typeface="Aptos"/>
              </a:defRPr>
            </a:pPr>
            <a:r>
              <a:rPr sz="1900"/>
              <a:t>Local pool: officers evaluated within a local rating / senior-rater environment</a:t>
            </a:r>
          </a:p>
          <a:p>
            <a:pPr>
              <a:spcAft>
                <a:spcPts val="800"/>
              </a:spcAft>
              <a:defRPr sz="1900">
                <a:solidFill>
                  <a:srgbClr val="1C1F22"/>
                </a:solidFill>
                <a:latin typeface="Aptos"/>
              </a:defRPr>
            </a:pPr>
            <a:r>
              <a:rPr sz="1900"/>
              <a:t>Performance signal: top-block ratio</a:t>
            </a:r>
          </a:p>
          <a:p>
            <a:pPr>
              <a:spcAft>
                <a:spcPts val="800"/>
              </a:spcAft>
              <a:defRPr sz="1900">
                <a:solidFill>
                  <a:srgbClr val="1C1F22"/>
                </a:solidFill>
                <a:latin typeface="Aptos"/>
              </a:defRPr>
            </a:pPr>
            <a:r>
              <a:rPr sz="1900"/>
              <a:t>Success outcome: promotion and time to promotion</a:t>
            </a:r>
          </a:p>
          <a:p>
            <a:pPr>
              <a:spcAft>
                <a:spcPts val="800"/>
              </a:spcAft>
              <a:defRPr sz="1900">
                <a:solidFill>
                  <a:srgbClr val="1C1F22"/>
                </a:solidFill>
                <a:latin typeface="Aptos"/>
              </a:defRPr>
            </a:pPr>
            <a:r>
              <a:rPr sz="1900"/>
              <a:t>Scale: unusually large longitudinal population with standardized career stages</a:t>
            </a:r>
          </a:p>
        </p:txBody>
      </p:sp>
      <p:sp>
        <p:nvSpPr>
          <p:cNvPr id="8" name="TextBox 7"/>
          <p:cNvSpPr txBox="1"/>
          <p:nvPr/>
        </p:nvSpPr>
        <p:spPr>
          <a:xfrm>
            <a:off x="1097280" y="5074920"/>
            <a:ext cx="9966960" cy="415498"/>
          </a:xfrm>
          <a:prstGeom prst="rect">
            <a:avLst/>
          </a:prstGeom>
          <a:noFill/>
        </p:spPr>
        <p:txBody>
          <a:bodyPr wrap="square">
            <a:spAutoFit/>
          </a:bodyPr>
          <a:lstStyle/>
          <a:p>
            <a:pPr algn="ctr"/>
            <a:r>
              <a:rPr sz="2100" b="1">
                <a:solidFill>
                  <a:srgbClr val="2E5C8A"/>
                </a:solidFill>
                <a:latin typeface="Aptos"/>
              </a:rPr>
              <a:t>First question: Does individual performance predict success?</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Refresh sample sizes and exact pool terminology from Army data/docs.</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II — DISCOVERY</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Talent wins.</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1051560" y="1554480"/>
            <a:ext cx="10058400" cy="446276"/>
          </a:xfrm>
          <a:prstGeom prst="rect">
            <a:avLst/>
          </a:prstGeom>
          <a:noFill/>
        </p:spPr>
        <p:txBody>
          <a:bodyPr wrap="square">
            <a:spAutoFit/>
          </a:bodyPr>
          <a:lstStyle/>
          <a:p>
            <a:pPr algn="ctr"/>
            <a:r>
              <a:rPr sz="2300" b="1">
                <a:solidFill>
                  <a:srgbClr val="697078"/>
                </a:solidFill>
                <a:latin typeface="Aptos"/>
              </a:rPr>
              <a:t>[BIG PLACEHOLDER: canonical Army own-TB → promotion plot]</a:t>
            </a:r>
          </a:p>
        </p:txBody>
      </p:sp>
      <p:sp>
        <p:nvSpPr>
          <p:cNvPr id="8" name="TextBox 7"/>
          <p:cNvSpPr txBox="1"/>
          <p:nvPr/>
        </p:nvSpPr>
        <p:spPr>
          <a:xfrm>
            <a:off x="1097280" y="4434840"/>
            <a:ext cx="9966960" cy="446276"/>
          </a:xfrm>
          <a:prstGeom prst="rect">
            <a:avLst/>
          </a:prstGeom>
          <a:noFill/>
        </p:spPr>
        <p:txBody>
          <a:bodyPr wrap="square">
            <a:spAutoFit/>
          </a:bodyPr>
          <a:lstStyle/>
          <a:p>
            <a:pPr algn="ctr"/>
            <a:r>
              <a:rPr sz="2300" b="1">
                <a:solidFill>
                  <a:srgbClr val="192A3E"/>
                </a:solidFill>
                <a:latin typeface="Aptos"/>
              </a:rPr>
              <a:t>Officers with stronger individual performance are promoted faster.</a:t>
            </a:r>
          </a:p>
        </p:txBody>
      </p:sp>
      <p:sp>
        <p:nvSpPr>
          <p:cNvPr id="9" name="TextBox 8"/>
          <p:cNvSpPr txBox="1"/>
          <p:nvPr/>
        </p:nvSpPr>
        <p:spPr>
          <a:xfrm>
            <a:off x="4297680" y="5257801"/>
            <a:ext cx="3657600" cy="276999"/>
          </a:xfrm>
          <a:prstGeom prst="rect">
            <a:avLst/>
          </a:prstGeom>
          <a:noFill/>
        </p:spPr>
        <p:txBody>
          <a:bodyPr wrap="square">
            <a:spAutoFit/>
          </a:bodyPr>
          <a:lstStyle/>
          <a:p>
            <a:pPr algn="ctr"/>
            <a:r>
              <a:rPr sz="1200" b="1">
                <a:solidFill>
                  <a:srgbClr val="2E5C8A"/>
                </a:solidFill>
                <a:latin typeface="Aptos"/>
              </a:rPr>
              <a:t>OWN PERFORMANCE ONLY</a:t>
            </a:r>
          </a:p>
        </p:txBody>
      </p:sp>
      <p:sp>
        <p:nvSpPr>
          <p:cNvPr id="10" name="Rectangle 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Insert/regenerate canonical own-TB plot; no peer metric or HERO language yet.</a:t>
            </a:r>
          </a:p>
        </p:txBody>
      </p:sp>
      <p:sp>
        <p:nvSpPr>
          <p:cNvPr id="12" name="TextBox 1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200400" cy="246221"/>
          </a:xfrm>
          <a:prstGeom prst="rect">
            <a:avLst/>
          </a:prstGeom>
          <a:noFill/>
        </p:spPr>
        <p:txBody>
          <a:bodyPr wrap="square">
            <a:spAutoFit/>
          </a:bodyPr>
          <a:lstStyle/>
          <a:p>
            <a:pPr algn="l"/>
            <a:r>
              <a:rPr sz="1000" b="1">
                <a:solidFill>
                  <a:srgbClr val="2E5C8A"/>
                </a:solidFill>
                <a:latin typeface="Aptos"/>
              </a:rPr>
              <a:t>ACT II — DISCOVERY</a:t>
            </a:r>
          </a:p>
        </p:txBody>
      </p:sp>
      <p:sp>
        <p:nvSpPr>
          <p:cNvPr id="4" name="TextBox 3"/>
          <p:cNvSpPr txBox="1"/>
          <p:nvPr/>
        </p:nvSpPr>
        <p:spPr>
          <a:xfrm>
            <a:off x="502920" y="530352"/>
            <a:ext cx="10789920" cy="492443"/>
          </a:xfrm>
          <a:prstGeom prst="rect">
            <a:avLst/>
          </a:prstGeom>
          <a:noFill/>
        </p:spPr>
        <p:txBody>
          <a:bodyPr wrap="square">
            <a:spAutoFit/>
          </a:bodyPr>
          <a:lstStyle/>
          <a:p>
            <a:pPr algn="l"/>
            <a:r>
              <a:rPr sz="2600" b="1">
                <a:solidFill>
                  <a:srgbClr val="192A3E"/>
                </a:solidFill>
                <a:latin typeface="Aptos"/>
              </a:rPr>
              <a:t>But talent does not compete in isolation.</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2057400"/>
            <a:ext cx="1828800" cy="553998"/>
          </a:xfrm>
          <a:prstGeom prst="rect">
            <a:avLst/>
          </a:prstGeom>
          <a:noFill/>
        </p:spPr>
        <p:txBody>
          <a:bodyPr wrap="square">
            <a:spAutoFit/>
          </a:bodyPr>
          <a:lstStyle/>
          <a:p>
            <a:pPr algn="ctr"/>
            <a:r>
              <a:rPr sz="3000" b="1">
                <a:solidFill>
                  <a:srgbClr val="2E5C8A"/>
                </a:solidFill>
                <a:latin typeface="Aptos"/>
              </a:rPr>
              <a:t>YOU</a:t>
            </a:r>
          </a:p>
        </p:txBody>
      </p:sp>
      <p:sp>
        <p:nvSpPr>
          <p:cNvPr id="8" name="TextBox 7"/>
          <p:cNvSpPr txBox="1"/>
          <p:nvPr/>
        </p:nvSpPr>
        <p:spPr>
          <a:xfrm>
            <a:off x="2834640" y="2057400"/>
            <a:ext cx="914400" cy="584775"/>
          </a:xfrm>
          <a:prstGeom prst="rect">
            <a:avLst/>
          </a:prstGeom>
          <a:noFill/>
        </p:spPr>
        <p:txBody>
          <a:bodyPr wrap="square">
            <a:spAutoFit/>
          </a:bodyPr>
          <a:lstStyle/>
          <a:p>
            <a:pPr algn="ctr"/>
            <a:r>
              <a:rPr sz="3200" b="1">
                <a:solidFill>
                  <a:srgbClr val="192A3E"/>
                </a:solidFill>
                <a:latin typeface="Aptos"/>
              </a:rPr>
              <a:t>⊂</a:t>
            </a:r>
          </a:p>
        </p:txBody>
      </p:sp>
      <p:sp>
        <p:nvSpPr>
          <p:cNvPr id="9" name="TextBox 8"/>
          <p:cNvSpPr txBox="1"/>
          <p:nvPr/>
        </p:nvSpPr>
        <p:spPr>
          <a:xfrm>
            <a:off x="3749039" y="2057400"/>
            <a:ext cx="7223760" cy="538609"/>
          </a:xfrm>
          <a:prstGeom prst="rect">
            <a:avLst/>
          </a:prstGeom>
          <a:noFill/>
        </p:spPr>
        <p:txBody>
          <a:bodyPr wrap="square">
            <a:spAutoFit/>
          </a:bodyPr>
          <a:lstStyle/>
          <a:p>
            <a:pPr algn="ctr"/>
            <a:r>
              <a:rPr sz="2900" b="1">
                <a:solidFill>
                  <a:srgbClr val="2E7A7B"/>
                </a:solidFill>
                <a:latin typeface="Aptos"/>
              </a:rPr>
              <a:t>YOUR LOCAL PEER ENVIRONMENT</a:t>
            </a:r>
          </a:p>
        </p:txBody>
      </p:sp>
      <p:sp>
        <p:nvSpPr>
          <p:cNvPr id="10" name="TextBox 9"/>
          <p:cNvSpPr txBox="1"/>
          <p:nvPr/>
        </p:nvSpPr>
        <p:spPr>
          <a:xfrm>
            <a:off x="1097280" y="3429001"/>
            <a:ext cx="10058400" cy="800219"/>
          </a:xfrm>
          <a:prstGeom prst="rect">
            <a:avLst/>
          </a:prstGeom>
          <a:noFill/>
        </p:spPr>
        <p:txBody>
          <a:bodyPr wrap="square">
            <a:spAutoFit/>
          </a:bodyPr>
          <a:lstStyle/>
          <a:p>
            <a:pPr algn="ctr"/>
            <a:r>
              <a:rPr sz="2300">
                <a:solidFill>
                  <a:srgbClr val="1C1F22"/>
                </a:solidFill>
                <a:latin typeface="Aptos"/>
              </a:rPr>
              <a:t>Given your own performance, what happens as the caliber of the people surrounding you changes?</a:t>
            </a:r>
          </a:p>
        </p:txBody>
      </p:sp>
      <p:sp>
        <p:nvSpPr>
          <p:cNvPr id="11" name="TextBox 10"/>
          <p:cNvSpPr txBox="1"/>
          <p:nvPr/>
        </p:nvSpPr>
        <p:spPr>
          <a:xfrm>
            <a:off x="1828800" y="4754880"/>
            <a:ext cx="8503920" cy="369332"/>
          </a:xfrm>
          <a:prstGeom prst="rect">
            <a:avLst/>
          </a:prstGeom>
          <a:noFill/>
        </p:spPr>
        <p:txBody>
          <a:bodyPr wrap="square">
            <a:spAutoFit/>
          </a:bodyPr>
          <a:lstStyle/>
          <a:p>
            <a:pPr algn="ctr"/>
            <a:r>
              <a:rPr b="1">
                <a:solidFill>
                  <a:srgbClr val="6A4C93"/>
                </a:solidFill>
                <a:latin typeface="Aptos"/>
              </a:rPr>
              <a:t>Measure the environment without measuring YOU twice.</a:t>
            </a:r>
          </a:p>
        </p:txBody>
      </p:sp>
      <p:sp>
        <p:nvSpPr>
          <p:cNvPr id="12" name="Rectangle 11"/>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Next: define leave-one-out peer quality, then reveal HERO.</a:t>
            </a:r>
          </a:p>
        </p:txBody>
      </p:sp>
      <p:sp>
        <p:nvSpPr>
          <p:cNvPr id="14" name="TextBox 13"/>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 — DISCOVERY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Whose view of the pond?</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685800" y="1417320"/>
            <a:ext cx="5120640" cy="353943"/>
          </a:xfrm>
          <a:prstGeom prst="rect">
            <a:avLst/>
          </a:prstGeom>
          <a:noFill/>
        </p:spPr>
        <p:txBody>
          <a:bodyPr wrap="square">
            <a:spAutoFit/>
          </a:bodyPr>
          <a:lstStyle/>
          <a:p>
            <a:pPr algn="ctr"/>
            <a:r>
              <a:rPr sz="1700" b="1">
                <a:solidFill>
                  <a:srgbClr val="192A3E"/>
                </a:solidFill>
                <a:latin typeface="Aptos"/>
              </a:rPr>
              <a:t>THE FISHERMAN / ORGANIZATION</a:t>
            </a:r>
          </a:p>
        </p:txBody>
      </p:sp>
      <p:sp>
        <p:nvSpPr>
          <p:cNvPr id="8" name="TextBox 7"/>
          <p:cNvSpPr txBox="1"/>
          <p:nvPr/>
        </p:nvSpPr>
        <p:spPr>
          <a:xfrm>
            <a:off x="731520" y="1874519"/>
            <a:ext cx="5029200" cy="400110"/>
          </a:xfrm>
          <a:prstGeom prst="rect">
            <a:avLst/>
          </a:prstGeom>
          <a:noFill/>
        </p:spPr>
        <p:txBody>
          <a:bodyPr wrap="square">
            <a:spAutoFit/>
          </a:bodyPr>
          <a:lstStyle/>
          <a:p>
            <a:pPr algn="ctr"/>
            <a:r>
              <a:rPr sz="2000" b="1">
                <a:solidFill>
                  <a:srgbClr val="2E5C8A"/>
                </a:solidFill>
                <a:latin typeface="Aptos"/>
              </a:rPr>
              <a:t>How talented is the whole pond?</a:t>
            </a:r>
          </a:p>
        </p:txBody>
      </p:sp>
      <p:sp>
        <p:nvSpPr>
          <p:cNvPr id="9" name="TextBox 8"/>
          <p:cNvSpPr txBox="1"/>
          <p:nvPr/>
        </p:nvSpPr>
        <p:spPr>
          <a:xfrm>
            <a:off x="1417320" y="2560320"/>
            <a:ext cx="3657600" cy="461665"/>
          </a:xfrm>
          <a:prstGeom prst="rect">
            <a:avLst/>
          </a:prstGeom>
          <a:noFill/>
        </p:spPr>
        <p:txBody>
          <a:bodyPr wrap="square">
            <a:spAutoFit/>
          </a:bodyPr>
          <a:lstStyle/>
          <a:p>
            <a:pPr algn="ctr"/>
            <a:r>
              <a:rPr sz="2400" b="1">
                <a:solidFill>
                  <a:srgbClr val="192A3E"/>
                </a:solidFill>
                <a:latin typeface="Aptos"/>
              </a:rPr>
              <a:t>T̄ⱼ = whole-pool mean</a:t>
            </a:r>
          </a:p>
        </p:txBody>
      </p:sp>
      <p:sp>
        <p:nvSpPr>
          <p:cNvPr id="10" name="TextBox 9"/>
          <p:cNvSpPr txBox="1"/>
          <p:nvPr/>
        </p:nvSpPr>
        <p:spPr>
          <a:xfrm>
            <a:off x="914400" y="3337560"/>
            <a:ext cx="4663440" cy="615553"/>
          </a:xfrm>
          <a:prstGeom prst="rect">
            <a:avLst/>
          </a:prstGeom>
          <a:noFill/>
        </p:spPr>
        <p:txBody>
          <a:bodyPr wrap="square">
            <a:spAutoFit/>
          </a:bodyPr>
          <a:lstStyle/>
          <a:p>
            <a:pPr algn="ctr"/>
            <a:r>
              <a:rPr sz="1700">
                <a:solidFill>
                  <a:srgbClr val="1C1F22"/>
                </a:solidFill>
                <a:latin typeface="Aptos"/>
              </a:rPr>
              <a:t>Manchester United:
“How much talent have we assembled?”</a:t>
            </a:r>
          </a:p>
        </p:txBody>
      </p:sp>
      <p:sp>
        <p:nvSpPr>
          <p:cNvPr id="11" name="TextBox 10"/>
          <p:cNvSpPr txBox="1"/>
          <p:nvPr/>
        </p:nvSpPr>
        <p:spPr>
          <a:xfrm>
            <a:off x="6355080" y="1417321"/>
            <a:ext cx="5120640" cy="353943"/>
          </a:xfrm>
          <a:prstGeom prst="rect">
            <a:avLst/>
          </a:prstGeom>
          <a:noFill/>
        </p:spPr>
        <p:txBody>
          <a:bodyPr wrap="square">
            <a:spAutoFit/>
          </a:bodyPr>
          <a:lstStyle/>
          <a:p>
            <a:pPr algn="ctr"/>
            <a:r>
              <a:rPr sz="1700" b="1">
                <a:solidFill>
                  <a:srgbClr val="2E7A7B"/>
                </a:solidFill>
                <a:latin typeface="Aptos"/>
              </a:rPr>
              <a:t>THE FISH / INDIVIDUAL</a:t>
            </a:r>
          </a:p>
        </p:txBody>
      </p:sp>
      <p:sp>
        <p:nvSpPr>
          <p:cNvPr id="12" name="TextBox 11"/>
          <p:cNvSpPr txBox="1"/>
          <p:nvPr/>
        </p:nvSpPr>
        <p:spPr>
          <a:xfrm>
            <a:off x="6400800" y="1874520"/>
            <a:ext cx="5029200" cy="400110"/>
          </a:xfrm>
          <a:prstGeom prst="rect">
            <a:avLst/>
          </a:prstGeom>
          <a:noFill/>
        </p:spPr>
        <p:txBody>
          <a:bodyPr wrap="square">
            <a:spAutoFit/>
          </a:bodyPr>
          <a:lstStyle/>
          <a:p>
            <a:pPr algn="ctr"/>
            <a:r>
              <a:rPr sz="2000" b="1">
                <a:solidFill>
                  <a:srgbClr val="2E7A7B"/>
                </a:solidFill>
                <a:latin typeface="Aptos"/>
              </a:rPr>
              <a:t>How talented are the fish around me?</a:t>
            </a:r>
          </a:p>
        </p:txBody>
      </p:sp>
      <p:sp>
        <p:nvSpPr>
          <p:cNvPr id="13" name="TextBox 12"/>
          <p:cNvSpPr txBox="1"/>
          <p:nvPr/>
        </p:nvSpPr>
        <p:spPr>
          <a:xfrm>
            <a:off x="6903720" y="2560321"/>
            <a:ext cx="4023360" cy="461665"/>
          </a:xfrm>
          <a:prstGeom prst="rect">
            <a:avLst/>
          </a:prstGeom>
          <a:noFill/>
        </p:spPr>
        <p:txBody>
          <a:bodyPr wrap="square">
            <a:spAutoFit/>
          </a:bodyPr>
          <a:lstStyle/>
          <a:p>
            <a:pPr algn="ctr"/>
            <a:r>
              <a:rPr sz="2400" b="1">
                <a:solidFill>
                  <a:srgbClr val="2E7A7B"/>
                </a:solidFill>
                <a:latin typeface="Aptos"/>
              </a:rPr>
              <a:t>T̄₋ᵢ,ⱼ = LOO peer mean</a:t>
            </a:r>
          </a:p>
        </p:txBody>
      </p:sp>
      <p:sp>
        <p:nvSpPr>
          <p:cNvPr id="14" name="TextBox 13"/>
          <p:cNvSpPr txBox="1"/>
          <p:nvPr/>
        </p:nvSpPr>
        <p:spPr>
          <a:xfrm>
            <a:off x="6537960" y="3337561"/>
            <a:ext cx="4663440" cy="877163"/>
          </a:xfrm>
          <a:prstGeom prst="rect">
            <a:avLst/>
          </a:prstGeom>
          <a:noFill/>
        </p:spPr>
        <p:txBody>
          <a:bodyPr wrap="square">
            <a:spAutoFit/>
          </a:bodyPr>
          <a:lstStyle/>
          <a:p>
            <a:pPr algn="ctr"/>
            <a:r>
              <a:rPr sz="1700">
                <a:solidFill>
                  <a:srgbClr val="1C1F22"/>
                </a:solidFill>
                <a:latin typeface="Aptos"/>
              </a:rPr>
              <a:t>Cristiano Ronaldo:
“How talented are the teammates surrounding me?”</a:t>
            </a:r>
          </a:p>
        </p:txBody>
      </p:sp>
      <p:sp>
        <p:nvSpPr>
          <p:cNvPr id="15" name="TextBox 14"/>
          <p:cNvSpPr txBox="1"/>
          <p:nvPr/>
        </p:nvSpPr>
        <p:spPr>
          <a:xfrm>
            <a:off x="1920240" y="4892041"/>
            <a:ext cx="8412480" cy="430887"/>
          </a:xfrm>
          <a:prstGeom prst="rect">
            <a:avLst/>
          </a:prstGeom>
          <a:noFill/>
        </p:spPr>
        <p:txBody>
          <a:bodyPr wrap="square">
            <a:spAutoFit/>
          </a:bodyPr>
          <a:lstStyle/>
          <a:p>
            <a:pPr algn="ctr"/>
            <a:r>
              <a:rPr sz="2200" b="1">
                <a:solidFill>
                  <a:srgbClr val="6A4C93"/>
                </a:solidFill>
                <a:latin typeface="Aptos"/>
              </a:rPr>
              <a:t>Same pond. Two questions. Two measures.</a:t>
            </a:r>
          </a:p>
        </p:txBody>
      </p:sp>
      <p:sp>
        <p:nvSpPr>
          <p:cNvPr id="16" name="Rectangle 15"/>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Finalize notation; organizational outcome remains an extension.</a:t>
            </a:r>
          </a:p>
        </p:txBody>
      </p:sp>
      <p:sp>
        <p:nvSpPr>
          <p:cNvPr id="18" name="TextBox 17"/>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 — DISCOVERY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Does the pond matter?</a:t>
            </a:r>
          </a:p>
        </p:txBody>
      </p:sp>
      <p:sp>
        <p:nvSpPr>
          <p:cNvPr id="5" name="Rounded Rectangle 4"/>
          <p:cNvSpPr/>
          <p:nvPr/>
        </p:nvSpPr>
        <p:spPr>
          <a:xfrm>
            <a:off x="10378440" y="292608"/>
            <a:ext cx="1417320" cy="384048"/>
          </a:xfrm>
          <a:prstGeom prst="roundRect">
            <a:avLst/>
          </a:prstGeom>
          <a:solidFill>
            <a:srgbClr val="347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RESULT</a:t>
            </a:r>
          </a:p>
        </p:txBody>
      </p:sp>
      <p:sp>
        <p:nvSpPr>
          <p:cNvPr id="7" name="TextBox 6"/>
          <p:cNvSpPr txBox="1"/>
          <p:nvPr/>
        </p:nvSpPr>
        <p:spPr>
          <a:xfrm>
            <a:off x="914400" y="1417320"/>
            <a:ext cx="10332720" cy="461665"/>
          </a:xfrm>
          <a:prstGeom prst="rect">
            <a:avLst/>
          </a:prstGeom>
          <a:noFill/>
        </p:spPr>
        <p:txBody>
          <a:bodyPr wrap="square">
            <a:spAutoFit/>
          </a:bodyPr>
          <a:lstStyle/>
          <a:p>
            <a:pPr algn="ctr"/>
            <a:r>
              <a:rPr sz="2400" b="1">
                <a:solidFill>
                  <a:srgbClr val="697078"/>
                </a:solidFill>
                <a:latin typeface="Aptos"/>
              </a:rPr>
              <a:t>[HUGE PLACEHOLDER: canonical Army HERO plot]</a:t>
            </a:r>
          </a:p>
        </p:txBody>
      </p:sp>
      <p:sp>
        <p:nvSpPr>
          <p:cNvPr id="8" name="TextBox 7"/>
          <p:cNvSpPr txBox="1"/>
          <p:nvPr/>
        </p:nvSpPr>
        <p:spPr>
          <a:xfrm>
            <a:off x="1051560" y="4800600"/>
            <a:ext cx="10058400" cy="430887"/>
          </a:xfrm>
          <a:prstGeom prst="rect">
            <a:avLst/>
          </a:prstGeom>
          <a:noFill/>
        </p:spPr>
        <p:txBody>
          <a:bodyPr wrap="square">
            <a:spAutoFit/>
          </a:bodyPr>
          <a:lstStyle/>
          <a:p>
            <a:pPr algn="ctr"/>
            <a:r>
              <a:rPr sz="2200" b="1">
                <a:solidFill>
                  <a:srgbClr val="192A3E"/>
                </a:solidFill>
                <a:latin typeface="Aptos"/>
              </a:rPr>
              <a:t>Advancement initially rises with peer quality — then falls.</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Insert canonical Army HERO; label axes precisely.</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 — DISCOVERY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The average curve hides the individual</a:t>
            </a:r>
          </a:p>
        </p:txBody>
      </p:sp>
      <p:sp>
        <p:nvSpPr>
          <p:cNvPr id="5" name="Rounded Rectangle 4"/>
          <p:cNvSpPr/>
          <p:nvPr/>
        </p:nvSpPr>
        <p:spPr>
          <a:xfrm>
            <a:off x="10378440" y="292608"/>
            <a:ext cx="1417320" cy="384048"/>
          </a:xfrm>
          <a:prstGeom prst="roundRect">
            <a:avLst/>
          </a:prstGeom>
          <a:solidFill>
            <a:srgbClr val="347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RESULT</a:t>
            </a:r>
          </a:p>
        </p:txBody>
      </p:sp>
      <p:sp>
        <p:nvSpPr>
          <p:cNvPr id="7" name="TextBox 6"/>
          <p:cNvSpPr txBox="1"/>
          <p:nvPr/>
        </p:nvSpPr>
        <p:spPr>
          <a:xfrm>
            <a:off x="640080" y="1554480"/>
            <a:ext cx="5303520" cy="677108"/>
          </a:xfrm>
          <a:prstGeom prst="rect">
            <a:avLst/>
          </a:prstGeom>
          <a:noFill/>
        </p:spPr>
        <p:txBody>
          <a:bodyPr wrap="square">
            <a:spAutoFit/>
          </a:bodyPr>
          <a:lstStyle/>
          <a:p>
            <a:pPr algn="ctr"/>
            <a:r>
              <a:rPr sz="1900" b="1">
                <a:solidFill>
                  <a:srgbClr val="2E5C8A"/>
                </a:solidFill>
                <a:latin typeface="Aptos"/>
              </a:rPr>
              <a:t>EXISTING: TB ratio × rank in pool → promotion hazard</a:t>
            </a:r>
          </a:p>
        </p:txBody>
      </p:sp>
      <p:sp>
        <p:nvSpPr>
          <p:cNvPr id="8" name="TextBox 7"/>
          <p:cNvSpPr txBox="1"/>
          <p:nvPr/>
        </p:nvSpPr>
        <p:spPr>
          <a:xfrm>
            <a:off x="914400" y="2514600"/>
            <a:ext cx="4754880" cy="369332"/>
          </a:xfrm>
          <a:prstGeom prst="rect">
            <a:avLst/>
          </a:prstGeom>
          <a:noFill/>
        </p:spPr>
        <p:txBody>
          <a:bodyPr wrap="square">
            <a:spAutoFit/>
          </a:bodyPr>
          <a:lstStyle/>
          <a:p>
            <a:pPr algn="ctr"/>
            <a:r>
              <a:rPr b="1">
                <a:solidFill>
                  <a:srgbClr val="697078"/>
                </a:solidFill>
                <a:latin typeface="Aptos"/>
              </a:rPr>
              <a:t>[existing surface]</a:t>
            </a:r>
          </a:p>
        </p:txBody>
      </p:sp>
      <p:sp>
        <p:nvSpPr>
          <p:cNvPr id="9" name="TextBox 8"/>
          <p:cNvSpPr txBox="1"/>
          <p:nvPr/>
        </p:nvSpPr>
        <p:spPr>
          <a:xfrm>
            <a:off x="6217920" y="1554480"/>
            <a:ext cx="5303520" cy="677108"/>
          </a:xfrm>
          <a:prstGeom prst="rect">
            <a:avLst/>
          </a:prstGeom>
          <a:noFill/>
        </p:spPr>
        <p:txBody>
          <a:bodyPr wrap="square">
            <a:spAutoFit/>
          </a:bodyPr>
          <a:lstStyle/>
          <a:p>
            <a:pPr algn="ctr"/>
            <a:r>
              <a:rPr sz="1900" b="1">
                <a:solidFill>
                  <a:srgbClr val="2E7A7B"/>
                </a:solidFill>
                <a:latin typeface="Aptos"/>
              </a:rPr>
              <a:t>PROPOSED: own performance × LOO peer quality → advancement</a:t>
            </a:r>
          </a:p>
        </p:txBody>
      </p:sp>
      <p:sp>
        <p:nvSpPr>
          <p:cNvPr id="10" name="TextBox 9"/>
          <p:cNvSpPr txBox="1"/>
          <p:nvPr/>
        </p:nvSpPr>
        <p:spPr>
          <a:xfrm>
            <a:off x="7315200" y="2971801"/>
            <a:ext cx="3200400" cy="430887"/>
          </a:xfrm>
          <a:prstGeom prst="rect">
            <a:avLst/>
          </a:prstGeom>
          <a:noFill/>
        </p:spPr>
        <p:txBody>
          <a:bodyPr wrap="square">
            <a:spAutoFit/>
          </a:bodyPr>
          <a:lstStyle/>
          <a:p>
            <a:pPr algn="ctr"/>
            <a:r>
              <a:rPr sz="2200" b="1">
                <a:solidFill>
                  <a:srgbClr val="6A4C93"/>
                </a:solidFill>
                <a:latin typeface="Aptos"/>
              </a:rPr>
              <a:t>[NEXT ANALYSIS]</a:t>
            </a:r>
          </a:p>
        </p:txBody>
      </p:sp>
      <p:sp>
        <p:nvSpPr>
          <p:cNvPr id="11" name="TextBox 10"/>
          <p:cNvSpPr txBox="1"/>
          <p:nvPr/>
        </p:nvSpPr>
        <p:spPr>
          <a:xfrm>
            <a:off x="1097280" y="5074920"/>
            <a:ext cx="10058400" cy="400110"/>
          </a:xfrm>
          <a:prstGeom prst="rect">
            <a:avLst/>
          </a:prstGeom>
          <a:noFill/>
        </p:spPr>
        <p:txBody>
          <a:bodyPr wrap="square">
            <a:spAutoFit/>
          </a:bodyPr>
          <a:lstStyle/>
          <a:p>
            <a:pPr algn="ctr"/>
            <a:r>
              <a:rPr sz="2000" b="1">
                <a:solidFill>
                  <a:srgbClr val="192A3E"/>
                </a:solidFill>
                <a:latin typeface="Aptos"/>
              </a:rPr>
              <a:t>Does the same pond affect every fish the same way?</a:t>
            </a:r>
          </a:p>
        </p:txBody>
      </p:sp>
      <p:sp>
        <p:nvSpPr>
          <p:cNvPr id="12" name="Rectangle 11"/>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Find existing surface; generate direct LOO surface.</a:t>
            </a:r>
          </a:p>
        </p:txBody>
      </p:sp>
      <p:sp>
        <p:nvSpPr>
          <p:cNvPr id="14" name="TextBox 13"/>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Is this an Army story?</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1005840" y="1828800"/>
            <a:ext cx="10149840" cy="1338828"/>
          </a:xfrm>
          <a:prstGeom prst="rect">
            <a:avLst/>
          </a:prstGeom>
          <a:noFill/>
        </p:spPr>
        <p:txBody>
          <a:bodyPr wrap="square">
            <a:spAutoFit/>
          </a:bodyPr>
          <a:lstStyle/>
          <a:p>
            <a:pPr algn="ctr"/>
            <a:r>
              <a:rPr sz="2700" b="1">
                <a:solidFill>
                  <a:srgbClr val="192A3E"/>
                </a:solidFill>
                <a:latin typeface="Aptos"/>
              </a:rPr>
              <a:t>Or is it a property of competitive systems in which individuals are embedded in local pools but compete for scarce advancement?</a:t>
            </a:r>
          </a:p>
        </p:txBody>
      </p:sp>
      <p:sp>
        <p:nvSpPr>
          <p:cNvPr id="8" name="TextBox 7"/>
          <p:cNvSpPr txBox="1"/>
          <p:nvPr/>
        </p:nvSpPr>
        <p:spPr>
          <a:xfrm>
            <a:off x="2743200" y="4069081"/>
            <a:ext cx="6675120" cy="523220"/>
          </a:xfrm>
          <a:prstGeom prst="rect">
            <a:avLst/>
          </a:prstGeom>
          <a:noFill/>
        </p:spPr>
        <p:txBody>
          <a:bodyPr wrap="square">
            <a:spAutoFit/>
          </a:bodyPr>
          <a:lstStyle/>
          <a:p>
            <a:pPr algn="ctr"/>
            <a:r>
              <a:rPr sz="2800" b="1">
                <a:solidFill>
                  <a:srgbClr val="2E5C8A"/>
                </a:solidFill>
                <a:latin typeface="Aptos"/>
              </a:rPr>
              <a:t>ARMY  →  ELSEWHERE</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Keep sparse.</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Go where performance is hard to argue about</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822960" y="1463040"/>
            <a:ext cx="5178021" cy="2203167"/>
          </a:xfrm>
          <a:prstGeom prst="rect">
            <a:avLst/>
          </a:prstGeom>
          <a:noFill/>
        </p:spPr>
        <p:txBody>
          <a:bodyPr wrap="none">
            <a:spAutoFit/>
          </a:bodyPr>
          <a:lstStyle/>
          <a:p>
            <a:pPr>
              <a:spcAft>
                <a:spcPts val="700"/>
              </a:spcAft>
              <a:defRPr sz="1800">
                <a:solidFill>
                  <a:srgbClr val="1C1F22"/>
                </a:solidFill>
                <a:latin typeface="Aptos"/>
              </a:defRPr>
            </a:pPr>
            <a:r>
              <a:t>NCAA men's basketball</a:t>
            </a:r>
          </a:p>
          <a:p>
            <a:pPr>
              <a:spcAft>
                <a:spcPts val="700"/>
              </a:spcAft>
              <a:defRPr sz="1800">
                <a:solidFill>
                  <a:srgbClr val="1C1F22"/>
                </a:solidFill>
                <a:latin typeface="Aptos"/>
              </a:defRPr>
            </a:pPr>
            <a:r>
              <a:t>Individual: player-season</a:t>
            </a:r>
          </a:p>
          <a:p>
            <a:pPr>
              <a:spcAft>
                <a:spcPts val="700"/>
              </a:spcAft>
              <a:defRPr sz="1800">
                <a:solidFill>
                  <a:srgbClr val="1C1F22"/>
                </a:solidFill>
                <a:latin typeface="Aptos"/>
              </a:defRPr>
            </a:pPr>
            <a:r>
              <a:t>Local pool: team-season</a:t>
            </a:r>
          </a:p>
          <a:p>
            <a:pPr>
              <a:spcAft>
                <a:spcPts val="700"/>
              </a:spcAft>
              <a:defRPr sz="1800">
                <a:solidFill>
                  <a:srgbClr val="1C1F22"/>
                </a:solidFill>
                <a:latin typeface="Aptos"/>
              </a:defRPr>
            </a:pPr>
            <a:r>
              <a:t>Performance: rich observable game statistics</a:t>
            </a:r>
          </a:p>
          <a:p>
            <a:pPr>
              <a:spcAft>
                <a:spcPts val="700"/>
              </a:spcAft>
              <a:defRPr sz="1800">
                <a:solidFill>
                  <a:srgbClr val="1C1F22"/>
                </a:solidFill>
                <a:latin typeface="Aptos"/>
              </a:defRPr>
            </a:pPr>
            <a:r>
              <a:t>Success: global NBA Draft selection</a:t>
            </a:r>
          </a:p>
          <a:p>
            <a:pPr>
              <a:spcAft>
                <a:spcPts val="700"/>
              </a:spcAft>
              <a:defRPr sz="1800">
                <a:solidFill>
                  <a:srgbClr val="1C1F22"/>
                </a:solidFill>
                <a:latin typeface="Aptos"/>
              </a:defRPr>
            </a:pPr>
            <a:r>
              <a:t>Scientific reason: performance is unusually legible</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Lock canonical MBB performance metric.</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Talent wins here, too</a:t>
            </a:r>
          </a:p>
        </p:txBody>
      </p:sp>
      <p:sp>
        <p:nvSpPr>
          <p:cNvPr id="5" name="Rounded Rectangle 4"/>
          <p:cNvSpPr/>
          <p:nvPr/>
        </p:nvSpPr>
        <p:spPr>
          <a:xfrm>
            <a:off x="10378440" y="292608"/>
            <a:ext cx="1417320" cy="384048"/>
          </a:xfrm>
          <a:prstGeom prst="roundRect">
            <a:avLst/>
          </a:prstGeom>
          <a:solidFill>
            <a:srgbClr val="347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RESULT</a:t>
            </a:r>
          </a:p>
        </p:txBody>
      </p:sp>
      <p:sp>
        <p:nvSpPr>
          <p:cNvPr id="7" name="TextBox 6"/>
          <p:cNvSpPr txBox="1"/>
          <p:nvPr/>
        </p:nvSpPr>
        <p:spPr>
          <a:xfrm>
            <a:off x="914400" y="1417320"/>
            <a:ext cx="10332720" cy="446276"/>
          </a:xfrm>
          <a:prstGeom prst="rect">
            <a:avLst/>
          </a:prstGeom>
          <a:noFill/>
        </p:spPr>
        <p:txBody>
          <a:bodyPr wrap="square">
            <a:spAutoFit/>
          </a:bodyPr>
          <a:lstStyle/>
          <a:p>
            <a:pPr algn="ctr"/>
            <a:r>
              <a:rPr sz="2300" b="1">
                <a:solidFill>
                  <a:srgbClr val="697078"/>
                </a:solidFill>
                <a:latin typeface="Aptos"/>
              </a:rPr>
              <a:t>[PLACEHOLDER: MBB naïve performance → draft plot]</a:t>
            </a:r>
          </a:p>
        </p:txBody>
      </p:sp>
      <p:sp>
        <p:nvSpPr>
          <p:cNvPr id="8" name="TextBox 7"/>
          <p:cNvSpPr txBox="1"/>
          <p:nvPr/>
        </p:nvSpPr>
        <p:spPr>
          <a:xfrm>
            <a:off x="1097280" y="4892040"/>
            <a:ext cx="9966960" cy="430887"/>
          </a:xfrm>
          <a:prstGeom prst="rect">
            <a:avLst/>
          </a:prstGeom>
          <a:noFill/>
        </p:spPr>
        <p:txBody>
          <a:bodyPr wrap="square">
            <a:spAutoFit/>
          </a:bodyPr>
          <a:lstStyle/>
          <a:p>
            <a:pPr algn="ctr"/>
            <a:r>
              <a:rPr sz="2200" b="1">
                <a:solidFill>
                  <a:srgbClr val="192A3E"/>
                </a:solidFill>
                <a:latin typeface="Aptos"/>
              </a:rPr>
              <a:t>Better individual performance strongly predicts selection.</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Insert canonical naïve MBB plot.</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Does the pond still matter?</a:t>
            </a:r>
          </a:p>
        </p:txBody>
      </p:sp>
      <p:sp>
        <p:nvSpPr>
          <p:cNvPr id="5" name="Rounded Rectangle 4"/>
          <p:cNvSpPr/>
          <p:nvPr/>
        </p:nvSpPr>
        <p:spPr>
          <a:xfrm>
            <a:off x="10378440" y="292608"/>
            <a:ext cx="1417320" cy="384048"/>
          </a:xfrm>
          <a:prstGeom prst="roundRect">
            <a:avLst/>
          </a:prstGeom>
          <a:solidFill>
            <a:srgbClr val="347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RESULT</a:t>
            </a:r>
          </a:p>
        </p:txBody>
      </p:sp>
      <p:sp>
        <p:nvSpPr>
          <p:cNvPr id="7" name="TextBox 6"/>
          <p:cNvSpPr txBox="1"/>
          <p:nvPr/>
        </p:nvSpPr>
        <p:spPr>
          <a:xfrm>
            <a:off x="914400" y="1371600"/>
            <a:ext cx="10332720" cy="446276"/>
          </a:xfrm>
          <a:prstGeom prst="rect">
            <a:avLst/>
          </a:prstGeom>
          <a:noFill/>
        </p:spPr>
        <p:txBody>
          <a:bodyPr wrap="square">
            <a:spAutoFit/>
          </a:bodyPr>
          <a:lstStyle/>
          <a:p>
            <a:pPr algn="ctr"/>
            <a:r>
              <a:rPr sz="2300" b="1">
                <a:solidFill>
                  <a:srgbClr val="697078"/>
                </a:solidFill>
                <a:latin typeface="Aptos"/>
              </a:rPr>
              <a:t>[PLACEHOLDER: cleaned MBB HERO]</a:t>
            </a:r>
          </a:p>
        </p:txBody>
      </p:sp>
      <p:sp>
        <p:nvSpPr>
          <p:cNvPr id="8" name="TextBox 7"/>
          <p:cNvSpPr txBox="1"/>
          <p:nvPr/>
        </p:nvSpPr>
        <p:spPr>
          <a:xfrm>
            <a:off x="1097280" y="4846320"/>
            <a:ext cx="9966960" cy="430887"/>
          </a:xfrm>
          <a:prstGeom prst="rect">
            <a:avLst/>
          </a:prstGeom>
          <a:noFill/>
        </p:spPr>
        <p:txBody>
          <a:bodyPr wrap="square">
            <a:spAutoFit/>
          </a:bodyPr>
          <a:lstStyle/>
          <a:p>
            <a:pPr algn="ctr"/>
            <a:r>
              <a:rPr sz="2200" b="1">
                <a:solidFill>
                  <a:srgbClr val="192A3E"/>
                </a:solidFill>
                <a:latin typeface="Aptos"/>
              </a:rPr>
              <a:t>Same question. Weaker right-hand tail.</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Insert cleaned HERO; cleaning rationale goes in notes/robustness.</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A boundary condition?</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HYPOTHESIS</a:t>
            </a:r>
          </a:p>
        </p:txBody>
      </p:sp>
      <p:sp>
        <p:nvSpPr>
          <p:cNvPr id="7" name="TextBox 6"/>
          <p:cNvSpPr txBox="1"/>
          <p:nvPr/>
        </p:nvSpPr>
        <p:spPr>
          <a:xfrm>
            <a:off x="914400" y="1508760"/>
            <a:ext cx="10332720" cy="507831"/>
          </a:xfrm>
          <a:prstGeom prst="rect">
            <a:avLst/>
          </a:prstGeom>
          <a:noFill/>
        </p:spPr>
        <p:txBody>
          <a:bodyPr wrap="square">
            <a:spAutoFit/>
          </a:bodyPr>
          <a:lstStyle/>
          <a:p>
            <a:pPr algn="ctr"/>
            <a:r>
              <a:rPr sz="2700" b="1">
                <a:solidFill>
                  <a:srgbClr val="192A3E"/>
                </a:solidFill>
                <a:latin typeface="Aptos"/>
              </a:rPr>
              <a:t>NBA Draft selection is extraordinarily scarce.</a:t>
            </a:r>
          </a:p>
        </p:txBody>
      </p:sp>
      <p:sp>
        <p:nvSpPr>
          <p:cNvPr id="8" name="TextBox 7"/>
          <p:cNvSpPr txBox="1"/>
          <p:nvPr/>
        </p:nvSpPr>
        <p:spPr>
          <a:xfrm>
            <a:off x="3886200" y="2514600"/>
            <a:ext cx="4389120" cy="738664"/>
          </a:xfrm>
          <a:prstGeom prst="rect">
            <a:avLst/>
          </a:prstGeom>
          <a:noFill/>
        </p:spPr>
        <p:txBody>
          <a:bodyPr wrap="square">
            <a:spAutoFit/>
          </a:bodyPr>
          <a:lstStyle/>
          <a:p>
            <a:pPr algn="ctr"/>
            <a:r>
              <a:rPr sz="4200" b="1">
                <a:solidFill>
                  <a:srgbClr val="AA3F3F"/>
                </a:solidFill>
                <a:latin typeface="Aptos"/>
              </a:rPr>
              <a:t>≈ 2.7%</a:t>
            </a:r>
          </a:p>
        </p:txBody>
      </p:sp>
      <p:sp>
        <p:nvSpPr>
          <p:cNvPr id="9" name="TextBox 8"/>
          <p:cNvSpPr txBox="1"/>
          <p:nvPr/>
        </p:nvSpPr>
        <p:spPr>
          <a:xfrm>
            <a:off x="2743200" y="3474721"/>
            <a:ext cx="6675120" cy="307777"/>
          </a:xfrm>
          <a:prstGeom prst="rect">
            <a:avLst/>
          </a:prstGeom>
          <a:noFill/>
        </p:spPr>
        <p:txBody>
          <a:bodyPr wrap="square">
            <a:spAutoFit/>
          </a:bodyPr>
          <a:lstStyle/>
          <a:p>
            <a:pPr algn="ctr"/>
            <a:r>
              <a:rPr sz="1400">
                <a:solidFill>
                  <a:srgbClr val="697078"/>
                </a:solidFill>
                <a:latin typeface="Aptos"/>
              </a:rPr>
              <a:t>current working rate — VERIFY denominator</a:t>
            </a:r>
          </a:p>
        </p:txBody>
      </p:sp>
      <p:sp>
        <p:nvSpPr>
          <p:cNvPr id="10" name="TextBox 9"/>
          <p:cNvSpPr txBox="1"/>
          <p:nvPr/>
        </p:nvSpPr>
        <p:spPr>
          <a:xfrm>
            <a:off x="1051560" y="4343400"/>
            <a:ext cx="10058400" cy="769441"/>
          </a:xfrm>
          <a:prstGeom prst="rect">
            <a:avLst/>
          </a:prstGeom>
          <a:noFill/>
        </p:spPr>
        <p:txBody>
          <a:bodyPr wrap="square">
            <a:spAutoFit/>
          </a:bodyPr>
          <a:lstStyle/>
          <a:p>
            <a:pPr algn="ctr"/>
            <a:r>
              <a:rPr sz="2200" b="1">
                <a:solidFill>
                  <a:srgbClr val="2E7A7B"/>
                </a:solidFill>
                <a:latin typeface="Aptos"/>
              </a:rPr>
              <a:t>What happens to the response curve when opportunities become extremely scarce?</a:t>
            </a:r>
          </a:p>
        </p:txBody>
      </p:sp>
      <p:sp>
        <p:nvSpPr>
          <p:cNvPr id="11" name="Rectangle 1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Verify exact denominator; scarcity is candidate mechanism.</a:t>
            </a:r>
          </a:p>
        </p:txBody>
      </p:sp>
      <p:sp>
        <p:nvSpPr>
          <p:cNvPr id="13" name="TextBox 1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But basketball is still the easy case</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914400" y="1554480"/>
            <a:ext cx="10332720" cy="507831"/>
          </a:xfrm>
          <a:prstGeom prst="rect">
            <a:avLst/>
          </a:prstGeom>
          <a:noFill/>
        </p:spPr>
        <p:txBody>
          <a:bodyPr wrap="square">
            <a:spAutoFit/>
          </a:bodyPr>
          <a:lstStyle/>
          <a:p>
            <a:pPr algn="ctr"/>
            <a:r>
              <a:rPr sz="2700" b="1">
                <a:solidFill>
                  <a:srgbClr val="192A3E"/>
                </a:solidFill>
                <a:latin typeface="Aptos"/>
              </a:rPr>
              <a:t>Measuring performance is comparatively easy.</a:t>
            </a:r>
          </a:p>
        </p:txBody>
      </p:sp>
      <p:sp>
        <p:nvSpPr>
          <p:cNvPr id="8" name="TextBox 7"/>
          <p:cNvSpPr txBox="1"/>
          <p:nvPr/>
        </p:nvSpPr>
        <p:spPr>
          <a:xfrm>
            <a:off x="1097280" y="2743200"/>
            <a:ext cx="9966960" cy="861774"/>
          </a:xfrm>
          <a:prstGeom prst="rect">
            <a:avLst/>
          </a:prstGeom>
          <a:noFill/>
        </p:spPr>
        <p:txBody>
          <a:bodyPr wrap="square">
            <a:spAutoFit/>
          </a:bodyPr>
          <a:lstStyle/>
          <a:p>
            <a:pPr algn="ctr"/>
            <a:r>
              <a:rPr sz="2500" b="1">
                <a:solidFill>
                  <a:srgbClr val="2E7A7B"/>
                </a:solidFill>
                <a:latin typeface="Aptos"/>
              </a:rPr>
              <a:t>What happens when productivity is observable — but recognition and selection are more socially mediated?</a:t>
            </a:r>
          </a:p>
        </p:txBody>
      </p:sp>
      <p:sp>
        <p:nvSpPr>
          <p:cNvPr id="9" name="TextBox 8"/>
          <p:cNvSpPr txBox="1"/>
          <p:nvPr/>
        </p:nvSpPr>
        <p:spPr>
          <a:xfrm>
            <a:off x="3886200" y="4572001"/>
            <a:ext cx="4389120" cy="523220"/>
          </a:xfrm>
          <a:prstGeom prst="rect">
            <a:avLst/>
          </a:prstGeom>
          <a:noFill/>
        </p:spPr>
        <p:txBody>
          <a:bodyPr wrap="square">
            <a:spAutoFit/>
          </a:bodyPr>
          <a:lstStyle/>
          <a:p>
            <a:pPr algn="ctr"/>
            <a:r>
              <a:rPr sz="2800" b="1">
                <a:solidFill>
                  <a:srgbClr val="2E5C8A"/>
                </a:solidFill>
                <a:latin typeface="Aptos"/>
              </a:rPr>
              <a:t>→  ACADEMIA</a:t>
            </a:r>
          </a:p>
        </p:txBody>
      </p:sp>
      <p:sp>
        <p:nvSpPr>
          <p:cNvPr id="10" name="Rectangle 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Make academia scientifically necessary.</a:t>
            </a:r>
          </a:p>
        </p:txBody>
      </p:sp>
      <p:sp>
        <p:nvSpPr>
          <p:cNvPr id="12" name="TextBox 1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Our academic laboratory: R1 computer science</a:t>
            </a:r>
          </a:p>
        </p:txBody>
      </p:sp>
      <p:sp>
        <p:nvSpPr>
          <p:cNvPr id="5" name="Rounded Rectangle 4"/>
          <p:cNvSpPr/>
          <p:nvPr/>
        </p:nvSpPr>
        <p:spPr>
          <a:xfrm>
            <a:off x="10378440" y="292608"/>
            <a:ext cx="1417320" cy="384048"/>
          </a:xfrm>
          <a:prstGeom prst="roundRect">
            <a:avLst/>
          </a:prstGeom>
          <a:solidFill>
            <a:srgbClr val="697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PLACEHOLDER</a:t>
            </a:r>
          </a:p>
        </p:txBody>
      </p:sp>
      <p:sp>
        <p:nvSpPr>
          <p:cNvPr id="7" name="TextBox 6"/>
          <p:cNvSpPr txBox="1"/>
          <p:nvPr/>
        </p:nvSpPr>
        <p:spPr>
          <a:xfrm>
            <a:off x="822960" y="1463040"/>
            <a:ext cx="7167347" cy="2203167"/>
          </a:xfrm>
          <a:prstGeom prst="rect">
            <a:avLst/>
          </a:prstGeom>
          <a:noFill/>
        </p:spPr>
        <p:txBody>
          <a:bodyPr wrap="none">
            <a:spAutoFit/>
          </a:bodyPr>
          <a:lstStyle/>
          <a:p>
            <a:pPr>
              <a:spcAft>
                <a:spcPts val="700"/>
              </a:spcAft>
              <a:defRPr sz="1800">
                <a:solidFill>
                  <a:srgbClr val="1C1F22"/>
                </a:solidFill>
                <a:latin typeface="Aptos"/>
              </a:defRPr>
            </a:pPr>
            <a:r>
              <a:t>Individual: assistant professor in decision cohort</a:t>
            </a:r>
          </a:p>
          <a:p>
            <a:pPr>
              <a:spcAft>
                <a:spcPts val="700"/>
              </a:spcAft>
              <a:defRPr sz="1800">
                <a:solidFill>
                  <a:srgbClr val="1C1F22"/>
                </a:solidFill>
                <a:latin typeface="Aptos"/>
              </a:defRPr>
            </a:pPr>
            <a:r>
              <a:t>Outcome: resolved tenure vs attrition at decision year</a:t>
            </a:r>
          </a:p>
          <a:p>
            <a:pPr>
              <a:spcAft>
                <a:spcPts val="700"/>
              </a:spcAft>
              <a:defRPr sz="1800">
                <a:solidFill>
                  <a:srgbClr val="1C1F22"/>
                </a:solidFill>
                <a:latin typeface="Aptos"/>
              </a:defRPr>
            </a:pPr>
            <a:r>
              <a:t>Pool: department × decision year; whole observed roster</a:t>
            </a:r>
          </a:p>
          <a:p>
            <a:pPr>
              <a:spcAft>
                <a:spcPts val="700"/>
              </a:spcAft>
              <a:defRPr sz="1800">
                <a:solidFill>
                  <a:srgbClr val="1C1F22"/>
                </a:solidFill>
                <a:latin typeface="Aptos"/>
              </a:defRPr>
            </a:pPr>
            <a:r>
              <a:t>Own performance: career publication rate at decision year</a:t>
            </a:r>
          </a:p>
          <a:p>
            <a:pPr>
              <a:spcAft>
                <a:spcPts val="700"/>
              </a:spcAft>
              <a:defRPr sz="1800">
                <a:solidFill>
                  <a:srgbClr val="1C1F22"/>
                </a:solidFill>
                <a:latin typeface="Aptos"/>
              </a:defRPr>
            </a:pPr>
            <a:r>
              <a:t>Peer environment: LOO department mean career publication rate</a:t>
            </a:r>
          </a:p>
          <a:p>
            <a:pPr>
              <a:spcAft>
                <a:spcPts val="700"/>
              </a:spcAft>
              <a:defRPr sz="1800">
                <a:solidFill>
                  <a:srgbClr val="1C1F22"/>
                </a:solidFill>
                <a:latin typeface="Aptos"/>
              </a:defRPr>
            </a:pPr>
            <a:r>
              <a:t>Current pilot: ~168 R1 CS departments; ~391 resolved cases — VERIFY</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Refresh counts and matching.</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Talent wins here, too?</a:t>
            </a:r>
          </a:p>
        </p:txBody>
      </p:sp>
      <p:sp>
        <p:nvSpPr>
          <p:cNvPr id="5" name="Rounded Rectangle 4"/>
          <p:cNvSpPr/>
          <p:nvPr/>
        </p:nvSpPr>
        <p:spPr>
          <a:xfrm>
            <a:off x="10378440" y="292608"/>
            <a:ext cx="1417320" cy="384048"/>
          </a:xfrm>
          <a:prstGeom prst="roundRect">
            <a:avLst/>
          </a:prstGeom>
          <a:solidFill>
            <a:srgbClr val="697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PLACEHOLDER</a:t>
            </a:r>
          </a:p>
        </p:txBody>
      </p:sp>
      <p:sp>
        <p:nvSpPr>
          <p:cNvPr id="7" name="TextBox 6"/>
          <p:cNvSpPr txBox="1"/>
          <p:nvPr/>
        </p:nvSpPr>
        <p:spPr>
          <a:xfrm>
            <a:off x="914400" y="1417320"/>
            <a:ext cx="10332720" cy="446276"/>
          </a:xfrm>
          <a:prstGeom prst="rect">
            <a:avLst/>
          </a:prstGeom>
          <a:noFill/>
        </p:spPr>
        <p:txBody>
          <a:bodyPr wrap="square">
            <a:spAutoFit/>
          </a:bodyPr>
          <a:lstStyle/>
          <a:p>
            <a:pPr algn="ctr"/>
            <a:r>
              <a:rPr sz="2300" b="1">
                <a:solidFill>
                  <a:srgbClr val="697078"/>
                </a:solidFill>
                <a:latin typeface="Aptos"/>
              </a:rPr>
              <a:t>[PLACEHOLDER: own career publication rate → tenure]</a:t>
            </a:r>
          </a:p>
        </p:txBody>
      </p:sp>
      <p:sp>
        <p:nvSpPr>
          <p:cNvPr id="8" name="TextBox 7"/>
          <p:cNvSpPr txBox="1"/>
          <p:nvPr/>
        </p:nvSpPr>
        <p:spPr>
          <a:xfrm>
            <a:off x="1097280" y="4892040"/>
            <a:ext cx="9966960" cy="415498"/>
          </a:xfrm>
          <a:prstGeom prst="rect">
            <a:avLst/>
          </a:prstGeom>
          <a:noFill/>
        </p:spPr>
        <p:txBody>
          <a:bodyPr wrap="square">
            <a:spAutoFit/>
          </a:bodyPr>
          <a:lstStyle/>
          <a:p>
            <a:pPr algn="ctr"/>
            <a:r>
              <a:rPr sz="2100" b="1">
                <a:solidFill>
                  <a:srgbClr val="192A3E"/>
                </a:solidFill>
                <a:latin typeface="Aptos"/>
              </a:rPr>
              <a:t>Baseline to verify with expanded academic data.</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Insert/refresh naïve plot.</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III — GENERALITY</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Does the department matter?</a:t>
            </a:r>
          </a:p>
        </p:txBody>
      </p:sp>
      <p:sp>
        <p:nvSpPr>
          <p:cNvPr id="5" name="Rounded Rectangle 4"/>
          <p:cNvSpPr/>
          <p:nvPr/>
        </p:nvSpPr>
        <p:spPr>
          <a:xfrm>
            <a:off x="10378440" y="292608"/>
            <a:ext cx="1417320" cy="384048"/>
          </a:xfrm>
          <a:prstGeom prst="roundRect">
            <a:avLst/>
          </a:prstGeom>
          <a:solidFill>
            <a:srgbClr val="697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PLACEHOLDER</a:t>
            </a:r>
          </a:p>
        </p:txBody>
      </p:sp>
      <p:sp>
        <p:nvSpPr>
          <p:cNvPr id="7" name="TextBox 6"/>
          <p:cNvSpPr txBox="1"/>
          <p:nvPr/>
        </p:nvSpPr>
        <p:spPr>
          <a:xfrm>
            <a:off x="914400" y="1371600"/>
            <a:ext cx="10332720" cy="446276"/>
          </a:xfrm>
          <a:prstGeom prst="rect">
            <a:avLst/>
          </a:prstGeom>
          <a:noFill/>
        </p:spPr>
        <p:txBody>
          <a:bodyPr wrap="square">
            <a:spAutoFit/>
          </a:bodyPr>
          <a:lstStyle/>
          <a:p>
            <a:pPr algn="ctr"/>
            <a:r>
              <a:rPr sz="2300" b="1">
                <a:solidFill>
                  <a:srgbClr val="697078"/>
                </a:solidFill>
                <a:latin typeface="Aptos"/>
              </a:rPr>
              <a:t>[PLACEHOLDER: R1 CS LOO HERO]</a:t>
            </a:r>
          </a:p>
        </p:txBody>
      </p:sp>
      <p:sp>
        <p:nvSpPr>
          <p:cNvPr id="8" name="TextBox 7"/>
          <p:cNvSpPr txBox="1"/>
          <p:nvPr/>
        </p:nvSpPr>
        <p:spPr>
          <a:xfrm>
            <a:off x="1005840" y="4846320"/>
            <a:ext cx="10149840" cy="400110"/>
          </a:xfrm>
          <a:prstGeom prst="rect">
            <a:avLst/>
          </a:prstGeom>
          <a:noFill/>
        </p:spPr>
        <p:txBody>
          <a:bodyPr wrap="square">
            <a:spAutoFit/>
          </a:bodyPr>
          <a:lstStyle/>
          <a:p>
            <a:pPr algn="ctr"/>
            <a:r>
              <a:rPr sz="2000" b="1">
                <a:solidFill>
                  <a:srgbClr val="192A3E"/>
                </a:solidFill>
                <a:latin typeface="Aptos"/>
              </a:rPr>
              <a:t>Promising geometry; current sample is not yet the evidentiary standard we want.</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Expand R1 scrape and rerun pipeline.</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Three domains. One experiment.</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1005840" y="1508760"/>
            <a:ext cx="10058400" cy="461665"/>
          </a:xfrm>
          <a:prstGeom prst="rect">
            <a:avLst/>
          </a:prstGeom>
          <a:noFill/>
        </p:spPr>
        <p:txBody>
          <a:bodyPr wrap="square">
            <a:spAutoFit/>
          </a:bodyPr>
          <a:lstStyle/>
          <a:p>
            <a:pPr algn="ctr"/>
            <a:r>
              <a:rPr sz="2400" b="1">
                <a:solidFill>
                  <a:srgbClr val="192A3E"/>
                </a:solidFill>
                <a:latin typeface="Aptos"/>
              </a:rPr>
              <a:t>1. Does own performance predict success?</a:t>
            </a:r>
          </a:p>
        </p:txBody>
      </p:sp>
      <p:sp>
        <p:nvSpPr>
          <p:cNvPr id="8" name="TextBox 7"/>
          <p:cNvSpPr txBox="1"/>
          <p:nvPr/>
        </p:nvSpPr>
        <p:spPr>
          <a:xfrm>
            <a:off x="3291840" y="2240281"/>
            <a:ext cx="5577840" cy="430887"/>
          </a:xfrm>
          <a:prstGeom prst="rect">
            <a:avLst/>
          </a:prstGeom>
          <a:noFill/>
        </p:spPr>
        <p:txBody>
          <a:bodyPr wrap="square">
            <a:spAutoFit/>
          </a:bodyPr>
          <a:lstStyle/>
          <a:p>
            <a:pPr algn="ctr"/>
            <a:r>
              <a:rPr sz="2200" b="1">
                <a:solidFill>
                  <a:srgbClr val="2E5C8A"/>
                </a:solidFill>
                <a:latin typeface="Aptos"/>
              </a:rPr>
              <a:t>Own performance  →  Success</a:t>
            </a:r>
          </a:p>
        </p:txBody>
      </p:sp>
      <p:sp>
        <p:nvSpPr>
          <p:cNvPr id="9" name="TextBox 8"/>
          <p:cNvSpPr txBox="1"/>
          <p:nvPr/>
        </p:nvSpPr>
        <p:spPr>
          <a:xfrm>
            <a:off x="1005840" y="3154680"/>
            <a:ext cx="10058400" cy="461665"/>
          </a:xfrm>
          <a:prstGeom prst="rect">
            <a:avLst/>
          </a:prstGeom>
          <a:noFill/>
        </p:spPr>
        <p:txBody>
          <a:bodyPr wrap="square">
            <a:spAutoFit/>
          </a:bodyPr>
          <a:lstStyle/>
          <a:p>
            <a:pPr algn="ctr"/>
            <a:r>
              <a:rPr sz="2400" b="1">
                <a:solidFill>
                  <a:srgbClr val="192A3E"/>
                </a:solidFill>
                <a:latin typeface="Aptos"/>
              </a:rPr>
              <a:t>2. Given own performance, does the peer environment still matter?</a:t>
            </a:r>
          </a:p>
        </p:txBody>
      </p:sp>
      <p:sp>
        <p:nvSpPr>
          <p:cNvPr id="10" name="TextBox 9"/>
          <p:cNvSpPr txBox="1"/>
          <p:nvPr/>
        </p:nvSpPr>
        <p:spPr>
          <a:xfrm>
            <a:off x="2377440" y="4069081"/>
            <a:ext cx="7406640" cy="430887"/>
          </a:xfrm>
          <a:prstGeom prst="rect">
            <a:avLst/>
          </a:prstGeom>
          <a:noFill/>
        </p:spPr>
        <p:txBody>
          <a:bodyPr wrap="square">
            <a:spAutoFit/>
          </a:bodyPr>
          <a:lstStyle/>
          <a:p>
            <a:pPr algn="ctr"/>
            <a:r>
              <a:rPr sz="2200" b="1">
                <a:solidFill>
                  <a:srgbClr val="2E7A7B"/>
                </a:solidFill>
                <a:latin typeface="Aptos"/>
              </a:rPr>
              <a:t>Peer environment  →  Success  |  Own performance</a:t>
            </a:r>
          </a:p>
        </p:txBody>
      </p:sp>
      <p:sp>
        <p:nvSpPr>
          <p:cNvPr id="11" name="TextBox 10"/>
          <p:cNvSpPr txBox="1"/>
          <p:nvPr/>
        </p:nvSpPr>
        <p:spPr>
          <a:xfrm>
            <a:off x="2194560" y="5074920"/>
            <a:ext cx="7863840" cy="369332"/>
          </a:xfrm>
          <a:prstGeom prst="rect">
            <a:avLst/>
          </a:prstGeom>
          <a:noFill/>
        </p:spPr>
        <p:txBody>
          <a:bodyPr wrap="square">
            <a:spAutoFit/>
          </a:bodyPr>
          <a:lstStyle/>
          <a:p>
            <a:pPr algn="ctr"/>
            <a:r>
              <a:rPr b="1">
                <a:solidFill>
                  <a:srgbClr val="6A4C93"/>
                </a:solidFill>
                <a:latin typeface="Aptos"/>
              </a:rPr>
              <a:t>ARMY     •     NCAA MBB     •     R1 CS</a:t>
            </a:r>
          </a:p>
        </p:txBody>
      </p:sp>
      <p:sp>
        <p:nvSpPr>
          <p:cNvPr id="12" name="Rectangle 11"/>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Harmonize estimands/outcomes.</a:t>
            </a:r>
          </a:p>
        </p:txBody>
      </p:sp>
      <p:sp>
        <p:nvSpPr>
          <p:cNvPr id="14" name="TextBox 13"/>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Same network skeleton. Different competitive systems.</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502920" y="1325880"/>
            <a:ext cx="2377440" cy="307777"/>
          </a:xfrm>
          <a:prstGeom prst="rect">
            <a:avLst/>
          </a:prstGeom>
          <a:noFill/>
        </p:spPr>
        <p:txBody>
          <a:bodyPr wrap="square">
            <a:spAutoFit/>
          </a:bodyPr>
          <a:lstStyle/>
          <a:p>
            <a:pPr algn="ctr"/>
            <a:r>
              <a:rPr sz="1400" b="1">
                <a:solidFill>
                  <a:srgbClr val="192A3E"/>
                </a:solidFill>
                <a:latin typeface="Aptos"/>
              </a:rPr>
              <a:t>Dimension</a:t>
            </a:r>
          </a:p>
        </p:txBody>
      </p:sp>
      <p:sp>
        <p:nvSpPr>
          <p:cNvPr id="8" name="TextBox 7"/>
          <p:cNvSpPr txBox="1"/>
          <p:nvPr/>
        </p:nvSpPr>
        <p:spPr>
          <a:xfrm>
            <a:off x="2971800" y="1325881"/>
            <a:ext cx="2743200" cy="307777"/>
          </a:xfrm>
          <a:prstGeom prst="rect">
            <a:avLst/>
          </a:prstGeom>
          <a:noFill/>
        </p:spPr>
        <p:txBody>
          <a:bodyPr wrap="square">
            <a:spAutoFit/>
          </a:bodyPr>
          <a:lstStyle/>
          <a:p>
            <a:pPr algn="ctr"/>
            <a:r>
              <a:rPr sz="1400" b="1">
                <a:solidFill>
                  <a:srgbClr val="192A3E"/>
                </a:solidFill>
                <a:latin typeface="Aptos"/>
              </a:rPr>
              <a:t>Army</a:t>
            </a:r>
          </a:p>
        </p:txBody>
      </p:sp>
      <p:sp>
        <p:nvSpPr>
          <p:cNvPr id="9" name="TextBox 8"/>
          <p:cNvSpPr txBox="1"/>
          <p:nvPr/>
        </p:nvSpPr>
        <p:spPr>
          <a:xfrm>
            <a:off x="5897880" y="1325881"/>
            <a:ext cx="2743200" cy="307777"/>
          </a:xfrm>
          <a:prstGeom prst="rect">
            <a:avLst/>
          </a:prstGeom>
          <a:noFill/>
        </p:spPr>
        <p:txBody>
          <a:bodyPr wrap="square">
            <a:spAutoFit/>
          </a:bodyPr>
          <a:lstStyle/>
          <a:p>
            <a:pPr algn="ctr"/>
            <a:r>
              <a:rPr sz="1400" b="1">
                <a:solidFill>
                  <a:srgbClr val="192A3E"/>
                </a:solidFill>
                <a:latin typeface="Aptos"/>
              </a:rPr>
              <a:t>NCAA MBB</a:t>
            </a:r>
          </a:p>
        </p:txBody>
      </p:sp>
      <p:sp>
        <p:nvSpPr>
          <p:cNvPr id="10" name="TextBox 9"/>
          <p:cNvSpPr txBox="1"/>
          <p:nvPr/>
        </p:nvSpPr>
        <p:spPr>
          <a:xfrm>
            <a:off x="8732520" y="1325881"/>
            <a:ext cx="2834640" cy="307777"/>
          </a:xfrm>
          <a:prstGeom prst="rect">
            <a:avLst/>
          </a:prstGeom>
          <a:noFill/>
        </p:spPr>
        <p:txBody>
          <a:bodyPr wrap="square">
            <a:spAutoFit/>
          </a:bodyPr>
          <a:lstStyle/>
          <a:p>
            <a:pPr algn="ctr"/>
            <a:r>
              <a:rPr sz="1400" b="1">
                <a:solidFill>
                  <a:srgbClr val="192A3E"/>
                </a:solidFill>
                <a:latin typeface="Aptos"/>
              </a:rPr>
              <a:t>R1 CS</a:t>
            </a:r>
          </a:p>
        </p:txBody>
      </p:sp>
      <p:sp>
        <p:nvSpPr>
          <p:cNvPr id="11" name="TextBox 10"/>
          <p:cNvSpPr txBox="1"/>
          <p:nvPr/>
        </p:nvSpPr>
        <p:spPr>
          <a:xfrm>
            <a:off x="502920" y="1828800"/>
            <a:ext cx="2377440" cy="261610"/>
          </a:xfrm>
          <a:prstGeom prst="rect">
            <a:avLst/>
          </a:prstGeom>
          <a:noFill/>
        </p:spPr>
        <p:txBody>
          <a:bodyPr wrap="square">
            <a:spAutoFit/>
          </a:bodyPr>
          <a:lstStyle/>
          <a:p>
            <a:pPr algn="ctr"/>
            <a:r>
              <a:rPr sz="1100" b="1">
                <a:solidFill>
                  <a:srgbClr val="2E5C8A"/>
                </a:solidFill>
                <a:latin typeface="Aptos"/>
              </a:rPr>
              <a:t>Pool</a:t>
            </a:r>
          </a:p>
        </p:txBody>
      </p:sp>
      <p:sp>
        <p:nvSpPr>
          <p:cNvPr id="12" name="TextBox 11"/>
          <p:cNvSpPr txBox="1"/>
          <p:nvPr/>
        </p:nvSpPr>
        <p:spPr>
          <a:xfrm>
            <a:off x="2971800" y="1828801"/>
            <a:ext cx="2743200" cy="261610"/>
          </a:xfrm>
          <a:prstGeom prst="rect">
            <a:avLst/>
          </a:prstGeom>
          <a:noFill/>
        </p:spPr>
        <p:txBody>
          <a:bodyPr wrap="square">
            <a:spAutoFit/>
          </a:bodyPr>
          <a:lstStyle/>
          <a:p>
            <a:pPr algn="ctr"/>
            <a:r>
              <a:rPr sz="1100">
                <a:solidFill>
                  <a:srgbClr val="1C1F22"/>
                </a:solidFill>
                <a:latin typeface="Aptos"/>
              </a:rPr>
              <a:t>Rating pool</a:t>
            </a:r>
          </a:p>
        </p:txBody>
      </p:sp>
      <p:sp>
        <p:nvSpPr>
          <p:cNvPr id="13" name="TextBox 12"/>
          <p:cNvSpPr txBox="1"/>
          <p:nvPr/>
        </p:nvSpPr>
        <p:spPr>
          <a:xfrm>
            <a:off x="5897880" y="1828801"/>
            <a:ext cx="2743200" cy="261610"/>
          </a:xfrm>
          <a:prstGeom prst="rect">
            <a:avLst/>
          </a:prstGeom>
          <a:noFill/>
        </p:spPr>
        <p:txBody>
          <a:bodyPr wrap="square">
            <a:spAutoFit/>
          </a:bodyPr>
          <a:lstStyle/>
          <a:p>
            <a:pPr algn="ctr"/>
            <a:r>
              <a:rPr sz="1100">
                <a:solidFill>
                  <a:srgbClr val="1C1F22"/>
                </a:solidFill>
                <a:latin typeface="Aptos"/>
              </a:rPr>
              <a:t>Team-season</a:t>
            </a:r>
          </a:p>
        </p:txBody>
      </p:sp>
      <p:sp>
        <p:nvSpPr>
          <p:cNvPr id="14" name="TextBox 13"/>
          <p:cNvSpPr txBox="1"/>
          <p:nvPr/>
        </p:nvSpPr>
        <p:spPr>
          <a:xfrm>
            <a:off x="8732520" y="1828801"/>
            <a:ext cx="2834640" cy="261610"/>
          </a:xfrm>
          <a:prstGeom prst="rect">
            <a:avLst/>
          </a:prstGeom>
          <a:noFill/>
        </p:spPr>
        <p:txBody>
          <a:bodyPr wrap="square">
            <a:spAutoFit/>
          </a:bodyPr>
          <a:lstStyle/>
          <a:p>
            <a:pPr algn="ctr"/>
            <a:r>
              <a:rPr sz="1100">
                <a:solidFill>
                  <a:srgbClr val="1C1F22"/>
                </a:solidFill>
                <a:latin typeface="Aptos"/>
              </a:rPr>
              <a:t>Dept × decision year</a:t>
            </a:r>
          </a:p>
        </p:txBody>
      </p:sp>
      <p:sp>
        <p:nvSpPr>
          <p:cNvPr id="15" name="TextBox 14"/>
          <p:cNvSpPr txBox="1"/>
          <p:nvPr/>
        </p:nvSpPr>
        <p:spPr>
          <a:xfrm>
            <a:off x="502920" y="2487168"/>
            <a:ext cx="2377440" cy="261610"/>
          </a:xfrm>
          <a:prstGeom prst="rect">
            <a:avLst/>
          </a:prstGeom>
          <a:noFill/>
        </p:spPr>
        <p:txBody>
          <a:bodyPr wrap="square">
            <a:spAutoFit/>
          </a:bodyPr>
          <a:lstStyle/>
          <a:p>
            <a:pPr algn="ctr"/>
            <a:r>
              <a:rPr sz="1100" b="1">
                <a:solidFill>
                  <a:srgbClr val="2E5C8A"/>
                </a:solidFill>
                <a:latin typeface="Aptos"/>
              </a:rPr>
              <a:t>Peer exposure</a:t>
            </a:r>
          </a:p>
        </p:txBody>
      </p:sp>
      <p:sp>
        <p:nvSpPr>
          <p:cNvPr id="16" name="TextBox 15"/>
          <p:cNvSpPr txBox="1"/>
          <p:nvPr/>
        </p:nvSpPr>
        <p:spPr>
          <a:xfrm>
            <a:off x="2971800" y="2487168"/>
            <a:ext cx="2743200" cy="261610"/>
          </a:xfrm>
          <a:prstGeom prst="rect">
            <a:avLst/>
          </a:prstGeom>
          <a:noFill/>
        </p:spPr>
        <p:txBody>
          <a:bodyPr wrap="square">
            <a:spAutoFit/>
          </a:bodyPr>
          <a:lstStyle/>
          <a:p>
            <a:pPr algn="ctr"/>
            <a:r>
              <a:rPr sz="1100">
                <a:solidFill>
                  <a:srgbClr val="1C1F22"/>
                </a:solidFill>
                <a:latin typeface="Aptos"/>
              </a:rPr>
              <a:t>LOO pool quality</a:t>
            </a:r>
          </a:p>
        </p:txBody>
      </p:sp>
      <p:sp>
        <p:nvSpPr>
          <p:cNvPr id="17" name="TextBox 16"/>
          <p:cNvSpPr txBox="1"/>
          <p:nvPr/>
        </p:nvSpPr>
        <p:spPr>
          <a:xfrm>
            <a:off x="5897880" y="2487168"/>
            <a:ext cx="2743200" cy="261610"/>
          </a:xfrm>
          <a:prstGeom prst="rect">
            <a:avLst/>
          </a:prstGeom>
          <a:noFill/>
        </p:spPr>
        <p:txBody>
          <a:bodyPr wrap="square">
            <a:spAutoFit/>
          </a:bodyPr>
          <a:lstStyle/>
          <a:p>
            <a:pPr algn="ctr"/>
            <a:r>
              <a:rPr sz="1100">
                <a:solidFill>
                  <a:srgbClr val="1C1F22"/>
                </a:solidFill>
                <a:latin typeface="Aptos"/>
              </a:rPr>
              <a:t>LOO teammate quality</a:t>
            </a:r>
          </a:p>
        </p:txBody>
      </p:sp>
      <p:sp>
        <p:nvSpPr>
          <p:cNvPr id="18" name="TextBox 17"/>
          <p:cNvSpPr txBox="1"/>
          <p:nvPr/>
        </p:nvSpPr>
        <p:spPr>
          <a:xfrm>
            <a:off x="8732520" y="2487168"/>
            <a:ext cx="2834640" cy="261610"/>
          </a:xfrm>
          <a:prstGeom prst="rect">
            <a:avLst/>
          </a:prstGeom>
          <a:noFill/>
        </p:spPr>
        <p:txBody>
          <a:bodyPr wrap="square">
            <a:spAutoFit/>
          </a:bodyPr>
          <a:lstStyle/>
          <a:p>
            <a:pPr algn="ctr"/>
            <a:r>
              <a:rPr sz="1100">
                <a:solidFill>
                  <a:srgbClr val="1C1F22"/>
                </a:solidFill>
                <a:latin typeface="Aptos"/>
              </a:rPr>
              <a:t>LOO dept quality</a:t>
            </a:r>
          </a:p>
        </p:txBody>
      </p:sp>
      <p:sp>
        <p:nvSpPr>
          <p:cNvPr id="19" name="TextBox 18"/>
          <p:cNvSpPr txBox="1"/>
          <p:nvPr/>
        </p:nvSpPr>
        <p:spPr>
          <a:xfrm>
            <a:off x="502920" y="3145535"/>
            <a:ext cx="2377440" cy="261610"/>
          </a:xfrm>
          <a:prstGeom prst="rect">
            <a:avLst/>
          </a:prstGeom>
          <a:noFill/>
        </p:spPr>
        <p:txBody>
          <a:bodyPr wrap="square">
            <a:spAutoFit/>
          </a:bodyPr>
          <a:lstStyle/>
          <a:p>
            <a:pPr algn="ctr"/>
            <a:r>
              <a:rPr sz="1100" b="1">
                <a:solidFill>
                  <a:srgbClr val="2E5C8A"/>
                </a:solidFill>
                <a:latin typeface="Aptos"/>
              </a:rPr>
              <a:t>Selection locus</a:t>
            </a:r>
          </a:p>
        </p:txBody>
      </p:sp>
      <p:sp>
        <p:nvSpPr>
          <p:cNvPr id="20" name="TextBox 19"/>
          <p:cNvSpPr txBox="1"/>
          <p:nvPr/>
        </p:nvSpPr>
        <p:spPr>
          <a:xfrm>
            <a:off x="2971800" y="3145535"/>
            <a:ext cx="2743200" cy="261610"/>
          </a:xfrm>
          <a:prstGeom prst="rect">
            <a:avLst/>
          </a:prstGeom>
          <a:noFill/>
        </p:spPr>
        <p:txBody>
          <a:bodyPr wrap="square">
            <a:spAutoFit/>
          </a:bodyPr>
          <a:lstStyle/>
          <a:p>
            <a:pPr algn="ctr"/>
            <a:r>
              <a:rPr sz="1100">
                <a:solidFill>
                  <a:srgbClr val="1C1F22"/>
                </a:solidFill>
                <a:latin typeface="Aptos"/>
              </a:rPr>
              <a:t>Global</a:t>
            </a:r>
          </a:p>
        </p:txBody>
      </p:sp>
      <p:sp>
        <p:nvSpPr>
          <p:cNvPr id="21" name="TextBox 20"/>
          <p:cNvSpPr txBox="1"/>
          <p:nvPr/>
        </p:nvSpPr>
        <p:spPr>
          <a:xfrm>
            <a:off x="5897880" y="3145535"/>
            <a:ext cx="2743200" cy="261610"/>
          </a:xfrm>
          <a:prstGeom prst="rect">
            <a:avLst/>
          </a:prstGeom>
          <a:noFill/>
        </p:spPr>
        <p:txBody>
          <a:bodyPr wrap="square">
            <a:spAutoFit/>
          </a:bodyPr>
          <a:lstStyle/>
          <a:p>
            <a:pPr algn="ctr"/>
            <a:r>
              <a:rPr sz="1100">
                <a:solidFill>
                  <a:srgbClr val="1C1F22"/>
                </a:solidFill>
                <a:latin typeface="Aptos"/>
              </a:rPr>
              <a:t>Global</a:t>
            </a:r>
          </a:p>
        </p:txBody>
      </p:sp>
      <p:sp>
        <p:nvSpPr>
          <p:cNvPr id="22" name="TextBox 21"/>
          <p:cNvSpPr txBox="1"/>
          <p:nvPr/>
        </p:nvSpPr>
        <p:spPr>
          <a:xfrm>
            <a:off x="8732520" y="3145535"/>
            <a:ext cx="2834640" cy="261610"/>
          </a:xfrm>
          <a:prstGeom prst="rect">
            <a:avLst/>
          </a:prstGeom>
          <a:noFill/>
        </p:spPr>
        <p:txBody>
          <a:bodyPr wrap="square">
            <a:spAutoFit/>
          </a:bodyPr>
          <a:lstStyle/>
          <a:p>
            <a:pPr algn="ctr"/>
            <a:r>
              <a:rPr sz="1100">
                <a:solidFill>
                  <a:srgbClr val="1C1F22"/>
                </a:solidFill>
                <a:latin typeface="Aptos"/>
              </a:rPr>
              <a:t>Mostly local</a:t>
            </a:r>
          </a:p>
        </p:txBody>
      </p:sp>
      <p:sp>
        <p:nvSpPr>
          <p:cNvPr id="23" name="TextBox 22"/>
          <p:cNvSpPr txBox="1"/>
          <p:nvPr/>
        </p:nvSpPr>
        <p:spPr>
          <a:xfrm>
            <a:off x="502920" y="3803903"/>
            <a:ext cx="2377440" cy="261610"/>
          </a:xfrm>
          <a:prstGeom prst="rect">
            <a:avLst/>
          </a:prstGeom>
          <a:noFill/>
        </p:spPr>
        <p:txBody>
          <a:bodyPr wrap="square">
            <a:spAutoFit/>
          </a:bodyPr>
          <a:lstStyle/>
          <a:p>
            <a:pPr algn="ctr"/>
            <a:r>
              <a:rPr sz="1100" b="1">
                <a:solidFill>
                  <a:srgbClr val="2E5C8A"/>
                </a:solidFill>
                <a:latin typeface="Aptos"/>
              </a:rPr>
              <a:t>Scarcity</a:t>
            </a:r>
          </a:p>
        </p:txBody>
      </p:sp>
      <p:sp>
        <p:nvSpPr>
          <p:cNvPr id="24" name="TextBox 23"/>
          <p:cNvSpPr txBox="1"/>
          <p:nvPr/>
        </p:nvSpPr>
        <p:spPr>
          <a:xfrm>
            <a:off x="2971800" y="3803903"/>
            <a:ext cx="2743200" cy="261610"/>
          </a:xfrm>
          <a:prstGeom prst="rect">
            <a:avLst/>
          </a:prstGeom>
          <a:noFill/>
        </p:spPr>
        <p:txBody>
          <a:bodyPr wrap="square">
            <a:spAutoFit/>
          </a:bodyPr>
          <a:lstStyle/>
          <a:p>
            <a:pPr algn="ctr"/>
            <a:r>
              <a:rPr sz="1100">
                <a:solidFill>
                  <a:srgbClr val="1C1F22"/>
                </a:solidFill>
                <a:latin typeface="Aptos"/>
              </a:rPr>
              <a:t>Moderate</a:t>
            </a:r>
          </a:p>
        </p:txBody>
      </p:sp>
      <p:sp>
        <p:nvSpPr>
          <p:cNvPr id="25" name="TextBox 24"/>
          <p:cNvSpPr txBox="1"/>
          <p:nvPr/>
        </p:nvSpPr>
        <p:spPr>
          <a:xfrm>
            <a:off x="5897880" y="3803903"/>
            <a:ext cx="2743200" cy="261610"/>
          </a:xfrm>
          <a:prstGeom prst="rect">
            <a:avLst/>
          </a:prstGeom>
          <a:noFill/>
        </p:spPr>
        <p:txBody>
          <a:bodyPr wrap="square">
            <a:spAutoFit/>
          </a:bodyPr>
          <a:lstStyle/>
          <a:p>
            <a:pPr algn="ctr"/>
            <a:r>
              <a:rPr sz="1100">
                <a:solidFill>
                  <a:srgbClr val="1C1F22"/>
                </a:solidFill>
                <a:latin typeface="Aptos"/>
              </a:rPr>
              <a:t>Extreme (~2.7%)</a:t>
            </a:r>
          </a:p>
        </p:txBody>
      </p:sp>
      <p:sp>
        <p:nvSpPr>
          <p:cNvPr id="26" name="TextBox 25"/>
          <p:cNvSpPr txBox="1"/>
          <p:nvPr/>
        </p:nvSpPr>
        <p:spPr>
          <a:xfrm>
            <a:off x="8732520" y="3803903"/>
            <a:ext cx="2834640" cy="261610"/>
          </a:xfrm>
          <a:prstGeom prst="rect">
            <a:avLst/>
          </a:prstGeom>
          <a:noFill/>
        </p:spPr>
        <p:txBody>
          <a:bodyPr wrap="square">
            <a:spAutoFit/>
          </a:bodyPr>
          <a:lstStyle/>
          <a:p>
            <a:pPr algn="ctr"/>
            <a:r>
              <a:rPr sz="1100">
                <a:solidFill>
                  <a:srgbClr val="1C1F22"/>
                </a:solidFill>
                <a:latin typeface="Aptos"/>
              </a:rPr>
              <a:t>Substantial</a:t>
            </a:r>
          </a:p>
        </p:txBody>
      </p:sp>
      <p:sp>
        <p:nvSpPr>
          <p:cNvPr id="27" name="TextBox 26"/>
          <p:cNvSpPr txBox="1"/>
          <p:nvPr/>
        </p:nvSpPr>
        <p:spPr>
          <a:xfrm>
            <a:off x="502920" y="4462271"/>
            <a:ext cx="2377440" cy="261610"/>
          </a:xfrm>
          <a:prstGeom prst="rect">
            <a:avLst/>
          </a:prstGeom>
          <a:noFill/>
        </p:spPr>
        <p:txBody>
          <a:bodyPr wrap="square">
            <a:spAutoFit/>
          </a:bodyPr>
          <a:lstStyle/>
          <a:p>
            <a:pPr algn="ctr"/>
            <a:r>
              <a:rPr sz="1100" b="1">
                <a:solidFill>
                  <a:srgbClr val="2E5C8A"/>
                </a:solidFill>
                <a:latin typeface="Aptos"/>
              </a:rPr>
              <a:t>Assortativity</a:t>
            </a:r>
          </a:p>
        </p:txBody>
      </p:sp>
      <p:sp>
        <p:nvSpPr>
          <p:cNvPr id="28" name="TextBox 27"/>
          <p:cNvSpPr txBox="1"/>
          <p:nvPr/>
        </p:nvSpPr>
        <p:spPr>
          <a:xfrm>
            <a:off x="2971800" y="4462272"/>
            <a:ext cx="2743200" cy="261610"/>
          </a:xfrm>
          <a:prstGeom prst="rect">
            <a:avLst/>
          </a:prstGeom>
          <a:noFill/>
        </p:spPr>
        <p:txBody>
          <a:bodyPr wrap="square">
            <a:spAutoFit/>
          </a:bodyPr>
          <a:lstStyle/>
          <a:p>
            <a:pPr algn="ctr"/>
            <a:r>
              <a:rPr sz="1100">
                <a:solidFill>
                  <a:srgbClr val="1C1F22"/>
                </a:solidFill>
                <a:latin typeface="Aptos"/>
              </a:rPr>
              <a:t>TBD</a:t>
            </a:r>
          </a:p>
        </p:txBody>
      </p:sp>
      <p:sp>
        <p:nvSpPr>
          <p:cNvPr id="29" name="TextBox 28"/>
          <p:cNvSpPr txBox="1"/>
          <p:nvPr/>
        </p:nvSpPr>
        <p:spPr>
          <a:xfrm>
            <a:off x="5897880" y="4462272"/>
            <a:ext cx="2743200" cy="261610"/>
          </a:xfrm>
          <a:prstGeom prst="rect">
            <a:avLst/>
          </a:prstGeom>
          <a:noFill/>
        </p:spPr>
        <p:txBody>
          <a:bodyPr wrap="square">
            <a:spAutoFit/>
          </a:bodyPr>
          <a:lstStyle/>
          <a:p>
            <a:pPr algn="ctr"/>
            <a:r>
              <a:rPr sz="1100">
                <a:solidFill>
                  <a:srgbClr val="1C1F22"/>
                </a:solidFill>
                <a:latin typeface="Aptos"/>
              </a:rPr>
              <a:t>TBD</a:t>
            </a:r>
          </a:p>
        </p:txBody>
      </p:sp>
      <p:sp>
        <p:nvSpPr>
          <p:cNvPr id="30" name="TextBox 29"/>
          <p:cNvSpPr txBox="1"/>
          <p:nvPr/>
        </p:nvSpPr>
        <p:spPr>
          <a:xfrm>
            <a:off x="8732520" y="4462272"/>
            <a:ext cx="2834640" cy="261610"/>
          </a:xfrm>
          <a:prstGeom prst="rect">
            <a:avLst/>
          </a:prstGeom>
          <a:noFill/>
        </p:spPr>
        <p:txBody>
          <a:bodyPr wrap="square">
            <a:spAutoFit/>
          </a:bodyPr>
          <a:lstStyle/>
          <a:p>
            <a:pPr algn="ctr"/>
            <a:r>
              <a:rPr sz="1100">
                <a:solidFill>
                  <a:srgbClr val="1C1F22"/>
                </a:solidFill>
                <a:latin typeface="Aptos"/>
              </a:rPr>
              <a:t>TBD</a:t>
            </a:r>
          </a:p>
        </p:txBody>
      </p:sp>
      <p:sp>
        <p:nvSpPr>
          <p:cNvPr id="31" name="Rectangle 3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Verify labels/rates; quantify assortativity and pool distributions.</a:t>
            </a:r>
          </a:p>
        </p:txBody>
      </p:sp>
      <p:sp>
        <p:nvSpPr>
          <p:cNvPr id="33" name="TextBox 3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Same question. Different geometry.</a:t>
            </a:r>
          </a:p>
        </p:txBody>
      </p:sp>
      <p:sp>
        <p:nvSpPr>
          <p:cNvPr id="5" name="Rounded Rectangle 4"/>
          <p:cNvSpPr/>
          <p:nvPr/>
        </p:nvSpPr>
        <p:spPr>
          <a:xfrm>
            <a:off x="10378440" y="292608"/>
            <a:ext cx="1417320" cy="384048"/>
          </a:xfrm>
          <a:prstGeom prst="roundRect">
            <a:avLst/>
          </a:prstGeom>
          <a:solidFill>
            <a:srgbClr val="347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RESULT</a:t>
            </a:r>
          </a:p>
        </p:txBody>
      </p:sp>
      <p:sp>
        <p:nvSpPr>
          <p:cNvPr id="7" name="TextBox 6"/>
          <p:cNvSpPr txBox="1"/>
          <p:nvPr/>
        </p:nvSpPr>
        <p:spPr>
          <a:xfrm>
            <a:off x="640080" y="1417320"/>
            <a:ext cx="3017520" cy="353943"/>
          </a:xfrm>
          <a:prstGeom prst="rect">
            <a:avLst/>
          </a:prstGeom>
          <a:noFill/>
        </p:spPr>
        <p:txBody>
          <a:bodyPr wrap="square">
            <a:spAutoFit/>
          </a:bodyPr>
          <a:lstStyle/>
          <a:p>
            <a:pPr algn="ctr"/>
            <a:r>
              <a:rPr sz="1700" b="1">
                <a:solidFill>
                  <a:srgbClr val="192A3E"/>
                </a:solidFill>
                <a:latin typeface="Aptos"/>
              </a:rPr>
              <a:t>ARMY</a:t>
            </a:r>
          </a:p>
        </p:txBody>
      </p:sp>
      <p:sp>
        <p:nvSpPr>
          <p:cNvPr id="8" name="TextBox 7"/>
          <p:cNvSpPr txBox="1"/>
          <p:nvPr/>
        </p:nvSpPr>
        <p:spPr>
          <a:xfrm>
            <a:off x="640080" y="2057400"/>
            <a:ext cx="3017520" cy="369332"/>
          </a:xfrm>
          <a:prstGeom prst="rect">
            <a:avLst/>
          </a:prstGeom>
          <a:noFill/>
        </p:spPr>
        <p:txBody>
          <a:bodyPr wrap="square">
            <a:spAutoFit/>
          </a:bodyPr>
          <a:lstStyle/>
          <a:p>
            <a:pPr algn="ctr"/>
            <a:r>
              <a:rPr b="1">
                <a:solidFill>
                  <a:srgbClr val="697078"/>
                </a:solidFill>
                <a:latin typeface="Aptos"/>
              </a:rPr>
              <a:t>[response curve]</a:t>
            </a:r>
          </a:p>
        </p:txBody>
      </p:sp>
      <p:sp>
        <p:nvSpPr>
          <p:cNvPr id="9" name="TextBox 8"/>
          <p:cNvSpPr txBox="1"/>
          <p:nvPr/>
        </p:nvSpPr>
        <p:spPr>
          <a:xfrm>
            <a:off x="640080" y="4251960"/>
            <a:ext cx="3017520" cy="338554"/>
          </a:xfrm>
          <a:prstGeom prst="rect">
            <a:avLst/>
          </a:prstGeom>
          <a:noFill/>
        </p:spPr>
        <p:txBody>
          <a:bodyPr wrap="square">
            <a:spAutoFit/>
          </a:bodyPr>
          <a:lstStyle/>
          <a:p>
            <a:pPr algn="ctr"/>
            <a:r>
              <a:rPr sz="1600" b="1">
                <a:solidFill>
                  <a:srgbClr val="2E7A7B"/>
                </a:solidFill>
                <a:latin typeface="Aptos"/>
              </a:rPr>
              <a:t>strong downturn</a:t>
            </a:r>
          </a:p>
        </p:txBody>
      </p:sp>
      <p:sp>
        <p:nvSpPr>
          <p:cNvPr id="10" name="TextBox 9"/>
          <p:cNvSpPr txBox="1"/>
          <p:nvPr/>
        </p:nvSpPr>
        <p:spPr>
          <a:xfrm>
            <a:off x="4297680" y="1417321"/>
            <a:ext cx="3017520" cy="353943"/>
          </a:xfrm>
          <a:prstGeom prst="rect">
            <a:avLst/>
          </a:prstGeom>
          <a:noFill/>
        </p:spPr>
        <p:txBody>
          <a:bodyPr wrap="square">
            <a:spAutoFit/>
          </a:bodyPr>
          <a:lstStyle/>
          <a:p>
            <a:pPr algn="ctr"/>
            <a:r>
              <a:rPr sz="1700" b="1">
                <a:solidFill>
                  <a:srgbClr val="192A3E"/>
                </a:solidFill>
                <a:latin typeface="Aptos"/>
              </a:rPr>
              <a:t>MBB</a:t>
            </a:r>
          </a:p>
        </p:txBody>
      </p:sp>
      <p:sp>
        <p:nvSpPr>
          <p:cNvPr id="11" name="TextBox 10"/>
          <p:cNvSpPr txBox="1"/>
          <p:nvPr/>
        </p:nvSpPr>
        <p:spPr>
          <a:xfrm>
            <a:off x="4297680" y="2057400"/>
            <a:ext cx="3017520" cy="369332"/>
          </a:xfrm>
          <a:prstGeom prst="rect">
            <a:avLst/>
          </a:prstGeom>
          <a:noFill/>
        </p:spPr>
        <p:txBody>
          <a:bodyPr wrap="square">
            <a:spAutoFit/>
          </a:bodyPr>
          <a:lstStyle/>
          <a:p>
            <a:pPr algn="ctr"/>
            <a:r>
              <a:rPr b="1">
                <a:solidFill>
                  <a:srgbClr val="697078"/>
                </a:solidFill>
                <a:latin typeface="Aptos"/>
              </a:rPr>
              <a:t>[response curve]</a:t>
            </a:r>
          </a:p>
        </p:txBody>
      </p:sp>
      <p:sp>
        <p:nvSpPr>
          <p:cNvPr id="12" name="TextBox 11"/>
          <p:cNvSpPr txBox="1"/>
          <p:nvPr/>
        </p:nvSpPr>
        <p:spPr>
          <a:xfrm>
            <a:off x="4297680" y="4251960"/>
            <a:ext cx="3017520" cy="338554"/>
          </a:xfrm>
          <a:prstGeom prst="rect">
            <a:avLst/>
          </a:prstGeom>
          <a:noFill/>
        </p:spPr>
        <p:txBody>
          <a:bodyPr wrap="square">
            <a:spAutoFit/>
          </a:bodyPr>
          <a:lstStyle/>
          <a:p>
            <a:pPr algn="ctr"/>
            <a:r>
              <a:rPr sz="1600" b="1">
                <a:solidFill>
                  <a:srgbClr val="2E7A7B"/>
                </a:solidFill>
                <a:latin typeface="Aptos"/>
              </a:rPr>
              <a:t>weaker tail</a:t>
            </a:r>
          </a:p>
        </p:txBody>
      </p:sp>
      <p:sp>
        <p:nvSpPr>
          <p:cNvPr id="13" name="TextBox 12"/>
          <p:cNvSpPr txBox="1"/>
          <p:nvPr/>
        </p:nvSpPr>
        <p:spPr>
          <a:xfrm>
            <a:off x="7955279" y="1417321"/>
            <a:ext cx="3017520" cy="353943"/>
          </a:xfrm>
          <a:prstGeom prst="rect">
            <a:avLst/>
          </a:prstGeom>
          <a:noFill/>
        </p:spPr>
        <p:txBody>
          <a:bodyPr wrap="square">
            <a:spAutoFit/>
          </a:bodyPr>
          <a:lstStyle/>
          <a:p>
            <a:pPr algn="ctr"/>
            <a:r>
              <a:rPr sz="1700" b="1">
                <a:solidFill>
                  <a:srgbClr val="192A3E"/>
                </a:solidFill>
                <a:latin typeface="Aptos"/>
              </a:rPr>
              <a:t>R1 CS</a:t>
            </a:r>
          </a:p>
        </p:txBody>
      </p:sp>
      <p:sp>
        <p:nvSpPr>
          <p:cNvPr id="14" name="TextBox 13"/>
          <p:cNvSpPr txBox="1"/>
          <p:nvPr/>
        </p:nvSpPr>
        <p:spPr>
          <a:xfrm>
            <a:off x="7955279" y="2057400"/>
            <a:ext cx="3017520" cy="369332"/>
          </a:xfrm>
          <a:prstGeom prst="rect">
            <a:avLst/>
          </a:prstGeom>
          <a:noFill/>
        </p:spPr>
        <p:txBody>
          <a:bodyPr wrap="square">
            <a:spAutoFit/>
          </a:bodyPr>
          <a:lstStyle/>
          <a:p>
            <a:pPr algn="ctr"/>
            <a:r>
              <a:rPr b="1">
                <a:solidFill>
                  <a:srgbClr val="697078"/>
                </a:solidFill>
                <a:latin typeface="Aptos"/>
              </a:rPr>
              <a:t>[response curve]</a:t>
            </a:r>
          </a:p>
        </p:txBody>
      </p:sp>
      <p:sp>
        <p:nvSpPr>
          <p:cNvPr id="15" name="TextBox 14"/>
          <p:cNvSpPr txBox="1"/>
          <p:nvPr/>
        </p:nvSpPr>
        <p:spPr>
          <a:xfrm>
            <a:off x="7955279" y="4251960"/>
            <a:ext cx="3017520" cy="338554"/>
          </a:xfrm>
          <a:prstGeom prst="rect">
            <a:avLst/>
          </a:prstGeom>
          <a:noFill/>
        </p:spPr>
        <p:txBody>
          <a:bodyPr wrap="square">
            <a:spAutoFit/>
          </a:bodyPr>
          <a:lstStyle/>
          <a:p>
            <a:pPr algn="ctr"/>
            <a:r>
              <a:rPr sz="1600" b="1">
                <a:solidFill>
                  <a:srgbClr val="2E7A7B"/>
                </a:solidFill>
                <a:latin typeface="Aptos"/>
              </a:rPr>
              <a:t>promising / uncertain</a:t>
            </a:r>
          </a:p>
        </p:txBody>
      </p:sp>
      <p:sp>
        <p:nvSpPr>
          <p:cNvPr id="16" name="TextBox 15"/>
          <p:cNvSpPr txBox="1"/>
          <p:nvPr/>
        </p:nvSpPr>
        <p:spPr>
          <a:xfrm>
            <a:off x="1828800" y="5074920"/>
            <a:ext cx="8595360" cy="446276"/>
          </a:xfrm>
          <a:prstGeom prst="rect">
            <a:avLst/>
          </a:prstGeom>
          <a:noFill/>
        </p:spPr>
        <p:txBody>
          <a:bodyPr wrap="square">
            <a:spAutoFit/>
          </a:bodyPr>
          <a:lstStyle/>
          <a:p>
            <a:pPr algn="ctr"/>
            <a:r>
              <a:rPr sz="2300" b="1">
                <a:solidFill>
                  <a:srgbClr val="6A4C93"/>
                </a:solidFill>
                <a:latin typeface="Aptos"/>
              </a:rPr>
              <a:t>These differences are data for the theory.</a:t>
            </a:r>
          </a:p>
        </p:txBody>
      </p:sp>
      <p:sp>
        <p:nvSpPr>
          <p:cNvPr id="17" name="Rectangle 16"/>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Replace with harmonized curves.</a:t>
            </a:r>
          </a:p>
        </p:txBody>
      </p:sp>
      <p:sp>
        <p:nvSpPr>
          <p:cNvPr id="19" name="TextBox 18"/>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Can we measure the difference?</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822960" y="1417320"/>
            <a:ext cx="10515600" cy="461665"/>
          </a:xfrm>
          <a:prstGeom prst="rect">
            <a:avLst/>
          </a:prstGeom>
          <a:noFill/>
        </p:spPr>
        <p:txBody>
          <a:bodyPr wrap="square">
            <a:spAutoFit/>
          </a:bodyPr>
          <a:lstStyle/>
          <a:p>
            <a:pPr algn="ctr"/>
            <a:r>
              <a:rPr sz="2400" b="1">
                <a:solidFill>
                  <a:srgbClr val="192A3E"/>
                </a:solidFill>
                <a:latin typeface="Aptos"/>
              </a:rPr>
              <a:t>Pond-response morphology</a:t>
            </a:r>
          </a:p>
        </p:txBody>
      </p:sp>
      <p:sp>
        <p:nvSpPr>
          <p:cNvPr id="8" name="TextBox 7"/>
          <p:cNvSpPr txBox="1"/>
          <p:nvPr/>
        </p:nvSpPr>
        <p:spPr>
          <a:xfrm>
            <a:off x="640080" y="2423160"/>
            <a:ext cx="1920240" cy="523220"/>
          </a:xfrm>
          <a:prstGeom prst="rect">
            <a:avLst/>
          </a:prstGeom>
          <a:noFill/>
        </p:spPr>
        <p:txBody>
          <a:bodyPr wrap="square">
            <a:spAutoFit/>
          </a:bodyPr>
          <a:lstStyle/>
          <a:p>
            <a:pPr algn="ctr"/>
            <a:r>
              <a:rPr sz="2800" b="1">
                <a:solidFill>
                  <a:srgbClr val="2E5C8A"/>
                </a:solidFill>
                <a:latin typeface="Aptos"/>
              </a:rPr>
              <a:t>x*</a:t>
            </a:r>
          </a:p>
        </p:txBody>
      </p:sp>
      <p:sp>
        <p:nvSpPr>
          <p:cNvPr id="9" name="TextBox 8"/>
          <p:cNvSpPr txBox="1"/>
          <p:nvPr/>
        </p:nvSpPr>
        <p:spPr>
          <a:xfrm>
            <a:off x="640080" y="3246120"/>
            <a:ext cx="1920240" cy="307777"/>
          </a:xfrm>
          <a:prstGeom prst="rect">
            <a:avLst/>
          </a:prstGeom>
          <a:noFill/>
        </p:spPr>
        <p:txBody>
          <a:bodyPr wrap="square">
            <a:spAutoFit/>
          </a:bodyPr>
          <a:lstStyle/>
          <a:p>
            <a:pPr algn="ctr"/>
            <a:r>
              <a:rPr sz="1400" b="1">
                <a:solidFill>
                  <a:srgbClr val="1C1F22"/>
                </a:solidFill>
                <a:latin typeface="Aptos"/>
              </a:rPr>
              <a:t>Peak location</a:t>
            </a:r>
          </a:p>
        </p:txBody>
      </p:sp>
      <p:sp>
        <p:nvSpPr>
          <p:cNvPr id="10" name="TextBox 9"/>
          <p:cNvSpPr txBox="1"/>
          <p:nvPr/>
        </p:nvSpPr>
        <p:spPr>
          <a:xfrm>
            <a:off x="2880360" y="2423161"/>
            <a:ext cx="1920240" cy="523220"/>
          </a:xfrm>
          <a:prstGeom prst="rect">
            <a:avLst/>
          </a:prstGeom>
          <a:noFill/>
        </p:spPr>
        <p:txBody>
          <a:bodyPr wrap="square">
            <a:spAutoFit/>
          </a:bodyPr>
          <a:lstStyle/>
          <a:p>
            <a:pPr algn="ctr"/>
            <a:r>
              <a:rPr sz="2800" b="1">
                <a:solidFill>
                  <a:srgbClr val="2E5C8A"/>
                </a:solidFill>
                <a:latin typeface="Aptos"/>
              </a:rPr>
              <a:t>↗</a:t>
            </a:r>
          </a:p>
        </p:txBody>
      </p:sp>
      <p:sp>
        <p:nvSpPr>
          <p:cNvPr id="11" name="TextBox 10"/>
          <p:cNvSpPr txBox="1"/>
          <p:nvPr/>
        </p:nvSpPr>
        <p:spPr>
          <a:xfrm>
            <a:off x="2880360" y="3246121"/>
            <a:ext cx="1920240" cy="307777"/>
          </a:xfrm>
          <a:prstGeom prst="rect">
            <a:avLst/>
          </a:prstGeom>
          <a:noFill/>
        </p:spPr>
        <p:txBody>
          <a:bodyPr wrap="square">
            <a:spAutoFit/>
          </a:bodyPr>
          <a:lstStyle/>
          <a:p>
            <a:pPr algn="ctr"/>
            <a:r>
              <a:rPr sz="1400" b="1">
                <a:solidFill>
                  <a:srgbClr val="1C1F22"/>
                </a:solidFill>
                <a:latin typeface="Aptos"/>
              </a:rPr>
              <a:t>Left slope</a:t>
            </a:r>
          </a:p>
        </p:txBody>
      </p:sp>
      <p:sp>
        <p:nvSpPr>
          <p:cNvPr id="12" name="TextBox 11"/>
          <p:cNvSpPr txBox="1"/>
          <p:nvPr/>
        </p:nvSpPr>
        <p:spPr>
          <a:xfrm>
            <a:off x="5120640" y="2423161"/>
            <a:ext cx="1920240" cy="523220"/>
          </a:xfrm>
          <a:prstGeom prst="rect">
            <a:avLst/>
          </a:prstGeom>
          <a:noFill/>
        </p:spPr>
        <p:txBody>
          <a:bodyPr wrap="square">
            <a:spAutoFit/>
          </a:bodyPr>
          <a:lstStyle/>
          <a:p>
            <a:pPr algn="ctr"/>
            <a:r>
              <a:rPr sz="2800" b="1">
                <a:solidFill>
                  <a:srgbClr val="2E5C8A"/>
                </a:solidFill>
                <a:latin typeface="Aptos"/>
              </a:rPr>
              <a:t>↘</a:t>
            </a:r>
          </a:p>
        </p:txBody>
      </p:sp>
      <p:sp>
        <p:nvSpPr>
          <p:cNvPr id="13" name="TextBox 12"/>
          <p:cNvSpPr txBox="1"/>
          <p:nvPr/>
        </p:nvSpPr>
        <p:spPr>
          <a:xfrm>
            <a:off x="5120640" y="3246121"/>
            <a:ext cx="1920240" cy="307777"/>
          </a:xfrm>
          <a:prstGeom prst="rect">
            <a:avLst/>
          </a:prstGeom>
          <a:noFill/>
        </p:spPr>
        <p:txBody>
          <a:bodyPr wrap="square">
            <a:spAutoFit/>
          </a:bodyPr>
          <a:lstStyle/>
          <a:p>
            <a:pPr algn="ctr"/>
            <a:r>
              <a:rPr sz="1400" b="1">
                <a:solidFill>
                  <a:srgbClr val="1C1F22"/>
                </a:solidFill>
                <a:latin typeface="Aptos"/>
              </a:rPr>
              <a:t>Right slope</a:t>
            </a:r>
          </a:p>
        </p:txBody>
      </p:sp>
      <p:sp>
        <p:nvSpPr>
          <p:cNvPr id="14" name="TextBox 13"/>
          <p:cNvSpPr txBox="1"/>
          <p:nvPr/>
        </p:nvSpPr>
        <p:spPr>
          <a:xfrm>
            <a:off x="7360920" y="2423161"/>
            <a:ext cx="1920240" cy="523220"/>
          </a:xfrm>
          <a:prstGeom prst="rect">
            <a:avLst/>
          </a:prstGeom>
          <a:noFill/>
        </p:spPr>
        <p:txBody>
          <a:bodyPr wrap="square">
            <a:spAutoFit/>
          </a:bodyPr>
          <a:lstStyle/>
          <a:p>
            <a:pPr algn="ctr"/>
            <a:r>
              <a:rPr sz="2800" b="1">
                <a:solidFill>
                  <a:srgbClr val="2E5C8A"/>
                </a:solidFill>
                <a:latin typeface="Aptos"/>
              </a:rPr>
              <a:t>Δ</a:t>
            </a:r>
          </a:p>
        </p:txBody>
      </p:sp>
      <p:sp>
        <p:nvSpPr>
          <p:cNvPr id="15" name="TextBox 14"/>
          <p:cNvSpPr txBox="1"/>
          <p:nvPr/>
        </p:nvSpPr>
        <p:spPr>
          <a:xfrm>
            <a:off x="7360920" y="3246121"/>
            <a:ext cx="1920240" cy="307777"/>
          </a:xfrm>
          <a:prstGeom prst="rect">
            <a:avLst/>
          </a:prstGeom>
          <a:noFill/>
        </p:spPr>
        <p:txBody>
          <a:bodyPr wrap="square">
            <a:spAutoFit/>
          </a:bodyPr>
          <a:lstStyle/>
          <a:p>
            <a:pPr algn="ctr"/>
            <a:r>
              <a:rPr sz="1400" b="1">
                <a:solidFill>
                  <a:srgbClr val="1C1F22"/>
                </a:solidFill>
                <a:latin typeface="Aptos"/>
              </a:rPr>
              <a:t>Downturn</a:t>
            </a:r>
          </a:p>
        </p:txBody>
      </p:sp>
      <p:sp>
        <p:nvSpPr>
          <p:cNvPr id="16" name="TextBox 15"/>
          <p:cNvSpPr txBox="1"/>
          <p:nvPr/>
        </p:nvSpPr>
        <p:spPr>
          <a:xfrm>
            <a:off x="9601200" y="2423161"/>
            <a:ext cx="1920240" cy="523220"/>
          </a:xfrm>
          <a:prstGeom prst="rect">
            <a:avLst/>
          </a:prstGeom>
          <a:noFill/>
        </p:spPr>
        <p:txBody>
          <a:bodyPr wrap="square">
            <a:spAutoFit/>
          </a:bodyPr>
          <a:lstStyle/>
          <a:p>
            <a:pPr algn="ctr"/>
            <a:r>
              <a:rPr sz="2800" b="1">
                <a:solidFill>
                  <a:srgbClr val="2E5C8A"/>
                </a:solidFill>
                <a:latin typeface="Aptos"/>
              </a:rPr>
              <a:t>β₂</a:t>
            </a:r>
          </a:p>
        </p:txBody>
      </p:sp>
      <p:sp>
        <p:nvSpPr>
          <p:cNvPr id="17" name="TextBox 16"/>
          <p:cNvSpPr txBox="1"/>
          <p:nvPr/>
        </p:nvSpPr>
        <p:spPr>
          <a:xfrm>
            <a:off x="9601200" y="3246121"/>
            <a:ext cx="1920240" cy="307777"/>
          </a:xfrm>
          <a:prstGeom prst="rect">
            <a:avLst/>
          </a:prstGeom>
          <a:noFill/>
        </p:spPr>
        <p:txBody>
          <a:bodyPr wrap="square">
            <a:spAutoFit/>
          </a:bodyPr>
          <a:lstStyle/>
          <a:p>
            <a:pPr algn="ctr"/>
            <a:r>
              <a:rPr sz="1400" b="1">
                <a:solidFill>
                  <a:srgbClr val="1C1F22"/>
                </a:solidFill>
                <a:latin typeface="Aptos"/>
              </a:rPr>
              <a:t>Curvature</a:t>
            </a:r>
          </a:p>
        </p:txBody>
      </p:sp>
      <p:sp>
        <p:nvSpPr>
          <p:cNvPr id="18" name="TextBox 17"/>
          <p:cNvSpPr txBox="1"/>
          <p:nvPr/>
        </p:nvSpPr>
        <p:spPr>
          <a:xfrm>
            <a:off x="914400" y="4709160"/>
            <a:ext cx="10332720" cy="369332"/>
          </a:xfrm>
          <a:prstGeom prst="rect">
            <a:avLst/>
          </a:prstGeom>
          <a:noFill/>
        </p:spPr>
        <p:txBody>
          <a:bodyPr wrap="square">
            <a:spAutoFit/>
          </a:bodyPr>
          <a:lstStyle/>
          <a:p>
            <a:pPr algn="ctr"/>
            <a:r>
              <a:rPr>
                <a:solidFill>
                  <a:srgbClr val="6A4C93"/>
                </a:solidFill>
                <a:latin typeface="Aptos"/>
              </a:rPr>
              <a:t>Quadratic overlays can summarize morphology; formal shape inference requires more than β₂ &lt; 0.</a:t>
            </a:r>
          </a:p>
        </p:txBody>
      </p:sp>
      <p:sp>
        <p:nvSpPr>
          <p:cNvPr id="19" name="Rectangle 1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Specify formal shape/robustness tests.</a:t>
            </a:r>
          </a:p>
        </p:txBody>
      </p:sp>
      <p:sp>
        <p:nvSpPr>
          <p:cNvPr id="21" name="TextBox 2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What morphs the pond-response curve?</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HYPOTHESIS</a:t>
            </a:r>
          </a:p>
        </p:txBody>
      </p:sp>
      <p:sp>
        <p:nvSpPr>
          <p:cNvPr id="7" name="TextBox 6"/>
          <p:cNvSpPr txBox="1"/>
          <p:nvPr/>
        </p:nvSpPr>
        <p:spPr>
          <a:xfrm>
            <a:off x="822960" y="1463040"/>
            <a:ext cx="5258171" cy="2936701"/>
          </a:xfrm>
          <a:prstGeom prst="rect">
            <a:avLst/>
          </a:prstGeom>
          <a:noFill/>
        </p:spPr>
        <p:txBody>
          <a:bodyPr wrap="none">
            <a:spAutoFit/>
          </a:bodyPr>
          <a:lstStyle/>
          <a:p>
            <a:pPr>
              <a:spcAft>
                <a:spcPts val="700"/>
              </a:spcAft>
              <a:defRPr sz="1800">
                <a:solidFill>
                  <a:srgbClr val="1C1F22"/>
                </a:solidFill>
                <a:latin typeface="Aptos"/>
              </a:defRPr>
            </a:pPr>
            <a:r>
              <a:t>Selection scarcity</a:t>
            </a:r>
          </a:p>
          <a:p>
            <a:pPr>
              <a:spcAft>
                <a:spcPts val="700"/>
              </a:spcAft>
              <a:defRPr sz="1800">
                <a:solidFill>
                  <a:srgbClr val="1C1F22"/>
                </a:solidFill>
                <a:latin typeface="Aptos"/>
              </a:defRPr>
            </a:pPr>
            <a:r>
              <a:t>Assortativity / assignment structure</a:t>
            </a:r>
          </a:p>
          <a:p>
            <a:pPr>
              <a:spcAft>
                <a:spcPts val="700"/>
              </a:spcAft>
              <a:defRPr sz="1800">
                <a:solidFill>
                  <a:srgbClr val="1C1F22"/>
                </a:solidFill>
                <a:latin typeface="Aptos"/>
              </a:defRPr>
            </a:pPr>
            <a:r>
              <a:t>Pool size and pool-size distribution</a:t>
            </a:r>
          </a:p>
          <a:p>
            <a:pPr>
              <a:spcAft>
                <a:spcPts val="700"/>
              </a:spcAft>
              <a:defRPr sz="1800">
                <a:solidFill>
                  <a:srgbClr val="1C1F22"/>
                </a:solidFill>
                <a:latin typeface="Aptos"/>
              </a:defRPr>
            </a:pPr>
            <a:r>
              <a:t>Between-pool and within-pool talent variance</a:t>
            </a:r>
          </a:p>
          <a:p>
            <a:pPr>
              <a:spcAft>
                <a:spcPts val="700"/>
              </a:spcAft>
              <a:defRPr sz="1800">
                <a:solidFill>
                  <a:srgbClr val="1C1F22"/>
                </a:solidFill>
                <a:latin typeface="Aptos"/>
              </a:defRPr>
            </a:pPr>
            <a:r>
              <a:t>Opportunity / resource constraints</a:t>
            </a:r>
          </a:p>
          <a:p>
            <a:pPr>
              <a:spcAft>
                <a:spcPts val="700"/>
              </a:spcAft>
              <a:defRPr sz="1800">
                <a:solidFill>
                  <a:srgbClr val="1C1F22"/>
                </a:solidFill>
                <a:latin typeface="Aptos"/>
              </a:defRPr>
            </a:pPr>
            <a:r>
              <a:t>Scoring locus and evaluation subjectivity</a:t>
            </a:r>
          </a:p>
          <a:p>
            <a:pPr>
              <a:spcAft>
                <a:spcPts val="700"/>
              </a:spcAft>
              <a:defRPr sz="1800">
                <a:solidFill>
                  <a:srgbClr val="1C1F22"/>
                </a:solidFill>
                <a:latin typeface="Aptos"/>
              </a:defRPr>
            </a:pPr>
            <a:r>
              <a:t>Selection locus: local vs global</a:t>
            </a:r>
          </a:p>
          <a:p>
            <a:pPr>
              <a:spcAft>
                <a:spcPts val="700"/>
              </a:spcAft>
              <a:defRPr sz="1800">
                <a:solidFill>
                  <a:srgbClr val="1C1F22"/>
                </a:solidFill>
                <a:latin typeface="Aptos"/>
              </a:defRPr>
            </a:pPr>
            <a:r>
              <a:t>Strength of peer benefit vs distinction / competition</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Convert candidates into model parameters/predictions.</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Where does the network enter?</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HYPOTHESIS</a:t>
            </a:r>
          </a:p>
        </p:txBody>
      </p:sp>
      <p:sp>
        <p:nvSpPr>
          <p:cNvPr id="7" name="TextBox 6"/>
          <p:cNvSpPr txBox="1"/>
          <p:nvPr/>
        </p:nvSpPr>
        <p:spPr>
          <a:xfrm>
            <a:off x="320040" y="2057400"/>
            <a:ext cx="1600200" cy="323165"/>
          </a:xfrm>
          <a:prstGeom prst="rect">
            <a:avLst/>
          </a:prstGeom>
          <a:noFill/>
        </p:spPr>
        <p:txBody>
          <a:bodyPr wrap="square">
            <a:spAutoFit/>
          </a:bodyPr>
          <a:lstStyle/>
          <a:p>
            <a:pPr algn="ctr"/>
            <a:r>
              <a:rPr sz="1500" b="1">
                <a:solidFill>
                  <a:srgbClr val="2E5C8A"/>
                </a:solidFill>
                <a:latin typeface="Aptos"/>
              </a:rPr>
              <a:t>TALENT</a:t>
            </a:r>
          </a:p>
        </p:txBody>
      </p:sp>
      <p:sp>
        <p:nvSpPr>
          <p:cNvPr id="8" name="TextBox 7"/>
          <p:cNvSpPr txBox="1"/>
          <p:nvPr/>
        </p:nvSpPr>
        <p:spPr>
          <a:xfrm>
            <a:off x="1892807" y="2057400"/>
            <a:ext cx="411480" cy="400110"/>
          </a:xfrm>
          <a:prstGeom prst="rect">
            <a:avLst/>
          </a:prstGeom>
          <a:noFill/>
        </p:spPr>
        <p:txBody>
          <a:bodyPr wrap="square">
            <a:spAutoFit/>
          </a:bodyPr>
          <a:lstStyle/>
          <a:p>
            <a:pPr algn="ctr"/>
            <a:r>
              <a:rPr sz="2000" b="1">
                <a:solidFill>
                  <a:srgbClr val="697078"/>
                </a:solidFill>
                <a:latin typeface="Aptos"/>
              </a:rPr>
              <a:t>→</a:t>
            </a:r>
          </a:p>
        </p:txBody>
      </p:sp>
      <p:sp>
        <p:nvSpPr>
          <p:cNvPr id="9" name="TextBox 8"/>
          <p:cNvSpPr txBox="1"/>
          <p:nvPr/>
        </p:nvSpPr>
        <p:spPr>
          <a:xfrm>
            <a:off x="2258568" y="2057401"/>
            <a:ext cx="1600200" cy="323165"/>
          </a:xfrm>
          <a:prstGeom prst="rect">
            <a:avLst/>
          </a:prstGeom>
          <a:noFill/>
        </p:spPr>
        <p:txBody>
          <a:bodyPr wrap="square">
            <a:spAutoFit/>
          </a:bodyPr>
          <a:lstStyle/>
          <a:p>
            <a:pPr algn="ctr"/>
            <a:r>
              <a:rPr sz="1500" b="1">
                <a:solidFill>
                  <a:srgbClr val="2E5C8A"/>
                </a:solidFill>
                <a:latin typeface="Aptos"/>
              </a:rPr>
              <a:t>OPPORTUNITY</a:t>
            </a:r>
          </a:p>
        </p:txBody>
      </p:sp>
      <p:sp>
        <p:nvSpPr>
          <p:cNvPr id="10" name="TextBox 9"/>
          <p:cNvSpPr txBox="1"/>
          <p:nvPr/>
        </p:nvSpPr>
        <p:spPr>
          <a:xfrm>
            <a:off x="3831336" y="2057400"/>
            <a:ext cx="411480" cy="400110"/>
          </a:xfrm>
          <a:prstGeom prst="rect">
            <a:avLst/>
          </a:prstGeom>
          <a:noFill/>
        </p:spPr>
        <p:txBody>
          <a:bodyPr wrap="square">
            <a:spAutoFit/>
          </a:bodyPr>
          <a:lstStyle/>
          <a:p>
            <a:pPr algn="ctr"/>
            <a:r>
              <a:rPr sz="2000" b="1">
                <a:solidFill>
                  <a:srgbClr val="697078"/>
                </a:solidFill>
                <a:latin typeface="Aptos"/>
              </a:rPr>
              <a:t>→</a:t>
            </a:r>
          </a:p>
        </p:txBody>
      </p:sp>
      <p:sp>
        <p:nvSpPr>
          <p:cNvPr id="11" name="TextBox 10"/>
          <p:cNvSpPr txBox="1"/>
          <p:nvPr/>
        </p:nvSpPr>
        <p:spPr>
          <a:xfrm>
            <a:off x="4197096" y="2057401"/>
            <a:ext cx="1600200" cy="323165"/>
          </a:xfrm>
          <a:prstGeom prst="rect">
            <a:avLst/>
          </a:prstGeom>
          <a:noFill/>
        </p:spPr>
        <p:txBody>
          <a:bodyPr wrap="square">
            <a:spAutoFit/>
          </a:bodyPr>
          <a:lstStyle/>
          <a:p>
            <a:pPr algn="ctr"/>
            <a:r>
              <a:rPr sz="1500" b="1">
                <a:solidFill>
                  <a:srgbClr val="2E5C8A"/>
                </a:solidFill>
                <a:latin typeface="Aptos"/>
              </a:rPr>
              <a:t>SCORE</a:t>
            </a:r>
          </a:p>
        </p:txBody>
      </p:sp>
      <p:sp>
        <p:nvSpPr>
          <p:cNvPr id="12" name="TextBox 11"/>
          <p:cNvSpPr txBox="1"/>
          <p:nvPr/>
        </p:nvSpPr>
        <p:spPr>
          <a:xfrm>
            <a:off x="5769864" y="2057400"/>
            <a:ext cx="411480" cy="400110"/>
          </a:xfrm>
          <a:prstGeom prst="rect">
            <a:avLst/>
          </a:prstGeom>
          <a:noFill/>
        </p:spPr>
        <p:txBody>
          <a:bodyPr wrap="square">
            <a:spAutoFit/>
          </a:bodyPr>
          <a:lstStyle/>
          <a:p>
            <a:pPr algn="ctr"/>
            <a:r>
              <a:rPr sz="2000" b="1">
                <a:solidFill>
                  <a:srgbClr val="697078"/>
                </a:solidFill>
                <a:latin typeface="Aptos"/>
              </a:rPr>
              <a:t>→</a:t>
            </a:r>
          </a:p>
        </p:txBody>
      </p:sp>
      <p:sp>
        <p:nvSpPr>
          <p:cNvPr id="13" name="TextBox 12"/>
          <p:cNvSpPr txBox="1"/>
          <p:nvPr/>
        </p:nvSpPr>
        <p:spPr>
          <a:xfrm>
            <a:off x="6135624" y="2057401"/>
            <a:ext cx="1600200" cy="323165"/>
          </a:xfrm>
          <a:prstGeom prst="rect">
            <a:avLst/>
          </a:prstGeom>
          <a:noFill/>
        </p:spPr>
        <p:txBody>
          <a:bodyPr wrap="square">
            <a:spAutoFit/>
          </a:bodyPr>
          <a:lstStyle/>
          <a:p>
            <a:pPr algn="ctr"/>
            <a:r>
              <a:rPr sz="1500" b="1">
                <a:solidFill>
                  <a:srgbClr val="2E7A7B"/>
                </a:solidFill>
                <a:latin typeface="Aptos"/>
              </a:rPr>
              <a:t>RECOGNITION</a:t>
            </a:r>
          </a:p>
        </p:txBody>
      </p:sp>
      <p:sp>
        <p:nvSpPr>
          <p:cNvPr id="14" name="TextBox 13"/>
          <p:cNvSpPr txBox="1"/>
          <p:nvPr/>
        </p:nvSpPr>
        <p:spPr>
          <a:xfrm>
            <a:off x="7708392" y="2057400"/>
            <a:ext cx="411480" cy="400110"/>
          </a:xfrm>
          <a:prstGeom prst="rect">
            <a:avLst/>
          </a:prstGeom>
          <a:noFill/>
        </p:spPr>
        <p:txBody>
          <a:bodyPr wrap="square">
            <a:spAutoFit/>
          </a:bodyPr>
          <a:lstStyle/>
          <a:p>
            <a:pPr algn="ctr"/>
            <a:r>
              <a:rPr sz="2000" b="1">
                <a:solidFill>
                  <a:srgbClr val="697078"/>
                </a:solidFill>
                <a:latin typeface="Aptos"/>
              </a:rPr>
              <a:t>→</a:t>
            </a:r>
          </a:p>
        </p:txBody>
      </p:sp>
      <p:sp>
        <p:nvSpPr>
          <p:cNvPr id="15" name="TextBox 14"/>
          <p:cNvSpPr txBox="1"/>
          <p:nvPr/>
        </p:nvSpPr>
        <p:spPr>
          <a:xfrm>
            <a:off x="8074152" y="2057401"/>
            <a:ext cx="1600200" cy="323165"/>
          </a:xfrm>
          <a:prstGeom prst="rect">
            <a:avLst/>
          </a:prstGeom>
          <a:noFill/>
        </p:spPr>
        <p:txBody>
          <a:bodyPr wrap="square">
            <a:spAutoFit/>
          </a:bodyPr>
          <a:lstStyle/>
          <a:p>
            <a:pPr algn="ctr"/>
            <a:r>
              <a:rPr sz="1500" b="1">
                <a:solidFill>
                  <a:srgbClr val="2E7A7B"/>
                </a:solidFill>
                <a:latin typeface="Aptos"/>
              </a:rPr>
              <a:t>SELECTION</a:t>
            </a:r>
          </a:p>
        </p:txBody>
      </p:sp>
      <p:sp>
        <p:nvSpPr>
          <p:cNvPr id="16" name="TextBox 15"/>
          <p:cNvSpPr txBox="1"/>
          <p:nvPr/>
        </p:nvSpPr>
        <p:spPr>
          <a:xfrm>
            <a:off x="9646920" y="2057400"/>
            <a:ext cx="411480" cy="400110"/>
          </a:xfrm>
          <a:prstGeom prst="rect">
            <a:avLst/>
          </a:prstGeom>
          <a:noFill/>
        </p:spPr>
        <p:txBody>
          <a:bodyPr wrap="square">
            <a:spAutoFit/>
          </a:bodyPr>
          <a:lstStyle/>
          <a:p>
            <a:pPr algn="ctr"/>
            <a:r>
              <a:rPr sz="2000" b="1">
                <a:solidFill>
                  <a:srgbClr val="697078"/>
                </a:solidFill>
                <a:latin typeface="Aptos"/>
              </a:rPr>
              <a:t>→</a:t>
            </a:r>
          </a:p>
        </p:txBody>
      </p:sp>
      <p:sp>
        <p:nvSpPr>
          <p:cNvPr id="17" name="TextBox 16"/>
          <p:cNvSpPr txBox="1"/>
          <p:nvPr/>
        </p:nvSpPr>
        <p:spPr>
          <a:xfrm>
            <a:off x="10012680" y="2057401"/>
            <a:ext cx="1600200" cy="323165"/>
          </a:xfrm>
          <a:prstGeom prst="rect">
            <a:avLst/>
          </a:prstGeom>
          <a:noFill/>
        </p:spPr>
        <p:txBody>
          <a:bodyPr wrap="square">
            <a:spAutoFit/>
          </a:bodyPr>
          <a:lstStyle/>
          <a:p>
            <a:pPr algn="ctr"/>
            <a:r>
              <a:rPr sz="1500" b="1">
                <a:solidFill>
                  <a:srgbClr val="2E7A7B"/>
                </a:solidFill>
                <a:latin typeface="Aptos"/>
              </a:rPr>
              <a:t>SUCCESS</a:t>
            </a:r>
          </a:p>
        </p:txBody>
      </p:sp>
      <p:sp>
        <p:nvSpPr>
          <p:cNvPr id="18" name="TextBox 17"/>
          <p:cNvSpPr txBox="1"/>
          <p:nvPr/>
        </p:nvSpPr>
        <p:spPr>
          <a:xfrm>
            <a:off x="1051560" y="3246120"/>
            <a:ext cx="10058400" cy="430887"/>
          </a:xfrm>
          <a:prstGeom prst="rect">
            <a:avLst/>
          </a:prstGeom>
          <a:noFill/>
        </p:spPr>
        <p:txBody>
          <a:bodyPr wrap="square">
            <a:spAutoFit/>
          </a:bodyPr>
          <a:lstStyle/>
          <a:p>
            <a:pPr algn="ctr"/>
            <a:r>
              <a:rPr sz="2200" b="1">
                <a:solidFill>
                  <a:srgbClr val="192A3E"/>
                </a:solidFill>
                <a:latin typeface="Aptos"/>
              </a:rPr>
              <a:t>The network may act at different stages in different competitive systems.</a:t>
            </a:r>
          </a:p>
        </p:txBody>
      </p:sp>
      <p:sp>
        <p:nvSpPr>
          <p:cNvPr id="19" name="TextBox 18"/>
          <p:cNvSpPr txBox="1"/>
          <p:nvPr/>
        </p:nvSpPr>
        <p:spPr>
          <a:xfrm>
            <a:off x="2880360" y="4251960"/>
            <a:ext cx="6400800" cy="338554"/>
          </a:xfrm>
          <a:prstGeom prst="rect">
            <a:avLst/>
          </a:prstGeom>
          <a:noFill/>
        </p:spPr>
        <p:txBody>
          <a:bodyPr wrap="square">
            <a:spAutoFit/>
          </a:bodyPr>
          <a:lstStyle/>
          <a:p>
            <a:pPr algn="ctr"/>
            <a:r>
              <a:rPr sz="1600" b="1">
                <a:solidFill>
                  <a:srgbClr val="6A4C93"/>
                </a:solidFill>
                <a:latin typeface="Aptos"/>
              </a:rPr>
              <a:t>Candidate framework — not yet a causal claim.</a:t>
            </a:r>
          </a:p>
        </p:txBody>
      </p:sp>
      <p:sp>
        <p:nvSpPr>
          <p:cNvPr id="20" name="Rectangle 1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Develop domain mappings.</a:t>
            </a:r>
          </a:p>
        </p:txBody>
      </p:sp>
      <p:sp>
        <p:nvSpPr>
          <p:cNvPr id="22" name="TextBox 2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Scoring and selection occur in different places</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HYPOTHESIS</a:t>
            </a:r>
          </a:p>
        </p:txBody>
      </p:sp>
      <p:sp>
        <p:nvSpPr>
          <p:cNvPr id="7" name="TextBox 6"/>
          <p:cNvSpPr txBox="1"/>
          <p:nvPr/>
        </p:nvSpPr>
        <p:spPr>
          <a:xfrm>
            <a:off x="640080" y="1417320"/>
            <a:ext cx="2286000" cy="338554"/>
          </a:xfrm>
          <a:prstGeom prst="rect">
            <a:avLst/>
          </a:prstGeom>
          <a:noFill/>
        </p:spPr>
        <p:txBody>
          <a:bodyPr wrap="square">
            <a:spAutoFit/>
          </a:bodyPr>
          <a:lstStyle/>
          <a:p>
            <a:pPr algn="ctr"/>
            <a:r>
              <a:rPr sz="1600" b="1">
                <a:solidFill>
                  <a:srgbClr val="192A3E"/>
                </a:solidFill>
                <a:latin typeface="Aptos"/>
              </a:rPr>
              <a:t>Domain</a:t>
            </a:r>
          </a:p>
        </p:txBody>
      </p:sp>
      <p:sp>
        <p:nvSpPr>
          <p:cNvPr id="8" name="TextBox 7"/>
          <p:cNvSpPr txBox="1"/>
          <p:nvPr/>
        </p:nvSpPr>
        <p:spPr>
          <a:xfrm>
            <a:off x="3154680" y="1417320"/>
            <a:ext cx="4800600" cy="338554"/>
          </a:xfrm>
          <a:prstGeom prst="rect">
            <a:avLst/>
          </a:prstGeom>
          <a:noFill/>
        </p:spPr>
        <p:txBody>
          <a:bodyPr wrap="square">
            <a:spAutoFit/>
          </a:bodyPr>
          <a:lstStyle/>
          <a:p>
            <a:pPr algn="ctr"/>
            <a:r>
              <a:rPr sz="1600" b="1">
                <a:solidFill>
                  <a:srgbClr val="192A3E"/>
                </a:solidFill>
                <a:latin typeface="Aptos"/>
              </a:rPr>
              <a:t>Performance / scoring</a:t>
            </a:r>
          </a:p>
        </p:txBody>
      </p:sp>
      <p:sp>
        <p:nvSpPr>
          <p:cNvPr id="9" name="TextBox 8"/>
          <p:cNvSpPr txBox="1"/>
          <p:nvPr/>
        </p:nvSpPr>
        <p:spPr>
          <a:xfrm>
            <a:off x="8229600" y="1417320"/>
            <a:ext cx="3200400" cy="338554"/>
          </a:xfrm>
          <a:prstGeom prst="rect">
            <a:avLst/>
          </a:prstGeom>
          <a:noFill/>
        </p:spPr>
        <p:txBody>
          <a:bodyPr wrap="square">
            <a:spAutoFit/>
          </a:bodyPr>
          <a:lstStyle/>
          <a:p>
            <a:pPr algn="ctr"/>
            <a:r>
              <a:rPr sz="1600" b="1">
                <a:solidFill>
                  <a:srgbClr val="192A3E"/>
                </a:solidFill>
                <a:latin typeface="Aptos"/>
              </a:rPr>
              <a:t>Selection</a:t>
            </a:r>
          </a:p>
        </p:txBody>
      </p:sp>
      <p:sp>
        <p:nvSpPr>
          <p:cNvPr id="10" name="TextBox 9"/>
          <p:cNvSpPr txBox="1"/>
          <p:nvPr/>
        </p:nvSpPr>
        <p:spPr>
          <a:xfrm>
            <a:off x="640080" y="2103120"/>
            <a:ext cx="2286000" cy="307777"/>
          </a:xfrm>
          <a:prstGeom prst="rect">
            <a:avLst/>
          </a:prstGeom>
          <a:noFill/>
        </p:spPr>
        <p:txBody>
          <a:bodyPr wrap="square">
            <a:spAutoFit/>
          </a:bodyPr>
          <a:lstStyle/>
          <a:p>
            <a:pPr algn="ctr"/>
            <a:r>
              <a:rPr sz="1400" b="1">
                <a:solidFill>
                  <a:srgbClr val="2E5C8A"/>
                </a:solidFill>
                <a:latin typeface="Aptos"/>
              </a:rPr>
              <a:t>Army</a:t>
            </a:r>
          </a:p>
        </p:txBody>
      </p:sp>
      <p:sp>
        <p:nvSpPr>
          <p:cNvPr id="11" name="TextBox 10"/>
          <p:cNvSpPr txBox="1"/>
          <p:nvPr/>
        </p:nvSpPr>
        <p:spPr>
          <a:xfrm>
            <a:off x="3154680" y="2103121"/>
            <a:ext cx="4800600" cy="307777"/>
          </a:xfrm>
          <a:prstGeom prst="rect">
            <a:avLst/>
          </a:prstGeom>
          <a:noFill/>
        </p:spPr>
        <p:txBody>
          <a:bodyPr wrap="square">
            <a:spAutoFit/>
          </a:bodyPr>
          <a:lstStyle/>
          <a:p>
            <a:pPr algn="ctr"/>
            <a:r>
              <a:rPr sz="1400">
                <a:solidFill>
                  <a:srgbClr val="1C1F22"/>
                </a:solidFill>
                <a:latin typeface="Aptos"/>
              </a:rPr>
              <a:t>LOCAL • subjective • comparative</a:t>
            </a:r>
          </a:p>
        </p:txBody>
      </p:sp>
      <p:sp>
        <p:nvSpPr>
          <p:cNvPr id="12" name="TextBox 11"/>
          <p:cNvSpPr txBox="1"/>
          <p:nvPr/>
        </p:nvSpPr>
        <p:spPr>
          <a:xfrm>
            <a:off x="8229600" y="2103121"/>
            <a:ext cx="3200400" cy="307777"/>
          </a:xfrm>
          <a:prstGeom prst="rect">
            <a:avLst/>
          </a:prstGeom>
          <a:noFill/>
        </p:spPr>
        <p:txBody>
          <a:bodyPr wrap="square">
            <a:spAutoFit/>
          </a:bodyPr>
          <a:lstStyle/>
          <a:p>
            <a:pPr algn="ctr"/>
            <a:r>
              <a:rPr sz="1400">
                <a:solidFill>
                  <a:srgbClr val="1C1F22"/>
                </a:solidFill>
                <a:latin typeface="Aptos"/>
              </a:rPr>
              <a:t>GLOBAL</a:t>
            </a:r>
          </a:p>
        </p:txBody>
      </p:sp>
      <p:sp>
        <p:nvSpPr>
          <p:cNvPr id="13" name="TextBox 12"/>
          <p:cNvSpPr txBox="1"/>
          <p:nvPr/>
        </p:nvSpPr>
        <p:spPr>
          <a:xfrm>
            <a:off x="640080" y="3063240"/>
            <a:ext cx="2286000" cy="307777"/>
          </a:xfrm>
          <a:prstGeom prst="rect">
            <a:avLst/>
          </a:prstGeom>
          <a:noFill/>
        </p:spPr>
        <p:txBody>
          <a:bodyPr wrap="square">
            <a:spAutoFit/>
          </a:bodyPr>
          <a:lstStyle/>
          <a:p>
            <a:pPr algn="ctr"/>
            <a:r>
              <a:rPr sz="1400" b="1">
                <a:solidFill>
                  <a:srgbClr val="2E5C8A"/>
                </a:solidFill>
                <a:latin typeface="Aptos"/>
              </a:rPr>
              <a:t>MBB</a:t>
            </a:r>
          </a:p>
        </p:txBody>
      </p:sp>
      <p:sp>
        <p:nvSpPr>
          <p:cNvPr id="14" name="TextBox 13"/>
          <p:cNvSpPr txBox="1"/>
          <p:nvPr/>
        </p:nvSpPr>
        <p:spPr>
          <a:xfrm>
            <a:off x="3154680" y="3063241"/>
            <a:ext cx="4800600" cy="307777"/>
          </a:xfrm>
          <a:prstGeom prst="rect">
            <a:avLst/>
          </a:prstGeom>
          <a:noFill/>
        </p:spPr>
        <p:txBody>
          <a:bodyPr wrap="square">
            <a:spAutoFit/>
          </a:bodyPr>
          <a:lstStyle/>
          <a:p>
            <a:pPr algn="ctr"/>
            <a:r>
              <a:rPr sz="1400">
                <a:solidFill>
                  <a:srgbClr val="1C1F22"/>
                </a:solidFill>
                <a:latin typeface="Aptos"/>
              </a:rPr>
              <a:t>HYBRID • local opportunity → observable stats</a:t>
            </a:r>
          </a:p>
        </p:txBody>
      </p:sp>
      <p:sp>
        <p:nvSpPr>
          <p:cNvPr id="15" name="TextBox 14"/>
          <p:cNvSpPr txBox="1"/>
          <p:nvPr/>
        </p:nvSpPr>
        <p:spPr>
          <a:xfrm>
            <a:off x="8229600" y="3063241"/>
            <a:ext cx="3200400" cy="307777"/>
          </a:xfrm>
          <a:prstGeom prst="rect">
            <a:avLst/>
          </a:prstGeom>
          <a:noFill/>
        </p:spPr>
        <p:txBody>
          <a:bodyPr wrap="square">
            <a:spAutoFit/>
          </a:bodyPr>
          <a:lstStyle/>
          <a:p>
            <a:pPr algn="ctr"/>
            <a:r>
              <a:rPr sz="1400">
                <a:solidFill>
                  <a:srgbClr val="1C1F22"/>
                </a:solidFill>
                <a:latin typeface="Aptos"/>
              </a:rPr>
              <a:t>GLOBAL</a:t>
            </a:r>
          </a:p>
        </p:txBody>
      </p:sp>
      <p:sp>
        <p:nvSpPr>
          <p:cNvPr id="16" name="TextBox 15"/>
          <p:cNvSpPr txBox="1"/>
          <p:nvPr/>
        </p:nvSpPr>
        <p:spPr>
          <a:xfrm>
            <a:off x="640080" y="4023360"/>
            <a:ext cx="2286000" cy="307777"/>
          </a:xfrm>
          <a:prstGeom prst="rect">
            <a:avLst/>
          </a:prstGeom>
          <a:noFill/>
        </p:spPr>
        <p:txBody>
          <a:bodyPr wrap="square">
            <a:spAutoFit/>
          </a:bodyPr>
          <a:lstStyle/>
          <a:p>
            <a:pPr algn="ctr"/>
            <a:r>
              <a:rPr sz="1400" b="1">
                <a:solidFill>
                  <a:srgbClr val="2E5C8A"/>
                </a:solidFill>
                <a:latin typeface="Aptos"/>
              </a:rPr>
              <a:t>Academia</a:t>
            </a:r>
          </a:p>
        </p:txBody>
      </p:sp>
      <p:sp>
        <p:nvSpPr>
          <p:cNvPr id="17" name="TextBox 16"/>
          <p:cNvSpPr txBox="1"/>
          <p:nvPr/>
        </p:nvSpPr>
        <p:spPr>
          <a:xfrm>
            <a:off x="3154680" y="4023361"/>
            <a:ext cx="4800600" cy="307777"/>
          </a:xfrm>
          <a:prstGeom prst="rect">
            <a:avLst/>
          </a:prstGeom>
          <a:noFill/>
        </p:spPr>
        <p:txBody>
          <a:bodyPr wrap="square">
            <a:spAutoFit/>
          </a:bodyPr>
          <a:lstStyle/>
          <a:p>
            <a:pPr algn="ctr"/>
            <a:r>
              <a:rPr sz="1400">
                <a:solidFill>
                  <a:srgbClr val="1C1F22"/>
                </a:solidFill>
                <a:latin typeface="Aptos"/>
              </a:rPr>
              <a:t>BROAD/GLOBAL production &amp; recognition signals</a:t>
            </a:r>
          </a:p>
        </p:txBody>
      </p:sp>
      <p:sp>
        <p:nvSpPr>
          <p:cNvPr id="18" name="TextBox 17"/>
          <p:cNvSpPr txBox="1"/>
          <p:nvPr/>
        </p:nvSpPr>
        <p:spPr>
          <a:xfrm>
            <a:off x="8229600" y="4023361"/>
            <a:ext cx="3200400" cy="307777"/>
          </a:xfrm>
          <a:prstGeom prst="rect">
            <a:avLst/>
          </a:prstGeom>
          <a:noFill/>
        </p:spPr>
        <p:txBody>
          <a:bodyPr wrap="square">
            <a:spAutoFit/>
          </a:bodyPr>
          <a:lstStyle/>
          <a:p>
            <a:pPr algn="ctr"/>
            <a:r>
              <a:rPr sz="1400">
                <a:solidFill>
                  <a:srgbClr val="1C1F22"/>
                </a:solidFill>
                <a:latin typeface="Aptos"/>
              </a:rPr>
              <a:t>MOSTLY LOCAL</a:t>
            </a:r>
          </a:p>
        </p:txBody>
      </p:sp>
      <p:sp>
        <p:nvSpPr>
          <p:cNvPr id="19" name="TextBox 18"/>
          <p:cNvSpPr txBox="1"/>
          <p:nvPr/>
        </p:nvSpPr>
        <p:spPr>
          <a:xfrm>
            <a:off x="1097280" y="5074920"/>
            <a:ext cx="10058400" cy="400110"/>
          </a:xfrm>
          <a:prstGeom prst="rect">
            <a:avLst/>
          </a:prstGeom>
          <a:noFill/>
        </p:spPr>
        <p:txBody>
          <a:bodyPr wrap="square">
            <a:spAutoFit/>
          </a:bodyPr>
          <a:lstStyle/>
          <a:p>
            <a:pPr algn="ctr"/>
            <a:r>
              <a:rPr sz="2000" b="1">
                <a:solidFill>
                  <a:srgbClr val="2E7A7B"/>
                </a:solidFill>
                <a:latin typeface="Aptos"/>
              </a:rPr>
              <a:t>The same peer network can enter the pipeline through different mechanisms.</a:t>
            </a:r>
          </a:p>
        </p:txBody>
      </p:sp>
      <p:sp>
        <p:nvSpPr>
          <p:cNvPr id="20" name="Rectangle 1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6217920"/>
            <a:ext cx="10881360" cy="230832"/>
          </a:xfrm>
          <a:prstGeom prst="rect">
            <a:avLst/>
          </a:prstGeom>
          <a:noFill/>
        </p:spPr>
        <p:txBody>
          <a:bodyPr wrap="square">
            <a:spAutoFit/>
          </a:bodyPr>
          <a:lstStyle/>
          <a:p>
            <a:pPr algn="l"/>
            <a:r>
              <a:rPr sz="900" b="1" dirty="0">
                <a:solidFill>
                  <a:srgbClr val="697078"/>
                </a:solidFill>
                <a:latin typeface="Aptos"/>
              </a:rPr>
              <a:t>WORK REQUIRED: Refine terminology; qualify academia.</a:t>
            </a:r>
          </a:p>
        </p:txBody>
      </p:sp>
      <p:sp>
        <p:nvSpPr>
          <p:cNvPr id="22" name="TextBox 2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IV — SYNTHESIS</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Army's performance signal already contains the peer environment</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HYPOTHESIS</a:t>
            </a:r>
          </a:p>
        </p:txBody>
      </p:sp>
      <p:sp>
        <p:nvSpPr>
          <p:cNvPr id="7" name="TextBox 6"/>
          <p:cNvSpPr txBox="1"/>
          <p:nvPr/>
        </p:nvSpPr>
        <p:spPr>
          <a:xfrm>
            <a:off x="914400" y="1508760"/>
            <a:ext cx="10332720" cy="446276"/>
          </a:xfrm>
          <a:prstGeom prst="rect">
            <a:avLst/>
          </a:prstGeom>
          <a:noFill/>
        </p:spPr>
        <p:txBody>
          <a:bodyPr wrap="square">
            <a:spAutoFit/>
          </a:bodyPr>
          <a:lstStyle/>
          <a:p>
            <a:pPr algn="ctr"/>
            <a:r>
              <a:rPr sz="2300" b="1">
                <a:solidFill>
                  <a:srgbClr val="192A3E"/>
                </a:solidFill>
                <a:latin typeface="Aptos"/>
              </a:rPr>
              <a:t>We began by treating top-block ratio as an individual performance metric.</a:t>
            </a:r>
          </a:p>
        </p:txBody>
      </p:sp>
      <p:sp>
        <p:nvSpPr>
          <p:cNvPr id="8" name="TextBox 7"/>
          <p:cNvSpPr txBox="1"/>
          <p:nvPr/>
        </p:nvSpPr>
        <p:spPr>
          <a:xfrm>
            <a:off x="914400" y="2514600"/>
            <a:ext cx="10332720" cy="830997"/>
          </a:xfrm>
          <a:prstGeom prst="rect">
            <a:avLst/>
          </a:prstGeom>
          <a:noFill/>
        </p:spPr>
        <p:txBody>
          <a:bodyPr wrap="square">
            <a:spAutoFit/>
          </a:bodyPr>
          <a:lstStyle/>
          <a:p>
            <a:pPr algn="ctr"/>
            <a:r>
              <a:rPr sz="2400" b="1">
                <a:solidFill>
                  <a:srgbClr val="AA3F3F"/>
                </a:solidFill>
                <a:latin typeface="Aptos"/>
              </a:rPr>
              <a:t>But it is produced through local, subjective, explicitly comparative evaluation.</a:t>
            </a:r>
          </a:p>
        </p:txBody>
      </p:sp>
      <p:sp>
        <p:nvSpPr>
          <p:cNvPr id="9" name="TextBox 8"/>
          <p:cNvSpPr txBox="1"/>
          <p:nvPr/>
        </p:nvSpPr>
        <p:spPr>
          <a:xfrm>
            <a:off x="1051560" y="3749039"/>
            <a:ext cx="10058400" cy="800219"/>
          </a:xfrm>
          <a:prstGeom prst="rect">
            <a:avLst/>
          </a:prstGeom>
          <a:noFill/>
        </p:spPr>
        <p:txBody>
          <a:bodyPr wrap="square">
            <a:spAutoFit/>
          </a:bodyPr>
          <a:lstStyle/>
          <a:p>
            <a:pPr algn="ctr"/>
            <a:r>
              <a:rPr sz="2300" b="1">
                <a:solidFill>
                  <a:srgbClr val="2E7A7B"/>
                </a:solidFill>
                <a:latin typeface="Aptos"/>
              </a:rPr>
              <a:t>The network may not merely act AFTER performance is measured.
In some systems, the network may help PRODUCE the performance signal.</a:t>
            </a:r>
          </a:p>
        </p:txBody>
      </p:sp>
      <p:sp>
        <p:nvSpPr>
          <p:cNvPr id="10" name="Rectangle 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Ground wording in Army evaluation doctrine; mechanism remains hypothesis.</a:t>
            </a:r>
          </a:p>
        </p:txBody>
      </p:sp>
      <p:sp>
        <p:nvSpPr>
          <p:cNvPr id="12" name="TextBox 1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V — MODEL</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MODEL BIFURCATION — How much institutional structure do we need?</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DECISION</a:t>
            </a:r>
          </a:p>
        </p:txBody>
      </p:sp>
      <p:sp>
        <p:nvSpPr>
          <p:cNvPr id="7" name="TextBox 6"/>
          <p:cNvSpPr txBox="1"/>
          <p:nvPr/>
        </p:nvSpPr>
        <p:spPr>
          <a:xfrm>
            <a:off x="502920" y="1417320"/>
            <a:ext cx="3566160" cy="353943"/>
          </a:xfrm>
          <a:prstGeom prst="rect">
            <a:avLst/>
          </a:prstGeom>
          <a:noFill/>
        </p:spPr>
        <p:txBody>
          <a:bodyPr wrap="square">
            <a:spAutoFit/>
          </a:bodyPr>
          <a:lstStyle/>
          <a:p>
            <a:pPr algn="ctr"/>
            <a:r>
              <a:rPr sz="1700" b="1">
                <a:solidFill>
                  <a:srgbClr val="192A3E"/>
                </a:solidFill>
                <a:latin typeface="Aptos"/>
              </a:rPr>
              <a:t>A. MINIMAL</a:t>
            </a:r>
          </a:p>
        </p:txBody>
      </p:sp>
      <p:sp>
        <p:nvSpPr>
          <p:cNvPr id="8" name="TextBox 7"/>
          <p:cNvSpPr txBox="1"/>
          <p:nvPr/>
        </p:nvSpPr>
        <p:spPr>
          <a:xfrm>
            <a:off x="594360" y="1965960"/>
            <a:ext cx="3383280" cy="384721"/>
          </a:xfrm>
          <a:prstGeom prst="rect">
            <a:avLst/>
          </a:prstGeom>
          <a:noFill/>
        </p:spPr>
        <p:txBody>
          <a:bodyPr wrap="square">
            <a:spAutoFit/>
          </a:bodyPr>
          <a:lstStyle/>
          <a:p>
            <a:pPr algn="ctr"/>
            <a:r>
              <a:rPr sz="1900" b="1">
                <a:solidFill>
                  <a:srgbClr val="2E5C8A"/>
                </a:solidFill>
                <a:latin typeface="Aptos"/>
              </a:rPr>
              <a:t>ASSIGN → SCORE → SELECT</a:t>
            </a:r>
          </a:p>
        </p:txBody>
      </p:sp>
      <p:sp>
        <p:nvSpPr>
          <p:cNvPr id="9" name="TextBox 8"/>
          <p:cNvSpPr txBox="1"/>
          <p:nvPr/>
        </p:nvSpPr>
        <p:spPr>
          <a:xfrm>
            <a:off x="594360" y="2971800"/>
            <a:ext cx="3383280" cy="784830"/>
          </a:xfrm>
          <a:prstGeom prst="rect">
            <a:avLst/>
          </a:prstGeom>
          <a:noFill/>
        </p:spPr>
        <p:txBody>
          <a:bodyPr wrap="square">
            <a:spAutoFit/>
          </a:bodyPr>
          <a:lstStyle/>
          <a:p>
            <a:pPr algn="ctr"/>
            <a:r>
              <a:rPr sz="1500">
                <a:solidFill>
                  <a:srgbClr val="1C1F22"/>
                </a:solidFill>
                <a:latin typeface="Aptos"/>
              </a:rPr>
              <a:t>Minimum mechanisms sufficient to generate and morph response geometry.</a:t>
            </a:r>
          </a:p>
        </p:txBody>
      </p:sp>
      <p:sp>
        <p:nvSpPr>
          <p:cNvPr id="10" name="TextBox 9"/>
          <p:cNvSpPr txBox="1"/>
          <p:nvPr/>
        </p:nvSpPr>
        <p:spPr>
          <a:xfrm>
            <a:off x="4297680" y="1417321"/>
            <a:ext cx="3566160" cy="353943"/>
          </a:xfrm>
          <a:prstGeom prst="rect">
            <a:avLst/>
          </a:prstGeom>
          <a:noFill/>
        </p:spPr>
        <p:txBody>
          <a:bodyPr wrap="square">
            <a:spAutoFit/>
          </a:bodyPr>
          <a:lstStyle/>
          <a:p>
            <a:pPr algn="ctr"/>
            <a:r>
              <a:rPr sz="1700" b="1">
                <a:solidFill>
                  <a:srgbClr val="192A3E"/>
                </a:solidFill>
                <a:latin typeface="Aptos"/>
              </a:rPr>
              <a:t>B. STAGE-STRUCTURED</a:t>
            </a:r>
          </a:p>
        </p:txBody>
      </p:sp>
      <p:sp>
        <p:nvSpPr>
          <p:cNvPr id="11" name="TextBox 10"/>
          <p:cNvSpPr txBox="1"/>
          <p:nvPr/>
        </p:nvSpPr>
        <p:spPr>
          <a:xfrm>
            <a:off x="4389120" y="1965959"/>
            <a:ext cx="3383280" cy="969496"/>
          </a:xfrm>
          <a:prstGeom prst="rect">
            <a:avLst/>
          </a:prstGeom>
          <a:noFill/>
        </p:spPr>
        <p:txBody>
          <a:bodyPr wrap="square">
            <a:spAutoFit/>
          </a:bodyPr>
          <a:lstStyle/>
          <a:p>
            <a:pPr algn="ctr"/>
            <a:r>
              <a:rPr sz="1900" b="1">
                <a:solidFill>
                  <a:srgbClr val="2E7A7B"/>
                </a:solidFill>
                <a:latin typeface="Aptos"/>
              </a:rPr>
              <a:t>ASSIGN → OPPORTUNITY → SCORE
→ RECOGNIZE → SELECT</a:t>
            </a:r>
          </a:p>
        </p:txBody>
      </p:sp>
      <p:sp>
        <p:nvSpPr>
          <p:cNvPr id="12" name="TextBox 11"/>
          <p:cNvSpPr txBox="1"/>
          <p:nvPr/>
        </p:nvSpPr>
        <p:spPr>
          <a:xfrm>
            <a:off x="4389120" y="2971801"/>
            <a:ext cx="3383280" cy="553998"/>
          </a:xfrm>
          <a:prstGeom prst="rect">
            <a:avLst/>
          </a:prstGeom>
          <a:noFill/>
        </p:spPr>
        <p:txBody>
          <a:bodyPr wrap="square">
            <a:spAutoFit/>
          </a:bodyPr>
          <a:lstStyle/>
          <a:p>
            <a:pPr algn="ctr"/>
            <a:r>
              <a:rPr sz="1500">
                <a:solidFill>
                  <a:srgbClr val="1C1F22"/>
                </a:solidFill>
                <a:latin typeface="Aptos"/>
              </a:rPr>
              <a:t>Network can enter at different stages by domain.</a:t>
            </a:r>
          </a:p>
        </p:txBody>
      </p:sp>
      <p:sp>
        <p:nvSpPr>
          <p:cNvPr id="13" name="TextBox 12"/>
          <p:cNvSpPr txBox="1"/>
          <p:nvPr/>
        </p:nvSpPr>
        <p:spPr>
          <a:xfrm>
            <a:off x="8092440" y="1417321"/>
            <a:ext cx="3566160" cy="353943"/>
          </a:xfrm>
          <a:prstGeom prst="rect">
            <a:avLst/>
          </a:prstGeom>
          <a:noFill/>
        </p:spPr>
        <p:txBody>
          <a:bodyPr wrap="square">
            <a:spAutoFit/>
          </a:bodyPr>
          <a:lstStyle/>
          <a:p>
            <a:pPr algn="ctr"/>
            <a:r>
              <a:rPr sz="1700" b="1">
                <a:solidFill>
                  <a:srgbClr val="192A3E"/>
                </a:solidFill>
                <a:latin typeface="Aptos"/>
              </a:rPr>
              <a:t>C. HIERARCHICAL</a:t>
            </a:r>
          </a:p>
        </p:txBody>
      </p:sp>
      <p:sp>
        <p:nvSpPr>
          <p:cNvPr id="14" name="TextBox 13"/>
          <p:cNvSpPr txBox="1"/>
          <p:nvPr/>
        </p:nvSpPr>
        <p:spPr>
          <a:xfrm>
            <a:off x="8183879" y="1965961"/>
            <a:ext cx="3383280" cy="384721"/>
          </a:xfrm>
          <a:prstGeom prst="rect">
            <a:avLst/>
          </a:prstGeom>
          <a:noFill/>
        </p:spPr>
        <p:txBody>
          <a:bodyPr wrap="square">
            <a:spAutoFit/>
          </a:bodyPr>
          <a:lstStyle/>
          <a:p>
            <a:pPr algn="ctr"/>
            <a:r>
              <a:rPr sz="1900" b="1">
                <a:solidFill>
                  <a:srgbClr val="6A4C93"/>
                </a:solidFill>
                <a:latin typeface="Aptos"/>
              </a:rPr>
              <a:t>A first → B only if needed</a:t>
            </a:r>
          </a:p>
        </p:txBody>
      </p:sp>
      <p:sp>
        <p:nvSpPr>
          <p:cNvPr id="15" name="TextBox 14"/>
          <p:cNvSpPr txBox="1"/>
          <p:nvPr/>
        </p:nvSpPr>
        <p:spPr>
          <a:xfrm>
            <a:off x="8183879" y="2971800"/>
            <a:ext cx="3383280" cy="784830"/>
          </a:xfrm>
          <a:prstGeom prst="rect">
            <a:avLst/>
          </a:prstGeom>
          <a:noFill/>
        </p:spPr>
        <p:txBody>
          <a:bodyPr wrap="square">
            <a:spAutoFit/>
          </a:bodyPr>
          <a:lstStyle/>
          <a:p>
            <a:pPr algn="ctr"/>
            <a:r>
              <a:rPr sz="1500">
                <a:solidFill>
                  <a:srgbClr val="1C1F22"/>
                </a:solidFill>
                <a:latin typeface="Aptos"/>
              </a:rPr>
              <a:t>Start parsimonious; add stages only where empirical morphology demands them.</a:t>
            </a:r>
          </a:p>
        </p:txBody>
      </p:sp>
      <p:sp>
        <p:nvSpPr>
          <p:cNvPr id="16" name="TextBox 15"/>
          <p:cNvSpPr txBox="1"/>
          <p:nvPr/>
        </p:nvSpPr>
        <p:spPr>
          <a:xfrm>
            <a:off x="3291840" y="4754880"/>
            <a:ext cx="5669280" cy="415498"/>
          </a:xfrm>
          <a:prstGeom prst="rect">
            <a:avLst/>
          </a:prstGeom>
          <a:noFill/>
        </p:spPr>
        <p:txBody>
          <a:bodyPr wrap="square">
            <a:spAutoFit/>
          </a:bodyPr>
          <a:lstStyle/>
          <a:p>
            <a:pPr algn="ctr"/>
            <a:r>
              <a:rPr sz="2100" b="1">
                <a:solidFill>
                  <a:srgbClr val="BE8022"/>
                </a:solidFill>
                <a:latin typeface="Aptos"/>
              </a:rPr>
              <a:t>Working inclination: C — NOT LOCKED</a:t>
            </a:r>
          </a:p>
        </p:txBody>
      </p:sp>
      <p:sp>
        <p:nvSpPr>
          <p:cNvPr id="17" name="Rectangle 16"/>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Decision: explanatory gain vs complexity/identifiability.</a:t>
            </a:r>
          </a:p>
        </p:txBody>
      </p:sp>
      <p:sp>
        <p:nvSpPr>
          <p:cNvPr id="19" name="TextBox 18"/>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3657600" cy="230832"/>
          </a:xfrm>
          <a:prstGeom prst="rect">
            <a:avLst/>
          </a:prstGeom>
          <a:noFill/>
        </p:spPr>
        <p:txBody>
          <a:bodyPr wrap="square">
            <a:spAutoFit/>
          </a:bodyPr>
          <a:lstStyle/>
          <a:p>
            <a:pPr algn="l"/>
            <a:r>
              <a:rPr sz="900" b="1">
                <a:solidFill>
                  <a:srgbClr val="2E5C8A"/>
                </a:solidFill>
                <a:latin typeface="Aptos"/>
              </a:rPr>
              <a:t>ACT V — VALIDATION</a:t>
            </a:r>
          </a:p>
        </p:txBody>
      </p:sp>
      <p:sp>
        <p:nvSpPr>
          <p:cNvPr id="4" name="TextBox 3"/>
          <p:cNvSpPr txBox="1"/>
          <p:nvPr/>
        </p:nvSpPr>
        <p:spPr>
          <a:xfrm>
            <a:off x="502920" y="530352"/>
            <a:ext cx="10698480" cy="477054"/>
          </a:xfrm>
          <a:prstGeom prst="rect">
            <a:avLst/>
          </a:prstGeom>
          <a:noFill/>
        </p:spPr>
        <p:txBody>
          <a:bodyPr wrap="square">
            <a:spAutoFit/>
          </a:bodyPr>
          <a:lstStyle/>
          <a:p>
            <a:pPr algn="l"/>
            <a:r>
              <a:rPr sz="2500" b="1">
                <a:solidFill>
                  <a:srgbClr val="192A3E"/>
                </a:solidFill>
                <a:latin typeface="Aptos"/>
              </a:rPr>
              <a:t>Discovery was exploratory — inference must be stricter</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4"/>
            <a:ext cx="1417320" cy="230832"/>
          </a:xfrm>
          <a:prstGeom prst="rect">
            <a:avLst/>
          </a:prstGeom>
          <a:noFill/>
        </p:spPr>
        <p:txBody>
          <a:bodyPr wrap="square">
            <a:spAutoFit/>
          </a:bodyPr>
          <a:lstStyle/>
          <a:p>
            <a:pPr algn="ctr"/>
            <a:r>
              <a:rPr sz="900" b="1">
                <a:solidFill>
                  <a:srgbClr val="FFFFFF"/>
                </a:solidFill>
                <a:latin typeface="Aptos"/>
              </a:rPr>
              <a:t>PROPOSED</a:t>
            </a:r>
          </a:p>
        </p:txBody>
      </p:sp>
      <p:sp>
        <p:nvSpPr>
          <p:cNvPr id="7" name="TextBox 6"/>
          <p:cNvSpPr txBox="1"/>
          <p:nvPr/>
        </p:nvSpPr>
        <p:spPr>
          <a:xfrm>
            <a:off x="822961" y="1463040"/>
            <a:ext cx="10745249" cy="1836400"/>
          </a:xfrm>
          <a:prstGeom prst="rect">
            <a:avLst/>
          </a:prstGeom>
          <a:noFill/>
        </p:spPr>
        <p:txBody>
          <a:bodyPr wrap="none">
            <a:spAutoFit/>
          </a:bodyPr>
          <a:lstStyle/>
          <a:p>
            <a:pPr>
              <a:spcAft>
                <a:spcPts val="700"/>
              </a:spcAft>
              <a:defRPr sz="1800">
                <a:solidFill>
                  <a:srgbClr val="1C1F22"/>
                </a:solidFill>
                <a:latin typeface="Aptos"/>
              </a:defRPr>
            </a:pPr>
            <a:r>
              <a:t>Many plausible preprocessing and metric choices were explored during discovery.</a:t>
            </a:r>
          </a:p>
          <a:p>
            <a:pPr>
              <a:spcAft>
                <a:spcPts val="700"/>
              </a:spcAft>
              <a:defRPr sz="1800">
                <a:solidFill>
                  <a:srgbClr val="1C1F22"/>
                </a:solidFill>
                <a:latin typeface="Aptos"/>
              </a:defRPr>
            </a:pPr>
            <a:r>
              <a:t>MBB one-game player-seasons materially changed the visual tail and were removed for defensible reasons.</a:t>
            </a:r>
          </a:p>
          <a:p>
            <a:pPr>
              <a:spcAft>
                <a:spcPts val="700"/>
              </a:spcAft>
              <a:defRPr sz="1800">
                <a:solidFill>
                  <a:srgbClr val="1C1F22"/>
                </a:solidFill>
                <a:latin typeface="Aptos"/>
              </a:defRPr>
            </a:pPr>
            <a:r>
              <a:t>Robustness should show the specification space rather than hide it.</a:t>
            </a:r>
          </a:p>
          <a:p>
            <a:pPr>
              <a:spcAft>
                <a:spcPts val="700"/>
              </a:spcAft>
              <a:defRPr sz="1800">
                <a:solidFill>
                  <a:srgbClr val="1C1F22"/>
                </a:solidFill>
                <a:latin typeface="Aptos"/>
              </a:defRPr>
            </a:pPr>
            <a:r>
              <a:t>Model predictions should be tested against held-out or pre-specified empirical summaries where feasible.</a:t>
            </a:r>
          </a:p>
          <a:p>
            <a:pPr>
              <a:spcAft>
                <a:spcPts val="700"/>
              </a:spcAft>
              <a:defRPr sz="1800">
                <a:solidFill>
                  <a:srgbClr val="1C1F22"/>
                </a:solidFill>
                <a:latin typeface="Aptos"/>
              </a:defRPr>
            </a:pPr>
            <a:r>
              <a:t>Mention Steegen et al. as a framework for multiverse analysis / analytic transparency.</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10881360" cy="230832"/>
          </a:xfrm>
          <a:prstGeom prst="rect">
            <a:avLst/>
          </a:prstGeom>
          <a:noFill/>
        </p:spPr>
        <p:txBody>
          <a:bodyPr wrap="square">
            <a:spAutoFit/>
          </a:bodyPr>
          <a:lstStyle/>
          <a:p>
            <a:pPr algn="l"/>
            <a:r>
              <a:rPr sz="900" b="1">
                <a:solidFill>
                  <a:srgbClr val="697078"/>
                </a:solidFill>
                <a:latin typeface="Aptos"/>
              </a:rPr>
              <a:t>WORK REQUIRED: Build formal robustness plan.</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IV — EXPLANATION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Big Fish / Small Pond: an intellectual neighbor</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640080" y="1508760"/>
            <a:ext cx="5212080" cy="369332"/>
          </a:xfrm>
          <a:prstGeom prst="rect">
            <a:avLst/>
          </a:prstGeom>
          <a:noFill/>
        </p:spPr>
        <p:txBody>
          <a:bodyPr wrap="square">
            <a:spAutoFit/>
          </a:bodyPr>
          <a:lstStyle/>
          <a:p>
            <a:pPr algn="l"/>
            <a:r>
              <a:rPr b="1">
                <a:solidFill>
                  <a:srgbClr val="2E5C8A"/>
                </a:solidFill>
                <a:latin typeface="Aptos"/>
              </a:rPr>
              <a:t>What it helps us separate</a:t>
            </a:r>
          </a:p>
        </p:txBody>
      </p:sp>
      <p:sp>
        <p:nvSpPr>
          <p:cNvPr id="8" name="TextBox 7"/>
          <p:cNvSpPr txBox="1"/>
          <p:nvPr/>
        </p:nvSpPr>
        <p:spPr>
          <a:xfrm>
            <a:off x="731520" y="1874519"/>
            <a:ext cx="5074920" cy="1056700"/>
          </a:xfrm>
          <a:prstGeom prst="rect">
            <a:avLst/>
          </a:prstGeom>
          <a:noFill/>
        </p:spPr>
        <p:txBody>
          <a:bodyPr wrap="square">
            <a:spAutoFit/>
          </a:bodyPr>
          <a:lstStyle/>
          <a:p>
            <a:pPr>
              <a:spcAft>
                <a:spcPts val="700"/>
              </a:spcAft>
              <a:defRPr sz="1700">
                <a:solidFill>
                  <a:srgbClr val="1C1F22"/>
                </a:solidFill>
                <a:latin typeface="Aptos"/>
              </a:defRPr>
            </a:pPr>
            <a:r>
              <a:rPr sz="1700"/>
              <a:t>Own ability / performance.</a:t>
            </a:r>
          </a:p>
          <a:p>
            <a:pPr>
              <a:spcAft>
                <a:spcPts val="700"/>
              </a:spcAft>
              <a:defRPr sz="1700">
                <a:solidFill>
                  <a:srgbClr val="1C1F22"/>
                </a:solidFill>
                <a:latin typeface="Aptos"/>
              </a:defRPr>
            </a:pPr>
            <a:r>
              <a:rPr sz="1700"/>
              <a:t>Relative rank within the local peer group.</a:t>
            </a:r>
          </a:p>
          <a:p>
            <a:pPr>
              <a:spcAft>
                <a:spcPts val="700"/>
              </a:spcAft>
              <a:defRPr sz="1700">
                <a:solidFill>
                  <a:srgbClr val="1C1F22"/>
                </a:solidFill>
                <a:latin typeface="Aptos"/>
              </a:defRPr>
            </a:pPr>
            <a:r>
              <a:rPr sz="1700"/>
              <a:t>Mean peer quality / caliber of the pond.</a:t>
            </a:r>
          </a:p>
        </p:txBody>
      </p:sp>
      <p:sp>
        <p:nvSpPr>
          <p:cNvPr id="9" name="TextBox 8"/>
          <p:cNvSpPr txBox="1"/>
          <p:nvPr/>
        </p:nvSpPr>
        <p:spPr>
          <a:xfrm>
            <a:off x="6355080" y="1508760"/>
            <a:ext cx="5120640" cy="369332"/>
          </a:xfrm>
          <a:prstGeom prst="rect">
            <a:avLst/>
          </a:prstGeom>
          <a:noFill/>
        </p:spPr>
        <p:txBody>
          <a:bodyPr wrap="square">
            <a:spAutoFit/>
          </a:bodyPr>
          <a:lstStyle/>
          <a:p>
            <a:pPr algn="l"/>
            <a:r>
              <a:rPr b="1">
                <a:solidFill>
                  <a:srgbClr val="2E7A7B"/>
                </a:solidFill>
                <a:latin typeface="Aptos"/>
              </a:rPr>
              <a:t>Our next question</a:t>
            </a:r>
          </a:p>
        </p:txBody>
      </p:sp>
      <p:sp>
        <p:nvSpPr>
          <p:cNvPr id="10" name="TextBox 9"/>
          <p:cNvSpPr txBox="1"/>
          <p:nvPr/>
        </p:nvSpPr>
        <p:spPr>
          <a:xfrm>
            <a:off x="6446520" y="1874519"/>
            <a:ext cx="4937760" cy="1579920"/>
          </a:xfrm>
          <a:prstGeom prst="rect">
            <a:avLst/>
          </a:prstGeom>
          <a:noFill/>
        </p:spPr>
        <p:txBody>
          <a:bodyPr wrap="square">
            <a:spAutoFit/>
          </a:bodyPr>
          <a:lstStyle/>
          <a:p>
            <a:pPr>
              <a:spcAft>
                <a:spcPts val="700"/>
              </a:spcAft>
              <a:defRPr sz="1700">
                <a:solidFill>
                  <a:srgbClr val="1C1F22"/>
                </a:solidFill>
                <a:latin typeface="Aptos"/>
              </a:defRPr>
            </a:pPr>
            <a:r>
              <a:rPr sz="1700"/>
              <a:t>Do prior studies estimate mean peer quality separately from own ability and rank?</a:t>
            </a:r>
          </a:p>
          <a:p>
            <a:pPr>
              <a:spcAft>
                <a:spcPts val="700"/>
              </a:spcAft>
              <a:defRPr sz="1700">
                <a:solidFill>
                  <a:srgbClr val="1C1F22"/>
                </a:solidFill>
                <a:latin typeface="Aptos"/>
              </a:defRPr>
            </a:pPr>
            <a:r>
              <a:rPr sz="1700"/>
              <a:t>Do they predict scarce career advancement?</a:t>
            </a:r>
          </a:p>
          <a:p>
            <a:pPr>
              <a:spcAft>
                <a:spcPts val="700"/>
              </a:spcAft>
              <a:defRPr sz="1700">
                <a:solidFill>
                  <a:srgbClr val="1C1F22"/>
                </a:solidFill>
                <a:latin typeface="Aptos"/>
              </a:defRPr>
            </a:pPr>
            <a:r>
              <a:rPr sz="1700"/>
              <a:t>Do opposing peer-benefit and distinction forces generate our geometry?</a:t>
            </a:r>
          </a:p>
        </p:txBody>
      </p:sp>
      <p:sp>
        <p:nvSpPr>
          <p:cNvPr id="11" name="Rectangle 1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Read/annotate Elsner &amp; Isphording closely; build nearest-neighbor comparison table.</a:t>
            </a:r>
          </a:p>
        </p:txBody>
      </p:sp>
      <p:sp>
        <p:nvSpPr>
          <p:cNvPr id="13" name="TextBox 1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IV — EXPLANATION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But real pools are not random</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1097280" y="1874519"/>
            <a:ext cx="4389120" cy="492443"/>
          </a:xfrm>
          <a:prstGeom prst="rect">
            <a:avLst/>
          </a:prstGeom>
          <a:noFill/>
        </p:spPr>
        <p:txBody>
          <a:bodyPr wrap="square">
            <a:spAutoFit/>
          </a:bodyPr>
          <a:lstStyle/>
          <a:p>
            <a:pPr algn="ctr"/>
            <a:r>
              <a:rPr sz="2600" b="1">
                <a:solidFill>
                  <a:srgbClr val="192A3E"/>
                </a:solidFill>
                <a:latin typeface="Aptos"/>
              </a:rPr>
              <a:t>Simple mechanism first.</a:t>
            </a:r>
          </a:p>
        </p:txBody>
      </p:sp>
      <p:sp>
        <p:nvSpPr>
          <p:cNvPr id="8" name="TextBox 7"/>
          <p:cNvSpPr txBox="1"/>
          <p:nvPr/>
        </p:nvSpPr>
        <p:spPr>
          <a:xfrm>
            <a:off x="6400800" y="1874520"/>
            <a:ext cx="4389120" cy="492443"/>
          </a:xfrm>
          <a:prstGeom prst="rect">
            <a:avLst/>
          </a:prstGeom>
          <a:noFill/>
        </p:spPr>
        <p:txBody>
          <a:bodyPr wrap="square">
            <a:spAutoFit/>
          </a:bodyPr>
          <a:lstStyle/>
          <a:p>
            <a:pPr algn="ctr"/>
            <a:r>
              <a:rPr sz="2600" b="1">
                <a:solidFill>
                  <a:srgbClr val="2E5C8A"/>
                </a:solidFill>
                <a:latin typeface="Aptos"/>
              </a:rPr>
              <a:t>Then the complication:</a:t>
            </a:r>
          </a:p>
        </p:txBody>
      </p:sp>
      <p:sp>
        <p:nvSpPr>
          <p:cNvPr id="9" name="TextBox 8"/>
          <p:cNvSpPr txBox="1"/>
          <p:nvPr/>
        </p:nvSpPr>
        <p:spPr>
          <a:xfrm>
            <a:off x="1097280" y="3017520"/>
            <a:ext cx="9692640" cy="523220"/>
          </a:xfrm>
          <a:prstGeom prst="rect">
            <a:avLst/>
          </a:prstGeom>
          <a:noFill/>
        </p:spPr>
        <p:txBody>
          <a:bodyPr wrap="square">
            <a:spAutoFit/>
          </a:bodyPr>
          <a:lstStyle/>
          <a:p>
            <a:pPr algn="ctr"/>
            <a:r>
              <a:rPr sz="2800" b="1">
                <a:solidFill>
                  <a:srgbClr val="2E7A7B"/>
                </a:solidFill>
                <a:latin typeface="Aptos"/>
              </a:rPr>
              <a:t>People and talent sort into pools.</a:t>
            </a:r>
          </a:p>
        </p:txBody>
      </p:sp>
      <p:sp>
        <p:nvSpPr>
          <p:cNvPr id="10" name="TextBox 9"/>
          <p:cNvSpPr txBox="1"/>
          <p:nvPr/>
        </p:nvSpPr>
        <p:spPr>
          <a:xfrm>
            <a:off x="1280160" y="4160520"/>
            <a:ext cx="9418320" cy="400110"/>
          </a:xfrm>
          <a:prstGeom prst="rect">
            <a:avLst/>
          </a:prstGeom>
          <a:noFill/>
        </p:spPr>
        <p:txBody>
          <a:bodyPr wrap="square">
            <a:spAutoFit/>
          </a:bodyPr>
          <a:lstStyle/>
          <a:p>
            <a:pPr algn="ctr"/>
            <a:r>
              <a:rPr sz="2000">
                <a:solidFill>
                  <a:srgbClr val="1C1F22"/>
                </a:solidFill>
                <a:latin typeface="Aptos"/>
              </a:rPr>
              <a:t>That is why ASSIGN needs controlled assortativity / homophily.</a:t>
            </a:r>
          </a:p>
        </p:txBody>
      </p:sp>
      <p:sp>
        <p:nvSpPr>
          <p:cNvPr id="11" name="Rectangle 1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Keep network machinery subordinate to the scientific mechanism in the main story.</a:t>
            </a:r>
          </a:p>
        </p:txBody>
      </p:sp>
      <p:sp>
        <p:nvSpPr>
          <p:cNvPr id="13" name="TextBox 1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IV — EXPLANATION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LG / ASSIGN: controlled bipartite formation</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777240" y="1508760"/>
            <a:ext cx="10515600" cy="1913344"/>
          </a:xfrm>
          <a:prstGeom prst="rect">
            <a:avLst/>
          </a:prstGeom>
          <a:noFill/>
        </p:spPr>
        <p:txBody>
          <a:bodyPr wrap="square">
            <a:spAutoFit/>
          </a:bodyPr>
          <a:lstStyle/>
          <a:p>
            <a:pPr>
              <a:spcAft>
                <a:spcPts val="700"/>
              </a:spcAft>
              <a:defRPr sz="1900">
                <a:solidFill>
                  <a:srgbClr val="1C1F22"/>
                </a:solidFill>
                <a:latin typeface="Aptos"/>
              </a:defRPr>
            </a:pPr>
            <a:r>
              <a:rPr sz="1900"/>
              <a:t>Fixed-size bipartite network generator: individuals ↔ pools/teams.</a:t>
            </a:r>
          </a:p>
          <a:p>
            <a:pPr>
              <a:spcAft>
                <a:spcPts val="700"/>
              </a:spcAft>
              <a:defRPr sz="1900">
                <a:solidFill>
                  <a:srgbClr val="1C1F22"/>
                </a:solidFill>
                <a:latin typeface="Aptos"/>
              </a:defRPr>
            </a:pPr>
            <a:r>
              <a:rPr sz="1900"/>
              <a:t>Assignment is assortative on node metadata / talent rather than degree.</a:t>
            </a:r>
          </a:p>
          <a:p>
            <a:pPr>
              <a:spcAft>
                <a:spcPts val="700"/>
              </a:spcAft>
              <a:defRPr sz="1900">
                <a:solidFill>
                  <a:srgbClr val="1C1F22"/>
                </a:solidFill>
                <a:latin typeface="Aptos"/>
              </a:defRPr>
            </a:pPr>
            <a:r>
              <a:rPr sz="1900"/>
              <a:t>Tunable homophily allows realistic nonrandom pool formation while preserving size constraints.</a:t>
            </a:r>
          </a:p>
          <a:p>
            <a:pPr>
              <a:spcAft>
                <a:spcPts val="700"/>
              </a:spcAft>
              <a:defRPr sz="1900">
                <a:solidFill>
                  <a:srgbClr val="1C1F22"/>
                </a:solidFill>
                <a:latin typeface="Aptos"/>
              </a:defRPr>
            </a:pPr>
            <a:r>
              <a:rPr sz="1900"/>
              <a:t>Required role: generate plausible assignment geometry for the minimal model.</a:t>
            </a:r>
          </a:p>
          <a:p>
            <a:pPr>
              <a:spcAft>
                <a:spcPts val="700"/>
              </a:spcAft>
              <a:defRPr sz="1900">
                <a:solidFill>
                  <a:srgbClr val="1C1F22"/>
                </a:solidFill>
                <a:latin typeface="Aptos"/>
              </a:defRPr>
            </a:pPr>
            <a:r>
              <a:rPr sz="1900"/>
              <a:t>Possible independent role: methodological contribution / standalone paper.</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Insert canonical LG equation, parameter definitions, validation plots; perform dedicated novelty search.</a:t>
            </a:r>
          </a:p>
        </p:txBody>
      </p:sp>
      <p:sp>
        <p:nvSpPr>
          <p:cNvPr id="10" name="TextBox 9"/>
          <p:cNvSpPr txBox="1"/>
          <p:nvPr/>
        </p:nvSpPr>
        <p:spPr>
          <a:xfrm>
            <a:off x="8458200" y="6217921"/>
            <a:ext cx="3154680" cy="215444"/>
          </a:xfrm>
          <a:prstGeom prst="rect">
            <a:avLst/>
          </a:prstGeom>
          <a:noFill/>
        </p:spPr>
        <p:txBody>
          <a:bodyPr wrap="square">
            <a:spAutoFit/>
          </a:bodyPr>
          <a:lstStyle/>
          <a:p>
            <a:pPr algn="r"/>
            <a:r>
              <a:rPr sz="800">
                <a:solidFill>
                  <a:srgbClr val="697078"/>
                </a:solidFill>
                <a:latin typeface="Aptos"/>
              </a:rPr>
              <a:t>LG methods paper: potential, not claimed</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IV — EXPLANATION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ASSIGN → SCORE → SELECT</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822960" y="2103120"/>
            <a:ext cx="2834640" cy="523220"/>
          </a:xfrm>
          <a:prstGeom prst="rect">
            <a:avLst/>
          </a:prstGeom>
          <a:noFill/>
        </p:spPr>
        <p:txBody>
          <a:bodyPr wrap="square">
            <a:spAutoFit/>
          </a:bodyPr>
          <a:lstStyle/>
          <a:p>
            <a:pPr algn="ctr"/>
            <a:r>
              <a:rPr sz="2800" b="1">
                <a:solidFill>
                  <a:srgbClr val="2E7A7B"/>
                </a:solidFill>
                <a:latin typeface="Aptos"/>
              </a:rPr>
              <a:t>ASSIGN</a:t>
            </a:r>
          </a:p>
        </p:txBody>
      </p:sp>
      <p:sp>
        <p:nvSpPr>
          <p:cNvPr id="8" name="TextBox 7"/>
          <p:cNvSpPr txBox="1"/>
          <p:nvPr/>
        </p:nvSpPr>
        <p:spPr>
          <a:xfrm>
            <a:off x="3657600" y="2103120"/>
            <a:ext cx="640080" cy="553998"/>
          </a:xfrm>
          <a:prstGeom prst="rect">
            <a:avLst/>
          </a:prstGeom>
          <a:noFill/>
        </p:spPr>
        <p:txBody>
          <a:bodyPr wrap="square">
            <a:spAutoFit/>
          </a:bodyPr>
          <a:lstStyle/>
          <a:p>
            <a:pPr algn="ctr"/>
            <a:r>
              <a:rPr sz="3000" b="1">
                <a:solidFill>
                  <a:srgbClr val="192A3E"/>
                </a:solidFill>
                <a:latin typeface="Aptos"/>
              </a:rPr>
              <a:t>→</a:t>
            </a:r>
          </a:p>
        </p:txBody>
      </p:sp>
      <p:sp>
        <p:nvSpPr>
          <p:cNvPr id="9" name="TextBox 8"/>
          <p:cNvSpPr txBox="1"/>
          <p:nvPr/>
        </p:nvSpPr>
        <p:spPr>
          <a:xfrm>
            <a:off x="4297680" y="2103121"/>
            <a:ext cx="2834640" cy="523220"/>
          </a:xfrm>
          <a:prstGeom prst="rect">
            <a:avLst/>
          </a:prstGeom>
          <a:noFill/>
        </p:spPr>
        <p:txBody>
          <a:bodyPr wrap="square">
            <a:spAutoFit/>
          </a:bodyPr>
          <a:lstStyle/>
          <a:p>
            <a:pPr algn="ctr"/>
            <a:r>
              <a:rPr sz="2800" b="1">
                <a:solidFill>
                  <a:srgbClr val="BE8022"/>
                </a:solidFill>
                <a:latin typeface="Aptos"/>
              </a:rPr>
              <a:t>SCORE</a:t>
            </a:r>
          </a:p>
        </p:txBody>
      </p:sp>
      <p:sp>
        <p:nvSpPr>
          <p:cNvPr id="10" name="TextBox 9"/>
          <p:cNvSpPr txBox="1"/>
          <p:nvPr/>
        </p:nvSpPr>
        <p:spPr>
          <a:xfrm>
            <a:off x="7132320" y="2103120"/>
            <a:ext cx="640080" cy="553998"/>
          </a:xfrm>
          <a:prstGeom prst="rect">
            <a:avLst/>
          </a:prstGeom>
          <a:noFill/>
        </p:spPr>
        <p:txBody>
          <a:bodyPr wrap="square">
            <a:spAutoFit/>
          </a:bodyPr>
          <a:lstStyle/>
          <a:p>
            <a:pPr algn="ctr"/>
            <a:r>
              <a:rPr sz="3000" b="1">
                <a:solidFill>
                  <a:srgbClr val="192A3E"/>
                </a:solidFill>
                <a:latin typeface="Aptos"/>
              </a:rPr>
              <a:t>→</a:t>
            </a:r>
          </a:p>
        </p:txBody>
      </p:sp>
      <p:sp>
        <p:nvSpPr>
          <p:cNvPr id="11" name="TextBox 10"/>
          <p:cNvSpPr txBox="1"/>
          <p:nvPr/>
        </p:nvSpPr>
        <p:spPr>
          <a:xfrm>
            <a:off x="7772400" y="2103121"/>
            <a:ext cx="3383280" cy="523220"/>
          </a:xfrm>
          <a:prstGeom prst="rect">
            <a:avLst/>
          </a:prstGeom>
          <a:noFill/>
        </p:spPr>
        <p:txBody>
          <a:bodyPr wrap="square">
            <a:spAutoFit/>
          </a:bodyPr>
          <a:lstStyle/>
          <a:p>
            <a:pPr algn="ctr"/>
            <a:r>
              <a:rPr sz="2800" b="1">
                <a:solidFill>
                  <a:srgbClr val="AA3F3F"/>
                </a:solidFill>
                <a:latin typeface="Aptos"/>
              </a:rPr>
              <a:t>SELECT</a:t>
            </a:r>
          </a:p>
        </p:txBody>
      </p:sp>
      <p:sp>
        <p:nvSpPr>
          <p:cNvPr id="12" name="TextBox 11"/>
          <p:cNvSpPr txBox="1"/>
          <p:nvPr/>
        </p:nvSpPr>
        <p:spPr>
          <a:xfrm>
            <a:off x="822960" y="3063240"/>
            <a:ext cx="2834640" cy="338554"/>
          </a:xfrm>
          <a:prstGeom prst="rect">
            <a:avLst/>
          </a:prstGeom>
          <a:noFill/>
        </p:spPr>
        <p:txBody>
          <a:bodyPr wrap="square">
            <a:spAutoFit/>
          </a:bodyPr>
          <a:lstStyle/>
          <a:p>
            <a:pPr algn="ctr"/>
            <a:r>
              <a:rPr sz="1600">
                <a:solidFill>
                  <a:srgbClr val="1C1F22"/>
                </a:solidFill>
                <a:latin typeface="Aptos"/>
              </a:rPr>
              <a:t>Homophilic pools</a:t>
            </a:r>
          </a:p>
        </p:txBody>
      </p:sp>
      <p:sp>
        <p:nvSpPr>
          <p:cNvPr id="13" name="TextBox 12"/>
          <p:cNvSpPr txBox="1"/>
          <p:nvPr/>
        </p:nvSpPr>
        <p:spPr>
          <a:xfrm>
            <a:off x="4297680" y="3063240"/>
            <a:ext cx="2834640" cy="338554"/>
          </a:xfrm>
          <a:prstGeom prst="rect">
            <a:avLst/>
          </a:prstGeom>
          <a:noFill/>
        </p:spPr>
        <p:txBody>
          <a:bodyPr wrap="square">
            <a:spAutoFit/>
          </a:bodyPr>
          <a:lstStyle/>
          <a:p>
            <a:pPr algn="ctr"/>
            <a:r>
              <a:rPr sz="1600">
                <a:solidFill>
                  <a:srgbClr val="1C1F22"/>
                </a:solidFill>
                <a:latin typeface="Aptos"/>
              </a:rPr>
              <a:t>Talent + congestion (λ)</a:t>
            </a:r>
          </a:p>
        </p:txBody>
      </p:sp>
      <p:sp>
        <p:nvSpPr>
          <p:cNvPr id="14" name="TextBox 13"/>
          <p:cNvSpPr txBox="1"/>
          <p:nvPr/>
        </p:nvSpPr>
        <p:spPr>
          <a:xfrm>
            <a:off x="7772400" y="3063240"/>
            <a:ext cx="3383280" cy="338554"/>
          </a:xfrm>
          <a:prstGeom prst="rect">
            <a:avLst/>
          </a:prstGeom>
          <a:noFill/>
        </p:spPr>
        <p:txBody>
          <a:bodyPr wrap="square">
            <a:spAutoFit/>
          </a:bodyPr>
          <a:lstStyle/>
          <a:p>
            <a:pPr algn="ctr"/>
            <a:r>
              <a:rPr sz="1600">
                <a:solidFill>
                  <a:srgbClr val="1C1F22"/>
                </a:solidFill>
                <a:latin typeface="Aptos"/>
              </a:rPr>
              <a:t>Top K / scarcity</a:t>
            </a:r>
          </a:p>
        </p:txBody>
      </p:sp>
      <p:sp>
        <p:nvSpPr>
          <p:cNvPr id="15" name="TextBox 14"/>
          <p:cNvSpPr txBox="1"/>
          <p:nvPr/>
        </p:nvSpPr>
        <p:spPr>
          <a:xfrm>
            <a:off x="1143000" y="4572000"/>
            <a:ext cx="9875520" cy="353943"/>
          </a:xfrm>
          <a:prstGeom prst="rect">
            <a:avLst/>
          </a:prstGeom>
          <a:noFill/>
        </p:spPr>
        <p:txBody>
          <a:bodyPr wrap="square">
            <a:spAutoFit/>
          </a:bodyPr>
          <a:lstStyle/>
          <a:p>
            <a:pPr algn="ctr"/>
            <a:r>
              <a:rPr sz="1700" b="1">
                <a:solidFill>
                  <a:srgbClr val="2E5C8A"/>
                </a:solidFill>
                <a:latin typeface="Aptos"/>
              </a:rPr>
              <a:t>λ=0 vs λ&gt;0 knockout already provides qualitative proof-of-concept curvature.</a:t>
            </a:r>
          </a:p>
        </p:txBody>
      </p:sp>
      <p:sp>
        <p:nvSpPr>
          <p:cNvPr id="16" name="Rectangle 15"/>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Regenerate/insert core λ knockout; keep environment distinct from advancement step.</a:t>
            </a:r>
          </a:p>
        </p:txBody>
      </p:sp>
      <p:sp>
        <p:nvSpPr>
          <p:cNvPr id="18" name="TextBox 17"/>
          <p:cNvSpPr txBox="1"/>
          <p:nvPr/>
        </p:nvSpPr>
        <p:spPr>
          <a:xfrm>
            <a:off x="8458200" y="6217921"/>
            <a:ext cx="3154680" cy="215444"/>
          </a:xfrm>
          <a:prstGeom prst="rect">
            <a:avLst/>
          </a:prstGeom>
          <a:noFill/>
        </p:spPr>
        <p:txBody>
          <a:bodyPr wrap="square">
            <a:spAutoFit/>
          </a:bodyPr>
          <a:lstStyle/>
          <a:p>
            <a:pPr algn="r"/>
            <a:r>
              <a:rPr sz="800">
                <a:solidFill>
                  <a:srgbClr val="697078"/>
                </a:solidFill>
                <a:latin typeface="Aptos"/>
              </a:rPr>
              <a:t>G2 must-show</a:t>
            </a:r>
          </a:p>
        </p:txBody>
      </p:sp>
      <p:sp>
        <p:nvSpPr>
          <p:cNvPr id="19" name="TextBox 18"/>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 — PREDICTION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The model must do more than redraw the HERO</a:t>
            </a:r>
          </a:p>
        </p:txBody>
      </p:sp>
      <p:sp>
        <p:nvSpPr>
          <p:cNvPr id="5" name="Rounded Rectangle 4"/>
          <p:cNvSpPr/>
          <p:nvPr/>
        </p:nvSpPr>
        <p:spPr>
          <a:xfrm>
            <a:off x="10378440" y="292608"/>
            <a:ext cx="1417320" cy="384048"/>
          </a:xfrm>
          <a:prstGeom prst="roundRect">
            <a:avLst/>
          </a:prstGeom>
          <a:solidFill>
            <a:srgbClr val="AA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NOT STARTED</a:t>
            </a:r>
          </a:p>
        </p:txBody>
      </p:sp>
      <p:sp>
        <p:nvSpPr>
          <p:cNvPr id="7" name="TextBox 6"/>
          <p:cNvSpPr txBox="1"/>
          <p:nvPr/>
        </p:nvSpPr>
        <p:spPr>
          <a:xfrm>
            <a:off x="1051560" y="2057400"/>
            <a:ext cx="10058400" cy="553998"/>
          </a:xfrm>
          <a:prstGeom prst="rect">
            <a:avLst/>
          </a:prstGeom>
          <a:noFill/>
        </p:spPr>
        <p:txBody>
          <a:bodyPr wrap="square">
            <a:spAutoFit/>
          </a:bodyPr>
          <a:lstStyle/>
          <a:p>
            <a:pPr algn="ctr"/>
            <a:r>
              <a:rPr sz="3000" b="1">
                <a:solidFill>
                  <a:srgbClr val="192A3E"/>
                </a:solidFill>
                <a:latin typeface="Aptos"/>
              </a:rPr>
              <a:t>Explanation  →  Prediction  →  Targeted empirical test</a:t>
            </a:r>
          </a:p>
        </p:txBody>
      </p:sp>
      <p:sp>
        <p:nvSpPr>
          <p:cNvPr id="8" name="TextBox 7"/>
          <p:cNvSpPr txBox="1"/>
          <p:nvPr/>
        </p:nvSpPr>
        <p:spPr>
          <a:xfrm>
            <a:off x="1371600" y="3246120"/>
            <a:ext cx="9326880" cy="1149033"/>
          </a:xfrm>
          <a:prstGeom prst="rect">
            <a:avLst/>
          </a:prstGeom>
          <a:noFill/>
        </p:spPr>
        <p:txBody>
          <a:bodyPr wrap="square">
            <a:spAutoFit/>
          </a:bodyPr>
          <a:lstStyle/>
          <a:p>
            <a:pPr>
              <a:spcAft>
                <a:spcPts val="700"/>
              </a:spcAft>
              <a:defRPr sz="1900">
                <a:solidFill>
                  <a:srgbClr val="1C1F22"/>
                </a:solidFill>
                <a:latin typeface="Aptos"/>
              </a:defRPr>
            </a:pPr>
            <a:r>
              <a:rPr sz="1900"/>
              <a:t>When does the inverted-U strengthen, weaken, shift, or disappear?</a:t>
            </a:r>
          </a:p>
          <a:p>
            <a:pPr>
              <a:spcAft>
                <a:spcPts val="700"/>
              </a:spcAft>
              <a:defRPr sz="1900">
                <a:solidFill>
                  <a:srgbClr val="1C1F22"/>
                </a:solidFill>
                <a:latin typeface="Aptos"/>
              </a:defRPr>
            </a:pPr>
            <a:r>
              <a:rPr sz="1900"/>
              <a:t>Which parameters alter peak location or downturn strength?</a:t>
            </a:r>
          </a:p>
          <a:p>
            <a:pPr>
              <a:spcAft>
                <a:spcPts val="700"/>
              </a:spcAft>
              <a:defRPr sz="1900">
                <a:solidFill>
                  <a:srgbClr val="1C1F22"/>
                </a:solidFill>
                <a:latin typeface="Aptos"/>
              </a:defRPr>
            </a:pPr>
            <a:r>
              <a:rPr sz="1900"/>
              <a:t>Which predictions distinguish congestion from a talent-only explanation?</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Define the smallest set of discriminating comparative statics.</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 — PREDICTION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dirty="0">
                <a:solidFill>
                  <a:srgbClr val="192A3E"/>
                </a:solidFill>
                <a:latin typeface="Aptos"/>
              </a:rPr>
              <a:t>Candidate prediction: the ‘band of excellence’</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822960" y="1554480"/>
            <a:ext cx="10332720" cy="1592744"/>
          </a:xfrm>
          <a:prstGeom prst="rect">
            <a:avLst/>
          </a:prstGeom>
          <a:noFill/>
        </p:spPr>
        <p:txBody>
          <a:bodyPr wrap="square">
            <a:spAutoFit/>
          </a:bodyPr>
          <a:lstStyle/>
          <a:p>
            <a:pPr>
              <a:spcAft>
                <a:spcPts val="700"/>
              </a:spcAft>
              <a:defRPr sz="2000">
                <a:solidFill>
                  <a:srgbClr val="1C1F22"/>
                </a:solidFill>
                <a:latin typeface="Aptos"/>
              </a:defRPr>
            </a:pPr>
            <a:r>
              <a:rPr sz="2000"/>
              <a:t>Exploratory memory: the very best players still tended to be drafted.</a:t>
            </a:r>
          </a:p>
          <a:p>
            <a:pPr>
              <a:spcAft>
                <a:spcPts val="700"/>
              </a:spcAft>
              <a:defRPr sz="2000">
                <a:solidFill>
                  <a:srgbClr val="1C1F22"/>
                </a:solidFill>
                <a:latin typeface="Aptos"/>
              </a:defRPr>
            </a:pPr>
            <a:r>
              <a:rPr sz="2000"/>
              <a:t>Candidate hypothesis: pool sensitivity is greatest for high-but-not-extreme talent.</a:t>
            </a:r>
          </a:p>
          <a:p>
            <a:pPr>
              <a:spcAft>
                <a:spcPts val="700"/>
              </a:spcAft>
              <a:defRPr sz="2000">
                <a:solidFill>
                  <a:srgbClr val="1C1F22"/>
                </a:solidFill>
                <a:latin typeface="Aptos"/>
              </a:defRPr>
            </a:pPr>
            <a:r>
              <a:rPr sz="2000"/>
              <a:t>Model test: map advancement over own talent × LOO peer quality.</a:t>
            </a:r>
          </a:p>
          <a:p>
            <a:pPr>
              <a:spcAft>
                <a:spcPts val="700"/>
              </a:spcAft>
              <a:defRPr sz="2000">
                <a:solidFill>
                  <a:srgbClr val="1C1F22"/>
                </a:solidFill>
                <a:latin typeface="Aptos"/>
              </a:defRPr>
            </a:pPr>
            <a:r>
              <a:rPr sz="2000"/>
              <a:t>Then return to Army/MBB/R1 for targeted heterogeneous-effect tests.</a:t>
            </a:r>
          </a:p>
        </p:txBody>
      </p:sp>
      <p:sp>
        <p:nvSpPr>
          <p:cNvPr id="8" name="TextBox 7"/>
          <p:cNvSpPr txBox="1"/>
          <p:nvPr/>
        </p:nvSpPr>
        <p:spPr>
          <a:xfrm>
            <a:off x="1920240" y="4800600"/>
            <a:ext cx="8321040" cy="477054"/>
          </a:xfrm>
          <a:prstGeom prst="rect">
            <a:avLst/>
          </a:prstGeom>
          <a:noFill/>
        </p:spPr>
        <p:txBody>
          <a:bodyPr wrap="square">
            <a:spAutoFit/>
          </a:bodyPr>
          <a:lstStyle/>
          <a:p>
            <a:pPr algn="ctr"/>
            <a:r>
              <a:rPr sz="2500" b="1">
                <a:solidFill>
                  <a:srgbClr val="6A4C93"/>
                </a:solidFill>
                <a:latin typeface="Aptos"/>
              </a:rPr>
              <a:t>P(success | own talent, peer environment)</a:t>
            </a:r>
          </a:p>
        </p:txBody>
      </p:sp>
      <p:sp>
        <p:nvSpPr>
          <p:cNvPr id="9" name="Rectangle 8"/>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Recover MBB plots if possible; do not present as established until recreated/tested.</a:t>
            </a:r>
          </a:p>
        </p:txBody>
      </p:sp>
      <p:sp>
        <p:nvSpPr>
          <p:cNvPr id="11" name="TextBox 10"/>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 — PREDICTION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Candidate phase map / comparative statics</a:t>
            </a:r>
          </a:p>
        </p:txBody>
      </p:sp>
      <p:sp>
        <p:nvSpPr>
          <p:cNvPr id="5" name="Rounded Rectangle 4"/>
          <p:cNvSpPr/>
          <p:nvPr/>
        </p:nvSpPr>
        <p:spPr>
          <a:xfrm>
            <a:off x="10378440" y="292608"/>
            <a:ext cx="1417320" cy="384048"/>
          </a:xfrm>
          <a:prstGeom prst="roundRect">
            <a:avLst/>
          </a:prstGeom>
          <a:solidFill>
            <a:srgbClr val="AA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NOT STARTED</a:t>
            </a:r>
          </a:p>
        </p:txBody>
      </p:sp>
      <p:sp>
        <p:nvSpPr>
          <p:cNvPr id="7" name="TextBox 6"/>
          <p:cNvSpPr txBox="1"/>
          <p:nvPr/>
        </p:nvSpPr>
        <p:spPr>
          <a:xfrm>
            <a:off x="822960" y="1554480"/>
            <a:ext cx="10332720" cy="2298065"/>
          </a:xfrm>
          <a:prstGeom prst="rect">
            <a:avLst/>
          </a:prstGeom>
          <a:noFill/>
        </p:spPr>
        <p:txBody>
          <a:bodyPr wrap="square">
            <a:spAutoFit/>
          </a:bodyPr>
          <a:lstStyle/>
          <a:p>
            <a:pPr>
              <a:spcAft>
                <a:spcPts val="700"/>
              </a:spcAft>
              <a:defRPr sz="2000">
                <a:solidFill>
                  <a:srgbClr val="1C1F22"/>
                </a:solidFill>
                <a:latin typeface="Aptos"/>
              </a:defRPr>
            </a:pPr>
            <a:r>
              <a:rPr sz="2000"/>
              <a:t>ρ — assignment assortativity / homophily.</a:t>
            </a:r>
          </a:p>
          <a:p>
            <a:pPr>
              <a:spcAft>
                <a:spcPts val="700"/>
              </a:spcAft>
              <a:defRPr sz="2000">
                <a:solidFill>
                  <a:srgbClr val="1C1F22"/>
                </a:solidFill>
                <a:latin typeface="Aptos"/>
              </a:defRPr>
            </a:pPr>
            <a:r>
              <a:rPr sz="2000"/>
              <a:t>λ — congestion / distinction penalty in SCORE.</a:t>
            </a:r>
          </a:p>
          <a:p>
            <a:pPr>
              <a:spcAft>
                <a:spcPts val="700"/>
              </a:spcAft>
              <a:defRPr sz="2000">
                <a:solidFill>
                  <a:srgbClr val="1C1F22"/>
                </a:solidFill>
                <a:latin typeface="Aptos"/>
              </a:defRPr>
            </a:pPr>
            <a:r>
              <a:rPr sz="2000"/>
              <a:t>K/N — advancement scarcity.</a:t>
            </a:r>
          </a:p>
          <a:p>
            <a:pPr>
              <a:spcAft>
                <a:spcPts val="700"/>
              </a:spcAft>
              <a:defRPr sz="2000">
                <a:solidFill>
                  <a:srgbClr val="1C1F22"/>
                </a:solidFill>
                <a:latin typeface="Aptos"/>
              </a:defRPr>
            </a:pPr>
            <a:r>
              <a:rPr sz="2000"/>
              <a:t>Pool size / capacity and variance in pool means.</a:t>
            </a:r>
          </a:p>
          <a:p>
            <a:pPr>
              <a:spcAft>
                <a:spcPts val="700"/>
              </a:spcAft>
              <a:defRPr sz="2000">
                <a:solidFill>
                  <a:srgbClr val="1C1F22"/>
                </a:solidFill>
                <a:latin typeface="Aptos"/>
              </a:defRPr>
            </a:pPr>
            <a:r>
              <a:rPr sz="2000"/>
              <a:t>Potential output: regimes with monotone, peaked, flat, or threshold-like advancement curves.</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Decide which parameters are behavioral mechanisms vs empirical structural constraints vs simulation choices.</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VI — CONSEQUENCE</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Two sides of the phenomenon</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640080" y="1508760"/>
            <a:ext cx="5212080" cy="369332"/>
          </a:xfrm>
          <a:prstGeom prst="rect">
            <a:avLst/>
          </a:prstGeom>
          <a:noFill/>
        </p:spPr>
        <p:txBody>
          <a:bodyPr wrap="square">
            <a:spAutoFit/>
          </a:bodyPr>
          <a:lstStyle/>
          <a:p>
            <a:pPr algn="l"/>
            <a:r>
              <a:rPr b="1">
                <a:solidFill>
                  <a:srgbClr val="2E5C8A"/>
                </a:solidFill>
                <a:latin typeface="Aptos"/>
              </a:rPr>
              <a:t>INDIVIDUAL</a:t>
            </a:r>
          </a:p>
        </p:txBody>
      </p:sp>
      <p:sp>
        <p:nvSpPr>
          <p:cNvPr id="8" name="TextBox 7"/>
          <p:cNvSpPr txBox="1"/>
          <p:nvPr/>
        </p:nvSpPr>
        <p:spPr>
          <a:xfrm>
            <a:off x="731520" y="1874519"/>
            <a:ext cx="5074920" cy="1841530"/>
          </a:xfrm>
          <a:prstGeom prst="rect">
            <a:avLst/>
          </a:prstGeom>
          <a:noFill/>
        </p:spPr>
        <p:txBody>
          <a:bodyPr wrap="square">
            <a:spAutoFit/>
          </a:bodyPr>
          <a:lstStyle/>
          <a:p>
            <a:pPr>
              <a:spcAft>
                <a:spcPts val="700"/>
              </a:spcAft>
              <a:defRPr sz="1700">
                <a:solidFill>
                  <a:srgbClr val="1C1F22"/>
                </a:solidFill>
                <a:latin typeface="Aptos"/>
              </a:defRPr>
            </a:pPr>
            <a:r>
              <a:rPr sz="1700"/>
              <a:t>Given my talent, which pool maximizes my advancement?</a:t>
            </a:r>
          </a:p>
          <a:p>
            <a:pPr>
              <a:spcAft>
                <a:spcPts val="700"/>
              </a:spcAft>
              <a:defRPr sz="1700">
                <a:solidFill>
                  <a:srgbClr val="1C1F22"/>
                </a:solidFill>
                <a:latin typeface="Aptos"/>
              </a:defRPr>
            </a:pPr>
            <a:r>
              <a:rPr sz="1700"/>
              <a:t>Where you compete may matter even when we know how good you are.</a:t>
            </a:r>
          </a:p>
          <a:p>
            <a:pPr>
              <a:spcAft>
                <a:spcPts val="700"/>
              </a:spcAft>
              <a:defRPr sz="1700">
                <a:solidFill>
                  <a:srgbClr val="1C1F22"/>
                </a:solidFill>
                <a:latin typeface="Aptos"/>
              </a:defRPr>
            </a:pPr>
            <a:r>
              <a:rPr sz="1700"/>
              <a:t>Possible risk: excellent-but-not-extreme individuals naively enter environments that reduce distinction.</a:t>
            </a:r>
          </a:p>
        </p:txBody>
      </p:sp>
      <p:sp>
        <p:nvSpPr>
          <p:cNvPr id="9" name="TextBox 8"/>
          <p:cNvSpPr txBox="1"/>
          <p:nvPr/>
        </p:nvSpPr>
        <p:spPr>
          <a:xfrm>
            <a:off x="6355080" y="1508760"/>
            <a:ext cx="5120640" cy="369332"/>
          </a:xfrm>
          <a:prstGeom prst="rect">
            <a:avLst/>
          </a:prstGeom>
          <a:noFill/>
        </p:spPr>
        <p:txBody>
          <a:bodyPr wrap="square">
            <a:spAutoFit/>
          </a:bodyPr>
          <a:lstStyle/>
          <a:p>
            <a:pPr algn="l"/>
            <a:r>
              <a:rPr b="1">
                <a:solidFill>
                  <a:srgbClr val="2E7A7B"/>
                </a:solidFill>
                <a:latin typeface="Aptos"/>
              </a:rPr>
              <a:t>ORGANIZATION</a:t>
            </a:r>
          </a:p>
        </p:txBody>
      </p:sp>
      <p:sp>
        <p:nvSpPr>
          <p:cNvPr id="10" name="TextBox 9"/>
          <p:cNvSpPr txBox="1"/>
          <p:nvPr/>
        </p:nvSpPr>
        <p:spPr>
          <a:xfrm>
            <a:off x="6446520" y="1874519"/>
            <a:ext cx="4937760" cy="1841530"/>
          </a:xfrm>
          <a:prstGeom prst="rect">
            <a:avLst/>
          </a:prstGeom>
          <a:noFill/>
        </p:spPr>
        <p:txBody>
          <a:bodyPr wrap="square">
            <a:spAutoFit/>
          </a:bodyPr>
          <a:lstStyle/>
          <a:p>
            <a:pPr>
              <a:spcAft>
                <a:spcPts val="700"/>
              </a:spcAft>
              <a:defRPr sz="1700">
                <a:solidFill>
                  <a:srgbClr val="1C1F22"/>
                </a:solidFill>
                <a:latin typeface="Aptos"/>
              </a:defRPr>
            </a:pPr>
            <a:r>
              <a:rPr sz="1700"/>
              <a:t>Given finite resources, what talent configuration best leverages the talent assembled?</a:t>
            </a:r>
          </a:p>
          <a:p>
            <a:pPr>
              <a:spcAft>
                <a:spcPts val="700"/>
              </a:spcAft>
              <a:defRPr sz="1700">
                <a:solidFill>
                  <a:srgbClr val="1C1F22"/>
                </a:solidFill>
                <a:latin typeface="Aptos"/>
              </a:defRPr>
            </a:pPr>
            <a:r>
              <a:rPr sz="1700"/>
              <a:t>Not merely recognition/retention—collective output is the dependent variable.</a:t>
            </a:r>
          </a:p>
          <a:p>
            <a:pPr>
              <a:spcAft>
                <a:spcPts val="700"/>
              </a:spcAft>
              <a:defRPr sz="1700">
                <a:solidFill>
                  <a:srgbClr val="1C1F22"/>
                </a:solidFill>
                <a:latin typeface="Aptos"/>
              </a:defRPr>
            </a:pPr>
            <a:r>
              <a:rPr sz="1700"/>
              <a:t>Individual optimum and organizational optimum need not coincide.</a:t>
            </a:r>
          </a:p>
        </p:txBody>
      </p:sp>
      <p:sp>
        <p:nvSpPr>
          <p:cNvPr id="11" name="Rectangle 1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Keep organizational leverage as extension unless a clean team-output analysis is feasible.</a:t>
            </a:r>
          </a:p>
        </p:txBody>
      </p:sp>
      <p:sp>
        <p:nvSpPr>
          <p:cNvPr id="13" name="TextBox 1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VI — CONSEQUENCE</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Organizational leverage: the roster-allocation question</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OPTIONAL</a:t>
            </a:r>
          </a:p>
        </p:txBody>
      </p:sp>
      <p:sp>
        <p:nvSpPr>
          <p:cNvPr id="7" name="TextBox 6"/>
          <p:cNvSpPr txBox="1"/>
          <p:nvPr/>
        </p:nvSpPr>
        <p:spPr>
          <a:xfrm>
            <a:off x="914400" y="1828800"/>
            <a:ext cx="2743200" cy="461665"/>
          </a:xfrm>
          <a:prstGeom prst="rect">
            <a:avLst/>
          </a:prstGeom>
          <a:noFill/>
        </p:spPr>
        <p:txBody>
          <a:bodyPr wrap="square">
            <a:spAutoFit/>
          </a:bodyPr>
          <a:lstStyle/>
          <a:p>
            <a:pPr algn="ctr"/>
            <a:r>
              <a:rPr sz="2400" b="1">
                <a:solidFill>
                  <a:srgbClr val="192A3E"/>
                </a:solidFill>
                <a:latin typeface="Aptos"/>
              </a:rPr>
              <a:t>$30M budget</a:t>
            </a:r>
          </a:p>
        </p:txBody>
      </p:sp>
      <p:sp>
        <p:nvSpPr>
          <p:cNvPr id="8" name="TextBox 7"/>
          <p:cNvSpPr txBox="1"/>
          <p:nvPr/>
        </p:nvSpPr>
        <p:spPr>
          <a:xfrm>
            <a:off x="822960" y="2743200"/>
            <a:ext cx="3017520" cy="492443"/>
          </a:xfrm>
          <a:prstGeom prst="rect">
            <a:avLst/>
          </a:prstGeom>
          <a:noFill/>
        </p:spPr>
        <p:txBody>
          <a:bodyPr wrap="square">
            <a:spAutoFit/>
          </a:bodyPr>
          <a:lstStyle/>
          <a:p>
            <a:pPr algn="ctr"/>
            <a:r>
              <a:rPr sz="2600" b="1">
                <a:solidFill>
                  <a:srgbClr val="AA3F3F"/>
                </a:solidFill>
                <a:latin typeface="Aptos"/>
              </a:rPr>
              <a:t>3 × $10M stars</a:t>
            </a:r>
          </a:p>
        </p:txBody>
      </p:sp>
      <p:sp>
        <p:nvSpPr>
          <p:cNvPr id="9" name="TextBox 8"/>
          <p:cNvSpPr txBox="1"/>
          <p:nvPr/>
        </p:nvSpPr>
        <p:spPr>
          <a:xfrm>
            <a:off x="3977639" y="2743200"/>
            <a:ext cx="914400" cy="461665"/>
          </a:xfrm>
          <a:prstGeom prst="rect">
            <a:avLst/>
          </a:prstGeom>
          <a:noFill/>
        </p:spPr>
        <p:txBody>
          <a:bodyPr wrap="square">
            <a:spAutoFit/>
          </a:bodyPr>
          <a:lstStyle/>
          <a:p>
            <a:pPr algn="ctr"/>
            <a:r>
              <a:rPr sz="2400" b="1">
                <a:solidFill>
                  <a:srgbClr val="697078"/>
                </a:solidFill>
                <a:latin typeface="Aptos"/>
              </a:rPr>
              <a:t>vs.</a:t>
            </a:r>
          </a:p>
        </p:txBody>
      </p:sp>
      <p:sp>
        <p:nvSpPr>
          <p:cNvPr id="10" name="TextBox 9"/>
          <p:cNvSpPr txBox="1"/>
          <p:nvPr/>
        </p:nvSpPr>
        <p:spPr>
          <a:xfrm>
            <a:off x="4937760" y="2743201"/>
            <a:ext cx="5212080" cy="492443"/>
          </a:xfrm>
          <a:prstGeom prst="rect">
            <a:avLst/>
          </a:prstGeom>
          <a:noFill/>
        </p:spPr>
        <p:txBody>
          <a:bodyPr wrap="square">
            <a:spAutoFit/>
          </a:bodyPr>
          <a:lstStyle/>
          <a:p>
            <a:pPr algn="ctr"/>
            <a:r>
              <a:rPr sz="2600" b="1">
                <a:solidFill>
                  <a:srgbClr val="2E7A7B"/>
                </a:solidFill>
                <a:latin typeface="Aptos"/>
              </a:rPr>
              <a:t>2 × $10M + 5 × $2M</a:t>
            </a:r>
          </a:p>
        </p:txBody>
      </p:sp>
      <p:sp>
        <p:nvSpPr>
          <p:cNvPr id="11" name="TextBox 10"/>
          <p:cNvSpPr txBox="1"/>
          <p:nvPr/>
        </p:nvSpPr>
        <p:spPr>
          <a:xfrm>
            <a:off x="1005840" y="4023360"/>
            <a:ext cx="10149840" cy="738664"/>
          </a:xfrm>
          <a:prstGeom prst="rect">
            <a:avLst/>
          </a:prstGeom>
          <a:noFill/>
        </p:spPr>
        <p:txBody>
          <a:bodyPr wrap="square">
            <a:spAutoFit/>
          </a:bodyPr>
          <a:lstStyle/>
          <a:p>
            <a:pPr algn="ctr"/>
            <a:r>
              <a:rPr sz="2100">
                <a:solidFill>
                  <a:srgbClr val="1C1F22"/>
                </a:solidFill>
                <a:latin typeface="Aptos"/>
              </a:rPr>
              <a:t>When does the marginal contribution of another superstar become smaller than a broader allocation of talent?</a:t>
            </a:r>
          </a:p>
        </p:txBody>
      </p:sp>
      <p:sp>
        <p:nvSpPr>
          <p:cNvPr id="12" name="Rectangle 11"/>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Possible MBB/team-performance extension; compare with ‘too-much-talent’ literature.</a:t>
            </a:r>
          </a:p>
        </p:txBody>
      </p:sp>
      <p:sp>
        <p:nvSpPr>
          <p:cNvPr id="14" name="TextBox 13"/>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VI — CONSEQUENCE</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High-upside network extension</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OPTIONAL</a:t>
            </a:r>
          </a:p>
        </p:txBody>
      </p:sp>
      <p:sp>
        <p:nvSpPr>
          <p:cNvPr id="7" name="TextBox 6"/>
          <p:cNvSpPr txBox="1"/>
          <p:nvPr/>
        </p:nvSpPr>
        <p:spPr>
          <a:xfrm>
            <a:off x="1097280" y="1874519"/>
            <a:ext cx="9966960" cy="553998"/>
          </a:xfrm>
          <a:prstGeom prst="rect">
            <a:avLst/>
          </a:prstGeom>
          <a:noFill/>
        </p:spPr>
        <p:txBody>
          <a:bodyPr wrap="square">
            <a:spAutoFit/>
          </a:bodyPr>
          <a:lstStyle/>
          <a:p>
            <a:pPr algn="ctr"/>
            <a:r>
              <a:rPr sz="3000" b="1">
                <a:solidFill>
                  <a:srgbClr val="6A4C93"/>
                </a:solidFill>
                <a:latin typeface="Aptos"/>
              </a:rPr>
              <a:t>Can network structure itself predict advancement?</a:t>
            </a:r>
          </a:p>
        </p:txBody>
      </p:sp>
      <p:sp>
        <p:nvSpPr>
          <p:cNvPr id="8" name="TextBox 7"/>
          <p:cNvSpPr txBox="1"/>
          <p:nvPr/>
        </p:nvSpPr>
        <p:spPr>
          <a:xfrm>
            <a:off x="1188720" y="2971800"/>
            <a:ext cx="9784080" cy="461665"/>
          </a:xfrm>
          <a:prstGeom prst="rect">
            <a:avLst/>
          </a:prstGeom>
          <a:noFill/>
        </p:spPr>
        <p:txBody>
          <a:bodyPr wrap="square">
            <a:spAutoFit/>
          </a:bodyPr>
          <a:lstStyle/>
          <a:p>
            <a:pPr algn="ctr"/>
            <a:r>
              <a:rPr sz="2400" b="1">
                <a:solidFill>
                  <a:srgbClr val="192A3E"/>
                </a:solidFill>
                <a:latin typeface="Aptos"/>
              </a:rPr>
              <a:t>P(Yᵢ) = f(own talent, peer quality, relative rank, network features)</a:t>
            </a:r>
          </a:p>
        </p:txBody>
      </p:sp>
      <p:sp>
        <p:nvSpPr>
          <p:cNvPr id="9" name="TextBox 8"/>
          <p:cNvSpPr txBox="1"/>
          <p:nvPr/>
        </p:nvSpPr>
        <p:spPr>
          <a:xfrm>
            <a:off x="1188720" y="3886200"/>
            <a:ext cx="9692640" cy="1318310"/>
          </a:xfrm>
          <a:prstGeom prst="rect">
            <a:avLst/>
          </a:prstGeom>
          <a:noFill/>
        </p:spPr>
        <p:txBody>
          <a:bodyPr wrap="square">
            <a:spAutoFit/>
          </a:bodyPr>
          <a:lstStyle/>
          <a:p>
            <a:pPr>
              <a:spcAft>
                <a:spcPts val="700"/>
              </a:spcAft>
              <a:defRPr sz="1700">
                <a:solidFill>
                  <a:srgbClr val="1C1F22"/>
                </a:solidFill>
                <a:latin typeface="Aptos"/>
              </a:defRPr>
            </a:pPr>
            <a:r>
              <a:rPr sz="1700"/>
              <a:t>Dream integration: bipartite structure becomes substantive explanation, not just assignment machinery.</a:t>
            </a:r>
          </a:p>
          <a:p>
            <a:pPr>
              <a:spcAft>
                <a:spcPts val="700"/>
              </a:spcAft>
              <a:defRPr sz="1700">
                <a:solidFill>
                  <a:srgbClr val="1C1F22"/>
                </a:solidFill>
                <a:latin typeface="Aptos"/>
              </a:defRPr>
            </a:pPr>
            <a:r>
              <a:rPr sz="1700"/>
              <a:t>Do not make dissertation completion depend on this.</a:t>
            </a:r>
          </a:p>
          <a:p>
            <a:pPr>
              <a:spcAft>
                <a:spcPts val="700"/>
              </a:spcAft>
              <a:defRPr sz="1700">
                <a:solidFill>
                  <a:srgbClr val="1C1F22"/>
                </a:solidFill>
                <a:latin typeface="Aptos"/>
              </a:defRPr>
            </a:pPr>
            <a:r>
              <a:rPr sz="1700"/>
              <a:t>If unsuccessful, LG still serves the generative model and may stand alone methodologically.</a:t>
            </a:r>
          </a:p>
        </p:txBody>
      </p:sp>
      <p:sp>
        <p:nvSpPr>
          <p:cNvPr id="10" name="Rectangle 9"/>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Explore only after core explanation/prediction path is secured.</a:t>
            </a:r>
          </a:p>
        </p:txBody>
      </p:sp>
      <p:sp>
        <p:nvSpPr>
          <p:cNvPr id="12" name="TextBox 11"/>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DECISION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CHOICE: What constitutes a complete dissertation?</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DECISION</a:t>
            </a:r>
          </a:p>
        </p:txBody>
      </p:sp>
      <p:sp>
        <p:nvSpPr>
          <p:cNvPr id="7" name="TextBox 6"/>
          <p:cNvSpPr txBox="1"/>
          <p:nvPr/>
        </p:nvSpPr>
        <p:spPr>
          <a:xfrm>
            <a:off x="685800" y="1417320"/>
            <a:ext cx="457200" cy="369332"/>
          </a:xfrm>
          <a:prstGeom prst="rect">
            <a:avLst/>
          </a:prstGeom>
          <a:noFill/>
        </p:spPr>
        <p:txBody>
          <a:bodyPr wrap="square">
            <a:spAutoFit/>
          </a:bodyPr>
          <a:lstStyle/>
          <a:p>
            <a:pPr algn="ctr"/>
            <a:r>
              <a:rPr b="1">
                <a:solidFill>
                  <a:srgbClr val="FFFFFF"/>
                </a:solidFill>
                <a:latin typeface="Aptos"/>
              </a:rPr>
              <a:t>A</a:t>
            </a:r>
          </a:p>
        </p:txBody>
      </p:sp>
      <p:sp>
        <p:nvSpPr>
          <p:cNvPr id="8" name="Oval 7"/>
          <p:cNvSpPr/>
          <p:nvPr/>
        </p:nvSpPr>
        <p:spPr>
          <a:xfrm>
            <a:off x="621792" y="1389888"/>
            <a:ext cx="502920" cy="502920"/>
          </a:xfrm>
          <a:prstGeom prst="ellipse">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472184"/>
            <a:ext cx="502920" cy="292388"/>
          </a:xfrm>
          <a:prstGeom prst="rect">
            <a:avLst/>
          </a:prstGeom>
          <a:noFill/>
        </p:spPr>
        <p:txBody>
          <a:bodyPr wrap="square">
            <a:spAutoFit/>
          </a:bodyPr>
          <a:lstStyle/>
          <a:p>
            <a:pPr algn="ctr"/>
            <a:r>
              <a:rPr sz="1300" b="1">
                <a:solidFill>
                  <a:srgbClr val="FFFFFF"/>
                </a:solidFill>
                <a:latin typeface="Aptos"/>
              </a:rPr>
              <a:t>A</a:t>
            </a:r>
          </a:p>
        </p:txBody>
      </p:sp>
      <p:sp>
        <p:nvSpPr>
          <p:cNvPr id="10" name="TextBox 9"/>
          <p:cNvSpPr txBox="1"/>
          <p:nvPr/>
        </p:nvSpPr>
        <p:spPr>
          <a:xfrm>
            <a:off x="1325880" y="1417320"/>
            <a:ext cx="2743200" cy="338554"/>
          </a:xfrm>
          <a:prstGeom prst="rect">
            <a:avLst/>
          </a:prstGeom>
          <a:noFill/>
        </p:spPr>
        <p:txBody>
          <a:bodyPr wrap="square">
            <a:spAutoFit/>
          </a:bodyPr>
          <a:lstStyle/>
          <a:p>
            <a:pPr algn="l"/>
            <a:r>
              <a:rPr sz="1600" b="1">
                <a:solidFill>
                  <a:srgbClr val="192A3E"/>
                </a:solidFill>
                <a:latin typeface="Aptos"/>
              </a:rPr>
              <a:t>Phenomenon + mechanism</a:t>
            </a:r>
          </a:p>
        </p:txBody>
      </p:sp>
      <p:sp>
        <p:nvSpPr>
          <p:cNvPr id="11" name="TextBox 10"/>
          <p:cNvSpPr txBox="1"/>
          <p:nvPr/>
        </p:nvSpPr>
        <p:spPr>
          <a:xfrm>
            <a:off x="3977640" y="1417320"/>
            <a:ext cx="7315200" cy="292388"/>
          </a:xfrm>
          <a:prstGeom prst="rect">
            <a:avLst/>
          </a:prstGeom>
          <a:noFill/>
        </p:spPr>
        <p:txBody>
          <a:bodyPr wrap="square">
            <a:spAutoFit/>
          </a:bodyPr>
          <a:lstStyle/>
          <a:p>
            <a:pPr algn="l"/>
            <a:r>
              <a:rPr sz="1300">
                <a:solidFill>
                  <a:srgbClr val="1C1F22"/>
                </a:solidFill>
                <a:latin typeface="Aptos"/>
              </a:rPr>
              <a:t>Strong Army; strengthened R1; honest MBB; working model generates phenomenon.</a:t>
            </a:r>
          </a:p>
        </p:txBody>
      </p:sp>
      <p:sp>
        <p:nvSpPr>
          <p:cNvPr id="12" name="TextBox 11"/>
          <p:cNvSpPr txBox="1"/>
          <p:nvPr/>
        </p:nvSpPr>
        <p:spPr>
          <a:xfrm>
            <a:off x="685800" y="2441448"/>
            <a:ext cx="457200" cy="369332"/>
          </a:xfrm>
          <a:prstGeom prst="rect">
            <a:avLst/>
          </a:prstGeom>
          <a:noFill/>
        </p:spPr>
        <p:txBody>
          <a:bodyPr wrap="square">
            <a:spAutoFit/>
          </a:bodyPr>
          <a:lstStyle/>
          <a:p>
            <a:pPr algn="ctr"/>
            <a:r>
              <a:rPr b="1">
                <a:solidFill>
                  <a:srgbClr val="FFFFFF"/>
                </a:solidFill>
                <a:latin typeface="Aptos"/>
              </a:rPr>
              <a:t>B</a:t>
            </a:r>
          </a:p>
        </p:txBody>
      </p:sp>
      <p:sp>
        <p:nvSpPr>
          <p:cNvPr id="13" name="Oval 12"/>
          <p:cNvSpPr/>
          <p:nvPr/>
        </p:nvSpPr>
        <p:spPr>
          <a:xfrm>
            <a:off x="621792" y="2414016"/>
            <a:ext cx="502920" cy="502920"/>
          </a:xfrm>
          <a:prstGeom prst="ellipse">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2496312"/>
            <a:ext cx="502920" cy="292388"/>
          </a:xfrm>
          <a:prstGeom prst="rect">
            <a:avLst/>
          </a:prstGeom>
          <a:noFill/>
        </p:spPr>
        <p:txBody>
          <a:bodyPr wrap="square">
            <a:spAutoFit/>
          </a:bodyPr>
          <a:lstStyle/>
          <a:p>
            <a:pPr algn="ctr"/>
            <a:r>
              <a:rPr sz="1300" b="1">
                <a:solidFill>
                  <a:srgbClr val="FFFFFF"/>
                </a:solidFill>
                <a:latin typeface="Aptos"/>
              </a:rPr>
              <a:t>B</a:t>
            </a:r>
          </a:p>
        </p:txBody>
      </p:sp>
      <p:sp>
        <p:nvSpPr>
          <p:cNvPr id="15" name="TextBox 14"/>
          <p:cNvSpPr txBox="1"/>
          <p:nvPr/>
        </p:nvSpPr>
        <p:spPr>
          <a:xfrm>
            <a:off x="1325880" y="2441448"/>
            <a:ext cx="2743200" cy="338554"/>
          </a:xfrm>
          <a:prstGeom prst="rect">
            <a:avLst/>
          </a:prstGeom>
          <a:noFill/>
        </p:spPr>
        <p:txBody>
          <a:bodyPr wrap="square">
            <a:spAutoFit/>
          </a:bodyPr>
          <a:lstStyle/>
          <a:p>
            <a:pPr algn="l"/>
            <a:r>
              <a:rPr sz="1600" b="1">
                <a:solidFill>
                  <a:srgbClr val="192A3E"/>
                </a:solidFill>
                <a:latin typeface="Aptos"/>
              </a:rPr>
              <a:t>+ Model predictions</a:t>
            </a:r>
          </a:p>
        </p:txBody>
      </p:sp>
      <p:sp>
        <p:nvSpPr>
          <p:cNvPr id="16" name="TextBox 15"/>
          <p:cNvSpPr txBox="1"/>
          <p:nvPr/>
        </p:nvSpPr>
        <p:spPr>
          <a:xfrm>
            <a:off x="3977640" y="2441449"/>
            <a:ext cx="7315200" cy="292388"/>
          </a:xfrm>
          <a:prstGeom prst="rect">
            <a:avLst/>
          </a:prstGeom>
          <a:noFill/>
        </p:spPr>
        <p:txBody>
          <a:bodyPr wrap="square">
            <a:spAutoFit/>
          </a:bodyPr>
          <a:lstStyle/>
          <a:p>
            <a:pPr algn="l"/>
            <a:r>
              <a:rPr sz="1300">
                <a:solidFill>
                  <a:srgbClr val="1C1F22"/>
                </a:solidFill>
                <a:latin typeface="Aptos"/>
              </a:rPr>
              <a:t>Comparative statics: when the curve emerges, shifts, weakens, disappears.</a:t>
            </a:r>
          </a:p>
        </p:txBody>
      </p:sp>
      <p:sp>
        <p:nvSpPr>
          <p:cNvPr id="17" name="TextBox 16"/>
          <p:cNvSpPr txBox="1"/>
          <p:nvPr/>
        </p:nvSpPr>
        <p:spPr>
          <a:xfrm>
            <a:off x="685800" y="3465576"/>
            <a:ext cx="457200" cy="369332"/>
          </a:xfrm>
          <a:prstGeom prst="rect">
            <a:avLst/>
          </a:prstGeom>
          <a:noFill/>
        </p:spPr>
        <p:txBody>
          <a:bodyPr wrap="square">
            <a:spAutoFit/>
          </a:bodyPr>
          <a:lstStyle/>
          <a:p>
            <a:pPr algn="ctr"/>
            <a:r>
              <a:rPr b="1">
                <a:solidFill>
                  <a:srgbClr val="FFFFFF"/>
                </a:solidFill>
                <a:latin typeface="Aptos"/>
              </a:rPr>
              <a:t>C</a:t>
            </a:r>
          </a:p>
        </p:txBody>
      </p:sp>
      <p:sp>
        <p:nvSpPr>
          <p:cNvPr id="18" name="Oval 17"/>
          <p:cNvSpPr/>
          <p:nvPr/>
        </p:nvSpPr>
        <p:spPr>
          <a:xfrm>
            <a:off x="621792" y="3438144"/>
            <a:ext cx="502920" cy="502920"/>
          </a:xfrm>
          <a:prstGeom prst="ellipse">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 y="3520440"/>
            <a:ext cx="502920" cy="292388"/>
          </a:xfrm>
          <a:prstGeom prst="rect">
            <a:avLst/>
          </a:prstGeom>
          <a:noFill/>
        </p:spPr>
        <p:txBody>
          <a:bodyPr wrap="square">
            <a:spAutoFit/>
          </a:bodyPr>
          <a:lstStyle/>
          <a:p>
            <a:pPr algn="ctr"/>
            <a:r>
              <a:rPr sz="1300" b="1">
                <a:solidFill>
                  <a:srgbClr val="FFFFFF"/>
                </a:solidFill>
                <a:latin typeface="Aptos"/>
              </a:rPr>
              <a:t>C</a:t>
            </a:r>
          </a:p>
        </p:txBody>
      </p:sp>
      <p:sp>
        <p:nvSpPr>
          <p:cNvPr id="20" name="TextBox 19"/>
          <p:cNvSpPr txBox="1"/>
          <p:nvPr/>
        </p:nvSpPr>
        <p:spPr>
          <a:xfrm>
            <a:off x="1325880" y="3465576"/>
            <a:ext cx="2743200" cy="338554"/>
          </a:xfrm>
          <a:prstGeom prst="rect">
            <a:avLst/>
          </a:prstGeom>
          <a:noFill/>
        </p:spPr>
        <p:txBody>
          <a:bodyPr wrap="square">
            <a:spAutoFit/>
          </a:bodyPr>
          <a:lstStyle/>
          <a:p>
            <a:pPr algn="l"/>
            <a:r>
              <a:rPr sz="1600" b="1">
                <a:solidFill>
                  <a:srgbClr val="192A3E"/>
                </a:solidFill>
                <a:latin typeface="Aptos"/>
              </a:rPr>
              <a:t>+ Empirical tests</a:t>
            </a:r>
          </a:p>
        </p:txBody>
      </p:sp>
      <p:sp>
        <p:nvSpPr>
          <p:cNvPr id="21" name="TextBox 20"/>
          <p:cNvSpPr txBox="1"/>
          <p:nvPr/>
        </p:nvSpPr>
        <p:spPr>
          <a:xfrm>
            <a:off x="3977640" y="3465576"/>
            <a:ext cx="7315200" cy="292388"/>
          </a:xfrm>
          <a:prstGeom prst="rect">
            <a:avLst/>
          </a:prstGeom>
          <a:noFill/>
        </p:spPr>
        <p:txBody>
          <a:bodyPr wrap="square">
            <a:spAutoFit/>
          </a:bodyPr>
          <a:lstStyle/>
          <a:p>
            <a:pPr algn="l"/>
            <a:r>
              <a:rPr sz="1300">
                <a:solidFill>
                  <a:srgbClr val="1C1F22"/>
                </a:solidFill>
                <a:latin typeface="Aptos"/>
              </a:rPr>
              <a:t>Return to real domains and test selected model-derived predictions.</a:t>
            </a:r>
          </a:p>
        </p:txBody>
      </p:sp>
      <p:sp>
        <p:nvSpPr>
          <p:cNvPr id="22" name="TextBox 21"/>
          <p:cNvSpPr txBox="1"/>
          <p:nvPr/>
        </p:nvSpPr>
        <p:spPr>
          <a:xfrm>
            <a:off x="685800" y="4489704"/>
            <a:ext cx="457200" cy="369332"/>
          </a:xfrm>
          <a:prstGeom prst="rect">
            <a:avLst/>
          </a:prstGeom>
          <a:noFill/>
        </p:spPr>
        <p:txBody>
          <a:bodyPr wrap="square">
            <a:spAutoFit/>
          </a:bodyPr>
          <a:lstStyle/>
          <a:p>
            <a:pPr algn="ctr"/>
            <a:r>
              <a:rPr b="1">
                <a:solidFill>
                  <a:srgbClr val="FFFFFF"/>
                </a:solidFill>
                <a:latin typeface="Aptos"/>
              </a:rPr>
              <a:t>D</a:t>
            </a:r>
          </a:p>
        </p:txBody>
      </p:sp>
      <p:sp>
        <p:nvSpPr>
          <p:cNvPr id="23" name="Oval 22"/>
          <p:cNvSpPr/>
          <p:nvPr/>
        </p:nvSpPr>
        <p:spPr>
          <a:xfrm>
            <a:off x="621792" y="4462272"/>
            <a:ext cx="502920" cy="502920"/>
          </a:xfrm>
          <a:prstGeom prst="ellipse">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 y="4544568"/>
            <a:ext cx="502920" cy="292388"/>
          </a:xfrm>
          <a:prstGeom prst="rect">
            <a:avLst/>
          </a:prstGeom>
          <a:noFill/>
        </p:spPr>
        <p:txBody>
          <a:bodyPr wrap="square">
            <a:spAutoFit/>
          </a:bodyPr>
          <a:lstStyle/>
          <a:p>
            <a:pPr algn="ctr"/>
            <a:r>
              <a:rPr sz="1300" b="1">
                <a:solidFill>
                  <a:srgbClr val="FFFFFF"/>
                </a:solidFill>
                <a:latin typeface="Aptos"/>
              </a:rPr>
              <a:t>D</a:t>
            </a:r>
          </a:p>
        </p:txBody>
      </p:sp>
      <p:sp>
        <p:nvSpPr>
          <p:cNvPr id="25" name="TextBox 24"/>
          <p:cNvSpPr txBox="1"/>
          <p:nvPr/>
        </p:nvSpPr>
        <p:spPr>
          <a:xfrm>
            <a:off x="1325880" y="4489704"/>
            <a:ext cx="2743200" cy="338554"/>
          </a:xfrm>
          <a:prstGeom prst="rect">
            <a:avLst/>
          </a:prstGeom>
          <a:noFill/>
        </p:spPr>
        <p:txBody>
          <a:bodyPr wrap="square">
            <a:spAutoFit/>
          </a:bodyPr>
          <a:lstStyle/>
          <a:p>
            <a:pPr algn="l"/>
            <a:r>
              <a:rPr sz="1600" b="1">
                <a:solidFill>
                  <a:srgbClr val="192A3E"/>
                </a:solidFill>
                <a:latin typeface="Aptos"/>
              </a:rPr>
              <a:t>+ Network integration</a:t>
            </a:r>
          </a:p>
        </p:txBody>
      </p:sp>
      <p:sp>
        <p:nvSpPr>
          <p:cNvPr id="26" name="TextBox 25"/>
          <p:cNvSpPr txBox="1"/>
          <p:nvPr/>
        </p:nvSpPr>
        <p:spPr>
          <a:xfrm>
            <a:off x="3977640" y="4489705"/>
            <a:ext cx="7315200" cy="292388"/>
          </a:xfrm>
          <a:prstGeom prst="rect">
            <a:avLst/>
          </a:prstGeom>
          <a:noFill/>
        </p:spPr>
        <p:txBody>
          <a:bodyPr wrap="square">
            <a:spAutoFit/>
          </a:bodyPr>
          <a:lstStyle/>
          <a:p>
            <a:pPr algn="l"/>
            <a:r>
              <a:rPr sz="1300">
                <a:solidFill>
                  <a:srgbClr val="1C1F22"/>
                </a:solidFill>
                <a:latin typeface="Aptos"/>
              </a:rPr>
              <a:t>Network metrics become substantively explanatory/predictive; stretch goal.</a:t>
            </a:r>
          </a:p>
        </p:txBody>
      </p:sp>
      <p:sp>
        <p:nvSpPr>
          <p:cNvPr id="27" name="Rectangle 26"/>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Discussion: defense requirement vs paper vs future work. No choice locked.</a:t>
            </a:r>
          </a:p>
        </p:txBody>
      </p:sp>
      <p:sp>
        <p:nvSpPr>
          <p:cNvPr id="29" name="TextBox 28"/>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DECISION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CHOICE: Where does the model enter the story?</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DECISION</a:t>
            </a:r>
          </a:p>
        </p:txBody>
      </p:sp>
      <p:sp>
        <p:nvSpPr>
          <p:cNvPr id="7" name="TextBox 6"/>
          <p:cNvSpPr txBox="1"/>
          <p:nvPr/>
        </p:nvSpPr>
        <p:spPr>
          <a:xfrm>
            <a:off x="640080" y="1508760"/>
            <a:ext cx="5212080" cy="369332"/>
          </a:xfrm>
          <a:prstGeom prst="rect">
            <a:avLst/>
          </a:prstGeom>
          <a:noFill/>
        </p:spPr>
        <p:txBody>
          <a:bodyPr wrap="square">
            <a:spAutoFit/>
          </a:bodyPr>
          <a:lstStyle/>
          <a:p>
            <a:pPr algn="l"/>
            <a:r>
              <a:rPr b="1">
                <a:solidFill>
                  <a:srgbClr val="2E5C8A"/>
                </a:solidFill>
                <a:latin typeface="Aptos"/>
              </a:rPr>
              <a:t>Routes A / B</a:t>
            </a:r>
          </a:p>
        </p:txBody>
      </p:sp>
      <p:sp>
        <p:nvSpPr>
          <p:cNvPr id="8" name="TextBox 7"/>
          <p:cNvSpPr txBox="1"/>
          <p:nvPr/>
        </p:nvSpPr>
        <p:spPr>
          <a:xfrm>
            <a:off x="731520" y="1874519"/>
            <a:ext cx="5074920" cy="1228541"/>
          </a:xfrm>
          <a:prstGeom prst="rect">
            <a:avLst/>
          </a:prstGeom>
          <a:noFill/>
        </p:spPr>
        <p:txBody>
          <a:bodyPr wrap="square">
            <a:spAutoFit/>
          </a:bodyPr>
          <a:lstStyle/>
          <a:p>
            <a:pPr>
              <a:spcAft>
                <a:spcPts val="700"/>
              </a:spcAft>
              <a:defRPr sz="1700">
                <a:solidFill>
                  <a:srgbClr val="1C1F22"/>
                </a:solidFill>
                <a:latin typeface="Aptos"/>
              </a:defRPr>
            </a:pPr>
            <a:r>
              <a:rPr sz="1700"/>
              <a:t>A — Empirics first: Army → MBB → R1 → synthesis → model.</a:t>
            </a:r>
          </a:p>
          <a:p>
            <a:pPr>
              <a:spcAft>
                <a:spcPts val="700"/>
              </a:spcAft>
              <a:defRPr sz="1700">
                <a:solidFill>
                  <a:srgbClr val="1C1F22"/>
                </a:solidFill>
                <a:latin typeface="Aptos"/>
              </a:defRPr>
            </a:pPr>
            <a:r>
              <a:rPr sz="1700"/>
              <a:t>B — Discovery/model first: Army → model → MBB/R1 as tests.</a:t>
            </a:r>
          </a:p>
        </p:txBody>
      </p:sp>
      <p:sp>
        <p:nvSpPr>
          <p:cNvPr id="9" name="TextBox 8"/>
          <p:cNvSpPr txBox="1"/>
          <p:nvPr/>
        </p:nvSpPr>
        <p:spPr>
          <a:xfrm>
            <a:off x="6355080" y="1508760"/>
            <a:ext cx="5120640" cy="369332"/>
          </a:xfrm>
          <a:prstGeom prst="rect">
            <a:avLst/>
          </a:prstGeom>
          <a:noFill/>
        </p:spPr>
        <p:txBody>
          <a:bodyPr wrap="square">
            <a:spAutoFit/>
          </a:bodyPr>
          <a:lstStyle/>
          <a:p>
            <a:pPr algn="l"/>
            <a:r>
              <a:rPr b="1">
                <a:solidFill>
                  <a:srgbClr val="2E7A7B"/>
                </a:solidFill>
                <a:latin typeface="Aptos"/>
              </a:rPr>
              <a:t>Route C</a:t>
            </a:r>
          </a:p>
        </p:txBody>
      </p:sp>
      <p:sp>
        <p:nvSpPr>
          <p:cNvPr id="10" name="TextBox 9"/>
          <p:cNvSpPr txBox="1"/>
          <p:nvPr/>
        </p:nvSpPr>
        <p:spPr>
          <a:xfrm>
            <a:off x="6446520" y="1874519"/>
            <a:ext cx="4937760" cy="1579920"/>
          </a:xfrm>
          <a:prstGeom prst="rect">
            <a:avLst/>
          </a:prstGeom>
          <a:noFill/>
        </p:spPr>
        <p:txBody>
          <a:bodyPr wrap="square">
            <a:spAutoFit/>
          </a:bodyPr>
          <a:lstStyle/>
          <a:p>
            <a:pPr>
              <a:spcAft>
                <a:spcPts val="700"/>
              </a:spcAft>
              <a:defRPr sz="1700">
                <a:solidFill>
                  <a:srgbClr val="1C1F22"/>
                </a:solidFill>
                <a:latin typeface="Aptos"/>
              </a:defRPr>
            </a:pPr>
            <a:r>
              <a:rPr sz="1700"/>
              <a:t>Army → MBB/R1 → brief cross-domain pattern → model → predictions → return to domains.</a:t>
            </a:r>
          </a:p>
          <a:p>
            <a:pPr>
              <a:spcAft>
                <a:spcPts val="700"/>
              </a:spcAft>
              <a:defRPr sz="1700">
                <a:solidFill>
                  <a:srgbClr val="1C1F22"/>
                </a:solidFill>
                <a:latin typeface="Aptos"/>
              </a:defRPr>
            </a:pPr>
            <a:r>
              <a:rPr sz="1700"/>
              <a:t>Creates a discovery → explanation → test loop.</a:t>
            </a:r>
          </a:p>
          <a:p>
            <a:pPr>
              <a:spcAft>
                <a:spcPts val="700"/>
              </a:spcAft>
              <a:defRPr sz="1700">
                <a:solidFill>
                  <a:srgbClr val="1C1F22"/>
                </a:solidFill>
                <a:latin typeface="Aptos"/>
              </a:defRPr>
            </a:pPr>
            <a:r>
              <a:rPr sz="1700"/>
              <a:t>Potentially strongest, but may require more completed analysis.</a:t>
            </a:r>
          </a:p>
        </p:txBody>
      </p:sp>
      <p:sp>
        <p:nvSpPr>
          <p:cNvPr id="11" name="Rectangle 10"/>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Present as architecture options; do not lock until discussion.</a:t>
            </a:r>
          </a:p>
        </p:txBody>
      </p:sp>
      <p:sp>
        <p:nvSpPr>
          <p:cNvPr id="13" name="TextBox 12"/>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DECISION</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CHOICE: How much of the discovery journey?</a:t>
            </a:r>
          </a:p>
        </p:txBody>
      </p:sp>
      <p:sp>
        <p:nvSpPr>
          <p:cNvPr id="5" name="Rounded Rectangle 4"/>
          <p:cNvSpPr/>
          <p:nvPr/>
        </p:nvSpPr>
        <p:spPr>
          <a:xfrm>
            <a:off x="10378440" y="292608"/>
            <a:ext cx="1417320" cy="384048"/>
          </a:xfrm>
          <a:prstGeom prst="roundRect">
            <a:avLst/>
          </a:prstGeom>
          <a:solidFill>
            <a:srgbClr val="2E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DECISION</a:t>
            </a:r>
          </a:p>
        </p:txBody>
      </p:sp>
      <p:sp>
        <p:nvSpPr>
          <p:cNvPr id="7" name="TextBox 6"/>
          <p:cNvSpPr txBox="1"/>
          <p:nvPr/>
        </p:nvSpPr>
        <p:spPr>
          <a:xfrm>
            <a:off x="868680" y="1645920"/>
            <a:ext cx="10241280" cy="1654299"/>
          </a:xfrm>
          <a:prstGeom prst="rect">
            <a:avLst/>
          </a:prstGeom>
          <a:noFill/>
        </p:spPr>
        <p:txBody>
          <a:bodyPr wrap="square">
            <a:spAutoFit/>
          </a:bodyPr>
          <a:lstStyle/>
          <a:p>
            <a:pPr>
              <a:spcAft>
                <a:spcPts val="700"/>
              </a:spcAft>
              <a:defRPr sz="2100">
                <a:solidFill>
                  <a:srgbClr val="1C1F22"/>
                </a:solidFill>
                <a:latin typeface="Aptos"/>
              </a:defRPr>
            </a:pPr>
            <a:r>
              <a:rPr sz="2100"/>
              <a:t>A — Working choice: foreground the scientific journey and analytical transparency.</a:t>
            </a:r>
          </a:p>
          <a:p>
            <a:pPr>
              <a:spcAft>
                <a:spcPts val="700"/>
              </a:spcAft>
              <a:defRPr sz="2100">
                <a:solidFill>
                  <a:srgbClr val="1C1F22"/>
                </a:solidFill>
                <a:latin typeface="Aptos"/>
              </a:defRPr>
            </a:pPr>
            <a:r>
              <a:rPr sz="2100"/>
              <a:t>B — Selective journey: only moments that strengthen credibility.</a:t>
            </a:r>
          </a:p>
          <a:p>
            <a:pPr>
              <a:spcAft>
                <a:spcPts val="700"/>
              </a:spcAft>
              <a:defRPr sz="2100">
                <a:solidFill>
                  <a:srgbClr val="1C1F22"/>
                </a:solidFill>
                <a:latin typeface="Aptos"/>
              </a:defRPr>
            </a:pPr>
            <a:r>
              <a:rPr sz="2100"/>
              <a:t>C — Finished argument only: minimize research-history narrative.</a:t>
            </a:r>
          </a:p>
          <a:p>
            <a:pPr>
              <a:spcAft>
                <a:spcPts val="700"/>
              </a:spcAft>
              <a:defRPr sz="2100">
                <a:solidFill>
                  <a:srgbClr val="1C1F22"/>
                </a:solidFill>
                <a:latin typeface="Aptos"/>
              </a:defRPr>
            </a:pPr>
            <a:r>
              <a:rPr sz="2100"/>
              <a:t>Current storyboard uses A, with B/C available if a tighter defense narrative is preferred.</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Revisit after first full storyboard read-through.</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APPENDIX PLANNING</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Parking lot / reserve forces</a:t>
            </a:r>
          </a:p>
        </p:txBody>
      </p:sp>
      <p:sp>
        <p:nvSpPr>
          <p:cNvPr id="5" name="Rounded Rectangle 4"/>
          <p:cNvSpPr/>
          <p:nvPr/>
        </p:nvSpPr>
        <p:spPr>
          <a:xfrm>
            <a:off x="10378440" y="292608"/>
            <a:ext cx="1417320" cy="384048"/>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OPTIONAL</a:t>
            </a:r>
          </a:p>
        </p:txBody>
      </p:sp>
      <p:sp>
        <p:nvSpPr>
          <p:cNvPr id="7" name="TextBox 6"/>
          <p:cNvSpPr txBox="1"/>
          <p:nvPr/>
        </p:nvSpPr>
        <p:spPr>
          <a:xfrm>
            <a:off x="777240" y="1417320"/>
            <a:ext cx="10515600" cy="2569934"/>
          </a:xfrm>
          <a:prstGeom prst="rect">
            <a:avLst/>
          </a:prstGeom>
          <a:noFill/>
        </p:spPr>
        <p:txBody>
          <a:bodyPr wrap="square">
            <a:spAutoFit/>
          </a:bodyPr>
          <a:lstStyle/>
          <a:p>
            <a:pPr>
              <a:spcAft>
                <a:spcPts val="700"/>
              </a:spcAft>
              <a:defRPr sz="1800">
                <a:solidFill>
                  <a:srgbClr val="1C1F22"/>
                </a:solidFill>
                <a:latin typeface="Aptos"/>
              </a:defRPr>
            </a:pPr>
            <a:r>
              <a:t>NCAA football — modular codebase can interrogate quickly; reserve pending theory-driven need.</a:t>
            </a:r>
          </a:p>
          <a:p>
            <a:pPr>
              <a:spcAft>
                <a:spcPts val="700"/>
              </a:spcAft>
              <a:defRPr sz="1800">
                <a:solidFill>
                  <a:srgbClr val="1C1F22"/>
                </a:solidFill>
                <a:latin typeface="Aptos"/>
              </a:defRPr>
            </a:pPr>
            <a:r>
              <a:t>League of Legends — reserve dataset.</a:t>
            </a:r>
          </a:p>
          <a:p>
            <a:pPr>
              <a:spcAft>
                <a:spcPts val="700"/>
              </a:spcAft>
              <a:defRPr sz="1800">
                <a:solidFill>
                  <a:srgbClr val="1C1F22"/>
                </a:solidFill>
                <a:latin typeface="Aptos"/>
              </a:defRPr>
            </a:pPr>
            <a:r>
              <a:t>Two additional academic datasets — not yet understood; reserve.</a:t>
            </a:r>
          </a:p>
          <a:p>
            <a:pPr>
              <a:spcAft>
                <a:spcPts val="700"/>
              </a:spcAft>
              <a:defRPr sz="1800">
                <a:solidFill>
                  <a:srgbClr val="1C1F22"/>
                </a:solidFill>
                <a:latin typeface="Aptos"/>
              </a:defRPr>
            </a:pPr>
            <a:r>
              <a:t>Additional academic fields — not current priority; expand + robustify R1 CS first.</a:t>
            </a:r>
          </a:p>
          <a:p>
            <a:pPr>
              <a:spcAft>
                <a:spcPts val="700"/>
              </a:spcAft>
              <a:defRPr sz="1800">
                <a:solidFill>
                  <a:srgbClr val="1C1F22"/>
                </a:solidFill>
                <a:latin typeface="Aptos"/>
              </a:defRPr>
            </a:pPr>
            <a:r>
              <a:t>Organizational output / team success analysis — possible extension.</a:t>
            </a:r>
          </a:p>
          <a:p>
            <a:pPr>
              <a:spcAft>
                <a:spcPts val="700"/>
              </a:spcAft>
              <a:defRPr sz="1800">
                <a:solidFill>
                  <a:srgbClr val="1C1F22"/>
                </a:solidFill>
                <a:latin typeface="Aptos"/>
              </a:defRPr>
            </a:pPr>
            <a:r>
              <a:t>LG standalone methods paper — possible independent contribution.</a:t>
            </a:r>
          </a:p>
          <a:p>
            <a:pPr>
              <a:spcAft>
                <a:spcPts val="700"/>
              </a:spcAft>
              <a:defRPr sz="1800">
                <a:solidFill>
                  <a:srgbClr val="1C1F22"/>
                </a:solidFill>
                <a:latin typeface="Aptos"/>
              </a:defRPr>
            </a:pPr>
            <a:r>
              <a:t>Big Fish / Small Pond — literature bridge, not a new defense dataset.</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Only activate a reserve dataset when a model prediction gives a reason to use it.</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ROADMAP</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Near-term work implied by the story</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731520" y="1417320"/>
            <a:ext cx="10698480" cy="2757165"/>
          </a:xfrm>
          <a:prstGeom prst="rect">
            <a:avLst/>
          </a:prstGeom>
          <a:noFill/>
        </p:spPr>
        <p:txBody>
          <a:bodyPr wrap="square">
            <a:spAutoFit/>
          </a:bodyPr>
          <a:lstStyle/>
          <a:p>
            <a:pPr>
              <a:spcAft>
                <a:spcPts val="700"/>
              </a:spcAft>
              <a:defRPr sz="1800">
                <a:solidFill>
                  <a:srgbClr val="1C1F22"/>
                </a:solidFill>
                <a:latin typeface="Aptos"/>
              </a:defRPr>
            </a:pPr>
            <a:r>
              <a:t>1. Army: refresh canonical HERO / naïve figures; recover TB×rank×hazard surfaces; create own×LOO surface.</a:t>
            </a:r>
          </a:p>
          <a:p>
            <a:pPr>
              <a:spcAft>
                <a:spcPts val="700"/>
              </a:spcAft>
              <a:defRPr sz="1800">
                <a:solidFill>
                  <a:srgbClr val="1C1F22"/>
                </a:solidFill>
                <a:latin typeface="Aptos"/>
              </a:defRPr>
            </a:pPr>
            <a:r>
              <a:t>2. R1: expand resolved sample; run predefined robustness across pool and performance definitions.</a:t>
            </a:r>
          </a:p>
          <a:p>
            <a:pPr>
              <a:spcAft>
                <a:spcPts val="700"/>
              </a:spcAft>
              <a:defRPr sz="1800">
                <a:solidFill>
                  <a:srgbClr val="1C1F22"/>
                </a:solidFill>
                <a:latin typeface="Aptos"/>
              </a:defRPr>
            </a:pPr>
            <a:r>
              <a:t>3. MBB: harmonize descriptive plots; document cleaning and specification sensitivity; verify selection rate.</a:t>
            </a:r>
          </a:p>
          <a:p>
            <a:pPr>
              <a:spcAft>
                <a:spcPts val="700"/>
              </a:spcAft>
              <a:defRPr sz="1800">
                <a:solidFill>
                  <a:srgbClr val="1C1F22"/>
                </a:solidFill>
                <a:latin typeface="Aptos"/>
              </a:defRPr>
            </a:pPr>
            <a:r>
              <a:t>4. Model: insert LG equation/validation; regenerate λ knockout; define minimal comparative-statics plan.</a:t>
            </a:r>
          </a:p>
          <a:p>
            <a:pPr>
              <a:spcAft>
                <a:spcPts val="700"/>
              </a:spcAft>
              <a:defRPr sz="1800">
                <a:solidFill>
                  <a:srgbClr val="1C1F22"/>
                </a:solidFill>
                <a:latin typeface="Aptos"/>
              </a:defRPr>
            </a:pPr>
            <a:r>
              <a:t>5. Literature: nearest-neighbor review (Big Fish, peer quality/rank, success networks); verify The Formula wording.</a:t>
            </a:r>
          </a:p>
          <a:p>
            <a:pPr>
              <a:spcAft>
                <a:spcPts val="700"/>
              </a:spcAft>
              <a:defRPr sz="1800">
                <a:solidFill>
                  <a:srgbClr val="1C1F22"/>
                </a:solidFill>
                <a:latin typeface="Aptos"/>
              </a:defRPr>
            </a:pPr>
            <a:r>
              <a:t>6. Story: choose dissertation endpoint, model placement, and discovery-process depth.</a:t>
            </a:r>
          </a:p>
        </p:txBody>
      </p:sp>
      <p:sp>
        <p:nvSpPr>
          <p:cNvPr id="8" name="Rectangle 7"/>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Use this as the coding/results roadmap after the story is approved.</a:t>
            </a:r>
          </a:p>
        </p:txBody>
      </p:sp>
      <p:sp>
        <p:nvSpPr>
          <p:cNvPr id="10" name="TextBox 9"/>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ACT VII — WHY IT MATTERS</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Working ending</a:t>
            </a:r>
          </a:p>
        </p:txBody>
      </p:sp>
      <p:sp>
        <p:nvSpPr>
          <p:cNvPr id="5" name="Rounded Rectangle 4"/>
          <p:cNvSpPr/>
          <p:nvPr/>
        </p:nvSpPr>
        <p:spPr>
          <a:xfrm>
            <a:off x="10378440" y="292608"/>
            <a:ext cx="1417320" cy="384048"/>
          </a:xfrm>
          <a:prstGeom prst="roundRect">
            <a:avLst/>
          </a:prstGeom>
          <a:solidFill>
            <a:srgbClr val="BE8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78440" y="329185"/>
            <a:ext cx="1417320" cy="246221"/>
          </a:xfrm>
          <a:prstGeom prst="rect">
            <a:avLst/>
          </a:prstGeom>
          <a:noFill/>
        </p:spPr>
        <p:txBody>
          <a:bodyPr wrap="square">
            <a:spAutoFit/>
          </a:bodyPr>
          <a:lstStyle/>
          <a:p>
            <a:pPr algn="ctr"/>
            <a:r>
              <a:rPr sz="1000" b="1">
                <a:solidFill>
                  <a:srgbClr val="FFFFFF"/>
                </a:solidFill>
                <a:latin typeface="Aptos"/>
              </a:rPr>
              <a:t>PARTIAL</a:t>
            </a:r>
          </a:p>
        </p:txBody>
      </p:sp>
      <p:sp>
        <p:nvSpPr>
          <p:cNvPr id="7" name="TextBox 6"/>
          <p:cNvSpPr txBox="1"/>
          <p:nvPr/>
        </p:nvSpPr>
        <p:spPr>
          <a:xfrm>
            <a:off x="914400" y="1691640"/>
            <a:ext cx="10332720" cy="1015663"/>
          </a:xfrm>
          <a:prstGeom prst="rect">
            <a:avLst/>
          </a:prstGeom>
          <a:noFill/>
        </p:spPr>
        <p:txBody>
          <a:bodyPr wrap="square">
            <a:spAutoFit/>
          </a:bodyPr>
          <a:lstStyle/>
          <a:p>
            <a:pPr algn="ctr"/>
            <a:r>
              <a:rPr sz="3000" b="1">
                <a:solidFill>
                  <a:srgbClr val="192A3E"/>
                </a:solidFill>
                <a:latin typeface="Aptos"/>
              </a:rPr>
              <a:t>Talent does not operate independently of the pool in which it is embedded.</a:t>
            </a:r>
          </a:p>
        </p:txBody>
      </p:sp>
      <p:sp>
        <p:nvSpPr>
          <p:cNvPr id="8" name="TextBox 7"/>
          <p:cNvSpPr txBox="1"/>
          <p:nvPr/>
        </p:nvSpPr>
        <p:spPr>
          <a:xfrm>
            <a:off x="1005840" y="3154680"/>
            <a:ext cx="4480560" cy="353943"/>
          </a:xfrm>
          <a:prstGeom prst="rect">
            <a:avLst/>
          </a:prstGeom>
          <a:noFill/>
        </p:spPr>
        <p:txBody>
          <a:bodyPr wrap="square">
            <a:spAutoFit/>
          </a:bodyPr>
          <a:lstStyle/>
          <a:p>
            <a:pPr algn="ctr"/>
            <a:r>
              <a:rPr sz="1700" b="1">
                <a:solidFill>
                  <a:srgbClr val="2E5C8A"/>
                </a:solidFill>
                <a:latin typeface="Aptos"/>
              </a:rPr>
              <a:t>INDIVIDUAL</a:t>
            </a:r>
          </a:p>
        </p:txBody>
      </p:sp>
      <p:sp>
        <p:nvSpPr>
          <p:cNvPr id="9" name="TextBox 8"/>
          <p:cNvSpPr txBox="1"/>
          <p:nvPr/>
        </p:nvSpPr>
        <p:spPr>
          <a:xfrm>
            <a:off x="1005840" y="3611880"/>
            <a:ext cx="4480560" cy="707886"/>
          </a:xfrm>
          <a:prstGeom prst="rect">
            <a:avLst/>
          </a:prstGeom>
          <a:noFill/>
        </p:spPr>
        <p:txBody>
          <a:bodyPr wrap="square">
            <a:spAutoFit/>
          </a:bodyPr>
          <a:lstStyle/>
          <a:p>
            <a:pPr algn="ctr"/>
            <a:r>
              <a:rPr sz="2000">
                <a:solidFill>
                  <a:srgbClr val="1C1F22"/>
                </a:solidFill>
                <a:latin typeface="Aptos"/>
              </a:rPr>
              <a:t>Which environment best supports my advancement?</a:t>
            </a:r>
          </a:p>
        </p:txBody>
      </p:sp>
      <p:sp>
        <p:nvSpPr>
          <p:cNvPr id="10" name="TextBox 9"/>
          <p:cNvSpPr txBox="1"/>
          <p:nvPr/>
        </p:nvSpPr>
        <p:spPr>
          <a:xfrm>
            <a:off x="6629400" y="3154680"/>
            <a:ext cx="4480560" cy="353943"/>
          </a:xfrm>
          <a:prstGeom prst="rect">
            <a:avLst/>
          </a:prstGeom>
          <a:noFill/>
        </p:spPr>
        <p:txBody>
          <a:bodyPr wrap="square">
            <a:spAutoFit/>
          </a:bodyPr>
          <a:lstStyle/>
          <a:p>
            <a:pPr algn="ctr"/>
            <a:r>
              <a:rPr sz="1700" b="1">
                <a:solidFill>
                  <a:srgbClr val="2E7A7B"/>
                </a:solidFill>
                <a:latin typeface="Aptos"/>
              </a:rPr>
              <a:t>ORGANIZATION</a:t>
            </a:r>
          </a:p>
        </p:txBody>
      </p:sp>
      <p:sp>
        <p:nvSpPr>
          <p:cNvPr id="11" name="TextBox 10"/>
          <p:cNvSpPr txBox="1"/>
          <p:nvPr/>
        </p:nvSpPr>
        <p:spPr>
          <a:xfrm>
            <a:off x="6629400" y="3611880"/>
            <a:ext cx="4480560" cy="707886"/>
          </a:xfrm>
          <a:prstGeom prst="rect">
            <a:avLst/>
          </a:prstGeom>
          <a:noFill/>
        </p:spPr>
        <p:txBody>
          <a:bodyPr wrap="square">
            <a:spAutoFit/>
          </a:bodyPr>
          <a:lstStyle/>
          <a:p>
            <a:pPr algn="ctr"/>
            <a:r>
              <a:rPr sz="2000">
                <a:solidFill>
                  <a:srgbClr val="1C1F22"/>
                </a:solidFill>
                <a:latin typeface="Aptos"/>
              </a:rPr>
              <a:t>How should talent be configured so the organization can best leverage it?</a:t>
            </a:r>
          </a:p>
        </p:txBody>
      </p:sp>
      <p:sp>
        <p:nvSpPr>
          <p:cNvPr id="12" name="TextBox 11"/>
          <p:cNvSpPr txBox="1"/>
          <p:nvPr/>
        </p:nvSpPr>
        <p:spPr>
          <a:xfrm>
            <a:off x="1005840" y="4983480"/>
            <a:ext cx="10149840" cy="369332"/>
          </a:xfrm>
          <a:prstGeom prst="rect">
            <a:avLst/>
          </a:prstGeom>
          <a:noFill/>
        </p:spPr>
        <p:txBody>
          <a:bodyPr wrap="square">
            <a:spAutoFit/>
          </a:bodyPr>
          <a:lstStyle/>
          <a:p>
            <a:pPr algn="ctr"/>
            <a:r>
              <a:rPr b="1">
                <a:solidFill>
                  <a:srgbClr val="6A4C93"/>
                </a:solidFill>
                <a:latin typeface="Aptos"/>
              </a:rPr>
              <a:t>Discovery → Generality → Explanation → Prediction → Test → Consequence</a:t>
            </a:r>
          </a:p>
        </p:txBody>
      </p:sp>
      <p:sp>
        <p:nvSpPr>
          <p:cNvPr id="13" name="Rectangle 12"/>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Final wording should follow what the completed analyses actually support.</a:t>
            </a:r>
          </a:p>
        </p:txBody>
      </p:sp>
      <p:sp>
        <p:nvSpPr>
          <p:cNvPr id="15" name="TextBox 14"/>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2560320" cy="246221"/>
          </a:xfrm>
          <a:prstGeom prst="rect">
            <a:avLst/>
          </a:prstGeom>
          <a:noFill/>
        </p:spPr>
        <p:txBody>
          <a:bodyPr wrap="square">
            <a:spAutoFit/>
          </a:bodyPr>
          <a:lstStyle/>
          <a:p>
            <a:pPr algn="l"/>
            <a:r>
              <a:rPr sz="1000" b="1">
                <a:solidFill>
                  <a:srgbClr val="2E5C8A"/>
                </a:solidFill>
                <a:latin typeface="Aptos"/>
              </a:rPr>
              <a:t>REFERENCES</a:t>
            </a:r>
          </a:p>
        </p:txBody>
      </p:sp>
      <p:sp>
        <p:nvSpPr>
          <p:cNvPr id="4" name="TextBox 3"/>
          <p:cNvSpPr txBox="1"/>
          <p:nvPr/>
        </p:nvSpPr>
        <p:spPr>
          <a:xfrm>
            <a:off x="502920" y="530352"/>
            <a:ext cx="10881360" cy="492443"/>
          </a:xfrm>
          <a:prstGeom prst="rect">
            <a:avLst/>
          </a:prstGeom>
          <a:noFill/>
        </p:spPr>
        <p:txBody>
          <a:bodyPr wrap="square">
            <a:spAutoFit/>
          </a:bodyPr>
          <a:lstStyle/>
          <a:p>
            <a:pPr algn="l"/>
            <a:r>
              <a:rPr sz="2600" b="1">
                <a:solidFill>
                  <a:srgbClr val="192A3E"/>
                </a:solidFill>
                <a:latin typeface="Aptos"/>
              </a:rPr>
              <a:t>Selected anchors for the storyboard</a:t>
            </a:r>
          </a:p>
        </p:txBody>
      </p:sp>
      <p:sp>
        <p:nvSpPr>
          <p:cNvPr id="5" name="TextBox 4"/>
          <p:cNvSpPr txBox="1"/>
          <p:nvPr/>
        </p:nvSpPr>
        <p:spPr>
          <a:xfrm>
            <a:off x="685800" y="1417320"/>
            <a:ext cx="10789920" cy="2528897"/>
          </a:xfrm>
          <a:prstGeom prst="rect">
            <a:avLst/>
          </a:prstGeom>
          <a:noFill/>
        </p:spPr>
        <p:txBody>
          <a:bodyPr wrap="square">
            <a:spAutoFit/>
          </a:bodyPr>
          <a:lstStyle/>
          <a:p>
            <a:pPr>
              <a:spcAft>
                <a:spcPts val="700"/>
              </a:spcAft>
              <a:defRPr sz="1500">
                <a:solidFill>
                  <a:srgbClr val="1C1F22"/>
                </a:solidFill>
                <a:latin typeface="Aptos"/>
              </a:defRPr>
            </a:pPr>
            <a:r>
              <a:rPr sz="1500"/>
              <a:t>Barabási, A.-L. (2018). The Formula: The Universal Laws of Success. Little, Brown.</a:t>
            </a:r>
          </a:p>
          <a:p>
            <a:pPr>
              <a:spcAft>
                <a:spcPts val="700"/>
              </a:spcAft>
              <a:defRPr sz="1500">
                <a:solidFill>
                  <a:srgbClr val="1C1F22"/>
                </a:solidFill>
                <a:latin typeface="Aptos"/>
              </a:defRPr>
            </a:pPr>
            <a:r>
              <a:rPr sz="1500"/>
              <a:t>Fraiberger, S. P., Sinatra, R., Resch, M., Riedl, C., &amp; Barabási, A.-L. (2018). Quantifying reputation and success in art. Science, 362(6416), 825–829. https://doi.org/10.1126/science.aau7224</a:t>
            </a:r>
          </a:p>
          <a:p>
            <a:pPr>
              <a:spcAft>
                <a:spcPts val="700"/>
              </a:spcAft>
              <a:defRPr sz="1500">
                <a:solidFill>
                  <a:srgbClr val="1C1F22"/>
                </a:solidFill>
                <a:latin typeface="Aptos"/>
              </a:defRPr>
            </a:pPr>
            <a:r>
              <a:rPr sz="1500"/>
              <a:t>Steegen, S., Tuerlinckx, F., Gelman, A., &amp; Vanpaemel, W. (2016). Increasing transparency through a multiverse analysis. Perspectives on Psychological Science, 11(5), 702–712. https://doi.org/10.1177/1745691616658637</a:t>
            </a:r>
          </a:p>
          <a:p>
            <a:pPr>
              <a:spcAft>
                <a:spcPts val="700"/>
              </a:spcAft>
              <a:defRPr sz="1500">
                <a:solidFill>
                  <a:srgbClr val="1C1F22"/>
                </a:solidFill>
                <a:latin typeface="Aptos"/>
              </a:defRPr>
            </a:pPr>
            <a:r>
              <a:rPr sz="1500"/>
              <a:t>Elsner, B., &amp; Isphording, I. E. (2017). A Big Fish in a Small Pond: Ability Rank and Human Capital Investment. Journal of Labor Economics, 35(3), 787–828. https://doi.org/10.1086/690714</a:t>
            </a:r>
          </a:p>
          <a:p>
            <a:pPr>
              <a:spcAft>
                <a:spcPts val="700"/>
              </a:spcAft>
              <a:defRPr sz="1500">
                <a:solidFill>
                  <a:srgbClr val="1C1F22"/>
                </a:solidFill>
                <a:latin typeface="Aptos"/>
              </a:defRPr>
            </a:pPr>
            <a:r>
              <a:rPr sz="1500"/>
              <a:t>Swaab, R. I., et al. (2014). The Too-Much-Talent Effect. Psychological Science, 25(8), 1581–1591. https://doi.org/10.1177/0956797614537280</a:t>
            </a:r>
          </a:p>
        </p:txBody>
      </p:sp>
      <p:sp>
        <p:nvSpPr>
          <p:cNvPr id="6" name="Rectangle 5"/>
          <p:cNvSpPr/>
          <p:nvPr/>
        </p:nvSpPr>
        <p:spPr>
          <a:xfrm>
            <a:off x="411480" y="6144768"/>
            <a:ext cx="11384280" cy="457200"/>
          </a:xfrm>
          <a:prstGeom prst="rect">
            <a:avLst/>
          </a:prstGeom>
          <a:solidFill>
            <a:srgbClr val="EF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217920"/>
            <a:ext cx="8046720" cy="246221"/>
          </a:xfrm>
          <a:prstGeom prst="rect">
            <a:avLst/>
          </a:prstGeom>
          <a:noFill/>
        </p:spPr>
        <p:txBody>
          <a:bodyPr wrap="square">
            <a:spAutoFit/>
          </a:bodyPr>
          <a:lstStyle/>
          <a:p>
            <a:pPr algn="l"/>
            <a:r>
              <a:rPr sz="1000" b="1">
                <a:solidFill>
                  <a:srgbClr val="697078"/>
                </a:solidFill>
                <a:latin typeface="Aptos"/>
              </a:rPr>
              <a:t>WORK REQUIRED: Expand only as specific slides require; this is not yet the dissertation bibliography.</a:t>
            </a:r>
          </a:p>
        </p:txBody>
      </p:sp>
      <p:sp>
        <p:nvSpPr>
          <p:cNvPr id="8" name="TextBox 7"/>
          <p:cNvSpPr txBox="1"/>
          <p:nvPr/>
        </p:nvSpPr>
        <p:spPr>
          <a:xfrm>
            <a:off x="11384280" y="6473952"/>
            <a:ext cx="502920" cy="261610"/>
          </a:xfrm>
          <a:prstGeom prst="rect">
            <a:avLst/>
          </a:prstGeom>
          <a:noFill/>
        </p:spPr>
        <p:txBody>
          <a:bodyPr wrap="square">
            <a:spAutoFit/>
          </a:bodyPr>
          <a:lstStyle/>
          <a:p>
            <a:pPr algn="r"/>
            <a:r>
              <a:rPr sz="1100" b="1">
                <a:solidFill>
                  <a:srgbClr val="192A3E"/>
                </a:solidFill>
                <a:latin typeface="Aptos"/>
              </a:rPr>
              <a:t>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17256</Words>
  <Application>Microsoft Macintosh PowerPoint</Application>
  <PresentationFormat>Widescreen</PresentationFormat>
  <Paragraphs>1035</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Levine, Charles Roger CTR USARMY USMA (USA)</cp:lastModifiedBy>
  <cp:revision>55</cp:revision>
  <cp:lastPrinted>2026-09-17T19:10:18Z</cp:lastPrinted>
  <dcterms:created xsi:type="dcterms:W3CDTF">2013-01-27T09:14:16Z</dcterms:created>
  <dcterms:modified xsi:type="dcterms:W3CDTF">2026-09-17T19:10:52Z</dcterms:modified>
  <cp:category/>
</cp:coreProperties>
</file>