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430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192A3E"/>
                </a:solidFill>
                <a:latin typeface="Aptos"/>
              </a:rPr>
              <a:t>Dissertation Storyboard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1488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5C8A"/>
                </a:solidFill>
                <a:latin typeface="Aptos"/>
              </a:rPr>
              <a:t>Performance → Success → Network → Peers → Pool → Advancement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971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697078"/>
                </a:solidFill>
                <a:latin typeface="Aptos"/>
              </a:rPr>
              <a:t>Working slide architecture • completion map • coding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97078"/>
                </a:solidFill>
                <a:latin typeface="Aptos"/>
              </a:rPr>
              <a:t>v0.1 •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977639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C1F22"/>
                </a:solidFill>
                <a:latin typeface="Aptos"/>
              </a:rPr>
              <a:t>Purpose: approve the STORY first; let the remaining analyses follow from the claims the story requires.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Project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A fast read on what is established, what needs strengthening, and what remains exploratory.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347D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7335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47D4E"/>
                </a:solidFill>
                <a:latin typeface="Aptos"/>
              </a:rPr>
              <a:t>ARMY — discovery / bedrock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166420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HERO locked; largest N; refresh key porch figures; recover/review surfaces.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313432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386584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MBB — cross-domain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3774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Sound analysis; HERO weaker after defensible cleaning; ~2.7% draft scarcity is a candidate boundary condition.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26664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6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R1 CS — academic domain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09067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Reliable pilot; N≈391 resolved; expand sample + deepen robustness.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39896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BE80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13048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E8022"/>
                </a:solidFill>
                <a:latin typeface="Aptos"/>
              </a:rPr>
              <a:t>MODEL —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3803904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ASSIGN→SCORE→SELECT exists; LG fixed-size homophilic ASSIGN; λ proof-of-concept exists.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53128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AA3F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26280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A3F3F"/>
                </a:solidFill>
                <a:latin typeface="Aptos"/>
              </a:rPr>
              <a:t>PREDICTIONS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517136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Comparative statics, band-of-excellence, targeted empirical tests still to develop.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166360"/>
            <a:ext cx="10881360" cy="603504"/>
          </a:xfrm>
          <a:prstGeom prst="roundRect">
            <a:avLst/>
          </a:prstGeom>
          <a:solidFill>
            <a:srgbClr val="F8F9FA"/>
          </a:solidFill>
          <a:ln>
            <a:solidFill>
              <a:srgbClr val="6A4C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239512"/>
            <a:ext cx="2880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A4C93"/>
                </a:solidFill>
                <a:latin typeface="Aptos"/>
              </a:rPr>
              <a:t>NETWORK / ORG EXTENSIONS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523036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F22"/>
                </a:solidFill>
                <a:latin typeface="Aptos"/>
              </a:rPr>
              <a:t>High-upside stretch: predictive network metrics; organizational talent leverage.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Validate this dashboard against the current repo as figures are regenerated.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COMPASS handoff / Sep 16 locks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Performance is not success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105156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Barabási’s success framing separates individual performance from socially allocated success.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When performance is difficult to measure, reputation and networks can strongly shape access to rewards.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Anchor contrast: tennis-like measurable performance ↔ modern art’s network-mediated success.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09160"/>
            <a:ext cx="8412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Performance  ≠ 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exact quotation/page from The Formula before final defense deck.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Barabási (2018); Fraiberger et al. (2018)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what if performance CAN be measured?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2E5C8A"/>
                </a:solidFill>
                <a:latin typeface="Aptos"/>
              </a:rPr>
              <a:t>Does the network still matter?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971800"/>
            <a:ext cx="9692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0">
                <a:solidFill>
                  <a:srgbClr val="1C1F22"/>
                </a:solidFill>
                <a:latin typeface="Aptos"/>
              </a:rPr>
              <a:t>How much of success belongs to individual performance—and how much depends on the local peer environment in which that performance occurs?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4709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E7A7B"/>
                </a:solidFill>
                <a:latin typeface="Aptos"/>
              </a:rPr>
              <a:t>NETWORK SCIENCE DOORWAY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Polish the central research-question wording after story approval.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Peers: the missing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What we already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Talent / performance strongly relates to success.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Mentors and senior relationships have received substantial attention in Army careers.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Peer effects are well developed in adjacent literatures.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What we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how good YOU are, does WHO SURROUNDS YOU affect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Can local peer quality help at first, then reduce distinction?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Under what system conditions should that relationship change?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Targeted literature synthesis: Army peers vs mentors; nearest-neighbor novelty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 — THE PUZZLE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Three systems of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Same skeleton; radically different institutions.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Dimension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Army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1554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NCAA MBB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15544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92A3E"/>
                </a:solidFill>
                <a:latin typeface="Aptos"/>
              </a:rPr>
              <a:t>R1 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Performance signal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9659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Top-block ratio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89320" y="196596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Player performance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32520" y="196596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Career publication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624328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Local pool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2432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Rating / senior-rater pool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624328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Team-season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32520" y="2624328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CS department × decision year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282696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Selection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28269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Global promotion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282696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Global NBA Draft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3282696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Mostly local tenure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941063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Scarcity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941063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Moderate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941063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Extreme (~2.7%)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32520" y="3941063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Substantial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99431"/>
            <a:ext cx="2468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5C8A"/>
                </a:solidFill>
                <a:latin typeface="Aptos"/>
              </a:rPr>
              <a:t>Peer exposure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9943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LOO pool quality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89320" y="4599431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LOO teammate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4599431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C1F22"/>
                </a:solidFill>
                <a:latin typeface="Aptos"/>
              </a:rPr>
              <a:t>LOO dept career 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Confirm exact Army selection-rate language and final academic sample after expansion.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Why Army?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Discovery domain and empirical bedrock.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Large longitudinal population with standardized career stages and consequential advancement.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Unusually rich and scarce data access.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Just enough institutional context to calibrate the evidence—then move quickly to the result.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Refresh current sample sizes and canonical Army figure paths from AWS/CAC.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G1 refresh 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Talent wins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07899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97078"/>
                </a:solidFill>
                <a:latin typeface="Aptos"/>
              </a:rPr>
              <a:t>The naïve plot is a feature of the story, not a throwaway.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65960"/>
            <a:ext cx="9235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>
                <a:solidFill>
                  <a:srgbClr val="192A3E"/>
                </a:solidFill>
                <a:latin typeface="Aptos"/>
              </a:rPr>
              <a:t>Own performance  →  advancement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971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Expected result: higher own top-block ratio is associated with faster / more likely promotion.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42519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97078"/>
                </a:solidFill>
                <a:latin typeface="Aptos"/>
              </a:rPr>
              <a:t>[PLACEHOLDER: canonical Army own-TB monotone plot]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Insert/regenerate canonical own-TB figure; confirm exact outcome wording.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talent does not compete in isolation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240280"/>
            <a:ext cx="1828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Aptos"/>
              </a:rPr>
              <a:t>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24028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0280"/>
            <a:ext cx="7132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YOUR LOCAL PEER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57600"/>
            <a:ext cx="9875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HERO asks about the peer environment without mechanically mixing the focal individual into the pond mean.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Use a simple visual defining whole-pool mean vs leave-one-out peer mean.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HERO: the Army reveal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97078"/>
                </a:solidFill>
                <a:latin typeface="Aptos"/>
              </a:rPr>
              <a:t>[PLACEHOLDER: Army HERO — LOO pool quality → promotion]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92A3E"/>
                </a:solidFill>
                <a:latin typeface="Aptos"/>
              </a:rPr>
              <a:t>Core empirical discovery: advancement rises and then declines across the local peer-quality environment.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416052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AA3F3F"/>
                </a:solidFill>
                <a:latin typeface="Aptos"/>
              </a:rPr>
              <a:t>Claim discipline: empirical association / regularity, not causal peer effect.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Refresh all-branches anchor PNG; retain CS+CSS stronger slice as supporting 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Army HERO shape: locked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For whom does the pool matter?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7A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FIND/REVIEW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Existing 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TB Ratio × Rank-in-Pool → Promotion Hazard Ratio.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Higher hazard = faster promotion in this application.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Recover and review the hundreds-of-plots exploration.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New candidate surface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Own performance × LOO peer quality → advancement.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Could expose a high-but-not-extreme ‘band of excellence’.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Candidate parallel surface for MBB and R1.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Locate existing Army surface deck; create own-performance × LOO-pool-quality surface.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 — 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Discovery was exploratory—and transparent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Many plausible plots/specifications were explored to understand the phenomenon.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MBB cleaning removed one-game player-seasons even though it weakened the visually beautiful tail.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Final defense should distinguish exploration from targeted validation.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Use multiverse/specification logic where useful rather than selecting the prettiest HERO.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E5C8A"/>
                </a:solidFill>
                <a:latin typeface="Aptos"/>
              </a:rPr>
              <a:t>Steegen et al. (2016) — Increasing transparency through a multiverse analysis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Decide how much discovery-process history belongs in core vs backup.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Steegen et al. 2016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Abstract the common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192A3E"/>
                </a:solidFill>
                <a:latin typeface="Aptos"/>
              </a:rPr>
              <a:t>Individuals  →  Pools  →  Peer benefit / competition  →  Scarce advancement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42900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5C8A"/>
                </a:solidFill>
                <a:latin typeface="Aptos"/>
              </a:rPr>
              <a:t>Where else does this structure exist?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this conceptual, not mechanistic; literature-first remains a strong alternate route.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NCAA MBB: a demanding boundary-condition test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Individual performance is comparatively measurable.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Global selection into the NBA Draft is extremely scarce (~2.7% working estimate).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After defensible cleaning of one-game player-seasons, the long dipping HERO tail weakened.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Current interpretation: sound analysis; definite tendency; visually weaker than Army.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Scientific question: does extreme scarcity alter the geometry of the phenomenon?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Verify draft-rate denominator; harmonize naïve/HERO plots; consider specification summary.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MBB current best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R1 CS: the academic domain must carry real weight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Current pilot: ~168 R1 CS departments; ≈391 resolved tenure/attrition decisions.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Pool: whole observed CS department in decision year, all ranks.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HERO exposure: leave-one-out mean peer pubs_per_career_year.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Own axis: focal scholar’s career publication rate at decision year.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Priority: expand N and deepen robustness—not add fields yet.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Continue R1 scraping/resolution; test whole-dept vs assistant-only and performance-metric sensitivity.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PD29 reigning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One visual grammar across all three domains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5C8A"/>
                </a:solidFill>
                <a:latin typeface="Aptos"/>
              </a:rPr>
              <a:t>OWN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E7A7B"/>
                </a:solidFill>
                <a:latin typeface="Aptos"/>
              </a:rPr>
              <a:t>LOO PEER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CONDITIONAL 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148840"/>
            <a:ext cx="3383280" cy="2971800"/>
          </a:xfrm>
          <a:prstGeom prst="rect">
            <a:avLst/>
          </a:prstGeom>
          <a:solidFill>
            <a:srgbClr val="F8F9FA"/>
          </a:solidFill>
          <a:ln>
            <a:solidFill>
              <a:srgbClr val="6970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59" y="2423160"/>
            <a:ext cx="3017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97078"/>
                </a:solidFill>
                <a:latin typeface="Aptos"/>
              </a:rPr>
              <a:t>Army
MBB
R1 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Recreate harmonized plots; surface plots are candidate work for all domains.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III — GENERALITY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Same phenomenon, different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Working claim: consistent phenomenon across domains, expressed to varying degrees.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Candidate moderators / boundary conditions: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selection scarcity / K:N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assortativity / homophily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pool size and variance in pool means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local vs global recognition and selection</a:t>
            </a:r>
          </a:p>
          <a:p>
            <a:pPr lvl="1">
              <a:spcAft>
                <a:spcPts val="700"/>
              </a:spcAft>
              <a:defRPr sz="1600">
                <a:solidFill>
                  <a:srgbClr val="1C1F22"/>
                </a:solidFill>
                <a:latin typeface="Aptos"/>
              </a:defRPr>
            </a:pPr>
            <a:r>
              <a:t>measurement / evaluation structure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Differences are data for the theory—not failures to produce identical curves.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Classify which moderators are already measured vs model hypotheses.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 minimal explanation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2E7A7B"/>
                </a:solidFill>
                <a:latin typeface="Aptos"/>
              </a:rPr>
              <a:t>Benefit of stronger peers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BE8022"/>
                </a:solidFill>
                <a:latin typeface="Aptos"/>
              </a:rPr>
              <a:t>Loss of relative distinction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18288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200" y="1828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AA3F3F"/>
                </a:solidFill>
                <a:latin typeface="Aptos"/>
              </a:rPr>
              <a:t>Scarce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743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3474720"/>
            <a:ext cx="7863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Potential inverted-U in advancement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75488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Literature neighbor: Big Fish / Small Pond — own ability, relative rank, and peer quality must be separated.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Nearest-neighbor review before strong novelty claim; dedicated Big Fish slide may move earlier/later.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Big Fish / Small Pond: an intellectual neighbor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What it helps us separate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Own ability / performance.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Relative rank within the local peer group.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Mean peer quality / caliber of the pond.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Our next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prior studies estimate mean peer quality separately from own ability and rank?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they predict scarce career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opposing peer-benefit and distinction forces generate our geometry?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Read/annotate Elsner &amp; Isphording closely; build nearest-neighbor comparison table.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But real pools are not random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92A3E"/>
                </a:solidFill>
                <a:latin typeface="Aptos"/>
              </a:rPr>
              <a:t>Simple mechanism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874519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5C8A"/>
                </a:solidFill>
                <a:latin typeface="Aptos"/>
              </a:rPr>
              <a:t>Then the complication: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People and talent sort into pools.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That is why ASSIGN needs controlled assortativity / homophily.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network machinery subordinate to the scientific mechanism in the main story.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LG / ASSIGN: controlled bipartite formation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Fixed-size bipartite network generator: individuals ↔ pools/teams.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Assignment is assortative on node metadata / talent rather than degree.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Tunable homophily allows realistic nonrandom pool formation while preserving size constraints.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Required role: generate plausible assignment geometry for the minimal model.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Possible independent role: methodological contribution / standalone paper.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Insert canonical LG equation, parameter definitions, validation plots; perform dedicated novelty search.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LG methods paper: potential, not claimed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IV —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ASSIGN → SCORE → SELECT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E7A7B"/>
                </a:solidFill>
                <a:latin typeface="Aptos"/>
              </a:rPr>
              <a:t>ASSIGN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10312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BE8022"/>
                </a:solidFill>
                <a:latin typeface="Aptos"/>
              </a:rPr>
              <a:t>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031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3F3F"/>
                </a:solidFill>
                <a:latin typeface="Aptos"/>
              </a:rPr>
              <a:t>SELECT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Homophilic pools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Talent + congestion (λ)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6324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C1F22"/>
                </a:solidFill>
                <a:latin typeface="Aptos"/>
              </a:rPr>
              <a:t>Top K / scarcity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57200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λ=0 vs λ&gt;0 knockout already provides qualitative proof-of-concept curvature.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Regenerate/insert core λ knockout; keep environment distinct from advancement step.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6217920"/>
            <a:ext cx="3154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697078"/>
                </a:solidFill>
                <a:latin typeface="Aptos"/>
              </a:rPr>
              <a:t>G2 must-show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The model must do more than redraw the HERO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05740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Explanation  →  Prediction  →  Targeted empirical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46120"/>
            <a:ext cx="9326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When does the inverted-U strengthen, weaken, shift, or disappear?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Which parameters alter peak location or downturn strength?</a:t>
            </a:r>
          </a:p>
          <a:p>
            <a:pPr>
              <a:spcAft>
                <a:spcPts val="700"/>
              </a:spcAft>
              <a:defRPr sz="1900">
                <a:solidFill>
                  <a:srgbClr val="1C1F22"/>
                </a:solidFill>
                <a:latin typeface="Aptos"/>
              </a:defRPr>
            </a:pPr>
            <a:r>
              <a:t>Which predictions distinguish congestion from a talent-only explanation?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Define the smallest set of discriminating comparative statics.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Candidate prediction: the ‘band of excellence’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Exploratory memory: the very best players still tended to be drafted.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Candidate hypothesis: pool sensitivity is greatest for high-but-not-extreme talent.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Model test: map advancement over own talent × LOO peer quality.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Then return to Army/MBB/R1 for targeted heterogeneous-effect tests.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00600"/>
            <a:ext cx="8321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6A4C93"/>
                </a:solidFill>
                <a:latin typeface="Aptos"/>
              </a:rPr>
              <a:t>P(success | own talent, peer environment)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Recover MBB plots if possible; do not present as established until recreated/tested.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 —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Candidate phase map / comparative statics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AA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NOT STARTED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3327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ρ — assignment assortativity / homophily.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λ — congestion / distinction penalty in SCORE.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K/N — advancement scarcity.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Pool size / capacity and variance in pool means.</a:t>
            </a:r>
          </a:p>
          <a:p>
            <a:pPr>
              <a:spcAft>
                <a:spcPts val="700"/>
              </a:spcAft>
              <a:defRPr sz="2000">
                <a:solidFill>
                  <a:srgbClr val="1C1F22"/>
                </a:solidFill>
                <a:latin typeface="Aptos"/>
              </a:defRPr>
            </a:pPr>
            <a:r>
              <a:t>Potential output: regimes with monotone, peaked, flat, or threshold-like advancement curves.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Decide which parameters are behavioral mechanisms vs empirical structural constraints vs simulation choices.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Two sides of the phenomenon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my talent, which pool maximizes my advancement?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Where you compete may matter even when we know how good you are.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Possible risk: excellent-but-not-extreme individuals naively enter environments that reduce distinction.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ORGANIZATION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Given finite resources, what talent configuration best leverages the talent assembled?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Not merely recognition/retention—collective output is the dependent variable.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Individual optimum and organizational optimum need not coincide.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Keep organizational leverage as extension unless a clean team-output analysis is feasible.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Organizational leverage: the roster-allocation question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$30M budget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AA3F3F"/>
                </a:solidFill>
                <a:latin typeface="Aptos"/>
              </a:rPr>
              <a:t>3 × $10M stars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2743200"/>
            <a:ext cx="914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97078"/>
                </a:solidFill>
                <a:latin typeface="Aptos"/>
              </a:rPr>
              <a:t>vs.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74320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7A7B"/>
                </a:solidFill>
                <a:latin typeface="Aptos"/>
              </a:rPr>
              <a:t>2 × $10M + 5 × $2M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>
                <a:solidFill>
                  <a:srgbClr val="1C1F22"/>
                </a:solidFill>
                <a:latin typeface="Aptos"/>
              </a:rPr>
              <a:t>When does the marginal contribution of another superstar become smaller than a broader allocation of talent?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Possible MBB/team-performance extension; compare with ‘too-much-talent’ literature.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 — CONSEQUENCE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High-upside network extension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A4C93"/>
                </a:solidFill>
                <a:latin typeface="Aptos"/>
              </a:rPr>
              <a:t>Can network structure itself predict advancement?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971800"/>
            <a:ext cx="9784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92A3E"/>
                </a:solidFill>
                <a:latin typeface="Aptos"/>
              </a:rPr>
              <a:t>P(Yᵢ) = f(own talent, peer quality, relative rank, network features)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886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Dream integration: bipartite structure becomes substantive explanation, not just assignment machinery.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Do not make dissertation completion depend on this.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If unsuccessful, LG still serves the generative model and may stand alone methodologically.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Explore only after core explanation/prediction path is secured.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What constitutes a complete dissertation?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8" name="Oval 7"/>
          <p:cNvSpPr/>
          <p:nvPr/>
        </p:nvSpPr>
        <p:spPr>
          <a:xfrm>
            <a:off x="621792" y="1389888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147218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Phenomenon + mechanism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1417320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Strong Army; strengthened R1; honest MBB; working model generates phenomenon.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414016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496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414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Model predictions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441448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Comparative statics: when the curve emerges, shifts, weakens, disappears.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6557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18" name="Oval 17"/>
          <p:cNvSpPr/>
          <p:nvPr/>
        </p:nvSpPr>
        <p:spPr>
          <a:xfrm>
            <a:off x="621792" y="3438144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2044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4655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Empirical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3465576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Return to real domains and test selected model-derived predictions.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4897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3" name="Oval 22"/>
          <p:cNvSpPr/>
          <p:nvPr/>
        </p:nvSpPr>
        <p:spPr>
          <a:xfrm>
            <a:off x="621792" y="4462272"/>
            <a:ext cx="502920" cy="502920"/>
          </a:xfrm>
          <a:prstGeom prst="ellipse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544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4897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92A3E"/>
                </a:solidFill>
                <a:latin typeface="Aptos"/>
              </a:rPr>
              <a:t>+ Network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489704"/>
            <a:ext cx="7315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F22"/>
                </a:solidFill>
                <a:latin typeface="Aptos"/>
              </a:rPr>
              <a:t>Network metrics become substantively explanatory/predictive; stretch goal.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Discussion: defense requirement vs paper vs future work. No choice locked.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Where does the model enter the story?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5C8A"/>
                </a:solidFill>
                <a:latin typeface="Aptos"/>
              </a:rPr>
              <a:t>Routes A / 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A — Empirics first: Army → MBB → R1 → synthesis → model.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B — Discovery/model first: Army → model → MBB/R1 as tests.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A7B"/>
                </a:solidFill>
                <a:latin typeface="Aptos"/>
              </a:rPr>
              <a:t>Route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9377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Army → MBB/R1 → brief cross-domain pattern → model → predictions → return to domains.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Creates a discovery → explanation → test loop.</a:t>
            </a:r>
          </a:p>
          <a:p>
            <a:pPr>
              <a:spcAft>
                <a:spcPts val="700"/>
              </a:spcAft>
              <a:defRPr sz="1700">
                <a:solidFill>
                  <a:srgbClr val="1C1F22"/>
                </a:solidFill>
                <a:latin typeface="Aptos"/>
              </a:defRPr>
            </a:pPr>
            <a:r>
              <a:t>Potentially strongest, but may require more completed analysis.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Present as architecture options; do not lock until discussion.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CHOICE: How much of the discovery journey?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2E5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102412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A — Working choice: foreground the scientific journey and analytical transparency.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B — Selective journey: only moments that strengthen credibility.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C — Finished argument only: minimize research-history narrative.</a:t>
            </a:r>
          </a:p>
          <a:p>
            <a:pPr>
              <a:spcAft>
                <a:spcPts val="700"/>
              </a:spcAft>
              <a:defRPr sz="2100">
                <a:solidFill>
                  <a:srgbClr val="1C1F22"/>
                </a:solidFill>
                <a:latin typeface="Aptos"/>
              </a:defRPr>
            </a:pPr>
            <a:r>
              <a:t>Current storyboard uses A, with B/C available if a tighter defense narrative is preferred.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Revisit after first full storyboard read-through.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APPENDIX PLANNING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Parking lot / reserve forces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6A4C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NCAA football — modular codebase can interrogate quickly; reserve pending theory-driven need.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League of Legends — reserve dataset.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Two additional academic datasets — not yet understood; reserve.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Additional academic fields — not current priority; expand + robustify R1 CS first.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Organizational output / team success analysis — possible extension.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LG standalone methods paper — possible independent contribution.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Big Fish / Small Pond — literature bridge, not a new defense dataset.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Only activate a reserve dataset when a model prediction gives a reason to use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Near-term work implied by the 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1. Army: refresh canonical HERO / naïve figures; recover TB×rank×hazard surfaces; create own×LOO surface.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2. R1: expand resolved sample; run predefined robustness across pool and performance definitions.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3. MBB: harmonize descriptive plots; document cleaning and specification sensitivity; verify selection rate.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4. Model: insert LG equation/validation; regenerate λ knockout; define minimal comparative-statics plan.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5. Literature: nearest-neighbor review (Big Fish, peer quality/rank, success networks); verify The Formula wording.</a:t>
            </a:r>
          </a:p>
          <a:p>
            <a:pPr>
              <a:spcAft>
                <a:spcPts val="700"/>
              </a:spcAft>
              <a:defRPr sz="1800">
                <a:solidFill>
                  <a:srgbClr val="1C1F22"/>
                </a:solidFill>
                <a:latin typeface="Aptos"/>
              </a:defRPr>
            </a:pPr>
            <a:r>
              <a:t>6. Story: choose dissertation endpoint, model placement, and discovery-process depth.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Use this as the coding/results roadmap after the story is approved.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ACT VII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Working 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78440" y="292608"/>
            <a:ext cx="1417320" cy="384048"/>
          </a:xfrm>
          <a:prstGeom prst="roundRect">
            <a:avLst/>
          </a:prstGeom>
          <a:solidFill>
            <a:srgbClr val="BE8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78440" y="329184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PARTIAL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92A3E"/>
                </a:solidFill>
                <a:latin typeface="Aptos"/>
              </a:rPr>
              <a:t>Talent does not operate independently of the pool in which it is embedded.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5C8A"/>
                </a:solidFill>
                <a:latin typeface="Aptos"/>
              </a:rPr>
              <a:t>INDIVIDUAL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11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Which environment best supports my advancement?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1546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A7B"/>
                </a:solidFill>
                <a:latin typeface="Aptos"/>
              </a:rPr>
              <a:t>ORGANIZATION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611880"/>
            <a:ext cx="4480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C1F22"/>
                </a:solidFill>
                <a:latin typeface="Aptos"/>
              </a:rPr>
              <a:t>How should talent be configured so the organization can best leverage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9834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4C93"/>
                </a:solidFill>
                <a:latin typeface="Aptos"/>
              </a:rPr>
              <a:t>Discovery → Generality → Explanation → Prediction → Test → Consequence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Final wording should follow what the completed analyses actually support.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9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5C8A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10881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92A3E"/>
                </a:solidFill>
                <a:latin typeface="Aptos"/>
              </a:rPr>
              <a:t>Selected anchors for the storyboard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Barabási, A.-L. (2018). The Formula: The Universal Laws of Success. Little, Brown.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Fraiberger, S. P., Sinatra, R., Resch, M., Riedl, C., &amp; Barabási, A.-L. (2018). Quantifying reputation and success in art. Science, 362(6416), 825–829. https://doi.org/10.1126/science.aau7224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Steegen, S., Tuerlinckx, F., Gelman, A., &amp; Vanpaemel, W. (2016). Increasing transparency through a multiverse analysis. Perspectives on Psychological Science, 11(5), 702–712. https://doi.org/10.1177/1745691616658637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Elsner, B., &amp; Isphording, I. E. (2017). A Big Fish in a Small Pond: Ability Rank and Human Capital Investment. Journal of Labor Economics, 35(3), 787–828. https://doi.org/10.1086/690714</a:t>
            </a:r>
          </a:p>
          <a:p>
            <a:pPr>
              <a:spcAft>
                <a:spcPts val="700"/>
              </a:spcAft>
              <a:defRPr sz="1500">
                <a:solidFill>
                  <a:srgbClr val="1C1F22"/>
                </a:solidFill>
                <a:latin typeface="Aptos"/>
              </a:defRPr>
            </a:pPr>
            <a:r>
              <a:t>Swaab, R. I., et al. (2014). The Too-Much-Talent Effect. Psychological Science, 25(8), 1581–1591. https://doi.org/10.1177/0956797614537280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6144768"/>
            <a:ext cx="11384280" cy="457200"/>
          </a:xfrm>
          <a:prstGeom prst="rect">
            <a:avLst/>
          </a:prstGeom>
          <a:solidFill>
            <a:srgbClr val="EF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217920"/>
            <a:ext cx="8046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97078"/>
                </a:solidFill>
                <a:latin typeface="Aptos"/>
              </a:rPr>
              <a:t>WORK REQUIRED: Expand only as specific slides require; this is not yet the dissertation bibliography.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>
                <a:solidFill>
                  <a:srgbClr val="192A3E"/>
                </a:solidFill>
                <a:latin typeface="Aptos"/>
              </a:rPr>
              <a:t>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