
<file path=[Content_Types].xml><?xml version="1.0" encoding="utf-8"?>
<Types xmlns="http://schemas.openxmlformats.org/package/2006/content-types">
  <Default Extension="jpeg" ContentType="image/jpeg"/>
  <Default Extension="jpg" ContentType="image/jpeg"/>
  <Default Extension="org&amp;utm_campaign=index&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350" r:id="rId2"/>
    <p:sldId id="353" r:id="rId3"/>
    <p:sldId id="278" r:id="rId4"/>
    <p:sldId id="279" r:id="rId5"/>
    <p:sldId id="284" r:id="rId6"/>
    <p:sldId id="257" r:id="rId7"/>
    <p:sldId id="281" r:id="rId8"/>
    <p:sldId id="287" r:id="rId9"/>
    <p:sldId id="283" r:id="rId10"/>
    <p:sldId id="282" r:id="rId11"/>
    <p:sldId id="280" r:id="rId12"/>
    <p:sldId id="285" r:id="rId13"/>
    <p:sldId id="288" r:id="rId14"/>
    <p:sldId id="290" r:id="rId15"/>
    <p:sldId id="292" r:id="rId16"/>
    <p:sldId id="293" r:id="rId17"/>
    <p:sldId id="291" r:id="rId18"/>
    <p:sldId id="295" r:id="rId19"/>
    <p:sldId id="301" r:id="rId20"/>
    <p:sldId id="296" r:id="rId21"/>
    <p:sldId id="297" r:id="rId22"/>
    <p:sldId id="298" r:id="rId23"/>
    <p:sldId id="299" r:id="rId24"/>
    <p:sldId id="302" r:id="rId25"/>
    <p:sldId id="304" r:id="rId26"/>
    <p:sldId id="306" r:id="rId27"/>
    <p:sldId id="307" r:id="rId28"/>
    <p:sldId id="308" r:id="rId29"/>
    <p:sldId id="309" r:id="rId30"/>
    <p:sldId id="310" r:id="rId31"/>
    <p:sldId id="311" r:id="rId32"/>
    <p:sldId id="312" r:id="rId33"/>
    <p:sldId id="313" r:id="rId34"/>
    <p:sldId id="314" r:id="rId35"/>
    <p:sldId id="315" r:id="rId36"/>
    <p:sldId id="316" r:id="rId37"/>
    <p:sldId id="318" r:id="rId38"/>
    <p:sldId id="319" r:id="rId39"/>
    <p:sldId id="320" r:id="rId40"/>
    <p:sldId id="321" r:id="rId41"/>
    <p:sldId id="322" r:id="rId42"/>
    <p:sldId id="345" r:id="rId43"/>
    <p:sldId id="324" r:id="rId44"/>
    <p:sldId id="325" r:id="rId45"/>
    <p:sldId id="326" r:id="rId46"/>
    <p:sldId id="327" r:id="rId47"/>
    <p:sldId id="343" r:id="rId48"/>
    <p:sldId id="342" r:id="rId49"/>
    <p:sldId id="344" r:id="rId50"/>
    <p:sldId id="328" r:id="rId51"/>
    <p:sldId id="329" r:id="rId52"/>
    <p:sldId id="330" r:id="rId53"/>
    <p:sldId id="332" r:id="rId54"/>
    <p:sldId id="331" r:id="rId55"/>
    <p:sldId id="333" r:id="rId56"/>
    <p:sldId id="334" r:id="rId57"/>
    <p:sldId id="335" r:id="rId58"/>
    <p:sldId id="336" r:id="rId59"/>
    <p:sldId id="339" r:id="rId60"/>
    <p:sldId id="337" r:id="rId61"/>
    <p:sldId id="338" r:id="rId62"/>
    <p:sldId id="340" r:id="rId63"/>
    <p:sldId id="341" r:id="rId64"/>
    <p:sldId id="346" r:id="rId65"/>
    <p:sldId id="347" r:id="rId66"/>
    <p:sldId id="349" r:id="rId67"/>
    <p:sldId id="348" r:id="rId68"/>
    <p:sldId id="351" r:id="rId69"/>
    <p:sldId id="35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0000"/>
    <a:srgbClr val="8E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4"/>
    <p:restoredTop sz="94673"/>
  </p:normalViewPr>
  <p:slideViewPr>
    <p:cSldViewPr snapToGrid="0">
      <p:cViewPr varScale="1">
        <p:scale>
          <a:sx n="208" d="100"/>
          <a:sy n="208" d="100"/>
        </p:scale>
        <p:origin x="216"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212CF-AA3A-BC4D-BC81-250C4372C1BF}" type="datetimeFigureOut">
              <a:rPr lang="en-US" smtClean="0"/>
              <a:t>10/22/26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A175F-3D2A-0644-85C9-11E25DE44979}" type="slidenum">
              <a:rPr lang="en-US" smtClean="0"/>
              <a:t>‹#›</a:t>
            </a:fld>
            <a:endParaRPr lang="en-US"/>
          </a:p>
        </p:txBody>
      </p:sp>
    </p:spTree>
    <p:extLst>
      <p:ext uri="{BB962C8B-B14F-4D97-AF65-F5344CB8AC3E}">
        <p14:creationId xmlns:p14="http://schemas.microsoft.com/office/powerpoint/2010/main" val="3506742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8A175F-3D2A-0644-85C9-11E25DE44979}" type="slidenum">
              <a:rPr lang="en-US" smtClean="0"/>
              <a:t>46</a:t>
            </a:fld>
            <a:endParaRPr lang="en-US"/>
          </a:p>
        </p:txBody>
      </p:sp>
    </p:spTree>
    <p:extLst>
      <p:ext uri="{BB962C8B-B14F-4D97-AF65-F5344CB8AC3E}">
        <p14:creationId xmlns:p14="http://schemas.microsoft.com/office/powerpoint/2010/main" val="267247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8A175F-3D2A-0644-85C9-11E25DE44979}" type="slidenum">
              <a:rPr lang="en-US" smtClean="0"/>
              <a:t>57</a:t>
            </a:fld>
            <a:endParaRPr lang="en-US"/>
          </a:p>
        </p:txBody>
      </p:sp>
    </p:spTree>
    <p:extLst>
      <p:ext uri="{BB962C8B-B14F-4D97-AF65-F5344CB8AC3E}">
        <p14:creationId xmlns:p14="http://schemas.microsoft.com/office/powerpoint/2010/main" val="105041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FBF8-91E3-2AEE-E6B8-E2240D5D7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31F8E-408C-767F-5A19-F3BA2FE1C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EA2EA-63D5-4D56-9279-AAB7306AC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A2B716-1923-8E9E-983E-A0A1FE2F721E}"/>
              </a:ext>
            </a:extLst>
          </p:cNvPr>
          <p:cNvSpPr>
            <a:spLocks noGrp="1"/>
          </p:cNvSpPr>
          <p:nvPr>
            <p:ph type="sldNum" sz="quarter" idx="5"/>
          </p:nvPr>
        </p:nvSpPr>
        <p:spPr/>
        <p:txBody>
          <a:bodyPr/>
          <a:lstStyle/>
          <a:p>
            <a:fld id="{068A175F-3D2A-0644-85C9-11E25DE44979}" type="slidenum">
              <a:rPr lang="en-US" smtClean="0"/>
              <a:t>58</a:t>
            </a:fld>
            <a:endParaRPr lang="en-US"/>
          </a:p>
        </p:txBody>
      </p:sp>
    </p:spTree>
    <p:extLst>
      <p:ext uri="{BB962C8B-B14F-4D97-AF65-F5344CB8AC3E}">
        <p14:creationId xmlns:p14="http://schemas.microsoft.com/office/powerpoint/2010/main" val="3119753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21C5-9742-2796-C57B-292657BD5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19DA1-4A6B-82A1-3552-8EA741C20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F3DF9F-1270-23C8-DA45-19A8A5906C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F8B86D-9333-66AC-5CFA-B57A07749234}"/>
              </a:ext>
            </a:extLst>
          </p:cNvPr>
          <p:cNvSpPr>
            <a:spLocks noGrp="1"/>
          </p:cNvSpPr>
          <p:nvPr>
            <p:ph type="sldNum" sz="quarter" idx="5"/>
          </p:nvPr>
        </p:nvSpPr>
        <p:spPr/>
        <p:txBody>
          <a:bodyPr/>
          <a:lstStyle/>
          <a:p>
            <a:fld id="{068A175F-3D2A-0644-85C9-11E25DE44979}" type="slidenum">
              <a:rPr lang="en-US" smtClean="0"/>
              <a:t>59</a:t>
            </a:fld>
            <a:endParaRPr lang="en-US"/>
          </a:p>
        </p:txBody>
      </p:sp>
    </p:spTree>
    <p:extLst>
      <p:ext uri="{BB962C8B-B14F-4D97-AF65-F5344CB8AC3E}">
        <p14:creationId xmlns:p14="http://schemas.microsoft.com/office/powerpoint/2010/main" val="8239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CAFC-7F1C-E259-7920-F1A77AED9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AA1BF-D807-8564-257B-345CF7FA0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AA99D-C792-8C5A-F1E8-BF1A025E0F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11BF9-B2F2-80B0-D550-802E24EFC7FC}"/>
              </a:ext>
            </a:extLst>
          </p:cNvPr>
          <p:cNvSpPr>
            <a:spLocks noGrp="1"/>
          </p:cNvSpPr>
          <p:nvPr>
            <p:ph type="sldNum" sz="quarter" idx="5"/>
          </p:nvPr>
        </p:nvSpPr>
        <p:spPr/>
        <p:txBody>
          <a:bodyPr/>
          <a:lstStyle/>
          <a:p>
            <a:fld id="{068A175F-3D2A-0644-85C9-11E25DE44979}" type="slidenum">
              <a:rPr lang="en-US" smtClean="0"/>
              <a:t>62</a:t>
            </a:fld>
            <a:endParaRPr lang="en-US"/>
          </a:p>
        </p:txBody>
      </p:sp>
    </p:spTree>
    <p:extLst>
      <p:ext uri="{BB962C8B-B14F-4D97-AF65-F5344CB8AC3E}">
        <p14:creationId xmlns:p14="http://schemas.microsoft.com/office/powerpoint/2010/main" val="212323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AB425-3B9D-FE61-AE57-2A335363B4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F9491B-78F4-7BB7-9952-08E40B264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F5CA83-2457-6D37-46F0-86745D3C6A45}"/>
              </a:ext>
            </a:extLst>
          </p:cNvPr>
          <p:cNvSpPr>
            <a:spLocks noGrp="1"/>
          </p:cNvSpPr>
          <p:nvPr>
            <p:ph type="dt" sz="half" idx="10"/>
          </p:nvPr>
        </p:nvSpPr>
        <p:spPr/>
        <p:txBody>
          <a:bodyPr/>
          <a:lstStyle/>
          <a:p>
            <a:fld id="{99193E38-A585-0E4C-8634-FC7E92CB1ADD}" type="datetime1">
              <a:rPr lang="en-US" smtClean="0"/>
              <a:t>10/22/26</a:t>
            </a:fld>
            <a:endParaRPr lang="en-US"/>
          </a:p>
        </p:txBody>
      </p:sp>
      <p:sp>
        <p:nvSpPr>
          <p:cNvPr id="5" name="Footer Placeholder 4">
            <a:extLst>
              <a:ext uri="{FF2B5EF4-FFF2-40B4-BE49-F238E27FC236}">
                <a16:creationId xmlns:a16="http://schemas.microsoft.com/office/drawing/2014/main" id="{3306C759-B309-42DA-FDD0-D37C12D34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414BE-5A6E-447E-C07D-6DF97EEFCE31}"/>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2038793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8459-656C-0E8D-38E0-D0C745A2BE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EEE4BA-2317-CC0A-E381-72CE91C1A2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07B4AA-0DAD-3DBF-7EB3-5393F6790284}"/>
              </a:ext>
            </a:extLst>
          </p:cNvPr>
          <p:cNvSpPr>
            <a:spLocks noGrp="1"/>
          </p:cNvSpPr>
          <p:nvPr>
            <p:ph type="dt" sz="half" idx="10"/>
          </p:nvPr>
        </p:nvSpPr>
        <p:spPr/>
        <p:txBody>
          <a:bodyPr/>
          <a:lstStyle/>
          <a:p>
            <a:fld id="{3095F068-6A9B-3449-A5EC-5BD04F606AF0}" type="datetime1">
              <a:rPr lang="en-US" smtClean="0"/>
              <a:t>10/22/26</a:t>
            </a:fld>
            <a:endParaRPr lang="en-US"/>
          </a:p>
        </p:txBody>
      </p:sp>
      <p:sp>
        <p:nvSpPr>
          <p:cNvPr id="5" name="Footer Placeholder 4">
            <a:extLst>
              <a:ext uri="{FF2B5EF4-FFF2-40B4-BE49-F238E27FC236}">
                <a16:creationId xmlns:a16="http://schemas.microsoft.com/office/drawing/2014/main" id="{71F94A80-796E-EFDB-0584-76E56FB2E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4F7AE-52A1-2A19-2DD2-333132B67416}"/>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166829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A892-0F06-FEE3-1659-21A625A38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7A9266-DFD2-F8EB-CB40-1BAAED6DA8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D3D144-0AD2-E418-02E5-EDE0B2FC1A7F}"/>
              </a:ext>
            </a:extLst>
          </p:cNvPr>
          <p:cNvSpPr>
            <a:spLocks noGrp="1"/>
          </p:cNvSpPr>
          <p:nvPr>
            <p:ph type="dt" sz="half" idx="10"/>
          </p:nvPr>
        </p:nvSpPr>
        <p:spPr/>
        <p:txBody>
          <a:bodyPr/>
          <a:lstStyle/>
          <a:p>
            <a:fld id="{2B265F84-1BF6-1C43-834C-C655B8371407}" type="datetime1">
              <a:rPr lang="en-US" smtClean="0"/>
              <a:t>10/22/26</a:t>
            </a:fld>
            <a:endParaRPr lang="en-US"/>
          </a:p>
        </p:txBody>
      </p:sp>
      <p:sp>
        <p:nvSpPr>
          <p:cNvPr id="5" name="Footer Placeholder 4">
            <a:extLst>
              <a:ext uri="{FF2B5EF4-FFF2-40B4-BE49-F238E27FC236}">
                <a16:creationId xmlns:a16="http://schemas.microsoft.com/office/drawing/2014/main" id="{F57291BC-3202-AA6E-BA0D-4B4FB57721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9D03E-DCFF-C8FD-50C4-25BF8B1E95B8}"/>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347781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16F58-8ED1-B59D-ADDC-43BCC8B462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DA0F1D-DEBF-C6E7-D28C-7E05238AD4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51A1A1-44F8-89A4-E262-A598D523C2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5FD63E-3EF6-6D2D-54EA-2581C63C2CB5}"/>
              </a:ext>
            </a:extLst>
          </p:cNvPr>
          <p:cNvSpPr>
            <a:spLocks noGrp="1"/>
          </p:cNvSpPr>
          <p:nvPr>
            <p:ph type="dt" sz="half" idx="10"/>
          </p:nvPr>
        </p:nvSpPr>
        <p:spPr/>
        <p:txBody>
          <a:bodyPr/>
          <a:lstStyle/>
          <a:p>
            <a:fld id="{170A7F3A-6301-9648-AEB5-F419AC0CA63B}" type="datetime1">
              <a:rPr lang="en-US" smtClean="0"/>
              <a:t>10/22/26</a:t>
            </a:fld>
            <a:endParaRPr lang="en-US"/>
          </a:p>
        </p:txBody>
      </p:sp>
      <p:sp>
        <p:nvSpPr>
          <p:cNvPr id="6" name="Footer Placeholder 5">
            <a:extLst>
              <a:ext uri="{FF2B5EF4-FFF2-40B4-BE49-F238E27FC236}">
                <a16:creationId xmlns:a16="http://schemas.microsoft.com/office/drawing/2014/main" id="{9411BAC3-CBB4-907E-FB3A-B88A4612EF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EAA935-AED3-13CF-52BC-10E3E1FA0195}"/>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97319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D6FBB-0EF1-7436-EDCD-D88E8BC30A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BA6DE6-5BF8-6E35-EC2B-5D91C729AC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E6650-4D64-DCAF-93DC-4EEB868637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7CE43E-96CB-BD26-D14D-37109EB126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C28FDC-7467-249F-A2ED-A91FE1FF11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2B2C92-5A27-4113-9FD8-598BFA77764F}"/>
              </a:ext>
            </a:extLst>
          </p:cNvPr>
          <p:cNvSpPr>
            <a:spLocks noGrp="1"/>
          </p:cNvSpPr>
          <p:nvPr>
            <p:ph type="dt" sz="half" idx="10"/>
          </p:nvPr>
        </p:nvSpPr>
        <p:spPr/>
        <p:txBody>
          <a:bodyPr/>
          <a:lstStyle/>
          <a:p>
            <a:fld id="{0C7A2E07-D4D9-3D47-B620-D4AB78AF7DC3}" type="datetime1">
              <a:rPr lang="en-US" smtClean="0"/>
              <a:t>10/22/26</a:t>
            </a:fld>
            <a:endParaRPr lang="en-US"/>
          </a:p>
        </p:txBody>
      </p:sp>
      <p:sp>
        <p:nvSpPr>
          <p:cNvPr id="8" name="Footer Placeholder 7">
            <a:extLst>
              <a:ext uri="{FF2B5EF4-FFF2-40B4-BE49-F238E27FC236}">
                <a16:creationId xmlns:a16="http://schemas.microsoft.com/office/drawing/2014/main" id="{EA5C93F5-0AFC-074D-A351-BEDE096F03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E3525E-B570-E102-6358-0587C832A704}"/>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545354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55E8A-22B1-D2AB-1220-8FC9C0E109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14E443-8650-1CE4-BABB-5F5E57EE6BB6}"/>
              </a:ext>
            </a:extLst>
          </p:cNvPr>
          <p:cNvSpPr>
            <a:spLocks noGrp="1"/>
          </p:cNvSpPr>
          <p:nvPr>
            <p:ph type="dt" sz="half" idx="10"/>
          </p:nvPr>
        </p:nvSpPr>
        <p:spPr/>
        <p:txBody>
          <a:bodyPr/>
          <a:lstStyle/>
          <a:p>
            <a:fld id="{DA50A9EE-84D9-5242-B0AD-824A9976C98A}" type="datetime1">
              <a:rPr lang="en-US" smtClean="0"/>
              <a:t>10/22/26</a:t>
            </a:fld>
            <a:endParaRPr lang="en-US"/>
          </a:p>
        </p:txBody>
      </p:sp>
      <p:sp>
        <p:nvSpPr>
          <p:cNvPr id="4" name="Footer Placeholder 3">
            <a:extLst>
              <a:ext uri="{FF2B5EF4-FFF2-40B4-BE49-F238E27FC236}">
                <a16:creationId xmlns:a16="http://schemas.microsoft.com/office/drawing/2014/main" id="{B5562D92-D870-E57A-43C3-25C10D9385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B218AD-637F-EFC7-62BF-9C01420C5B5E}"/>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431539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9F337C-3131-F739-238C-4636B4F5563B}"/>
              </a:ext>
            </a:extLst>
          </p:cNvPr>
          <p:cNvSpPr>
            <a:spLocks noGrp="1"/>
          </p:cNvSpPr>
          <p:nvPr>
            <p:ph type="dt" sz="half" idx="10"/>
          </p:nvPr>
        </p:nvSpPr>
        <p:spPr/>
        <p:txBody>
          <a:bodyPr/>
          <a:lstStyle/>
          <a:p>
            <a:fld id="{976AEF00-2DFD-BE4F-9657-CED3E18A66FF}" type="datetime1">
              <a:rPr lang="en-US" smtClean="0"/>
              <a:t>10/22/26</a:t>
            </a:fld>
            <a:endParaRPr lang="en-US"/>
          </a:p>
        </p:txBody>
      </p:sp>
      <p:sp>
        <p:nvSpPr>
          <p:cNvPr id="3" name="Footer Placeholder 2">
            <a:extLst>
              <a:ext uri="{FF2B5EF4-FFF2-40B4-BE49-F238E27FC236}">
                <a16:creationId xmlns:a16="http://schemas.microsoft.com/office/drawing/2014/main" id="{BEC83392-ABC1-7202-D5AF-8D4CE9A1FE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559EFE-F622-BEDB-1C16-97934537936F}"/>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2894495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A84C-2B78-D870-FD07-6FDB2488E5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77E664-C4D1-8A51-AC46-0AC293E62C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2E5F9E-A1C1-D845-6681-19F9FA1D7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339210-C2F1-D5E1-02CF-1F60781CBB21}"/>
              </a:ext>
            </a:extLst>
          </p:cNvPr>
          <p:cNvSpPr>
            <a:spLocks noGrp="1"/>
          </p:cNvSpPr>
          <p:nvPr>
            <p:ph type="dt" sz="half" idx="10"/>
          </p:nvPr>
        </p:nvSpPr>
        <p:spPr/>
        <p:txBody>
          <a:bodyPr/>
          <a:lstStyle/>
          <a:p>
            <a:fld id="{3F83EBC3-3C5F-5940-B48B-443A939BE0FF}" type="datetime1">
              <a:rPr lang="en-US" smtClean="0"/>
              <a:t>10/22/26</a:t>
            </a:fld>
            <a:endParaRPr lang="en-US"/>
          </a:p>
        </p:txBody>
      </p:sp>
      <p:sp>
        <p:nvSpPr>
          <p:cNvPr id="6" name="Footer Placeholder 5">
            <a:extLst>
              <a:ext uri="{FF2B5EF4-FFF2-40B4-BE49-F238E27FC236}">
                <a16:creationId xmlns:a16="http://schemas.microsoft.com/office/drawing/2014/main" id="{65A3CC74-A262-6B90-B512-7F7ECFB85E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F170D6-5EF1-0D80-C167-A68BF32ACBFA}"/>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254961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903A-E78F-EB37-F9CD-3E9945AF9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FD837-347C-6375-0584-32EF10DF87A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BB088E-B828-6C71-C2A2-398CCB307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6594FB-471D-D537-B633-A2382EFF0A2C}"/>
              </a:ext>
            </a:extLst>
          </p:cNvPr>
          <p:cNvSpPr>
            <a:spLocks noGrp="1"/>
          </p:cNvSpPr>
          <p:nvPr>
            <p:ph type="dt" sz="half" idx="10"/>
          </p:nvPr>
        </p:nvSpPr>
        <p:spPr/>
        <p:txBody>
          <a:bodyPr/>
          <a:lstStyle/>
          <a:p>
            <a:fld id="{545C4338-A1E0-9F40-B58A-AC74AD13CABE}" type="datetime1">
              <a:rPr lang="en-US" smtClean="0"/>
              <a:t>10/22/26</a:t>
            </a:fld>
            <a:endParaRPr lang="en-US"/>
          </a:p>
        </p:txBody>
      </p:sp>
      <p:sp>
        <p:nvSpPr>
          <p:cNvPr id="6" name="Footer Placeholder 5">
            <a:extLst>
              <a:ext uri="{FF2B5EF4-FFF2-40B4-BE49-F238E27FC236}">
                <a16:creationId xmlns:a16="http://schemas.microsoft.com/office/drawing/2014/main" id="{86C488C8-8DCC-B66D-B2AB-E1AFE7370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4A764-D385-4D29-ECD9-B21B79C58DFE}"/>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2873879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DBF5E-2B06-F060-990E-4B5DAE4367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948815-E601-050F-5A97-5670F8C0A3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D3B75-B321-137E-5896-324ED8303EE0}"/>
              </a:ext>
            </a:extLst>
          </p:cNvPr>
          <p:cNvSpPr>
            <a:spLocks noGrp="1"/>
          </p:cNvSpPr>
          <p:nvPr>
            <p:ph type="dt" sz="half" idx="10"/>
          </p:nvPr>
        </p:nvSpPr>
        <p:spPr/>
        <p:txBody>
          <a:bodyPr/>
          <a:lstStyle/>
          <a:p>
            <a:fld id="{B42AA3A3-A112-0940-BBD8-06165B5BF6C8}" type="datetime1">
              <a:rPr lang="en-US" smtClean="0"/>
              <a:t>10/22/26</a:t>
            </a:fld>
            <a:endParaRPr lang="en-US"/>
          </a:p>
        </p:txBody>
      </p:sp>
      <p:sp>
        <p:nvSpPr>
          <p:cNvPr id="5" name="Footer Placeholder 4">
            <a:extLst>
              <a:ext uri="{FF2B5EF4-FFF2-40B4-BE49-F238E27FC236}">
                <a16:creationId xmlns:a16="http://schemas.microsoft.com/office/drawing/2014/main" id="{4DD3BC27-6A93-79A7-ED74-2C8454DDC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0BE7A4-2499-7828-5966-4E471107AAA6}"/>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2627634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4B0BC5-D06F-34CD-35C4-9208228CC6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859878-5DA2-06AB-24A1-7F22D5F31F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057B2-A120-8127-02E0-EE536946DDB8}"/>
              </a:ext>
            </a:extLst>
          </p:cNvPr>
          <p:cNvSpPr>
            <a:spLocks noGrp="1"/>
          </p:cNvSpPr>
          <p:nvPr>
            <p:ph type="dt" sz="half" idx="10"/>
          </p:nvPr>
        </p:nvSpPr>
        <p:spPr/>
        <p:txBody>
          <a:bodyPr/>
          <a:lstStyle/>
          <a:p>
            <a:fld id="{171C414D-46D3-9B48-BE01-103C46FE0EC7}" type="datetime1">
              <a:rPr lang="en-US" smtClean="0"/>
              <a:t>10/22/26</a:t>
            </a:fld>
            <a:endParaRPr lang="en-US"/>
          </a:p>
        </p:txBody>
      </p:sp>
      <p:sp>
        <p:nvSpPr>
          <p:cNvPr id="5" name="Footer Placeholder 4">
            <a:extLst>
              <a:ext uri="{FF2B5EF4-FFF2-40B4-BE49-F238E27FC236}">
                <a16:creationId xmlns:a16="http://schemas.microsoft.com/office/drawing/2014/main" id="{BE1BB2FD-00A5-245A-9021-DFBCD9D2F3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AECA2-927D-C7BB-3595-7D0CF933E601}"/>
              </a:ext>
            </a:extLst>
          </p:cNvPr>
          <p:cNvSpPr>
            <a:spLocks noGrp="1"/>
          </p:cNvSpPr>
          <p:nvPr>
            <p:ph type="sldNum" sz="quarter" idx="12"/>
          </p:nvPr>
        </p:nvSpPr>
        <p:spPr/>
        <p:txBody>
          <a:bodyPr/>
          <a:lstStyle/>
          <a:p>
            <a:fld id="{387B101D-DD3C-9947-BBAC-237D8FE858E0}" type="slidenum">
              <a:rPr lang="en-US" smtClean="0"/>
              <a:t>‹#›</a:t>
            </a:fld>
            <a:endParaRPr lang="en-US"/>
          </a:p>
        </p:txBody>
      </p:sp>
    </p:spTree>
    <p:extLst>
      <p:ext uri="{BB962C8B-B14F-4D97-AF65-F5344CB8AC3E}">
        <p14:creationId xmlns:p14="http://schemas.microsoft.com/office/powerpoint/2010/main" val="147362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DF70A-C1AB-48A8-3347-1B58A1543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B63447-FA9E-F416-D5C3-868209CF4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39C1F-8362-C591-50A0-80F90074FA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9F9EEB-E54B-C64E-AB91-D6B0BED18EB3}" type="datetime1">
              <a:rPr lang="en-US" smtClean="0"/>
              <a:t>10/22/26</a:t>
            </a:fld>
            <a:endParaRPr lang="en-US"/>
          </a:p>
        </p:txBody>
      </p:sp>
      <p:sp>
        <p:nvSpPr>
          <p:cNvPr id="5" name="Footer Placeholder 4">
            <a:extLst>
              <a:ext uri="{FF2B5EF4-FFF2-40B4-BE49-F238E27FC236}">
                <a16:creationId xmlns:a16="http://schemas.microsoft.com/office/drawing/2014/main" id="{195A72AB-94CC-59D0-9AED-A205737D03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8421BF-95B5-895C-89ED-4FFF04536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7B101D-DD3C-9947-BBAC-237D8FE858E0}" type="slidenum">
              <a:rPr lang="en-US" smtClean="0"/>
              <a:t>‹#›</a:t>
            </a:fld>
            <a:endParaRPr lang="en-US"/>
          </a:p>
        </p:txBody>
      </p:sp>
    </p:spTree>
    <p:extLst>
      <p:ext uri="{BB962C8B-B14F-4D97-AF65-F5344CB8AC3E}">
        <p14:creationId xmlns:p14="http://schemas.microsoft.com/office/powerpoint/2010/main" val="314831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org&amp;utm_campaign=index&amp;utm_content=thumbnai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35.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50.png"/><Relationship Id="rId1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7.png"/><Relationship Id="rId5" Type="http://schemas.openxmlformats.org/officeDocument/2006/relationships/image" Target="../media/image38.png"/><Relationship Id="rId10" Type="http://schemas.openxmlformats.org/officeDocument/2006/relationships/image" Target="../media/image46.png"/><Relationship Id="rId4" Type="http://schemas.openxmlformats.org/officeDocument/2006/relationships/image" Target="../media/image37.png"/><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7.png"/><Relationship Id="rId5" Type="http://schemas.openxmlformats.org/officeDocument/2006/relationships/image" Target="../media/image38.png"/><Relationship Id="rId10" Type="http://schemas.openxmlformats.org/officeDocument/2006/relationships/image" Target="../media/image46.png"/><Relationship Id="rId4" Type="http://schemas.openxmlformats.org/officeDocument/2006/relationships/image" Target="../media/image37.png"/><Relationship Id="rId9" Type="http://schemas.openxmlformats.org/officeDocument/2006/relationships/image" Target="../media/image45.png"/></Relationships>
</file>

<file path=ppt/slides/_rels/slide29.xml.rels><?xml version="1.0" encoding="UTF-8" standalone="yes"?>
<Relationships xmlns="http://schemas.openxmlformats.org/package/2006/relationships"><Relationship Id="rId13" Type="http://schemas.openxmlformats.org/officeDocument/2006/relationships/image" Target="../media/image53.png"/><Relationship Id="rId12" Type="http://schemas.openxmlformats.org/officeDocument/2006/relationships/image" Target="../media/image56.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67.png"/></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70.png"/></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8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74.png"/><Relationship Id="rId7"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89.png"/><Relationship Id="rId9" Type="http://schemas.openxmlformats.org/officeDocument/2006/relationships/image" Target="../media/image97.png"/></Relationships>
</file>

<file path=ppt/slides/_rels/slide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98.png"/><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98.png"/><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74.png"/><Relationship Id="rId7" Type="http://schemas.openxmlformats.org/officeDocument/2006/relationships/image" Target="../media/image104.png"/><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103.png"/><Relationship Id="rId4" Type="http://schemas.openxmlformats.org/officeDocument/2006/relationships/image" Target="../media/image102.png"/></Relationships>
</file>

<file path=ppt/slides/_rels/slide5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06.png"/><Relationship Id="rId1" Type="http://schemas.openxmlformats.org/officeDocument/2006/relationships/slideLayout" Target="../slideLayouts/slideLayout1.xml"/><Relationship Id="rId5" Type="http://schemas.openxmlformats.org/officeDocument/2006/relationships/image" Target="../media/image108.png"/><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06.pn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5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89.png"/><Relationship Id="rId1" Type="http://schemas.openxmlformats.org/officeDocument/2006/relationships/slideLayout" Target="../slideLayouts/slideLayout1.xml"/><Relationship Id="rId4" Type="http://schemas.openxmlformats.org/officeDocument/2006/relationships/image" Target="../media/image106.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1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5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89.png"/><Relationship Id="rId4" Type="http://schemas.openxmlformats.org/officeDocument/2006/relationships/image" Target="../media/image112.png"/></Relationships>
</file>

<file path=ppt/slides/_rels/slide5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89.png"/><Relationship Id="rId1" Type="http://schemas.openxmlformats.org/officeDocument/2006/relationships/slideLayout" Target="../slideLayouts/slideLayout1.xml"/><Relationship Id="rId5" Type="http://schemas.openxmlformats.org/officeDocument/2006/relationships/image" Target="../media/image119.png"/><Relationship Id="rId4" Type="http://schemas.openxmlformats.org/officeDocument/2006/relationships/image" Target="../media/image108.png"/></Relationships>
</file>

<file path=ppt/slides/_rels/slide6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89.png"/><Relationship Id="rId7" Type="http://schemas.openxmlformats.org/officeDocument/2006/relationships/image" Target="../media/image96.png"/><Relationship Id="rId2"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121.png"/></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3.png"/></Relationships>
</file>

<file path=ppt/slides/_rels/slide63.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27.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17.png"/><Relationship Id="rId4" Type="http://schemas.openxmlformats.org/officeDocument/2006/relationships/image" Target="../media/image124.png"/></Relationships>
</file>

<file path=ppt/slides/_rels/slide6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4843A-1F56-442D-6A0C-4439ACB4E66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4929BBE-64CF-D641-0D72-A7E1940E3B1C}"/>
              </a:ext>
            </a:extLst>
          </p:cNvPr>
          <p:cNvSpPr>
            <a:spLocks noGrp="1"/>
          </p:cNvSpPr>
          <p:nvPr>
            <p:ph type="sldNum" sz="quarter" idx="12"/>
          </p:nvPr>
        </p:nvSpPr>
        <p:spPr/>
        <p:txBody>
          <a:bodyPr/>
          <a:lstStyle/>
          <a:p>
            <a:fld id="{387B101D-DD3C-9947-BBAC-237D8FE858E0}" type="slidenum">
              <a:rPr lang="en-US" smtClean="0"/>
              <a:t>1</a:t>
            </a:fld>
            <a:endParaRPr lang="en-US"/>
          </a:p>
        </p:txBody>
      </p:sp>
      <p:sp>
        <p:nvSpPr>
          <p:cNvPr id="15" name="TextBox 14">
            <a:extLst>
              <a:ext uri="{FF2B5EF4-FFF2-40B4-BE49-F238E27FC236}">
                <a16:creationId xmlns:a16="http://schemas.microsoft.com/office/drawing/2014/main" id="{66A2CA29-8C00-BF80-85B9-B8202395BE12}"/>
              </a:ext>
            </a:extLst>
          </p:cNvPr>
          <p:cNvSpPr txBox="1"/>
          <p:nvPr/>
        </p:nvSpPr>
        <p:spPr>
          <a:xfrm>
            <a:off x="2245605" y="2154934"/>
            <a:ext cx="7700791" cy="2548133"/>
          </a:xfrm>
          <a:prstGeom prst="rect">
            <a:avLst/>
          </a:prstGeom>
          <a:noFill/>
        </p:spPr>
        <p:txBody>
          <a:bodyPr wrap="square" rtlCol="0">
            <a:spAutoFit/>
          </a:bodyPr>
          <a:lstStyle/>
          <a:p>
            <a:pPr algn="ctr">
              <a:lnSpc>
                <a:spcPct val="200000"/>
              </a:lnSpc>
            </a:pPr>
            <a:r>
              <a:rPr lang="en-US" sz="2800" dirty="0">
                <a:solidFill>
                  <a:srgbClr val="0432FF"/>
                </a:solidFill>
                <a:latin typeface="Ford Antenna Medium" panose="02000505000000020004" pitchFamily="2" charset="0"/>
              </a:rPr>
              <a:t>Performance, Peers, and Advancement</a:t>
            </a:r>
          </a:p>
          <a:p>
            <a:pPr algn="ctr">
              <a:lnSpc>
                <a:spcPct val="200000"/>
              </a:lnSpc>
            </a:pPr>
            <a:r>
              <a:rPr lang="en-US" sz="2800" dirty="0">
                <a:solidFill>
                  <a:srgbClr val="0432FF"/>
                </a:solidFill>
                <a:latin typeface="Ford Antenna Medium" panose="02000505000000020004" pitchFamily="2" charset="0"/>
              </a:rPr>
              <a:t>A model of group composition, congestion, and selection</a:t>
            </a:r>
          </a:p>
        </p:txBody>
      </p:sp>
    </p:spTree>
    <p:extLst>
      <p:ext uri="{BB962C8B-B14F-4D97-AF65-F5344CB8AC3E}">
        <p14:creationId xmlns:p14="http://schemas.microsoft.com/office/powerpoint/2010/main" val="284201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7199C0-42C3-6308-6145-836541F8392D}"/>
              </a:ext>
            </a:extLst>
          </p:cNvPr>
          <p:cNvSpPr>
            <a:spLocks noGrp="1"/>
          </p:cNvSpPr>
          <p:nvPr>
            <p:ph type="sldNum" sz="quarter" idx="12"/>
          </p:nvPr>
        </p:nvSpPr>
        <p:spPr/>
        <p:txBody>
          <a:bodyPr/>
          <a:lstStyle/>
          <a:p>
            <a:fld id="{387B101D-DD3C-9947-BBAC-237D8FE858E0}" type="slidenum">
              <a:rPr lang="en-US" smtClean="0"/>
              <a:t>2</a:t>
            </a:fld>
            <a:endParaRPr lang="en-US"/>
          </a:p>
        </p:txBody>
      </p:sp>
      <p:pic>
        <p:nvPicPr>
          <p:cNvPr id="5" name="Picture 4" descr="Ministry of National Education (Ministerul Educatiei Nationale) - Romania |  Devex">
            <a:extLst>
              <a:ext uri="{FF2B5EF4-FFF2-40B4-BE49-F238E27FC236}">
                <a16:creationId xmlns:a16="http://schemas.microsoft.com/office/drawing/2014/main" id="{FD59317D-0980-B5E1-406E-C94AC222E259}"/>
              </a:ext>
            </a:extLst>
          </p:cNvPr>
          <p:cNvPicPr>
            <a:picLocks noChangeAspect="1"/>
          </p:cNvPicPr>
          <p:nvPr/>
        </p:nvPicPr>
        <p:blipFill>
          <a:blip r:embed="rId2"/>
          <a:stretch>
            <a:fillRect/>
          </a:stretch>
        </p:blipFill>
        <p:spPr>
          <a:xfrm>
            <a:off x="7063784" y="3180456"/>
            <a:ext cx="3677544" cy="3677544"/>
          </a:xfrm>
          <a:prstGeom prst="rect">
            <a:avLst/>
          </a:prstGeom>
        </p:spPr>
      </p:pic>
      <p:pic>
        <p:nvPicPr>
          <p:cNvPr id="6" name="Picture 5" descr="DIII Men's College Basketball - Home | NCAA.com">
            <a:extLst>
              <a:ext uri="{FF2B5EF4-FFF2-40B4-BE49-F238E27FC236}">
                <a16:creationId xmlns:a16="http://schemas.microsoft.com/office/drawing/2014/main" id="{201A5ADB-3675-5686-BFEF-22EBF48A62D0}"/>
              </a:ext>
            </a:extLst>
          </p:cNvPr>
          <p:cNvPicPr>
            <a:picLocks noChangeAspect="1"/>
          </p:cNvPicPr>
          <p:nvPr/>
        </p:nvPicPr>
        <p:blipFill>
          <a:blip r:embed="rId3"/>
          <a:stretch>
            <a:fillRect/>
          </a:stretch>
        </p:blipFill>
        <p:spPr>
          <a:xfrm>
            <a:off x="2813370" y="3935762"/>
            <a:ext cx="1938194" cy="2420588"/>
          </a:xfrm>
          <a:prstGeom prst="rect">
            <a:avLst/>
          </a:prstGeom>
        </p:spPr>
      </p:pic>
      <p:pic>
        <p:nvPicPr>
          <p:cNvPr id="7" name="Picture 6" descr="File:Emblem of the United States Department of the Army.svg - Wikipedia">
            <a:extLst>
              <a:ext uri="{FF2B5EF4-FFF2-40B4-BE49-F238E27FC236}">
                <a16:creationId xmlns:a16="http://schemas.microsoft.com/office/drawing/2014/main" id="{19CDF16C-F0DD-5F1E-ABEB-7DD6DB4043F6}"/>
              </a:ext>
            </a:extLst>
          </p:cNvPr>
          <p:cNvPicPr>
            <a:picLocks noChangeAspect="1"/>
          </p:cNvPicPr>
          <p:nvPr/>
        </p:nvPicPr>
        <p:blipFill>
          <a:blip r:embed="rId4"/>
          <a:stretch>
            <a:fillRect/>
          </a:stretch>
        </p:blipFill>
        <p:spPr>
          <a:xfrm>
            <a:off x="815362" y="2023606"/>
            <a:ext cx="2154694" cy="2154694"/>
          </a:xfrm>
          <a:prstGeom prst="rect">
            <a:avLst/>
          </a:prstGeom>
        </p:spPr>
      </p:pic>
      <p:pic>
        <p:nvPicPr>
          <p:cNvPr id="8" name="Picture 7" descr="2025 Research Activity Designations - CARNEGIE CLASSIFICATION OF  INSTITUTIONS OF HIGHER EDUCATION">
            <a:extLst>
              <a:ext uri="{FF2B5EF4-FFF2-40B4-BE49-F238E27FC236}">
                <a16:creationId xmlns:a16="http://schemas.microsoft.com/office/drawing/2014/main" id="{58740C6B-3C74-F46B-2C71-89C43295578A}"/>
              </a:ext>
            </a:extLst>
          </p:cNvPr>
          <p:cNvPicPr>
            <a:picLocks noChangeAspect="1"/>
          </p:cNvPicPr>
          <p:nvPr/>
        </p:nvPicPr>
        <p:blipFill>
          <a:blip r:embed="rId5"/>
          <a:stretch>
            <a:fillRect/>
          </a:stretch>
        </p:blipFill>
        <p:spPr>
          <a:xfrm>
            <a:off x="4658452" y="2078161"/>
            <a:ext cx="2124418" cy="2100139"/>
          </a:xfrm>
          <a:prstGeom prst="rect">
            <a:avLst/>
          </a:prstGeom>
        </p:spPr>
      </p:pic>
      <p:sp>
        <p:nvSpPr>
          <p:cNvPr id="9" name="TextBox 8">
            <a:extLst>
              <a:ext uri="{FF2B5EF4-FFF2-40B4-BE49-F238E27FC236}">
                <a16:creationId xmlns:a16="http://schemas.microsoft.com/office/drawing/2014/main" id="{270C41EE-1065-5F42-7ACD-9BF5209D41F9}"/>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does the group around you affect your chances of success? </a:t>
            </a:r>
          </a:p>
        </p:txBody>
      </p:sp>
    </p:spTree>
    <p:extLst>
      <p:ext uri="{BB962C8B-B14F-4D97-AF65-F5344CB8AC3E}">
        <p14:creationId xmlns:p14="http://schemas.microsoft.com/office/powerpoint/2010/main" val="4224547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B7F4A-3B50-DE43-E06B-AB20CDB0724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E09D65B-E318-7FA0-2049-09592CB2127D}"/>
              </a:ext>
            </a:extLst>
          </p:cNvPr>
          <p:cNvSpPr>
            <a:spLocks noGrp="1"/>
          </p:cNvSpPr>
          <p:nvPr>
            <p:ph type="sldNum" sz="quarter" idx="12"/>
          </p:nvPr>
        </p:nvSpPr>
        <p:spPr/>
        <p:txBody>
          <a:bodyPr/>
          <a:lstStyle/>
          <a:p>
            <a:fld id="{387B101D-DD3C-9947-BBAC-237D8FE858E0}" type="slidenum">
              <a:rPr lang="en-US" smtClean="0"/>
              <a:t>3</a:t>
            </a:fld>
            <a:endParaRPr lang="en-US"/>
          </a:p>
        </p:txBody>
      </p:sp>
      <p:sp>
        <p:nvSpPr>
          <p:cNvPr id="2" name="TextBox 1">
            <a:extLst>
              <a:ext uri="{FF2B5EF4-FFF2-40B4-BE49-F238E27FC236}">
                <a16:creationId xmlns:a16="http://schemas.microsoft.com/office/drawing/2014/main" id="{3EC880BA-1701-F9EC-DD2E-3911E6B2D727}"/>
              </a:ext>
            </a:extLst>
          </p:cNvPr>
          <p:cNvSpPr txBox="1"/>
          <p:nvPr/>
        </p:nvSpPr>
        <p:spPr>
          <a:xfrm>
            <a:off x="571024" y="1582286"/>
            <a:ext cx="11296511" cy="3436903"/>
          </a:xfrm>
          <a:prstGeom prst="rect">
            <a:avLst/>
          </a:prstGeom>
          <a:noFill/>
        </p:spPr>
        <p:txBody>
          <a:bodyPr wrap="square" rtlCol="0">
            <a:spAutoFit/>
          </a:bodyPr>
          <a:lstStyle/>
          <a:p>
            <a:pPr marL="342900" lvl="0" indent="-342900">
              <a:lnSpc>
                <a:spcPct val="250000"/>
              </a:lnSpc>
              <a:buFont typeface="+mj-lt"/>
              <a:buAutoNum type="arabicPeriod"/>
            </a:pPr>
            <a:r>
              <a:rPr lang="en-US" dirty="0">
                <a:latin typeface="Ford Antenna Medium" panose="02000505000000020004" pitchFamily="2" charset="0"/>
              </a:rPr>
              <a:t>Individual performance and uncertain selection</a:t>
            </a:r>
          </a:p>
          <a:p>
            <a:pPr marL="342900" lvl="0" indent="-342900">
              <a:lnSpc>
                <a:spcPct val="250000"/>
              </a:lnSpc>
              <a:buFont typeface="+mj-lt"/>
              <a:buAutoNum type="arabicPeriod"/>
            </a:pPr>
            <a:r>
              <a:rPr lang="en-US" dirty="0">
                <a:latin typeface="Ford Antenna Medium" panose="02000505000000020004" pitchFamily="2" charset="0"/>
              </a:rPr>
              <a:t>NCAA evidence across peer environments</a:t>
            </a:r>
          </a:p>
          <a:p>
            <a:pPr marL="342900" lvl="0" indent="-342900">
              <a:lnSpc>
                <a:spcPct val="250000"/>
              </a:lnSpc>
              <a:buFont typeface="+mj-lt"/>
              <a:buAutoNum type="arabicPeriod"/>
            </a:pPr>
            <a:r>
              <a:rPr lang="en-US" dirty="0">
                <a:latin typeface="Ford Antenna Medium" panose="02000505000000020004" pitchFamily="2" charset="0"/>
              </a:rPr>
              <a:t>Congestion, roster pressure, and scarce opportunities</a:t>
            </a:r>
          </a:p>
          <a:p>
            <a:pPr marL="342900" lvl="0" indent="-342900">
              <a:lnSpc>
                <a:spcPct val="250000"/>
              </a:lnSpc>
              <a:buFont typeface="+mj-lt"/>
              <a:buAutoNum type="arabicPeriod"/>
            </a:pPr>
            <a:r>
              <a:rPr lang="en-US" dirty="0">
                <a:latin typeface="Ford Antenna Medium" panose="02000505000000020004" pitchFamily="2" charset="0"/>
              </a:rPr>
              <a:t>Group formation and experiments with sorting</a:t>
            </a:r>
          </a:p>
          <a:p>
            <a:pPr marL="285750" indent="-285750">
              <a:lnSpc>
                <a:spcPct val="250000"/>
              </a:lnSpc>
              <a:buFont typeface="Arial" panose="020B0604020202020204" pitchFamily="34" charset="0"/>
              <a:buChar char="•"/>
            </a:pPr>
            <a:endParaRPr lang="en-US" dirty="0">
              <a:latin typeface="Ford Antenna Medium" panose="02000505000000020004" pitchFamily="2" charset="0"/>
            </a:endParaRPr>
          </a:p>
        </p:txBody>
      </p:sp>
      <p:sp>
        <p:nvSpPr>
          <p:cNvPr id="3" name="TextBox 2">
            <a:extLst>
              <a:ext uri="{FF2B5EF4-FFF2-40B4-BE49-F238E27FC236}">
                <a16:creationId xmlns:a16="http://schemas.microsoft.com/office/drawing/2014/main" id="{56428063-8BB7-D6DB-1421-7872657B8BE7}"/>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does the group around you affect your chances of success? </a:t>
            </a:r>
          </a:p>
        </p:txBody>
      </p:sp>
    </p:spTree>
    <p:extLst>
      <p:ext uri="{BB962C8B-B14F-4D97-AF65-F5344CB8AC3E}">
        <p14:creationId xmlns:p14="http://schemas.microsoft.com/office/powerpoint/2010/main" val="1417361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33AB-6A19-52C9-A018-1EC09F00856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FD4654C-F48E-111F-FFBF-398D312E5FBC}"/>
              </a:ext>
            </a:extLst>
          </p:cNvPr>
          <p:cNvSpPr>
            <a:spLocks noGrp="1"/>
          </p:cNvSpPr>
          <p:nvPr>
            <p:ph type="sldNum" sz="quarter" idx="12"/>
          </p:nvPr>
        </p:nvSpPr>
        <p:spPr/>
        <p:txBody>
          <a:bodyPr/>
          <a:lstStyle/>
          <a:p>
            <a:fld id="{387B101D-DD3C-9947-BBAC-237D8FE858E0}" type="slidenum">
              <a:rPr lang="en-US" smtClean="0"/>
              <a:t>4</a:t>
            </a:fld>
            <a:endParaRPr lang="en-US"/>
          </a:p>
        </p:txBody>
      </p:sp>
      <p:sp>
        <p:nvSpPr>
          <p:cNvPr id="2" name="TextBox 1">
            <a:extLst>
              <a:ext uri="{FF2B5EF4-FFF2-40B4-BE49-F238E27FC236}">
                <a16:creationId xmlns:a16="http://schemas.microsoft.com/office/drawing/2014/main" id="{E5EAFE62-924A-AEE2-7F56-2FACA6E98EA8}"/>
              </a:ext>
            </a:extLst>
          </p:cNvPr>
          <p:cNvSpPr txBox="1"/>
          <p:nvPr/>
        </p:nvSpPr>
        <p:spPr>
          <a:xfrm>
            <a:off x="748480" y="1720646"/>
            <a:ext cx="10695039"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Let’s use a visual example to make sense of our model. </a:t>
            </a:r>
          </a:p>
        </p:txBody>
      </p:sp>
      <p:pic>
        <p:nvPicPr>
          <p:cNvPr id="3" name="Picture 2">
            <a:extLst>
              <a:ext uri="{FF2B5EF4-FFF2-40B4-BE49-F238E27FC236}">
                <a16:creationId xmlns:a16="http://schemas.microsoft.com/office/drawing/2014/main" id="{B101CF29-724B-1FF7-0002-DE50053CBC7D}"/>
              </a:ext>
            </a:extLst>
          </p:cNvPr>
          <p:cNvPicPr>
            <a:picLocks noChangeAspect="1"/>
          </p:cNvPicPr>
          <p:nvPr/>
        </p:nvPicPr>
        <p:blipFill>
          <a:blip r:embed="rId2"/>
          <a:stretch>
            <a:fillRect/>
          </a:stretch>
        </p:blipFill>
        <p:spPr>
          <a:xfrm>
            <a:off x="286438" y="3025508"/>
            <a:ext cx="11054083" cy="3108960"/>
          </a:xfrm>
          <a:prstGeom prst="rect">
            <a:avLst/>
          </a:prstGeom>
        </p:spPr>
      </p:pic>
      <p:sp>
        <p:nvSpPr>
          <p:cNvPr id="4" name="TextBox 3">
            <a:extLst>
              <a:ext uri="{FF2B5EF4-FFF2-40B4-BE49-F238E27FC236}">
                <a16:creationId xmlns:a16="http://schemas.microsoft.com/office/drawing/2014/main" id="{EE357DD0-6D23-6FDF-1793-277EC1A6FE05}"/>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does the group around you affect your chances of success? </a:t>
            </a:r>
          </a:p>
        </p:txBody>
      </p:sp>
    </p:spTree>
    <p:extLst>
      <p:ext uri="{BB962C8B-B14F-4D97-AF65-F5344CB8AC3E}">
        <p14:creationId xmlns:p14="http://schemas.microsoft.com/office/powerpoint/2010/main" val="2127425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EF1E-4DCC-1EDD-1EBE-EEC0FDC068C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9AF3FDC-829F-DE6D-769A-B53006A9BD82}"/>
              </a:ext>
            </a:extLst>
          </p:cNvPr>
          <p:cNvSpPr>
            <a:spLocks noGrp="1"/>
          </p:cNvSpPr>
          <p:nvPr>
            <p:ph type="sldNum" sz="quarter" idx="12"/>
          </p:nvPr>
        </p:nvSpPr>
        <p:spPr/>
        <p:txBody>
          <a:bodyPr/>
          <a:lstStyle/>
          <a:p>
            <a:fld id="{387B101D-DD3C-9947-BBAC-237D8FE858E0}" type="slidenum">
              <a:rPr lang="en-US" smtClean="0"/>
              <a:t>5</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C4D0C0-EFE4-152A-6A66-2A0697E23CEF}"/>
                  </a:ext>
                </a:extLst>
              </p:cNvPr>
              <p:cNvSpPr txBox="1"/>
              <p:nvPr/>
            </p:nvSpPr>
            <p:spPr>
              <a:xfrm>
                <a:off x="748480" y="1720646"/>
                <a:ext cx="10695039" cy="112434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Let’s use a visual example to make sense of our model. </a:t>
                </a:r>
              </a:p>
              <a:p>
                <a:pPr marL="285750" indent="-285750">
                  <a:lnSpc>
                    <a:spcPct val="200000"/>
                  </a:lnSpc>
                  <a:buFont typeface="Arial" panose="020B0604020202020204" pitchFamily="34" charset="0"/>
                  <a:buChar char="•"/>
                </a:pPr>
                <a:r>
                  <a:rPr lang="en-US" dirty="0"/>
                  <a:t>A small basketball league of </a:t>
                </a:r>
                <a14:m>
                  <m:oMath xmlns:m="http://schemas.openxmlformats.org/officeDocument/2006/math">
                    <m:r>
                      <a:rPr lang="en-US" i="1" dirty="0" smtClean="0">
                        <a:latin typeface="Cambria Math" panose="02040503050406030204" pitchFamily="18" charset="0"/>
                      </a:rPr>
                      <m:t>𝑁</m:t>
                    </m:r>
                    <m:r>
                      <a:rPr lang="en-US" i="0" dirty="0" smtClean="0">
                        <a:latin typeface="Cambria Math" panose="02040503050406030204" pitchFamily="18" charset="0"/>
                      </a:rPr>
                      <m:t>=50</m:t>
                    </m:r>
                  </m:oMath>
                </a14:m>
                <a:r>
                  <a:rPr lang="en-US" dirty="0"/>
                  <a:t> players</a:t>
                </a:r>
              </a:p>
            </p:txBody>
          </p:sp>
        </mc:Choice>
        <mc:Fallback xmlns="">
          <p:sp>
            <p:nvSpPr>
              <p:cNvPr id="2" name="TextBox 1">
                <a:extLst>
                  <a:ext uri="{FF2B5EF4-FFF2-40B4-BE49-F238E27FC236}">
                    <a16:creationId xmlns:a16="http://schemas.microsoft.com/office/drawing/2014/main" id="{13C4D0C0-EFE4-152A-6A66-2A0697E23CEF}"/>
                  </a:ext>
                </a:extLst>
              </p:cNvPr>
              <p:cNvSpPr txBox="1">
                <a:spLocks noRot="1" noChangeAspect="1" noMove="1" noResize="1" noEditPoints="1" noAdjustHandles="1" noChangeArrowheads="1" noChangeShapeType="1" noTextEdit="1"/>
              </p:cNvSpPr>
              <p:nvPr/>
            </p:nvSpPr>
            <p:spPr>
              <a:xfrm>
                <a:off x="748480" y="1720646"/>
                <a:ext cx="10695039" cy="1124347"/>
              </a:xfrm>
              <a:prstGeom prst="rect">
                <a:avLst/>
              </a:prstGeom>
              <a:blipFill>
                <a:blip r:embed="rId2"/>
                <a:stretch>
                  <a:fillRect l="-475" b="-777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FF2C983-C4CC-BAAD-4BB8-884B649D0339}"/>
              </a:ext>
            </a:extLst>
          </p:cNvPr>
          <p:cNvPicPr>
            <a:picLocks noChangeAspect="1"/>
          </p:cNvPicPr>
          <p:nvPr/>
        </p:nvPicPr>
        <p:blipFill>
          <a:blip r:embed="rId3"/>
          <a:stretch>
            <a:fillRect/>
          </a:stretch>
        </p:blipFill>
        <p:spPr>
          <a:xfrm>
            <a:off x="286438" y="3025508"/>
            <a:ext cx="11054083" cy="3108960"/>
          </a:xfrm>
          <a:prstGeom prst="rect">
            <a:avLst/>
          </a:prstGeom>
        </p:spPr>
      </p:pic>
      <p:sp>
        <p:nvSpPr>
          <p:cNvPr id="4" name="TextBox 3">
            <a:extLst>
              <a:ext uri="{FF2B5EF4-FFF2-40B4-BE49-F238E27FC236}">
                <a16:creationId xmlns:a16="http://schemas.microsoft.com/office/drawing/2014/main" id="{7FDF8FFD-E0D8-612A-2E9C-5AD22B596D6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does the group around you affect your chances of success? </a:t>
            </a:r>
          </a:p>
        </p:txBody>
      </p:sp>
    </p:spTree>
    <p:extLst>
      <p:ext uri="{BB962C8B-B14F-4D97-AF65-F5344CB8AC3E}">
        <p14:creationId xmlns:p14="http://schemas.microsoft.com/office/powerpoint/2010/main" val="657767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EA74-7F45-2A91-41D3-46C087A6F88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4AFD378-5E46-6B32-B02E-4CB561B0B667}"/>
              </a:ext>
            </a:extLst>
          </p:cNvPr>
          <p:cNvSpPr>
            <a:spLocks noGrp="1"/>
          </p:cNvSpPr>
          <p:nvPr>
            <p:ph type="sldNum" sz="quarter" idx="12"/>
          </p:nvPr>
        </p:nvSpPr>
        <p:spPr/>
        <p:txBody>
          <a:bodyPr/>
          <a:lstStyle/>
          <a:p>
            <a:fld id="{387B101D-DD3C-9947-BBAC-237D8FE858E0}" type="slidenum">
              <a:rPr lang="en-US" smtClean="0"/>
              <a:t>6</a:t>
            </a:fld>
            <a:endParaRPr lang="en-US"/>
          </a:p>
        </p:txBody>
      </p:sp>
      <p:pic>
        <p:nvPicPr>
          <p:cNvPr id="11" name="Picture 10">
            <a:extLst>
              <a:ext uri="{FF2B5EF4-FFF2-40B4-BE49-F238E27FC236}">
                <a16:creationId xmlns:a16="http://schemas.microsoft.com/office/drawing/2014/main" id="{3C18DBB3-632E-CFF4-5B56-7AFD0803B89B}"/>
              </a:ext>
            </a:extLst>
          </p:cNvPr>
          <p:cNvPicPr>
            <a:picLocks noChangeAspect="1"/>
          </p:cNvPicPr>
          <p:nvPr/>
        </p:nvPicPr>
        <p:blipFill>
          <a:blip r:embed="rId2"/>
          <a:stretch>
            <a:fillRect/>
          </a:stretch>
        </p:blipFill>
        <p:spPr>
          <a:xfrm>
            <a:off x="286438" y="3025508"/>
            <a:ext cx="11054083" cy="3108960"/>
          </a:xfrm>
          <a:prstGeom prst="rect">
            <a:avLst/>
          </a:prstGeom>
        </p:spPr>
      </p:pic>
      <p:sp>
        <p:nvSpPr>
          <p:cNvPr id="12" name="TextBox 11">
            <a:extLst>
              <a:ext uri="{FF2B5EF4-FFF2-40B4-BE49-F238E27FC236}">
                <a16:creationId xmlns:a16="http://schemas.microsoft.com/office/drawing/2014/main" id="{AE8CE843-1219-5BF5-B426-518201008326}"/>
              </a:ext>
            </a:extLst>
          </p:cNvPr>
          <p:cNvSpPr txBox="1"/>
          <p:nvPr/>
        </p:nvSpPr>
        <p:spPr>
          <a:xfrm>
            <a:off x="748480" y="1720646"/>
            <a:ext cx="10695039"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But are all individuals alike?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6491A25-5213-CEE4-64A5-73E1BB1ACDB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13" name="TextBox 12">
                <a:extLst>
                  <a:ext uri="{FF2B5EF4-FFF2-40B4-BE49-F238E27FC236}">
                    <a16:creationId xmlns:a16="http://schemas.microsoft.com/office/drawing/2014/main" id="{16491A25-5213-CEE4-64A5-73E1BB1ACDBE}"/>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3"/>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216770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5839-B96C-60BB-ECBD-8244B749067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E8A0F4E-9C04-B9DA-E04F-496C7FEFC82F}"/>
              </a:ext>
            </a:extLst>
          </p:cNvPr>
          <p:cNvSpPr>
            <a:spLocks noGrp="1"/>
          </p:cNvSpPr>
          <p:nvPr>
            <p:ph type="sldNum" sz="quarter" idx="12"/>
          </p:nvPr>
        </p:nvSpPr>
        <p:spPr/>
        <p:txBody>
          <a:bodyPr/>
          <a:lstStyle/>
          <a:p>
            <a:fld id="{387B101D-DD3C-9947-BBAC-237D8FE858E0}" type="slidenum">
              <a:rPr lang="en-US" smtClean="0"/>
              <a:t>7</a:t>
            </a:fld>
            <a:endParaRPr lang="en-US"/>
          </a:p>
        </p:txBody>
      </p:sp>
      <p:sp>
        <p:nvSpPr>
          <p:cNvPr id="12" name="TextBox 11">
            <a:extLst>
              <a:ext uri="{FF2B5EF4-FFF2-40B4-BE49-F238E27FC236}">
                <a16:creationId xmlns:a16="http://schemas.microsoft.com/office/drawing/2014/main" id="{0350B770-D7C3-F2D8-43A0-88A995C10D21}"/>
              </a:ext>
            </a:extLst>
          </p:cNvPr>
          <p:cNvSpPr txBox="1"/>
          <p:nvPr/>
        </p:nvSpPr>
        <p:spPr>
          <a:xfrm>
            <a:off x="748481" y="1720646"/>
            <a:ext cx="3292578"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But are all individuals alike?</a:t>
            </a: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553E56CF-121A-A2F7-A661-4E87C88811F8}"/>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84" name="TextBox 83">
                <a:extLst>
                  <a:ext uri="{FF2B5EF4-FFF2-40B4-BE49-F238E27FC236}">
                    <a16:creationId xmlns:a16="http://schemas.microsoft.com/office/drawing/2014/main" id="{553E56CF-121A-A2F7-A661-4E87C88811F8}"/>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2"/>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2353910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8CABD-6CD8-0E98-9E9C-10948C1F50E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234EA20-7BD0-F0AB-CC18-E9F75C2EC17C}"/>
              </a:ext>
            </a:extLst>
          </p:cNvPr>
          <p:cNvSpPr>
            <a:spLocks noGrp="1"/>
          </p:cNvSpPr>
          <p:nvPr>
            <p:ph type="sldNum" sz="quarter" idx="12"/>
          </p:nvPr>
        </p:nvSpPr>
        <p:spPr/>
        <p:txBody>
          <a:bodyPr/>
          <a:lstStyle/>
          <a:p>
            <a:fld id="{387B101D-DD3C-9947-BBAC-237D8FE858E0}" type="slidenum">
              <a:rPr lang="en-US" smtClean="0"/>
              <a:t>8</a:t>
            </a:fld>
            <a:endParaRPr lang="en-US"/>
          </a:p>
        </p:txBody>
      </p:sp>
      <p:sp>
        <p:nvSpPr>
          <p:cNvPr id="12" name="TextBox 11">
            <a:extLst>
              <a:ext uri="{FF2B5EF4-FFF2-40B4-BE49-F238E27FC236}">
                <a16:creationId xmlns:a16="http://schemas.microsoft.com/office/drawing/2014/main" id="{904360FA-B473-0657-C40B-C06DF5723312}"/>
              </a:ext>
            </a:extLst>
          </p:cNvPr>
          <p:cNvSpPr txBox="1"/>
          <p:nvPr/>
        </p:nvSpPr>
        <p:spPr>
          <a:xfrm>
            <a:off x="748481" y="1720646"/>
            <a:ext cx="3292578"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But are all individuals alike?</a:t>
            </a:r>
          </a:p>
        </p:txBody>
      </p:sp>
      <p:grpSp>
        <p:nvGrpSpPr>
          <p:cNvPr id="77" name="Group 76">
            <a:extLst>
              <a:ext uri="{FF2B5EF4-FFF2-40B4-BE49-F238E27FC236}">
                <a16:creationId xmlns:a16="http://schemas.microsoft.com/office/drawing/2014/main" id="{CBB0B87C-11CC-7D99-9077-3A23F7D26DB2}"/>
              </a:ext>
            </a:extLst>
          </p:cNvPr>
          <p:cNvGrpSpPr/>
          <p:nvPr/>
        </p:nvGrpSpPr>
        <p:grpSpPr>
          <a:xfrm>
            <a:off x="3414901" y="2775896"/>
            <a:ext cx="3119580" cy="3263689"/>
            <a:chOff x="1812231" y="2775896"/>
            <a:chExt cx="3119580" cy="3263689"/>
          </a:xfrm>
        </p:grpSpPr>
        <p:pic>
          <p:nvPicPr>
            <p:cNvPr id="78" name="Picture 77">
              <a:extLst>
                <a:ext uri="{FF2B5EF4-FFF2-40B4-BE49-F238E27FC236}">
                  <a16:creationId xmlns:a16="http://schemas.microsoft.com/office/drawing/2014/main" id="{789E8CFA-670C-0B13-6702-F5E7CA76BDBB}"/>
                </a:ext>
              </a:extLst>
            </p:cNvPr>
            <p:cNvPicPr>
              <a:picLocks noChangeAspect="1"/>
            </p:cNvPicPr>
            <p:nvPr/>
          </p:nvPicPr>
          <p:blipFill>
            <a:blip r:embed="rId2"/>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1B06A47-BC58-E5B2-2B99-0340235F073C}"/>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79" name="TextBox 78">
                  <a:extLst>
                    <a:ext uri="{FF2B5EF4-FFF2-40B4-BE49-F238E27FC236}">
                      <a16:creationId xmlns:a16="http://schemas.microsoft.com/office/drawing/2014/main" id="{71B06A47-BC58-E5B2-2B99-0340235F073C}"/>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3"/>
                  <a:stretch>
                    <a:fillRect l="-5405" t="-6667" b="-26667"/>
                  </a:stretch>
                </a:blipFill>
              </p:spPr>
              <p:txBody>
                <a:bodyPr/>
                <a:lstStyle/>
                <a:p>
                  <a:r>
                    <a:rPr lang="en-US">
                      <a:noFill/>
                    </a:rPr>
                    <a:t> </a:t>
                  </a:r>
                </a:p>
              </p:txBody>
            </p:sp>
          </mc:Fallback>
        </mc:AlternateContent>
      </p:grpSp>
      <p:grpSp>
        <p:nvGrpSpPr>
          <p:cNvPr id="80" name="Group 79">
            <a:extLst>
              <a:ext uri="{FF2B5EF4-FFF2-40B4-BE49-F238E27FC236}">
                <a16:creationId xmlns:a16="http://schemas.microsoft.com/office/drawing/2014/main" id="{E4041643-C39C-591B-D057-732E84B2D97E}"/>
              </a:ext>
            </a:extLst>
          </p:cNvPr>
          <p:cNvGrpSpPr/>
          <p:nvPr/>
        </p:nvGrpSpPr>
        <p:grpSpPr>
          <a:xfrm>
            <a:off x="7262065" y="3409513"/>
            <a:ext cx="2570350" cy="2659568"/>
            <a:chOff x="4931811" y="3380017"/>
            <a:chExt cx="2570350" cy="2659568"/>
          </a:xfrm>
        </p:grpSpPr>
        <p:pic>
          <p:nvPicPr>
            <p:cNvPr id="81" name="Picture 80">
              <a:extLst>
                <a:ext uri="{FF2B5EF4-FFF2-40B4-BE49-F238E27FC236}">
                  <a16:creationId xmlns:a16="http://schemas.microsoft.com/office/drawing/2014/main" id="{1EF522FE-A5A8-EF8D-50BE-41C75B5CE1A8}"/>
                </a:ext>
              </a:extLst>
            </p:cNvPr>
            <p:cNvPicPr>
              <a:picLocks noChangeAspect="1"/>
            </p:cNvPicPr>
            <p:nvPr/>
          </p:nvPicPr>
          <p:blipFill>
            <a:blip r:embed="rId4"/>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3268587A-BACC-2DCF-7C74-E3BF784495A0}"/>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82" name="TextBox 81">
                  <a:extLst>
                    <a:ext uri="{FF2B5EF4-FFF2-40B4-BE49-F238E27FC236}">
                      <a16:creationId xmlns:a16="http://schemas.microsoft.com/office/drawing/2014/main" id="{3268587A-BACC-2DCF-7C74-E3BF784495A0}"/>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5"/>
                  <a:stretch>
                    <a:fillRect l="-3846" t="-6452" b="-2258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A0E3C57-1414-5DFE-4CB3-D21099A53284}"/>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4" name="TextBox 3">
                <a:extLst>
                  <a:ext uri="{FF2B5EF4-FFF2-40B4-BE49-F238E27FC236}">
                    <a16:creationId xmlns:a16="http://schemas.microsoft.com/office/drawing/2014/main" id="{EA0E3C57-1414-5DFE-4CB3-D21099A53284}"/>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6"/>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4105146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48BC0-58A5-BB98-F904-6F21D2B863A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A00AA07-6C7C-4655-E3C7-AF4DE960F16E}"/>
              </a:ext>
            </a:extLst>
          </p:cNvPr>
          <p:cNvSpPr>
            <a:spLocks noGrp="1"/>
          </p:cNvSpPr>
          <p:nvPr>
            <p:ph type="sldNum" sz="quarter" idx="12"/>
          </p:nvPr>
        </p:nvSpPr>
        <p:spPr/>
        <p:txBody>
          <a:bodyPr/>
          <a:lstStyle/>
          <a:p>
            <a:fld id="{387B101D-DD3C-9947-BBAC-237D8FE858E0}" type="slidenum">
              <a:rPr lang="en-US" smtClean="0"/>
              <a:t>9</a:t>
            </a:fld>
            <a:endParaRPr lang="en-US"/>
          </a:p>
        </p:txBody>
      </p:sp>
      <p:sp>
        <p:nvSpPr>
          <p:cNvPr id="12" name="TextBox 11">
            <a:extLst>
              <a:ext uri="{FF2B5EF4-FFF2-40B4-BE49-F238E27FC236}">
                <a16:creationId xmlns:a16="http://schemas.microsoft.com/office/drawing/2014/main" id="{4F53FA09-D217-B7B2-18F4-8279F60004AB}"/>
              </a:ext>
            </a:extLst>
          </p:cNvPr>
          <p:cNvSpPr txBox="1"/>
          <p:nvPr/>
        </p:nvSpPr>
        <p:spPr>
          <a:xfrm>
            <a:off x="748481" y="1720646"/>
            <a:ext cx="3292578"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But are all individuals alike?</a:t>
            </a:r>
          </a:p>
        </p:txBody>
      </p:sp>
      <p:grpSp>
        <p:nvGrpSpPr>
          <p:cNvPr id="2" name="Group 1">
            <a:extLst>
              <a:ext uri="{FF2B5EF4-FFF2-40B4-BE49-F238E27FC236}">
                <a16:creationId xmlns:a16="http://schemas.microsoft.com/office/drawing/2014/main" id="{9A0B14A7-B7C0-6187-7CA7-ED2C6A7E8D96}"/>
              </a:ext>
            </a:extLst>
          </p:cNvPr>
          <p:cNvGrpSpPr/>
          <p:nvPr/>
        </p:nvGrpSpPr>
        <p:grpSpPr>
          <a:xfrm>
            <a:off x="3414901" y="2775896"/>
            <a:ext cx="3119580" cy="3263689"/>
            <a:chOff x="1812231" y="2775896"/>
            <a:chExt cx="3119580" cy="3263689"/>
          </a:xfrm>
        </p:grpSpPr>
        <p:pic>
          <p:nvPicPr>
            <p:cNvPr id="4" name="Picture 3">
              <a:extLst>
                <a:ext uri="{FF2B5EF4-FFF2-40B4-BE49-F238E27FC236}">
                  <a16:creationId xmlns:a16="http://schemas.microsoft.com/office/drawing/2014/main" id="{26097B7B-8DB7-7808-D4AF-73F8F10C22E9}"/>
                </a:ext>
              </a:extLst>
            </p:cNvPr>
            <p:cNvPicPr>
              <a:picLocks noChangeAspect="1"/>
            </p:cNvPicPr>
            <p:nvPr/>
          </p:nvPicPr>
          <p:blipFill>
            <a:blip r:embed="rId2"/>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EE04C8-38C1-77E4-CD7A-287AFF8ACFCA}"/>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5" name="TextBox 4">
                  <a:extLst>
                    <a:ext uri="{FF2B5EF4-FFF2-40B4-BE49-F238E27FC236}">
                      <a16:creationId xmlns:a16="http://schemas.microsoft.com/office/drawing/2014/main" id="{17EE04C8-38C1-77E4-CD7A-287AFF8ACFCA}"/>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3"/>
                  <a:stretch>
                    <a:fillRect l="-5405" t="-6667" b="-26667"/>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65075782-1B91-AB57-C9B1-38B111C39544}"/>
              </a:ext>
            </a:extLst>
          </p:cNvPr>
          <p:cNvGrpSpPr/>
          <p:nvPr/>
        </p:nvGrpSpPr>
        <p:grpSpPr>
          <a:xfrm>
            <a:off x="7262065" y="3409513"/>
            <a:ext cx="2570350" cy="2659568"/>
            <a:chOff x="4931811" y="3380017"/>
            <a:chExt cx="2570350" cy="2659568"/>
          </a:xfrm>
        </p:grpSpPr>
        <p:pic>
          <p:nvPicPr>
            <p:cNvPr id="7" name="Picture 6">
              <a:extLst>
                <a:ext uri="{FF2B5EF4-FFF2-40B4-BE49-F238E27FC236}">
                  <a16:creationId xmlns:a16="http://schemas.microsoft.com/office/drawing/2014/main" id="{63C9918C-3980-3DF5-8840-35296483D34E}"/>
                </a:ext>
              </a:extLst>
            </p:cNvPr>
            <p:cNvPicPr>
              <a:picLocks noChangeAspect="1"/>
            </p:cNvPicPr>
            <p:nvPr/>
          </p:nvPicPr>
          <p:blipFill>
            <a:blip r:embed="rId4"/>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A037BAB-A5F1-DA0E-1A58-2088CB95DDE6}"/>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8" name="TextBox 7">
                  <a:extLst>
                    <a:ext uri="{FF2B5EF4-FFF2-40B4-BE49-F238E27FC236}">
                      <a16:creationId xmlns:a16="http://schemas.microsoft.com/office/drawing/2014/main" id="{5A037BAB-A5F1-DA0E-1A58-2088CB95DDE6}"/>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5"/>
                  <a:stretch>
                    <a:fillRect l="-3846" t="-6452" b="-22581"/>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C4D2378E-1635-9B08-441A-F9522F1721AD}"/>
              </a:ext>
            </a:extLst>
          </p:cNvPr>
          <p:cNvGrpSpPr/>
          <p:nvPr/>
        </p:nvGrpSpPr>
        <p:grpSpPr>
          <a:xfrm>
            <a:off x="6759674" y="2497394"/>
            <a:ext cx="147484" cy="3172859"/>
            <a:chOff x="4724396" y="2497394"/>
            <a:chExt cx="147484" cy="3172859"/>
          </a:xfrm>
        </p:grpSpPr>
        <p:cxnSp>
          <p:nvCxnSpPr>
            <p:cNvPr id="13" name="Straight Connector 12">
              <a:extLst>
                <a:ext uri="{FF2B5EF4-FFF2-40B4-BE49-F238E27FC236}">
                  <a16:creationId xmlns:a16="http://schemas.microsoft.com/office/drawing/2014/main" id="{9D1CD5BB-9B03-2AED-9961-E4EB85F538D7}"/>
                </a:ext>
              </a:extLst>
            </p:cNvPr>
            <p:cNvCxnSpPr/>
            <p:nvPr/>
          </p:nvCxnSpPr>
          <p:spPr>
            <a:xfrm>
              <a:off x="4788310" y="2497394"/>
              <a:ext cx="0" cy="31728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C26F952-D8E7-AAD0-8EE3-3B1A7402A821}"/>
                </a:ext>
              </a:extLst>
            </p:cNvPr>
            <p:cNvCxnSpPr>
              <a:cxnSpLocks/>
            </p:cNvCxnSpPr>
            <p:nvPr/>
          </p:nvCxnSpPr>
          <p:spPr>
            <a:xfrm>
              <a:off x="4724396" y="423027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9E34864-AE9D-F784-03D1-D6B7DADB2FFD}"/>
                </a:ext>
              </a:extLst>
            </p:cNvPr>
            <p:cNvCxnSpPr>
              <a:cxnSpLocks/>
            </p:cNvCxnSpPr>
            <p:nvPr/>
          </p:nvCxnSpPr>
          <p:spPr>
            <a:xfrm>
              <a:off x="4724396" y="451827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F1E8D9B-4B73-03BB-5AA5-0A40CA2F8A17}"/>
                </a:ext>
              </a:extLst>
            </p:cNvPr>
            <p:cNvCxnSpPr>
              <a:cxnSpLocks/>
            </p:cNvCxnSpPr>
            <p:nvPr/>
          </p:nvCxnSpPr>
          <p:spPr>
            <a:xfrm>
              <a:off x="4724396" y="480626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C405E88-6445-7B9F-04DF-88006CE537D9}"/>
                </a:ext>
              </a:extLst>
            </p:cNvPr>
            <p:cNvCxnSpPr>
              <a:cxnSpLocks/>
            </p:cNvCxnSpPr>
            <p:nvPr/>
          </p:nvCxnSpPr>
          <p:spPr>
            <a:xfrm>
              <a:off x="4724396" y="509426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8B26FF-892F-5330-B524-E7A7F233ADB0}"/>
                </a:ext>
              </a:extLst>
            </p:cNvPr>
            <p:cNvCxnSpPr>
              <a:cxnSpLocks/>
            </p:cNvCxnSpPr>
            <p:nvPr/>
          </p:nvCxnSpPr>
          <p:spPr>
            <a:xfrm>
              <a:off x="4724396" y="538225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F51D557-B683-852E-06BE-4E346837A8FE}"/>
                </a:ext>
              </a:extLst>
            </p:cNvPr>
            <p:cNvCxnSpPr>
              <a:cxnSpLocks/>
            </p:cNvCxnSpPr>
            <p:nvPr/>
          </p:nvCxnSpPr>
          <p:spPr>
            <a:xfrm>
              <a:off x="4724396" y="5670253"/>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37C3F99-DF8A-7B23-3F79-259FCE77695A}"/>
                </a:ext>
              </a:extLst>
            </p:cNvPr>
            <p:cNvCxnSpPr>
              <a:cxnSpLocks/>
            </p:cNvCxnSpPr>
            <p:nvPr/>
          </p:nvCxnSpPr>
          <p:spPr>
            <a:xfrm>
              <a:off x="4724396" y="250231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7D948BF-D211-E5BA-ADD6-180A49B34574}"/>
                </a:ext>
              </a:extLst>
            </p:cNvPr>
            <p:cNvCxnSpPr>
              <a:cxnSpLocks/>
            </p:cNvCxnSpPr>
            <p:nvPr/>
          </p:nvCxnSpPr>
          <p:spPr>
            <a:xfrm>
              <a:off x="4724396" y="279030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105EF0F-2FD6-4CA1-75EE-F3A886795A93}"/>
                </a:ext>
              </a:extLst>
            </p:cNvPr>
            <p:cNvCxnSpPr>
              <a:cxnSpLocks/>
            </p:cNvCxnSpPr>
            <p:nvPr/>
          </p:nvCxnSpPr>
          <p:spPr>
            <a:xfrm>
              <a:off x="4724396" y="307830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6B9B273-9F46-7997-37FE-29F4AA7EFACB}"/>
                </a:ext>
              </a:extLst>
            </p:cNvPr>
            <p:cNvCxnSpPr>
              <a:cxnSpLocks/>
            </p:cNvCxnSpPr>
            <p:nvPr/>
          </p:nvCxnSpPr>
          <p:spPr>
            <a:xfrm>
              <a:off x="4724396" y="336629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CDD4869-8BDB-B8C0-95DB-10221E54BA5F}"/>
                </a:ext>
              </a:extLst>
            </p:cNvPr>
            <p:cNvCxnSpPr>
              <a:cxnSpLocks/>
            </p:cNvCxnSpPr>
            <p:nvPr/>
          </p:nvCxnSpPr>
          <p:spPr>
            <a:xfrm>
              <a:off x="4724396" y="365429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2544F97-840A-DD09-66C3-66D2CC487DA7}"/>
                </a:ext>
              </a:extLst>
            </p:cNvPr>
            <p:cNvCxnSpPr>
              <a:cxnSpLocks/>
            </p:cNvCxnSpPr>
            <p:nvPr/>
          </p:nvCxnSpPr>
          <p:spPr>
            <a:xfrm>
              <a:off x="4724396" y="3942284"/>
              <a:ext cx="147484"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47F0043-0146-DB9F-34F2-4F54B8D91AB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27" name="TextBox 26">
                <a:extLst>
                  <a:ext uri="{FF2B5EF4-FFF2-40B4-BE49-F238E27FC236}">
                    <a16:creationId xmlns:a16="http://schemas.microsoft.com/office/drawing/2014/main" id="{347F0043-0146-DB9F-34F2-4F54B8D91ABE}"/>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6"/>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49246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A7217-1AEE-4C15-9E14-845D915A462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DCF30C0-A334-C273-1738-2A3C7856542F}"/>
              </a:ext>
            </a:extLst>
          </p:cNvPr>
          <p:cNvSpPr>
            <a:spLocks noGrp="1"/>
          </p:cNvSpPr>
          <p:nvPr>
            <p:ph type="sldNum" sz="quarter" idx="12"/>
          </p:nvPr>
        </p:nvSpPr>
        <p:spPr/>
        <p:txBody>
          <a:bodyPr/>
          <a:lstStyle/>
          <a:p>
            <a:fld id="{387B101D-DD3C-9947-BBAC-237D8FE858E0}" type="slidenum">
              <a:rPr lang="en-US" smtClean="0"/>
              <a:t>10</a:t>
            </a:fld>
            <a:endParaRPr lang="en-US"/>
          </a:p>
        </p:txBody>
      </p:sp>
      <p:sp>
        <p:nvSpPr>
          <p:cNvPr id="12" name="TextBox 11">
            <a:extLst>
              <a:ext uri="{FF2B5EF4-FFF2-40B4-BE49-F238E27FC236}">
                <a16:creationId xmlns:a16="http://schemas.microsoft.com/office/drawing/2014/main" id="{D0393469-D4DE-66C2-425F-3B61260366AC}"/>
              </a:ext>
            </a:extLst>
          </p:cNvPr>
          <p:cNvSpPr txBox="1"/>
          <p:nvPr/>
        </p:nvSpPr>
        <p:spPr>
          <a:xfrm>
            <a:off x="748481" y="1720646"/>
            <a:ext cx="3292578"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But are all individuals alike?</a:t>
            </a:r>
          </a:p>
        </p:txBody>
      </p:sp>
      <p:grpSp>
        <p:nvGrpSpPr>
          <p:cNvPr id="40" name="Group 39">
            <a:extLst>
              <a:ext uri="{FF2B5EF4-FFF2-40B4-BE49-F238E27FC236}">
                <a16:creationId xmlns:a16="http://schemas.microsoft.com/office/drawing/2014/main" id="{E8381E4D-1294-F78C-B92B-DC643020B869}"/>
              </a:ext>
            </a:extLst>
          </p:cNvPr>
          <p:cNvGrpSpPr/>
          <p:nvPr/>
        </p:nvGrpSpPr>
        <p:grpSpPr>
          <a:xfrm>
            <a:off x="3414901" y="2775896"/>
            <a:ext cx="3119580" cy="3263689"/>
            <a:chOff x="1812231" y="2775896"/>
            <a:chExt cx="3119580" cy="3263689"/>
          </a:xfrm>
        </p:grpSpPr>
        <p:pic>
          <p:nvPicPr>
            <p:cNvPr id="4" name="Picture 3">
              <a:extLst>
                <a:ext uri="{FF2B5EF4-FFF2-40B4-BE49-F238E27FC236}">
                  <a16:creationId xmlns:a16="http://schemas.microsoft.com/office/drawing/2014/main" id="{E1FF585E-2245-0C4D-9E40-E40AC1BFC34F}"/>
                </a:ext>
              </a:extLst>
            </p:cNvPr>
            <p:cNvPicPr>
              <a:picLocks noChangeAspect="1"/>
            </p:cNvPicPr>
            <p:nvPr/>
          </p:nvPicPr>
          <p:blipFill>
            <a:blip r:embed="rId2"/>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2688C24-73B6-6EB8-18B3-C95C527860D6}"/>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6" name="TextBox 5">
                  <a:extLst>
                    <a:ext uri="{FF2B5EF4-FFF2-40B4-BE49-F238E27FC236}">
                      <a16:creationId xmlns:a16="http://schemas.microsoft.com/office/drawing/2014/main" id="{02688C24-73B6-6EB8-18B3-C95C527860D6}"/>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3"/>
                  <a:stretch>
                    <a:fillRect l="-5405" t="-6667" b="-26667"/>
                  </a:stretch>
                </a:blipFill>
              </p:spPr>
              <p:txBody>
                <a:bodyPr/>
                <a:lstStyle/>
                <a:p>
                  <a:r>
                    <a:rPr lang="en-US">
                      <a:noFill/>
                    </a:rPr>
                    <a:t> </a:t>
                  </a:r>
                </a:p>
              </p:txBody>
            </p:sp>
          </mc:Fallback>
        </mc:AlternateContent>
      </p:grpSp>
      <p:grpSp>
        <p:nvGrpSpPr>
          <p:cNvPr id="39" name="Group 38">
            <a:extLst>
              <a:ext uri="{FF2B5EF4-FFF2-40B4-BE49-F238E27FC236}">
                <a16:creationId xmlns:a16="http://schemas.microsoft.com/office/drawing/2014/main" id="{551D3AD2-B873-F987-BF4D-CAFD79729489}"/>
              </a:ext>
            </a:extLst>
          </p:cNvPr>
          <p:cNvGrpSpPr/>
          <p:nvPr/>
        </p:nvGrpSpPr>
        <p:grpSpPr>
          <a:xfrm>
            <a:off x="7262065" y="3409513"/>
            <a:ext cx="2570350" cy="2659568"/>
            <a:chOff x="4931811" y="3380017"/>
            <a:chExt cx="2570350" cy="2659568"/>
          </a:xfrm>
        </p:grpSpPr>
        <p:pic>
          <p:nvPicPr>
            <p:cNvPr id="5" name="Picture 4">
              <a:extLst>
                <a:ext uri="{FF2B5EF4-FFF2-40B4-BE49-F238E27FC236}">
                  <a16:creationId xmlns:a16="http://schemas.microsoft.com/office/drawing/2014/main" id="{BF46B418-042E-B4CC-9F03-AE925497D297}"/>
                </a:ext>
              </a:extLst>
            </p:cNvPr>
            <p:cNvPicPr>
              <a:picLocks noChangeAspect="1"/>
            </p:cNvPicPr>
            <p:nvPr/>
          </p:nvPicPr>
          <p:blipFill>
            <a:blip r:embed="rId4"/>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29105A-D6EF-8FCC-C07D-1A55F5DA9AC1}"/>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7" name="TextBox 6">
                  <a:extLst>
                    <a:ext uri="{FF2B5EF4-FFF2-40B4-BE49-F238E27FC236}">
                      <a16:creationId xmlns:a16="http://schemas.microsoft.com/office/drawing/2014/main" id="{F529105A-D6EF-8FCC-C07D-1A55F5DA9AC1}"/>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5"/>
                  <a:stretch>
                    <a:fillRect l="-3846" t="-6452" b="-22581"/>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0109485F-B53F-C439-8FE3-075E72027C7B}"/>
              </a:ext>
            </a:extLst>
          </p:cNvPr>
          <p:cNvGrpSpPr/>
          <p:nvPr/>
        </p:nvGrpSpPr>
        <p:grpSpPr>
          <a:xfrm>
            <a:off x="6759674" y="2497394"/>
            <a:ext cx="147484" cy="3172859"/>
            <a:chOff x="4724396" y="2497394"/>
            <a:chExt cx="147484" cy="3172859"/>
          </a:xfrm>
        </p:grpSpPr>
        <p:cxnSp>
          <p:nvCxnSpPr>
            <p:cNvPr id="13" name="Straight Connector 12">
              <a:extLst>
                <a:ext uri="{FF2B5EF4-FFF2-40B4-BE49-F238E27FC236}">
                  <a16:creationId xmlns:a16="http://schemas.microsoft.com/office/drawing/2014/main" id="{85015CA0-19EB-EDFA-9A33-2343EC1C22F6}"/>
                </a:ext>
              </a:extLst>
            </p:cNvPr>
            <p:cNvCxnSpPr/>
            <p:nvPr/>
          </p:nvCxnSpPr>
          <p:spPr>
            <a:xfrm>
              <a:off x="4788310" y="2497394"/>
              <a:ext cx="0" cy="31728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551CA18-FE01-8B63-746C-0AE4906D4E4D}"/>
                </a:ext>
              </a:extLst>
            </p:cNvPr>
            <p:cNvCxnSpPr>
              <a:cxnSpLocks/>
            </p:cNvCxnSpPr>
            <p:nvPr/>
          </p:nvCxnSpPr>
          <p:spPr>
            <a:xfrm>
              <a:off x="4724396" y="423027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49CF46E-E787-03AF-3854-C883C4E33D20}"/>
                </a:ext>
              </a:extLst>
            </p:cNvPr>
            <p:cNvCxnSpPr>
              <a:cxnSpLocks/>
            </p:cNvCxnSpPr>
            <p:nvPr/>
          </p:nvCxnSpPr>
          <p:spPr>
            <a:xfrm>
              <a:off x="4724396" y="451827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C3CA756-98A8-6AB8-DA31-666488B7F3C5}"/>
                </a:ext>
              </a:extLst>
            </p:cNvPr>
            <p:cNvCxnSpPr>
              <a:cxnSpLocks/>
            </p:cNvCxnSpPr>
            <p:nvPr/>
          </p:nvCxnSpPr>
          <p:spPr>
            <a:xfrm>
              <a:off x="4724396" y="480626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3DCC349-DB86-AA01-B459-B547B8C08573}"/>
                </a:ext>
              </a:extLst>
            </p:cNvPr>
            <p:cNvCxnSpPr>
              <a:cxnSpLocks/>
            </p:cNvCxnSpPr>
            <p:nvPr/>
          </p:nvCxnSpPr>
          <p:spPr>
            <a:xfrm>
              <a:off x="4724396" y="509426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2CC0F8F-5D3D-1944-B9E1-CAE25A3FB787}"/>
                </a:ext>
              </a:extLst>
            </p:cNvPr>
            <p:cNvCxnSpPr>
              <a:cxnSpLocks/>
            </p:cNvCxnSpPr>
            <p:nvPr/>
          </p:nvCxnSpPr>
          <p:spPr>
            <a:xfrm>
              <a:off x="4724396" y="538225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98D7012-5DA3-FFC3-A387-88627F5A843D}"/>
                </a:ext>
              </a:extLst>
            </p:cNvPr>
            <p:cNvCxnSpPr>
              <a:cxnSpLocks/>
            </p:cNvCxnSpPr>
            <p:nvPr/>
          </p:nvCxnSpPr>
          <p:spPr>
            <a:xfrm>
              <a:off x="4724396" y="5670253"/>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6EDE49D-E3A6-CA0D-E17C-8BD63E7AAF7C}"/>
                </a:ext>
              </a:extLst>
            </p:cNvPr>
            <p:cNvCxnSpPr>
              <a:cxnSpLocks/>
            </p:cNvCxnSpPr>
            <p:nvPr/>
          </p:nvCxnSpPr>
          <p:spPr>
            <a:xfrm>
              <a:off x="4724396" y="250231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3BDC5C1-F61C-8908-53BA-57E3F465179C}"/>
                </a:ext>
              </a:extLst>
            </p:cNvPr>
            <p:cNvCxnSpPr>
              <a:cxnSpLocks/>
            </p:cNvCxnSpPr>
            <p:nvPr/>
          </p:nvCxnSpPr>
          <p:spPr>
            <a:xfrm>
              <a:off x="4724396" y="279030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08DB854-7623-D62B-DF8F-E7A224ABACB2}"/>
                </a:ext>
              </a:extLst>
            </p:cNvPr>
            <p:cNvCxnSpPr>
              <a:cxnSpLocks/>
            </p:cNvCxnSpPr>
            <p:nvPr/>
          </p:nvCxnSpPr>
          <p:spPr>
            <a:xfrm>
              <a:off x="4724396" y="307830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58C8AAA-FCB1-7AE7-622A-7E1C264DB3AE}"/>
                </a:ext>
              </a:extLst>
            </p:cNvPr>
            <p:cNvCxnSpPr>
              <a:cxnSpLocks/>
            </p:cNvCxnSpPr>
            <p:nvPr/>
          </p:nvCxnSpPr>
          <p:spPr>
            <a:xfrm>
              <a:off x="4724396" y="336629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CAE93AC-9A04-67E9-A03F-22211B216058}"/>
                </a:ext>
              </a:extLst>
            </p:cNvPr>
            <p:cNvCxnSpPr>
              <a:cxnSpLocks/>
            </p:cNvCxnSpPr>
            <p:nvPr/>
          </p:nvCxnSpPr>
          <p:spPr>
            <a:xfrm>
              <a:off x="4724396" y="365429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0D2F66E-D98A-91E7-EC9D-135B866F0C1E}"/>
                </a:ext>
              </a:extLst>
            </p:cNvPr>
            <p:cNvCxnSpPr>
              <a:cxnSpLocks/>
            </p:cNvCxnSpPr>
            <p:nvPr/>
          </p:nvCxnSpPr>
          <p:spPr>
            <a:xfrm>
              <a:off x="4724396" y="3942284"/>
              <a:ext cx="147484"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113FEBD-9984-0C41-6921-BA7E7254BD19}"/>
                  </a:ext>
                </a:extLst>
              </p:cNvPr>
              <p:cNvSpPr txBox="1"/>
              <p:nvPr/>
            </p:nvSpPr>
            <p:spPr>
              <a:xfrm>
                <a:off x="5997684" y="2794889"/>
                <a:ext cx="491613" cy="369332"/>
              </a:xfrm>
              <a:prstGeom prst="rect">
                <a:avLst/>
              </a:prstGeom>
              <a:noFill/>
            </p:spPr>
            <p:txBody>
              <a:bodyPr wrap="square" rtlCol="0">
                <a:spAutoFit/>
              </a:bodyPr>
              <a:lstStyle/>
              <a:p>
                <a:pPr/>
                <a14:m>
                  <m:oMathPara xmlns:m="http://schemas.openxmlformats.org/officeDocument/2006/math">
                    <m:oMath>
                      <m:sSub>
                        <m:sSubPr>
                          <m:ctrlPr>
                            <a:rPr lang="en-US" b="0" i="1" dirty="0" err="1" smtClean="0">
                              <a:solidFill>
                                <a:srgbClr val="0432FF"/>
                              </a:solidFill>
                              <a:latin typeface="Cambria Math" panose="02040503050406030204" pitchFamily="18" charset="0"/>
                            </a:rPr>
                          </m:ctrlPr>
                        </m:sSubPr>
                        <m:e>
                          <m:r>
                            <a:rPr lang="en-US" b="0" i="1" dirty="0" err="1" smtClean="0">
                              <a:solidFill>
                                <a:srgbClr val="0432FF"/>
                              </a:solidFill>
                              <a:latin typeface="Cambria Math" panose="02040503050406030204" pitchFamily="18" charset="0"/>
                            </a:rPr>
                            <m:t>𝐴</m:t>
                          </m:r>
                        </m:e>
                        <m:sub>
                          <m:r>
                            <a:rPr lang="en-US" b="0" i="1" dirty="0" err="1" smtClean="0">
                              <a:solidFill>
                                <a:srgbClr val="0432FF"/>
                              </a:solidFill>
                              <a:latin typeface="Cambria Math" panose="02040503050406030204" pitchFamily="18" charset="0"/>
                            </a:rPr>
                            <m:t>𝑖</m:t>
                          </m:r>
                        </m:sub>
                      </m:sSub>
                    </m:oMath>
                  </m:oMathPara>
                </a14:m>
                <a:endParaRPr lang="en-US" dirty="0">
                  <a:solidFill>
                    <a:srgbClr val="0432FF"/>
                  </a:solidFill>
                </a:endParaRPr>
              </a:p>
            </p:txBody>
          </p:sp>
        </mc:Choice>
        <mc:Fallback xmlns="">
          <p:sp>
            <p:nvSpPr>
              <p:cNvPr id="2" name="TextBox 1">
                <a:extLst>
                  <a:ext uri="{FF2B5EF4-FFF2-40B4-BE49-F238E27FC236}">
                    <a16:creationId xmlns:a16="http://schemas.microsoft.com/office/drawing/2014/main" id="{4113FEBD-9984-0C41-6921-BA7E7254BD19}"/>
                  </a:ext>
                </a:extLst>
              </p:cNvPr>
              <p:cNvSpPr txBox="1">
                <a:spLocks noRot="1" noChangeAspect="1" noMove="1" noResize="1" noEditPoints="1" noAdjustHandles="1" noChangeArrowheads="1" noChangeShapeType="1" noTextEdit="1"/>
              </p:cNvSpPr>
              <p:nvPr/>
            </p:nvSpPr>
            <p:spPr>
              <a:xfrm>
                <a:off x="5997684" y="2794889"/>
                <a:ext cx="491613"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EBD425-6958-74DE-CE49-9261B028839F}"/>
                  </a:ext>
                </a:extLst>
              </p:cNvPr>
              <p:cNvSpPr txBox="1"/>
              <p:nvPr/>
            </p:nvSpPr>
            <p:spPr>
              <a:xfrm>
                <a:off x="7256201" y="3389571"/>
                <a:ext cx="491613" cy="369332"/>
              </a:xfrm>
              <a:prstGeom prst="rect">
                <a:avLst/>
              </a:prstGeom>
              <a:noFill/>
            </p:spPr>
            <p:txBody>
              <a:bodyPr wrap="square" rtlCol="0">
                <a:spAutoFit/>
              </a:bodyPr>
              <a:lstStyle/>
              <a:p>
                <a:pPr/>
                <a14:m>
                  <m:oMathPara xmlns:m="http://schemas.openxmlformats.org/officeDocument/2006/math">
                    <m:o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𝐴</m:t>
                          </m:r>
                        </m:e>
                        <m:sub>
                          <m:r>
                            <a:rPr lang="en-US" b="1" i="1" dirty="0" err="1" smtClean="0">
                              <a:solidFill>
                                <a:srgbClr val="0432FF"/>
                              </a:solidFill>
                              <a:latin typeface="Cambria Math" panose="02040503050406030204" pitchFamily="18" charset="0"/>
                            </a:rPr>
                            <m:t>ℎ</m:t>
                          </m:r>
                        </m:sub>
                      </m:sSub>
                    </m:oMath>
                  </m:oMathPara>
                </a14:m>
                <a:endParaRPr lang="en-US" b="1" dirty="0">
                  <a:solidFill>
                    <a:srgbClr val="0432FF"/>
                  </a:solidFill>
                </a:endParaRPr>
              </a:p>
            </p:txBody>
          </p:sp>
        </mc:Choice>
        <mc:Fallback xmlns="">
          <p:sp>
            <p:nvSpPr>
              <p:cNvPr id="8" name="TextBox 7">
                <a:extLst>
                  <a:ext uri="{FF2B5EF4-FFF2-40B4-BE49-F238E27FC236}">
                    <a16:creationId xmlns:a16="http://schemas.microsoft.com/office/drawing/2014/main" id="{71EBD425-6958-74DE-CE49-9261B028839F}"/>
                  </a:ext>
                </a:extLst>
              </p:cNvPr>
              <p:cNvSpPr txBox="1">
                <a:spLocks noRot="1" noChangeAspect="1" noMove="1" noResize="1" noEditPoints="1" noAdjustHandles="1" noChangeArrowheads="1" noChangeShapeType="1" noTextEdit="1"/>
              </p:cNvSpPr>
              <p:nvPr/>
            </p:nvSpPr>
            <p:spPr>
              <a:xfrm>
                <a:off x="7256201" y="3389571"/>
                <a:ext cx="49161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3CE41B0-1A8C-CBF3-C976-5E0DA3435815}"/>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23" name="TextBox 22">
                <a:extLst>
                  <a:ext uri="{FF2B5EF4-FFF2-40B4-BE49-F238E27FC236}">
                    <a16:creationId xmlns:a16="http://schemas.microsoft.com/office/drawing/2014/main" id="{43CE41B0-1A8C-CBF3-C976-5E0DA3435815}"/>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8"/>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76511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4DEE1-0E57-0E7F-9129-B7055500F02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F8CB633-7BE6-5C30-C711-B9D3067BFD69}"/>
              </a:ext>
            </a:extLst>
          </p:cNvPr>
          <p:cNvSpPr>
            <a:spLocks noGrp="1"/>
          </p:cNvSpPr>
          <p:nvPr>
            <p:ph type="sldNum" sz="quarter" idx="12"/>
          </p:nvPr>
        </p:nvSpPr>
        <p:spPr/>
        <p:txBody>
          <a:bodyPr/>
          <a:lstStyle/>
          <a:p>
            <a:fld id="{387B101D-DD3C-9947-BBAC-237D8FE858E0}" type="slidenum">
              <a:rPr lang="en-US" smtClean="0"/>
              <a:t>11</a:t>
            </a:fld>
            <a:endParaRPr lang="en-US"/>
          </a:p>
        </p:txBody>
      </p:sp>
      <p:pic>
        <p:nvPicPr>
          <p:cNvPr id="11" name="Picture 10">
            <a:extLst>
              <a:ext uri="{FF2B5EF4-FFF2-40B4-BE49-F238E27FC236}">
                <a16:creationId xmlns:a16="http://schemas.microsoft.com/office/drawing/2014/main" id="{F6449F33-1D1D-2296-CFEE-1F04731BF0F1}"/>
              </a:ext>
            </a:extLst>
          </p:cNvPr>
          <p:cNvPicPr>
            <a:picLocks noChangeAspect="1"/>
          </p:cNvPicPr>
          <p:nvPr/>
        </p:nvPicPr>
        <p:blipFill>
          <a:blip r:embed="rId2"/>
          <a:srcRect/>
          <a:stretch/>
        </p:blipFill>
        <p:spPr>
          <a:xfrm>
            <a:off x="286439" y="3025508"/>
            <a:ext cx="11054080" cy="310896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815EA86-1DBF-37E5-D45E-3C269FAB9EDD}"/>
                  </a:ext>
                </a:extLst>
              </p:cNvPr>
              <p:cNvSpPr txBox="1"/>
              <p:nvPr/>
            </p:nvSpPr>
            <p:spPr>
              <a:xfrm>
                <a:off x="748480" y="1720646"/>
                <a:ext cx="10695039" cy="1081002"/>
              </a:xfrm>
              <a:prstGeom prst="rect">
                <a:avLst/>
              </a:prstGeom>
              <a:noFill/>
            </p:spPr>
            <p:txBody>
              <a:bodyPr wrap="square" rtlCol="0">
                <a:spAutoFit/>
              </a:bodyPr>
              <a:lstStyle/>
              <a:p>
                <a:pPr marL="285750" indent="-285750">
                  <a:buFont typeface="Arial" panose="020B0604020202020204" pitchFamily="34" charset="0"/>
                  <a:buChar char="•"/>
                </a:pPr>
                <a:r>
                  <a:rPr lang="en-US" dirty="0"/>
                  <a:t>We say the population mean is </a:t>
                </a:r>
              </a:p>
              <a:p>
                <a:pPr/>
                <a14:m>
                  <m:oMathPara xmlns:m="http://schemas.openxmlformats.org/officeDocument/2006/math">
                    <m:oMath>
                      <m:acc>
                        <m:accPr>
                          <m:chr m:val="̅"/>
                          <m:ctrlPr>
                            <a:rPr lang="en-US" sz="2400" b="0" i="1" dirty="0" smtClean="0">
                              <a:solidFill>
                                <a:srgbClr val="0432FF"/>
                              </a:solidFill>
                              <a:latin typeface="Cambria Math" panose="02040503050406030204" pitchFamily="18" charset="0"/>
                            </a:rPr>
                          </m:ctrlPr>
                        </m:accPr>
                        <m:e>
                          <m:r>
                            <a:rPr lang="en-US" sz="2400" b="0" i="1" dirty="0" smtClean="0">
                              <a:solidFill>
                                <a:srgbClr val="0432FF"/>
                              </a:solidFill>
                              <a:latin typeface="Cambria Math" panose="02040503050406030204" pitchFamily="18" charset="0"/>
                            </a:rPr>
                            <m:t>𝐴</m:t>
                          </m:r>
                        </m:e>
                      </m:acc>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nary>
                            <m:naryPr>
                              <m:chr m:val="∑"/>
                              <m:limLoc m:val="undOvr"/>
                              <m:supHide m:val="on"/>
                              <m:ctrlPr>
                                <a:rPr lang="en-US" sz="2400" b="0" i="1" dirty="0" smtClean="0">
                                  <a:latin typeface="Cambria Math" panose="02040503050406030204" pitchFamily="18" charset="0"/>
                                </a:rPr>
                              </m:ctrlPr>
                            </m:naryPr>
                            <m:sub>
                              <m:r>
                                <a:rPr lang="en-US" sz="2400" b="0" i="1" dirty="0" smtClean="0">
                                  <a:latin typeface="Cambria Math" panose="02040503050406030204" pitchFamily="18" charset="0"/>
                                </a:rPr>
                                <m:t>𝑖</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𝐴</m:t>
                                  </m:r>
                                </m:e>
                                <m:sub>
                                  <m:r>
                                    <a:rPr lang="en-US" sz="2400" b="0" i="1" dirty="0" smtClean="0">
                                      <a:latin typeface="Cambria Math" panose="02040503050406030204" pitchFamily="18" charset="0"/>
                                    </a:rPr>
                                    <m:t>𝑖</m:t>
                                  </m:r>
                                </m:sub>
                              </m:sSub>
                            </m:e>
                          </m:nary>
                        </m:num>
                        <m:den>
                          <m:r>
                            <a:rPr lang="en-US" sz="2400" b="0" i="1" dirty="0" smtClean="0">
                              <a:latin typeface="Cambria Math" panose="02040503050406030204" pitchFamily="18" charset="0"/>
                            </a:rPr>
                            <m:t>𝑁</m:t>
                          </m:r>
                        </m:den>
                      </m:f>
                    </m:oMath>
                  </m:oMathPara>
                </a14:m>
                <a:endParaRPr lang="en-US" dirty="0"/>
              </a:p>
            </p:txBody>
          </p:sp>
        </mc:Choice>
        <mc:Fallback xmlns="">
          <p:sp>
            <p:nvSpPr>
              <p:cNvPr id="12" name="TextBox 11">
                <a:extLst>
                  <a:ext uri="{FF2B5EF4-FFF2-40B4-BE49-F238E27FC236}">
                    <a16:creationId xmlns:a16="http://schemas.microsoft.com/office/drawing/2014/main" id="{A815EA86-1DBF-37E5-D45E-3C269FAB9EDD}"/>
                  </a:ext>
                </a:extLst>
              </p:cNvPr>
              <p:cNvSpPr txBox="1">
                <a:spLocks noRot="1" noChangeAspect="1" noMove="1" noResize="1" noEditPoints="1" noAdjustHandles="1" noChangeArrowheads="1" noChangeShapeType="1" noTextEdit="1"/>
              </p:cNvSpPr>
              <p:nvPr/>
            </p:nvSpPr>
            <p:spPr>
              <a:xfrm>
                <a:off x="748480" y="1720646"/>
                <a:ext cx="10695039" cy="1081002"/>
              </a:xfrm>
              <a:prstGeom prst="rect">
                <a:avLst/>
              </a:prstGeom>
              <a:blipFill>
                <a:blip r:embed="rId3"/>
                <a:stretch>
                  <a:fillRect l="-475" t="-3139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64F4F5-2F74-F183-30C5-21C5E9E987EC}"/>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 Performance Measure </a:t>
                </a:r>
                <a14:m>
                  <m:oMath xmlns:m="http://schemas.openxmlformats.org/officeDocument/2006/math">
                    <m:sSub>
                      <m:sSubPr>
                        <m:ctrlPr>
                          <a:rPr lang="en-US" sz="2000" i="1" dirty="0" err="1" smtClean="0">
                            <a:solidFill>
                              <a:srgbClr val="0432FF"/>
                            </a:solidFill>
                            <a:latin typeface="Cambria Math" panose="02040503050406030204" pitchFamily="18" charset="0"/>
                          </a:rPr>
                        </m:ctrlPr>
                      </m:sSubPr>
                      <m:e>
                        <m:r>
                          <a:rPr lang="en-US" sz="2000" i="1" dirty="0" err="1" smtClean="0">
                            <a:solidFill>
                              <a:srgbClr val="0432FF"/>
                            </a:solidFill>
                            <a:latin typeface="Cambria Math" panose="02040503050406030204" pitchFamily="18" charset="0"/>
                          </a:rPr>
                          <m:t>𝐴</m:t>
                        </m:r>
                      </m:e>
                      <m:sub>
                        <m:r>
                          <a:rPr lang="en-US" sz="2000" i="1" dirty="0" err="1" smtClean="0">
                            <a:solidFill>
                              <a:srgbClr val="0432FF"/>
                            </a:solidFill>
                            <a:latin typeface="Cambria Math" panose="02040503050406030204" pitchFamily="18" charset="0"/>
                          </a:rPr>
                          <m:t>𝑖</m:t>
                        </m:r>
                      </m:sub>
                    </m:sSub>
                  </m:oMath>
                </a14:m>
                <a:endParaRPr lang="en-US" sz="2000" dirty="0">
                  <a:solidFill>
                    <a:srgbClr val="0432FF"/>
                  </a:solidFill>
                  <a:latin typeface="Ford Antenna Medium" panose="02000505000000020004" pitchFamily="2" charset="0"/>
                </a:endParaRPr>
              </a:p>
            </p:txBody>
          </p:sp>
        </mc:Choice>
        <mc:Fallback xmlns="">
          <p:sp>
            <p:nvSpPr>
              <p:cNvPr id="2" name="TextBox 1">
                <a:extLst>
                  <a:ext uri="{FF2B5EF4-FFF2-40B4-BE49-F238E27FC236}">
                    <a16:creationId xmlns:a16="http://schemas.microsoft.com/office/drawing/2014/main" id="{5A64F4F5-2F74-F183-30C5-21C5E9E987EC}"/>
                  </a:ext>
                </a:extLst>
              </p:cNvPr>
              <p:cNvSpPr txBox="1">
                <a:spLocks noRot="1" noChangeAspect="1" noMove="1" noResize="1" noEditPoints="1" noAdjustHandles="1" noChangeArrowheads="1" noChangeShapeType="1" noTextEdit="1"/>
              </p:cNvSpPr>
              <p:nvPr/>
            </p:nvSpPr>
            <p:spPr>
              <a:xfrm>
                <a:off x="1771494" y="441416"/>
                <a:ext cx="8649012" cy="400110"/>
              </a:xfrm>
              <a:prstGeom prst="rect">
                <a:avLst/>
              </a:prstGeom>
              <a:blipFill>
                <a:blip r:embed="rId4"/>
                <a:stretch>
                  <a:fillRect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385978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9692-8050-6F4C-230E-DF9E31C5266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9A1F444-1A0E-AA59-02B3-E8C11D290DFD}"/>
                  </a:ext>
                </a:extLst>
              </p:cNvPr>
              <p:cNvSpPr txBox="1"/>
              <p:nvPr/>
            </p:nvSpPr>
            <p:spPr>
              <a:xfrm>
                <a:off x="748480" y="1720646"/>
                <a:ext cx="8316861" cy="5703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assigned a score </a:t>
                </a:r>
                <a14:m>
                  <m:oMath xmlns:m="http://schemas.openxmlformats.org/officeDocument/2006/math">
                    <m:r>
                      <a:rPr lang="en-US" b="1" i="1" dirty="0" smtClean="0">
                        <a:solidFill>
                          <a:srgbClr val="0432FF"/>
                        </a:solidFill>
                        <a:latin typeface="Cambria Math" panose="02040503050406030204" pitchFamily="18" charset="0"/>
                      </a:rPr>
                      <m:t>𝑺</m:t>
                    </m:r>
                  </m:oMath>
                </a14:m>
                <a:endParaRPr lang="en-US" b="1" dirty="0"/>
              </a:p>
            </p:txBody>
          </p:sp>
        </mc:Choice>
        <mc:Fallback xmlns="">
          <p:sp>
            <p:nvSpPr>
              <p:cNvPr id="12" name="TextBox 11">
                <a:extLst>
                  <a:ext uri="{FF2B5EF4-FFF2-40B4-BE49-F238E27FC236}">
                    <a16:creationId xmlns:a16="http://schemas.microsoft.com/office/drawing/2014/main" id="{79A1F444-1A0E-AA59-02B3-E8C11D290DFD}"/>
                  </a:ext>
                </a:extLst>
              </p:cNvPr>
              <p:cNvSpPr txBox="1">
                <a:spLocks noRot="1" noChangeAspect="1" noMove="1" noResize="1" noEditPoints="1" noAdjustHandles="1" noChangeArrowheads="1" noChangeShapeType="1" noTextEdit="1"/>
              </p:cNvSpPr>
              <p:nvPr/>
            </p:nvSpPr>
            <p:spPr>
              <a:xfrm>
                <a:off x="748480" y="1720646"/>
                <a:ext cx="8316861" cy="570349"/>
              </a:xfrm>
              <a:prstGeom prst="rect">
                <a:avLst/>
              </a:prstGeom>
              <a:blipFill>
                <a:blip r:embed="rId2"/>
                <a:stretch>
                  <a:fillRect l="-611" b="-15217"/>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CB7365D-4FD5-38E8-C7CA-9FEA42D399CC}"/>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First component of our model:  SCORE</a:t>
            </a:r>
          </a:p>
        </p:txBody>
      </p:sp>
    </p:spTree>
    <p:extLst>
      <p:ext uri="{BB962C8B-B14F-4D97-AF65-F5344CB8AC3E}">
        <p14:creationId xmlns:p14="http://schemas.microsoft.com/office/powerpoint/2010/main" val="147869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9F45-8BF0-80BF-A03C-470B765BCA10}"/>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1BD66A1-6D63-DCCB-8A1C-73162D81C473}"/>
              </a:ext>
            </a:extLst>
          </p:cNvPr>
          <p:cNvSpPr>
            <a:spLocks noGrp="1"/>
          </p:cNvSpPr>
          <p:nvPr>
            <p:ph type="sldNum" sz="quarter" idx="12"/>
          </p:nvPr>
        </p:nvSpPr>
        <p:spPr/>
        <p:txBody>
          <a:bodyPr/>
          <a:lstStyle/>
          <a:p>
            <a:fld id="{387B101D-DD3C-9947-BBAC-237D8FE858E0}" type="slidenum">
              <a:rPr lang="en-US" smtClean="0"/>
              <a:t>13</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7449CD5-C637-2357-88F3-7E0062625CD3}"/>
                  </a:ext>
                </a:extLst>
              </p:cNvPr>
              <p:cNvSpPr txBox="1"/>
              <p:nvPr/>
            </p:nvSpPr>
            <p:spPr>
              <a:xfrm>
                <a:off x="748480" y="1720646"/>
                <a:ext cx="8316861" cy="223234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assigned a score </a:t>
                </a:r>
                <a14:m>
                  <m:oMath xmlns:m="http://schemas.openxmlformats.org/officeDocument/2006/math">
                    <m:r>
                      <a:rPr lang="en-US" b="1" i="1" dirty="0" smtClean="0">
                        <a:solidFill>
                          <a:srgbClr val="0432FF"/>
                        </a:solidFill>
                        <a:latin typeface="Cambria Math" panose="02040503050406030204" pitchFamily="18" charset="0"/>
                      </a:rPr>
                      <m:t>𝑺</m:t>
                    </m:r>
                  </m:oMath>
                </a14:m>
                <a:endParaRPr lang="en-US" b="1" dirty="0"/>
              </a:p>
              <a:p>
                <a:pPr marL="285750" indent="-285750">
                  <a:lnSpc>
                    <a:spcPct val="200000"/>
                  </a:lnSpc>
                  <a:buFont typeface="Arial" panose="020B0604020202020204" pitchFamily="34" charset="0"/>
                  <a:buChar char="•"/>
                </a:pPr>
                <a:r>
                  <a:rPr lang="en-US" dirty="0"/>
                  <a:t>The simplest method is just to use the individual performance metric.</a:t>
                </a:r>
              </a:p>
              <a:p>
                <a:pPr marL="285750" indent="-285750">
                  <a:lnSpc>
                    <a:spcPct val="200000"/>
                  </a:lnSpc>
                  <a:buFont typeface="Arial" panose="020B0604020202020204" pitchFamily="34" charset="0"/>
                  <a:buChar char="•"/>
                </a:pPr>
                <a:r>
                  <a:rPr lang="en-US" dirty="0"/>
                  <a:t>Thus:</a:t>
                </a:r>
              </a:p>
              <a:p>
                <a:pPr>
                  <a:lnSpc>
                    <a:spcPct val="200000"/>
                  </a:lnSpc>
                </a:pPr>
                <a:r>
                  <a:rPr lang="en-US" dirty="0"/>
                  <a:t>		</a:t>
                </a:r>
                <a14:m>
                  <m:oMath xmlns:m="http://schemas.openxmlformats.org/officeDocument/2006/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𝑺</m:t>
                        </m:r>
                      </m:e>
                      <m:sub>
                        <m:r>
                          <a:rPr lang="en-US" b="1" i="1" dirty="0" err="1" smtClean="0">
                            <a:solidFill>
                              <a:srgbClr val="0432FF"/>
                            </a:solidFill>
                            <a:latin typeface="Cambria Math" panose="02040503050406030204" pitchFamily="18" charset="0"/>
                          </a:rPr>
                          <m:t>𝑖</m:t>
                        </m:r>
                      </m:sub>
                    </m:sSub>
                    <m:r>
                      <a:rPr lang="en-US" b="1" i="0" dirty="0" err="1" smtClean="0">
                        <a:solidFill>
                          <a:srgbClr val="0432FF"/>
                        </a:solidFill>
                        <a:latin typeface="Cambria Math" panose="02040503050406030204" pitchFamily="18" charset="0"/>
                      </a:rPr>
                      <m:t>=</m:t>
                    </m:r>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𝐴</m:t>
                        </m:r>
                      </m:e>
                      <m:sub>
                        <m:r>
                          <a:rPr lang="en-US" b="1" i="1" dirty="0" err="1" smtClean="0">
                            <a:solidFill>
                              <a:srgbClr val="0432FF"/>
                            </a:solidFill>
                            <a:latin typeface="Cambria Math" panose="02040503050406030204" pitchFamily="18" charset="0"/>
                          </a:rPr>
                          <m:t>𝑖</m:t>
                        </m:r>
                      </m:sub>
                    </m:sSub>
                    <m:r>
                      <a:rPr lang="en-US" b="0" i="0" dirty="0" smtClean="0">
                        <a:solidFill>
                          <a:srgbClr val="0432FF"/>
                        </a:solidFill>
                        <a:latin typeface="Cambria Math" panose="02040503050406030204" pitchFamily="18" charset="0"/>
                      </a:rPr>
                      <m:t> </m:t>
                    </m:r>
                  </m:oMath>
                </a14:m>
                <a:r>
                  <a:rPr lang="en-US" dirty="0"/>
                  <a:t>,</a:t>
                </a:r>
                <a:r>
                  <a:rPr lang="en-US" dirty="0">
                    <a:solidFill>
                      <a:srgbClr val="0432FF"/>
                    </a:solidFill>
                  </a:rPr>
                  <a:t>    </a:t>
                </a:r>
                <a14:m>
                  <m:oMath xmlns:m="http://schemas.openxmlformats.org/officeDocument/2006/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𝑺</m:t>
                        </m:r>
                      </m:e>
                      <m:sub>
                        <m:r>
                          <a:rPr lang="en-US" i="1" dirty="0" err="1" smtClean="0">
                            <a:solidFill>
                              <a:srgbClr val="0432FF"/>
                            </a:solidFill>
                            <a:latin typeface="Cambria Math" panose="02040503050406030204" pitchFamily="18" charset="0"/>
                          </a:rPr>
                          <m:t>ℎ</m:t>
                        </m:r>
                      </m:sub>
                    </m:sSub>
                    <m:r>
                      <a:rPr lang="en-US" i="0" dirty="0" err="1" smtClean="0">
                        <a:solidFill>
                          <a:srgbClr val="0432FF"/>
                        </a:solidFill>
                        <a:latin typeface="Cambria Math" panose="02040503050406030204" pitchFamily="18" charset="0"/>
                      </a:rPr>
                      <m:t>=</m:t>
                    </m:r>
                    <m:sSub>
                      <m:sSubPr>
                        <m:ctrlPr>
                          <a:rPr lang="en-US" i="1" dirty="0" err="1" smtClean="0">
                            <a:solidFill>
                              <a:srgbClr val="0432FF"/>
                            </a:solidFill>
                            <a:latin typeface="Cambria Math" panose="02040503050406030204" pitchFamily="18" charset="0"/>
                          </a:rPr>
                        </m:ctrlPr>
                      </m:sSubPr>
                      <m:e>
                        <m:r>
                          <a:rPr lang="en-US" i="1" dirty="0" err="1" smtClean="0">
                            <a:solidFill>
                              <a:srgbClr val="0432FF"/>
                            </a:solidFill>
                            <a:latin typeface="Cambria Math" panose="02040503050406030204" pitchFamily="18" charset="0"/>
                          </a:rPr>
                          <m:t>𝐴</m:t>
                        </m:r>
                      </m:e>
                      <m:sub>
                        <m:r>
                          <a:rPr lang="en-US" i="1" dirty="0" err="1" smtClean="0">
                            <a:solidFill>
                              <a:srgbClr val="0432FF"/>
                            </a:solidFill>
                            <a:latin typeface="Cambria Math" panose="02040503050406030204" pitchFamily="18" charset="0"/>
                          </a:rPr>
                          <m:t>ℎ</m:t>
                        </m:r>
                      </m:sub>
                    </m:sSub>
                  </m:oMath>
                </a14:m>
                <a:r>
                  <a:rPr lang="en-US" dirty="0">
                    <a:solidFill>
                      <a:srgbClr val="0432FF"/>
                    </a:solidFill>
                  </a:rPr>
                  <a:t> </a:t>
                </a:r>
              </a:p>
            </p:txBody>
          </p:sp>
        </mc:Choice>
        <mc:Fallback xmlns="">
          <p:sp>
            <p:nvSpPr>
              <p:cNvPr id="12" name="TextBox 11">
                <a:extLst>
                  <a:ext uri="{FF2B5EF4-FFF2-40B4-BE49-F238E27FC236}">
                    <a16:creationId xmlns:a16="http://schemas.microsoft.com/office/drawing/2014/main" id="{77449CD5-C637-2357-88F3-7E0062625CD3}"/>
                  </a:ext>
                </a:extLst>
              </p:cNvPr>
              <p:cNvSpPr txBox="1">
                <a:spLocks noRot="1" noChangeAspect="1" noMove="1" noResize="1" noEditPoints="1" noAdjustHandles="1" noChangeArrowheads="1" noChangeShapeType="1" noTextEdit="1"/>
              </p:cNvSpPr>
              <p:nvPr/>
            </p:nvSpPr>
            <p:spPr>
              <a:xfrm>
                <a:off x="748480" y="1720646"/>
                <a:ext cx="8316861" cy="2232342"/>
              </a:xfrm>
              <a:prstGeom prst="rect">
                <a:avLst/>
              </a:prstGeom>
              <a:blipFill>
                <a:blip r:embed="rId2"/>
                <a:stretch>
                  <a:fillRect l="-611" b="-3390"/>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CA477F4F-4972-B1ED-8DEC-C0C1728003A9}"/>
              </a:ext>
            </a:extLst>
          </p:cNvPr>
          <p:cNvGrpSpPr/>
          <p:nvPr/>
        </p:nvGrpSpPr>
        <p:grpSpPr>
          <a:xfrm>
            <a:off x="6371303" y="3204415"/>
            <a:ext cx="5083434" cy="2864666"/>
            <a:chOff x="3414901" y="2497394"/>
            <a:chExt cx="6417514" cy="3571687"/>
          </a:xfrm>
        </p:grpSpPr>
        <p:grpSp>
          <p:nvGrpSpPr>
            <p:cNvPr id="40" name="Group 39">
              <a:extLst>
                <a:ext uri="{FF2B5EF4-FFF2-40B4-BE49-F238E27FC236}">
                  <a16:creationId xmlns:a16="http://schemas.microsoft.com/office/drawing/2014/main" id="{C68E9FB0-F7F5-BA3C-C278-D70665A4B3ED}"/>
                </a:ext>
              </a:extLst>
            </p:cNvPr>
            <p:cNvGrpSpPr/>
            <p:nvPr/>
          </p:nvGrpSpPr>
          <p:grpSpPr>
            <a:xfrm>
              <a:off x="3414901" y="2775896"/>
              <a:ext cx="3119580" cy="3263689"/>
              <a:chOff x="1812231" y="2775896"/>
              <a:chExt cx="3119580" cy="3263689"/>
            </a:xfrm>
          </p:grpSpPr>
          <p:pic>
            <p:nvPicPr>
              <p:cNvPr id="4" name="Picture 3">
                <a:extLst>
                  <a:ext uri="{FF2B5EF4-FFF2-40B4-BE49-F238E27FC236}">
                    <a16:creationId xmlns:a16="http://schemas.microsoft.com/office/drawing/2014/main" id="{B51F607C-9BBC-B0A9-3F99-B21F4C1903D6}"/>
                  </a:ext>
                </a:extLst>
              </p:cNvPr>
              <p:cNvPicPr>
                <a:picLocks noChangeAspect="1"/>
              </p:cNvPicPr>
              <p:nvPr/>
            </p:nvPicPr>
            <p:blipFill>
              <a:blip r:embed="rId3"/>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19C809-61F9-E09F-1185-6AA56B2126C9}"/>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6" name="TextBox 5">
                    <a:extLst>
                      <a:ext uri="{FF2B5EF4-FFF2-40B4-BE49-F238E27FC236}">
                        <a16:creationId xmlns:a16="http://schemas.microsoft.com/office/drawing/2014/main" id="{7019C809-61F9-E09F-1185-6AA56B2126C9}"/>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4"/>
                    <a:stretch>
                      <a:fillRect l="-5000" t="-8000" r="-20000" b="-52000"/>
                    </a:stretch>
                  </a:blipFill>
                </p:spPr>
                <p:txBody>
                  <a:bodyPr/>
                  <a:lstStyle/>
                  <a:p>
                    <a:r>
                      <a:rPr lang="en-US">
                        <a:noFill/>
                      </a:rPr>
                      <a:t> </a:t>
                    </a:r>
                  </a:p>
                </p:txBody>
              </p:sp>
            </mc:Fallback>
          </mc:AlternateContent>
        </p:grpSp>
        <p:grpSp>
          <p:nvGrpSpPr>
            <p:cNvPr id="39" name="Group 38">
              <a:extLst>
                <a:ext uri="{FF2B5EF4-FFF2-40B4-BE49-F238E27FC236}">
                  <a16:creationId xmlns:a16="http://schemas.microsoft.com/office/drawing/2014/main" id="{FB67EA1E-6AF9-060C-5A11-90A0C4804B30}"/>
                </a:ext>
              </a:extLst>
            </p:cNvPr>
            <p:cNvGrpSpPr/>
            <p:nvPr/>
          </p:nvGrpSpPr>
          <p:grpSpPr>
            <a:xfrm>
              <a:off x="7262065" y="3409513"/>
              <a:ext cx="2570350" cy="2659568"/>
              <a:chOff x="4931811" y="3380017"/>
              <a:chExt cx="2570350" cy="2659568"/>
            </a:xfrm>
          </p:grpSpPr>
          <p:pic>
            <p:nvPicPr>
              <p:cNvPr id="5" name="Picture 4">
                <a:extLst>
                  <a:ext uri="{FF2B5EF4-FFF2-40B4-BE49-F238E27FC236}">
                    <a16:creationId xmlns:a16="http://schemas.microsoft.com/office/drawing/2014/main" id="{1DFD22F2-3A79-3EC7-899B-58A1D23C4906}"/>
                  </a:ext>
                </a:extLst>
              </p:cNvPr>
              <p:cNvPicPr>
                <a:picLocks noChangeAspect="1"/>
              </p:cNvPicPr>
              <p:nvPr/>
            </p:nvPicPr>
            <p:blipFill>
              <a:blip r:embed="rId5"/>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C6B7FB-2D88-718B-71F2-85769D1ED549}"/>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7" name="TextBox 6">
                    <a:extLst>
                      <a:ext uri="{FF2B5EF4-FFF2-40B4-BE49-F238E27FC236}">
                        <a16:creationId xmlns:a16="http://schemas.microsoft.com/office/drawing/2014/main" id="{E3C6B7FB-2D88-718B-71F2-85769D1ED549}"/>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6"/>
                    <a:stretch>
                      <a:fillRect l="-6452" t="-8000" r="-24194" b="-52000"/>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0D6B1D87-F6EE-F1F6-27E9-4B6FCD84B2B2}"/>
                </a:ext>
              </a:extLst>
            </p:cNvPr>
            <p:cNvGrpSpPr/>
            <p:nvPr/>
          </p:nvGrpSpPr>
          <p:grpSpPr>
            <a:xfrm>
              <a:off x="6759674" y="2497394"/>
              <a:ext cx="147484" cy="3172859"/>
              <a:chOff x="4724396" y="2497394"/>
              <a:chExt cx="147484" cy="3172859"/>
            </a:xfrm>
          </p:grpSpPr>
          <p:cxnSp>
            <p:nvCxnSpPr>
              <p:cNvPr id="13" name="Straight Connector 12">
                <a:extLst>
                  <a:ext uri="{FF2B5EF4-FFF2-40B4-BE49-F238E27FC236}">
                    <a16:creationId xmlns:a16="http://schemas.microsoft.com/office/drawing/2014/main" id="{8EED33B7-B655-A247-4EE2-8924CD4C0495}"/>
                  </a:ext>
                </a:extLst>
              </p:cNvPr>
              <p:cNvCxnSpPr/>
              <p:nvPr/>
            </p:nvCxnSpPr>
            <p:spPr>
              <a:xfrm>
                <a:off x="4788310" y="2497394"/>
                <a:ext cx="0" cy="31728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66866AC-D3AB-56E4-82F9-B75DCC3D8D11}"/>
                  </a:ext>
                </a:extLst>
              </p:cNvPr>
              <p:cNvCxnSpPr>
                <a:cxnSpLocks/>
              </p:cNvCxnSpPr>
              <p:nvPr/>
            </p:nvCxnSpPr>
            <p:spPr>
              <a:xfrm>
                <a:off x="4724396" y="423027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4D6DD45-DF1B-A9DB-099C-44075430298C}"/>
                  </a:ext>
                </a:extLst>
              </p:cNvPr>
              <p:cNvCxnSpPr>
                <a:cxnSpLocks/>
              </p:cNvCxnSpPr>
              <p:nvPr/>
            </p:nvCxnSpPr>
            <p:spPr>
              <a:xfrm>
                <a:off x="4724396" y="451827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B9D8AED-2872-A792-90D9-2DAB4068D7A4}"/>
                  </a:ext>
                </a:extLst>
              </p:cNvPr>
              <p:cNvCxnSpPr>
                <a:cxnSpLocks/>
              </p:cNvCxnSpPr>
              <p:nvPr/>
            </p:nvCxnSpPr>
            <p:spPr>
              <a:xfrm>
                <a:off x="4724396" y="480626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AFB22BF-1850-A6D6-1A8F-36A1251FF55B}"/>
                  </a:ext>
                </a:extLst>
              </p:cNvPr>
              <p:cNvCxnSpPr>
                <a:cxnSpLocks/>
              </p:cNvCxnSpPr>
              <p:nvPr/>
            </p:nvCxnSpPr>
            <p:spPr>
              <a:xfrm>
                <a:off x="4724396" y="509426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45C2DDD-E8D5-EB8A-2CAF-2A8CBB098705}"/>
                  </a:ext>
                </a:extLst>
              </p:cNvPr>
              <p:cNvCxnSpPr>
                <a:cxnSpLocks/>
              </p:cNvCxnSpPr>
              <p:nvPr/>
            </p:nvCxnSpPr>
            <p:spPr>
              <a:xfrm>
                <a:off x="4724396" y="538225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DC64527-2562-2AD1-FE1E-343B495E3375}"/>
                  </a:ext>
                </a:extLst>
              </p:cNvPr>
              <p:cNvCxnSpPr>
                <a:cxnSpLocks/>
              </p:cNvCxnSpPr>
              <p:nvPr/>
            </p:nvCxnSpPr>
            <p:spPr>
              <a:xfrm>
                <a:off x="4724396" y="5670253"/>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98B02E1-3241-CC54-3E68-A867D213D736}"/>
                  </a:ext>
                </a:extLst>
              </p:cNvPr>
              <p:cNvCxnSpPr>
                <a:cxnSpLocks/>
              </p:cNvCxnSpPr>
              <p:nvPr/>
            </p:nvCxnSpPr>
            <p:spPr>
              <a:xfrm>
                <a:off x="4724396" y="250231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5AF2D29-F18B-2E2A-61A3-18D793441F9A}"/>
                  </a:ext>
                </a:extLst>
              </p:cNvPr>
              <p:cNvCxnSpPr>
                <a:cxnSpLocks/>
              </p:cNvCxnSpPr>
              <p:nvPr/>
            </p:nvCxnSpPr>
            <p:spPr>
              <a:xfrm>
                <a:off x="4724396" y="279030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AB5EDFB-516C-3470-7268-17FC0988D2A1}"/>
                  </a:ext>
                </a:extLst>
              </p:cNvPr>
              <p:cNvCxnSpPr>
                <a:cxnSpLocks/>
              </p:cNvCxnSpPr>
              <p:nvPr/>
            </p:nvCxnSpPr>
            <p:spPr>
              <a:xfrm>
                <a:off x="4724396" y="307830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698B70A-95AC-6E62-48D1-3577BCFB6E6C}"/>
                  </a:ext>
                </a:extLst>
              </p:cNvPr>
              <p:cNvCxnSpPr>
                <a:cxnSpLocks/>
              </p:cNvCxnSpPr>
              <p:nvPr/>
            </p:nvCxnSpPr>
            <p:spPr>
              <a:xfrm>
                <a:off x="4724396" y="336629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DCDDDC3-DAED-1314-ABE9-44EEA2160F10}"/>
                  </a:ext>
                </a:extLst>
              </p:cNvPr>
              <p:cNvCxnSpPr>
                <a:cxnSpLocks/>
              </p:cNvCxnSpPr>
              <p:nvPr/>
            </p:nvCxnSpPr>
            <p:spPr>
              <a:xfrm>
                <a:off x="4724396" y="365429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B6B678D-3CA8-B47B-18BD-23116E99E402}"/>
                  </a:ext>
                </a:extLst>
              </p:cNvPr>
              <p:cNvCxnSpPr>
                <a:cxnSpLocks/>
              </p:cNvCxnSpPr>
              <p:nvPr/>
            </p:nvCxnSpPr>
            <p:spPr>
              <a:xfrm>
                <a:off x="4724396" y="3942284"/>
                <a:ext cx="147484"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17488B-96A9-3F59-1B96-C4727872D131}"/>
                    </a:ext>
                  </a:extLst>
                </p:cNvPr>
                <p:cNvSpPr txBox="1"/>
                <p:nvPr/>
              </p:nvSpPr>
              <p:spPr>
                <a:xfrm>
                  <a:off x="5997684" y="2794889"/>
                  <a:ext cx="491613" cy="369332"/>
                </a:xfrm>
                <a:prstGeom prst="rect">
                  <a:avLst/>
                </a:prstGeom>
                <a:noFill/>
              </p:spPr>
              <p:txBody>
                <a:bodyPr wrap="square" rtlCol="0">
                  <a:spAutoFit/>
                </a:bodyPr>
                <a:lstStyle/>
                <a:p>
                  <a:pPr/>
                  <a14:m>
                    <m:oMathPara xmlns:m="http://schemas.openxmlformats.org/officeDocument/2006/math">
                      <m:oMath>
                        <m:sSub>
                          <m:sSubPr>
                            <m:ctrlPr>
                              <a:rPr lang="en-US" b="0" i="1" dirty="0" err="1" smtClean="0">
                                <a:solidFill>
                                  <a:srgbClr val="0432FF"/>
                                </a:solidFill>
                                <a:latin typeface="Cambria Math" panose="02040503050406030204" pitchFamily="18" charset="0"/>
                              </a:rPr>
                            </m:ctrlPr>
                          </m:sSubPr>
                          <m:e>
                            <m:r>
                              <a:rPr lang="en-US" b="0" i="1" dirty="0" err="1" smtClean="0">
                                <a:solidFill>
                                  <a:srgbClr val="0432FF"/>
                                </a:solidFill>
                                <a:latin typeface="Cambria Math" panose="02040503050406030204" pitchFamily="18" charset="0"/>
                              </a:rPr>
                              <m:t>𝐴</m:t>
                            </m:r>
                          </m:e>
                          <m:sub>
                            <m:r>
                              <a:rPr lang="en-US" b="0" i="1" dirty="0" err="1" smtClean="0">
                                <a:solidFill>
                                  <a:srgbClr val="0432FF"/>
                                </a:solidFill>
                                <a:latin typeface="Cambria Math" panose="02040503050406030204" pitchFamily="18" charset="0"/>
                              </a:rPr>
                              <m:t>𝑖</m:t>
                            </m:r>
                          </m:sub>
                        </m:sSub>
                      </m:oMath>
                    </m:oMathPara>
                  </a14:m>
                  <a:endParaRPr lang="en-US" dirty="0">
                    <a:solidFill>
                      <a:srgbClr val="0432FF"/>
                    </a:solidFill>
                  </a:endParaRPr>
                </a:p>
              </p:txBody>
            </p:sp>
          </mc:Choice>
          <mc:Fallback xmlns="">
            <p:sp>
              <p:nvSpPr>
                <p:cNvPr id="2" name="TextBox 1">
                  <a:extLst>
                    <a:ext uri="{FF2B5EF4-FFF2-40B4-BE49-F238E27FC236}">
                      <a16:creationId xmlns:a16="http://schemas.microsoft.com/office/drawing/2014/main" id="{6E17488B-96A9-3F59-1B96-C4727872D131}"/>
                    </a:ext>
                  </a:extLst>
                </p:cNvPr>
                <p:cNvSpPr txBox="1">
                  <a:spLocks noRot="1" noChangeAspect="1" noMove="1" noResize="1" noEditPoints="1" noAdjustHandles="1" noChangeArrowheads="1" noChangeShapeType="1" noTextEdit="1"/>
                </p:cNvSpPr>
                <p:nvPr/>
              </p:nvSpPr>
              <p:spPr>
                <a:xfrm>
                  <a:off x="5997684" y="2794889"/>
                  <a:ext cx="491613" cy="369332"/>
                </a:xfrm>
                <a:prstGeom prst="rect">
                  <a:avLst/>
                </a:prstGeom>
                <a:blipFill>
                  <a:blip r:embed="rId7"/>
                  <a:stretch>
                    <a:fillRect b="-20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3AC90E-A7B0-EC00-DD81-31B7AA788BF0}"/>
                    </a:ext>
                  </a:extLst>
                </p:cNvPr>
                <p:cNvSpPr txBox="1"/>
                <p:nvPr/>
              </p:nvSpPr>
              <p:spPr>
                <a:xfrm>
                  <a:off x="7256201" y="3389571"/>
                  <a:ext cx="491613" cy="369332"/>
                </a:xfrm>
                <a:prstGeom prst="rect">
                  <a:avLst/>
                </a:prstGeom>
                <a:noFill/>
              </p:spPr>
              <p:txBody>
                <a:bodyPr wrap="square" rtlCol="0">
                  <a:spAutoFit/>
                </a:bodyPr>
                <a:lstStyle/>
                <a:p>
                  <a:pPr/>
                  <a14:m>
                    <m:oMathPara xmlns:m="http://schemas.openxmlformats.org/officeDocument/2006/math">
                      <m:o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𝐴</m:t>
                            </m:r>
                          </m:e>
                          <m:sub>
                            <m:r>
                              <a:rPr lang="en-US" b="1" i="1" dirty="0" err="1" smtClean="0">
                                <a:solidFill>
                                  <a:srgbClr val="0432FF"/>
                                </a:solidFill>
                                <a:latin typeface="Cambria Math" panose="02040503050406030204" pitchFamily="18" charset="0"/>
                              </a:rPr>
                              <m:t>ℎ</m:t>
                            </m:r>
                          </m:sub>
                        </m:sSub>
                      </m:oMath>
                    </m:oMathPara>
                  </a14:m>
                  <a:endParaRPr lang="en-US" b="1" dirty="0">
                    <a:solidFill>
                      <a:srgbClr val="0432FF"/>
                    </a:solidFill>
                  </a:endParaRPr>
                </a:p>
              </p:txBody>
            </p:sp>
          </mc:Choice>
          <mc:Fallback xmlns="">
            <p:sp>
              <p:nvSpPr>
                <p:cNvPr id="8" name="TextBox 7">
                  <a:extLst>
                    <a:ext uri="{FF2B5EF4-FFF2-40B4-BE49-F238E27FC236}">
                      <a16:creationId xmlns:a16="http://schemas.microsoft.com/office/drawing/2014/main" id="{F73AC90E-A7B0-EC00-DD81-31B7AA788BF0}"/>
                    </a:ext>
                  </a:extLst>
                </p:cNvPr>
                <p:cNvSpPr txBox="1">
                  <a:spLocks noRot="1" noChangeAspect="1" noMove="1" noResize="1" noEditPoints="1" noAdjustHandles="1" noChangeArrowheads="1" noChangeShapeType="1" noTextEdit="1"/>
                </p:cNvSpPr>
                <p:nvPr/>
              </p:nvSpPr>
              <p:spPr>
                <a:xfrm>
                  <a:off x="7256201" y="3389571"/>
                  <a:ext cx="491613" cy="369332"/>
                </a:xfrm>
                <a:prstGeom prst="rect">
                  <a:avLst/>
                </a:prstGeom>
                <a:blipFill>
                  <a:blip r:embed="rId8"/>
                  <a:stretch>
                    <a:fillRect r="-3226" b="-16000"/>
                  </a:stretch>
                </a:blipFill>
              </p:spPr>
              <p:txBody>
                <a:bodyPr/>
                <a:lstStyle/>
                <a:p>
                  <a:r>
                    <a:rPr lang="en-US">
                      <a:noFill/>
                    </a:rPr>
                    <a:t> </a:t>
                  </a:r>
                </a:p>
              </p:txBody>
            </p:sp>
          </mc:Fallback>
        </mc:AlternateContent>
      </p:grpSp>
      <p:sp>
        <p:nvSpPr>
          <p:cNvPr id="22" name="TextBox 21">
            <a:extLst>
              <a:ext uri="{FF2B5EF4-FFF2-40B4-BE49-F238E27FC236}">
                <a16:creationId xmlns:a16="http://schemas.microsoft.com/office/drawing/2014/main" id="{FA84B15F-7C7A-85BF-4F98-AEF22C0F34CF}"/>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First component of our model:  SCORE</a:t>
            </a:r>
          </a:p>
        </p:txBody>
      </p:sp>
    </p:spTree>
    <p:extLst>
      <p:ext uri="{BB962C8B-B14F-4D97-AF65-F5344CB8AC3E}">
        <p14:creationId xmlns:p14="http://schemas.microsoft.com/office/powerpoint/2010/main" val="4236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B4030-6028-6296-195F-899A2C754F3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FFB735A-4727-BE97-0E61-D609EECADFB7}"/>
              </a:ext>
            </a:extLst>
          </p:cNvPr>
          <p:cNvSpPr>
            <a:spLocks noGrp="1"/>
          </p:cNvSpPr>
          <p:nvPr>
            <p:ph type="sldNum" sz="quarter" idx="12"/>
          </p:nvPr>
        </p:nvSpPr>
        <p:spPr/>
        <p:txBody>
          <a:bodyPr/>
          <a:lstStyle/>
          <a:p>
            <a:fld id="{387B101D-DD3C-9947-BBAC-237D8FE858E0}" type="slidenum">
              <a:rPr lang="en-US" smtClean="0"/>
              <a:t>14</a:t>
            </a:fld>
            <a:endParaRPr lang="en-US"/>
          </a:p>
        </p:txBody>
      </p:sp>
      <p:sp>
        <p:nvSpPr>
          <p:cNvPr id="3" name="TextBox 2">
            <a:extLst>
              <a:ext uri="{FF2B5EF4-FFF2-40B4-BE49-F238E27FC236}">
                <a16:creationId xmlns:a16="http://schemas.microsoft.com/office/drawing/2014/main" id="{733A2F0E-1D20-F259-F8EE-1866E38611E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Second component of our model:  SELECT</a:t>
            </a:r>
          </a:p>
        </p:txBody>
      </p:sp>
      <p:pic>
        <p:nvPicPr>
          <p:cNvPr id="4" name="Picture 3">
            <a:extLst>
              <a:ext uri="{FF2B5EF4-FFF2-40B4-BE49-F238E27FC236}">
                <a16:creationId xmlns:a16="http://schemas.microsoft.com/office/drawing/2014/main" id="{5575DC35-3C27-B878-C188-CE3B3537D833}"/>
              </a:ext>
            </a:extLst>
          </p:cNvPr>
          <p:cNvPicPr>
            <a:picLocks noChangeAspect="1"/>
          </p:cNvPicPr>
          <p:nvPr/>
        </p:nvPicPr>
        <p:blipFill>
          <a:blip r:embed="rId2"/>
          <a:srcRect/>
          <a:stretch/>
        </p:blipFill>
        <p:spPr>
          <a:xfrm>
            <a:off x="286439" y="3025508"/>
            <a:ext cx="11054080" cy="310896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89BE5C-5A09-C8C9-EC00-6B224EED6B64}"/>
                  </a:ext>
                </a:extLst>
              </p:cNvPr>
              <p:cNvSpPr txBox="1"/>
              <p:nvPr/>
            </p:nvSpPr>
            <p:spPr>
              <a:xfrm>
                <a:off x="748480" y="850856"/>
                <a:ext cx="8316861" cy="5703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considered for one of the </a:t>
                </a:r>
                <a14:m>
                  <m:oMath xmlns:m="http://schemas.openxmlformats.org/officeDocument/2006/math">
                    <m:r>
                      <a:rPr lang="en-US" i="1" dirty="0" smtClean="0">
                        <a:latin typeface="Cambria Math" panose="02040503050406030204" pitchFamily="18" charset="0"/>
                      </a:rPr>
                      <m:t>𝐾</m:t>
                    </m:r>
                  </m:oMath>
                </a14:m>
                <a:r>
                  <a:rPr lang="en-US" dirty="0"/>
                  <a:t> advancement selections, </a:t>
                </a:r>
                <a14:m>
                  <m:oMath xmlns:m="http://schemas.openxmlformats.org/officeDocument/2006/math">
                    <m:r>
                      <a:rPr lang="en-US" dirty="0" smtClean="0">
                        <a:latin typeface="Cambria Math" panose="02040503050406030204" pitchFamily="18" charset="0"/>
                      </a:rPr>
                      <m:t>0</m:t>
                    </m:r>
                    <m:r>
                      <a:rPr lang="en-US" i="0" dirty="0" smtClean="0">
                        <a:latin typeface="Cambria Math" panose="02040503050406030204" pitchFamily="18" charset="0"/>
                      </a:rPr>
                      <m:t>&lt;</m:t>
                    </m:r>
                    <m:r>
                      <a:rPr lang="en-US" i="1" dirty="0" smtClean="0">
                        <a:latin typeface="Cambria Math" panose="02040503050406030204" pitchFamily="18" charset="0"/>
                      </a:rPr>
                      <m:t>𝐾</m:t>
                    </m:r>
                    <m:r>
                      <a:rPr lang="en-US" i="0" dirty="0" smtClean="0">
                        <a:latin typeface="Cambria Math" panose="02040503050406030204" pitchFamily="18" charset="0"/>
                      </a:rPr>
                      <m:t>&lt;</m:t>
                    </m:r>
                    <m:r>
                      <a:rPr lang="en-US" i="1" dirty="0" smtClean="0">
                        <a:latin typeface="Cambria Math" panose="02040503050406030204" pitchFamily="18" charset="0"/>
                      </a:rPr>
                      <m:t>𝑁</m:t>
                    </m:r>
                  </m:oMath>
                </a14:m>
                <a:endParaRPr lang="en-US" b="1" dirty="0"/>
              </a:p>
            </p:txBody>
          </p:sp>
        </mc:Choice>
        <mc:Fallback xmlns="">
          <p:sp>
            <p:nvSpPr>
              <p:cNvPr id="5" name="TextBox 4">
                <a:extLst>
                  <a:ext uri="{FF2B5EF4-FFF2-40B4-BE49-F238E27FC236}">
                    <a16:creationId xmlns:a16="http://schemas.microsoft.com/office/drawing/2014/main" id="{0B89BE5C-5A09-C8C9-EC00-6B224EED6B64}"/>
                  </a:ext>
                </a:extLst>
              </p:cNvPr>
              <p:cNvSpPr txBox="1">
                <a:spLocks noRot="1" noChangeAspect="1" noMove="1" noResize="1" noEditPoints="1" noAdjustHandles="1" noChangeArrowheads="1" noChangeShapeType="1" noTextEdit="1"/>
              </p:cNvSpPr>
              <p:nvPr/>
            </p:nvSpPr>
            <p:spPr>
              <a:xfrm>
                <a:off x="748480" y="850856"/>
                <a:ext cx="8316861" cy="570349"/>
              </a:xfrm>
              <a:prstGeom prst="rect">
                <a:avLst/>
              </a:prstGeom>
              <a:blipFill>
                <a:blip r:embed="rId3"/>
                <a:stretch>
                  <a:fillRect l="-611" b="-17778"/>
                </a:stretch>
              </a:blipFill>
            </p:spPr>
            <p:txBody>
              <a:bodyPr/>
              <a:lstStyle/>
              <a:p>
                <a:r>
                  <a:rPr lang="en-US">
                    <a:noFill/>
                  </a:rPr>
                  <a:t> </a:t>
                </a:r>
              </a:p>
            </p:txBody>
          </p:sp>
        </mc:Fallback>
      </mc:AlternateContent>
    </p:spTree>
    <p:extLst>
      <p:ext uri="{BB962C8B-B14F-4D97-AF65-F5344CB8AC3E}">
        <p14:creationId xmlns:p14="http://schemas.microsoft.com/office/powerpoint/2010/main" val="1840844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1314-4A0E-9AFA-14DE-815CB235EC8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E20CCDF-60A0-FB5F-B864-B14F10BD3FE0}"/>
              </a:ext>
            </a:extLst>
          </p:cNvPr>
          <p:cNvSpPr>
            <a:spLocks noGrp="1"/>
          </p:cNvSpPr>
          <p:nvPr>
            <p:ph type="sldNum" sz="quarter" idx="12"/>
          </p:nvPr>
        </p:nvSpPr>
        <p:spPr/>
        <p:txBody>
          <a:bodyPr/>
          <a:lstStyle/>
          <a:p>
            <a:fld id="{387B101D-DD3C-9947-BBAC-237D8FE858E0}" type="slidenum">
              <a:rPr lang="en-US" smtClean="0"/>
              <a:t>15</a:t>
            </a:fld>
            <a:endParaRPr lang="en-US"/>
          </a:p>
        </p:txBody>
      </p:sp>
      <p:sp>
        <p:nvSpPr>
          <p:cNvPr id="7" name="TextBox 6">
            <a:extLst>
              <a:ext uri="{FF2B5EF4-FFF2-40B4-BE49-F238E27FC236}">
                <a16:creationId xmlns:a16="http://schemas.microsoft.com/office/drawing/2014/main" id="{9E401A97-0B3D-7485-C795-B88232E88C72}"/>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Second component of our model:  SELECT</a:t>
            </a:r>
          </a:p>
        </p:txBody>
      </p:sp>
      <p:pic>
        <p:nvPicPr>
          <p:cNvPr id="8" name="Picture 7">
            <a:extLst>
              <a:ext uri="{FF2B5EF4-FFF2-40B4-BE49-F238E27FC236}">
                <a16:creationId xmlns:a16="http://schemas.microsoft.com/office/drawing/2014/main" id="{34F0D1F0-B4A4-6BBA-DF31-1694994FA6A4}"/>
              </a:ext>
            </a:extLst>
          </p:cNvPr>
          <p:cNvPicPr>
            <a:picLocks noChangeAspect="1"/>
          </p:cNvPicPr>
          <p:nvPr/>
        </p:nvPicPr>
        <p:blipFill>
          <a:blip r:embed="rId2"/>
          <a:srcRect/>
          <a:stretch/>
        </p:blipFill>
        <p:spPr>
          <a:xfrm>
            <a:off x="286439" y="3025508"/>
            <a:ext cx="11054080" cy="310896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3557092-1DA9-0C18-9201-C8456EB79A98}"/>
                  </a:ext>
                </a:extLst>
              </p:cNvPr>
              <p:cNvSpPr txBox="1"/>
              <p:nvPr/>
            </p:nvSpPr>
            <p:spPr>
              <a:xfrm>
                <a:off x="748480" y="850856"/>
                <a:ext cx="8316861" cy="112434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considered for one of the </a:t>
                </a:r>
                <a14:m>
                  <m:oMath xmlns:m="http://schemas.openxmlformats.org/officeDocument/2006/math">
                    <m:r>
                      <a:rPr lang="en-US" i="1" dirty="0" smtClean="0">
                        <a:latin typeface="Cambria Math" panose="02040503050406030204" pitchFamily="18" charset="0"/>
                      </a:rPr>
                      <m:t>𝐾</m:t>
                    </m:r>
                  </m:oMath>
                </a14:m>
                <a:r>
                  <a:rPr lang="en-US" dirty="0"/>
                  <a:t> advancement selections, </a:t>
                </a:r>
                <a14:m>
                  <m:oMath xmlns:m="http://schemas.openxmlformats.org/officeDocument/2006/math">
                    <m:r>
                      <a:rPr lang="en-US" dirty="0" smtClean="0">
                        <a:latin typeface="Cambria Math" panose="02040503050406030204" pitchFamily="18" charset="0"/>
                      </a:rPr>
                      <m:t>0</m:t>
                    </m:r>
                    <m:r>
                      <a:rPr lang="en-US" i="0" dirty="0" smtClean="0">
                        <a:latin typeface="Cambria Math" panose="02040503050406030204" pitchFamily="18" charset="0"/>
                      </a:rPr>
                      <m:t>&lt;</m:t>
                    </m:r>
                    <m:r>
                      <a:rPr lang="en-US" i="1" dirty="0" smtClean="0">
                        <a:latin typeface="Cambria Math" panose="02040503050406030204" pitchFamily="18" charset="0"/>
                      </a:rPr>
                      <m:t>𝐾</m:t>
                    </m:r>
                    <m:r>
                      <a:rPr lang="en-US" i="0" dirty="0" smtClean="0">
                        <a:latin typeface="Cambria Math" panose="02040503050406030204" pitchFamily="18" charset="0"/>
                      </a:rPr>
                      <m:t>&lt;</m:t>
                    </m:r>
                    <m:r>
                      <a:rPr lang="en-US" i="1" dirty="0" smtClean="0">
                        <a:latin typeface="Cambria Math" panose="02040503050406030204" pitchFamily="18" charset="0"/>
                      </a:rPr>
                      <m:t>𝑁</m:t>
                    </m:r>
                  </m:oMath>
                </a14:m>
                <a:endParaRPr lang="en-US" b="1" dirty="0"/>
              </a:p>
              <a:p>
                <a:pPr marL="285750" indent="-285750">
                  <a:lnSpc>
                    <a:spcPct val="200000"/>
                  </a:lnSpc>
                  <a:buFont typeface="Arial" panose="020B0604020202020204" pitchFamily="34" charset="0"/>
                  <a:buChar char="•"/>
                </a:pPr>
                <a:r>
                  <a:rPr lang="en-US" dirty="0"/>
                  <a:t>The proportion of </a:t>
                </a:r>
                <a14:m>
                  <m:oMath xmlns:m="http://schemas.openxmlformats.org/officeDocument/2006/math">
                    <m:r>
                      <a:rPr lang="en-US" i="1" dirty="0" smtClean="0">
                        <a:latin typeface="Cambria Math" panose="02040503050406030204" pitchFamily="18" charset="0"/>
                      </a:rPr>
                      <m:t>𝐾</m:t>
                    </m:r>
                  </m:oMath>
                </a14:m>
                <a:r>
                  <a:rPr lang="en-US" dirty="0"/>
                  <a:t> slots available is the selection scarcity,  </a:t>
                </a:r>
                <a14:m>
                  <m:oMath xmlns:m="http://schemas.openxmlformats.org/officeDocument/2006/math">
                    <m:r>
                      <a:rPr lang="en-US" i="1" dirty="0" smtClean="0">
                        <a:latin typeface="Cambria Math" panose="02040503050406030204" pitchFamily="18" charset="0"/>
                      </a:rPr>
                      <m:t>𝐾</m:t>
                    </m:r>
                    <m:r>
                      <a:rPr lang="en-US" i="0" dirty="0">
                        <a:latin typeface="Cambria Math" panose="02040503050406030204" pitchFamily="18" charset="0"/>
                      </a:rPr>
                      <m:t>/</m:t>
                    </m:r>
                    <m:r>
                      <a:rPr lang="en-US" i="1" dirty="0">
                        <a:latin typeface="Cambria Math" panose="02040503050406030204" pitchFamily="18" charset="0"/>
                      </a:rPr>
                      <m:t>𝑁</m:t>
                    </m:r>
                  </m:oMath>
                </a14:m>
                <a:endParaRPr lang="en-US" dirty="0"/>
              </a:p>
            </p:txBody>
          </p:sp>
        </mc:Choice>
        <mc:Fallback xmlns="">
          <p:sp>
            <p:nvSpPr>
              <p:cNvPr id="11" name="TextBox 10">
                <a:extLst>
                  <a:ext uri="{FF2B5EF4-FFF2-40B4-BE49-F238E27FC236}">
                    <a16:creationId xmlns:a16="http://schemas.microsoft.com/office/drawing/2014/main" id="{83557092-1DA9-0C18-9201-C8456EB79A98}"/>
                  </a:ext>
                </a:extLst>
              </p:cNvPr>
              <p:cNvSpPr txBox="1">
                <a:spLocks noRot="1" noChangeAspect="1" noMove="1" noResize="1" noEditPoints="1" noAdjustHandles="1" noChangeArrowheads="1" noChangeShapeType="1" noTextEdit="1"/>
              </p:cNvSpPr>
              <p:nvPr/>
            </p:nvSpPr>
            <p:spPr>
              <a:xfrm>
                <a:off x="748480" y="850856"/>
                <a:ext cx="8316861" cy="1124347"/>
              </a:xfrm>
              <a:prstGeom prst="rect">
                <a:avLst/>
              </a:prstGeom>
              <a:blipFill>
                <a:blip r:embed="rId3"/>
                <a:stretch>
                  <a:fillRect l="-611" b="-7865"/>
                </a:stretch>
              </a:blipFill>
            </p:spPr>
            <p:txBody>
              <a:bodyPr/>
              <a:lstStyle/>
              <a:p>
                <a:r>
                  <a:rPr lang="en-US">
                    <a:noFill/>
                  </a:rPr>
                  <a:t> </a:t>
                </a:r>
              </a:p>
            </p:txBody>
          </p:sp>
        </mc:Fallback>
      </mc:AlternateContent>
    </p:spTree>
    <p:extLst>
      <p:ext uri="{BB962C8B-B14F-4D97-AF65-F5344CB8AC3E}">
        <p14:creationId xmlns:p14="http://schemas.microsoft.com/office/powerpoint/2010/main" val="90527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1AE3-696D-1224-A2DF-2A34B6939810}"/>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43FD440-26AA-FAB8-9D81-A6AEA0E49722}"/>
              </a:ext>
            </a:extLst>
          </p:cNvPr>
          <p:cNvSpPr>
            <a:spLocks noGrp="1"/>
          </p:cNvSpPr>
          <p:nvPr>
            <p:ph type="sldNum" sz="quarter" idx="12"/>
          </p:nvPr>
        </p:nvSpPr>
        <p:spPr/>
        <p:txBody>
          <a:bodyPr/>
          <a:lstStyle/>
          <a:p>
            <a:fld id="{387B101D-DD3C-9947-BBAC-237D8FE858E0}" type="slidenum">
              <a:rPr lang="en-US" smtClean="0"/>
              <a:t>16</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5C71E63-0682-AD9B-07BB-25D2E98383A9}"/>
                  </a:ext>
                </a:extLst>
              </p:cNvPr>
              <p:cNvSpPr txBox="1"/>
              <p:nvPr/>
            </p:nvSpPr>
            <p:spPr>
              <a:xfrm>
                <a:off x="748480" y="850856"/>
                <a:ext cx="8316861"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considered for one of the </a:t>
                </a:r>
                <a14:m>
                  <m:oMath xmlns:m="http://schemas.openxmlformats.org/officeDocument/2006/math">
                    <m:r>
                      <a:rPr lang="en-US" i="1" dirty="0" smtClean="0">
                        <a:latin typeface="Cambria Math" panose="02040503050406030204" pitchFamily="18" charset="0"/>
                      </a:rPr>
                      <m:t>𝐾</m:t>
                    </m:r>
                  </m:oMath>
                </a14:m>
                <a:r>
                  <a:rPr lang="en-US" dirty="0"/>
                  <a:t> advancement selections, </a:t>
                </a:r>
                <a14:m>
                  <m:oMath xmlns:m="http://schemas.openxmlformats.org/officeDocument/2006/math">
                    <m:r>
                      <a:rPr lang="en-US" dirty="0" smtClean="0">
                        <a:latin typeface="Cambria Math" panose="02040503050406030204" pitchFamily="18" charset="0"/>
                      </a:rPr>
                      <m:t>0</m:t>
                    </m:r>
                    <m:r>
                      <a:rPr lang="en-US" i="0" dirty="0" smtClean="0">
                        <a:latin typeface="Cambria Math" panose="02040503050406030204" pitchFamily="18" charset="0"/>
                      </a:rPr>
                      <m:t>&lt;</m:t>
                    </m:r>
                    <m:r>
                      <a:rPr lang="en-US" i="1" dirty="0" smtClean="0">
                        <a:latin typeface="Cambria Math" panose="02040503050406030204" pitchFamily="18" charset="0"/>
                      </a:rPr>
                      <m:t>𝐾</m:t>
                    </m:r>
                    <m:r>
                      <a:rPr lang="en-US" i="0" dirty="0" smtClean="0">
                        <a:latin typeface="Cambria Math" panose="02040503050406030204" pitchFamily="18" charset="0"/>
                      </a:rPr>
                      <m:t>&lt;</m:t>
                    </m:r>
                    <m:r>
                      <a:rPr lang="en-US" i="1" dirty="0" smtClean="0">
                        <a:latin typeface="Cambria Math" panose="02040503050406030204" pitchFamily="18" charset="0"/>
                      </a:rPr>
                      <m:t>𝑁</m:t>
                    </m:r>
                  </m:oMath>
                </a14:m>
                <a:endParaRPr lang="en-US" b="1" dirty="0"/>
              </a:p>
              <a:p>
                <a:pPr marL="285750" indent="-285750">
                  <a:lnSpc>
                    <a:spcPct val="200000"/>
                  </a:lnSpc>
                  <a:buFont typeface="Arial" panose="020B0604020202020204" pitchFamily="34" charset="0"/>
                  <a:buChar char="•"/>
                </a:pPr>
                <a:r>
                  <a:rPr lang="en-US" dirty="0"/>
                  <a:t>The proportion of </a:t>
                </a:r>
                <a14:m>
                  <m:oMath xmlns:m="http://schemas.openxmlformats.org/officeDocument/2006/math">
                    <m:r>
                      <a:rPr lang="en-US" i="1" dirty="0" smtClean="0">
                        <a:latin typeface="Cambria Math" panose="02040503050406030204" pitchFamily="18" charset="0"/>
                      </a:rPr>
                      <m:t>𝐾</m:t>
                    </m:r>
                  </m:oMath>
                </a14:m>
                <a:r>
                  <a:rPr lang="en-US" dirty="0"/>
                  <a:t> slots available is the selection scarcity,  </a:t>
                </a:r>
                <a14:m>
                  <m:oMath xmlns:m="http://schemas.openxmlformats.org/officeDocument/2006/math">
                    <m:r>
                      <a:rPr lang="en-US" i="1" dirty="0" smtClean="0">
                        <a:latin typeface="Cambria Math" panose="02040503050406030204" pitchFamily="18" charset="0"/>
                      </a:rPr>
                      <m:t>𝐾</m:t>
                    </m:r>
                    <m:r>
                      <a:rPr lang="en-US" i="0" dirty="0">
                        <a:latin typeface="Cambria Math" panose="02040503050406030204" pitchFamily="18" charset="0"/>
                      </a:rPr>
                      <m:t>/</m:t>
                    </m:r>
                    <m:r>
                      <a:rPr lang="en-US" i="1" dirty="0">
                        <a:latin typeface="Cambria Math" panose="02040503050406030204" pitchFamily="18" charset="0"/>
                      </a:rPr>
                      <m:t>𝑁</m:t>
                    </m:r>
                  </m:oMath>
                </a14:m>
                <a:endParaRPr lang="en-US" dirty="0"/>
              </a:p>
              <a:p>
                <a:pPr marL="285750" indent="-285750">
                  <a:lnSpc>
                    <a:spcPct val="200000"/>
                  </a:lnSpc>
                  <a:buFont typeface="Arial" panose="020B0604020202020204" pitchFamily="34" charset="0"/>
                  <a:buChar char="•"/>
                </a:pPr>
                <a:r>
                  <a:rPr lang="en-US" dirty="0"/>
                  <a:t>Let’s say there are </a:t>
                </a:r>
                <a14:m>
                  <m:oMath xmlns:m="http://schemas.openxmlformats.org/officeDocument/2006/math">
                    <m:r>
                      <a:rPr lang="en-US" i="1" dirty="0" smtClean="0">
                        <a:latin typeface="Cambria Math" panose="02040503050406030204" pitchFamily="18" charset="0"/>
                      </a:rPr>
                      <m:t>𝐾</m:t>
                    </m:r>
                    <m:r>
                      <a:rPr lang="en-US" i="0" dirty="0" smtClean="0">
                        <a:latin typeface="Cambria Math" panose="02040503050406030204" pitchFamily="18" charset="0"/>
                      </a:rPr>
                      <m:t>=10</m:t>
                    </m:r>
                  </m:oMath>
                </a14:m>
                <a:r>
                  <a:rPr lang="en-US" dirty="0"/>
                  <a:t> NBA Draft selections available for the league.</a:t>
                </a:r>
              </a:p>
              <a:p>
                <a:pPr marL="285750" indent="-285750">
                  <a:lnSpc>
                    <a:spcPct val="200000"/>
                  </a:lnSpc>
                  <a:buFont typeface="Arial" panose="020B0604020202020204" pitchFamily="34" charset="0"/>
                  <a:buChar char="•"/>
                </a:pPr>
                <a:r>
                  <a:rPr lang="en-US" dirty="0"/>
                  <a:t>Here the selection scarcity  </a:t>
                </a:r>
                <a14:m>
                  <m:oMath xmlns:m="http://schemas.openxmlformats.org/officeDocument/2006/math">
                    <m:r>
                      <a:rPr lang="en-US" i="1" dirty="0" smtClean="0">
                        <a:latin typeface="Cambria Math" panose="02040503050406030204" pitchFamily="18" charset="0"/>
                      </a:rPr>
                      <m:t>𝐾</m:t>
                    </m:r>
                    <m:r>
                      <a:rPr lang="en-US" i="0" dirty="0" smtClean="0">
                        <a:latin typeface="Cambria Math" panose="02040503050406030204" pitchFamily="18" charset="0"/>
                      </a:rPr>
                      <m:t>/</m:t>
                    </m:r>
                    <m:r>
                      <a:rPr lang="en-US" i="1" dirty="0" smtClean="0">
                        <a:latin typeface="Cambria Math" panose="02040503050406030204" pitchFamily="18" charset="0"/>
                      </a:rPr>
                      <m:t>𝑁</m:t>
                    </m:r>
                    <m:r>
                      <a:rPr lang="en-US" i="0" dirty="0" smtClean="0">
                        <a:latin typeface="Cambria Math" panose="02040503050406030204" pitchFamily="18" charset="0"/>
                      </a:rPr>
                      <m:t>=0.2</m:t>
                    </m:r>
                  </m:oMath>
                </a14:m>
                <a:endParaRPr lang="en-US" dirty="0"/>
              </a:p>
            </p:txBody>
          </p:sp>
        </mc:Choice>
        <mc:Fallback xmlns="">
          <p:sp>
            <p:nvSpPr>
              <p:cNvPr id="12" name="TextBox 11">
                <a:extLst>
                  <a:ext uri="{FF2B5EF4-FFF2-40B4-BE49-F238E27FC236}">
                    <a16:creationId xmlns:a16="http://schemas.microsoft.com/office/drawing/2014/main" id="{A5C71E63-0682-AD9B-07BB-25D2E98383A9}"/>
                  </a:ext>
                </a:extLst>
              </p:cNvPr>
              <p:cNvSpPr txBox="1">
                <a:spLocks noRot="1" noChangeAspect="1" noMove="1" noResize="1" noEditPoints="1" noAdjustHandles="1" noChangeArrowheads="1" noChangeShapeType="1" noTextEdit="1"/>
              </p:cNvSpPr>
              <p:nvPr/>
            </p:nvSpPr>
            <p:spPr>
              <a:xfrm>
                <a:off x="748480" y="850856"/>
                <a:ext cx="8316861" cy="2233753"/>
              </a:xfrm>
              <a:prstGeom prst="rect">
                <a:avLst/>
              </a:prstGeom>
              <a:blipFill>
                <a:blip r:embed="rId2"/>
                <a:stretch>
                  <a:fillRect l="-611" b="-340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9680926-09C0-C260-1767-3A0E02C5D00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Second component of our model:  SELECT</a:t>
            </a:r>
          </a:p>
        </p:txBody>
      </p:sp>
      <p:pic>
        <p:nvPicPr>
          <p:cNvPr id="4" name="Picture 3">
            <a:extLst>
              <a:ext uri="{FF2B5EF4-FFF2-40B4-BE49-F238E27FC236}">
                <a16:creationId xmlns:a16="http://schemas.microsoft.com/office/drawing/2014/main" id="{18FCF4A3-0786-FBAD-6AD4-E52D715BB5A8}"/>
              </a:ext>
            </a:extLst>
          </p:cNvPr>
          <p:cNvPicPr>
            <a:picLocks noChangeAspect="1"/>
          </p:cNvPicPr>
          <p:nvPr/>
        </p:nvPicPr>
        <p:blipFill>
          <a:blip r:embed="rId3"/>
          <a:srcRect/>
          <a:stretch/>
        </p:blipFill>
        <p:spPr>
          <a:xfrm>
            <a:off x="286439" y="3025508"/>
            <a:ext cx="11054080" cy="3108960"/>
          </a:xfrm>
          <a:prstGeom prst="rect">
            <a:avLst/>
          </a:prstGeom>
        </p:spPr>
      </p:pic>
    </p:spTree>
    <p:extLst>
      <p:ext uri="{BB962C8B-B14F-4D97-AF65-F5344CB8AC3E}">
        <p14:creationId xmlns:p14="http://schemas.microsoft.com/office/powerpoint/2010/main" val="357973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3F2E-6318-2642-D099-709B38676C8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A156ECB-7F5F-90EA-2439-403303A6BD0E}"/>
              </a:ext>
            </a:extLst>
          </p:cNvPr>
          <p:cNvSpPr>
            <a:spLocks noGrp="1"/>
          </p:cNvSpPr>
          <p:nvPr>
            <p:ph type="sldNum" sz="quarter" idx="12"/>
          </p:nvPr>
        </p:nvSpPr>
        <p:spPr/>
        <p:txBody>
          <a:bodyPr/>
          <a:lstStyle/>
          <a:p>
            <a:fld id="{387B101D-DD3C-9947-BBAC-237D8FE858E0}" type="slidenum">
              <a:rPr lang="en-US" smtClean="0"/>
              <a:t>17</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86C9C65-F462-4332-86EF-AC7C306391C0}"/>
                  </a:ext>
                </a:extLst>
              </p:cNvPr>
              <p:cNvSpPr txBox="1"/>
              <p:nvPr/>
            </p:nvSpPr>
            <p:spPr>
              <a:xfrm>
                <a:off x="748480" y="1720646"/>
                <a:ext cx="8316861" cy="112434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Each Player is considered for one of the </a:t>
                </a:r>
                <a14:m>
                  <m:oMath xmlns:m="http://schemas.openxmlformats.org/officeDocument/2006/math">
                    <m:r>
                      <a:rPr lang="en-US" i="1" dirty="0" smtClean="0">
                        <a:latin typeface="Cambria Math" panose="02040503050406030204" pitchFamily="18" charset="0"/>
                      </a:rPr>
                      <m:t>𝐾</m:t>
                    </m:r>
                  </m:oMath>
                </a14:m>
                <a:r>
                  <a:rPr lang="en-US" dirty="0"/>
                  <a:t> advancement selections</a:t>
                </a:r>
                <a:endParaRPr lang="en-US" b="1" dirty="0"/>
              </a:p>
              <a:p>
                <a:pPr marL="285750" indent="-285750">
                  <a:lnSpc>
                    <a:spcPct val="200000"/>
                  </a:lnSpc>
                  <a:buFont typeface="Arial" panose="020B0604020202020204" pitchFamily="34" charset="0"/>
                  <a:buChar char="•"/>
                </a:pPr>
                <a:r>
                  <a:rPr lang="en-US" dirty="0"/>
                  <a:t>The simplest method is just to sort the individuals by their score </a:t>
                </a:r>
                <a14:m>
                  <m:oMath xmlns:m="http://schemas.openxmlformats.org/officeDocument/2006/math">
                    <m:r>
                      <a:rPr lang="en-US" b="1" i="1" dirty="0" smtClean="0">
                        <a:latin typeface="Cambria Math" panose="02040503050406030204" pitchFamily="18" charset="0"/>
                      </a:rPr>
                      <m:t>𝑺</m:t>
                    </m:r>
                  </m:oMath>
                </a14:m>
                <a:endParaRPr lang="en-US" dirty="0"/>
              </a:p>
            </p:txBody>
          </p:sp>
        </mc:Choice>
        <mc:Fallback xmlns="">
          <p:sp>
            <p:nvSpPr>
              <p:cNvPr id="12" name="TextBox 11">
                <a:extLst>
                  <a:ext uri="{FF2B5EF4-FFF2-40B4-BE49-F238E27FC236}">
                    <a16:creationId xmlns:a16="http://schemas.microsoft.com/office/drawing/2014/main" id="{C86C9C65-F462-4332-86EF-AC7C306391C0}"/>
                  </a:ext>
                </a:extLst>
              </p:cNvPr>
              <p:cNvSpPr txBox="1">
                <a:spLocks noRot="1" noChangeAspect="1" noMove="1" noResize="1" noEditPoints="1" noAdjustHandles="1" noChangeArrowheads="1" noChangeShapeType="1" noTextEdit="1"/>
              </p:cNvSpPr>
              <p:nvPr/>
            </p:nvSpPr>
            <p:spPr>
              <a:xfrm>
                <a:off x="748480" y="1720646"/>
                <a:ext cx="8316861" cy="1124347"/>
              </a:xfrm>
              <a:prstGeom prst="rect">
                <a:avLst/>
              </a:prstGeom>
              <a:blipFill>
                <a:blip r:embed="rId2"/>
                <a:stretch>
                  <a:fillRect l="-611" b="-777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D543E1E-9FF4-58F0-D620-CA098E9F03DD}"/>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Second component of our model:  SELECT</a:t>
            </a:r>
          </a:p>
        </p:txBody>
      </p:sp>
      <p:pic>
        <p:nvPicPr>
          <p:cNvPr id="4" name="Picture 3">
            <a:extLst>
              <a:ext uri="{FF2B5EF4-FFF2-40B4-BE49-F238E27FC236}">
                <a16:creationId xmlns:a16="http://schemas.microsoft.com/office/drawing/2014/main" id="{0DDC1EE0-4129-6A4E-13F0-D7056A3B3F21}"/>
              </a:ext>
            </a:extLst>
          </p:cNvPr>
          <p:cNvPicPr>
            <a:picLocks noChangeAspect="1"/>
          </p:cNvPicPr>
          <p:nvPr/>
        </p:nvPicPr>
        <p:blipFill>
          <a:blip r:embed="rId3"/>
          <a:srcRect/>
          <a:stretch/>
        </p:blipFill>
        <p:spPr>
          <a:xfrm>
            <a:off x="286439" y="3025508"/>
            <a:ext cx="11054080" cy="3108960"/>
          </a:xfrm>
          <a:prstGeom prst="rect">
            <a:avLst/>
          </a:prstGeom>
        </p:spPr>
      </p:pic>
    </p:spTree>
    <p:extLst>
      <p:ext uri="{BB962C8B-B14F-4D97-AF65-F5344CB8AC3E}">
        <p14:creationId xmlns:p14="http://schemas.microsoft.com/office/powerpoint/2010/main" val="3545252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5AD5-B39D-BB9F-498E-B6635CAEF8F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47B451D-8710-9E0F-995E-50E6A2840F8A}"/>
              </a:ext>
            </a:extLst>
          </p:cNvPr>
          <p:cNvSpPr>
            <a:spLocks noGrp="1"/>
          </p:cNvSpPr>
          <p:nvPr>
            <p:ph type="sldNum" sz="quarter" idx="12"/>
          </p:nvPr>
        </p:nvSpPr>
        <p:spPr/>
        <p:txBody>
          <a:bodyPr/>
          <a:lstStyle/>
          <a:p>
            <a:fld id="{387B101D-DD3C-9947-BBAC-237D8FE858E0}" type="slidenum">
              <a:rPr lang="en-US" smtClean="0"/>
              <a:t>18</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CFA8EA5-5F71-0878-E2D3-4AB9ACAA01BC}"/>
                  </a:ext>
                </a:extLst>
              </p:cNvPr>
              <p:cNvSpPr txBox="1"/>
              <p:nvPr/>
            </p:nvSpPr>
            <p:spPr>
              <a:xfrm>
                <a:off x="748480" y="1720646"/>
                <a:ext cx="8316861" cy="112434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SCORE Player by performance metric, </a:t>
                </a:r>
                <a14:m>
                  <m:oMath xmlns:m="http://schemas.openxmlformats.org/officeDocument/2006/math">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b="1" i="1" dirty="0" err="1" smtClean="0">
                            <a:latin typeface="Cambria Math" panose="02040503050406030204" pitchFamily="18" charset="0"/>
                          </a:rPr>
                          <m:t>𝒊</m:t>
                        </m:r>
                      </m:sub>
                    </m:sSub>
                    <m:r>
                      <a:rPr lang="en-US" i="0" dirty="0" err="1"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𝑖</m:t>
                        </m:r>
                      </m:sub>
                    </m:sSub>
                  </m:oMath>
                </a14:m>
                <a:endParaRPr lang="en-US" dirty="0"/>
              </a:p>
              <a:p>
                <a:pPr marL="285750" indent="-285750">
                  <a:lnSpc>
                    <a:spcPct val="200000"/>
                  </a:lnSpc>
                  <a:buFont typeface="Arial" panose="020B0604020202020204" pitchFamily="34" charset="0"/>
                  <a:buChar char="•"/>
                </a:pPr>
                <a:r>
                  <a:rPr lang="en-US" dirty="0"/>
                  <a:t>SELECT the top-</a:t>
                </a:r>
                <a14:m>
                  <m:oMath xmlns:m="http://schemas.openxmlformats.org/officeDocument/2006/math">
                    <m:r>
                      <a:rPr lang="en-US" i="1" dirty="0" smtClean="0">
                        <a:latin typeface="Cambria Math" panose="02040503050406030204" pitchFamily="18" charset="0"/>
                      </a:rPr>
                      <m:t>𝐾</m:t>
                    </m:r>
                  </m:oMath>
                </a14:m>
                <a:r>
                  <a:rPr lang="en-US" dirty="0"/>
                  <a:t> players.</a:t>
                </a:r>
              </a:p>
            </p:txBody>
          </p:sp>
        </mc:Choice>
        <mc:Fallback xmlns="">
          <p:sp>
            <p:nvSpPr>
              <p:cNvPr id="12" name="TextBox 11">
                <a:extLst>
                  <a:ext uri="{FF2B5EF4-FFF2-40B4-BE49-F238E27FC236}">
                    <a16:creationId xmlns:a16="http://schemas.microsoft.com/office/drawing/2014/main" id="{0CFA8EA5-5F71-0878-E2D3-4AB9ACAA01BC}"/>
                  </a:ext>
                </a:extLst>
              </p:cNvPr>
              <p:cNvSpPr txBox="1">
                <a:spLocks noRot="1" noChangeAspect="1" noMove="1" noResize="1" noEditPoints="1" noAdjustHandles="1" noChangeArrowheads="1" noChangeShapeType="1" noTextEdit="1"/>
              </p:cNvSpPr>
              <p:nvPr/>
            </p:nvSpPr>
            <p:spPr>
              <a:xfrm>
                <a:off x="748480" y="1720646"/>
                <a:ext cx="8316861" cy="1124347"/>
              </a:xfrm>
              <a:prstGeom prst="rect">
                <a:avLst/>
              </a:prstGeom>
              <a:blipFill>
                <a:blip r:embed="rId2"/>
                <a:stretch>
                  <a:fillRect l="-611" b="-777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82C150A-056F-9380-6628-B61C917BAE41}"/>
              </a:ext>
            </a:extLst>
          </p:cNvPr>
          <p:cNvPicPr>
            <a:picLocks noChangeAspect="1"/>
          </p:cNvPicPr>
          <p:nvPr/>
        </p:nvPicPr>
        <p:blipFill>
          <a:blip r:embed="rId3"/>
          <a:srcRect/>
          <a:stretch/>
        </p:blipFill>
        <p:spPr>
          <a:xfrm>
            <a:off x="286439" y="3025508"/>
            <a:ext cx="11054080" cy="3108960"/>
          </a:xfrm>
          <a:prstGeom prst="rect">
            <a:avLst/>
          </a:prstGeom>
        </p:spPr>
      </p:pic>
      <p:sp>
        <p:nvSpPr>
          <p:cNvPr id="5" name="TextBox 4">
            <a:extLst>
              <a:ext uri="{FF2B5EF4-FFF2-40B4-BE49-F238E27FC236}">
                <a16:creationId xmlns:a16="http://schemas.microsoft.com/office/drawing/2014/main" id="{492C6895-A196-A8F8-6713-9439A2D67E69}"/>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The Naïve Benchmark model</a:t>
            </a:r>
          </a:p>
        </p:txBody>
      </p:sp>
    </p:spTree>
    <p:extLst>
      <p:ext uri="{BB962C8B-B14F-4D97-AF65-F5344CB8AC3E}">
        <p14:creationId xmlns:p14="http://schemas.microsoft.com/office/powerpoint/2010/main" val="3860545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0EB75-422F-CBDF-F28A-3D0C8FFB4DE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50F5B73-597B-CF74-3AE5-21C15928B065}"/>
              </a:ext>
            </a:extLst>
          </p:cNvPr>
          <p:cNvSpPr>
            <a:spLocks noGrp="1"/>
          </p:cNvSpPr>
          <p:nvPr>
            <p:ph type="sldNum" sz="quarter" idx="12"/>
          </p:nvPr>
        </p:nvSpPr>
        <p:spPr/>
        <p:txBody>
          <a:bodyPr/>
          <a:lstStyle/>
          <a:p>
            <a:fld id="{387B101D-DD3C-9947-BBAC-237D8FE858E0}" type="slidenum">
              <a:rPr lang="en-US" smtClean="0"/>
              <a:t>19</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9D3423-E4E0-5FD4-15F9-9219B8B31BDC}"/>
                  </a:ext>
                </a:extLst>
              </p:cNvPr>
              <p:cNvSpPr txBox="1"/>
              <p:nvPr/>
            </p:nvSpPr>
            <p:spPr>
              <a:xfrm>
                <a:off x="748480" y="1720646"/>
                <a:ext cx="10391468"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SCORE Player by performance metric, </a:t>
                </a:r>
                <a14:m>
                  <m:oMath xmlns:m="http://schemas.openxmlformats.org/officeDocument/2006/math">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b="1" i="1" dirty="0" err="1" smtClean="0">
                            <a:latin typeface="Cambria Math" panose="02040503050406030204" pitchFamily="18" charset="0"/>
                          </a:rPr>
                          <m:t>𝒊</m:t>
                        </m:r>
                      </m:sub>
                    </m:sSub>
                    <m:r>
                      <a:rPr lang="en-US" i="0" dirty="0" err="1"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𝑖</m:t>
                        </m:r>
                      </m:sub>
                    </m:sSub>
                  </m:oMath>
                </a14:m>
                <a:endParaRPr lang="en-US" dirty="0"/>
              </a:p>
              <a:p>
                <a:pPr marL="285750" indent="-285750">
                  <a:lnSpc>
                    <a:spcPct val="150000"/>
                  </a:lnSpc>
                  <a:buFont typeface="Arial" panose="020B0604020202020204" pitchFamily="34" charset="0"/>
                  <a:buChar char="•"/>
                </a:pPr>
                <a:r>
                  <a:rPr lang="en-US" dirty="0"/>
                  <a:t>SELECT the top-</a:t>
                </a:r>
                <a14:m>
                  <m:oMath xmlns:m="http://schemas.openxmlformats.org/officeDocument/2006/math">
                    <m:r>
                      <a:rPr lang="en-US" i="1" dirty="0" smtClean="0">
                        <a:latin typeface="Cambria Math" panose="02040503050406030204" pitchFamily="18" charset="0"/>
                      </a:rPr>
                      <m:t>𝐾</m:t>
                    </m:r>
                  </m:oMath>
                </a14:m>
                <a:r>
                  <a:rPr lang="en-US" dirty="0"/>
                  <a:t> players.</a:t>
                </a:r>
              </a:p>
              <a:p>
                <a:pPr marL="285750" indent="-285750">
                  <a:lnSpc>
                    <a:spcPct val="150000"/>
                  </a:lnSpc>
                  <a:buFont typeface="Arial" panose="020B0604020202020204" pitchFamily="34" charset="0"/>
                  <a:buChar char="•"/>
                </a:pPr>
                <a:r>
                  <a:rPr lang="en-US" dirty="0"/>
                  <a:t>Write </a:t>
                </a:r>
                <a14:m>
                  <m:oMath xmlns:m="http://schemas.openxmlformats.org/officeDocument/2006/math">
                    <m:r>
                      <a:rPr lang="en-US" b="1" i="1">
                        <a:latin typeface="Cambria Math" panose="02040503050406030204" pitchFamily="18" charset="0"/>
                      </a:rPr>
                      <m:t>𝑺</m:t>
                    </m:r>
                  </m:oMath>
                </a14:m>
                <a:r>
                  <a:rPr lang="en-US" dirty="0"/>
                  <a:t> for the collection of all individual scores and let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𝐾</m:t>
                        </m:r>
                      </m:sub>
                    </m:sSub>
                    <m:r>
                      <a:rPr lang="en-US">
                        <a:latin typeface="Cambria Math" panose="02040503050406030204" pitchFamily="18" charset="0"/>
                      </a:rPr>
                      <m:t>(</m:t>
                    </m:r>
                    <m:r>
                      <a:rPr lang="en-US" b="1" i="1">
                        <a:latin typeface="Cambria Math" panose="02040503050406030204" pitchFamily="18" charset="0"/>
                      </a:rPr>
                      <m:t>𝑺</m:t>
                    </m:r>
                    <m:r>
                      <a:rPr lang="en-US">
                        <a:latin typeface="Cambria Math" panose="02040503050406030204" pitchFamily="18" charset="0"/>
                      </a:rPr>
                      <m:t>)</m:t>
                    </m:r>
                  </m:oMath>
                </a14:m>
                <a:r>
                  <a:rPr lang="en-US" dirty="0"/>
                  <a:t> denote the resulting set of winners. </a:t>
                </a:r>
              </a:p>
              <a:p>
                <a:pPr marL="285750" indent="-285750">
                  <a:lnSpc>
                    <a:spcPct val="150000"/>
                  </a:lnSpc>
                  <a:buFont typeface="Arial" panose="020B0604020202020204" pitchFamily="34" charset="0"/>
                  <a:buChar char="•"/>
                </a:pPr>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=1</m:t>
                    </m:r>
                  </m:oMath>
                </a14:m>
                <a:r>
                  <a:rPr lang="en-US" dirty="0"/>
                  <a:t> when individual </a:t>
                </a:r>
                <a14:m>
                  <m:oMath xmlns:m="http://schemas.openxmlformats.org/officeDocument/2006/math">
                    <m:r>
                      <a:rPr lang="en-US" i="1">
                        <a:latin typeface="Cambria Math" panose="02040503050406030204" pitchFamily="18" charset="0"/>
                      </a:rPr>
                      <m:t>𝑖</m:t>
                    </m:r>
                  </m:oMath>
                </a14:m>
                <a:r>
                  <a:rPr lang="en-US" dirty="0"/>
                  <a:t> is selected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=0</m:t>
                    </m:r>
                  </m:oMath>
                </a14:m>
                <a:r>
                  <a:rPr lang="en-US" dirty="0"/>
                  <a:t> otherwise, then</a:t>
                </a:r>
                <a:r>
                  <a:rPr lang="en-US" dirty="0">
                    <a:effectLst/>
                  </a:rPr>
                  <a:t> </a:t>
                </a:r>
                <a:endParaRPr lang="en-US" dirty="0"/>
              </a:p>
            </p:txBody>
          </p:sp>
        </mc:Choice>
        <mc:Fallback xmlns="">
          <p:sp>
            <p:nvSpPr>
              <p:cNvPr id="12" name="TextBox 11">
                <a:extLst>
                  <a:ext uri="{FF2B5EF4-FFF2-40B4-BE49-F238E27FC236}">
                    <a16:creationId xmlns:a16="http://schemas.microsoft.com/office/drawing/2014/main" id="{7F9D3423-E4E0-5FD4-15F9-9219B8B31BDC}"/>
                  </a:ext>
                </a:extLst>
              </p:cNvPr>
              <p:cNvSpPr txBox="1">
                <a:spLocks noRot="1" noChangeAspect="1" noMove="1" noResize="1" noEditPoints="1" noAdjustHandles="1" noChangeArrowheads="1" noChangeShapeType="1" noTextEdit="1"/>
              </p:cNvSpPr>
              <p:nvPr/>
            </p:nvSpPr>
            <p:spPr>
              <a:xfrm>
                <a:off x="748480" y="1720646"/>
                <a:ext cx="10391468" cy="1754326"/>
              </a:xfrm>
              <a:prstGeom prst="rect">
                <a:avLst/>
              </a:prstGeom>
              <a:blipFill>
                <a:blip r:embed="rId2"/>
                <a:stretch>
                  <a:fillRect l="-489" b="-2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3A8F2D-C9A7-2A21-6728-077C43E7ACFD}"/>
                  </a:ext>
                </a:extLst>
              </p:cNvPr>
              <p:cNvSpPr txBox="1"/>
              <p:nvPr/>
            </p:nvSpPr>
            <p:spPr>
              <a:xfrm>
                <a:off x="2969341" y="4428189"/>
                <a:ext cx="6096000" cy="764568"/>
              </a:xfrm>
              <a:prstGeom prst="rect">
                <a:avLst/>
              </a:prstGeom>
              <a:noFill/>
            </p:spPr>
            <p:txBody>
              <a:bodyPr wrap="square">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0">
                          <a:latin typeface="Cambria Math" panose="02040503050406030204" pitchFamily="18" charset="0"/>
                        </a:rPr>
                        <m:t>=1</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𝐾</m:t>
                              </m:r>
                            </m:sub>
                          </m:sSub>
                          <m:d>
                            <m:dPr>
                              <m:ctrlPr>
                                <a:rPr lang="en-US" b="1" i="0">
                                  <a:latin typeface="Cambria Math" panose="02040503050406030204" pitchFamily="18" charset="0"/>
                                </a:rPr>
                              </m:ctrlPr>
                            </m:dPr>
                            <m:e>
                              <m:r>
                                <a:rPr lang="en-US" b="1" i="0">
                                  <a:latin typeface="Cambria Math" panose="02040503050406030204" pitchFamily="18" charset="0"/>
                                </a:rPr>
                                <m:t>𝐒</m:t>
                              </m:r>
                            </m:e>
                          </m:d>
                        </m:e>
                      </m:d>
                      <m:r>
                        <a:rPr lang="en-US" b="0" i="0">
                          <a:latin typeface="Cambria Math" panose="02040503050406030204" pitchFamily="18" charset="0"/>
                        </a:rPr>
                        <m:t>,   </m:t>
                      </m:r>
                      <m:nary>
                        <m:naryPr>
                          <m:chr m:val="∑"/>
                          <m:limLoc m:val="undOvr"/>
                          <m:supHide m:val="on"/>
                          <m:ctrlPr>
                            <a:rPr lang="en-US" b="0" i="1">
                              <a:latin typeface="Cambria Math" panose="02040503050406030204" pitchFamily="18" charset="0"/>
                            </a:rPr>
                          </m:ctrlPr>
                        </m:naryPr>
                        <m:sub>
                          <m:r>
                            <a:rPr lang="en-US" b="0" i="1">
                              <a:latin typeface="Cambria Math" panose="02040503050406030204" pitchFamily="18" charset="0"/>
                            </a:rPr>
                            <m:t>𝑖</m:t>
                          </m:r>
                          <m:r>
                            <a:rPr lang="en-US" b="0" i="0">
                              <a:latin typeface="Cambria Math" panose="02040503050406030204" pitchFamily="18" charset="0"/>
                            </a:rPr>
                            <m:t>∈ </m:t>
                          </m:r>
                          <m:r>
                            <a:rPr lang="en-US" b="0" i="0">
                              <a:latin typeface="Cambria Math" panose="02040503050406030204" pitchFamily="18" charset="0"/>
                            </a:rPr>
                            <m:t>ℰ</m:t>
                          </m:r>
                        </m:sub>
                        <m:sup/>
                        <m:e>
                          <m:sSub>
                            <m:sSubPr>
                              <m:ctrlPr>
                                <a:rPr lang="en-US" b="0" i="1">
                                  <a:latin typeface="Cambria Math" panose="02040503050406030204" pitchFamily="18" charset="0"/>
                                </a:rPr>
                              </m:ctrlPr>
                            </m:sSubPr>
                            <m:e>
                              <m:r>
                                <a:rPr lang="en-US" b="0" i="1">
                                  <a:latin typeface="Cambria Math" panose="02040503050406030204" pitchFamily="18" charset="0"/>
                                </a:rPr>
                                <m:t>𝑌</m:t>
                              </m:r>
                            </m:e>
                            <m:sub>
                              <m:r>
                                <a:rPr lang="en-US" b="0" i="1">
                                  <a:latin typeface="Cambria Math" panose="02040503050406030204" pitchFamily="18" charset="0"/>
                                </a:rPr>
                                <m:t>𝑖</m:t>
                              </m:r>
                            </m:sub>
                          </m:sSub>
                        </m:e>
                      </m:nary>
                      <m:r>
                        <a:rPr lang="en-US" b="0" i="0">
                          <a:latin typeface="Cambria Math" panose="02040503050406030204" pitchFamily="18" charset="0"/>
                        </a:rPr>
                        <m:t>=</m:t>
                      </m:r>
                      <m:r>
                        <a:rPr lang="en-US" b="0" i="1">
                          <a:latin typeface="Cambria Math" panose="02040503050406030204" pitchFamily="18" charset="0"/>
                        </a:rPr>
                        <m:t>𝐾</m:t>
                      </m:r>
                      <m:r>
                        <a:rPr lang="en-US" b="0" i="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933A8F2D-C9A7-2A21-6728-077C43E7ACFD}"/>
                  </a:ext>
                </a:extLst>
              </p:cNvPr>
              <p:cNvSpPr txBox="1">
                <a:spLocks noRot="1" noChangeAspect="1" noMove="1" noResize="1" noEditPoints="1" noAdjustHandles="1" noChangeArrowheads="1" noChangeShapeType="1" noTextEdit="1"/>
              </p:cNvSpPr>
              <p:nvPr/>
            </p:nvSpPr>
            <p:spPr>
              <a:xfrm>
                <a:off x="2969341" y="4428189"/>
                <a:ext cx="6096000" cy="764568"/>
              </a:xfrm>
              <a:prstGeom prst="rect">
                <a:avLst/>
              </a:prstGeom>
              <a:blipFill>
                <a:blip r:embed="rId3"/>
                <a:stretch>
                  <a:fillRect t="-121311" b="-1704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6DF621B-ABF0-CAB8-AB0D-2BF0419C04D5}"/>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The Score and the Selection Rule</a:t>
            </a:r>
          </a:p>
        </p:txBody>
      </p:sp>
    </p:spTree>
    <p:extLst>
      <p:ext uri="{BB962C8B-B14F-4D97-AF65-F5344CB8AC3E}">
        <p14:creationId xmlns:p14="http://schemas.microsoft.com/office/powerpoint/2010/main" val="3956666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2B648-1282-CEAA-FECE-39E0DA37013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3D91B85-D859-80CB-3DB7-A3A91B6A8082}"/>
              </a:ext>
            </a:extLst>
          </p:cNvPr>
          <p:cNvSpPr>
            <a:spLocks noGrp="1"/>
          </p:cNvSpPr>
          <p:nvPr>
            <p:ph type="sldNum" sz="quarter" idx="12"/>
          </p:nvPr>
        </p:nvSpPr>
        <p:spPr/>
        <p:txBody>
          <a:bodyPr/>
          <a:lstStyle/>
          <a:p>
            <a:fld id="{387B101D-DD3C-9947-BBAC-237D8FE858E0}" type="slidenum">
              <a:rPr lang="en-US" smtClean="0"/>
              <a:t>20</a:t>
            </a:fld>
            <a:endParaRPr lang="en-US"/>
          </a:p>
        </p:txBody>
      </p:sp>
      <p:pic>
        <p:nvPicPr>
          <p:cNvPr id="3" name="Picture 2">
            <a:extLst>
              <a:ext uri="{FF2B5EF4-FFF2-40B4-BE49-F238E27FC236}">
                <a16:creationId xmlns:a16="http://schemas.microsoft.com/office/drawing/2014/main" id="{1651F08E-B07F-1568-C3AF-60B75B576BEC}"/>
              </a:ext>
            </a:extLst>
          </p:cNvPr>
          <p:cNvPicPr>
            <a:picLocks noChangeAspect="1"/>
          </p:cNvPicPr>
          <p:nvPr/>
        </p:nvPicPr>
        <p:blipFill>
          <a:blip r:embed="rId2"/>
          <a:srcRect/>
          <a:stretch/>
        </p:blipFill>
        <p:spPr>
          <a:xfrm>
            <a:off x="286439" y="3025508"/>
            <a:ext cx="11054080" cy="3108960"/>
          </a:xfrm>
          <a:prstGeom prst="rect">
            <a:avLst/>
          </a:prstGeom>
        </p:spPr>
      </p:pic>
      <p:sp>
        <p:nvSpPr>
          <p:cNvPr id="2" name="TextBox 1">
            <a:extLst>
              <a:ext uri="{FF2B5EF4-FFF2-40B4-BE49-F238E27FC236}">
                <a16:creationId xmlns:a16="http://schemas.microsoft.com/office/drawing/2014/main" id="{28DAEEB8-CE2C-26B7-3805-B3FFA2D32BAC}"/>
              </a:ext>
            </a:extLst>
          </p:cNvPr>
          <p:cNvSpPr txBox="1"/>
          <p:nvPr/>
        </p:nvSpPr>
        <p:spPr>
          <a:xfrm>
            <a:off x="748480" y="1622326"/>
            <a:ext cx="8316861"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In the real-world individuals are not perfectly selected</a:t>
            </a:r>
          </a:p>
        </p:txBody>
      </p:sp>
      <p:sp>
        <p:nvSpPr>
          <p:cNvPr id="4" name="TextBox 3">
            <a:extLst>
              <a:ext uri="{FF2B5EF4-FFF2-40B4-BE49-F238E27FC236}">
                <a16:creationId xmlns:a16="http://schemas.microsoft.com/office/drawing/2014/main" id="{ADA68244-1F8C-7912-C580-1667186F21BE}"/>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3977071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748C-5C9F-2015-F402-CEE7584C11E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BC123F3-6FE9-98C5-1032-E0F4DBD6DB8B}"/>
              </a:ext>
            </a:extLst>
          </p:cNvPr>
          <p:cNvSpPr>
            <a:spLocks noGrp="1"/>
          </p:cNvSpPr>
          <p:nvPr>
            <p:ph type="sldNum" sz="quarter" idx="12"/>
          </p:nvPr>
        </p:nvSpPr>
        <p:spPr/>
        <p:txBody>
          <a:bodyPr/>
          <a:lstStyle/>
          <a:p>
            <a:fld id="{387B101D-DD3C-9947-BBAC-237D8FE858E0}" type="slidenum">
              <a:rPr lang="en-US" smtClean="0"/>
              <a:t>21</a:t>
            </a:fld>
            <a:endParaRPr lang="en-US"/>
          </a:p>
        </p:txBody>
      </p:sp>
      <p:pic>
        <p:nvPicPr>
          <p:cNvPr id="3" name="Picture 2">
            <a:extLst>
              <a:ext uri="{FF2B5EF4-FFF2-40B4-BE49-F238E27FC236}">
                <a16:creationId xmlns:a16="http://schemas.microsoft.com/office/drawing/2014/main" id="{44908CB5-BFC6-72D2-1B37-EFF8AABF9893}"/>
              </a:ext>
            </a:extLst>
          </p:cNvPr>
          <p:cNvPicPr>
            <a:picLocks noChangeAspect="1"/>
          </p:cNvPicPr>
          <p:nvPr/>
        </p:nvPicPr>
        <p:blipFill>
          <a:blip r:embed="rId2"/>
          <a:srcRect/>
          <a:stretch/>
        </p:blipFill>
        <p:spPr>
          <a:xfrm>
            <a:off x="286439" y="3025508"/>
            <a:ext cx="11054080" cy="3108960"/>
          </a:xfrm>
          <a:prstGeom prst="rect">
            <a:avLst/>
          </a:prstGeom>
        </p:spPr>
      </p:pic>
      <p:sp>
        <p:nvSpPr>
          <p:cNvPr id="2" name="TextBox 1">
            <a:extLst>
              <a:ext uri="{FF2B5EF4-FFF2-40B4-BE49-F238E27FC236}">
                <a16:creationId xmlns:a16="http://schemas.microsoft.com/office/drawing/2014/main" id="{E906A0C9-8493-159A-2DDC-37AC2B359305}"/>
              </a:ext>
            </a:extLst>
          </p:cNvPr>
          <p:cNvSpPr txBox="1"/>
          <p:nvPr/>
        </p:nvSpPr>
        <p:spPr>
          <a:xfrm>
            <a:off x="748480" y="1622326"/>
            <a:ext cx="8316861" cy="92333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In the real-world individuals are not perfectly selected</a:t>
            </a:r>
          </a:p>
          <a:p>
            <a:pPr marL="285750" indent="-285750">
              <a:lnSpc>
                <a:spcPct val="100000"/>
              </a:lnSpc>
              <a:buFont typeface="Arial" panose="020B0604020202020204" pitchFamily="34" charset="0"/>
              <a:buChar char="•"/>
            </a:pPr>
            <a:r>
              <a:rPr lang="en-US" dirty="0"/>
              <a:t>Evaluators may observe incomplete records</a:t>
            </a:r>
          </a:p>
        </p:txBody>
      </p:sp>
      <p:sp>
        <p:nvSpPr>
          <p:cNvPr id="4" name="TextBox 3">
            <a:extLst>
              <a:ext uri="{FF2B5EF4-FFF2-40B4-BE49-F238E27FC236}">
                <a16:creationId xmlns:a16="http://schemas.microsoft.com/office/drawing/2014/main" id="{90B7C3A6-DDE7-A749-9248-A0C082C7CE71}"/>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2087198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89539-3FE0-8CF8-91B7-5A6951A5BD4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DD4A892-FAB2-E4A6-ADB8-6140C83E50E8}"/>
              </a:ext>
            </a:extLst>
          </p:cNvPr>
          <p:cNvSpPr>
            <a:spLocks noGrp="1"/>
          </p:cNvSpPr>
          <p:nvPr>
            <p:ph type="sldNum" sz="quarter" idx="12"/>
          </p:nvPr>
        </p:nvSpPr>
        <p:spPr/>
        <p:txBody>
          <a:bodyPr/>
          <a:lstStyle/>
          <a:p>
            <a:fld id="{387B101D-DD3C-9947-BBAC-237D8FE858E0}" type="slidenum">
              <a:rPr lang="en-US" smtClean="0"/>
              <a:t>22</a:t>
            </a:fld>
            <a:endParaRPr lang="en-US"/>
          </a:p>
        </p:txBody>
      </p:sp>
      <p:pic>
        <p:nvPicPr>
          <p:cNvPr id="3" name="Picture 2">
            <a:extLst>
              <a:ext uri="{FF2B5EF4-FFF2-40B4-BE49-F238E27FC236}">
                <a16:creationId xmlns:a16="http://schemas.microsoft.com/office/drawing/2014/main" id="{3AFF0FDD-FE87-433A-319D-90E52EBBDCFD}"/>
              </a:ext>
            </a:extLst>
          </p:cNvPr>
          <p:cNvPicPr>
            <a:picLocks noChangeAspect="1"/>
          </p:cNvPicPr>
          <p:nvPr/>
        </p:nvPicPr>
        <p:blipFill>
          <a:blip r:embed="rId2"/>
          <a:srcRect/>
          <a:stretch/>
        </p:blipFill>
        <p:spPr>
          <a:xfrm>
            <a:off x="286439" y="3025508"/>
            <a:ext cx="11054080" cy="3108960"/>
          </a:xfrm>
          <a:prstGeom prst="rect">
            <a:avLst/>
          </a:prstGeom>
        </p:spPr>
      </p:pic>
      <p:sp>
        <p:nvSpPr>
          <p:cNvPr id="2" name="TextBox 1">
            <a:extLst>
              <a:ext uri="{FF2B5EF4-FFF2-40B4-BE49-F238E27FC236}">
                <a16:creationId xmlns:a16="http://schemas.microsoft.com/office/drawing/2014/main" id="{6CE9D936-AF14-9C86-B74D-DED192814E7F}"/>
              </a:ext>
            </a:extLst>
          </p:cNvPr>
          <p:cNvSpPr txBox="1"/>
          <p:nvPr/>
        </p:nvSpPr>
        <p:spPr>
          <a:xfrm>
            <a:off x="748480" y="1622326"/>
            <a:ext cx="8316861" cy="120032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In the real-world individuals are not perfectly selected</a:t>
            </a:r>
          </a:p>
          <a:p>
            <a:pPr marL="285750" indent="-285750">
              <a:lnSpc>
                <a:spcPct val="100000"/>
              </a:lnSpc>
              <a:buFont typeface="Arial" panose="020B0604020202020204" pitchFamily="34" charset="0"/>
              <a:buChar char="•"/>
            </a:pPr>
            <a:r>
              <a:rPr lang="en-US" dirty="0"/>
              <a:t>Evaluators may observe incomplete records</a:t>
            </a:r>
          </a:p>
          <a:p>
            <a:pPr marL="285750" indent="-285750">
              <a:lnSpc>
                <a:spcPct val="100000"/>
              </a:lnSpc>
              <a:buFont typeface="Arial" panose="020B0604020202020204" pitchFamily="34" charset="0"/>
              <a:buChar char="•"/>
            </a:pPr>
            <a:r>
              <a:rPr lang="en-US" dirty="0"/>
              <a:t>Disagree about candidates</a:t>
            </a:r>
          </a:p>
        </p:txBody>
      </p:sp>
      <p:sp>
        <p:nvSpPr>
          <p:cNvPr id="4" name="TextBox 3">
            <a:extLst>
              <a:ext uri="{FF2B5EF4-FFF2-40B4-BE49-F238E27FC236}">
                <a16:creationId xmlns:a16="http://schemas.microsoft.com/office/drawing/2014/main" id="{1BD1B8C5-BDAE-37AD-EB51-F0FDC5CF49E6}"/>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866993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FCF5-EDE2-5D6F-B4CD-EE3484DA2FF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CFD6069-A595-387B-F69E-0194FFBB001A}"/>
              </a:ext>
            </a:extLst>
          </p:cNvPr>
          <p:cNvSpPr>
            <a:spLocks noGrp="1"/>
          </p:cNvSpPr>
          <p:nvPr>
            <p:ph type="sldNum" sz="quarter" idx="12"/>
          </p:nvPr>
        </p:nvSpPr>
        <p:spPr/>
        <p:txBody>
          <a:bodyPr/>
          <a:lstStyle/>
          <a:p>
            <a:fld id="{387B101D-DD3C-9947-BBAC-237D8FE858E0}" type="slidenum">
              <a:rPr lang="en-US" smtClean="0"/>
              <a:t>23</a:t>
            </a:fld>
            <a:endParaRPr lang="en-US"/>
          </a:p>
        </p:txBody>
      </p:sp>
      <p:pic>
        <p:nvPicPr>
          <p:cNvPr id="3" name="Picture 2">
            <a:extLst>
              <a:ext uri="{FF2B5EF4-FFF2-40B4-BE49-F238E27FC236}">
                <a16:creationId xmlns:a16="http://schemas.microsoft.com/office/drawing/2014/main" id="{9A0AE03F-61F2-50FF-E463-0FAE24458E48}"/>
              </a:ext>
            </a:extLst>
          </p:cNvPr>
          <p:cNvPicPr>
            <a:picLocks noChangeAspect="1"/>
          </p:cNvPicPr>
          <p:nvPr/>
        </p:nvPicPr>
        <p:blipFill>
          <a:blip r:embed="rId2"/>
          <a:srcRect/>
          <a:stretch/>
        </p:blipFill>
        <p:spPr>
          <a:xfrm>
            <a:off x="286439" y="3025508"/>
            <a:ext cx="11054080" cy="310896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263F5E-3F49-556E-EDB9-17F63FD3C38C}"/>
                  </a:ext>
                </a:extLst>
              </p:cNvPr>
              <p:cNvSpPr txBox="1"/>
              <p:nvPr/>
            </p:nvSpPr>
            <p:spPr>
              <a:xfrm>
                <a:off x="748480" y="1622326"/>
                <a:ext cx="8316861" cy="147732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In the real-world individuals are not perfectly selected</a:t>
                </a:r>
              </a:p>
              <a:p>
                <a:pPr marL="285750" indent="-285750">
                  <a:lnSpc>
                    <a:spcPct val="100000"/>
                  </a:lnSpc>
                  <a:buFont typeface="Arial" panose="020B0604020202020204" pitchFamily="34" charset="0"/>
                  <a:buChar char="•"/>
                </a:pPr>
                <a:r>
                  <a:rPr lang="en-US" dirty="0"/>
                  <a:t>Evaluators may observe incomplete records</a:t>
                </a:r>
              </a:p>
              <a:p>
                <a:pPr marL="285750" indent="-285750">
                  <a:lnSpc>
                    <a:spcPct val="100000"/>
                  </a:lnSpc>
                  <a:buFont typeface="Arial" panose="020B0604020202020204" pitchFamily="34" charset="0"/>
                  <a:buChar char="•"/>
                </a:pPr>
                <a:r>
                  <a:rPr lang="en-US" dirty="0"/>
                  <a:t>Disagree about candidates</a:t>
                </a:r>
              </a:p>
              <a:p>
                <a:pPr marL="285750" indent="-285750">
                  <a:lnSpc>
                    <a:spcPct val="100000"/>
                  </a:lnSpc>
                  <a:buFont typeface="Arial" panose="020B0604020202020204" pitchFamily="34" charset="0"/>
                  <a:buChar char="•"/>
                </a:pPr>
                <a:r>
                  <a:rPr lang="en-US" dirty="0">
                    <a:effectLst/>
                  </a:rPr>
                  <a:t>Or our performance metric (</a:t>
                </a:r>
                <a14:m>
                  <m:oMath xmlns:m="http://schemas.openxmlformats.org/officeDocument/2006/math">
                    <m:sSub>
                      <m:sSubPr>
                        <m:ctrlPr>
                          <a:rPr lang="en-US" i="1" dirty="0" err="1" smtClean="0">
                            <a:effectLst/>
                            <a:latin typeface="Cambria Math" panose="02040503050406030204" pitchFamily="18" charset="0"/>
                          </a:rPr>
                        </m:ctrlPr>
                      </m:sSubPr>
                      <m:e>
                        <m:r>
                          <a:rPr lang="en-US" i="1" dirty="0" err="1" smtClean="0">
                            <a:effectLst/>
                            <a:latin typeface="Cambria Math" panose="02040503050406030204" pitchFamily="18" charset="0"/>
                          </a:rPr>
                          <m:t>𝐴</m:t>
                        </m:r>
                      </m:e>
                      <m:sub>
                        <m:r>
                          <a:rPr lang="en-US" i="1" dirty="0" err="1" smtClean="0">
                            <a:effectLst/>
                            <a:latin typeface="Cambria Math" panose="02040503050406030204" pitchFamily="18" charset="0"/>
                          </a:rPr>
                          <m:t>𝑖</m:t>
                        </m:r>
                      </m:sub>
                    </m:sSub>
                  </m:oMath>
                </a14:m>
                <a:r>
                  <a:rPr lang="en-US" dirty="0">
                    <a:effectLst/>
                  </a:rPr>
                  <a:t>) is a poor choice  </a:t>
                </a:r>
                <a:endParaRPr lang="en-US" dirty="0"/>
              </a:p>
            </p:txBody>
          </p:sp>
        </mc:Choice>
        <mc:Fallback xmlns="">
          <p:sp>
            <p:nvSpPr>
              <p:cNvPr id="2" name="TextBox 1">
                <a:extLst>
                  <a:ext uri="{FF2B5EF4-FFF2-40B4-BE49-F238E27FC236}">
                    <a16:creationId xmlns:a16="http://schemas.microsoft.com/office/drawing/2014/main" id="{24263F5E-3F49-556E-EDB9-17F63FD3C38C}"/>
                  </a:ext>
                </a:extLst>
              </p:cNvPr>
              <p:cNvSpPr txBox="1">
                <a:spLocks noRot="1" noChangeAspect="1" noMove="1" noResize="1" noEditPoints="1" noAdjustHandles="1" noChangeArrowheads="1" noChangeShapeType="1" noTextEdit="1"/>
              </p:cNvSpPr>
              <p:nvPr/>
            </p:nvSpPr>
            <p:spPr>
              <a:xfrm>
                <a:off x="748480" y="1622326"/>
                <a:ext cx="8316861" cy="1477328"/>
              </a:xfrm>
              <a:prstGeom prst="rect">
                <a:avLst/>
              </a:prstGeom>
              <a:blipFill>
                <a:blip r:embed="rId3"/>
                <a:stretch>
                  <a:fillRect l="-611" b="-598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5E8AFF1-F81D-721C-3CC8-F595FC2F07C5}"/>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2704922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6468E7C-2EBF-E437-DA09-94710B11E28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B3B67FC-2F5B-2D01-14E3-808D3ACF2DAF}"/>
              </a:ext>
            </a:extLst>
          </p:cNvPr>
          <p:cNvSpPr>
            <a:spLocks noGrp="1"/>
          </p:cNvSpPr>
          <p:nvPr>
            <p:ph type="sldNum" sz="quarter" idx="12"/>
          </p:nvPr>
        </p:nvSpPr>
        <p:spPr/>
        <p:txBody>
          <a:bodyPr/>
          <a:lstStyle/>
          <a:p>
            <a:fld id="{387B101D-DD3C-9947-BBAC-237D8FE858E0}" type="slidenum">
              <a:rPr lang="en-US" smtClean="0"/>
              <a:t>24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F253438-3FAE-5307-D4ED-E3A9CC9E0028}"/>
                  </a:ext>
                </a:extLst>
              </p:cNvPr>
              <p:cNvSpPr txBox="1"/>
              <p:nvPr/>
            </p:nvSpPr>
            <p:spPr>
              <a:xfrm>
                <a:off x="748480" y="1622326"/>
                <a:ext cx="8316861"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We introduce a Player draw – simple example</a:t>
                </a:r>
              </a:p>
              <a:p>
                <a:pPr marL="285750" indent="-285750">
                  <a:lnSpc>
                    <a:spcPct val="200000"/>
                  </a:lnSpc>
                  <a:buFont typeface="Arial" panose="020B0604020202020204" pitchFamily="34" charset="0"/>
                  <a:buChar char="•"/>
                </a:pPr>
                <a14:m>
                  <m:oMath xmlns:m="http://schemas.openxmlformats.org/officeDocument/2006/math">
                    <m:r>
                      <a:rPr lang="en-US" i="1" dirty="0" smtClean="0">
                        <a:solidFill>
                          <a:srgbClr val="0432FF"/>
                        </a:solidFill>
                        <a:latin typeface="Cambria Math" panose="02040503050406030204" pitchFamily="18" charset="0"/>
                      </a:rPr>
                      <m:t>𝐾</m:t>
                    </m:r>
                    <m:r>
                      <a:rPr lang="en-US" i="0" dirty="0" smtClean="0">
                        <a:solidFill>
                          <a:srgbClr val="0432FF"/>
                        </a:solidFill>
                        <a:latin typeface="Cambria Math" panose="02040503050406030204" pitchFamily="18" charset="0"/>
                      </a:rPr>
                      <m:t>=2</m:t>
                    </m:r>
                  </m:oMath>
                </a14:m>
                <a:r>
                  <a:rPr lang="en-US" dirty="0"/>
                  <a:t> draft picks</a:t>
                </a:r>
              </a:p>
              <a:p>
                <a:pPr marL="285750" indent="-285750">
                  <a:lnSpc>
                    <a:spcPct val="200000"/>
                  </a:lnSpc>
                  <a:buFont typeface="Arial" panose="020B0604020202020204" pitchFamily="34" charset="0"/>
                  <a:buChar char="•"/>
                </a:pPr>
                <a:r>
                  <a:rPr lang="en-US" dirty="0"/>
                  <a:t>Assign weights to each player</a:t>
                </a:r>
              </a:p>
              <a:p>
                <a:pPr marL="285750" indent="-285750">
                  <a:lnSpc>
                    <a:spcPct val="200000"/>
                  </a:lnSpc>
                  <a:buFont typeface="Arial" panose="020B0604020202020204" pitchFamily="34" charset="0"/>
                  <a:buChar char="•"/>
                </a:pPr>
                <a:r>
                  <a:rPr lang="en-US" dirty="0"/>
                  <a:t>Each player’s probability of being drawn is </a:t>
                </a:r>
              </a:p>
              <a:p>
                <a:pPr>
                  <a:lnSpc>
                    <a:spcPct val="200000"/>
                  </a:lnSpc>
                </a:pPr>
                <a:r>
                  <a:rPr lang="en-US" dirty="0"/>
                  <a:t>	His weight / total pool weight</a:t>
                </a:r>
              </a:p>
            </p:txBody>
          </p:sp>
        </mc:Choice>
        <mc:Fallback xmlns="">
          <p:sp>
            <p:nvSpPr>
              <p:cNvPr id="5" name="TextBox 4">
                <a:extLst>
                  <a:ext uri="{FF2B5EF4-FFF2-40B4-BE49-F238E27FC236}">
                    <a16:creationId xmlns:a16="http://schemas.microsoft.com/office/drawing/2014/main" id="{5F253438-3FAE-5307-D4ED-E3A9CC9E0028}"/>
                  </a:ext>
                </a:extLst>
              </p:cNvPr>
              <p:cNvSpPr txBox="1">
                <a:spLocks noRot="1" noChangeAspect="1" noMove="1" noResize="1" noEditPoints="1" noAdjustHandles="1" noChangeArrowheads="1" noChangeShapeType="1" noTextEdit="1"/>
              </p:cNvSpPr>
              <p:nvPr/>
            </p:nvSpPr>
            <p:spPr>
              <a:xfrm>
                <a:off x="748480" y="1622326"/>
                <a:ext cx="8316861" cy="2787751"/>
              </a:xfrm>
              <a:prstGeom prst="rect">
                <a:avLst/>
              </a:prstGeom>
              <a:blipFill>
                <a:blip r:embed="rId3"/>
                <a:stretch>
                  <a:fillRect l="-611" b="-2262"/>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19ECAA44-C8D0-A1B1-FEBC-DD7058CC3539}"/>
              </a:ext>
            </a:extLst>
          </p:cNvPr>
          <p:cNvGrpSpPr/>
          <p:nvPr/>
        </p:nvGrpSpPr>
        <p:grpSpPr>
          <a:xfrm>
            <a:off x="7492181" y="1622326"/>
            <a:ext cx="1079127" cy="3134863"/>
            <a:chOff x="7492181" y="1622326"/>
            <a:chExt cx="1079127" cy="313486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65A3CF3-9593-CFE6-DE65-DB339F4E53A3}"/>
                    </a:ext>
                  </a:extLst>
                </p:cNvPr>
                <p:cNvSpPr txBox="1"/>
                <p:nvPr/>
              </p:nvSpPr>
              <p:spPr>
                <a:xfrm>
                  <a:off x="7562706" y="4387857"/>
                  <a:ext cx="938077"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𝑏</m:t>
                            </m:r>
                          </m:sub>
                        </m:sSub>
                        <m:r>
                          <a:rPr lang="en-US" i="0" dirty="0" err="1">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165A3CF3-9593-CFE6-DE65-DB339F4E53A3}"/>
                    </a:ext>
                  </a:extLst>
                </p:cNvPr>
                <p:cNvSpPr txBox="1">
                  <a:spLocks noRot="1" noChangeAspect="1" noMove="1" noResize="1" noEditPoints="1" noAdjustHandles="1" noChangeArrowheads="1" noChangeShapeType="1" noTextEdit="1"/>
                </p:cNvSpPr>
                <p:nvPr/>
              </p:nvSpPr>
              <p:spPr>
                <a:xfrm>
                  <a:off x="7562706" y="4387857"/>
                  <a:ext cx="938077" cy="369332"/>
                </a:xfrm>
                <a:prstGeom prst="rect">
                  <a:avLst/>
                </a:prstGeom>
                <a:blipFill>
                  <a:blip r:embed="rId4"/>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C666ECDB-4C60-61E5-9EC1-C068114ECBDE}"/>
                </a:ext>
              </a:extLst>
            </p:cNvPr>
            <p:cNvGrpSpPr/>
            <p:nvPr/>
          </p:nvGrpSpPr>
          <p:grpSpPr>
            <a:xfrm>
              <a:off x="7492181" y="1622326"/>
              <a:ext cx="1079127" cy="2719899"/>
              <a:chOff x="7492181" y="1622326"/>
              <a:chExt cx="1079127" cy="2719899"/>
            </a:xfrm>
          </p:grpSpPr>
          <p:pic>
            <p:nvPicPr>
              <p:cNvPr id="4" name="Picture 3">
                <a:extLst>
                  <a:ext uri="{FF2B5EF4-FFF2-40B4-BE49-F238E27FC236}">
                    <a16:creationId xmlns:a16="http://schemas.microsoft.com/office/drawing/2014/main" id="{51AA0E46-405B-A812-D3CD-5E600571AB5E}"/>
                  </a:ext>
                </a:extLst>
              </p:cNvPr>
              <p:cNvPicPr>
                <a:picLocks noChangeAspect="1"/>
              </p:cNvPicPr>
              <p:nvPr/>
            </p:nvPicPr>
            <p:blipFill>
              <a:blip r:embed="rId5"/>
              <a:srcRect/>
              <a:stretch/>
            </p:blipFill>
            <p:spPr>
              <a:xfrm>
                <a:off x="7492181" y="2723535"/>
                <a:ext cx="1079127" cy="161869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312BE4F-221C-BE25-BDBF-07E631146814}"/>
                      </a:ext>
                    </a:extLst>
                  </p:cNvPr>
                  <p:cNvSpPr txBox="1"/>
                  <p:nvPr/>
                </p:nvSpPr>
                <p:spPr>
                  <a:xfrm>
                    <a:off x="7544369"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𝑏</m:t>
                        </m:r>
                      </m:oMath>
                    </a14:m>
                    <a:endParaRPr lang="en-US" dirty="0"/>
                  </a:p>
                </p:txBody>
              </p:sp>
            </mc:Choice>
            <mc:Fallback xmlns="">
              <p:sp>
                <p:nvSpPr>
                  <p:cNvPr id="13" name="TextBox 12">
                    <a:extLst>
                      <a:ext uri="{FF2B5EF4-FFF2-40B4-BE49-F238E27FC236}">
                        <a16:creationId xmlns:a16="http://schemas.microsoft.com/office/drawing/2014/main" id="{2312BE4F-221C-BE25-BDBF-07E631146814}"/>
                      </a:ext>
                    </a:extLst>
                  </p:cNvPr>
                  <p:cNvSpPr txBox="1">
                    <a:spLocks noRot="1" noChangeAspect="1" noMove="1" noResize="1" noEditPoints="1" noAdjustHandles="1" noChangeArrowheads="1" noChangeShapeType="1" noTextEdit="1"/>
                  </p:cNvSpPr>
                  <p:nvPr/>
                </p:nvSpPr>
                <p:spPr>
                  <a:xfrm>
                    <a:off x="7544369" y="1622326"/>
                    <a:ext cx="974750" cy="369332"/>
                  </a:xfrm>
                  <a:prstGeom prst="rect">
                    <a:avLst/>
                  </a:prstGeom>
                  <a:blipFill>
                    <a:blip r:embed="rId6"/>
                    <a:stretch>
                      <a:fillRect l="-5195" t="-6667" b="-26667"/>
                    </a:stretch>
                  </a:blipFill>
                </p:spPr>
                <p:txBody>
                  <a:bodyPr/>
                  <a:lstStyle/>
                  <a:p>
                    <a:r>
                      <a:rPr lang="en-US">
                        <a:noFill/>
                      </a:rPr>
                      <a:t> </a:t>
                    </a:r>
                  </a:p>
                </p:txBody>
              </p:sp>
            </mc:Fallback>
          </mc:AlternateContent>
        </p:grpSp>
      </p:grpSp>
      <p:grpSp>
        <p:nvGrpSpPr>
          <p:cNvPr id="27" name="Group 26">
            <a:extLst>
              <a:ext uri="{FF2B5EF4-FFF2-40B4-BE49-F238E27FC236}">
                <a16:creationId xmlns:a16="http://schemas.microsoft.com/office/drawing/2014/main" id="{3D8C5DBC-AAF7-1BDA-0EC3-2905F02AF653}"/>
              </a:ext>
            </a:extLst>
          </p:cNvPr>
          <p:cNvGrpSpPr/>
          <p:nvPr/>
        </p:nvGrpSpPr>
        <p:grpSpPr>
          <a:xfrm>
            <a:off x="5779989" y="1622326"/>
            <a:ext cx="1535209" cy="3134863"/>
            <a:chOff x="5779989" y="1622326"/>
            <a:chExt cx="1535209" cy="3134863"/>
          </a:xfrm>
        </p:grpSpPr>
        <p:grpSp>
          <p:nvGrpSpPr>
            <p:cNvPr id="23" name="Group 22">
              <a:extLst>
                <a:ext uri="{FF2B5EF4-FFF2-40B4-BE49-F238E27FC236}">
                  <a16:creationId xmlns:a16="http://schemas.microsoft.com/office/drawing/2014/main" id="{D5DCF607-9037-3850-A439-D007C079B30B}"/>
                </a:ext>
              </a:extLst>
            </p:cNvPr>
            <p:cNvGrpSpPr/>
            <p:nvPr/>
          </p:nvGrpSpPr>
          <p:grpSpPr>
            <a:xfrm>
              <a:off x="5779989" y="1622326"/>
              <a:ext cx="1535209" cy="2719900"/>
              <a:chOff x="5779989" y="1622326"/>
              <a:chExt cx="1535209" cy="2719900"/>
            </a:xfrm>
          </p:grpSpPr>
          <p:pic>
            <p:nvPicPr>
              <p:cNvPr id="6" name="Picture 5">
                <a:extLst>
                  <a:ext uri="{FF2B5EF4-FFF2-40B4-BE49-F238E27FC236}">
                    <a16:creationId xmlns:a16="http://schemas.microsoft.com/office/drawing/2014/main" id="{D8516328-6548-D0FE-B89D-2BD2C0C30F11}"/>
                  </a:ext>
                </a:extLst>
              </p:cNvPr>
              <p:cNvPicPr>
                <a:picLocks noChangeAspect="1"/>
              </p:cNvPicPr>
              <p:nvPr/>
            </p:nvPicPr>
            <p:blipFill>
              <a:blip r:embed="rId7"/>
              <a:stretch>
                <a:fillRect/>
              </a:stretch>
            </p:blipFill>
            <p:spPr>
              <a:xfrm>
                <a:off x="5779989" y="2039412"/>
                <a:ext cx="1535209" cy="230281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53C31C3-E17B-CBCF-53F7-835508DFFCBE}"/>
                      </a:ext>
                    </a:extLst>
                  </p:cNvPr>
                  <p:cNvSpPr txBox="1"/>
                  <p:nvPr/>
                </p:nvSpPr>
                <p:spPr>
                  <a:xfrm>
                    <a:off x="6060218"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𝑎</m:t>
                        </m:r>
                      </m:oMath>
                    </a14:m>
                    <a:endParaRPr lang="en-US" dirty="0"/>
                  </a:p>
                </p:txBody>
              </p:sp>
            </mc:Choice>
            <mc:Fallback xmlns="">
              <p:sp>
                <p:nvSpPr>
                  <p:cNvPr id="12" name="TextBox 11">
                    <a:extLst>
                      <a:ext uri="{FF2B5EF4-FFF2-40B4-BE49-F238E27FC236}">
                        <a16:creationId xmlns:a16="http://schemas.microsoft.com/office/drawing/2014/main" id="{E53C31C3-E17B-CBCF-53F7-835508DFFCBE}"/>
                      </a:ext>
                    </a:extLst>
                  </p:cNvPr>
                  <p:cNvSpPr txBox="1">
                    <a:spLocks noRot="1" noChangeAspect="1" noMove="1" noResize="1" noEditPoints="1" noAdjustHandles="1" noChangeArrowheads="1" noChangeShapeType="1" noTextEdit="1"/>
                  </p:cNvSpPr>
                  <p:nvPr/>
                </p:nvSpPr>
                <p:spPr>
                  <a:xfrm>
                    <a:off x="6060218" y="1622326"/>
                    <a:ext cx="974750" cy="369332"/>
                  </a:xfrm>
                  <a:prstGeom prst="rect">
                    <a:avLst/>
                  </a:prstGeom>
                  <a:blipFill>
                    <a:blip r:embed="rId8"/>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592C31E-BF30-FE89-C769-495EE5B9C262}"/>
                    </a:ext>
                  </a:extLst>
                </p:cNvPr>
                <p:cNvSpPr txBox="1"/>
                <p:nvPr/>
              </p:nvSpPr>
              <p:spPr>
                <a:xfrm>
                  <a:off x="6079869" y="4387857"/>
                  <a:ext cx="93544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𝑎</m:t>
                            </m:r>
                          </m:sub>
                        </m:sSub>
                        <m:r>
                          <a:rPr lang="en-US" i="0" dirty="0" err="1">
                            <a:latin typeface="Cambria Math" panose="02040503050406030204" pitchFamily="18" charset="0"/>
                          </a:rPr>
                          <m:t>=4</m:t>
                        </m:r>
                      </m:oMath>
                    </m:oMathPara>
                  </a14:m>
                  <a:endParaRPr lang="en-US" dirty="0"/>
                </a:p>
              </p:txBody>
            </p:sp>
          </mc:Choice>
          <mc:Fallback xmlns="">
            <p:sp>
              <p:nvSpPr>
                <p:cNvPr id="24" name="TextBox 23">
                  <a:extLst>
                    <a:ext uri="{FF2B5EF4-FFF2-40B4-BE49-F238E27FC236}">
                      <a16:creationId xmlns:a16="http://schemas.microsoft.com/office/drawing/2014/main" id="{A592C31E-BF30-FE89-C769-495EE5B9C262}"/>
                    </a:ext>
                  </a:extLst>
                </p:cNvPr>
                <p:cNvSpPr txBox="1">
                  <a:spLocks noRot="1" noChangeAspect="1" noMove="1" noResize="1" noEditPoints="1" noAdjustHandles="1" noChangeArrowheads="1" noChangeShapeType="1" noTextEdit="1"/>
                </p:cNvSpPr>
                <p:nvPr/>
              </p:nvSpPr>
              <p:spPr>
                <a:xfrm>
                  <a:off x="6079869" y="4387857"/>
                  <a:ext cx="935449" cy="369332"/>
                </a:xfrm>
                <a:prstGeom prst="rect">
                  <a:avLst/>
                </a:prstGeom>
                <a:blipFill>
                  <a:blip r:embed="rId9"/>
                  <a:stretch>
                    <a:fillRect/>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16FBF02D-256C-E6D9-9006-A549202D8330}"/>
              </a:ext>
            </a:extLst>
          </p:cNvPr>
          <p:cNvGrpSpPr/>
          <p:nvPr/>
        </p:nvGrpSpPr>
        <p:grpSpPr>
          <a:xfrm>
            <a:off x="8829368" y="1622326"/>
            <a:ext cx="1406862" cy="3134863"/>
            <a:chOff x="8829368" y="1622326"/>
            <a:chExt cx="1406862" cy="3134863"/>
          </a:xfrm>
        </p:grpSpPr>
        <p:grpSp>
          <p:nvGrpSpPr>
            <p:cNvPr id="20" name="Group 19">
              <a:extLst>
                <a:ext uri="{FF2B5EF4-FFF2-40B4-BE49-F238E27FC236}">
                  <a16:creationId xmlns:a16="http://schemas.microsoft.com/office/drawing/2014/main" id="{8E8EC4B2-A60D-5421-F849-183E4BC9CFD8}"/>
                </a:ext>
              </a:extLst>
            </p:cNvPr>
            <p:cNvGrpSpPr/>
            <p:nvPr/>
          </p:nvGrpSpPr>
          <p:grpSpPr>
            <a:xfrm>
              <a:off x="8829368" y="1622326"/>
              <a:ext cx="1406862" cy="2733203"/>
              <a:chOff x="8829368" y="1622326"/>
              <a:chExt cx="1406862" cy="2733203"/>
            </a:xfrm>
          </p:grpSpPr>
          <p:pic>
            <p:nvPicPr>
              <p:cNvPr id="7" name="Picture 6">
                <a:extLst>
                  <a:ext uri="{FF2B5EF4-FFF2-40B4-BE49-F238E27FC236}">
                    <a16:creationId xmlns:a16="http://schemas.microsoft.com/office/drawing/2014/main" id="{89BBF8C5-9A27-6496-96D4-6BFF944271EA}"/>
                  </a:ext>
                </a:extLst>
              </p:cNvPr>
              <p:cNvPicPr>
                <a:picLocks noChangeAspect="1"/>
              </p:cNvPicPr>
              <p:nvPr/>
            </p:nvPicPr>
            <p:blipFill>
              <a:blip r:embed="rId10"/>
              <a:srcRect/>
              <a:stretch/>
            </p:blipFill>
            <p:spPr>
              <a:xfrm>
                <a:off x="8829368" y="2245236"/>
                <a:ext cx="1406862" cy="2110293"/>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BBC8BE8-0EB0-E80C-C01F-C4707226E9D7}"/>
                      </a:ext>
                    </a:extLst>
                  </p:cNvPr>
                  <p:cNvSpPr txBox="1"/>
                  <p:nvPr/>
                </p:nvSpPr>
                <p:spPr>
                  <a:xfrm>
                    <a:off x="9045424"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𝑐</m:t>
                        </m:r>
                      </m:oMath>
                    </a14:m>
                    <a:endParaRPr lang="en-US" dirty="0"/>
                  </a:p>
                </p:txBody>
              </p:sp>
            </mc:Choice>
            <mc:Fallback xmlns="">
              <p:sp>
                <p:nvSpPr>
                  <p:cNvPr id="16" name="TextBox 15">
                    <a:extLst>
                      <a:ext uri="{FF2B5EF4-FFF2-40B4-BE49-F238E27FC236}">
                        <a16:creationId xmlns:a16="http://schemas.microsoft.com/office/drawing/2014/main" id="{1BBC8BE8-0EB0-E80C-C01F-C4707226E9D7}"/>
                      </a:ext>
                    </a:extLst>
                  </p:cNvPr>
                  <p:cNvSpPr txBox="1">
                    <a:spLocks noRot="1" noChangeAspect="1" noMove="1" noResize="1" noEditPoints="1" noAdjustHandles="1" noChangeArrowheads="1" noChangeShapeType="1" noTextEdit="1"/>
                  </p:cNvSpPr>
                  <p:nvPr/>
                </p:nvSpPr>
                <p:spPr>
                  <a:xfrm>
                    <a:off x="9045424" y="1622326"/>
                    <a:ext cx="974750" cy="369332"/>
                  </a:xfrm>
                  <a:prstGeom prst="rect">
                    <a:avLst/>
                  </a:prstGeom>
                  <a:blipFill>
                    <a:blip r:embed="rId11"/>
                    <a:stretch>
                      <a:fillRect l="-5128"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61E6C3D-C1FE-43D4-8E28-8F29F6B40901}"/>
                    </a:ext>
                  </a:extLst>
                </p:cNvPr>
                <p:cNvSpPr txBox="1"/>
                <p:nvPr/>
              </p:nvSpPr>
              <p:spPr>
                <a:xfrm>
                  <a:off x="9074885" y="4387857"/>
                  <a:ext cx="915828"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𝑐</m:t>
                            </m:r>
                          </m:sub>
                        </m:sSub>
                        <m:r>
                          <a:rPr lang="en-US" i="0" dirty="0" err="1">
                            <a:latin typeface="Cambria Math" panose="02040503050406030204" pitchFamily="18" charset="0"/>
                          </a:rPr>
                          <m:t>=3</m:t>
                        </m:r>
                      </m:oMath>
                    </m:oMathPara>
                  </a14:m>
                  <a:endParaRPr lang="en-US" dirty="0"/>
                </a:p>
              </p:txBody>
            </p:sp>
          </mc:Choice>
          <mc:Fallback xmlns="">
            <p:sp>
              <p:nvSpPr>
                <p:cNvPr id="25" name="TextBox 24">
                  <a:extLst>
                    <a:ext uri="{FF2B5EF4-FFF2-40B4-BE49-F238E27FC236}">
                      <a16:creationId xmlns:a16="http://schemas.microsoft.com/office/drawing/2014/main" id="{E61E6C3D-C1FE-43D4-8E28-8F29F6B40901}"/>
                    </a:ext>
                  </a:extLst>
                </p:cNvPr>
                <p:cNvSpPr txBox="1">
                  <a:spLocks noRot="1" noChangeAspect="1" noMove="1" noResize="1" noEditPoints="1" noAdjustHandles="1" noChangeArrowheads="1" noChangeShapeType="1" noTextEdit="1"/>
                </p:cNvSpPr>
                <p:nvPr/>
              </p:nvSpPr>
              <p:spPr>
                <a:xfrm>
                  <a:off x="9074885" y="4387857"/>
                  <a:ext cx="915828" cy="369332"/>
                </a:xfrm>
                <a:prstGeom prst="rect">
                  <a:avLst/>
                </a:prstGeom>
                <a:blipFill>
                  <a:blip r:embed="rId12"/>
                  <a:stretch>
                    <a:fillRect/>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588C920E-1FA4-F34A-EC41-67C023495B91}"/>
              </a:ext>
            </a:extLst>
          </p:cNvPr>
          <p:cNvGrpSpPr/>
          <p:nvPr/>
        </p:nvGrpSpPr>
        <p:grpSpPr>
          <a:xfrm>
            <a:off x="10552767" y="1622326"/>
            <a:ext cx="1285271" cy="3134863"/>
            <a:chOff x="10552767" y="1622326"/>
            <a:chExt cx="1285271" cy="3134863"/>
          </a:xfrm>
        </p:grpSpPr>
        <p:grpSp>
          <p:nvGrpSpPr>
            <p:cNvPr id="19" name="Group 18">
              <a:extLst>
                <a:ext uri="{FF2B5EF4-FFF2-40B4-BE49-F238E27FC236}">
                  <a16:creationId xmlns:a16="http://schemas.microsoft.com/office/drawing/2014/main" id="{3D3A8AF0-D67E-8A1F-8BAB-C32D25E47E82}"/>
                </a:ext>
              </a:extLst>
            </p:cNvPr>
            <p:cNvGrpSpPr/>
            <p:nvPr/>
          </p:nvGrpSpPr>
          <p:grpSpPr>
            <a:xfrm>
              <a:off x="10552767" y="1622326"/>
              <a:ext cx="1285271" cy="2719900"/>
              <a:chOff x="10552767" y="1622326"/>
              <a:chExt cx="1285271" cy="2719900"/>
            </a:xfrm>
          </p:grpSpPr>
          <p:pic>
            <p:nvPicPr>
              <p:cNvPr id="8" name="Picture 7">
                <a:extLst>
                  <a:ext uri="{FF2B5EF4-FFF2-40B4-BE49-F238E27FC236}">
                    <a16:creationId xmlns:a16="http://schemas.microsoft.com/office/drawing/2014/main" id="{4D029557-962B-3A5E-96C6-FAC4EFE2D5A1}"/>
                  </a:ext>
                </a:extLst>
              </p:cNvPr>
              <p:cNvPicPr>
                <a:picLocks noChangeAspect="1"/>
              </p:cNvPicPr>
              <p:nvPr/>
            </p:nvPicPr>
            <p:blipFill>
              <a:blip r:embed="rId13"/>
              <a:srcRect/>
              <a:stretch/>
            </p:blipFill>
            <p:spPr>
              <a:xfrm>
                <a:off x="10552767" y="2414320"/>
                <a:ext cx="1285271" cy="19279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FBEA6A0-114D-D8DD-F50B-174F313F1B9E}"/>
                      </a:ext>
                    </a:extLst>
                  </p:cNvPr>
                  <p:cNvSpPr txBox="1"/>
                  <p:nvPr/>
                </p:nvSpPr>
                <p:spPr>
                  <a:xfrm>
                    <a:off x="10708027" y="1622326"/>
                    <a:ext cx="974750" cy="369332"/>
                  </a:xfrm>
                  <a:prstGeom prst="rect">
                    <a:avLst/>
                  </a:prstGeom>
                  <a:noFill/>
                </p:spPr>
                <p:txBody>
                  <a:bodyPr wrap="square" lIns="0" rIns="0"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𝑑</m:t>
                        </m:r>
                      </m:oMath>
                    </a14:m>
                    <a:endParaRPr lang="en-US" dirty="0"/>
                  </a:p>
                </p:txBody>
              </p:sp>
            </mc:Choice>
            <mc:Fallback xmlns="">
              <p:sp>
                <p:nvSpPr>
                  <p:cNvPr id="14" name="TextBox 13">
                    <a:extLst>
                      <a:ext uri="{FF2B5EF4-FFF2-40B4-BE49-F238E27FC236}">
                        <a16:creationId xmlns:a16="http://schemas.microsoft.com/office/drawing/2014/main" id="{0FBEA6A0-114D-D8DD-F50B-174F313F1B9E}"/>
                      </a:ext>
                    </a:extLst>
                  </p:cNvPr>
                  <p:cNvSpPr txBox="1">
                    <a:spLocks noRot="1" noChangeAspect="1" noMove="1" noResize="1" noEditPoints="1" noAdjustHandles="1" noChangeArrowheads="1" noChangeShapeType="1" noTextEdit="1"/>
                  </p:cNvSpPr>
                  <p:nvPr/>
                </p:nvSpPr>
                <p:spPr>
                  <a:xfrm>
                    <a:off x="10708027" y="1622326"/>
                    <a:ext cx="974750" cy="369332"/>
                  </a:xfrm>
                  <a:prstGeom prst="rect">
                    <a:avLst/>
                  </a:prstGeom>
                  <a:blipFill>
                    <a:blip r:embed="rId14"/>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59A268A-26DA-86A3-25F4-E17F62BC3CDE}"/>
                    </a:ext>
                  </a:extLst>
                </p:cNvPr>
                <p:cNvSpPr txBox="1"/>
                <p:nvPr/>
              </p:nvSpPr>
              <p:spPr>
                <a:xfrm>
                  <a:off x="10722773" y="4387857"/>
                  <a:ext cx="94525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𝑑</m:t>
                            </m:r>
                          </m:sub>
                        </m:sSub>
                        <m:r>
                          <a:rPr lang="en-US" i="0" dirty="0" err="1">
                            <a:latin typeface="Cambria Math" panose="02040503050406030204" pitchFamily="18" charset="0"/>
                          </a:rPr>
                          <m:t>=2</m:t>
                        </m:r>
                      </m:oMath>
                    </m:oMathPara>
                  </a14:m>
                  <a:endParaRPr lang="en-US" dirty="0"/>
                </a:p>
              </p:txBody>
            </p:sp>
          </mc:Choice>
          <mc:Fallback xmlns="">
            <p:sp>
              <p:nvSpPr>
                <p:cNvPr id="26" name="TextBox 25">
                  <a:extLst>
                    <a:ext uri="{FF2B5EF4-FFF2-40B4-BE49-F238E27FC236}">
                      <a16:creationId xmlns:a16="http://schemas.microsoft.com/office/drawing/2014/main" id="{759A268A-26DA-86A3-25F4-E17F62BC3CDE}"/>
                    </a:ext>
                  </a:extLst>
                </p:cNvPr>
                <p:cNvSpPr txBox="1">
                  <a:spLocks noRot="1" noChangeAspect="1" noMove="1" noResize="1" noEditPoints="1" noAdjustHandles="1" noChangeArrowheads="1" noChangeShapeType="1" noTextEdit="1"/>
                </p:cNvSpPr>
                <p:nvPr/>
              </p:nvSpPr>
              <p:spPr>
                <a:xfrm>
                  <a:off x="10722773" y="4387857"/>
                  <a:ext cx="945259" cy="369332"/>
                </a:xfrm>
                <a:prstGeom prst="rect">
                  <a:avLst/>
                </a:prstGeom>
                <a:blipFill>
                  <a:blip r:embed="rId15"/>
                  <a:stretch>
                    <a:fillRect/>
                  </a:stretch>
                </a:blipFill>
              </p:spPr>
              <p:txBody>
                <a:bodyPr/>
                <a:lstStyle/>
                <a:p>
                  <a:r>
                    <a:rPr lang="en-US">
                      <a:noFill/>
                    </a:rPr>
                    <a:t> </a:t>
                  </a:r>
                </a:p>
              </p:txBody>
            </p:sp>
          </mc:Fallback>
        </mc:AlternateContent>
      </p:grpSp>
      <p:sp>
        <p:nvSpPr>
          <p:cNvPr id="32" name="TextBox 31">
            <a:extLst>
              <a:ext uri="{FF2B5EF4-FFF2-40B4-BE49-F238E27FC236}">
                <a16:creationId xmlns:a16="http://schemas.microsoft.com/office/drawing/2014/main" id="{90D275ED-A131-4335-CAC9-B2264007A00B}"/>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2823708697"/>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B7FC-D490-3F27-B89B-336F7ACAEB3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71C068C-154E-E103-5825-B45736239C77}"/>
              </a:ext>
            </a:extLst>
          </p:cNvPr>
          <p:cNvSpPr>
            <a:spLocks noGrp="1"/>
          </p:cNvSpPr>
          <p:nvPr>
            <p:ph type="sldNum" sz="quarter" idx="12"/>
          </p:nvPr>
        </p:nvSpPr>
        <p:spPr/>
        <p:txBody>
          <a:bodyPr/>
          <a:lstStyle/>
          <a:p>
            <a:fld id="{387B101D-DD3C-9947-BBAC-237D8FE858E0}" type="slidenum">
              <a:rPr lang="en-US" smtClean="0"/>
              <a:t>25</a:t>
            </a:fld>
            <a:endParaRPr lang="en-US"/>
          </a:p>
        </p:txBody>
      </p:sp>
      <p:grpSp>
        <p:nvGrpSpPr>
          <p:cNvPr id="29" name="Group 28">
            <a:extLst>
              <a:ext uri="{FF2B5EF4-FFF2-40B4-BE49-F238E27FC236}">
                <a16:creationId xmlns:a16="http://schemas.microsoft.com/office/drawing/2014/main" id="{784DAB6B-FAF4-A165-A987-E6AC07CA3A62}"/>
              </a:ext>
            </a:extLst>
          </p:cNvPr>
          <p:cNvGrpSpPr/>
          <p:nvPr/>
        </p:nvGrpSpPr>
        <p:grpSpPr>
          <a:xfrm>
            <a:off x="7492181" y="1622326"/>
            <a:ext cx="1079127" cy="3134863"/>
            <a:chOff x="7492181" y="1622326"/>
            <a:chExt cx="1079127" cy="313486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4A66A64-6130-0C90-991A-C6DDD224708E}"/>
                    </a:ext>
                  </a:extLst>
                </p:cNvPr>
                <p:cNvSpPr txBox="1"/>
                <p:nvPr/>
              </p:nvSpPr>
              <p:spPr>
                <a:xfrm>
                  <a:off x="7562706" y="4387857"/>
                  <a:ext cx="938077"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𝑏</m:t>
                            </m:r>
                          </m:sub>
                        </m:sSub>
                        <m:r>
                          <a:rPr lang="en-US" i="0" dirty="0" err="1">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74A66A64-6130-0C90-991A-C6DDD224708E}"/>
                    </a:ext>
                  </a:extLst>
                </p:cNvPr>
                <p:cNvSpPr txBox="1">
                  <a:spLocks noRot="1" noChangeAspect="1" noMove="1" noResize="1" noEditPoints="1" noAdjustHandles="1" noChangeArrowheads="1" noChangeShapeType="1" noTextEdit="1"/>
                </p:cNvSpPr>
                <p:nvPr/>
              </p:nvSpPr>
              <p:spPr>
                <a:xfrm>
                  <a:off x="7562706" y="4387857"/>
                  <a:ext cx="938077" cy="369332"/>
                </a:xfrm>
                <a:prstGeom prst="rect">
                  <a:avLst/>
                </a:prstGeom>
                <a:blipFill>
                  <a:blip r:embed="rId2"/>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DD06D945-0BAB-7DC5-F10B-BACB00F4ADEA}"/>
                </a:ext>
              </a:extLst>
            </p:cNvPr>
            <p:cNvGrpSpPr/>
            <p:nvPr/>
          </p:nvGrpSpPr>
          <p:grpSpPr>
            <a:xfrm>
              <a:off x="7492181" y="1622326"/>
              <a:ext cx="1079127" cy="2719899"/>
              <a:chOff x="7492181" y="1622326"/>
              <a:chExt cx="1079127" cy="2719899"/>
            </a:xfrm>
          </p:grpSpPr>
          <p:pic>
            <p:nvPicPr>
              <p:cNvPr id="4" name="Picture 3">
                <a:extLst>
                  <a:ext uri="{FF2B5EF4-FFF2-40B4-BE49-F238E27FC236}">
                    <a16:creationId xmlns:a16="http://schemas.microsoft.com/office/drawing/2014/main" id="{058D6B64-9322-9E2E-1518-2CC21BBF5FD7}"/>
                  </a:ext>
                </a:extLst>
              </p:cNvPr>
              <p:cNvPicPr>
                <a:picLocks noChangeAspect="1"/>
              </p:cNvPicPr>
              <p:nvPr/>
            </p:nvPicPr>
            <p:blipFill>
              <a:blip r:embed="rId3"/>
              <a:srcRect/>
              <a:stretch/>
            </p:blipFill>
            <p:spPr>
              <a:xfrm>
                <a:off x="7492181" y="2723535"/>
                <a:ext cx="1079127" cy="161869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D5FFA94-EB00-D6CA-FA75-51AA9BA59245}"/>
                      </a:ext>
                    </a:extLst>
                  </p:cNvPr>
                  <p:cNvSpPr txBox="1"/>
                  <p:nvPr/>
                </p:nvSpPr>
                <p:spPr>
                  <a:xfrm>
                    <a:off x="7544369"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𝑏</m:t>
                        </m:r>
                      </m:oMath>
                    </a14:m>
                    <a:endParaRPr lang="en-US" dirty="0"/>
                  </a:p>
                </p:txBody>
              </p:sp>
            </mc:Choice>
            <mc:Fallback xmlns="">
              <p:sp>
                <p:nvSpPr>
                  <p:cNvPr id="13" name="TextBox 12">
                    <a:extLst>
                      <a:ext uri="{FF2B5EF4-FFF2-40B4-BE49-F238E27FC236}">
                        <a16:creationId xmlns:a16="http://schemas.microsoft.com/office/drawing/2014/main" id="{AD5FFA94-EB00-D6CA-FA75-51AA9BA59245}"/>
                      </a:ext>
                    </a:extLst>
                  </p:cNvPr>
                  <p:cNvSpPr txBox="1">
                    <a:spLocks noRot="1" noChangeAspect="1" noMove="1" noResize="1" noEditPoints="1" noAdjustHandles="1" noChangeArrowheads="1" noChangeShapeType="1" noTextEdit="1"/>
                  </p:cNvSpPr>
                  <p:nvPr/>
                </p:nvSpPr>
                <p:spPr>
                  <a:xfrm>
                    <a:off x="7544369" y="1622326"/>
                    <a:ext cx="974750" cy="369332"/>
                  </a:xfrm>
                  <a:prstGeom prst="rect">
                    <a:avLst/>
                  </a:prstGeom>
                  <a:blipFill>
                    <a:blip r:embed="rId4"/>
                    <a:stretch>
                      <a:fillRect l="-5195" t="-6667" b="-26667"/>
                    </a:stretch>
                  </a:blipFill>
                </p:spPr>
                <p:txBody>
                  <a:bodyPr/>
                  <a:lstStyle/>
                  <a:p>
                    <a:r>
                      <a:rPr lang="en-US">
                        <a:noFill/>
                      </a:rPr>
                      <a:t> </a:t>
                    </a:r>
                  </a:p>
                </p:txBody>
              </p:sp>
            </mc:Fallback>
          </mc:AlternateContent>
        </p:grpSp>
      </p:grpSp>
      <p:grpSp>
        <p:nvGrpSpPr>
          <p:cNvPr id="27" name="Group 26">
            <a:extLst>
              <a:ext uri="{FF2B5EF4-FFF2-40B4-BE49-F238E27FC236}">
                <a16:creationId xmlns:a16="http://schemas.microsoft.com/office/drawing/2014/main" id="{4BEDE0F1-48C6-C7B0-24AF-CC52E458BB9B}"/>
              </a:ext>
            </a:extLst>
          </p:cNvPr>
          <p:cNvGrpSpPr/>
          <p:nvPr/>
        </p:nvGrpSpPr>
        <p:grpSpPr>
          <a:xfrm>
            <a:off x="5779989" y="1622326"/>
            <a:ext cx="1535209" cy="3134863"/>
            <a:chOff x="5779989" y="1622326"/>
            <a:chExt cx="1535209" cy="3134863"/>
          </a:xfrm>
        </p:grpSpPr>
        <p:grpSp>
          <p:nvGrpSpPr>
            <p:cNvPr id="23" name="Group 22">
              <a:extLst>
                <a:ext uri="{FF2B5EF4-FFF2-40B4-BE49-F238E27FC236}">
                  <a16:creationId xmlns:a16="http://schemas.microsoft.com/office/drawing/2014/main" id="{D89603CE-0513-820F-3334-5E72A79F84B1}"/>
                </a:ext>
              </a:extLst>
            </p:cNvPr>
            <p:cNvGrpSpPr/>
            <p:nvPr/>
          </p:nvGrpSpPr>
          <p:grpSpPr>
            <a:xfrm>
              <a:off x="5779989" y="1622326"/>
              <a:ext cx="1535209" cy="2719900"/>
              <a:chOff x="5779989" y="1622326"/>
              <a:chExt cx="1535209" cy="2719900"/>
            </a:xfrm>
          </p:grpSpPr>
          <p:pic>
            <p:nvPicPr>
              <p:cNvPr id="6" name="Picture 5">
                <a:extLst>
                  <a:ext uri="{FF2B5EF4-FFF2-40B4-BE49-F238E27FC236}">
                    <a16:creationId xmlns:a16="http://schemas.microsoft.com/office/drawing/2014/main" id="{2F4BEAFF-6724-E2F9-364F-2CEFE1DCAC4A}"/>
                  </a:ext>
                </a:extLst>
              </p:cNvPr>
              <p:cNvPicPr>
                <a:picLocks noChangeAspect="1"/>
              </p:cNvPicPr>
              <p:nvPr/>
            </p:nvPicPr>
            <p:blipFill>
              <a:blip r:embed="rId5"/>
              <a:stretch>
                <a:fillRect/>
              </a:stretch>
            </p:blipFill>
            <p:spPr>
              <a:xfrm>
                <a:off x="5779989" y="2039412"/>
                <a:ext cx="1535209" cy="230281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7A61A2E-93E2-DAAF-C0EC-4DAB53236F2F}"/>
                      </a:ext>
                    </a:extLst>
                  </p:cNvPr>
                  <p:cNvSpPr txBox="1"/>
                  <p:nvPr/>
                </p:nvSpPr>
                <p:spPr>
                  <a:xfrm>
                    <a:off x="6060218"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𝑎</m:t>
                        </m:r>
                      </m:oMath>
                    </a14:m>
                    <a:endParaRPr lang="en-US" dirty="0"/>
                  </a:p>
                </p:txBody>
              </p:sp>
            </mc:Choice>
            <mc:Fallback xmlns="">
              <p:sp>
                <p:nvSpPr>
                  <p:cNvPr id="12" name="TextBox 11">
                    <a:extLst>
                      <a:ext uri="{FF2B5EF4-FFF2-40B4-BE49-F238E27FC236}">
                        <a16:creationId xmlns:a16="http://schemas.microsoft.com/office/drawing/2014/main" id="{37A61A2E-93E2-DAAF-C0EC-4DAB53236F2F}"/>
                      </a:ext>
                    </a:extLst>
                  </p:cNvPr>
                  <p:cNvSpPr txBox="1">
                    <a:spLocks noRot="1" noChangeAspect="1" noMove="1" noResize="1" noEditPoints="1" noAdjustHandles="1" noChangeArrowheads="1" noChangeShapeType="1" noTextEdit="1"/>
                  </p:cNvSpPr>
                  <p:nvPr/>
                </p:nvSpPr>
                <p:spPr>
                  <a:xfrm>
                    <a:off x="6060218" y="1622326"/>
                    <a:ext cx="974750" cy="369332"/>
                  </a:xfrm>
                  <a:prstGeom prst="rect">
                    <a:avLst/>
                  </a:prstGeom>
                  <a:blipFill>
                    <a:blip r:embed="rId6"/>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432DD1-4ABC-2763-74C2-14B88C4507C2}"/>
                    </a:ext>
                  </a:extLst>
                </p:cNvPr>
                <p:cNvSpPr txBox="1"/>
                <p:nvPr/>
              </p:nvSpPr>
              <p:spPr>
                <a:xfrm>
                  <a:off x="6079869" y="4387857"/>
                  <a:ext cx="93544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𝑎</m:t>
                            </m:r>
                          </m:sub>
                        </m:sSub>
                        <m:r>
                          <a:rPr lang="en-US" i="0" dirty="0" err="1">
                            <a:latin typeface="Cambria Math" panose="02040503050406030204" pitchFamily="18" charset="0"/>
                          </a:rPr>
                          <m:t>=4</m:t>
                        </m:r>
                      </m:oMath>
                    </m:oMathPara>
                  </a14:m>
                  <a:endParaRPr lang="en-US" dirty="0"/>
                </a:p>
              </p:txBody>
            </p:sp>
          </mc:Choice>
          <mc:Fallback xmlns="">
            <p:sp>
              <p:nvSpPr>
                <p:cNvPr id="24" name="TextBox 23">
                  <a:extLst>
                    <a:ext uri="{FF2B5EF4-FFF2-40B4-BE49-F238E27FC236}">
                      <a16:creationId xmlns:a16="http://schemas.microsoft.com/office/drawing/2014/main" id="{B0432DD1-4ABC-2763-74C2-14B88C4507C2}"/>
                    </a:ext>
                  </a:extLst>
                </p:cNvPr>
                <p:cNvSpPr txBox="1">
                  <a:spLocks noRot="1" noChangeAspect="1" noMove="1" noResize="1" noEditPoints="1" noAdjustHandles="1" noChangeArrowheads="1" noChangeShapeType="1" noTextEdit="1"/>
                </p:cNvSpPr>
                <p:nvPr/>
              </p:nvSpPr>
              <p:spPr>
                <a:xfrm>
                  <a:off x="6079869" y="4387857"/>
                  <a:ext cx="935449" cy="369332"/>
                </a:xfrm>
                <a:prstGeom prst="rect">
                  <a:avLst/>
                </a:prstGeom>
                <a:blipFill>
                  <a:blip r:embed="rId7"/>
                  <a:stretch>
                    <a:fillRect/>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B9EF9473-3D05-4943-377B-C9B59FA0F1D3}"/>
              </a:ext>
            </a:extLst>
          </p:cNvPr>
          <p:cNvGrpSpPr/>
          <p:nvPr/>
        </p:nvGrpSpPr>
        <p:grpSpPr>
          <a:xfrm>
            <a:off x="8829368" y="1622326"/>
            <a:ext cx="1406862" cy="3134863"/>
            <a:chOff x="8829368" y="1622326"/>
            <a:chExt cx="1406862" cy="3134863"/>
          </a:xfrm>
        </p:grpSpPr>
        <p:grpSp>
          <p:nvGrpSpPr>
            <p:cNvPr id="20" name="Group 19">
              <a:extLst>
                <a:ext uri="{FF2B5EF4-FFF2-40B4-BE49-F238E27FC236}">
                  <a16:creationId xmlns:a16="http://schemas.microsoft.com/office/drawing/2014/main" id="{209D31B7-1AB1-2391-2574-4A2B9443B201}"/>
                </a:ext>
              </a:extLst>
            </p:cNvPr>
            <p:cNvGrpSpPr/>
            <p:nvPr/>
          </p:nvGrpSpPr>
          <p:grpSpPr>
            <a:xfrm>
              <a:off x="8829368" y="1622326"/>
              <a:ext cx="1406862" cy="2733203"/>
              <a:chOff x="8829368" y="1622326"/>
              <a:chExt cx="1406862" cy="2733203"/>
            </a:xfrm>
          </p:grpSpPr>
          <p:pic>
            <p:nvPicPr>
              <p:cNvPr id="7" name="Picture 6">
                <a:extLst>
                  <a:ext uri="{FF2B5EF4-FFF2-40B4-BE49-F238E27FC236}">
                    <a16:creationId xmlns:a16="http://schemas.microsoft.com/office/drawing/2014/main" id="{EFB18B8F-976B-7D28-C6CE-39D5BFF20860}"/>
                  </a:ext>
                </a:extLst>
              </p:cNvPr>
              <p:cNvPicPr>
                <a:picLocks noChangeAspect="1"/>
              </p:cNvPicPr>
              <p:nvPr/>
            </p:nvPicPr>
            <p:blipFill>
              <a:blip r:embed="rId8"/>
              <a:srcRect/>
              <a:stretch/>
            </p:blipFill>
            <p:spPr>
              <a:xfrm>
                <a:off x="8829368" y="2245236"/>
                <a:ext cx="1406862" cy="2110293"/>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2249A6D-69EA-A613-3ABC-749D339B1B49}"/>
                      </a:ext>
                    </a:extLst>
                  </p:cNvPr>
                  <p:cNvSpPr txBox="1"/>
                  <p:nvPr/>
                </p:nvSpPr>
                <p:spPr>
                  <a:xfrm>
                    <a:off x="9045424"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𝑐</m:t>
                        </m:r>
                      </m:oMath>
                    </a14:m>
                    <a:endParaRPr lang="en-US" dirty="0"/>
                  </a:p>
                </p:txBody>
              </p:sp>
            </mc:Choice>
            <mc:Fallback xmlns="">
              <p:sp>
                <p:nvSpPr>
                  <p:cNvPr id="16" name="TextBox 15">
                    <a:extLst>
                      <a:ext uri="{FF2B5EF4-FFF2-40B4-BE49-F238E27FC236}">
                        <a16:creationId xmlns:a16="http://schemas.microsoft.com/office/drawing/2014/main" id="{82249A6D-69EA-A613-3ABC-749D339B1B49}"/>
                      </a:ext>
                    </a:extLst>
                  </p:cNvPr>
                  <p:cNvSpPr txBox="1">
                    <a:spLocks noRot="1" noChangeAspect="1" noMove="1" noResize="1" noEditPoints="1" noAdjustHandles="1" noChangeArrowheads="1" noChangeShapeType="1" noTextEdit="1"/>
                  </p:cNvSpPr>
                  <p:nvPr/>
                </p:nvSpPr>
                <p:spPr>
                  <a:xfrm>
                    <a:off x="9045424" y="1622326"/>
                    <a:ext cx="974750" cy="369332"/>
                  </a:xfrm>
                  <a:prstGeom prst="rect">
                    <a:avLst/>
                  </a:prstGeom>
                  <a:blipFill>
                    <a:blip r:embed="rId9"/>
                    <a:stretch>
                      <a:fillRect l="-5128"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BC5700C-1370-56E3-2F96-7F0A7DB30E2C}"/>
                    </a:ext>
                  </a:extLst>
                </p:cNvPr>
                <p:cNvSpPr txBox="1"/>
                <p:nvPr/>
              </p:nvSpPr>
              <p:spPr>
                <a:xfrm>
                  <a:off x="9074885" y="4387857"/>
                  <a:ext cx="915828"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𝑐</m:t>
                            </m:r>
                          </m:sub>
                        </m:sSub>
                        <m:r>
                          <a:rPr lang="en-US" i="0" dirty="0" err="1">
                            <a:latin typeface="Cambria Math" panose="02040503050406030204" pitchFamily="18" charset="0"/>
                          </a:rPr>
                          <m:t>=3</m:t>
                        </m:r>
                      </m:oMath>
                    </m:oMathPara>
                  </a14:m>
                  <a:endParaRPr lang="en-US" dirty="0"/>
                </a:p>
              </p:txBody>
            </p:sp>
          </mc:Choice>
          <mc:Fallback xmlns="">
            <p:sp>
              <p:nvSpPr>
                <p:cNvPr id="25" name="TextBox 24">
                  <a:extLst>
                    <a:ext uri="{FF2B5EF4-FFF2-40B4-BE49-F238E27FC236}">
                      <a16:creationId xmlns:a16="http://schemas.microsoft.com/office/drawing/2014/main" id="{8BC5700C-1370-56E3-2F96-7F0A7DB30E2C}"/>
                    </a:ext>
                  </a:extLst>
                </p:cNvPr>
                <p:cNvSpPr txBox="1">
                  <a:spLocks noRot="1" noChangeAspect="1" noMove="1" noResize="1" noEditPoints="1" noAdjustHandles="1" noChangeArrowheads="1" noChangeShapeType="1" noTextEdit="1"/>
                </p:cNvSpPr>
                <p:nvPr/>
              </p:nvSpPr>
              <p:spPr>
                <a:xfrm>
                  <a:off x="9074885" y="4387857"/>
                  <a:ext cx="915828" cy="369332"/>
                </a:xfrm>
                <a:prstGeom prst="rect">
                  <a:avLst/>
                </a:prstGeom>
                <a:blipFill>
                  <a:blip r:embed="rId10"/>
                  <a:stretch>
                    <a:fillRect/>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B423179A-53A7-9219-628F-45E3D40779F9}"/>
              </a:ext>
            </a:extLst>
          </p:cNvPr>
          <p:cNvGrpSpPr/>
          <p:nvPr/>
        </p:nvGrpSpPr>
        <p:grpSpPr>
          <a:xfrm>
            <a:off x="10552767" y="1622326"/>
            <a:ext cx="1285271" cy="3134863"/>
            <a:chOff x="10552767" y="1622326"/>
            <a:chExt cx="1285271" cy="3134863"/>
          </a:xfrm>
        </p:grpSpPr>
        <p:grpSp>
          <p:nvGrpSpPr>
            <p:cNvPr id="19" name="Group 18">
              <a:extLst>
                <a:ext uri="{FF2B5EF4-FFF2-40B4-BE49-F238E27FC236}">
                  <a16:creationId xmlns:a16="http://schemas.microsoft.com/office/drawing/2014/main" id="{5B08FF49-4AC2-37A5-86DB-8528BD80C422}"/>
                </a:ext>
              </a:extLst>
            </p:cNvPr>
            <p:cNvGrpSpPr/>
            <p:nvPr/>
          </p:nvGrpSpPr>
          <p:grpSpPr>
            <a:xfrm>
              <a:off x="10552767" y="1622326"/>
              <a:ext cx="1285271" cy="2719900"/>
              <a:chOff x="10552767" y="1622326"/>
              <a:chExt cx="1285271" cy="2719900"/>
            </a:xfrm>
          </p:grpSpPr>
          <p:pic>
            <p:nvPicPr>
              <p:cNvPr id="8" name="Picture 7">
                <a:extLst>
                  <a:ext uri="{FF2B5EF4-FFF2-40B4-BE49-F238E27FC236}">
                    <a16:creationId xmlns:a16="http://schemas.microsoft.com/office/drawing/2014/main" id="{5EDD5761-B475-685D-F675-29724A0C4CA2}"/>
                  </a:ext>
                </a:extLst>
              </p:cNvPr>
              <p:cNvPicPr>
                <a:picLocks noChangeAspect="1"/>
              </p:cNvPicPr>
              <p:nvPr/>
            </p:nvPicPr>
            <p:blipFill>
              <a:blip r:embed="rId11"/>
              <a:srcRect/>
              <a:stretch/>
            </p:blipFill>
            <p:spPr>
              <a:xfrm>
                <a:off x="10552767" y="2414320"/>
                <a:ext cx="1285271" cy="19279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30C2C00-C734-57CB-83C1-F3DBEF3B1069}"/>
                      </a:ext>
                    </a:extLst>
                  </p:cNvPr>
                  <p:cNvSpPr txBox="1"/>
                  <p:nvPr/>
                </p:nvSpPr>
                <p:spPr>
                  <a:xfrm>
                    <a:off x="10708027" y="1622326"/>
                    <a:ext cx="974750" cy="369332"/>
                  </a:xfrm>
                  <a:prstGeom prst="rect">
                    <a:avLst/>
                  </a:prstGeom>
                  <a:noFill/>
                </p:spPr>
                <p:txBody>
                  <a:bodyPr wrap="square" lIns="0" rIns="0"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𝑑</m:t>
                        </m:r>
                      </m:oMath>
                    </a14:m>
                    <a:endParaRPr lang="en-US" dirty="0"/>
                  </a:p>
                </p:txBody>
              </p:sp>
            </mc:Choice>
            <mc:Fallback xmlns="">
              <p:sp>
                <p:nvSpPr>
                  <p:cNvPr id="14" name="TextBox 13">
                    <a:extLst>
                      <a:ext uri="{FF2B5EF4-FFF2-40B4-BE49-F238E27FC236}">
                        <a16:creationId xmlns:a16="http://schemas.microsoft.com/office/drawing/2014/main" id="{530C2C00-C734-57CB-83C1-F3DBEF3B1069}"/>
                      </a:ext>
                    </a:extLst>
                  </p:cNvPr>
                  <p:cNvSpPr txBox="1">
                    <a:spLocks noRot="1" noChangeAspect="1" noMove="1" noResize="1" noEditPoints="1" noAdjustHandles="1" noChangeArrowheads="1" noChangeShapeType="1" noTextEdit="1"/>
                  </p:cNvSpPr>
                  <p:nvPr/>
                </p:nvSpPr>
                <p:spPr>
                  <a:xfrm>
                    <a:off x="10708027" y="1622326"/>
                    <a:ext cx="974750" cy="369332"/>
                  </a:xfrm>
                  <a:prstGeom prst="rect">
                    <a:avLst/>
                  </a:prstGeom>
                  <a:blipFill>
                    <a:blip r:embed="rId12"/>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5CCAAE-19A9-C0DA-79D6-BDE98707638E}"/>
                    </a:ext>
                  </a:extLst>
                </p:cNvPr>
                <p:cNvSpPr txBox="1"/>
                <p:nvPr/>
              </p:nvSpPr>
              <p:spPr>
                <a:xfrm>
                  <a:off x="10722773" y="4387857"/>
                  <a:ext cx="94525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𝑑</m:t>
                            </m:r>
                          </m:sub>
                        </m:sSub>
                        <m:r>
                          <a:rPr lang="en-US" i="0" dirty="0" err="1">
                            <a:latin typeface="Cambria Math" panose="02040503050406030204" pitchFamily="18" charset="0"/>
                          </a:rPr>
                          <m:t>=2</m:t>
                        </m:r>
                      </m:oMath>
                    </m:oMathPara>
                  </a14:m>
                  <a:endParaRPr lang="en-US" dirty="0"/>
                </a:p>
              </p:txBody>
            </p:sp>
          </mc:Choice>
          <mc:Fallback xmlns="">
            <p:sp>
              <p:nvSpPr>
                <p:cNvPr id="26" name="TextBox 25">
                  <a:extLst>
                    <a:ext uri="{FF2B5EF4-FFF2-40B4-BE49-F238E27FC236}">
                      <a16:creationId xmlns:a16="http://schemas.microsoft.com/office/drawing/2014/main" id="{205CCAAE-19A9-C0DA-79D6-BDE98707638E}"/>
                    </a:ext>
                  </a:extLst>
                </p:cNvPr>
                <p:cNvSpPr txBox="1">
                  <a:spLocks noRot="1" noChangeAspect="1" noMove="1" noResize="1" noEditPoints="1" noAdjustHandles="1" noChangeArrowheads="1" noChangeShapeType="1" noTextEdit="1"/>
                </p:cNvSpPr>
                <p:nvPr/>
              </p:nvSpPr>
              <p:spPr>
                <a:xfrm>
                  <a:off x="10722773" y="4387857"/>
                  <a:ext cx="945259" cy="369332"/>
                </a:xfrm>
                <a:prstGeom prst="rect">
                  <a:avLst/>
                </a:prstGeom>
                <a:blipFill>
                  <a:blip r:embed="rId1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CCFA52E-8D63-F23F-300B-460F48505BEB}"/>
                  </a:ext>
                </a:extLst>
              </p:cNvPr>
              <p:cNvSpPr txBox="1"/>
              <p:nvPr/>
            </p:nvSpPr>
            <p:spPr>
              <a:xfrm>
                <a:off x="1639233" y="5319252"/>
                <a:ext cx="5539465" cy="484620"/>
              </a:xfrm>
              <a:prstGeom prst="rect">
                <a:avLst/>
              </a:prstGeom>
              <a:noFill/>
            </p:spPr>
            <p:txBody>
              <a:bodyPr wrap="none" rtlCol="0">
                <a:spAutoFit/>
              </a:bodyPr>
              <a:lstStyle/>
              <a:p>
                <a:r>
                  <a:rPr lang="en-US" i="1" dirty="0">
                    <a:solidFill>
                      <a:srgbClr val="0432FF"/>
                    </a:solidFill>
                  </a:rPr>
                  <a:t>So, the probability of Player </a:t>
                </a:r>
                <a14:m>
                  <m:oMath xmlns:m="http://schemas.openxmlformats.org/officeDocument/2006/math">
                    <m:r>
                      <a:rPr lang="en-US" i="1" dirty="0" smtClean="0">
                        <a:solidFill>
                          <a:srgbClr val="0432FF"/>
                        </a:solidFill>
                        <a:latin typeface="Cambria Math" panose="02040503050406030204" pitchFamily="18" charset="0"/>
                      </a:rPr>
                      <m:t>𝑎</m:t>
                    </m:r>
                  </m:oMath>
                </a14:m>
                <a:r>
                  <a:rPr lang="en-US" i="1" dirty="0">
                    <a:solidFill>
                      <a:srgbClr val="0432FF"/>
                    </a:solidFill>
                  </a:rPr>
                  <a:t> being drawn is  </a:t>
                </a:r>
                <a14:m>
                  <m:oMath xmlns:m="http://schemas.openxmlformats.org/officeDocument/2006/math">
                    <m:f>
                      <m:fPr>
                        <m:ctrlPr>
                          <a:rPr lang="en-US" i="1" dirty="0" smtClean="0">
                            <a:solidFill>
                              <a:srgbClr val="0432FF"/>
                            </a:solidFill>
                            <a:latin typeface="Cambria Math" panose="02040503050406030204" pitchFamily="18" charset="0"/>
                          </a:rPr>
                        </m:ctrlPr>
                      </m:fPr>
                      <m:num>
                        <m:r>
                          <a:rPr lang="en-US" i="1" dirty="0" smtClean="0">
                            <a:solidFill>
                              <a:srgbClr val="0432FF"/>
                            </a:solidFill>
                            <a:latin typeface="Cambria Math" panose="02040503050406030204" pitchFamily="18" charset="0"/>
                          </a:rPr>
                          <m:t>4</m:t>
                        </m:r>
                      </m:num>
                      <m:den>
                        <m:r>
                          <a:rPr lang="en-US" i="1" dirty="0" smtClean="0">
                            <a:solidFill>
                              <a:srgbClr val="0432FF"/>
                            </a:solidFill>
                            <a:latin typeface="Cambria Math" panose="02040503050406030204" pitchFamily="18" charset="0"/>
                          </a:rPr>
                          <m:t>10</m:t>
                        </m:r>
                      </m:den>
                    </m:f>
                    <m:r>
                      <a:rPr lang="en-US" i="1" dirty="0" smtClean="0">
                        <a:solidFill>
                          <a:srgbClr val="0432FF"/>
                        </a:solidFill>
                        <a:latin typeface="Cambria Math" panose="02040503050406030204" pitchFamily="18" charset="0"/>
                      </a:rPr>
                      <m:t>=0.4</m:t>
                    </m:r>
                    <m:r>
                      <a:rPr lang="en-US" b="0" i="1" dirty="0" smtClean="0">
                        <a:solidFill>
                          <a:srgbClr val="0432FF"/>
                        </a:solidFill>
                        <a:latin typeface="Cambria Math" panose="02040503050406030204" pitchFamily="18" charset="0"/>
                      </a:rPr>
                      <m:t>0</m:t>
                    </m:r>
                  </m:oMath>
                </a14:m>
                <a:endParaRPr lang="en-US" i="1" dirty="0">
                  <a:solidFill>
                    <a:srgbClr val="0432FF"/>
                  </a:solidFill>
                </a:endParaRPr>
              </a:p>
            </p:txBody>
          </p:sp>
        </mc:Choice>
        <mc:Fallback xmlns="">
          <p:sp>
            <p:nvSpPr>
              <p:cNvPr id="2" name="TextBox 1">
                <a:extLst>
                  <a:ext uri="{FF2B5EF4-FFF2-40B4-BE49-F238E27FC236}">
                    <a16:creationId xmlns:a16="http://schemas.microsoft.com/office/drawing/2014/main" id="{3CCFA52E-8D63-F23F-300B-460F48505BEB}"/>
                  </a:ext>
                </a:extLst>
              </p:cNvPr>
              <p:cNvSpPr txBox="1">
                <a:spLocks noRot="1" noChangeAspect="1" noMove="1" noResize="1" noEditPoints="1" noAdjustHandles="1" noChangeArrowheads="1" noChangeShapeType="1" noTextEdit="1"/>
              </p:cNvSpPr>
              <p:nvPr/>
            </p:nvSpPr>
            <p:spPr>
              <a:xfrm>
                <a:off x="1639233" y="5319252"/>
                <a:ext cx="5539465" cy="484620"/>
              </a:xfrm>
              <a:prstGeom prst="rect">
                <a:avLst/>
              </a:prstGeom>
              <a:blipFill>
                <a:blip r:embed="rId14"/>
                <a:stretch>
                  <a:fillRect l="-1144"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2991F53-A0C6-5894-1689-9C7E6B8747D8}"/>
                  </a:ext>
                </a:extLst>
              </p:cNvPr>
              <p:cNvSpPr txBox="1"/>
              <p:nvPr/>
            </p:nvSpPr>
            <p:spPr>
              <a:xfrm>
                <a:off x="748480" y="1622326"/>
                <a:ext cx="8316861"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We introduce a Player draw – simple example</a:t>
                </a:r>
              </a:p>
              <a:p>
                <a:pPr marL="285750" indent="-285750">
                  <a:lnSpc>
                    <a:spcPct val="200000"/>
                  </a:lnSpc>
                  <a:buFont typeface="Arial" panose="020B0604020202020204" pitchFamily="34" charset="0"/>
                  <a:buChar char="•"/>
                </a:pPr>
                <a14:m>
                  <m:oMath xmlns:m="http://schemas.openxmlformats.org/officeDocument/2006/math">
                    <m:r>
                      <a:rPr lang="en-US" i="1" dirty="0" smtClean="0">
                        <a:solidFill>
                          <a:srgbClr val="0432FF"/>
                        </a:solidFill>
                        <a:latin typeface="Cambria Math" panose="02040503050406030204" pitchFamily="18" charset="0"/>
                      </a:rPr>
                      <m:t>𝐾</m:t>
                    </m:r>
                    <m:r>
                      <a:rPr lang="en-US" i="0" dirty="0" smtClean="0">
                        <a:solidFill>
                          <a:srgbClr val="0432FF"/>
                        </a:solidFill>
                        <a:latin typeface="Cambria Math" panose="02040503050406030204" pitchFamily="18" charset="0"/>
                      </a:rPr>
                      <m:t>=2</m:t>
                    </m:r>
                  </m:oMath>
                </a14:m>
                <a:r>
                  <a:rPr lang="en-US" dirty="0"/>
                  <a:t> draft picks</a:t>
                </a:r>
              </a:p>
              <a:p>
                <a:pPr marL="285750" indent="-285750">
                  <a:lnSpc>
                    <a:spcPct val="200000"/>
                  </a:lnSpc>
                  <a:buFont typeface="Arial" panose="020B0604020202020204" pitchFamily="34" charset="0"/>
                  <a:buChar char="•"/>
                </a:pPr>
                <a:r>
                  <a:rPr lang="en-US" dirty="0"/>
                  <a:t>Assign weights to each player</a:t>
                </a:r>
              </a:p>
              <a:p>
                <a:pPr marL="285750" indent="-285750">
                  <a:lnSpc>
                    <a:spcPct val="200000"/>
                  </a:lnSpc>
                  <a:buFont typeface="Arial" panose="020B0604020202020204" pitchFamily="34" charset="0"/>
                  <a:buChar char="•"/>
                </a:pPr>
                <a:r>
                  <a:rPr lang="en-US" dirty="0"/>
                  <a:t>Each player’s probability of being drawn is </a:t>
                </a:r>
              </a:p>
              <a:p>
                <a:pPr>
                  <a:lnSpc>
                    <a:spcPct val="200000"/>
                  </a:lnSpc>
                </a:pPr>
                <a:r>
                  <a:rPr lang="en-US" dirty="0"/>
                  <a:t>	His weight / total pool weight</a:t>
                </a:r>
              </a:p>
            </p:txBody>
          </p:sp>
        </mc:Choice>
        <mc:Fallback xmlns="">
          <p:sp>
            <p:nvSpPr>
              <p:cNvPr id="3" name="TextBox 2">
                <a:extLst>
                  <a:ext uri="{FF2B5EF4-FFF2-40B4-BE49-F238E27FC236}">
                    <a16:creationId xmlns:a16="http://schemas.microsoft.com/office/drawing/2014/main" id="{52991F53-A0C6-5894-1689-9C7E6B8747D8}"/>
                  </a:ext>
                </a:extLst>
              </p:cNvPr>
              <p:cNvSpPr txBox="1">
                <a:spLocks noRot="1" noChangeAspect="1" noMove="1" noResize="1" noEditPoints="1" noAdjustHandles="1" noChangeArrowheads="1" noChangeShapeType="1" noTextEdit="1"/>
              </p:cNvSpPr>
              <p:nvPr/>
            </p:nvSpPr>
            <p:spPr>
              <a:xfrm>
                <a:off x="748480" y="1622326"/>
                <a:ext cx="8316861" cy="2787751"/>
              </a:xfrm>
              <a:prstGeom prst="rect">
                <a:avLst/>
              </a:prstGeom>
              <a:blipFill>
                <a:blip r:embed="rId15"/>
                <a:stretch>
                  <a:fillRect l="-611" b="-2262"/>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42FE17EF-14C4-B232-9C44-9CA76A54C849}"/>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739155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90F5E-F469-FC7A-62F4-26EBC8B7A491}"/>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CA34B1-4DAA-0C65-91B2-0B74E7503CBF}"/>
              </a:ext>
            </a:extLst>
          </p:cNvPr>
          <p:cNvSpPr>
            <a:spLocks noGrp="1"/>
          </p:cNvSpPr>
          <p:nvPr>
            <p:ph type="sldNum" sz="quarter" idx="12"/>
          </p:nvPr>
        </p:nvSpPr>
        <p:spPr/>
        <p:txBody>
          <a:bodyPr/>
          <a:lstStyle/>
          <a:p>
            <a:fld id="{387B101D-DD3C-9947-BBAC-237D8FE858E0}" type="slidenum">
              <a:rPr lang="en-US" smtClean="0"/>
              <a:t>26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F45250-9E40-8836-CC43-C72E2F07D798}"/>
                  </a:ext>
                </a:extLst>
              </p:cNvPr>
              <p:cNvSpPr txBox="1"/>
              <p:nvPr/>
            </p:nvSpPr>
            <p:spPr>
              <a:xfrm>
                <a:off x="748480" y="1622326"/>
                <a:ext cx="8316861" cy="5717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At the first draw, Player </a:t>
                </a:r>
                <a14:m>
                  <m:oMath xmlns:m="http://schemas.openxmlformats.org/officeDocument/2006/math">
                    <m:r>
                      <a:rPr lang="en-US" i="1" dirty="0" smtClean="0">
                        <a:latin typeface="Cambria Math" panose="02040503050406030204" pitchFamily="18" charset="0"/>
                      </a:rPr>
                      <m:t>𝑐</m:t>
                    </m:r>
                  </m:oMath>
                </a14:m>
                <a:r>
                  <a:rPr lang="en-US" dirty="0"/>
                  <a:t> is selected</a:t>
                </a:r>
              </a:p>
            </p:txBody>
          </p:sp>
        </mc:Choice>
        <mc:Fallback xmlns="">
          <p:sp>
            <p:nvSpPr>
              <p:cNvPr id="5" name="TextBox 4">
                <a:extLst>
                  <a:ext uri="{FF2B5EF4-FFF2-40B4-BE49-F238E27FC236}">
                    <a16:creationId xmlns:a16="http://schemas.microsoft.com/office/drawing/2014/main" id="{81F45250-9E40-8836-CC43-C72E2F07D798}"/>
                  </a:ext>
                </a:extLst>
              </p:cNvPr>
              <p:cNvSpPr txBox="1">
                <a:spLocks noRot="1" noChangeAspect="1" noMove="1" noResize="1" noEditPoints="1" noAdjustHandles="1" noChangeArrowheads="1" noChangeShapeType="1" noTextEdit="1"/>
              </p:cNvSpPr>
              <p:nvPr/>
            </p:nvSpPr>
            <p:spPr>
              <a:xfrm>
                <a:off x="748480" y="1622326"/>
                <a:ext cx="8316861" cy="571760"/>
              </a:xfrm>
              <a:prstGeom prst="rect">
                <a:avLst/>
              </a:prstGeom>
              <a:blipFill>
                <a:blip r:embed="rId2"/>
                <a:stretch>
                  <a:fillRect l="-611" b="-1521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97493257-45CD-95DE-6214-A099D1D0A868}"/>
              </a:ext>
            </a:extLst>
          </p:cNvPr>
          <p:cNvGrpSpPr/>
          <p:nvPr/>
        </p:nvGrpSpPr>
        <p:grpSpPr>
          <a:xfrm>
            <a:off x="7492181" y="1622326"/>
            <a:ext cx="1079127" cy="3134863"/>
            <a:chOff x="7492181" y="1622326"/>
            <a:chExt cx="1079127" cy="313486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5636D1-7CB5-35E9-0D8D-E21C136C6F56}"/>
                    </a:ext>
                  </a:extLst>
                </p:cNvPr>
                <p:cNvSpPr txBox="1"/>
                <p:nvPr/>
              </p:nvSpPr>
              <p:spPr>
                <a:xfrm>
                  <a:off x="7562706" y="4387857"/>
                  <a:ext cx="938077"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𝑏</m:t>
                            </m:r>
                          </m:sub>
                        </m:sSub>
                        <m:r>
                          <a:rPr lang="en-US" i="0" dirty="0" err="1">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4E5636D1-7CB5-35E9-0D8D-E21C136C6F56}"/>
                    </a:ext>
                  </a:extLst>
                </p:cNvPr>
                <p:cNvSpPr txBox="1">
                  <a:spLocks noRot="1" noChangeAspect="1" noMove="1" noResize="1" noEditPoints="1" noAdjustHandles="1" noChangeArrowheads="1" noChangeShapeType="1" noTextEdit="1"/>
                </p:cNvSpPr>
                <p:nvPr/>
              </p:nvSpPr>
              <p:spPr>
                <a:xfrm>
                  <a:off x="7562706" y="4387857"/>
                  <a:ext cx="938077" cy="369332"/>
                </a:xfrm>
                <a:prstGeom prst="rect">
                  <a:avLst/>
                </a:prstGeom>
                <a:blipFill>
                  <a:blip r:embed="rId3"/>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B1B2B871-3658-F124-60BE-3E52E1345322}"/>
                </a:ext>
              </a:extLst>
            </p:cNvPr>
            <p:cNvGrpSpPr/>
            <p:nvPr/>
          </p:nvGrpSpPr>
          <p:grpSpPr>
            <a:xfrm>
              <a:off x="7492181" y="1622326"/>
              <a:ext cx="1079127" cy="2719899"/>
              <a:chOff x="7492181" y="1622326"/>
              <a:chExt cx="1079127" cy="2719899"/>
            </a:xfrm>
          </p:grpSpPr>
          <p:pic>
            <p:nvPicPr>
              <p:cNvPr id="4" name="Picture 3">
                <a:extLst>
                  <a:ext uri="{FF2B5EF4-FFF2-40B4-BE49-F238E27FC236}">
                    <a16:creationId xmlns:a16="http://schemas.microsoft.com/office/drawing/2014/main" id="{C89805FB-9209-15C7-3E5B-F7BE7DE362C8}"/>
                  </a:ext>
                </a:extLst>
              </p:cNvPr>
              <p:cNvPicPr>
                <a:picLocks noChangeAspect="1"/>
              </p:cNvPicPr>
              <p:nvPr/>
            </p:nvPicPr>
            <p:blipFill>
              <a:blip r:embed="rId4"/>
              <a:srcRect/>
              <a:stretch/>
            </p:blipFill>
            <p:spPr>
              <a:xfrm>
                <a:off x="7492181" y="2723535"/>
                <a:ext cx="1079127" cy="161869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5768094-2250-746A-B48C-91108CF032AB}"/>
                      </a:ext>
                    </a:extLst>
                  </p:cNvPr>
                  <p:cNvSpPr txBox="1"/>
                  <p:nvPr/>
                </p:nvSpPr>
                <p:spPr>
                  <a:xfrm>
                    <a:off x="7544369"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𝑏</m:t>
                        </m:r>
                      </m:oMath>
                    </a14:m>
                    <a:endParaRPr lang="en-US" dirty="0"/>
                  </a:p>
                </p:txBody>
              </p:sp>
            </mc:Choice>
            <mc:Fallback xmlns="">
              <p:sp>
                <p:nvSpPr>
                  <p:cNvPr id="13" name="TextBox 12">
                    <a:extLst>
                      <a:ext uri="{FF2B5EF4-FFF2-40B4-BE49-F238E27FC236}">
                        <a16:creationId xmlns:a16="http://schemas.microsoft.com/office/drawing/2014/main" id="{E5768094-2250-746A-B48C-91108CF032AB}"/>
                      </a:ext>
                    </a:extLst>
                  </p:cNvPr>
                  <p:cNvSpPr txBox="1">
                    <a:spLocks noRot="1" noChangeAspect="1" noMove="1" noResize="1" noEditPoints="1" noAdjustHandles="1" noChangeArrowheads="1" noChangeShapeType="1" noTextEdit="1"/>
                  </p:cNvSpPr>
                  <p:nvPr/>
                </p:nvSpPr>
                <p:spPr>
                  <a:xfrm>
                    <a:off x="7544369" y="1622326"/>
                    <a:ext cx="974750" cy="369332"/>
                  </a:xfrm>
                  <a:prstGeom prst="rect">
                    <a:avLst/>
                  </a:prstGeom>
                  <a:blipFill>
                    <a:blip r:embed="rId5"/>
                    <a:stretch>
                      <a:fillRect l="-5195" t="-6667" b="-26667"/>
                    </a:stretch>
                  </a:blipFill>
                </p:spPr>
                <p:txBody>
                  <a:bodyPr/>
                  <a:lstStyle/>
                  <a:p>
                    <a:r>
                      <a:rPr lang="en-US">
                        <a:noFill/>
                      </a:rPr>
                      <a:t> </a:t>
                    </a:r>
                  </a:p>
                </p:txBody>
              </p:sp>
            </mc:Fallback>
          </mc:AlternateContent>
        </p:grpSp>
      </p:grpSp>
      <p:grpSp>
        <p:nvGrpSpPr>
          <p:cNvPr id="27" name="Group 26">
            <a:extLst>
              <a:ext uri="{FF2B5EF4-FFF2-40B4-BE49-F238E27FC236}">
                <a16:creationId xmlns:a16="http://schemas.microsoft.com/office/drawing/2014/main" id="{1C9360B9-6025-A90F-578A-2317D2844BBE}"/>
              </a:ext>
            </a:extLst>
          </p:cNvPr>
          <p:cNvGrpSpPr/>
          <p:nvPr/>
        </p:nvGrpSpPr>
        <p:grpSpPr>
          <a:xfrm>
            <a:off x="5779989" y="1622326"/>
            <a:ext cx="1535209" cy="3134863"/>
            <a:chOff x="5779989" y="1622326"/>
            <a:chExt cx="1535209" cy="3134863"/>
          </a:xfrm>
        </p:grpSpPr>
        <p:grpSp>
          <p:nvGrpSpPr>
            <p:cNvPr id="23" name="Group 22">
              <a:extLst>
                <a:ext uri="{FF2B5EF4-FFF2-40B4-BE49-F238E27FC236}">
                  <a16:creationId xmlns:a16="http://schemas.microsoft.com/office/drawing/2014/main" id="{D9C743EE-A14B-7AE9-4574-D4113A9A4449}"/>
                </a:ext>
              </a:extLst>
            </p:cNvPr>
            <p:cNvGrpSpPr/>
            <p:nvPr/>
          </p:nvGrpSpPr>
          <p:grpSpPr>
            <a:xfrm>
              <a:off x="5779989" y="1622326"/>
              <a:ext cx="1535209" cy="2719900"/>
              <a:chOff x="5779989" y="1622326"/>
              <a:chExt cx="1535209" cy="2719900"/>
            </a:xfrm>
          </p:grpSpPr>
          <p:pic>
            <p:nvPicPr>
              <p:cNvPr id="6" name="Picture 5">
                <a:extLst>
                  <a:ext uri="{FF2B5EF4-FFF2-40B4-BE49-F238E27FC236}">
                    <a16:creationId xmlns:a16="http://schemas.microsoft.com/office/drawing/2014/main" id="{4E5FDE79-E131-3147-70A2-B77A00305ADF}"/>
                  </a:ext>
                </a:extLst>
              </p:cNvPr>
              <p:cNvPicPr>
                <a:picLocks noChangeAspect="1"/>
              </p:cNvPicPr>
              <p:nvPr/>
            </p:nvPicPr>
            <p:blipFill>
              <a:blip r:embed="rId6"/>
              <a:stretch>
                <a:fillRect/>
              </a:stretch>
            </p:blipFill>
            <p:spPr>
              <a:xfrm>
                <a:off x="5779989" y="2039412"/>
                <a:ext cx="1535209" cy="230281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53581EF-E4F3-D269-7AB4-893118AAC429}"/>
                      </a:ext>
                    </a:extLst>
                  </p:cNvPr>
                  <p:cNvSpPr txBox="1"/>
                  <p:nvPr/>
                </p:nvSpPr>
                <p:spPr>
                  <a:xfrm>
                    <a:off x="6060218"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𝑎</m:t>
                        </m:r>
                      </m:oMath>
                    </a14:m>
                    <a:endParaRPr lang="en-US" dirty="0"/>
                  </a:p>
                </p:txBody>
              </p:sp>
            </mc:Choice>
            <mc:Fallback xmlns="">
              <p:sp>
                <p:nvSpPr>
                  <p:cNvPr id="12" name="TextBox 11">
                    <a:extLst>
                      <a:ext uri="{FF2B5EF4-FFF2-40B4-BE49-F238E27FC236}">
                        <a16:creationId xmlns:a16="http://schemas.microsoft.com/office/drawing/2014/main" id="{953581EF-E4F3-D269-7AB4-893118AAC429}"/>
                      </a:ext>
                    </a:extLst>
                  </p:cNvPr>
                  <p:cNvSpPr txBox="1">
                    <a:spLocks noRot="1" noChangeAspect="1" noMove="1" noResize="1" noEditPoints="1" noAdjustHandles="1" noChangeArrowheads="1" noChangeShapeType="1" noTextEdit="1"/>
                  </p:cNvSpPr>
                  <p:nvPr/>
                </p:nvSpPr>
                <p:spPr>
                  <a:xfrm>
                    <a:off x="6060218" y="1622326"/>
                    <a:ext cx="974750" cy="369332"/>
                  </a:xfrm>
                  <a:prstGeom prst="rect">
                    <a:avLst/>
                  </a:prstGeom>
                  <a:blipFill>
                    <a:blip r:embed="rId7"/>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7A2CE6F-0665-D523-47F2-F4C28F5FC83F}"/>
                    </a:ext>
                  </a:extLst>
                </p:cNvPr>
                <p:cNvSpPr txBox="1"/>
                <p:nvPr/>
              </p:nvSpPr>
              <p:spPr>
                <a:xfrm>
                  <a:off x="6079869" y="4387857"/>
                  <a:ext cx="93544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𝑎</m:t>
                            </m:r>
                          </m:sub>
                        </m:sSub>
                        <m:r>
                          <a:rPr lang="en-US" i="0" dirty="0" err="1">
                            <a:latin typeface="Cambria Math" panose="02040503050406030204" pitchFamily="18" charset="0"/>
                          </a:rPr>
                          <m:t>=4</m:t>
                        </m:r>
                      </m:oMath>
                    </m:oMathPara>
                  </a14:m>
                  <a:endParaRPr lang="en-US" dirty="0"/>
                </a:p>
              </p:txBody>
            </p:sp>
          </mc:Choice>
          <mc:Fallback xmlns="">
            <p:sp>
              <p:nvSpPr>
                <p:cNvPr id="24" name="TextBox 23">
                  <a:extLst>
                    <a:ext uri="{FF2B5EF4-FFF2-40B4-BE49-F238E27FC236}">
                      <a16:creationId xmlns:a16="http://schemas.microsoft.com/office/drawing/2014/main" id="{C7A2CE6F-0665-D523-47F2-F4C28F5FC83F}"/>
                    </a:ext>
                  </a:extLst>
                </p:cNvPr>
                <p:cNvSpPr txBox="1">
                  <a:spLocks noRot="1" noChangeAspect="1" noMove="1" noResize="1" noEditPoints="1" noAdjustHandles="1" noChangeArrowheads="1" noChangeShapeType="1" noTextEdit="1"/>
                </p:cNvSpPr>
                <p:nvPr/>
              </p:nvSpPr>
              <p:spPr>
                <a:xfrm>
                  <a:off x="6079869" y="4387857"/>
                  <a:ext cx="935449" cy="369332"/>
                </a:xfrm>
                <a:prstGeom prst="rect">
                  <a:avLst/>
                </a:prstGeom>
                <a:blipFill>
                  <a:blip r:embed="rId8"/>
                  <a:stretch>
                    <a:fillRect/>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D0DBA451-79A0-EC94-C8A2-FDB2C66A7E14}"/>
              </a:ext>
            </a:extLst>
          </p:cNvPr>
          <p:cNvGrpSpPr/>
          <p:nvPr/>
        </p:nvGrpSpPr>
        <p:grpSpPr>
          <a:xfrm>
            <a:off x="8829368" y="1622326"/>
            <a:ext cx="1406862" cy="3134863"/>
            <a:chOff x="8829368" y="1622326"/>
            <a:chExt cx="1406862" cy="3134863"/>
          </a:xfrm>
        </p:grpSpPr>
        <p:grpSp>
          <p:nvGrpSpPr>
            <p:cNvPr id="20" name="Group 19">
              <a:extLst>
                <a:ext uri="{FF2B5EF4-FFF2-40B4-BE49-F238E27FC236}">
                  <a16:creationId xmlns:a16="http://schemas.microsoft.com/office/drawing/2014/main" id="{0990D7C6-E04D-C4EB-E44A-6BE61E3209CE}"/>
                </a:ext>
              </a:extLst>
            </p:cNvPr>
            <p:cNvGrpSpPr/>
            <p:nvPr/>
          </p:nvGrpSpPr>
          <p:grpSpPr>
            <a:xfrm>
              <a:off x="8829368" y="1622326"/>
              <a:ext cx="1406862" cy="2733203"/>
              <a:chOff x="8829368" y="1622326"/>
              <a:chExt cx="1406862" cy="2733203"/>
            </a:xfrm>
          </p:grpSpPr>
          <p:pic>
            <p:nvPicPr>
              <p:cNvPr id="7" name="Picture 6">
                <a:extLst>
                  <a:ext uri="{FF2B5EF4-FFF2-40B4-BE49-F238E27FC236}">
                    <a16:creationId xmlns:a16="http://schemas.microsoft.com/office/drawing/2014/main" id="{1C7776DE-650D-AFB0-2D98-5F7AA9F536CD}"/>
                  </a:ext>
                </a:extLst>
              </p:cNvPr>
              <p:cNvPicPr>
                <a:picLocks noChangeAspect="1"/>
              </p:cNvPicPr>
              <p:nvPr/>
            </p:nvPicPr>
            <p:blipFill>
              <a:blip r:embed="rId9"/>
              <a:srcRect/>
              <a:stretch/>
            </p:blipFill>
            <p:spPr>
              <a:xfrm>
                <a:off x="8829368" y="2245236"/>
                <a:ext cx="1406862" cy="2110293"/>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B5CCE8-6F6D-5013-7E62-5E56F4027D44}"/>
                      </a:ext>
                    </a:extLst>
                  </p:cNvPr>
                  <p:cNvSpPr txBox="1"/>
                  <p:nvPr/>
                </p:nvSpPr>
                <p:spPr>
                  <a:xfrm>
                    <a:off x="9045424"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𝑐</m:t>
                        </m:r>
                      </m:oMath>
                    </a14:m>
                    <a:endParaRPr lang="en-US" dirty="0"/>
                  </a:p>
                </p:txBody>
              </p:sp>
            </mc:Choice>
            <mc:Fallback xmlns="">
              <p:sp>
                <p:nvSpPr>
                  <p:cNvPr id="16" name="TextBox 15">
                    <a:extLst>
                      <a:ext uri="{FF2B5EF4-FFF2-40B4-BE49-F238E27FC236}">
                        <a16:creationId xmlns:a16="http://schemas.microsoft.com/office/drawing/2014/main" id="{56B5CCE8-6F6D-5013-7E62-5E56F4027D44}"/>
                      </a:ext>
                    </a:extLst>
                  </p:cNvPr>
                  <p:cNvSpPr txBox="1">
                    <a:spLocks noRot="1" noChangeAspect="1" noMove="1" noResize="1" noEditPoints="1" noAdjustHandles="1" noChangeArrowheads="1" noChangeShapeType="1" noTextEdit="1"/>
                  </p:cNvSpPr>
                  <p:nvPr/>
                </p:nvSpPr>
                <p:spPr>
                  <a:xfrm>
                    <a:off x="9045424" y="1622326"/>
                    <a:ext cx="974750" cy="369332"/>
                  </a:xfrm>
                  <a:prstGeom prst="rect">
                    <a:avLst/>
                  </a:prstGeom>
                  <a:blipFill>
                    <a:blip r:embed="rId10"/>
                    <a:stretch>
                      <a:fillRect l="-5128"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12AF7CA-3547-5661-FB62-69BEFBAB2781}"/>
                    </a:ext>
                  </a:extLst>
                </p:cNvPr>
                <p:cNvSpPr txBox="1"/>
                <p:nvPr/>
              </p:nvSpPr>
              <p:spPr>
                <a:xfrm>
                  <a:off x="9074885" y="4387857"/>
                  <a:ext cx="915828"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𝑐</m:t>
                            </m:r>
                          </m:sub>
                        </m:sSub>
                        <m:r>
                          <a:rPr lang="en-US" i="0" dirty="0" err="1">
                            <a:latin typeface="Cambria Math" panose="02040503050406030204" pitchFamily="18" charset="0"/>
                          </a:rPr>
                          <m:t>=3</m:t>
                        </m:r>
                      </m:oMath>
                    </m:oMathPara>
                  </a14:m>
                  <a:endParaRPr lang="en-US" dirty="0"/>
                </a:p>
              </p:txBody>
            </p:sp>
          </mc:Choice>
          <mc:Fallback xmlns="">
            <p:sp>
              <p:nvSpPr>
                <p:cNvPr id="25" name="TextBox 24">
                  <a:extLst>
                    <a:ext uri="{FF2B5EF4-FFF2-40B4-BE49-F238E27FC236}">
                      <a16:creationId xmlns:a16="http://schemas.microsoft.com/office/drawing/2014/main" id="{A12AF7CA-3547-5661-FB62-69BEFBAB2781}"/>
                    </a:ext>
                  </a:extLst>
                </p:cNvPr>
                <p:cNvSpPr txBox="1">
                  <a:spLocks noRot="1" noChangeAspect="1" noMove="1" noResize="1" noEditPoints="1" noAdjustHandles="1" noChangeArrowheads="1" noChangeShapeType="1" noTextEdit="1"/>
                </p:cNvSpPr>
                <p:nvPr/>
              </p:nvSpPr>
              <p:spPr>
                <a:xfrm>
                  <a:off x="9074885" y="4387857"/>
                  <a:ext cx="915828" cy="369332"/>
                </a:xfrm>
                <a:prstGeom prst="rect">
                  <a:avLst/>
                </a:prstGeom>
                <a:blipFill>
                  <a:blip r:embed="rId11"/>
                  <a:stretch>
                    <a:fillRect/>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AF581607-840A-A543-D188-10AA5CB77700}"/>
              </a:ext>
            </a:extLst>
          </p:cNvPr>
          <p:cNvGrpSpPr/>
          <p:nvPr/>
        </p:nvGrpSpPr>
        <p:grpSpPr>
          <a:xfrm>
            <a:off x="10552767" y="1622326"/>
            <a:ext cx="1285271" cy="3134863"/>
            <a:chOff x="10552767" y="1622326"/>
            <a:chExt cx="1285271" cy="3134863"/>
          </a:xfrm>
        </p:grpSpPr>
        <p:grpSp>
          <p:nvGrpSpPr>
            <p:cNvPr id="19" name="Group 18">
              <a:extLst>
                <a:ext uri="{FF2B5EF4-FFF2-40B4-BE49-F238E27FC236}">
                  <a16:creationId xmlns:a16="http://schemas.microsoft.com/office/drawing/2014/main" id="{7F5F7FC5-1B54-3A74-DE12-C28311CE7D7A}"/>
                </a:ext>
              </a:extLst>
            </p:cNvPr>
            <p:cNvGrpSpPr/>
            <p:nvPr/>
          </p:nvGrpSpPr>
          <p:grpSpPr>
            <a:xfrm>
              <a:off x="10552767" y="1622326"/>
              <a:ext cx="1285271" cy="2719900"/>
              <a:chOff x="10552767" y="1622326"/>
              <a:chExt cx="1285271" cy="2719900"/>
            </a:xfrm>
          </p:grpSpPr>
          <p:pic>
            <p:nvPicPr>
              <p:cNvPr id="8" name="Picture 7">
                <a:extLst>
                  <a:ext uri="{FF2B5EF4-FFF2-40B4-BE49-F238E27FC236}">
                    <a16:creationId xmlns:a16="http://schemas.microsoft.com/office/drawing/2014/main" id="{9DDF2A2E-D719-FD2C-E124-7A6E8934E94A}"/>
                  </a:ext>
                </a:extLst>
              </p:cNvPr>
              <p:cNvPicPr>
                <a:picLocks noChangeAspect="1"/>
              </p:cNvPicPr>
              <p:nvPr/>
            </p:nvPicPr>
            <p:blipFill>
              <a:blip r:embed="rId12"/>
              <a:srcRect/>
              <a:stretch/>
            </p:blipFill>
            <p:spPr>
              <a:xfrm>
                <a:off x="10552767" y="2414320"/>
                <a:ext cx="1285271" cy="19279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B2F0CA6-D11F-82A6-DEF5-D6CCD1D52CA5}"/>
                      </a:ext>
                    </a:extLst>
                  </p:cNvPr>
                  <p:cNvSpPr txBox="1"/>
                  <p:nvPr/>
                </p:nvSpPr>
                <p:spPr>
                  <a:xfrm>
                    <a:off x="10708027" y="1622326"/>
                    <a:ext cx="974750" cy="369332"/>
                  </a:xfrm>
                  <a:prstGeom prst="rect">
                    <a:avLst/>
                  </a:prstGeom>
                  <a:noFill/>
                </p:spPr>
                <p:txBody>
                  <a:bodyPr wrap="square" lIns="0" rIns="0"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𝑑</m:t>
                        </m:r>
                      </m:oMath>
                    </a14:m>
                    <a:endParaRPr lang="en-US" dirty="0"/>
                  </a:p>
                </p:txBody>
              </p:sp>
            </mc:Choice>
            <mc:Fallback xmlns="">
              <p:sp>
                <p:nvSpPr>
                  <p:cNvPr id="14" name="TextBox 13">
                    <a:extLst>
                      <a:ext uri="{FF2B5EF4-FFF2-40B4-BE49-F238E27FC236}">
                        <a16:creationId xmlns:a16="http://schemas.microsoft.com/office/drawing/2014/main" id="{1B2F0CA6-D11F-82A6-DEF5-D6CCD1D52CA5}"/>
                      </a:ext>
                    </a:extLst>
                  </p:cNvPr>
                  <p:cNvSpPr txBox="1">
                    <a:spLocks noRot="1" noChangeAspect="1" noMove="1" noResize="1" noEditPoints="1" noAdjustHandles="1" noChangeArrowheads="1" noChangeShapeType="1" noTextEdit="1"/>
                  </p:cNvSpPr>
                  <p:nvPr/>
                </p:nvSpPr>
                <p:spPr>
                  <a:xfrm>
                    <a:off x="10708027" y="1622326"/>
                    <a:ext cx="974750" cy="369332"/>
                  </a:xfrm>
                  <a:prstGeom prst="rect">
                    <a:avLst/>
                  </a:prstGeom>
                  <a:blipFill>
                    <a:blip r:embed="rId13"/>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F9C8CFE-983B-F680-27A2-E8A99BC6C531}"/>
                    </a:ext>
                  </a:extLst>
                </p:cNvPr>
                <p:cNvSpPr txBox="1"/>
                <p:nvPr/>
              </p:nvSpPr>
              <p:spPr>
                <a:xfrm>
                  <a:off x="10722773" y="4387857"/>
                  <a:ext cx="94525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𝑑</m:t>
                            </m:r>
                          </m:sub>
                        </m:sSub>
                        <m:r>
                          <a:rPr lang="en-US" i="0" dirty="0" err="1">
                            <a:latin typeface="Cambria Math" panose="02040503050406030204" pitchFamily="18" charset="0"/>
                          </a:rPr>
                          <m:t>=2</m:t>
                        </m:r>
                      </m:oMath>
                    </m:oMathPara>
                  </a14:m>
                  <a:endParaRPr lang="en-US" dirty="0"/>
                </a:p>
              </p:txBody>
            </p:sp>
          </mc:Choice>
          <mc:Fallback xmlns="">
            <p:sp>
              <p:nvSpPr>
                <p:cNvPr id="26" name="TextBox 25">
                  <a:extLst>
                    <a:ext uri="{FF2B5EF4-FFF2-40B4-BE49-F238E27FC236}">
                      <a16:creationId xmlns:a16="http://schemas.microsoft.com/office/drawing/2014/main" id="{9F9C8CFE-983B-F680-27A2-E8A99BC6C531}"/>
                    </a:ext>
                  </a:extLst>
                </p:cNvPr>
                <p:cNvSpPr txBox="1">
                  <a:spLocks noRot="1" noChangeAspect="1" noMove="1" noResize="1" noEditPoints="1" noAdjustHandles="1" noChangeArrowheads="1" noChangeShapeType="1" noTextEdit="1"/>
                </p:cNvSpPr>
                <p:nvPr/>
              </p:nvSpPr>
              <p:spPr>
                <a:xfrm>
                  <a:off x="10722773" y="4387857"/>
                  <a:ext cx="945259" cy="369332"/>
                </a:xfrm>
                <a:prstGeom prst="rect">
                  <a:avLst/>
                </a:prstGeom>
                <a:blipFill>
                  <a:blip r:embed="rId14"/>
                  <a:stretch>
                    <a:fillRect/>
                  </a:stretch>
                </a:blipFill>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BDADBDF6-7245-AAF7-ED27-CF155E13C731}"/>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57322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F5B3-A222-6075-C07F-BB05396C242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C2A0EE2-3949-2FAC-0120-A9C335537C30}"/>
              </a:ext>
            </a:extLst>
          </p:cNvPr>
          <p:cNvSpPr>
            <a:spLocks noGrp="1"/>
          </p:cNvSpPr>
          <p:nvPr>
            <p:ph type="sldNum" sz="quarter" idx="12"/>
          </p:nvPr>
        </p:nvSpPr>
        <p:spPr/>
        <p:txBody>
          <a:bodyPr/>
          <a:lstStyle/>
          <a:p>
            <a:fld id="{387B101D-DD3C-9947-BBAC-237D8FE858E0}" type="slidenum">
              <a:rPr lang="en-US" smtClean="0"/>
              <a:t>27</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DB940E-9B5F-490B-B560-341F124B2353}"/>
                  </a:ext>
                </a:extLst>
              </p:cNvPr>
              <p:cNvSpPr txBox="1"/>
              <p:nvPr/>
            </p:nvSpPr>
            <p:spPr>
              <a:xfrm>
                <a:off x="748480" y="1622326"/>
                <a:ext cx="8316861" cy="167975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At the first draw, Player </a:t>
                </a:r>
                <a14:m>
                  <m:oMath xmlns:m="http://schemas.openxmlformats.org/officeDocument/2006/math">
                    <m:r>
                      <a:rPr lang="en-US" i="1" dirty="0" smtClean="0">
                        <a:latin typeface="Cambria Math" panose="02040503050406030204" pitchFamily="18" charset="0"/>
                      </a:rPr>
                      <m:t>𝑐</m:t>
                    </m:r>
                  </m:oMath>
                </a14:m>
                <a:r>
                  <a:rPr lang="en-US" dirty="0"/>
                  <a:t> is selected</a:t>
                </a:r>
              </a:p>
              <a:p>
                <a:pPr marL="285750" indent="-285750">
                  <a:lnSpc>
                    <a:spcPct val="200000"/>
                  </a:lnSpc>
                  <a:buFont typeface="Arial" panose="020B0604020202020204" pitchFamily="34" charset="0"/>
                  <a:buChar char="•"/>
                </a:pPr>
                <a:r>
                  <a:rPr lang="en-US" dirty="0"/>
                  <a:t>Player </a:t>
                </a:r>
                <a14:m>
                  <m:oMath xmlns:m="http://schemas.openxmlformats.org/officeDocument/2006/math">
                    <m:r>
                      <a:rPr lang="en-US" i="1" dirty="0" smtClean="0">
                        <a:latin typeface="Cambria Math" panose="02040503050406030204" pitchFamily="18" charset="0"/>
                      </a:rPr>
                      <m:t>𝑐</m:t>
                    </m:r>
                  </m:oMath>
                </a14:m>
                <a:r>
                  <a:rPr lang="en-US" dirty="0"/>
                  <a:t> is removed from the pool</a:t>
                </a:r>
              </a:p>
              <a:p>
                <a:pPr marL="285750" indent="-285750">
                  <a:lnSpc>
                    <a:spcPct val="200000"/>
                  </a:lnSpc>
                  <a:buFont typeface="Arial" panose="020B0604020202020204" pitchFamily="34" charset="0"/>
                  <a:buChar char="•"/>
                </a:pPr>
                <a:r>
                  <a:rPr lang="en-US" dirty="0"/>
                  <a:t>There is 1 draw left</a:t>
                </a:r>
              </a:p>
            </p:txBody>
          </p:sp>
        </mc:Choice>
        <mc:Fallback xmlns="">
          <p:sp>
            <p:nvSpPr>
              <p:cNvPr id="5" name="TextBox 4">
                <a:extLst>
                  <a:ext uri="{FF2B5EF4-FFF2-40B4-BE49-F238E27FC236}">
                    <a16:creationId xmlns:a16="http://schemas.microsoft.com/office/drawing/2014/main" id="{93DB940E-9B5F-490B-B560-341F124B2353}"/>
                  </a:ext>
                </a:extLst>
              </p:cNvPr>
              <p:cNvSpPr txBox="1">
                <a:spLocks noRot="1" noChangeAspect="1" noMove="1" noResize="1" noEditPoints="1" noAdjustHandles="1" noChangeArrowheads="1" noChangeShapeType="1" noTextEdit="1"/>
              </p:cNvSpPr>
              <p:nvPr/>
            </p:nvSpPr>
            <p:spPr>
              <a:xfrm>
                <a:off x="748480" y="1622326"/>
                <a:ext cx="8316861" cy="1679755"/>
              </a:xfrm>
              <a:prstGeom prst="rect">
                <a:avLst/>
              </a:prstGeom>
              <a:blipFill>
                <a:blip r:embed="rId2"/>
                <a:stretch>
                  <a:fillRect l="-611" b="-4478"/>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B0BED07D-C489-A3A2-0492-F54F40246AA2}"/>
              </a:ext>
            </a:extLst>
          </p:cNvPr>
          <p:cNvGrpSpPr/>
          <p:nvPr/>
        </p:nvGrpSpPr>
        <p:grpSpPr>
          <a:xfrm>
            <a:off x="7492181" y="1622326"/>
            <a:ext cx="1079127" cy="3134863"/>
            <a:chOff x="7492181" y="1622326"/>
            <a:chExt cx="1079127" cy="313486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335D4A-E73E-3C00-5BEE-562AEEF5E706}"/>
                    </a:ext>
                  </a:extLst>
                </p:cNvPr>
                <p:cNvSpPr txBox="1"/>
                <p:nvPr/>
              </p:nvSpPr>
              <p:spPr>
                <a:xfrm>
                  <a:off x="7562706" y="4387857"/>
                  <a:ext cx="938077"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𝑏</m:t>
                            </m:r>
                          </m:sub>
                        </m:sSub>
                        <m:r>
                          <a:rPr lang="en-US" i="0" dirty="0" err="1">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58335D4A-E73E-3C00-5BEE-562AEEF5E706}"/>
                    </a:ext>
                  </a:extLst>
                </p:cNvPr>
                <p:cNvSpPr txBox="1">
                  <a:spLocks noRot="1" noChangeAspect="1" noMove="1" noResize="1" noEditPoints="1" noAdjustHandles="1" noChangeArrowheads="1" noChangeShapeType="1" noTextEdit="1"/>
                </p:cNvSpPr>
                <p:nvPr/>
              </p:nvSpPr>
              <p:spPr>
                <a:xfrm>
                  <a:off x="7562706" y="4387857"/>
                  <a:ext cx="938077" cy="369332"/>
                </a:xfrm>
                <a:prstGeom prst="rect">
                  <a:avLst/>
                </a:prstGeom>
                <a:blipFill>
                  <a:blip r:embed="rId3"/>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54DEF21-7C61-E999-0537-6E8647C957CD}"/>
                </a:ext>
              </a:extLst>
            </p:cNvPr>
            <p:cNvGrpSpPr/>
            <p:nvPr/>
          </p:nvGrpSpPr>
          <p:grpSpPr>
            <a:xfrm>
              <a:off x="7492181" y="1622326"/>
              <a:ext cx="1079127" cy="2719899"/>
              <a:chOff x="7492181" y="1622326"/>
              <a:chExt cx="1079127" cy="2719899"/>
            </a:xfrm>
          </p:grpSpPr>
          <p:pic>
            <p:nvPicPr>
              <p:cNvPr id="4" name="Picture 3">
                <a:extLst>
                  <a:ext uri="{FF2B5EF4-FFF2-40B4-BE49-F238E27FC236}">
                    <a16:creationId xmlns:a16="http://schemas.microsoft.com/office/drawing/2014/main" id="{F6055F18-3220-F0C9-1D7E-E663847CC41C}"/>
                  </a:ext>
                </a:extLst>
              </p:cNvPr>
              <p:cNvPicPr>
                <a:picLocks noChangeAspect="1"/>
              </p:cNvPicPr>
              <p:nvPr/>
            </p:nvPicPr>
            <p:blipFill>
              <a:blip r:embed="rId4"/>
              <a:srcRect/>
              <a:stretch/>
            </p:blipFill>
            <p:spPr>
              <a:xfrm>
                <a:off x="7492181" y="2723535"/>
                <a:ext cx="1079127" cy="161869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4FB443C-2EF1-5D41-14B0-93A2EC9E77C2}"/>
                      </a:ext>
                    </a:extLst>
                  </p:cNvPr>
                  <p:cNvSpPr txBox="1"/>
                  <p:nvPr/>
                </p:nvSpPr>
                <p:spPr>
                  <a:xfrm>
                    <a:off x="7544369"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𝑏</m:t>
                        </m:r>
                      </m:oMath>
                    </a14:m>
                    <a:endParaRPr lang="en-US" dirty="0"/>
                  </a:p>
                </p:txBody>
              </p:sp>
            </mc:Choice>
            <mc:Fallback xmlns="">
              <p:sp>
                <p:nvSpPr>
                  <p:cNvPr id="13" name="TextBox 12">
                    <a:extLst>
                      <a:ext uri="{FF2B5EF4-FFF2-40B4-BE49-F238E27FC236}">
                        <a16:creationId xmlns:a16="http://schemas.microsoft.com/office/drawing/2014/main" id="{64FB443C-2EF1-5D41-14B0-93A2EC9E77C2}"/>
                      </a:ext>
                    </a:extLst>
                  </p:cNvPr>
                  <p:cNvSpPr txBox="1">
                    <a:spLocks noRot="1" noChangeAspect="1" noMove="1" noResize="1" noEditPoints="1" noAdjustHandles="1" noChangeArrowheads="1" noChangeShapeType="1" noTextEdit="1"/>
                  </p:cNvSpPr>
                  <p:nvPr/>
                </p:nvSpPr>
                <p:spPr>
                  <a:xfrm>
                    <a:off x="7544369" y="1622326"/>
                    <a:ext cx="974750" cy="369332"/>
                  </a:xfrm>
                  <a:prstGeom prst="rect">
                    <a:avLst/>
                  </a:prstGeom>
                  <a:blipFill>
                    <a:blip r:embed="rId5"/>
                    <a:stretch>
                      <a:fillRect l="-5195" t="-6667" b="-26667"/>
                    </a:stretch>
                  </a:blipFill>
                </p:spPr>
                <p:txBody>
                  <a:bodyPr/>
                  <a:lstStyle/>
                  <a:p>
                    <a:r>
                      <a:rPr lang="en-US">
                        <a:noFill/>
                      </a:rPr>
                      <a:t> </a:t>
                    </a:r>
                  </a:p>
                </p:txBody>
              </p:sp>
            </mc:Fallback>
          </mc:AlternateContent>
        </p:grpSp>
      </p:grpSp>
      <p:grpSp>
        <p:nvGrpSpPr>
          <p:cNvPr id="27" name="Group 26">
            <a:extLst>
              <a:ext uri="{FF2B5EF4-FFF2-40B4-BE49-F238E27FC236}">
                <a16:creationId xmlns:a16="http://schemas.microsoft.com/office/drawing/2014/main" id="{66632E16-EB1A-7A69-0910-15EDBC299E88}"/>
              </a:ext>
            </a:extLst>
          </p:cNvPr>
          <p:cNvGrpSpPr/>
          <p:nvPr/>
        </p:nvGrpSpPr>
        <p:grpSpPr>
          <a:xfrm>
            <a:off x="5779989" y="1622326"/>
            <a:ext cx="1535209" cy="3134863"/>
            <a:chOff x="5779989" y="1622326"/>
            <a:chExt cx="1535209" cy="3134863"/>
          </a:xfrm>
        </p:grpSpPr>
        <p:grpSp>
          <p:nvGrpSpPr>
            <p:cNvPr id="23" name="Group 22">
              <a:extLst>
                <a:ext uri="{FF2B5EF4-FFF2-40B4-BE49-F238E27FC236}">
                  <a16:creationId xmlns:a16="http://schemas.microsoft.com/office/drawing/2014/main" id="{D2484F4D-3031-CDBD-6750-6A7C356DF610}"/>
                </a:ext>
              </a:extLst>
            </p:cNvPr>
            <p:cNvGrpSpPr/>
            <p:nvPr/>
          </p:nvGrpSpPr>
          <p:grpSpPr>
            <a:xfrm>
              <a:off x="5779989" y="1622326"/>
              <a:ext cx="1535209" cy="2719900"/>
              <a:chOff x="5779989" y="1622326"/>
              <a:chExt cx="1535209" cy="2719900"/>
            </a:xfrm>
          </p:grpSpPr>
          <p:pic>
            <p:nvPicPr>
              <p:cNvPr id="6" name="Picture 5">
                <a:extLst>
                  <a:ext uri="{FF2B5EF4-FFF2-40B4-BE49-F238E27FC236}">
                    <a16:creationId xmlns:a16="http://schemas.microsoft.com/office/drawing/2014/main" id="{EC1BC68E-09A8-D031-073A-C37ADA133E55}"/>
                  </a:ext>
                </a:extLst>
              </p:cNvPr>
              <p:cNvPicPr>
                <a:picLocks noChangeAspect="1"/>
              </p:cNvPicPr>
              <p:nvPr/>
            </p:nvPicPr>
            <p:blipFill>
              <a:blip r:embed="rId6"/>
              <a:stretch>
                <a:fillRect/>
              </a:stretch>
            </p:blipFill>
            <p:spPr>
              <a:xfrm>
                <a:off x="5779989" y="2039412"/>
                <a:ext cx="1535209" cy="230281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D542E2-8886-CF22-D821-A6482865B92C}"/>
                      </a:ext>
                    </a:extLst>
                  </p:cNvPr>
                  <p:cNvSpPr txBox="1"/>
                  <p:nvPr/>
                </p:nvSpPr>
                <p:spPr>
                  <a:xfrm>
                    <a:off x="6060218"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𝑎</m:t>
                        </m:r>
                      </m:oMath>
                    </a14:m>
                    <a:endParaRPr lang="en-US" dirty="0"/>
                  </a:p>
                </p:txBody>
              </p:sp>
            </mc:Choice>
            <mc:Fallback xmlns="">
              <p:sp>
                <p:nvSpPr>
                  <p:cNvPr id="12" name="TextBox 11">
                    <a:extLst>
                      <a:ext uri="{FF2B5EF4-FFF2-40B4-BE49-F238E27FC236}">
                        <a16:creationId xmlns:a16="http://schemas.microsoft.com/office/drawing/2014/main" id="{A2D542E2-8886-CF22-D821-A6482865B92C}"/>
                      </a:ext>
                    </a:extLst>
                  </p:cNvPr>
                  <p:cNvSpPr txBox="1">
                    <a:spLocks noRot="1" noChangeAspect="1" noMove="1" noResize="1" noEditPoints="1" noAdjustHandles="1" noChangeArrowheads="1" noChangeShapeType="1" noTextEdit="1"/>
                  </p:cNvSpPr>
                  <p:nvPr/>
                </p:nvSpPr>
                <p:spPr>
                  <a:xfrm>
                    <a:off x="6060218" y="1622326"/>
                    <a:ext cx="974750" cy="369332"/>
                  </a:xfrm>
                  <a:prstGeom prst="rect">
                    <a:avLst/>
                  </a:prstGeom>
                  <a:blipFill>
                    <a:blip r:embed="rId7"/>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AE26206-9292-0FF1-3209-FDC81C73AD80}"/>
                    </a:ext>
                  </a:extLst>
                </p:cNvPr>
                <p:cNvSpPr txBox="1"/>
                <p:nvPr/>
              </p:nvSpPr>
              <p:spPr>
                <a:xfrm>
                  <a:off x="6079869" y="4387857"/>
                  <a:ext cx="93544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𝑎</m:t>
                            </m:r>
                          </m:sub>
                        </m:sSub>
                        <m:r>
                          <a:rPr lang="en-US" i="0" dirty="0" err="1">
                            <a:latin typeface="Cambria Math" panose="02040503050406030204" pitchFamily="18" charset="0"/>
                          </a:rPr>
                          <m:t>=4</m:t>
                        </m:r>
                      </m:oMath>
                    </m:oMathPara>
                  </a14:m>
                  <a:endParaRPr lang="en-US" dirty="0"/>
                </a:p>
              </p:txBody>
            </p:sp>
          </mc:Choice>
          <mc:Fallback xmlns="">
            <p:sp>
              <p:nvSpPr>
                <p:cNvPr id="24" name="TextBox 23">
                  <a:extLst>
                    <a:ext uri="{FF2B5EF4-FFF2-40B4-BE49-F238E27FC236}">
                      <a16:creationId xmlns:a16="http://schemas.microsoft.com/office/drawing/2014/main" id="{8AE26206-9292-0FF1-3209-FDC81C73AD80}"/>
                    </a:ext>
                  </a:extLst>
                </p:cNvPr>
                <p:cNvSpPr txBox="1">
                  <a:spLocks noRot="1" noChangeAspect="1" noMove="1" noResize="1" noEditPoints="1" noAdjustHandles="1" noChangeArrowheads="1" noChangeShapeType="1" noTextEdit="1"/>
                </p:cNvSpPr>
                <p:nvPr/>
              </p:nvSpPr>
              <p:spPr>
                <a:xfrm>
                  <a:off x="6079869" y="4387857"/>
                  <a:ext cx="935449" cy="369332"/>
                </a:xfrm>
                <a:prstGeom prst="rect">
                  <a:avLst/>
                </a:prstGeom>
                <a:blipFill>
                  <a:blip r:embed="rId8"/>
                  <a:stretch>
                    <a:fillRect/>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2147B38F-0393-1F59-A74A-DAF3855D1F0C}"/>
              </a:ext>
            </a:extLst>
          </p:cNvPr>
          <p:cNvGrpSpPr/>
          <p:nvPr/>
        </p:nvGrpSpPr>
        <p:grpSpPr>
          <a:xfrm>
            <a:off x="10552767" y="1622326"/>
            <a:ext cx="1285271" cy="3134863"/>
            <a:chOff x="10552767" y="1622326"/>
            <a:chExt cx="1285271" cy="3134863"/>
          </a:xfrm>
        </p:grpSpPr>
        <p:grpSp>
          <p:nvGrpSpPr>
            <p:cNvPr id="19" name="Group 18">
              <a:extLst>
                <a:ext uri="{FF2B5EF4-FFF2-40B4-BE49-F238E27FC236}">
                  <a16:creationId xmlns:a16="http://schemas.microsoft.com/office/drawing/2014/main" id="{BB5B8BB0-D62B-DAB3-CEE7-24F519EAEF62}"/>
                </a:ext>
              </a:extLst>
            </p:cNvPr>
            <p:cNvGrpSpPr/>
            <p:nvPr/>
          </p:nvGrpSpPr>
          <p:grpSpPr>
            <a:xfrm>
              <a:off x="10552767" y="1622326"/>
              <a:ext cx="1285271" cy="2719900"/>
              <a:chOff x="10552767" y="1622326"/>
              <a:chExt cx="1285271" cy="2719900"/>
            </a:xfrm>
          </p:grpSpPr>
          <p:pic>
            <p:nvPicPr>
              <p:cNvPr id="8" name="Picture 7">
                <a:extLst>
                  <a:ext uri="{FF2B5EF4-FFF2-40B4-BE49-F238E27FC236}">
                    <a16:creationId xmlns:a16="http://schemas.microsoft.com/office/drawing/2014/main" id="{08B43F81-2733-710F-2D22-27F7B9E2EAC1}"/>
                  </a:ext>
                </a:extLst>
              </p:cNvPr>
              <p:cNvPicPr>
                <a:picLocks noChangeAspect="1"/>
              </p:cNvPicPr>
              <p:nvPr/>
            </p:nvPicPr>
            <p:blipFill>
              <a:blip r:embed="rId9"/>
              <a:srcRect/>
              <a:stretch/>
            </p:blipFill>
            <p:spPr>
              <a:xfrm>
                <a:off x="10552767" y="2414320"/>
                <a:ext cx="1285271" cy="19279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82CC08F-C0EE-0413-04D2-41DAABC625CB}"/>
                      </a:ext>
                    </a:extLst>
                  </p:cNvPr>
                  <p:cNvSpPr txBox="1"/>
                  <p:nvPr/>
                </p:nvSpPr>
                <p:spPr>
                  <a:xfrm>
                    <a:off x="10708027" y="1622326"/>
                    <a:ext cx="974750" cy="369332"/>
                  </a:xfrm>
                  <a:prstGeom prst="rect">
                    <a:avLst/>
                  </a:prstGeom>
                  <a:noFill/>
                </p:spPr>
                <p:txBody>
                  <a:bodyPr wrap="square" lIns="0" rIns="0"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𝑑</m:t>
                        </m:r>
                      </m:oMath>
                    </a14:m>
                    <a:endParaRPr lang="en-US" dirty="0"/>
                  </a:p>
                </p:txBody>
              </p:sp>
            </mc:Choice>
            <mc:Fallback xmlns="">
              <p:sp>
                <p:nvSpPr>
                  <p:cNvPr id="14" name="TextBox 13">
                    <a:extLst>
                      <a:ext uri="{FF2B5EF4-FFF2-40B4-BE49-F238E27FC236}">
                        <a16:creationId xmlns:a16="http://schemas.microsoft.com/office/drawing/2014/main" id="{382CC08F-C0EE-0413-04D2-41DAABC625CB}"/>
                      </a:ext>
                    </a:extLst>
                  </p:cNvPr>
                  <p:cNvSpPr txBox="1">
                    <a:spLocks noRot="1" noChangeAspect="1" noMove="1" noResize="1" noEditPoints="1" noAdjustHandles="1" noChangeArrowheads="1" noChangeShapeType="1" noTextEdit="1"/>
                  </p:cNvSpPr>
                  <p:nvPr/>
                </p:nvSpPr>
                <p:spPr>
                  <a:xfrm>
                    <a:off x="10708027" y="1622326"/>
                    <a:ext cx="974750" cy="369332"/>
                  </a:xfrm>
                  <a:prstGeom prst="rect">
                    <a:avLst/>
                  </a:prstGeom>
                  <a:blipFill>
                    <a:blip r:embed="rId10"/>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36C6A8C-9083-EA3B-E80F-DE63E63ECD3E}"/>
                    </a:ext>
                  </a:extLst>
                </p:cNvPr>
                <p:cNvSpPr txBox="1"/>
                <p:nvPr/>
              </p:nvSpPr>
              <p:spPr>
                <a:xfrm>
                  <a:off x="10722773" y="4387857"/>
                  <a:ext cx="94525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𝑑</m:t>
                            </m:r>
                          </m:sub>
                        </m:sSub>
                        <m:r>
                          <a:rPr lang="en-US" i="0" dirty="0" err="1">
                            <a:latin typeface="Cambria Math" panose="02040503050406030204" pitchFamily="18" charset="0"/>
                          </a:rPr>
                          <m:t>=2</m:t>
                        </m:r>
                      </m:oMath>
                    </m:oMathPara>
                  </a14:m>
                  <a:endParaRPr lang="en-US" dirty="0"/>
                </a:p>
              </p:txBody>
            </p:sp>
          </mc:Choice>
          <mc:Fallback xmlns="">
            <p:sp>
              <p:nvSpPr>
                <p:cNvPr id="26" name="TextBox 25">
                  <a:extLst>
                    <a:ext uri="{FF2B5EF4-FFF2-40B4-BE49-F238E27FC236}">
                      <a16:creationId xmlns:a16="http://schemas.microsoft.com/office/drawing/2014/main" id="{A36C6A8C-9083-EA3B-E80F-DE63E63ECD3E}"/>
                    </a:ext>
                  </a:extLst>
                </p:cNvPr>
                <p:cNvSpPr txBox="1">
                  <a:spLocks noRot="1" noChangeAspect="1" noMove="1" noResize="1" noEditPoints="1" noAdjustHandles="1" noChangeArrowheads="1" noChangeShapeType="1" noTextEdit="1"/>
                </p:cNvSpPr>
                <p:nvPr/>
              </p:nvSpPr>
              <p:spPr>
                <a:xfrm>
                  <a:off x="10722773" y="4387857"/>
                  <a:ext cx="945259" cy="369332"/>
                </a:xfrm>
                <a:prstGeom prst="rect">
                  <a:avLst/>
                </a:prstGeom>
                <a:blipFill>
                  <a:blip r:embed="rId11"/>
                  <a:stretch>
                    <a:fillRect/>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9E14703F-E80E-52C4-4C54-F96A7E0CCF39}"/>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2568905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CBBC0-5F02-0CED-5882-E633C2D689E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FBAEAE7-C869-AA41-3626-898B681AD2BE}"/>
              </a:ext>
            </a:extLst>
          </p:cNvPr>
          <p:cNvSpPr>
            <a:spLocks noGrp="1"/>
          </p:cNvSpPr>
          <p:nvPr>
            <p:ph type="sldNum" sz="quarter" idx="12"/>
          </p:nvPr>
        </p:nvSpPr>
        <p:spPr/>
        <p:txBody>
          <a:bodyPr/>
          <a:lstStyle/>
          <a:p>
            <a:fld id="{387B101D-DD3C-9947-BBAC-237D8FE858E0}" type="slidenum">
              <a:rPr lang="en-US" smtClean="0"/>
              <a:t>28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77AFC7-668A-206B-7368-5DC5374C5FF5}"/>
                  </a:ext>
                </a:extLst>
              </p:cNvPr>
              <p:cNvSpPr txBox="1"/>
              <p:nvPr/>
            </p:nvSpPr>
            <p:spPr>
              <a:xfrm>
                <a:off x="748480" y="1622326"/>
                <a:ext cx="8316861"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At the first draw, Player </a:t>
                </a:r>
                <a14:m>
                  <m:oMath xmlns:m="http://schemas.openxmlformats.org/officeDocument/2006/math">
                    <m:r>
                      <a:rPr lang="en-US" i="1" dirty="0" smtClean="0">
                        <a:latin typeface="Cambria Math" panose="02040503050406030204" pitchFamily="18" charset="0"/>
                      </a:rPr>
                      <m:t>𝑐</m:t>
                    </m:r>
                  </m:oMath>
                </a14:m>
                <a:r>
                  <a:rPr lang="en-US" dirty="0"/>
                  <a:t> is selected</a:t>
                </a:r>
              </a:p>
              <a:p>
                <a:pPr marL="285750" indent="-285750">
                  <a:lnSpc>
                    <a:spcPct val="200000"/>
                  </a:lnSpc>
                  <a:buFont typeface="Arial" panose="020B0604020202020204" pitchFamily="34" charset="0"/>
                  <a:buChar char="•"/>
                </a:pPr>
                <a:r>
                  <a:rPr lang="en-US" dirty="0"/>
                  <a:t>Player </a:t>
                </a:r>
                <a14:m>
                  <m:oMath xmlns:m="http://schemas.openxmlformats.org/officeDocument/2006/math">
                    <m:r>
                      <a:rPr lang="en-US" i="1" dirty="0" smtClean="0">
                        <a:latin typeface="Cambria Math" panose="02040503050406030204" pitchFamily="18" charset="0"/>
                      </a:rPr>
                      <m:t>𝑐</m:t>
                    </m:r>
                  </m:oMath>
                </a14:m>
                <a:r>
                  <a:rPr lang="en-US" dirty="0"/>
                  <a:t> is removed from the pool</a:t>
                </a:r>
              </a:p>
              <a:p>
                <a:pPr marL="285750" indent="-285750">
                  <a:lnSpc>
                    <a:spcPct val="200000"/>
                  </a:lnSpc>
                  <a:buFont typeface="Arial" panose="020B0604020202020204" pitchFamily="34" charset="0"/>
                  <a:buChar char="•"/>
                </a:pPr>
                <a:r>
                  <a:rPr lang="en-US" dirty="0"/>
                  <a:t>There is 1 draw left</a:t>
                </a:r>
              </a:p>
              <a:p>
                <a:pPr marL="285750" indent="-285750">
                  <a:lnSpc>
                    <a:spcPct val="200000"/>
                  </a:lnSpc>
                  <a:buFont typeface="Arial" panose="020B0604020202020204" pitchFamily="34" charset="0"/>
                  <a:buChar char="•"/>
                </a:pPr>
                <a:r>
                  <a:rPr lang="en-US" dirty="0"/>
                  <a:t>Player weights haven’t changed</a:t>
                </a:r>
              </a:p>
              <a:p>
                <a:pPr marL="285750" indent="-285750">
                  <a:lnSpc>
                    <a:spcPct val="200000"/>
                  </a:lnSpc>
                  <a:buFont typeface="Arial" panose="020B0604020202020204" pitchFamily="34" charset="0"/>
                  <a:buChar char="•"/>
                </a:pPr>
                <a:r>
                  <a:rPr lang="en-US" dirty="0"/>
                  <a:t>Total pool weight has</a:t>
                </a:r>
              </a:p>
            </p:txBody>
          </p:sp>
        </mc:Choice>
        <mc:Fallback xmlns="">
          <p:sp>
            <p:nvSpPr>
              <p:cNvPr id="5" name="TextBox 4">
                <a:extLst>
                  <a:ext uri="{FF2B5EF4-FFF2-40B4-BE49-F238E27FC236}">
                    <a16:creationId xmlns:a16="http://schemas.microsoft.com/office/drawing/2014/main" id="{6477AFC7-668A-206B-7368-5DC5374C5FF5}"/>
                  </a:ext>
                </a:extLst>
              </p:cNvPr>
              <p:cNvSpPr txBox="1">
                <a:spLocks noRot="1" noChangeAspect="1" noMove="1" noResize="1" noEditPoints="1" noAdjustHandles="1" noChangeArrowheads="1" noChangeShapeType="1" noTextEdit="1"/>
              </p:cNvSpPr>
              <p:nvPr/>
            </p:nvSpPr>
            <p:spPr>
              <a:xfrm>
                <a:off x="748480" y="1622326"/>
                <a:ext cx="8316861" cy="2787751"/>
              </a:xfrm>
              <a:prstGeom prst="rect">
                <a:avLst/>
              </a:prstGeom>
              <a:blipFill>
                <a:blip r:embed="rId2"/>
                <a:stretch>
                  <a:fillRect l="-611" b="-2262"/>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05DAB85-AF7F-B1CB-FF08-A4B8C6327E3C}"/>
              </a:ext>
            </a:extLst>
          </p:cNvPr>
          <p:cNvGrpSpPr/>
          <p:nvPr/>
        </p:nvGrpSpPr>
        <p:grpSpPr>
          <a:xfrm>
            <a:off x="5779989" y="1622326"/>
            <a:ext cx="2791319" cy="3134863"/>
            <a:chOff x="5779989" y="1622326"/>
            <a:chExt cx="2791319" cy="3134863"/>
          </a:xfrm>
        </p:grpSpPr>
        <p:grpSp>
          <p:nvGrpSpPr>
            <p:cNvPr id="29" name="Group 28">
              <a:extLst>
                <a:ext uri="{FF2B5EF4-FFF2-40B4-BE49-F238E27FC236}">
                  <a16:creationId xmlns:a16="http://schemas.microsoft.com/office/drawing/2014/main" id="{BFB226A7-7285-0959-E868-FD5EA7799A06}"/>
                </a:ext>
              </a:extLst>
            </p:cNvPr>
            <p:cNvGrpSpPr/>
            <p:nvPr/>
          </p:nvGrpSpPr>
          <p:grpSpPr>
            <a:xfrm>
              <a:off x="7492181" y="1622326"/>
              <a:ext cx="1079127" cy="3134863"/>
              <a:chOff x="7492181" y="1622326"/>
              <a:chExt cx="1079127" cy="313486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5BEBD4F-01B8-6F15-C025-0D38AED89008}"/>
                      </a:ext>
                    </a:extLst>
                  </p:cNvPr>
                  <p:cNvSpPr txBox="1"/>
                  <p:nvPr/>
                </p:nvSpPr>
                <p:spPr>
                  <a:xfrm>
                    <a:off x="7562706" y="4387857"/>
                    <a:ext cx="938077"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𝑏</m:t>
                              </m:r>
                            </m:sub>
                          </m:sSub>
                          <m:r>
                            <a:rPr lang="en-US" i="0" dirty="0" err="1">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E5BEBD4F-01B8-6F15-C025-0D38AED89008}"/>
                      </a:ext>
                    </a:extLst>
                  </p:cNvPr>
                  <p:cNvSpPr txBox="1">
                    <a:spLocks noRot="1" noChangeAspect="1" noMove="1" noResize="1" noEditPoints="1" noAdjustHandles="1" noChangeArrowheads="1" noChangeShapeType="1" noTextEdit="1"/>
                  </p:cNvSpPr>
                  <p:nvPr/>
                </p:nvSpPr>
                <p:spPr>
                  <a:xfrm>
                    <a:off x="7562706" y="4387857"/>
                    <a:ext cx="938077" cy="369332"/>
                  </a:xfrm>
                  <a:prstGeom prst="rect">
                    <a:avLst/>
                  </a:prstGeom>
                  <a:blipFill>
                    <a:blip r:embed="rId3"/>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5F3F08D5-5147-DEA2-178F-3892242D7377}"/>
                  </a:ext>
                </a:extLst>
              </p:cNvPr>
              <p:cNvGrpSpPr/>
              <p:nvPr/>
            </p:nvGrpSpPr>
            <p:grpSpPr>
              <a:xfrm>
                <a:off x="7492181" y="1622326"/>
                <a:ext cx="1079127" cy="2719899"/>
                <a:chOff x="7492181" y="1622326"/>
                <a:chExt cx="1079127" cy="2719899"/>
              </a:xfrm>
            </p:grpSpPr>
            <p:pic>
              <p:nvPicPr>
                <p:cNvPr id="4" name="Picture 3">
                  <a:extLst>
                    <a:ext uri="{FF2B5EF4-FFF2-40B4-BE49-F238E27FC236}">
                      <a16:creationId xmlns:a16="http://schemas.microsoft.com/office/drawing/2014/main" id="{554AFC99-D31E-504F-4023-1608F48D3D9E}"/>
                    </a:ext>
                  </a:extLst>
                </p:cNvPr>
                <p:cNvPicPr>
                  <a:picLocks noChangeAspect="1"/>
                </p:cNvPicPr>
                <p:nvPr/>
              </p:nvPicPr>
              <p:blipFill>
                <a:blip r:embed="rId4"/>
                <a:srcRect/>
                <a:stretch/>
              </p:blipFill>
              <p:spPr>
                <a:xfrm>
                  <a:off x="7492181" y="2723535"/>
                  <a:ext cx="1079127" cy="161869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FDFAB5A-9F8F-6AC0-9318-77BD1BAC77D3}"/>
                        </a:ext>
                      </a:extLst>
                    </p:cNvPr>
                    <p:cNvSpPr txBox="1"/>
                    <p:nvPr/>
                  </p:nvSpPr>
                  <p:spPr>
                    <a:xfrm>
                      <a:off x="7544369"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𝑏</m:t>
                          </m:r>
                        </m:oMath>
                      </a14:m>
                      <a:endParaRPr lang="en-US" dirty="0"/>
                    </a:p>
                  </p:txBody>
                </p:sp>
              </mc:Choice>
              <mc:Fallback xmlns="">
                <p:sp>
                  <p:nvSpPr>
                    <p:cNvPr id="13" name="TextBox 12">
                      <a:extLst>
                        <a:ext uri="{FF2B5EF4-FFF2-40B4-BE49-F238E27FC236}">
                          <a16:creationId xmlns:a16="http://schemas.microsoft.com/office/drawing/2014/main" id="{BFDFAB5A-9F8F-6AC0-9318-77BD1BAC77D3}"/>
                        </a:ext>
                      </a:extLst>
                    </p:cNvPr>
                    <p:cNvSpPr txBox="1">
                      <a:spLocks noRot="1" noChangeAspect="1" noMove="1" noResize="1" noEditPoints="1" noAdjustHandles="1" noChangeArrowheads="1" noChangeShapeType="1" noTextEdit="1"/>
                    </p:cNvSpPr>
                    <p:nvPr/>
                  </p:nvSpPr>
                  <p:spPr>
                    <a:xfrm>
                      <a:off x="7544369" y="1622326"/>
                      <a:ext cx="974750" cy="369332"/>
                    </a:xfrm>
                    <a:prstGeom prst="rect">
                      <a:avLst/>
                    </a:prstGeom>
                    <a:blipFill>
                      <a:blip r:embed="rId5"/>
                      <a:stretch>
                        <a:fillRect l="-5195" t="-6667" b="-26667"/>
                      </a:stretch>
                    </a:blipFill>
                  </p:spPr>
                  <p:txBody>
                    <a:bodyPr/>
                    <a:lstStyle/>
                    <a:p>
                      <a:r>
                        <a:rPr lang="en-US">
                          <a:noFill/>
                        </a:rPr>
                        <a:t> </a:t>
                      </a:r>
                    </a:p>
                  </p:txBody>
                </p:sp>
              </mc:Fallback>
            </mc:AlternateContent>
          </p:grpSp>
        </p:grpSp>
        <p:grpSp>
          <p:nvGrpSpPr>
            <p:cNvPr id="27" name="Group 26">
              <a:extLst>
                <a:ext uri="{FF2B5EF4-FFF2-40B4-BE49-F238E27FC236}">
                  <a16:creationId xmlns:a16="http://schemas.microsoft.com/office/drawing/2014/main" id="{4F9C69D9-30B3-E41E-A841-E14EFFDD045B}"/>
                </a:ext>
              </a:extLst>
            </p:cNvPr>
            <p:cNvGrpSpPr/>
            <p:nvPr/>
          </p:nvGrpSpPr>
          <p:grpSpPr>
            <a:xfrm>
              <a:off x="5779989" y="1622326"/>
              <a:ext cx="1535209" cy="3134863"/>
              <a:chOff x="5779989" y="1622326"/>
              <a:chExt cx="1535209" cy="3134863"/>
            </a:xfrm>
          </p:grpSpPr>
          <p:grpSp>
            <p:nvGrpSpPr>
              <p:cNvPr id="23" name="Group 22">
                <a:extLst>
                  <a:ext uri="{FF2B5EF4-FFF2-40B4-BE49-F238E27FC236}">
                    <a16:creationId xmlns:a16="http://schemas.microsoft.com/office/drawing/2014/main" id="{24085AAB-8173-F30F-D5E1-937060718B9B}"/>
                  </a:ext>
                </a:extLst>
              </p:cNvPr>
              <p:cNvGrpSpPr/>
              <p:nvPr/>
            </p:nvGrpSpPr>
            <p:grpSpPr>
              <a:xfrm>
                <a:off x="5779989" y="1622326"/>
                <a:ext cx="1535209" cy="2719900"/>
                <a:chOff x="5779989" y="1622326"/>
                <a:chExt cx="1535209" cy="2719900"/>
              </a:xfrm>
            </p:grpSpPr>
            <p:pic>
              <p:nvPicPr>
                <p:cNvPr id="6" name="Picture 5">
                  <a:extLst>
                    <a:ext uri="{FF2B5EF4-FFF2-40B4-BE49-F238E27FC236}">
                      <a16:creationId xmlns:a16="http://schemas.microsoft.com/office/drawing/2014/main" id="{90A1790D-C2C3-34F2-43E5-736C83BC14D6}"/>
                    </a:ext>
                  </a:extLst>
                </p:cNvPr>
                <p:cNvPicPr>
                  <a:picLocks noChangeAspect="1"/>
                </p:cNvPicPr>
                <p:nvPr/>
              </p:nvPicPr>
              <p:blipFill>
                <a:blip r:embed="rId6"/>
                <a:stretch>
                  <a:fillRect/>
                </a:stretch>
              </p:blipFill>
              <p:spPr>
                <a:xfrm>
                  <a:off x="5779989" y="2039412"/>
                  <a:ext cx="1535209" cy="230281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DEE099-BAB2-A9DB-0782-4591ABBE3203}"/>
                        </a:ext>
                      </a:extLst>
                    </p:cNvPr>
                    <p:cNvSpPr txBox="1"/>
                    <p:nvPr/>
                  </p:nvSpPr>
                  <p:spPr>
                    <a:xfrm>
                      <a:off x="6060218" y="1622326"/>
                      <a:ext cx="974750" cy="369332"/>
                    </a:xfrm>
                    <a:prstGeom prst="rect">
                      <a:avLst/>
                    </a:prstGeom>
                    <a:noFill/>
                  </p:spPr>
                  <p:txBody>
                    <a:bodyPr wrap="square"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𝑎</m:t>
                          </m:r>
                        </m:oMath>
                      </a14:m>
                      <a:endParaRPr lang="en-US" dirty="0"/>
                    </a:p>
                  </p:txBody>
                </p:sp>
              </mc:Choice>
              <mc:Fallback xmlns="">
                <p:sp>
                  <p:nvSpPr>
                    <p:cNvPr id="12" name="TextBox 11">
                      <a:extLst>
                        <a:ext uri="{FF2B5EF4-FFF2-40B4-BE49-F238E27FC236}">
                          <a16:creationId xmlns:a16="http://schemas.microsoft.com/office/drawing/2014/main" id="{3CDEE099-BAB2-A9DB-0782-4591ABBE3203}"/>
                        </a:ext>
                      </a:extLst>
                    </p:cNvPr>
                    <p:cNvSpPr txBox="1">
                      <a:spLocks noRot="1" noChangeAspect="1" noMove="1" noResize="1" noEditPoints="1" noAdjustHandles="1" noChangeArrowheads="1" noChangeShapeType="1" noTextEdit="1"/>
                    </p:cNvSpPr>
                    <p:nvPr/>
                  </p:nvSpPr>
                  <p:spPr>
                    <a:xfrm>
                      <a:off x="6060218" y="1622326"/>
                      <a:ext cx="974750" cy="369332"/>
                    </a:xfrm>
                    <a:prstGeom prst="rect">
                      <a:avLst/>
                    </a:prstGeom>
                    <a:blipFill>
                      <a:blip r:embed="rId7"/>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D15777D-A3BD-32B5-AABC-58E2585BB7D2}"/>
                      </a:ext>
                    </a:extLst>
                  </p:cNvPr>
                  <p:cNvSpPr txBox="1"/>
                  <p:nvPr/>
                </p:nvSpPr>
                <p:spPr>
                  <a:xfrm>
                    <a:off x="6079869" y="4387857"/>
                    <a:ext cx="93544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𝑎</m:t>
                              </m:r>
                            </m:sub>
                          </m:sSub>
                          <m:r>
                            <a:rPr lang="en-US" i="0" dirty="0" err="1">
                              <a:latin typeface="Cambria Math" panose="02040503050406030204" pitchFamily="18" charset="0"/>
                            </a:rPr>
                            <m:t>=4</m:t>
                          </m:r>
                        </m:oMath>
                      </m:oMathPara>
                    </a14:m>
                    <a:endParaRPr lang="en-US" dirty="0"/>
                  </a:p>
                </p:txBody>
              </p:sp>
            </mc:Choice>
            <mc:Fallback xmlns="">
              <p:sp>
                <p:nvSpPr>
                  <p:cNvPr id="24" name="TextBox 23">
                    <a:extLst>
                      <a:ext uri="{FF2B5EF4-FFF2-40B4-BE49-F238E27FC236}">
                        <a16:creationId xmlns:a16="http://schemas.microsoft.com/office/drawing/2014/main" id="{2D15777D-A3BD-32B5-AABC-58E2585BB7D2}"/>
                      </a:ext>
                    </a:extLst>
                  </p:cNvPr>
                  <p:cNvSpPr txBox="1">
                    <a:spLocks noRot="1" noChangeAspect="1" noMove="1" noResize="1" noEditPoints="1" noAdjustHandles="1" noChangeArrowheads="1" noChangeShapeType="1" noTextEdit="1"/>
                  </p:cNvSpPr>
                  <p:nvPr/>
                </p:nvSpPr>
                <p:spPr>
                  <a:xfrm>
                    <a:off x="6079869" y="4387857"/>
                    <a:ext cx="935449" cy="369332"/>
                  </a:xfrm>
                  <a:prstGeom prst="rect">
                    <a:avLst/>
                  </a:prstGeom>
                  <a:blipFill>
                    <a:blip r:embed="rId8"/>
                    <a:stretch>
                      <a:fillRect/>
                    </a:stretch>
                  </a:blipFill>
                </p:spPr>
                <p:txBody>
                  <a:bodyPr/>
                  <a:lstStyle/>
                  <a:p>
                    <a:r>
                      <a:rPr lang="en-US">
                        <a:noFill/>
                      </a:rPr>
                      <a:t> </a:t>
                    </a:r>
                  </a:p>
                </p:txBody>
              </p:sp>
            </mc:Fallback>
          </mc:AlternateContent>
        </p:grpSp>
      </p:grpSp>
      <p:grpSp>
        <p:nvGrpSpPr>
          <p:cNvPr id="31" name="Group 30">
            <a:extLst>
              <a:ext uri="{FF2B5EF4-FFF2-40B4-BE49-F238E27FC236}">
                <a16:creationId xmlns:a16="http://schemas.microsoft.com/office/drawing/2014/main" id="{29A304AF-B0C6-20FF-6E16-A0CBB2895D57}"/>
              </a:ext>
            </a:extLst>
          </p:cNvPr>
          <p:cNvGrpSpPr/>
          <p:nvPr/>
        </p:nvGrpSpPr>
        <p:grpSpPr>
          <a:xfrm>
            <a:off x="10552767" y="1622326"/>
            <a:ext cx="1285271" cy="3134863"/>
            <a:chOff x="10552767" y="1622326"/>
            <a:chExt cx="1285271" cy="3134863"/>
          </a:xfrm>
        </p:grpSpPr>
        <p:grpSp>
          <p:nvGrpSpPr>
            <p:cNvPr id="19" name="Group 18">
              <a:extLst>
                <a:ext uri="{FF2B5EF4-FFF2-40B4-BE49-F238E27FC236}">
                  <a16:creationId xmlns:a16="http://schemas.microsoft.com/office/drawing/2014/main" id="{F7D8629D-9ED4-7B09-410F-C33F70E06D66}"/>
                </a:ext>
              </a:extLst>
            </p:cNvPr>
            <p:cNvGrpSpPr/>
            <p:nvPr/>
          </p:nvGrpSpPr>
          <p:grpSpPr>
            <a:xfrm>
              <a:off x="10552767" y="1622326"/>
              <a:ext cx="1285271" cy="2719900"/>
              <a:chOff x="10552767" y="1622326"/>
              <a:chExt cx="1285271" cy="2719900"/>
            </a:xfrm>
          </p:grpSpPr>
          <p:pic>
            <p:nvPicPr>
              <p:cNvPr id="8" name="Picture 7">
                <a:extLst>
                  <a:ext uri="{FF2B5EF4-FFF2-40B4-BE49-F238E27FC236}">
                    <a16:creationId xmlns:a16="http://schemas.microsoft.com/office/drawing/2014/main" id="{594B1075-8BEB-20CF-49F5-5C5D877FF70B}"/>
                  </a:ext>
                </a:extLst>
              </p:cNvPr>
              <p:cNvPicPr>
                <a:picLocks noChangeAspect="1"/>
              </p:cNvPicPr>
              <p:nvPr/>
            </p:nvPicPr>
            <p:blipFill>
              <a:blip r:embed="rId9"/>
              <a:srcRect/>
              <a:stretch/>
            </p:blipFill>
            <p:spPr>
              <a:xfrm>
                <a:off x="10552767" y="2414320"/>
                <a:ext cx="1285271" cy="19279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BF6A87F-7553-46FA-32A2-D2F34A449C8A}"/>
                      </a:ext>
                    </a:extLst>
                  </p:cNvPr>
                  <p:cNvSpPr txBox="1"/>
                  <p:nvPr/>
                </p:nvSpPr>
                <p:spPr>
                  <a:xfrm>
                    <a:off x="10708027" y="1622326"/>
                    <a:ext cx="974750" cy="369332"/>
                  </a:xfrm>
                  <a:prstGeom prst="rect">
                    <a:avLst/>
                  </a:prstGeom>
                  <a:noFill/>
                </p:spPr>
                <p:txBody>
                  <a:bodyPr wrap="square" lIns="0" rIns="0" rtlCol="0">
                    <a:spAutoFit/>
                  </a:bodyPr>
                  <a:lstStyle/>
                  <a:p>
                    <a:pPr algn="ctr"/>
                    <a:r>
                      <a:rPr lang="en-US" dirty="0"/>
                      <a:t>Player </a:t>
                    </a:r>
                    <a14:m>
                      <m:oMath xmlns:m="http://schemas.openxmlformats.org/officeDocument/2006/math">
                        <m:r>
                          <a:rPr lang="en-US" i="1" dirty="0" smtClean="0">
                            <a:latin typeface="Cambria Math" panose="02040503050406030204" pitchFamily="18" charset="0"/>
                          </a:rPr>
                          <m:t>𝑑</m:t>
                        </m:r>
                      </m:oMath>
                    </a14:m>
                    <a:endParaRPr lang="en-US" dirty="0"/>
                  </a:p>
                </p:txBody>
              </p:sp>
            </mc:Choice>
            <mc:Fallback xmlns="">
              <p:sp>
                <p:nvSpPr>
                  <p:cNvPr id="14" name="TextBox 13">
                    <a:extLst>
                      <a:ext uri="{FF2B5EF4-FFF2-40B4-BE49-F238E27FC236}">
                        <a16:creationId xmlns:a16="http://schemas.microsoft.com/office/drawing/2014/main" id="{0BF6A87F-7553-46FA-32A2-D2F34A449C8A}"/>
                      </a:ext>
                    </a:extLst>
                  </p:cNvPr>
                  <p:cNvSpPr txBox="1">
                    <a:spLocks noRot="1" noChangeAspect="1" noMove="1" noResize="1" noEditPoints="1" noAdjustHandles="1" noChangeArrowheads="1" noChangeShapeType="1" noTextEdit="1"/>
                  </p:cNvSpPr>
                  <p:nvPr/>
                </p:nvSpPr>
                <p:spPr>
                  <a:xfrm>
                    <a:off x="10708027" y="1622326"/>
                    <a:ext cx="974750" cy="369332"/>
                  </a:xfrm>
                  <a:prstGeom prst="rect">
                    <a:avLst/>
                  </a:prstGeom>
                  <a:blipFill>
                    <a:blip r:embed="rId10"/>
                    <a:stretch>
                      <a:fillRect l="-5195" t="-6667" b="-2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A2E6C98-4087-00B2-FC50-F1C9534E8A44}"/>
                    </a:ext>
                  </a:extLst>
                </p:cNvPr>
                <p:cNvSpPr txBox="1"/>
                <p:nvPr/>
              </p:nvSpPr>
              <p:spPr>
                <a:xfrm>
                  <a:off x="10722773" y="4387857"/>
                  <a:ext cx="945259" cy="369332"/>
                </a:xfrm>
                <a:prstGeom prst="rect">
                  <a:avLst/>
                </a:prstGeom>
                <a:noFill/>
              </p:spPr>
              <p:txBody>
                <a:bodyPr wrap="none" rtlCol="0">
                  <a:spAutoFit/>
                </a:bodyPr>
                <a:lstStyle/>
                <a:p>
                  <a:pPr/>
                  <a14:m>
                    <m:oMathPara xmlns:m="http://schemas.openxmlformats.org/officeDocument/2006/math">
                      <m:oMath>
                        <m:sSub>
                          <m:sSubPr>
                            <m:ctrlPr>
                              <a:rPr lang="en-US" i="1" dirty="0" err="1">
                                <a:latin typeface="Cambria Math" panose="02040503050406030204" pitchFamily="18" charset="0"/>
                              </a:rPr>
                            </m:ctrlPr>
                          </m:sSubPr>
                          <m:e>
                            <m:r>
                              <a:rPr lang="en-US" i="1" dirty="0" err="1">
                                <a:latin typeface="Cambria Math" panose="02040503050406030204" pitchFamily="18" charset="0"/>
                              </a:rPr>
                              <m:t>𝑤</m:t>
                            </m:r>
                          </m:e>
                          <m:sub>
                            <m:r>
                              <a:rPr lang="en-US" i="1" dirty="0" err="1">
                                <a:latin typeface="Cambria Math" panose="02040503050406030204" pitchFamily="18" charset="0"/>
                              </a:rPr>
                              <m:t>𝑑</m:t>
                            </m:r>
                          </m:sub>
                        </m:sSub>
                        <m:r>
                          <a:rPr lang="en-US" i="0" dirty="0" err="1">
                            <a:latin typeface="Cambria Math" panose="02040503050406030204" pitchFamily="18" charset="0"/>
                          </a:rPr>
                          <m:t>=2</m:t>
                        </m:r>
                      </m:oMath>
                    </m:oMathPara>
                  </a14:m>
                  <a:endParaRPr lang="en-US" dirty="0"/>
                </a:p>
              </p:txBody>
            </p:sp>
          </mc:Choice>
          <mc:Fallback xmlns="">
            <p:sp>
              <p:nvSpPr>
                <p:cNvPr id="26" name="TextBox 25">
                  <a:extLst>
                    <a:ext uri="{FF2B5EF4-FFF2-40B4-BE49-F238E27FC236}">
                      <a16:creationId xmlns:a16="http://schemas.microsoft.com/office/drawing/2014/main" id="{DA2E6C98-4087-00B2-FC50-F1C9534E8A44}"/>
                    </a:ext>
                  </a:extLst>
                </p:cNvPr>
                <p:cNvSpPr txBox="1">
                  <a:spLocks noRot="1" noChangeAspect="1" noMove="1" noResize="1" noEditPoints="1" noAdjustHandles="1" noChangeArrowheads="1" noChangeShapeType="1" noTextEdit="1"/>
                </p:cNvSpPr>
                <p:nvPr/>
              </p:nvSpPr>
              <p:spPr>
                <a:xfrm>
                  <a:off x="10722773" y="4387857"/>
                  <a:ext cx="945259" cy="369332"/>
                </a:xfrm>
                <a:prstGeom prst="rect">
                  <a:avLst/>
                </a:prstGeom>
                <a:blipFill>
                  <a:blip r:embed="rId11"/>
                  <a:stretch>
                    <a:fillRect/>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AE84AC92-CA7E-81B1-6322-647575084374}"/>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368000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1.66667E-6 3.7037E-6 L 0.13347 0.00393 " pathEditMode="relative" rAng="0" ptsTypes="AA">
                                      <p:cBhvr>
                                        <p:cTn id="6" dur="2000" fill="hold"/>
                                        <p:tgtEl>
                                          <p:spTgt spid="3"/>
                                        </p:tgtEl>
                                        <p:attrNameLst>
                                          <p:attrName>ppt_x</p:attrName>
                                          <p:attrName>ppt_y</p:attrName>
                                        </p:attrNameLst>
                                      </p:cBhvr>
                                      <p:rCtr x="6667"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C49F-A5E6-1BC4-BBAB-86CDA6F76F7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C5F87B1-994D-4A88-CEC4-00B85FB8CFC0}"/>
              </a:ext>
            </a:extLst>
          </p:cNvPr>
          <p:cNvSpPr>
            <a:spLocks noGrp="1"/>
          </p:cNvSpPr>
          <p:nvPr>
            <p:ph type="sldNum" sz="quarter" idx="12"/>
          </p:nvPr>
        </p:nvSpPr>
        <p:spPr/>
        <p:txBody>
          <a:bodyPr/>
          <a:lstStyle/>
          <a:p>
            <a:fld id="{387B101D-DD3C-9947-BBAC-237D8FE858E0}" type="slidenum">
              <a:rPr lang="en-US" smtClean="0"/>
              <a:t>29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A8FA79-BD8B-9585-118F-A11A0CFB60A7}"/>
                  </a:ext>
                </a:extLst>
              </p:cNvPr>
              <p:cNvSpPr txBox="1"/>
              <p:nvPr/>
            </p:nvSpPr>
            <p:spPr>
              <a:xfrm>
                <a:off x="748480" y="1622326"/>
                <a:ext cx="8316861"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At the first draw, Player </a:t>
                </a:r>
                <a14:m>
                  <m:oMath xmlns:m="http://schemas.openxmlformats.org/officeDocument/2006/math">
                    <m:r>
                      <a:rPr lang="en-US" i="1" dirty="0" smtClean="0">
                        <a:latin typeface="Cambria Math" panose="02040503050406030204" pitchFamily="18" charset="0"/>
                      </a:rPr>
                      <m:t>𝑐</m:t>
                    </m:r>
                  </m:oMath>
                </a14:m>
                <a:r>
                  <a:rPr lang="en-US" dirty="0"/>
                  <a:t> is selected</a:t>
                </a:r>
              </a:p>
              <a:p>
                <a:pPr marL="285750" indent="-285750">
                  <a:lnSpc>
                    <a:spcPct val="200000"/>
                  </a:lnSpc>
                  <a:buFont typeface="Arial" panose="020B0604020202020204" pitchFamily="34" charset="0"/>
                  <a:buChar char="•"/>
                </a:pPr>
                <a:r>
                  <a:rPr lang="en-US" dirty="0"/>
                  <a:t>Player </a:t>
                </a:r>
                <a14:m>
                  <m:oMath xmlns:m="http://schemas.openxmlformats.org/officeDocument/2006/math">
                    <m:r>
                      <a:rPr lang="en-US" i="1" dirty="0" smtClean="0">
                        <a:latin typeface="Cambria Math" panose="02040503050406030204" pitchFamily="18" charset="0"/>
                      </a:rPr>
                      <m:t>𝑐</m:t>
                    </m:r>
                  </m:oMath>
                </a14:m>
                <a:r>
                  <a:rPr lang="en-US" dirty="0"/>
                  <a:t> is removed from the pool</a:t>
                </a:r>
              </a:p>
              <a:p>
                <a:pPr marL="285750" indent="-285750">
                  <a:lnSpc>
                    <a:spcPct val="200000"/>
                  </a:lnSpc>
                  <a:buFont typeface="Arial" panose="020B0604020202020204" pitchFamily="34" charset="0"/>
                  <a:buChar char="•"/>
                </a:pPr>
                <a:r>
                  <a:rPr lang="en-US" dirty="0"/>
                  <a:t>There is 1 draw left</a:t>
                </a:r>
              </a:p>
              <a:p>
                <a:pPr marL="285750" indent="-285750">
                  <a:lnSpc>
                    <a:spcPct val="200000"/>
                  </a:lnSpc>
                  <a:buFont typeface="Arial" panose="020B0604020202020204" pitchFamily="34" charset="0"/>
                  <a:buChar char="•"/>
                </a:pPr>
                <a:r>
                  <a:rPr lang="en-US" dirty="0"/>
                  <a:t>Player weights haven’t changed</a:t>
                </a:r>
              </a:p>
              <a:p>
                <a:pPr marL="285750" indent="-285750">
                  <a:lnSpc>
                    <a:spcPct val="200000"/>
                  </a:lnSpc>
                  <a:buFont typeface="Arial" panose="020B0604020202020204" pitchFamily="34" charset="0"/>
                  <a:buChar char="•"/>
                </a:pPr>
                <a:r>
                  <a:rPr lang="en-US" dirty="0"/>
                  <a:t>Total pool weight has</a:t>
                </a:r>
              </a:p>
            </p:txBody>
          </p:sp>
        </mc:Choice>
        <mc:Fallback xmlns="">
          <p:sp>
            <p:nvSpPr>
              <p:cNvPr id="5" name="TextBox 4">
                <a:extLst>
                  <a:ext uri="{FF2B5EF4-FFF2-40B4-BE49-F238E27FC236}">
                    <a16:creationId xmlns:a16="http://schemas.microsoft.com/office/drawing/2014/main" id="{A9A8FA79-BD8B-9585-118F-A11A0CFB60A7}"/>
                  </a:ext>
                </a:extLst>
              </p:cNvPr>
              <p:cNvSpPr txBox="1">
                <a:spLocks noRot="1" noChangeAspect="1" noMove="1" noResize="1" noEditPoints="1" noAdjustHandles="1" noChangeArrowheads="1" noChangeShapeType="1" noTextEdit="1"/>
              </p:cNvSpPr>
              <p:nvPr/>
            </p:nvSpPr>
            <p:spPr>
              <a:xfrm>
                <a:off x="748480" y="1622326"/>
                <a:ext cx="8316861" cy="2787751"/>
              </a:xfrm>
              <a:prstGeom prst="rect">
                <a:avLst/>
              </a:prstGeom>
              <a:blipFill>
                <a:blip r:embed="rId2"/>
                <a:stretch>
                  <a:fillRect l="-611" b="-22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ACDD756-78EA-1AF6-43F2-AC905C7C263E}"/>
                  </a:ext>
                </a:extLst>
              </p:cNvPr>
              <p:cNvSpPr txBox="1"/>
              <p:nvPr/>
            </p:nvSpPr>
            <p:spPr>
              <a:xfrm>
                <a:off x="1639233" y="5319252"/>
                <a:ext cx="5902706" cy="483337"/>
              </a:xfrm>
              <a:prstGeom prst="rect">
                <a:avLst/>
              </a:prstGeom>
              <a:noFill/>
            </p:spPr>
            <p:txBody>
              <a:bodyPr wrap="none" rtlCol="0">
                <a:spAutoFit/>
              </a:bodyPr>
              <a:lstStyle/>
              <a:p>
                <a:r>
                  <a:rPr lang="en-US" i="1" dirty="0">
                    <a:solidFill>
                      <a:srgbClr val="0432FF"/>
                    </a:solidFill>
                  </a:rPr>
                  <a:t>So, the probability of Player </a:t>
                </a:r>
                <a14:m>
                  <m:oMath xmlns:m="http://schemas.openxmlformats.org/officeDocument/2006/math">
                    <m:r>
                      <a:rPr lang="en-US" i="1" dirty="0" smtClean="0">
                        <a:solidFill>
                          <a:srgbClr val="0432FF"/>
                        </a:solidFill>
                        <a:latin typeface="Cambria Math" panose="02040503050406030204" pitchFamily="18" charset="0"/>
                      </a:rPr>
                      <m:t>𝑎</m:t>
                    </m:r>
                  </m:oMath>
                </a14:m>
                <a:r>
                  <a:rPr lang="en-US" i="1" dirty="0">
                    <a:solidFill>
                      <a:srgbClr val="0432FF"/>
                    </a:solidFill>
                  </a:rPr>
                  <a:t> being drawn is now  </a:t>
                </a:r>
                <a14:m>
                  <m:oMath xmlns:m="http://schemas.openxmlformats.org/officeDocument/2006/math">
                    <m:f>
                      <m:fPr>
                        <m:ctrlPr>
                          <a:rPr lang="en-US" i="1" dirty="0" smtClean="0">
                            <a:solidFill>
                              <a:srgbClr val="0432FF"/>
                            </a:solidFill>
                            <a:latin typeface="Cambria Math" panose="02040503050406030204" pitchFamily="18" charset="0"/>
                          </a:rPr>
                        </m:ctrlPr>
                      </m:fPr>
                      <m:num>
                        <m:r>
                          <a:rPr lang="en-US" i="1" dirty="0" smtClean="0">
                            <a:solidFill>
                              <a:srgbClr val="0432FF"/>
                            </a:solidFill>
                            <a:latin typeface="Cambria Math" panose="02040503050406030204" pitchFamily="18" charset="0"/>
                          </a:rPr>
                          <m:t>4</m:t>
                        </m:r>
                      </m:num>
                      <m:den>
                        <m:r>
                          <a:rPr lang="en-US" b="0" i="1" dirty="0" smtClean="0">
                            <a:solidFill>
                              <a:srgbClr val="0432FF"/>
                            </a:solidFill>
                            <a:latin typeface="Cambria Math" panose="02040503050406030204" pitchFamily="18" charset="0"/>
                          </a:rPr>
                          <m:t>7</m:t>
                        </m:r>
                      </m:den>
                    </m:f>
                    <m:r>
                      <a:rPr lang="en-US" b="0" i="1"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0.</m:t>
                    </m:r>
                    <m:r>
                      <a:rPr lang="en-US" b="0" i="1" dirty="0" smtClean="0">
                        <a:solidFill>
                          <a:srgbClr val="0432FF"/>
                        </a:solidFill>
                        <a:latin typeface="Cambria Math" panose="02040503050406030204" pitchFamily="18" charset="0"/>
                      </a:rPr>
                      <m:t>57</m:t>
                    </m:r>
                  </m:oMath>
                </a14:m>
                <a:endParaRPr lang="en-US" i="1" dirty="0">
                  <a:solidFill>
                    <a:srgbClr val="0432FF"/>
                  </a:solidFill>
                </a:endParaRPr>
              </a:p>
            </p:txBody>
          </p:sp>
        </mc:Choice>
        <mc:Fallback xmlns="">
          <p:sp>
            <p:nvSpPr>
              <p:cNvPr id="2" name="TextBox 1">
                <a:extLst>
                  <a:ext uri="{FF2B5EF4-FFF2-40B4-BE49-F238E27FC236}">
                    <a16:creationId xmlns:a16="http://schemas.microsoft.com/office/drawing/2014/main" id="{9ACDD756-78EA-1AF6-43F2-AC905C7C263E}"/>
                  </a:ext>
                </a:extLst>
              </p:cNvPr>
              <p:cNvSpPr txBox="1">
                <a:spLocks noRot="1" noChangeAspect="1" noMove="1" noResize="1" noEditPoints="1" noAdjustHandles="1" noChangeArrowheads="1" noChangeShapeType="1" noTextEdit="1"/>
              </p:cNvSpPr>
              <p:nvPr/>
            </p:nvSpPr>
            <p:spPr>
              <a:xfrm>
                <a:off x="1639233" y="5319252"/>
                <a:ext cx="5902706" cy="483337"/>
              </a:xfrm>
              <a:prstGeom prst="rect">
                <a:avLst/>
              </a:prstGeom>
              <a:blipFill>
                <a:blip r:embed="rId12"/>
                <a:stretch>
                  <a:fillRect l="-1075" b="-789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CA3504E-596F-B750-5E98-4CA2C4A9448F}"/>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pic>
        <p:nvPicPr>
          <p:cNvPr id="10" name="Picture 9">
            <a:extLst>
              <a:ext uri="{FF2B5EF4-FFF2-40B4-BE49-F238E27FC236}">
                <a16:creationId xmlns:a16="http://schemas.microsoft.com/office/drawing/2014/main" id="{E8A4A14D-3593-0752-0F67-B37F69924980}"/>
              </a:ext>
            </a:extLst>
          </p:cNvPr>
          <p:cNvPicPr>
            <a:picLocks noChangeAspect="1"/>
          </p:cNvPicPr>
          <p:nvPr/>
        </p:nvPicPr>
        <p:blipFill>
          <a:blip r:embed="rId13">
            <a:alphaModFix/>
          </a:blip>
          <a:stretch>
            <a:fillRect/>
          </a:stretch>
        </p:blipFill>
        <p:spPr>
          <a:xfrm>
            <a:off x="8079720" y="1681515"/>
            <a:ext cx="3544999" cy="3075674"/>
          </a:xfrm>
          <a:prstGeom prst="rect">
            <a:avLst/>
          </a:prstGeom>
        </p:spPr>
      </p:pic>
    </p:spTree>
    <p:extLst>
      <p:ext uri="{BB962C8B-B14F-4D97-AF65-F5344CB8AC3E}">
        <p14:creationId xmlns:p14="http://schemas.microsoft.com/office/powerpoint/2010/main" val="1473733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A33D0-78C7-13B7-BB7F-D7A35B55A6E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9115260-95BF-0AD0-D645-2FA79747DB53}"/>
              </a:ext>
            </a:extLst>
          </p:cNvPr>
          <p:cNvSpPr>
            <a:spLocks noGrp="1"/>
          </p:cNvSpPr>
          <p:nvPr>
            <p:ph type="sldNum" sz="quarter" idx="12"/>
          </p:nvPr>
        </p:nvSpPr>
        <p:spPr/>
        <p:txBody>
          <a:bodyPr/>
          <a:lstStyle/>
          <a:p>
            <a:fld id="{387B101D-DD3C-9947-BBAC-237D8FE858E0}" type="slidenum">
              <a:rPr lang="en-US" smtClean="0"/>
              <a:t>30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CDEC4E-A863-A967-72F4-7B11B427DD5C}"/>
                  </a:ext>
                </a:extLst>
              </p:cNvPr>
              <p:cNvSpPr txBox="1"/>
              <p:nvPr/>
            </p:nvSpPr>
            <p:spPr>
              <a:xfrm>
                <a:off x="748480" y="1622326"/>
                <a:ext cx="10932243" cy="167834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How do we turn a Player’s score </a:t>
                </a:r>
                <a14:m>
                  <m:oMath xmlns:m="http://schemas.openxmlformats.org/officeDocument/2006/math">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i="1" dirty="0" err="1" smtClean="0">
                            <a:latin typeface="Cambria Math" panose="02040503050406030204" pitchFamily="18" charset="0"/>
                          </a:rPr>
                          <m:t>𝑖</m:t>
                        </m:r>
                      </m:sub>
                    </m:sSub>
                  </m:oMath>
                </a14:m>
                <a:r>
                  <a:rPr lang="en-US" dirty="0"/>
                  <a:t> into a selection weight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𝑤</m:t>
                        </m:r>
                      </m:e>
                      <m:sub>
                        <m:r>
                          <a:rPr lang="en-US" i="1" dirty="0" err="1" smtClean="0">
                            <a:latin typeface="Cambria Math" panose="02040503050406030204" pitchFamily="18" charset="0"/>
                          </a:rPr>
                          <m:t>𝑖</m:t>
                        </m:r>
                      </m:sub>
                    </m:sSub>
                  </m:oMath>
                </a14:m>
                <a:r>
                  <a:rPr lang="en-US" dirty="0"/>
                  <a:t> ?</a:t>
                </a:r>
              </a:p>
              <a:p>
                <a:pPr marL="285750" indent="-285750">
                  <a:lnSpc>
                    <a:spcPct val="200000"/>
                  </a:lnSpc>
                  <a:buFont typeface="Arial" panose="020B0604020202020204" pitchFamily="34" charset="0"/>
                  <a:buChar char="•"/>
                </a:pPr>
                <a:r>
                  <a:rPr lang="en-US" dirty="0"/>
                  <a:t>Higher scores should receive greater weight, but we must specify how strongly a score advantage matters.</a:t>
                </a:r>
              </a:p>
              <a:p>
                <a:pPr marL="285750" indent="-285750">
                  <a:lnSpc>
                    <a:spcPct val="200000"/>
                  </a:lnSpc>
                  <a:buFont typeface="Arial" panose="020B0604020202020204" pitchFamily="34" charset="0"/>
                  <a:buChar char="•"/>
                </a:pPr>
                <a:r>
                  <a:rPr lang="en-US" dirty="0"/>
                  <a:t>We control that relationship with a positive parameter called </a:t>
                </a:r>
                <a:r>
                  <a:rPr lang="en-US" b="1" dirty="0"/>
                  <a:t>selection temperature</a:t>
                </a:r>
                <a:r>
                  <a:rPr lang="en-US" dirty="0"/>
                  <a:t>, </a:t>
                </a:r>
                <a14:m>
                  <m:oMath xmlns:m="http://schemas.openxmlformats.org/officeDocument/2006/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a:rPr lang="en-US" i="1" dirty="0" smtClean="0">
                            <a:solidFill>
                              <a:srgbClr val="0432FF"/>
                            </a:solidFill>
                            <a:latin typeface="Cambria Math" panose="02040503050406030204" pitchFamily="18" charset="0"/>
                          </a:rPr>
                          <m:t>𝑠𝑒𝑙</m:t>
                        </m:r>
                      </m:sub>
                    </m:sSub>
                  </m:oMath>
                </a14:m>
                <a:r>
                  <a:rPr lang="en-US" dirty="0"/>
                  <a:t>.</a:t>
                </a:r>
              </a:p>
            </p:txBody>
          </p:sp>
        </mc:Choice>
        <mc:Fallback xmlns="">
          <p:sp>
            <p:nvSpPr>
              <p:cNvPr id="5" name="TextBox 4">
                <a:extLst>
                  <a:ext uri="{FF2B5EF4-FFF2-40B4-BE49-F238E27FC236}">
                    <a16:creationId xmlns:a16="http://schemas.microsoft.com/office/drawing/2014/main" id="{78CDEC4E-A863-A967-72F4-7B11B427DD5C}"/>
                  </a:ext>
                </a:extLst>
              </p:cNvPr>
              <p:cNvSpPr txBox="1">
                <a:spLocks noRot="1" noChangeAspect="1" noMove="1" noResize="1" noEditPoints="1" noAdjustHandles="1" noChangeArrowheads="1" noChangeShapeType="1" noTextEdit="1"/>
              </p:cNvSpPr>
              <p:nvPr/>
            </p:nvSpPr>
            <p:spPr>
              <a:xfrm>
                <a:off x="748480" y="1622326"/>
                <a:ext cx="10932243" cy="1678345"/>
              </a:xfrm>
              <a:prstGeom prst="rect">
                <a:avLst/>
              </a:prstGeom>
              <a:blipFill>
                <a:blip r:embed="rId2"/>
                <a:stretch>
                  <a:fillRect l="-465" b="-526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2F37875-C0EA-16AC-8406-2E36E36800B5}"/>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1072723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3F7A-96F4-8E8D-A5DB-8F469ACB09BF}"/>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CBD86FC-3028-B167-04F5-CA8F759560A9}"/>
              </a:ext>
            </a:extLst>
          </p:cNvPr>
          <p:cNvSpPr>
            <a:spLocks noGrp="1"/>
          </p:cNvSpPr>
          <p:nvPr>
            <p:ph type="sldNum" sz="quarter" idx="12"/>
          </p:nvPr>
        </p:nvSpPr>
        <p:spPr/>
        <p:txBody>
          <a:bodyPr/>
          <a:lstStyle/>
          <a:p>
            <a:fld id="{387B101D-DD3C-9947-BBAC-237D8FE858E0}" type="slidenum">
              <a:rPr lang="en-US" smtClean="0"/>
              <a:t>31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C7C1FE-AE71-7641-14BC-7EAA80532462}"/>
                  </a:ext>
                </a:extLst>
              </p:cNvPr>
              <p:cNvSpPr txBox="1"/>
              <p:nvPr/>
            </p:nvSpPr>
            <p:spPr>
              <a:xfrm>
                <a:off x="748480" y="1622326"/>
                <a:ext cx="10932243" cy="167834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How do we turn a Player’s score </a:t>
                </a:r>
                <a14:m>
                  <m:oMath xmlns:m="http://schemas.openxmlformats.org/officeDocument/2006/math">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i="1" dirty="0" err="1" smtClean="0">
                            <a:latin typeface="Cambria Math" panose="02040503050406030204" pitchFamily="18" charset="0"/>
                          </a:rPr>
                          <m:t>𝑖</m:t>
                        </m:r>
                      </m:sub>
                    </m:sSub>
                  </m:oMath>
                </a14:m>
                <a:r>
                  <a:rPr lang="en-US" dirty="0"/>
                  <a:t> into a selection weight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𝑤</m:t>
                        </m:r>
                      </m:e>
                      <m:sub>
                        <m:r>
                          <a:rPr lang="en-US" i="1" dirty="0" err="1" smtClean="0">
                            <a:latin typeface="Cambria Math" panose="02040503050406030204" pitchFamily="18" charset="0"/>
                          </a:rPr>
                          <m:t>𝑖</m:t>
                        </m:r>
                      </m:sub>
                    </m:sSub>
                  </m:oMath>
                </a14:m>
                <a:r>
                  <a:rPr lang="en-US" dirty="0"/>
                  <a:t> ?</a:t>
                </a:r>
              </a:p>
              <a:p>
                <a:pPr marL="285750" indent="-285750">
                  <a:lnSpc>
                    <a:spcPct val="200000"/>
                  </a:lnSpc>
                  <a:buFont typeface="Arial" panose="020B0604020202020204" pitchFamily="34" charset="0"/>
                  <a:buChar char="•"/>
                </a:pPr>
                <a:r>
                  <a:rPr lang="en-US" dirty="0"/>
                  <a:t>Higher scores should receive greater weight, but we must specify how strongly a score advantage matters.</a:t>
                </a:r>
              </a:p>
              <a:p>
                <a:pPr marL="285750" indent="-285750">
                  <a:lnSpc>
                    <a:spcPct val="200000"/>
                  </a:lnSpc>
                  <a:buFont typeface="Arial" panose="020B0604020202020204" pitchFamily="34" charset="0"/>
                  <a:buChar char="•"/>
                </a:pPr>
                <a:r>
                  <a:rPr lang="en-US" dirty="0"/>
                  <a:t>We control that relationship with a positive parameter called </a:t>
                </a:r>
                <a:r>
                  <a:rPr lang="en-US" b="1" dirty="0"/>
                  <a:t>selection temperature</a:t>
                </a:r>
                <a:r>
                  <a:rPr lang="en-US" dirty="0"/>
                  <a:t>, </a:t>
                </a:r>
                <a14:m>
                  <m:oMath xmlns:m="http://schemas.openxmlformats.org/officeDocument/2006/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a:rPr lang="en-US" i="1" dirty="0" smtClean="0">
                            <a:solidFill>
                              <a:srgbClr val="0432FF"/>
                            </a:solidFill>
                            <a:latin typeface="Cambria Math" panose="02040503050406030204" pitchFamily="18" charset="0"/>
                          </a:rPr>
                          <m:t>𝑠𝑒𝑙</m:t>
                        </m:r>
                      </m:sub>
                    </m:sSub>
                  </m:oMath>
                </a14:m>
                <a:r>
                  <a:rPr lang="en-US" dirty="0"/>
                  <a:t>.</a:t>
                </a:r>
              </a:p>
            </p:txBody>
          </p:sp>
        </mc:Choice>
        <mc:Fallback xmlns="">
          <p:sp>
            <p:nvSpPr>
              <p:cNvPr id="5" name="TextBox 4">
                <a:extLst>
                  <a:ext uri="{FF2B5EF4-FFF2-40B4-BE49-F238E27FC236}">
                    <a16:creationId xmlns:a16="http://schemas.microsoft.com/office/drawing/2014/main" id="{C7C7C1FE-AE71-7641-14BC-7EAA80532462}"/>
                  </a:ext>
                </a:extLst>
              </p:cNvPr>
              <p:cNvSpPr txBox="1">
                <a:spLocks noRot="1" noChangeAspect="1" noMove="1" noResize="1" noEditPoints="1" noAdjustHandles="1" noChangeArrowheads="1" noChangeShapeType="1" noTextEdit="1"/>
              </p:cNvSpPr>
              <p:nvPr/>
            </p:nvSpPr>
            <p:spPr>
              <a:xfrm>
                <a:off x="748480" y="1622326"/>
                <a:ext cx="10932243" cy="1678345"/>
              </a:xfrm>
              <a:prstGeom prst="rect">
                <a:avLst/>
              </a:prstGeom>
              <a:blipFill>
                <a:blip r:embed="rId2"/>
                <a:stretch>
                  <a:fillRect l="-465"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3FE3B98-6152-B8A7-1855-F73B45813899}"/>
                  </a:ext>
                </a:extLst>
              </p:cNvPr>
              <p:cNvSpPr txBox="1"/>
              <p:nvPr/>
            </p:nvSpPr>
            <p:spPr>
              <a:xfrm>
                <a:off x="2890684" y="4080387"/>
                <a:ext cx="5633884" cy="697242"/>
              </a:xfrm>
              <a:prstGeom prst="rect">
                <a:avLst/>
              </a:prstGeom>
              <a:noFill/>
            </p:spPr>
            <p:txBody>
              <a:bodyPr wrap="square" rtlCol="0">
                <a:spAutoFit/>
              </a:bodyPr>
              <a:lstStyle/>
              <a:p>
                <a:pPr algn="ctr"/>
                <a14:m>
                  <m:oMathPara xmlns:m="http://schemas.openxmlformats.org/officeDocument/2006/math">
                    <m:oMath>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𝑤</m:t>
                          </m:r>
                        </m:e>
                        <m:sub>
                          <m:r>
                            <a:rPr lang="en-US" sz="2400" i="1" dirty="0" smtClean="0">
                              <a:solidFill>
                                <a:srgbClr val="0432FF"/>
                              </a:solidFill>
                              <a:latin typeface="Cambria Math" panose="02040503050406030204" pitchFamily="18" charset="0"/>
                            </a:rPr>
                            <m:t>𝑖</m:t>
                          </m:r>
                        </m:sub>
                      </m:sSub>
                      <m:r>
                        <a:rPr lang="en-US" sz="2400" i="0" dirty="0" smtClean="0">
                          <a:solidFill>
                            <a:srgbClr val="0432FF"/>
                          </a:solidFill>
                          <a:latin typeface="Cambria Math" panose="02040503050406030204" pitchFamily="18" charset="0"/>
                        </a:rPr>
                        <m:t>=</m:t>
                      </m:r>
                      <m:sSup>
                        <m:sSupPr>
                          <m:ctrlPr>
                            <a:rPr lang="en-US" sz="2400" i="1" dirty="0" smtClean="0">
                              <a:solidFill>
                                <a:srgbClr val="0432FF"/>
                              </a:solidFill>
                              <a:latin typeface="Cambria Math" panose="02040503050406030204" pitchFamily="18" charset="0"/>
                            </a:rPr>
                          </m:ctrlPr>
                        </m:sSupPr>
                        <m:e>
                          <m:r>
                            <a:rPr lang="en-US" sz="2400" i="1" dirty="0" smtClean="0">
                              <a:solidFill>
                                <a:srgbClr val="0432FF"/>
                              </a:solidFill>
                              <a:latin typeface="Cambria Math" panose="02040503050406030204" pitchFamily="18" charset="0"/>
                            </a:rPr>
                            <m:t>𝑒</m:t>
                          </m:r>
                        </m:e>
                        <m:sup>
                          <m:d>
                            <m:dPr>
                              <m:ctrlPr>
                                <a:rPr lang="en-US" sz="2400" i="1" dirty="0" smtClean="0">
                                  <a:solidFill>
                                    <a:srgbClr val="0432FF"/>
                                  </a:solidFill>
                                  <a:latin typeface="Cambria Math" panose="02040503050406030204" pitchFamily="18" charset="0"/>
                                </a:rPr>
                              </m:ctrlPr>
                            </m:dPr>
                            <m:e>
                              <m:f>
                                <m:fPr>
                                  <m:ctrlPr>
                                    <a:rPr lang="en-US" sz="2400" i="1" dirty="0" smtClean="0">
                                      <a:solidFill>
                                        <a:srgbClr val="0432FF"/>
                                      </a:solidFill>
                                      <a:latin typeface="Cambria Math" panose="02040503050406030204" pitchFamily="18" charset="0"/>
                                    </a:rPr>
                                  </m:ctrlPr>
                                </m:fPr>
                                <m:num>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𝑖</m:t>
                                      </m:r>
                                    </m:sub>
                                  </m:sSub>
                                </m:num>
                                <m:den>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𝑡</m:t>
                                      </m:r>
                                    </m:e>
                                    <m:sub>
                                      <m:r>
                                        <a:rPr lang="en-US" sz="2400" i="1" dirty="0" smtClean="0">
                                          <a:solidFill>
                                            <a:srgbClr val="0432FF"/>
                                          </a:solidFill>
                                          <a:latin typeface="Cambria Math" panose="02040503050406030204" pitchFamily="18" charset="0"/>
                                        </a:rPr>
                                        <m:t>𝑠𝑒𝑙</m:t>
                                      </m:r>
                                    </m:sub>
                                  </m:sSub>
                                </m:den>
                              </m:f>
                            </m:e>
                          </m:d>
                        </m:sup>
                      </m:sSup>
                      <m:r>
                        <a:rPr lang="en-US" sz="2400" i="0" dirty="0" smtClean="0">
                          <a:latin typeface="Cambria Math" panose="02040503050406030204" pitchFamily="18" charset="0"/>
                        </a:rPr>
                        <m:t>,  </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𝑡</m:t>
                          </m:r>
                        </m:e>
                        <m:sub>
                          <m:r>
                            <a:rPr lang="en-US" sz="2400" i="1" dirty="0" smtClean="0">
                              <a:solidFill>
                                <a:srgbClr val="0432FF"/>
                              </a:solidFill>
                              <a:latin typeface="Cambria Math" panose="02040503050406030204" pitchFamily="18" charset="0"/>
                            </a:rPr>
                            <m:t>𝑠𝑒𝑙</m:t>
                          </m:r>
                        </m:sub>
                      </m:sSub>
                      <m:r>
                        <a:rPr lang="en-US" sz="2400" i="0" dirty="0" smtClean="0">
                          <a:solidFill>
                            <a:srgbClr val="0432FF"/>
                          </a:solidFill>
                          <a:latin typeface="Cambria Math" panose="02040503050406030204" pitchFamily="18" charset="0"/>
                        </a:rPr>
                        <m:t>&gt;0</m:t>
                      </m:r>
                    </m:oMath>
                  </m:oMathPara>
                </a14:m>
                <a:endParaRPr lang="en-US" sz="2400" dirty="0"/>
              </a:p>
            </p:txBody>
          </p:sp>
        </mc:Choice>
        <mc:Fallback xmlns="">
          <p:sp>
            <p:nvSpPr>
              <p:cNvPr id="2" name="TextBox 1">
                <a:extLst>
                  <a:ext uri="{FF2B5EF4-FFF2-40B4-BE49-F238E27FC236}">
                    <a16:creationId xmlns:a16="http://schemas.microsoft.com/office/drawing/2014/main" id="{63FE3B98-6152-B8A7-1855-F73B45813899}"/>
                  </a:ext>
                </a:extLst>
              </p:cNvPr>
              <p:cNvSpPr txBox="1">
                <a:spLocks noRot="1" noChangeAspect="1" noMove="1" noResize="1" noEditPoints="1" noAdjustHandles="1" noChangeArrowheads="1" noChangeShapeType="1" noTextEdit="1"/>
              </p:cNvSpPr>
              <p:nvPr/>
            </p:nvSpPr>
            <p:spPr>
              <a:xfrm>
                <a:off x="2890684" y="4080387"/>
                <a:ext cx="5633884" cy="697242"/>
              </a:xfrm>
              <a:prstGeom prst="rect">
                <a:avLst/>
              </a:prstGeom>
              <a:blipFill>
                <a:blip r:embed="rId3"/>
                <a:stretch>
                  <a:fillRect b="-1607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E8D64B2-1F6E-B5D0-E991-489BC8FEEDF5}"/>
              </a:ext>
            </a:extLst>
          </p:cNvPr>
          <p:cNvSpPr txBox="1"/>
          <p:nvPr/>
        </p:nvSpPr>
        <p:spPr>
          <a:xfrm>
            <a:off x="3682182" y="5456903"/>
            <a:ext cx="4159045" cy="369332"/>
          </a:xfrm>
          <a:prstGeom prst="rect">
            <a:avLst/>
          </a:prstGeom>
          <a:noFill/>
        </p:spPr>
        <p:txBody>
          <a:bodyPr wrap="square" rtlCol="0">
            <a:spAutoFit/>
          </a:bodyPr>
          <a:lstStyle/>
          <a:p>
            <a:r>
              <a:rPr lang="en-US" dirty="0"/>
              <a:t>These weights are called Gibbs weights</a:t>
            </a:r>
          </a:p>
        </p:txBody>
      </p:sp>
      <p:sp>
        <p:nvSpPr>
          <p:cNvPr id="4" name="TextBox 3">
            <a:extLst>
              <a:ext uri="{FF2B5EF4-FFF2-40B4-BE49-F238E27FC236}">
                <a16:creationId xmlns:a16="http://schemas.microsoft.com/office/drawing/2014/main" id="{C2625567-CE9E-529B-8239-69F59B167A4C}"/>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Uncertainty in selection</a:t>
            </a:r>
          </a:p>
        </p:txBody>
      </p:sp>
    </p:spTree>
    <p:extLst>
      <p:ext uri="{BB962C8B-B14F-4D97-AF65-F5344CB8AC3E}">
        <p14:creationId xmlns:p14="http://schemas.microsoft.com/office/powerpoint/2010/main" val="608697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FAC1A-E10A-8789-4188-44340D7DD10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FA163A5-C23E-3C5E-FF59-7C9EECFBBB45}"/>
              </a:ext>
            </a:extLst>
          </p:cNvPr>
          <p:cNvSpPr>
            <a:spLocks noGrp="1"/>
          </p:cNvSpPr>
          <p:nvPr>
            <p:ph type="sldNum" sz="quarter" idx="12"/>
          </p:nvPr>
        </p:nvSpPr>
        <p:spPr/>
        <p:txBody>
          <a:bodyPr/>
          <a:lstStyle/>
          <a:p>
            <a:fld id="{387B101D-DD3C-9947-BBAC-237D8FE858E0}" type="slidenum">
              <a:rPr lang="en-US" smtClean="0"/>
              <a:t>32</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F5AF35-B2E8-EF1B-0503-680A9CC0DD35}"/>
                  </a:ext>
                </a:extLst>
              </p:cNvPr>
              <p:cNvSpPr txBox="1"/>
              <p:nvPr/>
            </p:nvSpPr>
            <p:spPr>
              <a:xfrm>
                <a:off x="748480" y="1622326"/>
                <a:ext cx="10932243"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At each draw, a candidate’s probability of selection is their Gibbs weight divided by the total Gibbs weight of the current eligible pool.</a:t>
                </a:r>
              </a:p>
              <a:p>
                <a:pPr marL="285750" indent="-285750">
                  <a:lnSpc>
                    <a:spcPct val="200000"/>
                  </a:lnSpc>
                  <a:buFont typeface="Arial" panose="020B0604020202020204" pitchFamily="34" charset="0"/>
                  <a:buChar char="•"/>
                </a:pPr>
                <a:r>
                  <a:rPr lang="en-US" dirty="0"/>
                  <a:t>We define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𝑅</m:t>
                        </m:r>
                      </m:e>
                      <m:sub>
                        <m:r>
                          <a:rPr lang="en-US" i="1" dirty="0" err="1" smtClean="0">
                            <a:latin typeface="Cambria Math" panose="02040503050406030204" pitchFamily="18" charset="0"/>
                          </a:rPr>
                          <m:t>𝑟</m:t>
                        </m:r>
                      </m:sub>
                    </m:sSub>
                  </m:oMath>
                </a14:m>
                <a:r>
                  <a:rPr lang="en-US" dirty="0"/>
                  <a:t> as the current eligible pool at draw </a:t>
                </a:r>
                <a14:m>
                  <m:oMath xmlns:m="http://schemas.openxmlformats.org/officeDocument/2006/math">
                    <m:r>
                      <a:rPr lang="en-US" i="1" dirty="0" smtClean="0">
                        <a:latin typeface="Cambria Math" panose="02040503050406030204" pitchFamily="18" charset="0"/>
                      </a:rPr>
                      <m:t>𝑟</m:t>
                    </m:r>
                  </m:oMath>
                </a14:m>
                <a:r>
                  <a:rPr lang="en-US" dirty="0"/>
                  <a:t>, and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𝐼</m:t>
                        </m:r>
                      </m:e>
                      <m:sub>
                        <m:r>
                          <a:rPr lang="en-US" i="1" dirty="0" err="1" smtClean="0">
                            <a:latin typeface="Cambria Math" panose="02040503050406030204" pitchFamily="18" charset="0"/>
                          </a:rPr>
                          <m:t>𝑟</m:t>
                        </m:r>
                      </m:sub>
                    </m:sSub>
                  </m:oMath>
                </a14:m>
                <a:r>
                  <a:rPr lang="en-US" dirty="0"/>
                  <a:t> as the individual selected on the draw.</a:t>
                </a:r>
              </a:p>
              <a:p>
                <a:pPr marL="285750" indent="-285750">
                  <a:lnSpc>
                    <a:spcPct val="200000"/>
                  </a:lnSpc>
                  <a:buFont typeface="Arial" panose="020B0604020202020204" pitchFamily="34" charset="0"/>
                  <a:buChar char="•"/>
                </a:pPr>
                <a:endParaRPr lang="en-US" dirty="0"/>
              </a:p>
            </p:txBody>
          </p:sp>
        </mc:Choice>
        <mc:Fallback xmlns="">
          <p:sp>
            <p:nvSpPr>
              <p:cNvPr id="5" name="TextBox 4">
                <a:extLst>
                  <a:ext uri="{FF2B5EF4-FFF2-40B4-BE49-F238E27FC236}">
                    <a16:creationId xmlns:a16="http://schemas.microsoft.com/office/drawing/2014/main" id="{8FF5AF35-B2E8-EF1B-0503-680A9CC0DD35}"/>
                  </a:ext>
                </a:extLst>
              </p:cNvPr>
              <p:cNvSpPr txBox="1">
                <a:spLocks noRot="1" noChangeAspect="1" noMove="1" noResize="1" noEditPoints="1" noAdjustHandles="1" noChangeArrowheads="1" noChangeShapeType="1" noTextEdit="1"/>
              </p:cNvSpPr>
              <p:nvPr/>
            </p:nvSpPr>
            <p:spPr>
              <a:xfrm>
                <a:off x="748480" y="1622326"/>
                <a:ext cx="10932243" cy="2233753"/>
              </a:xfrm>
              <a:prstGeom prst="rect">
                <a:avLst/>
              </a:prstGeom>
              <a:blipFill>
                <a:blip r:embed="rId2"/>
                <a:stretch>
                  <a:fillRect l="-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9C1E73-1B75-ECEA-3577-00D1297EEE24}"/>
                  </a:ext>
                </a:extLst>
              </p:cNvPr>
              <p:cNvSpPr txBox="1"/>
              <p:nvPr/>
            </p:nvSpPr>
            <p:spPr>
              <a:xfrm>
                <a:off x="275303" y="4080387"/>
                <a:ext cx="11078497" cy="978986"/>
              </a:xfrm>
              <a:prstGeom prst="rect">
                <a:avLst/>
              </a:prstGeom>
              <a:noFill/>
            </p:spPr>
            <p:txBody>
              <a:bodyPr wrap="square" rtlCol="0">
                <a:spAutoFit/>
              </a:bodyPr>
              <a:lstStyle/>
              <a:p>
                <a:pPr algn="ctr"/>
                <a14:m>
                  <m:oMathPara xmlns:m="http://schemas.openxmlformats.org/officeDocument/2006/math">
                    <m:oMath>
                      <m:r>
                        <a:rPr lang="en-US" sz="2400" i="1" dirty="0" smtClean="0">
                          <a:solidFill>
                            <a:srgbClr val="0432FF"/>
                          </a:solidFill>
                          <a:latin typeface="Cambria Math" panose="02040503050406030204" pitchFamily="18" charset="0"/>
                        </a:rPr>
                        <m:t>𝑃𝑟</m:t>
                      </m:r>
                      <m:d>
                        <m:dPr>
                          <m:ctrlPr>
                            <a:rPr lang="en-US" sz="2400" i="1" dirty="0" err="1" smtClean="0">
                              <a:solidFill>
                                <a:srgbClr val="0432FF"/>
                              </a:solidFill>
                              <a:latin typeface="Cambria Math" panose="02040503050406030204" pitchFamily="18" charset="0"/>
                            </a:rPr>
                          </m:ctrlPr>
                        </m:dPr>
                        <m:e>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𝐼</m:t>
                              </m:r>
                            </m:e>
                            <m:sub>
                              <m:r>
                                <a:rPr lang="en-US" sz="2400" i="1" dirty="0" err="1" smtClean="0">
                                  <a:solidFill>
                                    <a:srgbClr val="0432FF"/>
                                  </a:solidFill>
                                  <a:latin typeface="Cambria Math" panose="02040503050406030204" pitchFamily="18" charset="0"/>
                                </a:rPr>
                                <m:t>𝑟</m:t>
                              </m:r>
                            </m:sub>
                          </m:sSub>
                          <m:r>
                            <a:rPr lang="en-US" sz="2400" i="0" dirty="0" err="1" smtClean="0">
                              <a:solidFill>
                                <a:srgbClr val="0432FF"/>
                              </a:solidFill>
                              <a:latin typeface="Cambria Math" panose="02040503050406030204" pitchFamily="18" charset="0"/>
                            </a:rPr>
                            <m:t>=</m:t>
                          </m:r>
                          <m:r>
                            <a:rPr lang="en-US" sz="2400" i="1" dirty="0" err="1" smtClean="0">
                              <a:solidFill>
                                <a:srgbClr val="0432FF"/>
                              </a:solidFill>
                              <a:latin typeface="Cambria Math" panose="02040503050406030204" pitchFamily="18" charset="0"/>
                            </a:rPr>
                            <m:t>𝑖</m:t>
                          </m:r>
                          <m:r>
                            <a:rPr lang="en-US" sz="2400" b="0" i="0" dirty="0" smtClean="0">
                              <a:solidFill>
                                <a:srgbClr val="0432FF"/>
                              </a:solidFill>
                              <a:latin typeface="Cambria Math" panose="02040503050406030204" pitchFamily="18" charset="0"/>
                            </a:rPr>
                            <m:t> </m:t>
                          </m:r>
                          <m:r>
                            <a:rPr lang="en-US" sz="2400" i="0" dirty="0" err="1" smtClean="0">
                              <a:solidFill>
                                <a:srgbClr val="0432FF"/>
                              </a:solidFill>
                              <a:latin typeface="Cambria Math" panose="02040503050406030204" pitchFamily="18" charset="0"/>
                            </a:rPr>
                            <m:t>|</m:t>
                          </m:r>
                          <m:sSub>
                            <m:sSubPr>
                              <m:ctrlPr>
                                <a:rPr lang="en-US" sz="2400" b="0" i="1" dirty="0" smtClean="0">
                                  <a:solidFill>
                                    <a:srgbClr val="0432FF"/>
                                  </a:solidFill>
                                  <a:latin typeface="Cambria Math" panose="02040503050406030204" pitchFamily="18" charset="0"/>
                                </a:rPr>
                              </m:ctrlPr>
                            </m:sSubPr>
                            <m:e>
                              <m:r>
                                <a:rPr lang="en-US" sz="2400" b="0" i="1" dirty="0" smtClean="0">
                                  <a:solidFill>
                                    <a:srgbClr val="0432FF"/>
                                  </a:solidFill>
                                  <a:latin typeface="Cambria Math" panose="02040503050406030204" pitchFamily="18" charset="0"/>
                                </a:rPr>
                                <m:t> </m:t>
                              </m:r>
                              <m:r>
                                <a:rPr lang="en-US" sz="2400" i="1" dirty="0" err="1" smtClean="0">
                                  <a:solidFill>
                                    <a:srgbClr val="0432FF"/>
                                  </a:solidFill>
                                  <a:latin typeface="Cambria Math" panose="02040503050406030204" pitchFamily="18" charset="0"/>
                                </a:rPr>
                                <m:t>𝑅</m:t>
                              </m:r>
                            </m:e>
                            <m:sub>
                              <m:r>
                                <a:rPr lang="en-US" sz="2400" i="1" dirty="0" err="1" smtClean="0">
                                  <a:solidFill>
                                    <a:srgbClr val="0432FF"/>
                                  </a:solidFill>
                                  <a:latin typeface="Cambria Math" panose="02040503050406030204" pitchFamily="18" charset="0"/>
                                </a:rPr>
                                <m:t>𝑟</m:t>
                              </m:r>
                            </m:sub>
                          </m:sSub>
                        </m:e>
                      </m:d>
                      <m:r>
                        <a:rPr lang="en-US" sz="2400" i="0" dirty="0" err="1" smtClean="0">
                          <a:solidFill>
                            <a:srgbClr val="0432FF"/>
                          </a:solidFill>
                          <a:latin typeface="Cambria Math" panose="02040503050406030204" pitchFamily="18" charset="0"/>
                        </a:rPr>
                        <m:t>=</m:t>
                      </m:r>
                      <m:f>
                        <m:fPr>
                          <m:ctrlPr>
                            <a:rPr lang="en-US" sz="2400" i="1" dirty="0" err="1" smtClean="0">
                              <a:solidFill>
                                <a:srgbClr val="0432FF"/>
                              </a:solidFill>
                              <a:latin typeface="Cambria Math" panose="02040503050406030204" pitchFamily="18" charset="0"/>
                            </a:rPr>
                          </m:ctrlPr>
                        </m:fPr>
                        <m:num>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𝑤</m:t>
                              </m:r>
                            </m:e>
                            <m:sub>
                              <m:r>
                                <a:rPr lang="en-US" sz="2400" i="1" dirty="0" err="1" smtClean="0">
                                  <a:solidFill>
                                    <a:srgbClr val="0432FF"/>
                                  </a:solidFill>
                                  <a:latin typeface="Cambria Math" panose="02040503050406030204" pitchFamily="18" charset="0"/>
                                </a:rPr>
                                <m:t>𝑖</m:t>
                              </m:r>
                            </m:sub>
                          </m:sSub>
                        </m:num>
                        <m:den>
                          <m:nary>
                            <m:naryPr>
                              <m:chr m:val="∑"/>
                              <m:limLoc m:val="undOvr"/>
                              <m:supHide m:val="on"/>
                              <m:ctrlPr>
                                <a:rPr lang="en-US" sz="2400" i="1" dirty="0" err="1" smtClean="0">
                                  <a:solidFill>
                                    <a:srgbClr val="0432FF"/>
                                  </a:solidFill>
                                  <a:latin typeface="Cambria Math" panose="02040503050406030204" pitchFamily="18" charset="0"/>
                                </a:rPr>
                              </m:ctrlPr>
                            </m:naryPr>
                            <m:sub>
                              <m:r>
                                <a:rPr lang="en-US" sz="2400" i="1" dirty="0" err="1" smtClean="0">
                                  <a:solidFill>
                                    <a:srgbClr val="0432FF"/>
                                  </a:solidFill>
                                  <a:latin typeface="Cambria Math" panose="02040503050406030204" pitchFamily="18" charset="0"/>
                                </a:rPr>
                                <m:t>ℎ</m:t>
                              </m:r>
                              <m:r>
                                <a:rPr lang="en-US" sz="2400" i="0" dirty="0" err="1" smtClean="0">
                                  <a:solidFill>
                                    <a:srgbClr val="0432FF"/>
                                  </a:solidFill>
                                  <a:latin typeface="Cambria Math" panose="02040503050406030204" pitchFamily="18" charset="0"/>
                                </a:rPr>
                                <m:t>∈</m:t>
                              </m:r>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𝑅</m:t>
                                  </m:r>
                                </m:e>
                                <m:sub>
                                  <m:r>
                                    <a:rPr lang="en-US" sz="2400" i="1" dirty="0" err="1" smtClean="0">
                                      <a:solidFill>
                                        <a:srgbClr val="0432FF"/>
                                      </a:solidFill>
                                      <a:latin typeface="Cambria Math" panose="02040503050406030204" pitchFamily="18" charset="0"/>
                                    </a:rPr>
                                    <m:t>𝑟</m:t>
                                  </m:r>
                                </m:sub>
                              </m:sSub>
                            </m:sub>
                            <m:sup/>
                            <m:e>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𝑤</m:t>
                                  </m:r>
                                </m:e>
                                <m:sub>
                                  <m:r>
                                    <a:rPr lang="en-US" sz="2400" i="1" dirty="0" err="1" smtClean="0">
                                      <a:solidFill>
                                        <a:srgbClr val="0432FF"/>
                                      </a:solidFill>
                                      <a:latin typeface="Cambria Math" panose="02040503050406030204" pitchFamily="18" charset="0"/>
                                    </a:rPr>
                                    <m:t>ℎ</m:t>
                                  </m:r>
                                </m:sub>
                              </m:sSub>
                            </m:e>
                          </m:nary>
                        </m:den>
                      </m:f>
                      <m:r>
                        <a:rPr lang="en-US" sz="2400" i="0" dirty="0" err="1" smtClean="0">
                          <a:solidFill>
                            <a:srgbClr val="0432FF"/>
                          </a:solidFill>
                          <a:latin typeface="Cambria Math" panose="02040503050406030204" pitchFamily="18" charset="0"/>
                        </a:rPr>
                        <m:t>=</m:t>
                      </m:r>
                      <m:f>
                        <m:fPr>
                          <m:ctrlPr>
                            <a:rPr lang="en-US" sz="2400" i="1" dirty="0" err="1" smtClean="0">
                              <a:solidFill>
                                <a:srgbClr val="0432FF"/>
                              </a:solidFill>
                              <a:latin typeface="Cambria Math" panose="02040503050406030204" pitchFamily="18" charset="0"/>
                            </a:rPr>
                          </m:ctrlPr>
                        </m:fPr>
                        <m:num>
                          <m:sSup>
                            <m:sSupPr>
                              <m:ctrlPr>
                                <a:rPr lang="en-US" sz="2400" i="1" dirty="0" err="1" smtClean="0">
                                  <a:solidFill>
                                    <a:srgbClr val="0432FF"/>
                                  </a:solidFill>
                                  <a:latin typeface="Cambria Math" panose="02040503050406030204" pitchFamily="18" charset="0"/>
                                </a:rPr>
                              </m:ctrlPr>
                            </m:sSupPr>
                            <m:e>
                              <m:r>
                                <a:rPr lang="en-US" sz="2400" i="1" dirty="0" err="1" smtClean="0">
                                  <a:solidFill>
                                    <a:srgbClr val="0432FF"/>
                                  </a:solidFill>
                                  <a:latin typeface="Cambria Math" panose="02040503050406030204" pitchFamily="18" charset="0"/>
                                </a:rPr>
                                <m:t>𝑒</m:t>
                              </m:r>
                            </m:e>
                            <m:sup>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𝑆</m:t>
                                  </m:r>
                                </m:e>
                                <m:sub>
                                  <m:r>
                                    <a:rPr lang="en-US" sz="2400" i="1" dirty="0" err="1" smtClean="0">
                                      <a:solidFill>
                                        <a:srgbClr val="0432FF"/>
                                      </a:solidFill>
                                      <a:latin typeface="Cambria Math" panose="02040503050406030204" pitchFamily="18" charset="0"/>
                                    </a:rPr>
                                    <m:t>𝑖</m:t>
                                  </m:r>
                                </m:sub>
                              </m:sSub>
                              <m:r>
                                <a:rPr lang="en-US" sz="2400" i="0" dirty="0" err="1" smtClean="0">
                                  <a:solidFill>
                                    <a:srgbClr val="0432FF"/>
                                  </a:solidFill>
                                  <a:latin typeface="Cambria Math" panose="02040503050406030204" pitchFamily="18" charset="0"/>
                                </a:rPr>
                                <m:t>/</m:t>
                              </m:r>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𝑡</m:t>
                                  </m:r>
                                </m:e>
                                <m:sub>
                                  <m:r>
                                    <a:rPr lang="en-US" sz="2400" i="1" dirty="0" err="1" smtClean="0">
                                      <a:solidFill>
                                        <a:srgbClr val="0432FF"/>
                                      </a:solidFill>
                                      <a:latin typeface="Cambria Math" panose="02040503050406030204" pitchFamily="18" charset="0"/>
                                    </a:rPr>
                                    <m:t>𝑠𝑒𝑙</m:t>
                                  </m:r>
                                </m:sub>
                              </m:sSub>
                            </m:sup>
                          </m:sSup>
                        </m:num>
                        <m:den>
                          <m:nary>
                            <m:naryPr>
                              <m:chr m:val="∑"/>
                              <m:limLoc m:val="undOvr"/>
                              <m:supHide m:val="on"/>
                              <m:ctrlPr>
                                <a:rPr lang="en-US" sz="2400" i="1" dirty="0" err="1" smtClean="0">
                                  <a:solidFill>
                                    <a:srgbClr val="0432FF"/>
                                  </a:solidFill>
                                  <a:latin typeface="Cambria Math" panose="02040503050406030204" pitchFamily="18" charset="0"/>
                                </a:rPr>
                              </m:ctrlPr>
                            </m:naryPr>
                            <m:sub>
                              <m:r>
                                <a:rPr lang="en-US" sz="2400" i="1" dirty="0" err="1" smtClean="0">
                                  <a:solidFill>
                                    <a:srgbClr val="0432FF"/>
                                  </a:solidFill>
                                  <a:latin typeface="Cambria Math" panose="02040503050406030204" pitchFamily="18" charset="0"/>
                                </a:rPr>
                                <m:t>ℎ</m:t>
                              </m:r>
                              <m:r>
                                <a:rPr lang="en-US" sz="2400" i="0" dirty="0" err="1" smtClean="0">
                                  <a:solidFill>
                                    <a:srgbClr val="0432FF"/>
                                  </a:solidFill>
                                  <a:latin typeface="Cambria Math" panose="02040503050406030204" pitchFamily="18" charset="0"/>
                                </a:rPr>
                                <m:t>∈</m:t>
                              </m:r>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𝑅</m:t>
                                  </m:r>
                                </m:e>
                                <m:sub>
                                  <m:r>
                                    <a:rPr lang="en-US" sz="2400" i="1" dirty="0" err="1" smtClean="0">
                                      <a:solidFill>
                                        <a:srgbClr val="0432FF"/>
                                      </a:solidFill>
                                      <a:latin typeface="Cambria Math" panose="02040503050406030204" pitchFamily="18" charset="0"/>
                                    </a:rPr>
                                    <m:t>𝑟</m:t>
                                  </m:r>
                                </m:sub>
                              </m:sSub>
                            </m:sub>
                            <m:sup/>
                            <m:e>
                              <m:sSup>
                                <m:sSupPr>
                                  <m:ctrlPr>
                                    <a:rPr lang="en-US" sz="2400" i="1" dirty="0" err="1" smtClean="0">
                                      <a:solidFill>
                                        <a:srgbClr val="0432FF"/>
                                      </a:solidFill>
                                      <a:latin typeface="Cambria Math" panose="02040503050406030204" pitchFamily="18" charset="0"/>
                                    </a:rPr>
                                  </m:ctrlPr>
                                </m:sSupPr>
                                <m:e>
                                  <m:r>
                                    <a:rPr lang="en-US" sz="2400" i="1" dirty="0" err="1" smtClean="0">
                                      <a:solidFill>
                                        <a:srgbClr val="0432FF"/>
                                      </a:solidFill>
                                      <a:latin typeface="Cambria Math" panose="02040503050406030204" pitchFamily="18" charset="0"/>
                                    </a:rPr>
                                    <m:t>𝑒</m:t>
                                  </m:r>
                                </m:e>
                                <m:sup>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𝑆</m:t>
                                      </m:r>
                                    </m:e>
                                    <m:sub>
                                      <m:r>
                                        <a:rPr lang="en-US" sz="2400" i="1" dirty="0" err="1" smtClean="0">
                                          <a:solidFill>
                                            <a:srgbClr val="0432FF"/>
                                          </a:solidFill>
                                          <a:latin typeface="Cambria Math" panose="02040503050406030204" pitchFamily="18" charset="0"/>
                                        </a:rPr>
                                        <m:t>ℎ</m:t>
                                      </m:r>
                                    </m:sub>
                                  </m:sSub>
                                  <m:r>
                                    <a:rPr lang="en-US" sz="2400" i="0" dirty="0" err="1" smtClean="0">
                                      <a:solidFill>
                                        <a:srgbClr val="0432FF"/>
                                      </a:solidFill>
                                      <a:latin typeface="Cambria Math" panose="02040503050406030204" pitchFamily="18" charset="0"/>
                                    </a:rPr>
                                    <m:t>/</m:t>
                                  </m:r>
                                  <m:sSub>
                                    <m:sSubPr>
                                      <m:ctrlPr>
                                        <a:rPr lang="en-US" sz="2400" i="1" dirty="0" err="1" smtClean="0">
                                          <a:solidFill>
                                            <a:srgbClr val="0432FF"/>
                                          </a:solidFill>
                                          <a:latin typeface="Cambria Math" panose="02040503050406030204" pitchFamily="18" charset="0"/>
                                        </a:rPr>
                                      </m:ctrlPr>
                                    </m:sSubPr>
                                    <m:e>
                                      <m:r>
                                        <a:rPr lang="en-US" sz="2400" i="1" dirty="0" err="1" smtClean="0">
                                          <a:solidFill>
                                            <a:srgbClr val="0432FF"/>
                                          </a:solidFill>
                                          <a:latin typeface="Cambria Math" panose="02040503050406030204" pitchFamily="18" charset="0"/>
                                        </a:rPr>
                                        <m:t>𝑡</m:t>
                                      </m:r>
                                    </m:e>
                                    <m:sub>
                                      <m:r>
                                        <a:rPr lang="en-US" sz="2400" i="1" dirty="0" err="1" smtClean="0">
                                          <a:solidFill>
                                            <a:srgbClr val="0432FF"/>
                                          </a:solidFill>
                                          <a:latin typeface="Cambria Math" panose="02040503050406030204" pitchFamily="18" charset="0"/>
                                        </a:rPr>
                                        <m:t>𝑠𝑒𝑙</m:t>
                                      </m:r>
                                    </m:sub>
                                  </m:sSub>
                                </m:sup>
                              </m:sSup>
                            </m:e>
                          </m:nary>
                        </m:den>
                      </m:f>
                    </m:oMath>
                  </m:oMathPara>
                </a14:m>
                <a:endParaRPr lang="en-US" sz="2400" dirty="0">
                  <a:solidFill>
                    <a:srgbClr val="0432FF"/>
                  </a:solidFill>
                </a:endParaRPr>
              </a:p>
            </p:txBody>
          </p:sp>
        </mc:Choice>
        <mc:Fallback xmlns="">
          <p:sp>
            <p:nvSpPr>
              <p:cNvPr id="2" name="TextBox 1">
                <a:extLst>
                  <a:ext uri="{FF2B5EF4-FFF2-40B4-BE49-F238E27FC236}">
                    <a16:creationId xmlns:a16="http://schemas.microsoft.com/office/drawing/2014/main" id="{4A9C1E73-1B75-ECEA-3577-00D1297EEE24}"/>
                  </a:ext>
                </a:extLst>
              </p:cNvPr>
              <p:cNvSpPr txBox="1">
                <a:spLocks noRot="1" noChangeAspect="1" noMove="1" noResize="1" noEditPoints="1" noAdjustHandles="1" noChangeArrowheads="1" noChangeShapeType="1" noTextEdit="1"/>
              </p:cNvSpPr>
              <p:nvPr/>
            </p:nvSpPr>
            <p:spPr>
              <a:xfrm>
                <a:off x="275303" y="4080387"/>
                <a:ext cx="11078497" cy="978986"/>
              </a:xfrm>
              <a:prstGeom prst="rect">
                <a:avLst/>
              </a:prstGeom>
              <a:blipFill>
                <a:blip r:embed="rId3"/>
                <a:stretch>
                  <a:fillRect t="-14103" b="-8589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B437620-663B-3A85-CB35-EE247CEA1511}"/>
              </a:ext>
            </a:extLst>
          </p:cNvPr>
          <p:cNvSpPr txBox="1"/>
          <p:nvPr/>
        </p:nvSpPr>
        <p:spPr>
          <a:xfrm>
            <a:off x="1484672" y="5526144"/>
            <a:ext cx="9222657" cy="369332"/>
          </a:xfrm>
          <a:prstGeom prst="rect">
            <a:avLst/>
          </a:prstGeom>
          <a:noFill/>
        </p:spPr>
        <p:txBody>
          <a:bodyPr wrap="square">
            <a:spAutoFit/>
          </a:bodyPr>
          <a:lstStyle/>
          <a:p>
            <a:pPr algn="ctr"/>
            <a:r>
              <a:rPr lang="en-US" b="1" i="1" dirty="0"/>
              <a:t>This is Plackett–Luce selection without replacement, using Gibbs weights.</a:t>
            </a:r>
          </a:p>
        </p:txBody>
      </p:sp>
      <p:sp>
        <p:nvSpPr>
          <p:cNvPr id="7" name="TextBox 6">
            <a:extLst>
              <a:ext uri="{FF2B5EF4-FFF2-40B4-BE49-F238E27FC236}">
                <a16:creationId xmlns:a16="http://schemas.microsoft.com/office/drawing/2014/main" id="{B6B8027E-F4CE-8EAE-8AC5-F66331F77339}"/>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From weights to selection probabilities</a:t>
            </a:r>
          </a:p>
        </p:txBody>
      </p:sp>
    </p:spTree>
    <p:extLst>
      <p:ext uri="{BB962C8B-B14F-4D97-AF65-F5344CB8AC3E}">
        <p14:creationId xmlns:p14="http://schemas.microsoft.com/office/powerpoint/2010/main" val="2635994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8D81-7330-966E-0FCB-BD4CAE8BF44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EADF50A-23CC-972D-5A5F-C641FBFBF51F}"/>
              </a:ext>
            </a:extLst>
          </p:cNvPr>
          <p:cNvSpPr>
            <a:spLocks noGrp="1"/>
          </p:cNvSpPr>
          <p:nvPr>
            <p:ph type="sldNum" sz="quarter" idx="12"/>
          </p:nvPr>
        </p:nvSpPr>
        <p:spPr/>
        <p:txBody>
          <a:bodyPr/>
          <a:lstStyle/>
          <a:p>
            <a:fld id="{387B101D-DD3C-9947-BBAC-237D8FE858E0}" type="slidenum">
              <a:rPr lang="en-US" smtClean="0"/>
              <a:t>33</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7B438C-5C11-13B2-053B-61D5A8E44FCF}"/>
                  </a:ext>
                </a:extLst>
              </p:cNvPr>
              <p:cNvSpPr txBox="1"/>
              <p:nvPr/>
            </p:nvSpPr>
            <p:spPr>
              <a:xfrm>
                <a:off x="748480" y="1622326"/>
                <a:ext cx="1093224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Consider players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ℎ</m:t>
                    </m:r>
                  </m:oMath>
                </a14:m>
                <a:r>
                  <a:rPr lang="en-US" dirty="0"/>
                  <a:t>, both eligible at the same draw. Taking the ratio of their selection probabilities measures how much more likely one is to be selected next.</a:t>
                </a:r>
              </a:p>
              <a:p>
                <a:pPr marL="285750" indent="-285750">
                  <a:lnSpc>
                    <a:spcPct val="150000"/>
                  </a:lnSpc>
                  <a:buFont typeface="Arial" panose="020B0604020202020204" pitchFamily="34" charset="0"/>
                  <a:buChar char="•"/>
                </a:pPr>
                <a:r>
                  <a:rPr lang="en-US" dirty="0"/>
                  <a:t>If we let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𝑟</m:t>
                        </m:r>
                      </m:sub>
                    </m:sSub>
                  </m:oMath>
                </a14:m>
                <a:r>
                  <a:rPr lang="en-US" dirty="0"/>
                  <a:t> be the total pool weight </a:t>
                </a:r>
                <a14:m>
                  <m:oMath xmlns:m="http://schemas.openxmlformats.org/officeDocument/2006/math">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 </m:t>
                        </m:r>
                        <m:r>
                          <a:rPr lang="en-US" b="0" i="0" dirty="0" smtClean="0">
                            <a:solidFill>
                              <a:srgbClr val="0432FF"/>
                            </a:solidFill>
                            <a:latin typeface="Cambria Math" panose="02040503050406030204" pitchFamily="18" charset="0"/>
                          </a:rPr>
                          <m:t>𝑍</m:t>
                        </m:r>
                      </m:e>
                      <m:sub>
                        <m:r>
                          <a:rPr lang="en-US" b="0" i="0" dirty="0" smtClean="0">
                            <a:solidFill>
                              <a:srgbClr val="0432FF"/>
                            </a:solidFill>
                            <a:latin typeface="Cambria Math" panose="02040503050406030204" pitchFamily="18" charset="0"/>
                          </a:rPr>
                          <m:t>𝑟</m:t>
                        </m:r>
                      </m:sub>
                    </m:sSub>
                    <m:r>
                      <a:rPr lang="en-US" b="0" i="0" dirty="0" smtClean="0">
                        <a:solidFill>
                          <a:srgbClr val="0432FF"/>
                        </a:solidFill>
                        <a:latin typeface="Cambria Math" panose="02040503050406030204" pitchFamily="18" charset="0"/>
                      </a:rPr>
                      <m:t> = </m:t>
                    </m:r>
                    <m:nary>
                      <m:naryPr>
                        <m:chr m:val="∑"/>
                        <m:limLoc m:val="undOvr"/>
                        <m:supHide m:val="on"/>
                        <m:ctrlPr>
                          <a:rPr lang="en-US" b="0" i="0" dirty="0" smtClean="0">
                            <a:solidFill>
                              <a:srgbClr val="0432FF"/>
                            </a:solidFill>
                            <a:latin typeface="Cambria Math" panose="02040503050406030204" pitchFamily="18" charset="0"/>
                          </a:rPr>
                        </m:ctrlPr>
                      </m:naryPr>
                      <m:sub>
                        <m:r>
                          <a:rPr lang="en-US" b="0" i="0" dirty="0" smtClean="0">
                            <a:solidFill>
                              <a:srgbClr val="0432FF"/>
                            </a:solidFill>
                            <a:latin typeface="Cambria Math" panose="02040503050406030204" pitchFamily="18" charset="0"/>
                          </a:rPr>
                          <m:t>𝑘</m:t>
                        </m:r>
                        <m:r>
                          <a:rPr lang="en-US" b="0" i="0" dirty="0" smtClean="0">
                            <a:solidFill>
                              <a:srgbClr val="0432FF"/>
                            </a:solidFill>
                            <a:latin typeface="Cambria Math" panose="02040503050406030204" pitchFamily="18" charset="0"/>
                          </a:rPr>
                          <m:t>∈</m:t>
                        </m:r>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𝑅</m:t>
                            </m:r>
                          </m:e>
                          <m:sub>
                            <m:r>
                              <a:rPr lang="en-US" b="0" i="0" dirty="0" smtClean="0">
                                <a:solidFill>
                                  <a:srgbClr val="0432FF"/>
                                </a:solidFill>
                                <a:latin typeface="Cambria Math" panose="02040503050406030204" pitchFamily="18" charset="0"/>
                              </a:rPr>
                              <m:t>𝑟</m:t>
                            </m:r>
                          </m:sub>
                        </m:sSub>
                      </m:sub>
                      <m:sup/>
                      <m:e>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𝑤</m:t>
                            </m:r>
                          </m:e>
                          <m:sub>
                            <m:r>
                              <a:rPr lang="en-US" b="0" i="0" dirty="0" smtClean="0">
                                <a:solidFill>
                                  <a:srgbClr val="0432FF"/>
                                </a:solidFill>
                                <a:latin typeface="Cambria Math" panose="02040503050406030204" pitchFamily="18" charset="0"/>
                              </a:rPr>
                              <m:t>𝑘</m:t>
                            </m:r>
                          </m:sub>
                        </m:sSub>
                      </m:e>
                    </m:nary>
                  </m:oMath>
                </a14:m>
                <a:endParaRPr lang="en-US" dirty="0"/>
              </a:p>
            </p:txBody>
          </p:sp>
        </mc:Choice>
        <mc:Fallback xmlns="">
          <p:sp>
            <p:nvSpPr>
              <p:cNvPr id="5" name="TextBox 4">
                <a:extLst>
                  <a:ext uri="{FF2B5EF4-FFF2-40B4-BE49-F238E27FC236}">
                    <a16:creationId xmlns:a16="http://schemas.microsoft.com/office/drawing/2014/main" id="{4E7B438C-5C11-13B2-053B-61D5A8E44FCF}"/>
                  </a:ext>
                </a:extLst>
              </p:cNvPr>
              <p:cNvSpPr txBox="1">
                <a:spLocks noRot="1" noChangeAspect="1" noMove="1" noResize="1" noEditPoints="1" noAdjustHandles="1" noChangeArrowheads="1" noChangeShapeType="1" noTextEdit="1"/>
              </p:cNvSpPr>
              <p:nvPr/>
            </p:nvSpPr>
            <p:spPr>
              <a:xfrm>
                <a:off x="748480" y="1622326"/>
                <a:ext cx="10932243" cy="1346907"/>
              </a:xfrm>
              <a:prstGeom prst="rect">
                <a:avLst/>
              </a:prstGeom>
              <a:blipFill>
                <a:blip r:embed="rId2"/>
                <a:stretch>
                  <a:fillRect l="-465" b="-4392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BDEF4A7-CE0E-BF20-4912-70BFF0288200}"/>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MUCH does a score advantage matter?</a:t>
            </a:r>
          </a:p>
        </p:txBody>
      </p:sp>
    </p:spTree>
    <p:extLst>
      <p:ext uri="{BB962C8B-B14F-4D97-AF65-F5344CB8AC3E}">
        <p14:creationId xmlns:p14="http://schemas.microsoft.com/office/powerpoint/2010/main" val="515687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CE796-59E4-3208-94E3-15361F8A962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D9F5A5B-7259-3CB2-9299-80764CF0452D}"/>
              </a:ext>
            </a:extLst>
          </p:cNvPr>
          <p:cNvSpPr>
            <a:spLocks noGrp="1"/>
          </p:cNvSpPr>
          <p:nvPr>
            <p:ph type="sldNum" sz="quarter" idx="12"/>
          </p:nvPr>
        </p:nvSpPr>
        <p:spPr/>
        <p:txBody>
          <a:bodyPr/>
          <a:lstStyle/>
          <a:p>
            <a:fld id="{387B101D-DD3C-9947-BBAC-237D8FE858E0}" type="slidenum">
              <a:rPr lang="en-US" smtClean="0"/>
              <a:t>34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0F20C7-A875-CCD6-D648-A33B34618912}"/>
                  </a:ext>
                </a:extLst>
              </p:cNvPr>
              <p:cNvSpPr txBox="1"/>
              <p:nvPr/>
            </p:nvSpPr>
            <p:spPr>
              <a:xfrm>
                <a:off x="748480" y="1622326"/>
                <a:ext cx="1093224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Consider players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ℎ</m:t>
                    </m:r>
                  </m:oMath>
                </a14:m>
                <a:r>
                  <a:rPr lang="en-US" dirty="0"/>
                  <a:t>, both eligible at the same draw. Taking the ratio of their selection probabilities measures how much more likely one is to be selected next.</a:t>
                </a:r>
              </a:p>
              <a:p>
                <a:pPr marL="285750" indent="-285750">
                  <a:lnSpc>
                    <a:spcPct val="150000"/>
                  </a:lnSpc>
                  <a:buFont typeface="Arial" panose="020B0604020202020204" pitchFamily="34" charset="0"/>
                  <a:buChar char="•"/>
                </a:pPr>
                <a:r>
                  <a:rPr lang="en-US" dirty="0"/>
                  <a:t>If we let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𝑟</m:t>
                        </m:r>
                      </m:sub>
                    </m:sSub>
                  </m:oMath>
                </a14:m>
                <a:r>
                  <a:rPr lang="en-US" dirty="0"/>
                  <a:t> be the total pool weight </a:t>
                </a:r>
                <a14:m>
                  <m:oMath xmlns:m="http://schemas.openxmlformats.org/officeDocument/2006/math">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 </m:t>
                        </m:r>
                        <m:r>
                          <a:rPr lang="en-US" b="0" i="0" dirty="0" smtClean="0">
                            <a:solidFill>
                              <a:srgbClr val="0432FF"/>
                            </a:solidFill>
                            <a:latin typeface="Cambria Math" panose="02040503050406030204" pitchFamily="18" charset="0"/>
                          </a:rPr>
                          <m:t>𝑍</m:t>
                        </m:r>
                      </m:e>
                      <m:sub>
                        <m:r>
                          <a:rPr lang="en-US" b="0" i="0" dirty="0" smtClean="0">
                            <a:solidFill>
                              <a:srgbClr val="0432FF"/>
                            </a:solidFill>
                            <a:latin typeface="Cambria Math" panose="02040503050406030204" pitchFamily="18" charset="0"/>
                          </a:rPr>
                          <m:t>𝑟</m:t>
                        </m:r>
                      </m:sub>
                    </m:sSub>
                    <m:r>
                      <a:rPr lang="en-US" b="0" i="0" dirty="0" smtClean="0">
                        <a:solidFill>
                          <a:srgbClr val="0432FF"/>
                        </a:solidFill>
                        <a:latin typeface="Cambria Math" panose="02040503050406030204" pitchFamily="18" charset="0"/>
                      </a:rPr>
                      <m:t> = </m:t>
                    </m:r>
                    <m:nary>
                      <m:naryPr>
                        <m:chr m:val="∑"/>
                        <m:limLoc m:val="undOvr"/>
                        <m:supHide m:val="on"/>
                        <m:ctrlPr>
                          <a:rPr lang="en-US" b="0" i="0" dirty="0" smtClean="0">
                            <a:solidFill>
                              <a:srgbClr val="0432FF"/>
                            </a:solidFill>
                            <a:latin typeface="Cambria Math" panose="02040503050406030204" pitchFamily="18" charset="0"/>
                          </a:rPr>
                        </m:ctrlPr>
                      </m:naryPr>
                      <m:sub>
                        <m:r>
                          <a:rPr lang="en-US" b="0" i="0" dirty="0" smtClean="0">
                            <a:solidFill>
                              <a:srgbClr val="0432FF"/>
                            </a:solidFill>
                            <a:latin typeface="Cambria Math" panose="02040503050406030204" pitchFamily="18" charset="0"/>
                          </a:rPr>
                          <m:t>𝑘</m:t>
                        </m:r>
                        <m:r>
                          <a:rPr lang="en-US" b="0" i="0" dirty="0" smtClean="0">
                            <a:solidFill>
                              <a:srgbClr val="0432FF"/>
                            </a:solidFill>
                            <a:latin typeface="Cambria Math" panose="02040503050406030204" pitchFamily="18" charset="0"/>
                          </a:rPr>
                          <m:t>∈</m:t>
                        </m:r>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𝑅</m:t>
                            </m:r>
                          </m:e>
                          <m:sub>
                            <m:r>
                              <a:rPr lang="en-US" b="0" i="0" dirty="0" smtClean="0">
                                <a:solidFill>
                                  <a:srgbClr val="0432FF"/>
                                </a:solidFill>
                                <a:latin typeface="Cambria Math" panose="02040503050406030204" pitchFamily="18" charset="0"/>
                              </a:rPr>
                              <m:t>𝑟</m:t>
                            </m:r>
                          </m:sub>
                        </m:sSub>
                      </m:sub>
                      <m:sup/>
                      <m:e>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𝑤</m:t>
                            </m:r>
                          </m:e>
                          <m:sub>
                            <m:r>
                              <a:rPr lang="en-US" b="0" i="0" dirty="0" smtClean="0">
                                <a:solidFill>
                                  <a:srgbClr val="0432FF"/>
                                </a:solidFill>
                                <a:latin typeface="Cambria Math" panose="02040503050406030204" pitchFamily="18" charset="0"/>
                              </a:rPr>
                              <m:t>𝑘</m:t>
                            </m:r>
                          </m:sub>
                        </m:sSub>
                      </m:e>
                    </m:nary>
                  </m:oMath>
                </a14:m>
                <a:endParaRPr lang="en-US" dirty="0"/>
              </a:p>
            </p:txBody>
          </p:sp>
        </mc:Choice>
        <mc:Fallback xmlns="">
          <p:sp>
            <p:nvSpPr>
              <p:cNvPr id="5" name="TextBox 4">
                <a:extLst>
                  <a:ext uri="{FF2B5EF4-FFF2-40B4-BE49-F238E27FC236}">
                    <a16:creationId xmlns:a16="http://schemas.microsoft.com/office/drawing/2014/main" id="{140F20C7-A875-CCD6-D648-A33B34618912}"/>
                  </a:ext>
                </a:extLst>
              </p:cNvPr>
              <p:cNvSpPr txBox="1">
                <a:spLocks noRot="1" noChangeAspect="1" noMove="1" noResize="1" noEditPoints="1" noAdjustHandles="1" noChangeArrowheads="1" noChangeShapeType="1" noTextEdit="1"/>
              </p:cNvSpPr>
              <p:nvPr/>
            </p:nvSpPr>
            <p:spPr>
              <a:xfrm>
                <a:off x="748480" y="1622326"/>
                <a:ext cx="10932243" cy="1346907"/>
              </a:xfrm>
              <a:prstGeom prst="rect">
                <a:avLst/>
              </a:prstGeom>
              <a:blipFill>
                <a:blip r:embed="rId2"/>
                <a:stretch>
                  <a:fillRect l="-465" b="-439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1600CD-0DC5-BE33-A4B2-9AA1CE7D8EB1}"/>
                  </a:ext>
                </a:extLst>
              </p:cNvPr>
              <p:cNvSpPr txBox="1"/>
              <p:nvPr/>
            </p:nvSpPr>
            <p:spPr>
              <a:xfrm>
                <a:off x="2315497" y="4149211"/>
                <a:ext cx="7561007" cy="871521"/>
              </a:xfrm>
              <a:prstGeom prst="rect">
                <a:avLst/>
              </a:prstGeom>
              <a:noFill/>
            </p:spPr>
            <p:txBody>
              <a:bodyPr wrap="square" rtlCol="0">
                <a:spAutoFit/>
              </a:bodyPr>
              <a:lstStyle/>
              <a:p>
                <a:pPr algn="ctr"/>
                <a14:m>
                  <m:oMathPara xmlns:m="http://schemas.openxmlformats.org/officeDocument/2006/math">
                    <m:oMathParaPr>
                      <m:jc m:val="left"/>
                    </m:oMathParaPr>
                    <m:oMath>
                      <m:f>
                        <m:fPr>
                          <m:ctrlPr>
                            <a:rPr lang="en-US" sz="2400" i="1" dirty="0" smtClean="0">
                              <a:solidFill>
                                <a:srgbClr val="0432FF"/>
                              </a:solidFill>
                              <a:latin typeface="Cambria Math" panose="02040503050406030204" pitchFamily="18" charset="0"/>
                            </a:rPr>
                          </m:ctrlPr>
                        </m:fPr>
                        <m:num>
                          <m:func>
                            <m:funcPr>
                              <m:ctrlPr>
                                <a:rPr lang="en-US" sz="2400" i="1" dirty="0" smtClean="0">
                                  <a:solidFill>
                                    <a:srgbClr val="0432FF"/>
                                  </a:solidFill>
                                  <a:latin typeface="Cambria Math" panose="02040503050406030204" pitchFamily="18" charset="0"/>
                                </a:rPr>
                              </m:ctrlPr>
                            </m:funcPr>
                            <m:fName>
                              <m:r>
                                <m:rPr>
                                  <m:sty m:val="p"/>
                                </m:rPr>
                                <a:rPr lang="en-US" sz="2400" i="1" dirty="0" smtClean="0">
                                  <a:solidFill>
                                    <a:srgbClr val="0432FF"/>
                                  </a:solidFill>
                                  <a:latin typeface="Cambria Math" panose="02040503050406030204" pitchFamily="18" charset="0"/>
                                </a:rPr>
                                <m:t>Pr</m:t>
                              </m:r>
                            </m:fName>
                            <m:e>
                              <m:d>
                                <m:dPr>
                                  <m:ctrlPr>
                                    <a:rPr lang="en-US" sz="2400" i="1" dirty="0" smtClean="0">
                                      <a:solidFill>
                                        <a:srgbClr val="0432FF"/>
                                      </a:solidFill>
                                      <a:latin typeface="Cambria Math" panose="02040503050406030204" pitchFamily="18" charset="0"/>
                                    </a:rPr>
                                  </m:ctrlPr>
                                </m:dPr>
                                <m:e>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𝐼</m:t>
                                      </m:r>
                                    </m:e>
                                    <m:sub>
                                      <m:r>
                                        <a:rPr lang="en-US" sz="2400" i="1" dirty="0" smtClean="0">
                                          <a:solidFill>
                                            <a:srgbClr val="0432FF"/>
                                          </a:solidFill>
                                          <a:latin typeface="Cambria Math" panose="02040503050406030204" pitchFamily="18" charset="0"/>
                                        </a:rPr>
                                        <m:t>𝑟</m:t>
                                      </m:r>
                                    </m:sub>
                                  </m:sSub>
                                  <m:r>
                                    <a:rPr lang="en-US" sz="2400" i="1" dirty="0" smtClean="0">
                                      <a:solidFill>
                                        <a:srgbClr val="0432FF"/>
                                      </a:solidFill>
                                      <a:latin typeface="Cambria Math" panose="02040503050406030204" pitchFamily="18" charset="0"/>
                                    </a:rPr>
                                    <m:t>=</m:t>
                                  </m:r>
                                  <m:r>
                                    <a:rPr lang="en-US" sz="2400" i="1" dirty="0" smtClean="0">
                                      <a:solidFill>
                                        <a:srgbClr val="0432FF"/>
                                      </a:solidFill>
                                      <a:latin typeface="Cambria Math" panose="02040503050406030204" pitchFamily="18" charset="0"/>
                                    </a:rPr>
                                    <m:t>𝑖</m:t>
                                  </m:r>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𝑅</m:t>
                                      </m:r>
                                    </m:e>
                                    <m:sub>
                                      <m:r>
                                        <a:rPr lang="en-US" sz="2400" i="1" dirty="0" smtClean="0">
                                          <a:solidFill>
                                            <a:srgbClr val="0432FF"/>
                                          </a:solidFill>
                                          <a:latin typeface="Cambria Math" panose="02040503050406030204" pitchFamily="18" charset="0"/>
                                        </a:rPr>
                                        <m:t>𝑟</m:t>
                                      </m:r>
                                    </m:sub>
                                  </m:sSub>
                                </m:e>
                              </m:d>
                            </m:e>
                          </m:func>
                        </m:num>
                        <m:den>
                          <m:func>
                            <m:funcPr>
                              <m:ctrlPr>
                                <a:rPr lang="en-US" sz="2400" i="1" dirty="0" smtClean="0">
                                  <a:solidFill>
                                    <a:srgbClr val="0432FF"/>
                                  </a:solidFill>
                                  <a:latin typeface="Cambria Math" panose="02040503050406030204" pitchFamily="18" charset="0"/>
                                </a:rPr>
                              </m:ctrlPr>
                            </m:funcPr>
                            <m:fName>
                              <m:r>
                                <m:rPr>
                                  <m:sty m:val="p"/>
                                </m:rPr>
                                <a:rPr lang="en-US" sz="2400" i="1" dirty="0" smtClean="0">
                                  <a:solidFill>
                                    <a:srgbClr val="0432FF"/>
                                  </a:solidFill>
                                  <a:latin typeface="Cambria Math" panose="02040503050406030204" pitchFamily="18" charset="0"/>
                                </a:rPr>
                                <m:t>Pr</m:t>
                              </m:r>
                            </m:fName>
                            <m:e>
                              <m:d>
                                <m:dPr>
                                  <m:ctrlPr>
                                    <a:rPr lang="en-US" sz="2400" i="1" dirty="0" smtClean="0">
                                      <a:solidFill>
                                        <a:srgbClr val="0432FF"/>
                                      </a:solidFill>
                                      <a:latin typeface="Cambria Math" panose="02040503050406030204" pitchFamily="18" charset="0"/>
                                    </a:rPr>
                                  </m:ctrlPr>
                                </m:dPr>
                                <m:e>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𝐼</m:t>
                                      </m:r>
                                    </m:e>
                                    <m:sub>
                                      <m:r>
                                        <a:rPr lang="en-US" sz="2400" i="1" dirty="0" smtClean="0">
                                          <a:solidFill>
                                            <a:srgbClr val="0432FF"/>
                                          </a:solidFill>
                                          <a:latin typeface="Cambria Math" panose="02040503050406030204" pitchFamily="18" charset="0"/>
                                        </a:rPr>
                                        <m:t>𝑟</m:t>
                                      </m:r>
                                    </m:sub>
                                  </m:sSub>
                                  <m:r>
                                    <a:rPr lang="en-US" sz="2400" i="1" dirty="0" smtClean="0">
                                      <a:solidFill>
                                        <a:srgbClr val="0432FF"/>
                                      </a:solidFill>
                                      <a:latin typeface="Cambria Math" panose="02040503050406030204" pitchFamily="18" charset="0"/>
                                    </a:rPr>
                                    <m:t>=</m:t>
                                  </m:r>
                                  <m:r>
                                    <a:rPr lang="en-US" sz="2400" i="1" dirty="0" smtClean="0">
                                      <a:solidFill>
                                        <a:srgbClr val="0432FF"/>
                                      </a:solidFill>
                                      <a:latin typeface="Cambria Math" panose="02040503050406030204" pitchFamily="18" charset="0"/>
                                    </a:rPr>
                                    <m:t>ℎ</m:t>
                                  </m:r>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𝑅</m:t>
                                      </m:r>
                                    </m:e>
                                    <m:sub>
                                      <m:r>
                                        <a:rPr lang="en-US" sz="2400" i="1" dirty="0" smtClean="0">
                                          <a:solidFill>
                                            <a:srgbClr val="0432FF"/>
                                          </a:solidFill>
                                          <a:latin typeface="Cambria Math" panose="02040503050406030204" pitchFamily="18" charset="0"/>
                                        </a:rPr>
                                        <m:t>𝑟</m:t>
                                      </m:r>
                                    </m:sub>
                                  </m:sSub>
                                </m:e>
                              </m:d>
                            </m:e>
                          </m:func>
                        </m:den>
                      </m:f>
                      <m:r>
                        <a:rPr lang="en-US" sz="2400" i="1" dirty="0" smtClean="0">
                          <a:solidFill>
                            <a:srgbClr val="0432FF"/>
                          </a:solidFill>
                          <a:latin typeface="Cambria Math" panose="02040503050406030204" pitchFamily="18" charset="0"/>
                        </a:rPr>
                        <m:t>=</m:t>
                      </m:r>
                      <m:f>
                        <m:fPr>
                          <m:ctrlPr>
                            <a:rPr lang="en-US" sz="2400" i="1" dirty="0" smtClean="0">
                              <a:solidFill>
                                <a:srgbClr val="0432FF"/>
                              </a:solidFill>
                              <a:latin typeface="Cambria Math" panose="02040503050406030204" pitchFamily="18" charset="0"/>
                            </a:rPr>
                          </m:ctrlPr>
                        </m:fPr>
                        <m:num>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𝑤</m:t>
                              </m:r>
                            </m:e>
                            <m:sub>
                              <m:r>
                                <a:rPr lang="en-US" sz="2400" i="1" dirty="0" smtClean="0">
                                  <a:solidFill>
                                    <a:srgbClr val="0432FF"/>
                                  </a:solidFill>
                                  <a:latin typeface="Cambria Math" panose="02040503050406030204" pitchFamily="18" charset="0"/>
                                </a:rPr>
                                <m:t>𝑖</m:t>
                              </m:r>
                            </m:sub>
                          </m:sSub>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𝑍</m:t>
                              </m:r>
                            </m:e>
                            <m:sub>
                              <m:r>
                                <a:rPr lang="en-US" sz="2400" i="1" dirty="0" smtClean="0">
                                  <a:solidFill>
                                    <a:srgbClr val="0432FF"/>
                                  </a:solidFill>
                                  <a:latin typeface="Cambria Math" panose="02040503050406030204" pitchFamily="18" charset="0"/>
                                </a:rPr>
                                <m:t>𝑟</m:t>
                              </m:r>
                            </m:sub>
                          </m:sSub>
                        </m:num>
                        <m:den>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𝑤</m:t>
                              </m:r>
                            </m:e>
                            <m:sub>
                              <m:r>
                                <a:rPr lang="en-US" sz="2400" i="1" dirty="0" smtClean="0">
                                  <a:solidFill>
                                    <a:srgbClr val="0432FF"/>
                                  </a:solidFill>
                                  <a:latin typeface="Cambria Math" panose="02040503050406030204" pitchFamily="18" charset="0"/>
                                </a:rPr>
                                <m:t>ℎ</m:t>
                              </m:r>
                            </m:sub>
                          </m:sSub>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𝑍</m:t>
                              </m:r>
                            </m:e>
                            <m:sub>
                              <m:r>
                                <a:rPr lang="en-US" sz="2400" i="1" dirty="0" smtClean="0">
                                  <a:solidFill>
                                    <a:srgbClr val="0432FF"/>
                                  </a:solidFill>
                                  <a:latin typeface="Cambria Math" panose="02040503050406030204" pitchFamily="18" charset="0"/>
                                </a:rPr>
                                <m:t>𝑟</m:t>
                              </m:r>
                            </m:sub>
                          </m:sSub>
                        </m:den>
                      </m:f>
                    </m:oMath>
                  </m:oMathPara>
                </a14:m>
                <a:endParaRPr lang="en-US" sz="2400" dirty="0">
                  <a:solidFill>
                    <a:srgbClr val="0432FF"/>
                  </a:solidFill>
                </a:endParaRPr>
              </a:p>
            </p:txBody>
          </p:sp>
        </mc:Choice>
        <mc:Fallback xmlns="">
          <p:sp>
            <p:nvSpPr>
              <p:cNvPr id="3" name="TextBox 2">
                <a:extLst>
                  <a:ext uri="{FF2B5EF4-FFF2-40B4-BE49-F238E27FC236}">
                    <a16:creationId xmlns:a16="http://schemas.microsoft.com/office/drawing/2014/main" id="{461600CD-0DC5-BE33-A4B2-9AA1CE7D8EB1}"/>
                  </a:ext>
                </a:extLst>
              </p:cNvPr>
              <p:cNvSpPr txBox="1">
                <a:spLocks noRot="1" noChangeAspect="1" noMove="1" noResize="1" noEditPoints="1" noAdjustHandles="1" noChangeArrowheads="1" noChangeShapeType="1" noTextEdit="1"/>
              </p:cNvSpPr>
              <p:nvPr/>
            </p:nvSpPr>
            <p:spPr>
              <a:xfrm>
                <a:off x="2315497" y="4149211"/>
                <a:ext cx="7561007" cy="871521"/>
              </a:xfrm>
              <a:prstGeom prst="rect">
                <a:avLst/>
              </a:prstGeom>
              <a:blipFill>
                <a:blip r:embed="rId3"/>
                <a:stretch>
                  <a:fillRect l="-168" b="-1000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02F0224C-334D-8FCD-2773-BD988E75E27A}"/>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MUCH does a score advantage matter?</a:t>
            </a:r>
          </a:p>
        </p:txBody>
      </p:sp>
    </p:spTree>
    <p:extLst>
      <p:ext uri="{BB962C8B-B14F-4D97-AF65-F5344CB8AC3E}">
        <p14:creationId xmlns:p14="http://schemas.microsoft.com/office/powerpoint/2010/main" val="2656283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77D1-F13D-949B-84C8-86364FA018F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C9D4F02-FA5E-A9D0-497E-AC0EB64D6816}"/>
              </a:ext>
            </a:extLst>
          </p:cNvPr>
          <p:cNvSpPr>
            <a:spLocks noGrp="1"/>
          </p:cNvSpPr>
          <p:nvPr>
            <p:ph type="sldNum" sz="quarter" idx="12"/>
          </p:nvPr>
        </p:nvSpPr>
        <p:spPr/>
        <p:txBody>
          <a:bodyPr/>
          <a:lstStyle/>
          <a:p>
            <a:fld id="{387B101D-DD3C-9947-BBAC-237D8FE858E0}" type="slidenum">
              <a:rPr lang="en-US" smtClean="0"/>
              <a:t>35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74A383-81CB-4456-2D52-21FD9B19EF5D}"/>
                  </a:ext>
                </a:extLst>
              </p:cNvPr>
              <p:cNvSpPr txBox="1"/>
              <p:nvPr/>
            </p:nvSpPr>
            <p:spPr>
              <a:xfrm>
                <a:off x="748480" y="1622326"/>
                <a:ext cx="1093224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Consider players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ℎ</m:t>
                    </m:r>
                  </m:oMath>
                </a14:m>
                <a:r>
                  <a:rPr lang="en-US" dirty="0"/>
                  <a:t>, both eligible at the same draw. Taking the ratio of their selection probabilities measures how much more likely one is to be selected next.</a:t>
                </a:r>
              </a:p>
              <a:p>
                <a:pPr marL="285750" indent="-285750">
                  <a:lnSpc>
                    <a:spcPct val="150000"/>
                  </a:lnSpc>
                  <a:buFont typeface="Arial" panose="020B0604020202020204" pitchFamily="34" charset="0"/>
                  <a:buChar char="•"/>
                </a:pPr>
                <a:r>
                  <a:rPr lang="en-US" dirty="0"/>
                  <a:t>If we let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𝑟</m:t>
                        </m:r>
                      </m:sub>
                    </m:sSub>
                  </m:oMath>
                </a14:m>
                <a:r>
                  <a:rPr lang="en-US" dirty="0"/>
                  <a:t> be the total pool weight </a:t>
                </a:r>
                <a14:m>
                  <m:oMath xmlns:m="http://schemas.openxmlformats.org/officeDocument/2006/math">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 </m:t>
                        </m:r>
                        <m:r>
                          <a:rPr lang="en-US" b="0" i="0" dirty="0" smtClean="0">
                            <a:solidFill>
                              <a:srgbClr val="0432FF"/>
                            </a:solidFill>
                            <a:latin typeface="Cambria Math" panose="02040503050406030204" pitchFamily="18" charset="0"/>
                          </a:rPr>
                          <m:t>𝑍</m:t>
                        </m:r>
                      </m:e>
                      <m:sub>
                        <m:r>
                          <a:rPr lang="en-US" b="0" i="0" dirty="0" smtClean="0">
                            <a:solidFill>
                              <a:srgbClr val="0432FF"/>
                            </a:solidFill>
                            <a:latin typeface="Cambria Math" panose="02040503050406030204" pitchFamily="18" charset="0"/>
                          </a:rPr>
                          <m:t>𝑟</m:t>
                        </m:r>
                      </m:sub>
                    </m:sSub>
                    <m:r>
                      <a:rPr lang="en-US" b="0" i="0" dirty="0" smtClean="0">
                        <a:solidFill>
                          <a:srgbClr val="0432FF"/>
                        </a:solidFill>
                        <a:latin typeface="Cambria Math" panose="02040503050406030204" pitchFamily="18" charset="0"/>
                      </a:rPr>
                      <m:t> = </m:t>
                    </m:r>
                    <m:nary>
                      <m:naryPr>
                        <m:chr m:val="∑"/>
                        <m:limLoc m:val="undOvr"/>
                        <m:supHide m:val="on"/>
                        <m:ctrlPr>
                          <a:rPr lang="en-US" b="0" i="0" dirty="0" smtClean="0">
                            <a:solidFill>
                              <a:srgbClr val="0432FF"/>
                            </a:solidFill>
                            <a:latin typeface="Cambria Math" panose="02040503050406030204" pitchFamily="18" charset="0"/>
                          </a:rPr>
                        </m:ctrlPr>
                      </m:naryPr>
                      <m:sub>
                        <m:r>
                          <a:rPr lang="en-US" b="0" i="0" dirty="0" smtClean="0">
                            <a:solidFill>
                              <a:srgbClr val="0432FF"/>
                            </a:solidFill>
                            <a:latin typeface="Cambria Math" panose="02040503050406030204" pitchFamily="18" charset="0"/>
                          </a:rPr>
                          <m:t>𝑘</m:t>
                        </m:r>
                        <m:r>
                          <a:rPr lang="en-US" b="0" i="0" dirty="0" smtClean="0">
                            <a:solidFill>
                              <a:srgbClr val="0432FF"/>
                            </a:solidFill>
                            <a:latin typeface="Cambria Math" panose="02040503050406030204" pitchFamily="18" charset="0"/>
                          </a:rPr>
                          <m:t>∈</m:t>
                        </m:r>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𝑅</m:t>
                            </m:r>
                          </m:e>
                          <m:sub>
                            <m:r>
                              <a:rPr lang="en-US" b="0" i="0" dirty="0" smtClean="0">
                                <a:solidFill>
                                  <a:srgbClr val="0432FF"/>
                                </a:solidFill>
                                <a:latin typeface="Cambria Math" panose="02040503050406030204" pitchFamily="18" charset="0"/>
                              </a:rPr>
                              <m:t>𝑟</m:t>
                            </m:r>
                          </m:sub>
                        </m:sSub>
                      </m:sub>
                      <m:sup/>
                      <m:e>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𝑤</m:t>
                            </m:r>
                          </m:e>
                          <m:sub>
                            <m:r>
                              <a:rPr lang="en-US" b="0" i="0" dirty="0" smtClean="0">
                                <a:solidFill>
                                  <a:srgbClr val="0432FF"/>
                                </a:solidFill>
                                <a:latin typeface="Cambria Math" panose="02040503050406030204" pitchFamily="18" charset="0"/>
                              </a:rPr>
                              <m:t>𝑘</m:t>
                            </m:r>
                          </m:sub>
                        </m:sSub>
                      </m:e>
                    </m:nary>
                  </m:oMath>
                </a14:m>
                <a:endParaRPr lang="en-US" dirty="0"/>
              </a:p>
            </p:txBody>
          </p:sp>
        </mc:Choice>
        <mc:Fallback xmlns="">
          <p:sp>
            <p:nvSpPr>
              <p:cNvPr id="5" name="TextBox 4">
                <a:extLst>
                  <a:ext uri="{FF2B5EF4-FFF2-40B4-BE49-F238E27FC236}">
                    <a16:creationId xmlns:a16="http://schemas.microsoft.com/office/drawing/2014/main" id="{B374A383-81CB-4456-2D52-21FD9B19EF5D}"/>
                  </a:ext>
                </a:extLst>
              </p:cNvPr>
              <p:cNvSpPr txBox="1">
                <a:spLocks noRot="1" noChangeAspect="1" noMove="1" noResize="1" noEditPoints="1" noAdjustHandles="1" noChangeArrowheads="1" noChangeShapeType="1" noTextEdit="1"/>
              </p:cNvSpPr>
              <p:nvPr/>
            </p:nvSpPr>
            <p:spPr>
              <a:xfrm>
                <a:off x="748480" y="1622326"/>
                <a:ext cx="10932243" cy="1346907"/>
              </a:xfrm>
              <a:prstGeom prst="rect">
                <a:avLst/>
              </a:prstGeom>
              <a:blipFill>
                <a:blip r:embed="rId2"/>
                <a:stretch>
                  <a:fillRect l="-465" b="-439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BD57E1E-3102-A913-7FA4-FF81E9CF75C9}"/>
                  </a:ext>
                </a:extLst>
              </p:cNvPr>
              <p:cNvSpPr txBox="1"/>
              <p:nvPr/>
            </p:nvSpPr>
            <p:spPr>
              <a:xfrm>
                <a:off x="2315497" y="4109883"/>
                <a:ext cx="7561007" cy="910762"/>
              </a:xfrm>
              <a:prstGeom prst="rect">
                <a:avLst/>
              </a:prstGeom>
              <a:noFill/>
            </p:spPr>
            <p:txBody>
              <a:bodyPr wrap="square" rtlCol="0">
                <a:spAutoFit/>
              </a:bodyPr>
              <a:lstStyle/>
              <a:p>
                <a:pPr algn="ctr"/>
                <a14:m>
                  <m:oMathPara xmlns:m="http://schemas.openxmlformats.org/officeDocument/2006/math">
                    <m:oMathParaPr>
                      <m:jc m:val="left"/>
                    </m:oMathParaPr>
                    <m:oMath>
                      <m:f>
                        <m:fPr>
                          <m:ctrlPr>
                            <a:rPr lang="en-US" sz="2400" i="1" dirty="0" smtClean="0">
                              <a:solidFill>
                                <a:schemeClr val="tx1"/>
                              </a:solidFill>
                              <a:latin typeface="Cambria Math" panose="02040503050406030204" pitchFamily="18" charset="0"/>
                            </a:rPr>
                          </m:ctrlPr>
                        </m:fPr>
                        <m:num>
                          <m:func>
                            <m:funcPr>
                              <m:ctrlPr>
                                <a:rPr lang="en-US" sz="2400" i="1" dirty="0" smtClean="0">
                                  <a:solidFill>
                                    <a:schemeClr val="tx1"/>
                                  </a:solidFill>
                                  <a:latin typeface="Cambria Math" panose="02040503050406030204" pitchFamily="18" charset="0"/>
                                </a:rPr>
                              </m:ctrlPr>
                            </m:funcPr>
                            <m:fName>
                              <m:r>
                                <m:rPr>
                                  <m:sty m:val="p"/>
                                </m:rPr>
                                <a:rPr lang="en-US" sz="2400" i="1" dirty="0" smtClean="0">
                                  <a:solidFill>
                                    <a:schemeClr val="tx1"/>
                                  </a:solidFill>
                                  <a:latin typeface="Cambria Math" panose="02040503050406030204" pitchFamily="18" charset="0"/>
                                </a:rPr>
                                <m:t>Pr</m:t>
                              </m:r>
                            </m:fName>
                            <m:e>
                              <m:d>
                                <m:dPr>
                                  <m:ctrlPr>
                                    <a:rPr lang="en-US" sz="2400" i="1" dirty="0" smtClean="0">
                                      <a:solidFill>
                                        <a:schemeClr val="tx1"/>
                                      </a:solidFill>
                                      <a:latin typeface="Cambria Math" panose="02040503050406030204" pitchFamily="18" charset="0"/>
                                    </a:rPr>
                                  </m:ctrlPr>
                                </m:dPr>
                                <m:e>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𝐼</m:t>
                                      </m:r>
                                    </m:e>
                                    <m:sub>
                                      <m:r>
                                        <a:rPr lang="en-US" sz="2400" i="1" dirty="0" smtClean="0">
                                          <a:solidFill>
                                            <a:schemeClr val="tx1"/>
                                          </a:solidFill>
                                          <a:latin typeface="Cambria Math" panose="02040503050406030204" pitchFamily="18" charset="0"/>
                                        </a:rPr>
                                        <m:t>𝑟</m:t>
                                      </m:r>
                                    </m:sub>
                                  </m:sSub>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𝑖</m:t>
                                  </m:r>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𝑅</m:t>
                                      </m:r>
                                    </m:e>
                                    <m:sub>
                                      <m:r>
                                        <a:rPr lang="en-US" sz="2400" i="1" dirty="0" smtClean="0">
                                          <a:solidFill>
                                            <a:schemeClr val="tx1"/>
                                          </a:solidFill>
                                          <a:latin typeface="Cambria Math" panose="02040503050406030204" pitchFamily="18" charset="0"/>
                                        </a:rPr>
                                        <m:t>𝑟</m:t>
                                      </m:r>
                                    </m:sub>
                                  </m:sSub>
                                </m:e>
                              </m:d>
                            </m:e>
                          </m:func>
                        </m:num>
                        <m:den>
                          <m:func>
                            <m:funcPr>
                              <m:ctrlPr>
                                <a:rPr lang="en-US" sz="2400" i="1" dirty="0" smtClean="0">
                                  <a:solidFill>
                                    <a:schemeClr val="tx1"/>
                                  </a:solidFill>
                                  <a:latin typeface="Cambria Math" panose="02040503050406030204" pitchFamily="18" charset="0"/>
                                </a:rPr>
                              </m:ctrlPr>
                            </m:funcPr>
                            <m:fName>
                              <m:r>
                                <m:rPr>
                                  <m:sty m:val="p"/>
                                </m:rPr>
                                <a:rPr lang="en-US" sz="2400" i="1" dirty="0" smtClean="0">
                                  <a:solidFill>
                                    <a:schemeClr val="tx1"/>
                                  </a:solidFill>
                                  <a:latin typeface="Cambria Math" panose="02040503050406030204" pitchFamily="18" charset="0"/>
                                </a:rPr>
                                <m:t>Pr</m:t>
                              </m:r>
                            </m:fName>
                            <m:e>
                              <m:d>
                                <m:dPr>
                                  <m:ctrlPr>
                                    <a:rPr lang="en-US" sz="2400" i="1" dirty="0" smtClean="0">
                                      <a:solidFill>
                                        <a:schemeClr val="tx1"/>
                                      </a:solidFill>
                                      <a:latin typeface="Cambria Math" panose="02040503050406030204" pitchFamily="18" charset="0"/>
                                    </a:rPr>
                                  </m:ctrlPr>
                                </m:dPr>
                                <m:e>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𝐼</m:t>
                                      </m:r>
                                    </m:e>
                                    <m:sub>
                                      <m:r>
                                        <a:rPr lang="en-US" sz="2400" i="1" dirty="0" smtClean="0">
                                          <a:solidFill>
                                            <a:schemeClr val="tx1"/>
                                          </a:solidFill>
                                          <a:latin typeface="Cambria Math" panose="02040503050406030204" pitchFamily="18" charset="0"/>
                                        </a:rPr>
                                        <m:t>𝑟</m:t>
                                      </m:r>
                                    </m:sub>
                                  </m:sSub>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ℎ</m:t>
                                  </m:r>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𝑅</m:t>
                                      </m:r>
                                    </m:e>
                                    <m:sub>
                                      <m:r>
                                        <a:rPr lang="en-US" sz="2400" i="1" dirty="0" smtClean="0">
                                          <a:solidFill>
                                            <a:schemeClr val="tx1"/>
                                          </a:solidFill>
                                          <a:latin typeface="Cambria Math" panose="02040503050406030204" pitchFamily="18" charset="0"/>
                                        </a:rPr>
                                        <m:t>𝑟</m:t>
                                      </m:r>
                                    </m:sub>
                                  </m:sSub>
                                </m:e>
                              </m:d>
                            </m:e>
                          </m:func>
                        </m:den>
                      </m:f>
                      <m:r>
                        <a:rPr lang="en-US" sz="2400" i="1" dirty="0" smtClean="0">
                          <a:solidFill>
                            <a:schemeClr val="tx1"/>
                          </a:solidFill>
                          <a:latin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𝑖</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𝑍</m:t>
                              </m:r>
                            </m:e>
                            <m:sub>
                              <m:r>
                                <a:rPr lang="en-US" sz="2400" i="1" dirty="0" smtClean="0">
                                  <a:solidFill>
                                    <a:schemeClr val="tx1"/>
                                  </a:solidFill>
                                  <a:latin typeface="Cambria Math" panose="02040503050406030204" pitchFamily="18" charset="0"/>
                                </a:rPr>
                                <m:t>𝑟</m:t>
                              </m:r>
                            </m:sub>
                          </m:sSub>
                        </m:num>
                        <m:den>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ℎ</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𝑍</m:t>
                              </m:r>
                            </m:e>
                            <m:sub>
                              <m:r>
                                <a:rPr lang="en-US" sz="2400" i="1" dirty="0" smtClean="0">
                                  <a:solidFill>
                                    <a:schemeClr val="tx1"/>
                                  </a:solidFill>
                                  <a:latin typeface="Cambria Math" panose="02040503050406030204" pitchFamily="18" charset="0"/>
                                </a:rPr>
                                <m:t>𝑟</m:t>
                              </m:r>
                            </m:sub>
                          </m:sSub>
                        </m:den>
                      </m:f>
                      <m:r>
                        <a:rPr lang="en-US" sz="2400" i="1" dirty="0" smtClean="0">
                          <a:solidFill>
                            <a:schemeClr val="tx1"/>
                          </a:solidFill>
                          <a:latin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𝑖</m:t>
                              </m:r>
                            </m:sub>
                          </m:sSub>
                        </m:num>
                        <m:den>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ℎ</m:t>
                              </m:r>
                            </m:sub>
                          </m:sSub>
                        </m:den>
                      </m:f>
                      <m:r>
                        <a:rPr lang="en-US" sz="2400" i="1" dirty="0" smtClean="0">
                          <a:solidFill>
                            <a:srgbClr val="0432FF"/>
                          </a:solidFill>
                          <a:latin typeface="Cambria Math" panose="02040503050406030204" pitchFamily="18" charset="0"/>
                        </a:rPr>
                        <m:t>=</m:t>
                      </m:r>
                      <m:f>
                        <m:fPr>
                          <m:ctrlPr>
                            <a:rPr lang="en-US" sz="2400" i="1" dirty="0" smtClean="0">
                              <a:solidFill>
                                <a:srgbClr val="0432FF"/>
                              </a:solidFill>
                              <a:latin typeface="Cambria Math" panose="02040503050406030204" pitchFamily="18" charset="0"/>
                            </a:rPr>
                          </m:ctrlPr>
                        </m:fPr>
                        <m:num>
                          <m:sSup>
                            <m:sSupPr>
                              <m:ctrlPr>
                                <a:rPr lang="en-US" sz="2400" i="1" dirty="0" smtClean="0">
                                  <a:solidFill>
                                    <a:srgbClr val="0432FF"/>
                                  </a:solidFill>
                                  <a:latin typeface="Cambria Math" panose="02040503050406030204" pitchFamily="18" charset="0"/>
                                </a:rPr>
                              </m:ctrlPr>
                            </m:sSupPr>
                            <m:e>
                              <m:r>
                                <a:rPr lang="en-US" sz="2400" i="1" dirty="0" smtClean="0">
                                  <a:solidFill>
                                    <a:srgbClr val="0432FF"/>
                                  </a:solidFill>
                                  <a:latin typeface="Cambria Math" panose="02040503050406030204" pitchFamily="18" charset="0"/>
                                </a:rPr>
                                <m:t>𝑒</m:t>
                              </m:r>
                            </m:e>
                            <m:sup>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𝑖</m:t>
                                  </m:r>
                                </m:sub>
                              </m:sSub>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𝑡</m:t>
                                  </m:r>
                                </m:e>
                                <m:sub>
                                  <m:r>
                                    <m:rPr>
                                      <m:sty m:val="p"/>
                                    </m:rPr>
                                    <a:rPr lang="en-US" sz="2400" i="1" dirty="0" smtClean="0">
                                      <a:solidFill>
                                        <a:srgbClr val="0432FF"/>
                                      </a:solidFill>
                                      <a:latin typeface="Cambria Math" panose="02040503050406030204" pitchFamily="18" charset="0"/>
                                    </a:rPr>
                                    <m:t>sel</m:t>
                                  </m:r>
                                </m:sub>
                              </m:sSub>
                            </m:sup>
                          </m:sSup>
                        </m:num>
                        <m:den>
                          <m:sSup>
                            <m:sSupPr>
                              <m:ctrlPr>
                                <a:rPr lang="en-US" sz="2400" i="1" dirty="0" smtClean="0">
                                  <a:solidFill>
                                    <a:srgbClr val="0432FF"/>
                                  </a:solidFill>
                                  <a:latin typeface="Cambria Math" panose="02040503050406030204" pitchFamily="18" charset="0"/>
                                </a:rPr>
                              </m:ctrlPr>
                            </m:sSupPr>
                            <m:e>
                              <m:r>
                                <a:rPr lang="en-US" sz="2400" i="1" dirty="0" smtClean="0">
                                  <a:solidFill>
                                    <a:srgbClr val="0432FF"/>
                                  </a:solidFill>
                                  <a:latin typeface="Cambria Math" panose="02040503050406030204" pitchFamily="18" charset="0"/>
                                </a:rPr>
                                <m:t>𝑒</m:t>
                              </m:r>
                            </m:e>
                            <m:sup>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ℎ</m:t>
                                  </m:r>
                                </m:sub>
                              </m:sSub>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𝑡</m:t>
                                  </m:r>
                                </m:e>
                                <m:sub>
                                  <m:r>
                                    <m:rPr>
                                      <m:sty m:val="p"/>
                                    </m:rPr>
                                    <a:rPr lang="en-US" sz="2400" i="1" dirty="0" smtClean="0">
                                      <a:solidFill>
                                        <a:srgbClr val="0432FF"/>
                                      </a:solidFill>
                                      <a:latin typeface="Cambria Math" panose="02040503050406030204" pitchFamily="18" charset="0"/>
                                    </a:rPr>
                                    <m:t>sel</m:t>
                                  </m:r>
                                </m:sub>
                              </m:sSub>
                            </m:sup>
                          </m:sSup>
                        </m:den>
                      </m:f>
                    </m:oMath>
                  </m:oMathPara>
                </a14:m>
                <a:endParaRPr lang="en-US" sz="2400" dirty="0">
                  <a:solidFill>
                    <a:srgbClr val="0432FF"/>
                  </a:solidFill>
                </a:endParaRPr>
              </a:p>
            </p:txBody>
          </p:sp>
        </mc:Choice>
        <mc:Fallback xmlns="">
          <p:sp>
            <p:nvSpPr>
              <p:cNvPr id="2" name="TextBox 1">
                <a:extLst>
                  <a:ext uri="{FF2B5EF4-FFF2-40B4-BE49-F238E27FC236}">
                    <a16:creationId xmlns:a16="http://schemas.microsoft.com/office/drawing/2014/main" id="{4BD57E1E-3102-A913-7FA4-FF81E9CF75C9}"/>
                  </a:ext>
                </a:extLst>
              </p:cNvPr>
              <p:cNvSpPr txBox="1">
                <a:spLocks noRot="1" noChangeAspect="1" noMove="1" noResize="1" noEditPoints="1" noAdjustHandles="1" noChangeArrowheads="1" noChangeShapeType="1" noTextEdit="1"/>
              </p:cNvSpPr>
              <p:nvPr/>
            </p:nvSpPr>
            <p:spPr>
              <a:xfrm>
                <a:off x="2315497" y="4109883"/>
                <a:ext cx="7561007" cy="910762"/>
              </a:xfrm>
              <a:prstGeom prst="rect">
                <a:avLst/>
              </a:prstGeom>
              <a:blipFill>
                <a:blip r:embed="rId3"/>
                <a:stretch>
                  <a:fillRect l="-168" b="-958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E90F969-3ABC-37B1-CF9F-1FEA01ECF6BF}"/>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MUCH does a score advantage matter?</a:t>
            </a:r>
          </a:p>
        </p:txBody>
      </p:sp>
    </p:spTree>
    <p:extLst>
      <p:ext uri="{BB962C8B-B14F-4D97-AF65-F5344CB8AC3E}">
        <p14:creationId xmlns:p14="http://schemas.microsoft.com/office/powerpoint/2010/main" val="190420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DB34-FC73-EA95-68C5-2C421560E8C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FB831A8-9B29-D085-3BFE-465DDE4BFF68}"/>
              </a:ext>
            </a:extLst>
          </p:cNvPr>
          <p:cNvSpPr>
            <a:spLocks noGrp="1"/>
          </p:cNvSpPr>
          <p:nvPr>
            <p:ph type="sldNum" sz="quarter" idx="12"/>
          </p:nvPr>
        </p:nvSpPr>
        <p:spPr/>
        <p:txBody>
          <a:bodyPr/>
          <a:lstStyle/>
          <a:p>
            <a:fld id="{387B101D-DD3C-9947-BBAC-237D8FE858E0}" type="slidenum">
              <a:rPr lang="en-US" smtClean="0"/>
              <a:t>36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5ADB8D-145F-BEBF-7093-7842BF86ECB9}"/>
                  </a:ext>
                </a:extLst>
              </p:cNvPr>
              <p:cNvSpPr txBox="1"/>
              <p:nvPr/>
            </p:nvSpPr>
            <p:spPr>
              <a:xfrm>
                <a:off x="748480" y="1622326"/>
                <a:ext cx="1093224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Consider players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ℎ</m:t>
                    </m:r>
                  </m:oMath>
                </a14:m>
                <a:r>
                  <a:rPr lang="en-US" dirty="0"/>
                  <a:t>, both eligible at the same draw. Taking the ratio of their selection probabilities measures how much more likely one is to be selected next.</a:t>
                </a:r>
              </a:p>
              <a:p>
                <a:pPr marL="285750" indent="-285750">
                  <a:lnSpc>
                    <a:spcPct val="150000"/>
                  </a:lnSpc>
                  <a:buFont typeface="Arial" panose="020B0604020202020204" pitchFamily="34" charset="0"/>
                  <a:buChar char="•"/>
                </a:pPr>
                <a:r>
                  <a:rPr lang="en-US" dirty="0"/>
                  <a:t>If we let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𝑟</m:t>
                        </m:r>
                      </m:sub>
                    </m:sSub>
                  </m:oMath>
                </a14:m>
                <a:r>
                  <a:rPr lang="en-US" dirty="0"/>
                  <a:t> be the total pool weight </a:t>
                </a:r>
                <a14:m>
                  <m:oMath xmlns:m="http://schemas.openxmlformats.org/officeDocument/2006/math">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 </m:t>
                        </m:r>
                        <m:r>
                          <a:rPr lang="en-US" b="0" i="0" dirty="0" smtClean="0">
                            <a:solidFill>
                              <a:srgbClr val="0432FF"/>
                            </a:solidFill>
                            <a:latin typeface="Cambria Math" panose="02040503050406030204" pitchFamily="18" charset="0"/>
                          </a:rPr>
                          <m:t>𝑍</m:t>
                        </m:r>
                      </m:e>
                      <m:sub>
                        <m:r>
                          <a:rPr lang="en-US" b="0" i="0" dirty="0" smtClean="0">
                            <a:solidFill>
                              <a:srgbClr val="0432FF"/>
                            </a:solidFill>
                            <a:latin typeface="Cambria Math" panose="02040503050406030204" pitchFamily="18" charset="0"/>
                          </a:rPr>
                          <m:t>𝑟</m:t>
                        </m:r>
                      </m:sub>
                    </m:sSub>
                    <m:r>
                      <a:rPr lang="en-US" b="0" i="0" dirty="0" smtClean="0">
                        <a:solidFill>
                          <a:srgbClr val="0432FF"/>
                        </a:solidFill>
                        <a:latin typeface="Cambria Math" panose="02040503050406030204" pitchFamily="18" charset="0"/>
                      </a:rPr>
                      <m:t> = </m:t>
                    </m:r>
                    <m:nary>
                      <m:naryPr>
                        <m:chr m:val="∑"/>
                        <m:limLoc m:val="undOvr"/>
                        <m:supHide m:val="on"/>
                        <m:ctrlPr>
                          <a:rPr lang="en-US" b="0" i="0" dirty="0" smtClean="0">
                            <a:solidFill>
                              <a:srgbClr val="0432FF"/>
                            </a:solidFill>
                            <a:latin typeface="Cambria Math" panose="02040503050406030204" pitchFamily="18" charset="0"/>
                          </a:rPr>
                        </m:ctrlPr>
                      </m:naryPr>
                      <m:sub>
                        <m:r>
                          <a:rPr lang="en-US" b="0" i="0" dirty="0" smtClean="0">
                            <a:solidFill>
                              <a:srgbClr val="0432FF"/>
                            </a:solidFill>
                            <a:latin typeface="Cambria Math" panose="02040503050406030204" pitchFamily="18" charset="0"/>
                          </a:rPr>
                          <m:t>𝑘</m:t>
                        </m:r>
                        <m:r>
                          <a:rPr lang="en-US" b="0" i="0" dirty="0" smtClean="0">
                            <a:solidFill>
                              <a:srgbClr val="0432FF"/>
                            </a:solidFill>
                            <a:latin typeface="Cambria Math" panose="02040503050406030204" pitchFamily="18" charset="0"/>
                          </a:rPr>
                          <m:t>∈</m:t>
                        </m:r>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𝑅</m:t>
                            </m:r>
                          </m:e>
                          <m:sub>
                            <m:r>
                              <a:rPr lang="en-US" b="0" i="0" dirty="0" smtClean="0">
                                <a:solidFill>
                                  <a:srgbClr val="0432FF"/>
                                </a:solidFill>
                                <a:latin typeface="Cambria Math" panose="02040503050406030204" pitchFamily="18" charset="0"/>
                              </a:rPr>
                              <m:t>𝑟</m:t>
                            </m:r>
                          </m:sub>
                        </m:sSub>
                      </m:sub>
                      <m:sup/>
                      <m:e>
                        <m:sSub>
                          <m:sSubPr>
                            <m:ctrlPr>
                              <a:rPr lang="en-US" b="0" i="0" dirty="0" smtClean="0">
                                <a:solidFill>
                                  <a:srgbClr val="0432FF"/>
                                </a:solidFill>
                                <a:latin typeface="Cambria Math" panose="02040503050406030204" pitchFamily="18" charset="0"/>
                              </a:rPr>
                            </m:ctrlPr>
                          </m:sSubPr>
                          <m:e>
                            <m:r>
                              <a:rPr lang="en-US" b="0" i="0" dirty="0" smtClean="0">
                                <a:solidFill>
                                  <a:srgbClr val="0432FF"/>
                                </a:solidFill>
                                <a:latin typeface="Cambria Math" panose="02040503050406030204" pitchFamily="18" charset="0"/>
                              </a:rPr>
                              <m:t>𝑤</m:t>
                            </m:r>
                          </m:e>
                          <m:sub>
                            <m:r>
                              <a:rPr lang="en-US" b="0" i="0" dirty="0" smtClean="0">
                                <a:solidFill>
                                  <a:srgbClr val="0432FF"/>
                                </a:solidFill>
                                <a:latin typeface="Cambria Math" panose="02040503050406030204" pitchFamily="18" charset="0"/>
                              </a:rPr>
                              <m:t>𝑘</m:t>
                            </m:r>
                          </m:sub>
                        </m:sSub>
                      </m:e>
                    </m:nary>
                  </m:oMath>
                </a14:m>
                <a:endParaRPr lang="en-US" dirty="0"/>
              </a:p>
            </p:txBody>
          </p:sp>
        </mc:Choice>
        <mc:Fallback xmlns="">
          <p:sp>
            <p:nvSpPr>
              <p:cNvPr id="5" name="TextBox 4">
                <a:extLst>
                  <a:ext uri="{FF2B5EF4-FFF2-40B4-BE49-F238E27FC236}">
                    <a16:creationId xmlns:a16="http://schemas.microsoft.com/office/drawing/2014/main" id="{2B5ADB8D-145F-BEBF-7093-7842BF86ECB9}"/>
                  </a:ext>
                </a:extLst>
              </p:cNvPr>
              <p:cNvSpPr txBox="1">
                <a:spLocks noRot="1" noChangeAspect="1" noMove="1" noResize="1" noEditPoints="1" noAdjustHandles="1" noChangeArrowheads="1" noChangeShapeType="1" noTextEdit="1"/>
              </p:cNvSpPr>
              <p:nvPr/>
            </p:nvSpPr>
            <p:spPr>
              <a:xfrm>
                <a:off x="748480" y="1622326"/>
                <a:ext cx="10932243" cy="1346907"/>
              </a:xfrm>
              <a:prstGeom prst="rect">
                <a:avLst/>
              </a:prstGeom>
              <a:blipFill>
                <a:blip r:embed="rId2"/>
                <a:stretch>
                  <a:fillRect l="-465" b="-439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C9D1BCE-C774-1EC3-E7DF-0870DED93A06}"/>
                  </a:ext>
                </a:extLst>
              </p:cNvPr>
              <p:cNvSpPr txBox="1"/>
              <p:nvPr/>
            </p:nvSpPr>
            <p:spPr>
              <a:xfrm>
                <a:off x="2315497" y="4109883"/>
                <a:ext cx="7561007" cy="910762"/>
              </a:xfrm>
              <a:prstGeom prst="rect">
                <a:avLst/>
              </a:prstGeom>
              <a:noFill/>
            </p:spPr>
            <p:txBody>
              <a:bodyPr wrap="square" rtlCol="0">
                <a:spAutoFit/>
              </a:bodyPr>
              <a:lstStyle/>
              <a:p>
                <a:pPr algn="ctr"/>
                <a14:m>
                  <m:oMathPara xmlns:m="http://schemas.openxmlformats.org/officeDocument/2006/math">
                    <m:oMathParaPr>
                      <m:jc m:val="left"/>
                    </m:oMathParaPr>
                    <m:oMath>
                      <m:f>
                        <m:fPr>
                          <m:ctrlPr>
                            <a:rPr lang="en-US" sz="2400" i="1" dirty="0" smtClean="0">
                              <a:solidFill>
                                <a:schemeClr val="tx1"/>
                              </a:solidFill>
                              <a:latin typeface="Cambria Math" panose="02040503050406030204" pitchFamily="18" charset="0"/>
                            </a:rPr>
                          </m:ctrlPr>
                        </m:fPr>
                        <m:num>
                          <m:func>
                            <m:funcPr>
                              <m:ctrlPr>
                                <a:rPr lang="en-US" sz="2400" i="1" dirty="0" smtClean="0">
                                  <a:solidFill>
                                    <a:schemeClr val="tx1"/>
                                  </a:solidFill>
                                  <a:latin typeface="Cambria Math" panose="02040503050406030204" pitchFamily="18" charset="0"/>
                                </a:rPr>
                              </m:ctrlPr>
                            </m:funcPr>
                            <m:fName>
                              <m:r>
                                <m:rPr>
                                  <m:sty m:val="p"/>
                                </m:rPr>
                                <a:rPr lang="en-US" sz="2400" i="1" dirty="0" smtClean="0">
                                  <a:solidFill>
                                    <a:schemeClr val="tx1"/>
                                  </a:solidFill>
                                  <a:latin typeface="Cambria Math" panose="02040503050406030204" pitchFamily="18" charset="0"/>
                                </a:rPr>
                                <m:t>Pr</m:t>
                              </m:r>
                            </m:fName>
                            <m:e>
                              <m:d>
                                <m:dPr>
                                  <m:ctrlPr>
                                    <a:rPr lang="en-US" sz="2400" i="1" dirty="0" smtClean="0">
                                      <a:solidFill>
                                        <a:schemeClr val="tx1"/>
                                      </a:solidFill>
                                      <a:latin typeface="Cambria Math" panose="02040503050406030204" pitchFamily="18" charset="0"/>
                                    </a:rPr>
                                  </m:ctrlPr>
                                </m:dPr>
                                <m:e>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𝐼</m:t>
                                      </m:r>
                                    </m:e>
                                    <m:sub>
                                      <m:r>
                                        <a:rPr lang="en-US" sz="2400" i="1" dirty="0" smtClean="0">
                                          <a:solidFill>
                                            <a:schemeClr val="tx1"/>
                                          </a:solidFill>
                                          <a:latin typeface="Cambria Math" panose="02040503050406030204" pitchFamily="18" charset="0"/>
                                        </a:rPr>
                                        <m:t>𝑟</m:t>
                                      </m:r>
                                    </m:sub>
                                  </m:sSub>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𝑖</m:t>
                                  </m:r>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𝑅</m:t>
                                      </m:r>
                                    </m:e>
                                    <m:sub>
                                      <m:r>
                                        <a:rPr lang="en-US" sz="2400" i="1" dirty="0" smtClean="0">
                                          <a:solidFill>
                                            <a:schemeClr val="tx1"/>
                                          </a:solidFill>
                                          <a:latin typeface="Cambria Math" panose="02040503050406030204" pitchFamily="18" charset="0"/>
                                        </a:rPr>
                                        <m:t>𝑟</m:t>
                                      </m:r>
                                    </m:sub>
                                  </m:sSub>
                                </m:e>
                              </m:d>
                            </m:e>
                          </m:func>
                        </m:num>
                        <m:den>
                          <m:func>
                            <m:funcPr>
                              <m:ctrlPr>
                                <a:rPr lang="en-US" sz="2400" i="1" dirty="0" smtClean="0">
                                  <a:solidFill>
                                    <a:schemeClr val="tx1"/>
                                  </a:solidFill>
                                  <a:latin typeface="Cambria Math" panose="02040503050406030204" pitchFamily="18" charset="0"/>
                                </a:rPr>
                              </m:ctrlPr>
                            </m:funcPr>
                            <m:fName>
                              <m:r>
                                <m:rPr>
                                  <m:sty m:val="p"/>
                                </m:rPr>
                                <a:rPr lang="en-US" sz="2400" i="1" dirty="0" smtClean="0">
                                  <a:solidFill>
                                    <a:schemeClr val="tx1"/>
                                  </a:solidFill>
                                  <a:latin typeface="Cambria Math" panose="02040503050406030204" pitchFamily="18" charset="0"/>
                                </a:rPr>
                                <m:t>Pr</m:t>
                              </m:r>
                            </m:fName>
                            <m:e>
                              <m:d>
                                <m:dPr>
                                  <m:ctrlPr>
                                    <a:rPr lang="en-US" sz="2400" i="1" dirty="0" smtClean="0">
                                      <a:solidFill>
                                        <a:schemeClr val="tx1"/>
                                      </a:solidFill>
                                      <a:latin typeface="Cambria Math" panose="02040503050406030204" pitchFamily="18" charset="0"/>
                                    </a:rPr>
                                  </m:ctrlPr>
                                </m:dPr>
                                <m:e>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𝐼</m:t>
                                      </m:r>
                                    </m:e>
                                    <m:sub>
                                      <m:r>
                                        <a:rPr lang="en-US" sz="2400" i="1" dirty="0" smtClean="0">
                                          <a:solidFill>
                                            <a:schemeClr val="tx1"/>
                                          </a:solidFill>
                                          <a:latin typeface="Cambria Math" panose="02040503050406030204" pitchFamily="18" charset="0"/>
                                        </a:rPr>
                                        <m:t>𝑟</m:t>
                                      </m:r>
                                    </m:sub>
                                  </m:sSub>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ℎ</m:t>
                                  </m:r>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𝑅</m:t>
                                      </m:r>
                                    </m:e>
                                    <m:sub>
                                      <m:r>
                                        <a:rPr lang="en-US" sz="2400" i="1" dirty="0" smtClean="0">
                                          <a:solidFill>
                                            <a:schemeClr val="tx1"/>
                                          </a:solidFill>
                                          <a:latin typeface="Cambria Math" panose="02040503050406030204" pitchFamily="18" charset="0"/>
                                        </a:rPr>
                                        <m:t>𝑟</m:t>
                                      </m:r>
                                    </m:sub>
                                  </m:sSub>
                                </m:e>
                              </m:d>
                            </m:e>
                          </m:func>
                        </m:den>
                      </m:f>
                      <m:r>
                        <a:rPr lang="en-US" sz="2400" i="1" dirty="0" smtClean="0">
                          <a:solidFill>
                            <a:schemeClr val="tx1"/>
                          </a:solidFill>
                          <a:latin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𝑖</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𝑍</m:t>
                              </m:r>
                            </m:e>
                            <m:sub>
                              <m:r>
                                <a:rPr lang="en-US" sz="2400" i="1" dirty="0" smtClean="0">
                                  <a:solidFill>
                                    <a:schemeClr val="tx1"/>
                                  </a:solidFill>
                                  <a:latin typeface="Cambria Math" panose="02040503050406030204" pitchFamily="18" charset="0"/>
                                </a:rPr>
                                <m:t>𝑟</m:t>
                              </m:r>
                            </m:sub>
                          </m:sSub>
                        </m:num>
                        <m:den>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ℎ</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𝑍</m:t>
                              </m:r>
                            </m:e>
                            <m:sub>
                              <m:r>
                                <a:rPr lang="en-US" sz="2400" i="1" dirty="0" smtClean="0">
                                  <a:solidFill>
                                    <a:schemeClr val="tx1"/>
                                  </a:solidFill>
                                  <a:latin typeface="Cambria Math" panose="02040503050406030204" pitchFamily="18" charset="0"/>
                                </a:rPr>
                                <m:t>𝑟</m:t>
                              </m:r>
                            </m:sub>
                          </m:sSub>
                        </m:den>
                      </m:f>
                      <m:r>
                        <a:rPr lang="en-US" sz="2400" i="1" dirty="0" smtClean="0">
                          <a:solidFill>
                            <a:schemeClr val="tx1"/>
                          </a:solidFill>
                          <a:latin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𝑖</m:t>
                              </m:r>
                            </m:sub>
                          </m:sSub>
                        </m:num>
                        <m:den>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ℎ</m:t>
                              </m:r>
                            </m:sub>
                          </m:sSub>
                        </m:den>
                      </m:f>
                      <m:r>
                        <a:rPr lang="en-US" sz="2400" i="1" dirty="0" smtClean="0">
                          <a:solidFill>
                            <a:schemeClr val="tx1"/>
                          </a:solidFill>
                          <a:latin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p>
                            <m:sSupPr>
                              <m:ctrlPr>
                                <a:rPr lang="en-US" sz="2400" i="1" dirty="0" smtClean="0">
                                  <a:solidFill>
                                    <a:schemeClr val="tx1"/>
                                  </a:solidFill>
                                  <a:latin typeface="Cambria Math" panose="02040503050406030204" pitchFamily="18" charset="0"/>
                                </a:rPr>
                              </m:ctrlPr>
                            </m:sSupPr>
                            <m:e>
                              <m:r>
                                <a:rPr lang="en-US" sz="2400" i="1" dirty="0" smtClean="0">
                                  <a:solidFill>
                                    <a:schemeClr val="tx1"/>
                                  </a:solidFill>
                                  <a:latin typeface="Cambria Math" panose="02040503050406030204" pitchFamily="18" charset="0"/>
                                </a:rPr>
                                <m:t>𝑒</m:t>
                              </m:r>
                            </m:e>
                            <m:sup>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𝑆</m:t>
                                  </m:r>
                                </m:e>
                                <m:sub>
                                  <m:r>
                                    <a:rPr lang="en-US" sz="2400" i="1" dirty="0" smtClean="0">
                                      <a:solidFill>
                                        <a:schemeClr val="tx1"/>
                                      </a:solidFill>
                                      <a:latin typeface="Cambria Math" panose="02040503050406030204" pitchFamily="18" charset="0"/>
                                    </a:rPr>
                                    <m:t>𝑖</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𝑡</m:t>
                                  </m:r>
                                </m:e>
                                <m:sub>
                                  <m:r>
                                    <m:rPr>
                                      <m:sty m:val="p"/>
                                    </m:rPr>
                                    <a:rPr lang="en-US" sz="2400" i="1" dirty="0" smtClean="0">
                                      <a:solidFill>
                                        <a:schemeClr val="tx1"/>
                                      </a:solidFill>
                                      <a:latin typeface="Cambria Math" panose="02040503050406030204" pitchFamily="18" charset="0"/>
                                    </a:rPr>
                                    <m:t>sel</m:t>
                                  </m:r>
                                </m:sub>
                              </m:sSub>
                            </m:sup>
                          </m:sSup>
                        </m:num>
                        <m:den>
                          <m:sSup>
                            <m:sSupPr>
                              <m:ctrlPr>
                                <a:rPr lang="en-US" sz="2400" i="1" dirty="0" smtClean="0">
                                  <a:solidFill>
                                    <a:schemeClr val="tx1"/>
                                  </a:solidFill>
                                  <a:latin typeface="Cambria Math" panose="02040503050406030204" pitchFamily="18" charset="0"/>
                                </a:rPr>
                              </m:ctrlPr>
                            </m:sSupPr>
                            <m:e>
                              <m:r>
                                <a:rPr lang="en-US" sz="2400" i="1" dirty="0" smtClean="0">
                                  <a:solidFill>
                                    <a:schemeClr val="tx1"/>
                                  </a:solidFill>
                                  <a:latin typeface="Cambria Math" panose="02040503050406030204" pitchFamily="18" charset="0"/>
                                </a:rPr>
                                <m:t>𝑒</m:t>
                              </m:r>
                            </m:e>
                            <m:sup>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𝑆</m:t>
                                  </m:r>
                                </m:e>
                                <m:sub>
                                  <m:r>
                                    <a:rPr lang="en-US" sz="2400" i="1" dirty="0" smtClean="0">
                                      <a:solidFill>
                                        <a:schemeClr val="tx1"/>
                                      </a:solidFill>
                                      <a:latin typeface="Cambria Math" panose="02040503050406030204" pitchFamily="18" charset="0"/>
                                    </a:rPr>
                                    <m:t>ℎ</m:t>
                                  </m:r>
                                </m:sub>
                              </m:sSub>
                              <m:r>
                                <a:rPr lang="en-US" sz="2400" i="1" dirty="0" smtClean="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𝑡</m:t>
                                  </m:r>
                                </m:e>
                                <m:sub>
                                  <m:r>
                                    <m:rPr>
                                      <m:sty m:val="p"/>
                                    </m:rPr>
                                    <a:rPr lang="en-US" sz="2400" i="1" dirty="0" smtClean="0">
                                      <a:solidFill>
                                        <a:schemeClr val="tx1"/>
                                      </a:solidFill>
                                      <a:latin typeface="Cambria Math" panose="02040503050406030204" pitchFamily="18" charset="0"/>
                                    </a:rPr>
                                    <m:t>sel</m:t>
                                  </m:r>
                                </m:sub>
                              </m:sSub>
                            </m:sup>
                          </m:sSup>
                        </m:den>
                      </m:f>
                      <m:r>
                        <a:rPr lang="en-US" sz="2400" i="1" dirty="0" smtClean="0">
                          <a:solidFill>
                            <a:srgbClr val="0432FF"/>
                          </a:solidFill>
                          <a:latin typeface="Cambria Math" panose="02040503050406030204" pitchFamily="18" charset="0"/>
                        </a:rPr>
                        <m:t>=</m:t>
                      </m:r>
                      <m:sSup>
                        <m:sSupPr>
                          <m:ctrlPr>
                            <a:rPr lang="en-US" sz="2400" i="1" dirty="0" smtClean="0">
                              <a:solidFill>
                                <a:srgbClr val="0432FF"/>
                              </a:solidFill>
                              <a:latin typeface="Cambria Math" panose="02040503050406030204" pitchFamily="18" charset="0"/>
                            </a:rPr>
                          </m:ctrlPr>
                        </m:sSupPr>
                        <m:e>
                          <m:r>
                            <a:rPr lang="en-US" sz="2400" i="1" dirty="0" smtClean="0">
                              <a:solidFill>
                                <a:srgbClr val="0432FF"/>
                              </a:solidFill>
                              <a:latin typeface="Cambria Math" panose="02040503050406030204" pitchFamily="18" charset="0"/>
                            </a:rPr>
                            <m:t>𝑒</m:t>
                          </m:r>
                        </m:e>
                        <m:sup>
                          <m:d>
                            <m:dPr>
                              <m:ctrlPr>
                                <a:rPr lang="en-US" sz="2400" i="1" dirty="0" smtClean="0">
                                  <a:solidFill>
                                    <a:srgbClr val="0432FF"/>
                                  </a:solidFill>
                                  <a:latin typeface="Cambria Math" panose="02040503050406030204" pitchFamily="18" charset="0"/>
                                </a:rPr>
                              </m:ctrlPr>
                            </m:dPr>
                            <m:e>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𝑖</m:t>
                                  </m:r>
                                </m:sub>
                              </m:sSub>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ℎ</m:t>
                                  </m:r>
                                </m:sub>
                              </m:sSub>
                            </m:e>
                          </m:d>
                          <m:r>
                            <a:rPr lang="en-US" sz="2400" i="1"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𝑡</m:t>
                              </m:r>
                            </m:e>
                            <m:sub>
                              <m:r>
                                <m:rPr>
                                  <m:sty m:val="p"/>
                                </m:rPr>
                                <a:rPr lang="en-US" sz="2400" i="1" dirty="0" smtClean="0">
                                  <a:solidFill>
                                    <a:srgbClr val="0432FF"/>
                                  </a:solidFill>
                                  <a:latin typeface="Cambria Math" panose="02040503050406030204" pitchFamily="18" charset="0"/>
                                </a:rPr>
                                <m:t>sel</m:t>
                              </m:r>
                            </m:sub>
                          </m:sSub>
                        </m:sup>
                      </m:sSup>
                    </m:oMath>
                  </m:oMathPara>
                </a14:m>
                <a:endParaRPr lang="en-US" sz="2400" dirty="0">
                  <a:solidFill>
                    <a:srgbClr val="0432FF"/>
                  </a:solidFill>
                </a:endParaRPr>
              </a:p>
            </p:txBody>
          </p:sp>
        </mc:Choice>
        <mc:Fallback xmlns="">
          <p:sp>
            <p:nvSpPr>
              <p:cNvPr id="2" name="TextBox 1">
                <a:extLst>
                  <a:ext uri="{FF2B5EF4-FFF2-40B4-BE49-F238E27FC236}">
                    <a16:creationId xmlns:a16="http://schemas.microsoft.com/office/drawing/2014/main" id="{BC9D1BCE-C774-1EC3-E7DF-0870DED93A06}"/>
                  </a:ext>
                </a:extLst>
              </p:cNvPr>
              <p:cNvSpPr txBox="1">
                <a:spLocks noRot="1" noChangeAspect="1" noMove="1" noResize="1" noEditPoints="1" noAdjustHandles="1" noChangeArrowheads="1" noChangeShapeType="1" noTextEdit="1"/>
              </p:cNvSpPr>
              <p:nvPr/>
            </p:nvSpPr>
            <p:spPr>
              <a:xfrm>
                <a:off x="2315497" y="4109883"/>
                <a:ext cx="7561007" cy="910762"/>
              </a:xfrm>
              <a:prstGeom prst="rect">
                <a:avLst/>
              </a:prstGeom>
              <a:blipFill>
                <a:blip r:embed="rId3"/>
                <a:stretch>
                  <a:fillRect l="-168" b="-958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6A607AD-C128-2D07-DD0F-9C5AD96F3E2D}"/>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MUCH does a score advantage matter?</a:t>
            </a:r>
          </a:p>
        </p:txBody>
      </p:sp>
    </p:spTree>
    <p:extLst>
      <p:ext uri="{BB962C8B-B14F-4D97-AF65-F5344CB8AC3E}">
        <p14:creationId xmlns:p14="http://schemas.microsoft.com/office/powerpoint/2010/main" val="2527918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E629-CE1F-86E1-9FA7-D6E76A9731D4}"/>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F7F137A-1DB2-5246-0843-2C61BD90CA01}"/>
              </a:ext>
            </a:extLst>
          </p:cNvPr>
          <p:cNvSpPr>
            <a:spLocks noGrp="1"/>
          </p:cNvSpPr>
          <p:nvPr>
            <p:ph type="sldNum" sz="quarter" idx="12"/>
          </p:nvPr>
        </p:nvSpPr>
        <p:spPr/>
        <p:txBody>
          <a:bodyPr/>
          <a:lstStyle/>
          <a:p>
            <a:fld id="{387B101D-DD3C-9947-BBAC-237D8FE858E0}" type="slidenum">
              <a:rPr lang="en-US" smtClean="0"/>
              <a:t>37</a:t>
            </a:fld>
            <a:endParaRPr lang="en-US"/>
          </a:p>
        </p:txBody>
      </p:sp>
      <p:sp>
        <p:nvSpPr>
          <p:cNvPr id="5" name="TextBox 4">
            <a:extLst>
              <a:ext uri="{FF2B5EF4-FFF2-40B4-BE49-F238E27FC236}">
                <a16:creationId xmlns:a16="http://schemas.microsoft.com/office/drawing/2014/main" id="{6C1F6217-1AA7-9CD5-9E94-0B05A618DF44}"/>
              </a:ext>
            </a:extLst>
          </p:cNvPr>
          <p:cNvSpPr txBox="1"/>
          <p:nvPr/>
        </p:nvSpPr>
        <p:spPr>
          <a:xfrm>
            <a:off x="748480" y="1622326"/>
            <a:ext cx="10932243" cy="1200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So, the advantage depends on the differences between their scores, measured relative to the selection temperature.</a:t>
            </a:r>
          </a:p>
          <a:p>
            <a:pPr marL="285750" indent="-285750">
              <a:lnSpc>
                <a:spcPct val="100000"/>
              </a:lnSpc>
              <a:buFont typeface="Arial" panose="020B0604020202020204" pitchFamily="34" charset="0"/>
              <a:buChar char="•"/>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13F1D4-7F53-997E-8A69-CF64B070EC44}"/>
                  </a:ext>
                </a:extLst>
              </p:cNvPr>
              <p:cNvSpPr txBox="1"/>
              <p:nvPr/>
            </p:nvSpPr>
            <p:spPr>
              <a:xfrm>
                <a:off x="1720645" y="3429000"/>
                <a:ext cx="9527458" cy="387927"/>
              </a:xfrm>
              <a:prstGeom prst="rect">
                <a:avLst/>
              </a:prstGeom>
              <a:noFill/>
            </p:spPr>
            <p:txBody>
              <a:bodyPr wrap="square">
                <a:spAutoFit/>
              </a:bodyPr>
              <a:lstStyle/>
              <a:p>
                <a:r>
                  <a:rPr lang="en-US" sz="1800" dirty="0">
                    <a:solidFill>
                      <a:schemeClr val="tx1"/>
                    </a:solidFill>
                    <a:effectLst/>
                    <a:latin typeface="+mn-lt"/>
                    <a:ea typeface="Verdana" panose="020B0604030504040204" pitchFamily="34" charset="0"/>
                    <a:cs typeface="Verdana" panose="020B0604030504040204" pitchFamily="34" charset="0"/>
                  </a:rPr>
                  <a:t>Candidate </a:t>
                </a:r>
                <a14:m>
                  <m:oMath xmlns:m="http://schemas.openxmlformats.org/officeDocument/2006/math">
                    <m:r>
                      <a:rPr lang="en-US" sz="1800" i="1">
                        <a:solidFill>
                          <a:schemeClr val="tx1"/>
                        </a:solidFill>
                        <a:effectLst/>
                        <a:latin typeface="+mn-lt"/>
                        <a:ea typeface="Verdana" panose="020B0604030504040204" pitchFamily="34" charset="0"/>
                        <a:cs typeface="Verdana" panose="020B0604030504040204" pitchFamily="34" charset="0"/>
                      </a:rPr>
                      <m:t>𝑖</m:t>
                    </m:r>
                  </m:oMath>
                </a14:m>
                <a:r>
                  <a:rPr lang="en-US" sz="1800" dirty="0">
                    <a:solidFill>
                      <a:schemeClr val="tx1"/>
                    </a:solidFill>
                    <a:effectLst/>
                    <a:latin typeface="+mn-lt"/>
                    <a:ea typeface="Verdana" panose="020B0604030504040204" pitchFamily="34" charset="0"/>
                    <a:cs typeface="Verdana" panose="020B0604030504040204" pitchFamily="34" charset="0"/>
                  </a:rPr>
                  <a:t> is therefore  </a:t>
                </a:r>
                <a14:m>
                  <m:oMath xmlns:m="http://schemas.openxmlformats.org/officeDocument/2006/math">
                    <m:sSup>
                      <m:sSupPr>
                        <m:ctrlPr>
                          <a:rPr lang="en-US" i="1" dirty="0">
                            <a:solidFill>
                              <a:srgbClr val="0432FF"/>
                            </a:solidFill>
                            <a:latin typeface="Cambria Math" panose="02040503050406030204" pitchFamily="18" charset="0"/>
                          </a:rPr>
                        </m:ctrlPr>
                      </m:sSupPr>
                      <m:e>
                        <m:r>
                          <a:rPr lang="en-US" i="1" dirty="0">
                            <a:solidFill>
                              <a:srgbClr val="0432FF"/>
                            </a:solidFill>
                            <a:latin typeface="Cambria Math" panose="02040503050406030204" pitchFamily="18" charset="0"/>
                          </a:rPr>
                          <m:t>𝑒</m:t>
                        </m:r>
                      </m:e>
                      <m:sup>
                        <m:d>
                          <m:dPr>
                            <m:ctrlPr>
                              <a:rPr lang="en-US" i="1" dirty="0">
                                <a:solidFill>
                                  <a:srgbClr val="0432FF"/>
                                </a:solidFill>
                                <a:latin typeface="Cambria Math" panose="02040503050406030204" pitchFamily="18" charset="0"/>
                              </a:rPr>
                            </m:ctrlPr>
                          </m:dPr>
                          <m:e>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𝑖</m:t>
                                </m:r>
                              </m:sub>
                            </m:sSub>
                            <m:r>
                              <a:rPr lang="en-US" i="1"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ℎ</m:t>
                                </m:r>
                              </m:sub>
                            </m:sSub>
                          </m:e>
                        </m:d>
                        <m:r>
                          <a:rPr lang="en-US" i="1"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𝑡</m:t>
                            </m:r>
                          </m:e>
                          <m:sub>
                            <m:r>
                              <m:rPr>
                                <m:sty m:val="p"/>
                              </m:rPr>
                              <a:rPr lang="en-US" i="1" dirty="0">
                                <a:solidFill>
                                  <a:srgbClr val="0432FF"/>
                                </a:solidFill>
                                <a:latin typeface="Cambria Math" panose="02040503050406030204" pitchFamily="18" charset="0"/>
                              </a:rPr>
                              <m:t>sel</m:t>
                            </m:r>
                          </m:sub>
                        </m:sSub>
                      </m:sup>
                    </m:sSup>
                  </m:oMath>
                </a14:m>
                <a:r>
                  <a:rPr lang="en-US" sz="1800" dirty="0">
                    <a:solidFill>
                      <a:schemeClr val="tx1"/>
                    </a:solidFill>
                    <a:effectLst/>
                    <a:latin typeface="+mn-lt"/>
                    <a:ea typeface="Verdana" panose="020B0604030504040204" pitchFamily="34" charset="0"/>
                    <a:cs typeface="Verdana" panose="020B0604030504040204" pitchFamily="34" charset="0"/>
                  </a:rPr>
                  <a:t>  times as likely as candidate </a:t>
                </a:r>
                <a14:m>
                  <m:oMath xmlns:m="http://schemas.openxmlformats.org/officeDocument/2006/math">
                    <m:r>
                      <a:rPr lang="en-US" sz="1800" i="1">
                        <a:solidFill>
                          <a:schemeClr val="tx1"/>
                        </a:solidFill>
                        <a:effectLst/>
                        <a:latin typeface="+mn-lt"/>
                        <a:ea typeface="Verdana" panose="020B0604030504040204" pitchFamily="34" charset="0"/>
                        <a:cs typeface="Verdana" panose="020B0604030504040204" pitchFamily="34" charset="0"/>
                      </a:rPr>
                      <m:t>ℎ</m:t>
                    </m:r>
                  </m:oMath>
                </a14:m>
                <a:r>
                  <a:rPr lang="en-US" sz="1800" dirty="0">
                    <a:solidFill>
                      <a:schemeClr val="tx1"/>
                    </a:solidFill>
                    <a:effectLst/>
                    <a:latin typeface="+mn-lt"/>
                    <a:ea typeface="Verdana" panose="020B0604030504040204" pitchFamily="34" charset="0"/>
                    <a:cs typeface="Verdana" panose="020B0604030504040204" pitchFamily="34" charset="0"/>
                  </a:rPr>
                  <a:t> to be selected next. </a:t>
                </a:r>
                <a:endParaRPr lang="en-US" dirty="0"/>
              </a:p>
            </p:txBody>
          </p:sp>
        </mc:Choice>
        <mc:Fallback xmlns="">
          <p:sp>
            <p:nvSpPr>
              <p:cNvPr id="4" name="TextBox 3">
                <a:extLst>
                  <a:ext uri="{FF2B5EF4-FFF2-40B4-BE49-F238E27FC236}">
                    <a16:creationId xmlns:a16="http://schemas.microsoft.com/office/drawing/2014/main" id="{A313F1D4-7F53-997E-8A69-CF64B070EC44}"/>
                  </a:ext>
                </a:extLst>
              </p:cNvPr>
              <p:cNvSpPr txBox="1">
                <a:spLocks noRot="1" noChangeAspect="1" noMove="1" noResize="1" noEditPoints="1" noAdjustHandles="1" noChangeArrowheads="1" noChangeShapeType="1" noTextEdit="1"/>
              </p:cNvSpPr>
              <p:nvPr/>
            </p:nvSpPr>
            <p:spPr>
              <a:xfrm>
                <a:off x="1720645" y="3429000"/>
                <a:ext cx="9527458" cy="387927"/>
              </a:xfrm>
              <a:prstGeom prst="rect">
                <a:avLst/>
              </a:prstGeom>
              <a:blipFill>
                <a:blip r:embed="rId2"/>
                <a:stretch>
                  <a:fillRect l="-533" t="-6452" b="-225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B4889D4-2045-86EF-E2B1-0CBF0829EA16}"/>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MUCH does a score advantage matter?</a:t>
            </a:r>
          </a:p>
        </p:txBody>
      </p:sp>
    </p:spTree>
    <p:extLst>
      <p:ext uri="{BB962C8B-B14F-4D97-AF65-F5344CB8AC3E}">
        <p14:creationId xmlns:p14="http://schemas.microsoft.com/office/powerpoint/2010/main" val="1068310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7B29-38CA-E554-5662-10A1FE7639C1}"/>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321F90C-1DD6-772C-6974-7E01330888CF}"/>
              </a:ext>
            </a:extLst>
          </p:cNvPr>
          <p:cNvSpPr>
            <a:spLocks noGrp="1"/>
          </p:cNvSpPr>
          <p:nvPr>
            <p:ph type="sldNum" sz="quarter" idx="12"/>
          </p:nvPr>
        </p:nvSpPr>
        <p:spPr/>
        <p:txBody>
          <a:bodyPr/>
          <a:lstStyle/>
          <a:p>
            <a:fld id="{387B101D-DD3C-9947-BBAC-237D8FE858E0}" type="slidenum">
              <a:rPr lang="en-US" smtClean="0"/>
              <a:t>38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F57DD1-BB44-44EC-F87C-EE1B353251CA}"/>
                  </a:ext>
                </a:extLst>
              </p:cNvPr>
              <p:cNvSpPr txBox="1"/>
              <p:nvPr/>
            </p:nvSpPr>
            <p:spPr>
              <a:xfrm>
                <a:off x="748481" y="1622326"/>
                <a:ext cx="10605320" cy="646331"/>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When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𝑖</m:t>
                        </m:r>
                      </m:sub>
                    </m:sSub>
                    <m:r>
                      <a:rPr lang="en-US" i="0" dirty="0" err="1" smtClean="0">
                        <a:latin typeface="Cambria Math" panose="02040503050406030204" pitchFamily="18" charset="0"/>
                      </a:rPr>
                      <m:t>&gt;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ℎ</m:t>
                        </m:r>
                      </m:sub>
                    </m:sSub>
                  </m:oMath>
                </a14:m>
                <a:r>
                  <a:rPr lang="en-US" dirty="0"/>
                  <a:t>, decreasing selection temperature makes player </a:t>
                </a:r>
                <a14:m>
                  <m:oMath xmlns:m="http://schemas.openxmlformats.org/officeDocument/2006/math">
                    <m:r>
                      <a:rPr lang="en-US" i="1" dirty="0" smtClean="0">
                        <a:latin typeface="Cambria Math" panose="02040503050406030204" pitchFamily="18" charset="0"/>
                      </a:rPr>
                      <m:t>𝑖</m:t>
                    </m:r>
                  </m:oMath>
                </a14:m>
                <a:r>
                  <a:rPr lang="en-US" dirty="0"/>
                  <a:t> increasingly more likely than player </a:t>
                </a:r>
                <a14:m>
                  <m:oMath xmlns:m="http://schemas.openxmlformats.org/officeDocument/2006/math">
                    <m:r>
                      <a:rPr lang="en-US" i="1" dirty="0" smtClean="0">
                        <a:latin typeface="Cambria Math" panose="02040503050406030204" pitchFamily="18" charset="0"/>
                      </a:rPr>
                      <m:t>ℎ</m:t>
                    </m:r>
                  </m:oMath>
                </a14:m>
                <a:r>
                  <a:rPr lang="en-US" dirty="0"/>
                  <a:t> to be selected next.</a:t>
                </a:r>
              </a:p>
            </p:txBody>
          </p:sp>
        </mc:Choice>
        <mc:Fallback xmlns="">
          <p:sp>
            <p:nvSpPr>
              <p:cNvPr id="5" name="TextBox 4">
                <a:extLst>
                  <a:ext uri="{FF2B5EF4-FFF2-40B4-BE49-F238E27FC236}">
                    <a16:creationId xmlns:a16="http://schemas.microsoft.com/office/drawing/2014/main" id="{B8F57DD1-BB44-44EC-F87C-EE1B353251CA}"/>
                  </a:ext>
                </a:extLst>
              </p:cNvPr>
              <p:cNvSpPr txBox="1">
                <a:spLocks noRot="1" noChangeAspect="1" noMove="1" noResize="1" noEditPoints="1" noAdjustHandles="1" noChangeArrowheads="1" noChangeShapeType="1" noTextEdit="1"/>
              </p:cNvSpPr>
              <p:nvPr/>
            </p:nvSpPr>
            <p:spPr>
              <a:xfrm>
                <a:off x="748481" y="1622326"/>
                <a:ext cx="10605320" cy="646331"/>
              </a:xfrm>
              <a:prstGeom prst="rect">
                <a:avLst/>
              </a:prstGeom>
              <a:blipFill>
                <a:blip r:embed="rId2"/>
                <a:stretch>
                  <a:fillRect l="-478" t="-3846" b="-13462"/>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E80BC2BF-CBDA-FE31-F99F-197C9E959821}"/>
              </a:ext>
            </a:extLst>
          </p:cNvPr>
          <p:cNvGrpSpPr/>
          <p:nvPr/>
        </p:nvGrpSpPr>
        <p:grpSpPr>
          <a:xfrm>
            <a:off x="6371303" y="3204415"/>
            <a:ext cx="5083434" cy="2864666"/>
            <a:chOff x="3414901" y="2497394"/>
            <a:chExt cx="6417514" cy="3571687"/>
          </a:xfrm>
        </p:grpSpPr>
        <p:grpSp>
          <p:nvGrpSpPr>
            <p:cNvPr id="3" name="Group 2">
              <a:extLst>
                <a:ext uri="{FF2B5EF4-FFF2-40B4-BE49-F238E27FC236}">
                  <a16:creationId xmlns:a16="http://schemas.microsoft.com/office/drawing/2014/main" id="{8405F114-911A-F3E2-D285-C2A4F220352B}"/>
                </a:ext>
              </a:extLst>
            </p:cNvPr>
            <p:cNvGrpSpPr/>
            <p:nvPr/>
          </p:nvGrpSpPr>
          <p:grpSpPr>
            <a:xfrm>
              <a:off x="3414901" y="2775896"/>
              <a:ext cx="3119580" cy="3263689"/>
              <a:chOff x="1812231" y="2775896"/>
              <a:chExt cx="3119580" cy="3263689"/>
            </a:xfrm>
          </p:grpSpPr>
          <p:pic>
            <p:nvPicPr>
              <p:cNvPr id="27" name="Picture 26">
                <a:extLst>
                  <a:ext uri="{FF2B5EF4-FFF2-40B4-BE49-F238E27FC236}">
                    <a16:creationId xmlns:a16="http://schemas.microsoft.com/office/drawing/2014/main" id="{578A42D7-FCB2-1E73-4E24-2E27E1B2D94B}"/>
                  </a:ext>
                </a:extLst>
              </p:cNvPr>
              <p:cNvPicPr>
                <a:picLocks noChangeAspect="1"/>
              </p:cNvPicPr>
              <p:nvPr/>
            </p:nvPicPr>
            <p:blipFill>
              <a:blip r:embed="rId3"/>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45D7D2C-DADB-4720-6C83-4F9D938E70E0}"/>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28" name="TextBox 27">
                    <a:extLst>
                      <a:ext uri="{FF2B5EF4-FFF2-40B4-BE49-F238E27FC236}">
                        <a16:creationId xmlns:a16="http://schemas.microsoft.com/office/drawing/2014/main" id="{F45D7D2C-DADB-4720-6C83-4F9D938E70E0}"/>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4"/>
                    <a:stretch>
                      <a:fillRect l="-5000" t="-8000" r="-20000" b="-52000"/>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52A510BC-4EAD-EB7A-8B5F-921A0044B22E}"/>
                </a:ext>
              </a:extLst>
            </p:cNvPr>
            <p:cNvGrpSpPr/>
            <p:nvPr/>
          </p:nvGrpSpPr>
          <p:grpSpPr>
            <a:xfrm>
              <a:off x="7262065" y="3409513"/>
              <a:ext cx="2570350" cy="2659568"/>
              <a:chOff x="4931811" y="3380017"/>
              <a:chExt cx="2570350" cy="2659568"/>
            </a:xfrm>
          </p:grpSpPr>
          <p:pic>
            <p:nvPicPr>
              <p:cNvPr id="25" name="Picture 24">
                <a:extLst>
                  <a:ext uri="{FF2B5EF4-FFF2-40B4-BE49-F238E27FC236}">
                    <a16:creationId xmlns:a16="http://schemas.microsoft.com/office/drawing/2014/main" id="{60D9C889-E3BF-C729-0A57-C75A7B762820}"/>
                  </a:ext>
                </a:extLst>
              </p:cNvPr>
              <p:cNvPicPr>
                <a:picLocks noChangeAspect="1"/>
              </p:cNvPicPr>
              <p:nvPr/>
            </p:nvPicPr>
            <p:blipFill>
              <a:blip r:embed="rId5"/>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139F907-F490-8414-7196-D867C896E7D5}"/>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26" name="TextBox 25">
                    <a:extLst>
                      <a:ext uri="{FF2B5EF4-FFF2-40B4-BE49-F238E27FC236}">
                        <a16:creationId xmlns:a16="http://schemas.microsoft.com/office/drawing/2014/main" id="{0139F907-F490-8414-7196-D867C896E7D5}"/>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6"/>
                    <a:stretch>
                      <a:fillRect l="-6452" t="-8000" r="-24194" b="-52000"/>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7B156782-4791-4EFB-3E8F-284D2BF0CA07}"/>
                </a:ext>
              </a:extLst>
            </p:cNvPr>
            <p:cNvGrpSpPr/>
            <p:nvPr/>
          </p:nvGrpSpPr>
          <p:grpSpPr>
            <a:xfrm>
              <a:off x="6759674" y="2497394"/>
              <a:ext cx="147484" cy="3172859"/>
              <a:chOff x="4724396" y="2497394"/>
              <a:chExt cx="147484" cy="3172859"/>
            </a:xfrm>
          </p:grpSpPr>
          <p:cxnSp>
            <p:nvCxnSpPr>
              <p:cNvPr id="12" name="Straight Connector 11">
                <a:extLst>
                  <a:ext uri="{FF2B5EF4-FFF2-40B4-BE49-F238E27FC236}">
                    <a16:creationId xmlns:a16="http://schemas.microsoft.com/office/drawing/2014/main" id="{033A1AC9-79B8-3F8A-8D27-1FE1AE1CD7A8}"/>
                  </a:ext>
                </a:extLst>
              </p:cNvPr>
              <p:cNvCxnSpPr/>
              <p:nvPr/>
            </p:nvCxnSpPr>
            <p:spPr>
              <a:xfrm>
                <a:off x="4788310" y="2497394"/>
                <a:ext cx="0" cy="31728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5686CFD-3218-D607-AB40-2A5989CA7899}"/>
                  </a:ext>
                </a:extLst>
              </p:cNvPr>
              <p:cNvCxnSpPr>
                <a:cxnSpLocks/>
              </p:cNvCxnSpPr>
              <p:nvPr/>
            </p:nvCxnSpPr>
            <p:spPr>
              <a:xfrm>
                <a:off x="4724396" y="423027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01FB0AD-8E31-E5B6-9F26-69A63817ABE9}"/>
                  </a:ext>
                </a:extLst>
              </p:cNvPr>
              <p:cNvCxnSpPr>
                <a:cxnSpLocks/>
              </p:cNvCxnSpPr>
              <p:nvPr/>
            </p:nvCxnSpPr>
            <p:spPr>
              <a:xfrm>
                <a:off x="4724396" y="451827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1D0E59D-9168-BFAB-DAE0-0D236B55A1EC}"/>
                  </a:ext>
                </a:extLst>
              </p:cNvPr>
              <p:cNvCxnSpPr>
                <a:cxnSpLocks/>
              </p:cNvCxnSpPr>
              <p:nvPr/>
            </p:nvCxnSpPr>
            <p:spPr>
              <a:xfrm>
                <a:off x="4724396" y="480626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D56BDA2-AFAA-FAF1-2B53-3DCD65F9076C}"/>
                  </a:ext>
                </a:extLst>
              </p:cNvPr>
              <p:cNvCxnSpPr>
                <a:cxnSpLocks/>
              </p:cNvCxnSpPr>
              <p:nvPr/>
            </p:nvCxnSpPr>
            <p:spPr>
              <a:xfrm>
                <a:off x="4724396" y="509426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74AFA85-B413-6A11-B37A-0BFD69120162}"/>
                  </a:ext>
                </a:extLst>
              </p:cNvPr>
              <p:cNvCxnSpPr>
                <a:cxnSpLocks/>
              </p:cNvCxnSpPr>
              <p:nvPr/>
            </p:nvCxnSpPr>
            <p:spPr>
              <a:xfrm>
                <a:off x="4724396" y="538225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ED9DCF7-4917-6F00-05EB-6297469A20E2}"/>
                  </a:ext>
                </a:extLst>
              </p:cNvPr>
              <p:cNvCxnSpPr>
                <a:cxnSpLocks/>
              </p:cNvCxnSpPr>
              <p:nvPr/>
            </p:nvCxnSpPr>
            <p:spPr>
              <a:xfrm>
                <a:off x="4724396" y="5670253"/>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077DB69-2EE4-0E2B-35DA-633FDCEA54E3}"/>
                  </a:ext>
                </a:extLst>
              </p:cNvPr>
              <p:cNvCxnSpPr>
                <a:cxnSpLocks/>
              </p:cNvCxnSpPr>
              <p:nvPr/>
            </p:nvCxnSpPr>
            <p:spPr>
              <a:xfrm>
                <a:off x="4724396" y="250231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FE00B6C-F890-F211-AA1C-9E017993A618}"/>
                  </a:ext>
                </a:extLst>
              </p:cNvPr>
              <p:cNvCxnSpPr>
                <a:cxnSpLocks/>
              </p:cNvCxnSpPr>
              <p:nvPr/>
            </p:nvCxnSpPr>
            <p:spPr>
              <a:xfrm>
                <a:off x="4724396" y="279030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5E191A8-2C36-895E-83FE-7DBB5F26D8A1}"/>
                  </a:ext>
                </a:extLst>
              </p:cNvPr>
              <p:cNvCxnSpPr>
                <a:cxnSpLocks/>
              </p:cNvCxnSpPr>
              <p:nvPr/>
            </p:nvCxnSpPr>
            <p:spPr>
              <a:xfrm>
                <a:off x="4724396" y="307830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5B54C73-4D8A-4C28-1D5F-9B6CB98CBC2D}"/>
                  </a:ext>
                </a:extLst>
              </p:cNvPr>
              <p:cNvCxnSpPr>
                <a:cxnSpLocks/>
              </p:cNvCxnSpPr>
              <p:nvPr/>
            </p:nvCxnSpPr>
            <p:spPr>
              <a:xfrm>
                <a:off x="4724396" y="336629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59EE0AB-3FF8-1CF9-F58E-E49BF9EEE7C1}"/>
                  </a:ext>
                </a:extLst>
              </p:cNvPr>
              <p:cNvCxnSpPr>
                <a:cxnSpLocks/>
              </p:cNvCxnSpPr>
              <p:nvPr/>
            </p:nvCxnSpPr>
            <p:spPr>
              <a:xfrm>
                <a:off x="4724396" y="365429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AFD8755-6CD5-44AA-8561-3F4AD1F3053D}"/>
                  </a:ext>
                </a:extLst>
              </p:cNvPr>
              <p:cNvCxnSpPr>
                <a:cxnSpLocks/>
              </p:cNvCxnSpPr>
              <p:nvPr/>
            </p:nvCxnSpPr>
            <p:spPr>
              <a:xfrm>
                <a:off x="4724396" y="3942284"/>
                <a:ext cx="147484"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96E7E7-B740-D4DB-61CC-CA0B01D924EE}"/>
                    </a:ext>
                  </a:extLst>
                </p:cNvPr>
                <p:cNvSpPr txBox="1"/>
                <p:nvPr/>
              </p:nvSpPr>
              <p:spPr>
                <a:xfrm>
                  <a:off x="5997684" y="2794889"/>
                  <a:ext cx="491613" cy="369332"/>
                </a:xfrm>
                <a:prstGeom prst="rect">
                  <a:avLst/>
                </a:prstGeom>
                <a:noFill/>
              </p:spPr>
              <p:txBody>
                <a:bodyPr wrap="square" rtlCol="0">
                  <a:spAutoFit/>
                </a:bodyPr>
                <a:lstStyle/>
                <a:p>
                  <a:pPr/>
                  <a14:m>
                    <m:oMathPara xmlns:m="http://schemas.openxmlformats.org/officeDocument/2006/math">
                      <m:oMath>
                        <m:sSub>
                          <m:sSubPr>
                            <m:ctrlPr>
                              <a:rPr lang="en-US" b="0" i="1" dirty="0" err="1" smtClean="0">
                                <a:solidFill>
                                  <a:srgbClr val="0432FF"/>
                                </a:solidFill>
                                <a:latin typeface="Cambria Math" panose="02040503050406030204" pitchFamily="18" charset="0"/>
                              </a:rPr>
                            </m:ctrlPr>
                          </m:sSubPr>
                          <m:e>
                            <m:r>
                              <a:rPr lang="en-US" b="0" i="1" dirty="0" err="1" smtClean="0">
                                <a:solidFill>
                                  <a:srgbClr val="0432FF"/>
                                </a:solidFill>
                                <a:latin typeface="Cambria Math" panose="02040503050406030204" pitchFamily="18" charset="0"/>
                              </a:rPr>
                              <m:t>𝐴</m:t>
                            </m:r>
                          </m:e>
                          <m:sub>
                            <m:r>
                              <a:rPr lang="en-US" b="0" i="1" dirty="0" err="1" smtClean="0">
                                <a:solidFill>
                                  <a:srgbClr val="0432FF"/>
                                </a:solidFill>
                                <a:latin typeface="Cambria Math" panose="02040503050406030204" pitchFamily="18" charset="0"/>
                              </a:rPr>
                              <m:t>𝑖</m:t>
                            </m:r>
                          </m:sub>
                        </m:sSub>
                      </m:oMath>
                    </m:oMathPara>
                  </a14:m>
                  <a:endParaRPr lang="en-US" dirty="0">
                    <a:solidFill>
                      <a:srgbClr val="0432FF"/>
                    </a:solidFill>
                  </a:endParaRPr>
                </a:p>
              </p:txBody>
            </p:sp>
          </mc:Choice>
          <mc:Fallback xmlns="">
            <p:sp>
              <p:nvSpPr>
                <p:cNvPr id="8" name="TextBox 7">
                  <a:extLst>
                    <a:ext uri="{FF2B5EF4-FFF2-40B4-BE49-F238E27FC236}">
                      <a16:creationId xmlns:a16="http://schemas.microsoft.com/office/drawing/2014/main" id="{7F96E7E7-B740-D4DB-61CC-CA0B01D924EE}"/>
                    </a:ext>
                  </a:extLst>
                </p:cNvPr>
                <p:cNvSpPr txBox="1">
                  <a:spLocks noRot="1" noChangeAspect="1" noMove="1" noResize="1" noEditPoints="1" noAdjustHandles="1" noChangeArrowheads="1" noChangeShapeType="1" noTextEdit="1"/>
                </p:cNvSpPr>
                <p:nvPr/>
              </p:nvSpPr>
              <p:spPr>
                <a:xfrm>
                  <a:off x="5997684" y="2794889"/>
                  <a:ext cx="491613" cy="369332"/>
                </a:xfrm>
                <a:prstGeom prst="rect">
                  <a:avLst/>
                </a:prstGeom>
                <a:blipFill>
                  <a:blip r:embed="rId7"/>
                  <a:stretch>
                    <a:fillRect b="-20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1BD1494-7DC7-0326-C009-1B658C556F63}"/>
                    </a:ext>
                  </a:extLst>
                </p:cNvPr>
                <p:cNvSpPr txBox="1"/>
                <p:nvPr/>
              </p:nvSpPr>
              <p:spPr>
                <a:xfrm>
                  <a:off x="7256201" y="3389571"/>
                  <a:ext cx="491613" cy="369332"/>
                </a:xfrm>
                <a:prstGeom prst="rect">
                  <a:avLst/>
                </a:prstGeom>
                <a:noFill/>
              </p:spPr>
              <p:txBody>
                <a:bodyPr wrap="square" rtlCol="0">
                  <a:spAutoFit/>
                </a:bodyPr>
                <a:lstStyle/>
                <a:p>
                  <a:pPr/>
                  <a14:m>
                    <m:oMathPara xmlns:m="http://schemas.openxmlformats.org/officeDocument/2006/math">
                      <m:o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𝐴</m:t>
                            </m:r>
                          </m:e>
                          <m:sub>
                            <m:r>
                              <a:rPr lang="en-US" b="1" i="1" dirty="0" err="1" smtClean="0">
                                <a:solidFill>
                                  <a:srgbClr val="0432FF"/>
                                </a:solidFill>
                                <a:latin typeface="Cambria Math" panose="02040503050406030204" pitchFamily="18" charset="0"/>
                              </a:rPr>
                              <m:t>ℎ</m:t>
                            </m:r>
                          </m:sub>
                        </m:sSub>
                      </m:oMath>
                    </m:oMathPara>
                  </a14:m>
                  <a:endParaRPr lang="en-US" b="1" dirty="0">
                    <a:solidFill>
                      <a:srgbClr val="0432FF"/>
                    </a:solidFill>
                  </a:endParaRPr>
                </a:p>
              </p:txBody>
            </p:sp>
          </mc:Choice>
          <mc:Fallback xmlns="">
            <p:sp>
              <p:nvSpPr>
                <p:cNvPr id="11" name="TextBox 10">
                  <a:extLst>
                    <a:ext uri="{FF2B5EF4-FFF2-40B4-BE49-F238E27FC236}">
                      <a16:creationId xmlns:a16="http://schemas.microsoft.com/office/drawing/2014/main" id="{B1BD1494-7DC7-0326-C009-1B658C556F63}"/>
                    </a:ext>
                  </a:extLst>
                </p:cNvPr>
                <p:cNvSpPr txBox="1">
                  <a:spLocks noRot="1" noChangeAspect="1" noMove="1" noResize="1" noEditPoints="1" noAdjustHandles="1" noChangeArrowheads="1" noChangeShapeType="1" noTextEdit="1"/>
                </p:cNvSpPr>
                <p:nvPr/>
              </p:nvSpPr>
              <p:spPr>
                <a:xfrm>
                  <a:off x="7256201" y="3389571"/>
                  <a:ext cx="491613" cy="369332"/>
                </a:xfrm>
                <a:prstGeom prst="rect">
                  <a:avLst/>
                </a:prstGeom>
                <a:blipFill>
                  <a:blip r:embed="rId8"/>
                  <a:stretch>
                    <a:fillRect r="-3226" b="-16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0E4F443-31DE-9BB6-3AB4-EB6A7254A512}"/>
                  </a:ext>
                </a:extLst>
              </p:cNvPr>
              <p:cNvSpPr txBox="1"/>
              <p:nvPr/>
            </p:nvSpPr>
            <p:spPr>
              <a:xfrm>
                <a:off x="748481" y="2445098"/>
                <a:ext cx="6096000" cy="403124"/>
              </a:xfrm>
              <a:prstGeom prst="rect">
                <a:avLst/>
              </a:prstGeom>
              <a:noFill/>
            </p:spPr>
            <p:txBody>
              <a:bodyPr wrap="square">
                <a:spAutoFit/>
              </a:bodyPr>
              <a:lstStyle/>
              <a:p>
                <a:pPr/>
                <a14:m>
                  <m:oMathPara xmlns:m="http://schemas.openxmlformats.org/officeDocument/2006/math">
                    <m:oMath>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𝑡</m:t>
                          </m:r>
                        </m:e>
                        <m:sub>
                          <m:r>
                            <m:rPr>
                              <m:sty m:val="p"/>
                            </m:rPr>
                            <a:rPr lang="en-US" i="0" dirty="0">
                              <a:solidFill>
                                <a:srgbClr val="0432FF"/>
                              </a:solidFill>
                              <a:latin typeface="Cambria Math" panose="02040503050406030204" pitchFamily="18" charset="0"/>
                            </a:rPr>
                            <m:t>sel</m:t>
                          </m:r>
                        </m:sub>
                      </m:sSub>
                      <m:r>
                        <a:rPr lang="en-US" i="0" dirty="0">
                          <a:solidFill>
                            <a:srgbClr val="0432FF"/>
                          </a:solidFill>
                          <a:latin typeface="Cambria Math" panose="02040503050406030204" pitchFamily="18" charset="0"/>
                        </a:rPr>
                        <m:t>→</m:t>
                      </m:r>
                      <m:sSup>
                        <m:sSupPr>
                          <m:ctrlPr>
                            <a:rPr lang="en-US" i="0" dirty="0">
                              <a:solidFill>
                                <a:srgbClr val="0432FF"/>
                              </a:solidFill>
                              <a:latin typeface="Cambria Math" panose="02040503050406030204" pitchFamily="18" charset="0"/>
                            </a:rPr>
                          </m:ctrlPr>
                        </m:sSupPr>
                        <m:e>
                          <m:r>
                            <a:rPr lang="en-US" i="0" dirty="0">
                              <a:solidFill>
                                <a:srgbClr val="0432FF"/>
                              </a:solidFill>
                              <a:latin typeface="Cambria Math" panose="02040503050406030204" pitchFamily="18" charset="0"/>
                            </a:rPr>
                            <m:t>0</m:t>
                          </m:r>
                        </m:e>
                        <m:sup>
                          <m:r>
                            <a:rPr lang="en-US" i="0" dirty="0">
                              <a:solidFill>
                                <a:srgbClr val="0432FF"/>
                              </a:solidFill>
                              <a:latin typeface="Cambria Math" panose="02040503050406030204" pitchFamily="18" charset="0"/>
                            </a:rPr>
                            <m:t>+</m:t>
                          </m:r>
                        </m:sup>
                      </m:sSup>
                      <m:r>
                        <a:rPr lang="en-US" i="0" dirty="0">
                          <a:solidFill>
                            <a:srgbClr val="0432FF"/>
                          </a:solidFill>
                          <a:latin typeface="Cambria Math" panose="02040503050406030204" pitchFamily="18" charset="0"/>
                        </a:rPr>
                        <m:t> ⟹ </m:t>
                      </m:r>
                      <m:sSup>
                        <m:sSupPr>
                          <m:ctrlPr>
                            <a:rPr lang="en-US" i="1" dirty="0">
                              <a:solidFill>
                                <a:srgbClr val="0432FF"/>
                              </a:solidFill>
                              <a:latin typeface="Cambria Math" panose="02040503050406030204" pitchFamily="18" charset="0"/>
                            </a:rPr>
                          </m:ctrlPr>
                        </m:sSupPr>
                        <m:e>
                          <m:r>
                            <a:rPr lang="en-US" i="1" dirty="0">
                              <a:solidFill>
                                <a:srgbClr val="0432FF"/>
                              </a:solidFill>
                              <a:latin typeface="Cambria Math" panose="02040503050406030204" pitchFamily="18" charset="0"/>
                            </a:rPr>
                            <m:t>𝑒</m:t>
                          </m:r>
                        </m:e>
                        <m:sup>
                          <m:d>
                            <m:dPr>
                              <m:ctrlPr>
                                <a:rPr lang="en-US" i="1" dirty="0">
                                  <a:solidFill>
                                    <a:srgbClr val="0432FF"/>
                                  </a:solidFill>
                                  <a:latin typeface="Cambria Math" panose="02040503050406030204" pitchFamily="18" charset="0"/>
                                </a:rPr>
                              </m:ctrlPr>
                            </m:dPr>
                            <m:e>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𝑖</m:t>
                                  </m:r>
                                </m:sub>
                              </m:sSub>
                              <m:r>
                                <a:rPr lang="en-US" i="0"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ℎ</m:t>
                                  </m:r>
                                </m:sub>
                              </m:sSub>
                            </m:e>
                          </m:d>
                          <m:r>
                            <a:rPr lang="en-US" i="0"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𝑡</m:t>
                              </m:r>
                            </m:e>
                            <m:sub>
                              <m:r>
                                <m:rPr>
                                  <m:sty m:val="p"/>
                                </m:rPr>
                                <a:rPr lang="en-US" i="0" dirty="0">
                                  <a:solidFill>
                                    <a:srgbClr val="0432FF"/>
                                  </a:solidFill>
                                  <a:latin typeface="Cambria Math" panose="02040503050406030204" pitchFamily="18" charset="0"/>
                                </a:rPr>
                                <m:t>sel</m:t>
                              </m:r>
                            </m:sub>
                          </m:sSub>
                        </m:sup>
                      </m:sSup>
                      <m:r>
                        <a:rPr lang="en-US" i="0" dirty="0">
                          <a:solidFill>
                            <a:srgbClr val="0432FF"/>
                          </a:solidFill>
                          <a:latin typeface="Cambria Math" panose="02040503050406030204" pitchFamily="18" charset="0"/>
                        </a:rPr>
                        <m:t>→∞</m:t>
                      </m:r>
                    </m:oMath>
                  </m:oMathPara>
                </a14:m>
                <a:endParaRPr lang="en-US" dirty="0">
                  <a:solidFill>
                    <a:srgbClr val="0432FF"/>
                  </a:solidFill>
                </a:endParaRPr>
              </a:p>
            </p:txBody>
          </p:sp>
        </mc:Choice>
        <mc:Fallback xmlns="">
          <p:sp>
            <p:nvSpPr>
              <p:cNvPr id="30" name="TextBox 29">
                <a:extLst>
                  <a:ext uri="{FF2B5EF4-FFF2-40B4-BE49-F238E27FC236}">
                    <a16:creationId xmlns:a16="http://schemas.microsoft.com/office/drawing/2014/main" id="{C0E4F443-31DE-9BB6-3AB4-EB6A7254A512}"/>
                  </a:ext>
                </a:extLst>
              </p:cNvPr>
              <p:cNvSpPr txBox="1">
                <a:spLocks noRot="1" noChangeAspect="1" noMove="1" noResize="1" noEditPoints="1" noAdjustHandles="1" noChangeArrowheads="1" noChangeShapeType="1" noTextEdit="1"/>
              </p:cNvSpPr>
              <p:nvPr/>
            </p:nvSpPr>
            <p:spPr>
              <a:xfrm>
                <a:off x="748481" y="2445098"/>
                <a:ext cx="6096000" cy="403124"/>
              </a:xfrm>
              <a:prstGeom prst="rect">
                <a:avLst/>
              </a:prstGeom>
              <a:blipFill>
                <a:blip r:embed="rId9"/>
                <a:stretch>
                  <a:fillRect b="-21212"/>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5F490C5D-CCF2-D055-5965-93AB9B171E02}"/>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Lower temperature strengthens score advantages</a:t>
            </a:r>
          </a:p>
        </p:txBody>
      </p:sp>
    </p:spTree>
    <p:extLst>
      <p:ext uri="{BB962C8B-B14F-4D97-AF65-F5344CB8AC3E}">
        <p14:creationId xmlns:p14="http://schemas.microsoft.com/office/powerpoint/2010/main" val="638561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7D41E-4AD2-6516-6F28-8EE44079E3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81B85D3-7CFC-E241-B2AB-55E4BE297C19}"/>
              </a:ext>
            </a:extLst>
          </p:cNvPr>
          <p:cNvPicPr>
            <a:picLocks noChangeAspect="1"/>
          </p:cNvPicPr>
          <p:nvPr/>
        </p:nvPicPr>
        <p:blipFill>
          <a:blip r:embed="rId2"/>
          <a:srcRect/>
          <a:stretch/>
        </p:blipFill>
        <p:spPr>
          <a:xfrm>
            <a:off x="286439" y="3025508"/>
            <a:ext cx="11054080" cy="3108960"/>
          </a:xfrm>
          <a:prstGeom prst="rect">
            <a:avLst/>
          </a:prstGeom>
        </p:spPr>
      </p:pic>
      <p:sp>
        <p:nvSpPr>
          <p:cNvPr id="9" name="Slide Number Placeholder 8">
            <a:extLst>
              <a:ext uri="{FF2B5EF4-FFF2-40B4-BE49-F238E27FC236}">
                <a16:creationId xmlns:a16="http://schemas.microsoft.com/office/drawing/2014/main" id="{913E7D70-9DA1-D352-01AA-8628BA4D5691}"/>
              </a:ext>
            </a:extLst>
          </p:cNvPr>
          <p:cNvSpPr>
            <a:spLocks noGrp="1"/>
          </p:cNvSpPr>
          <p:nvPr>
            <p:ph type="sldNum" sz="quarter" idx="12"/>
          </p:nvPr>
        </p:nvSpPr>
        <p:spPr/>
        <p:txBody>
          <a:bodyPr/>
          <a:lstStyle/>
          <a:p>
            <a:fld id="{387B101D-DD3C-9947-BBAC-237D8FE858E0}" type="slidenum">
              <a:rPr lang="en-US" smtClean="0"/>
              <a:t>39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D9A69F-EDC6-18A5-201C-C3AB0DCFD19D}"/>
                  </a:ext>
                </a:extLst>
              </p:cNvPr>
              <p:cNvSpPr txBox="1"/>
              <p:nvPr/>
            </p:nvSpPr>
            <p:spPr>
              <a:xfrm>
                <a:off x="748481" y="1622326"/>
                <a:ext cx="10605320" cy="369332"/>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As temperature approaches zero, selection approaches the deterministic top-</a:t>
                </a:r>
                <a14:m>
                  <m:oMath xmlns:m="http://schemas.openxmlformats.org/officeDocument/2006/math">
                    <m:r>
                      <a:rPr lang="en-US" i="1" dirty="0" smtClean="0">
                        <a:latin typeface="Cambria Math" panose="02040503050406030204" pitchFamily="18" charset="0"/>
                      </a:rPr>
                      <m:t>𝐾</m:t>
                    </m:r>
                  </m:oMath>
                </a14:m>
                <a:r>
                  <a:rPr lang="en-US" dirty="0"/>
                  <a:t> benchmark.</a:t>
                </a:r>
              </a:p>
            </p:txBody>
          </p:sp>
        </mc:Choice>
        <mc:Fallback xmlns="">
          <p:sp>
            <p:nvSpPr>
              <p:cNvPr id="5" name="TextBox 4">
                <a:extLst>
                  <a:ext uri="{FF2B5EF4-FFF2-40B4-BE49-F238E27FC236}">
                    <a16:creationId xmlns:a16="http://schemas.microsoft.com/office/drawing/2014/main" id="{D1D9A69F-EDC6-18A5-201C-C3AB0DCFD19D}"/>
                  </a:ext>
                </a:extLst>
              </p:cNvPr>
              <p:cNvSpPr txBox="1">
                <a:spLocks noRot="1" noChangeAspect="1" noMove="1" noResize="1" noEditPoints="1" noAdjustHandles="1" noChangeArrowheads="1" noChangeShapeType="1" noTextEdit="1"/>
              </p:cNvSpPr>
              <p:nvPr/>
            </p:nvSpPr>
            <p:spPr>
              <a:xfrm>
                <a:off x="748481" y="1622326"/>
                <a:ext cx="10605320" cy="369332"/>
              </a:xfrm>
              <a:prstGeom prst="rect">
                <a:avLst/>
              </a:prstGeom>
              <a:blipFill>
                <a:blip r:embed="rId3"/>
                <a:stretch>
                  <a:fillRect l="-478"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D0C9501-B758-275E-F2CE-C2C0363D8481}"/>
                  </a:ext>
                </a:extLst>
              </p:cNvPr>
              <p:cNvSpPr txBox="1"/>
              <p:nvPr/>
            </p:nvSpPr>
            <p:spPr>
              <a:xfrm>
                <a:off x="748481" y="2445098"/>
                <a:ext cx="6096000" cy="403124"/>
              </a:xfrm>
              <a:prstGeom prst="rect">
                <a:avLst/>
              </a:prstGeom>
              <a:noFill/>
            </p:spPr>
            <p:txBody>
              <a:bodyPr wrap="square">
                <a:spAutoFit/>
              </a:bodyPr>
              <a:lstStyle/>
              <a:p>
                <a:pPr/>
                <a14:m>
                  <m:oMathPara xmlns:m="http://schemas.openxmlformats.org/officeDocument/2006/math">
                    <m:oMath>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𝑡</m:t>
                          </m:r>
                        </m:e>
                        <m:sub>
                          <m:r>
                            <m:rPr>
                              <m:sty m:val="p"/>
                            </m:rPr>
                            <a:rPr lang="en-US" i="0" dirty="0">
                              <a:solidFill>
                                <a:srgbClr val="0432FF"/>
                              </a:solidFill>
                              <a:latin typeface="Cambria Math" panose="02040503050406030204" pitchFamily="18" charset="0"/>
                            </a:rPr>
                            <m:t>sel</m:t>
                          </m:r>
                        </m:sub>
                      </m:sSub>
                      <m:r>
                        <a:rPr lang="en-US" i="0" dirty="0">
                          <a:solidFill>
                            <a:srgbClr val="0432FF"/>
                          </a:solidFill>
                          <a:latin typeface="Cambria Math" panose="02040503050406030204" pitchFamily="18" charset="0"/>
                        </a:rPr>
                        <m:t>→</m:t>
                      </m:r>
                      <m:sSup>
                        <m:sSupPr>
                          <m:ctrlPr>
                            <a:rPr lang="en-US" i="0" dirty="0">
                              <a:solidFill>
                                <a:srgbClr val="0432FF"/>
                              </a:solidFill>
                              <a:latin typeface="Cambria Math" panose="02040503050406030204" pitchFamily="18" charset="0"/>
                            </a:rPr>
                          </m:ctrlPr>
                        </m:sSupPr>
                        <m:e>
                          <m:r>
                            <a:rPr lang="en-US" i="0" dirty="0">
                              <a:solidFill>
                                <a:srgbClr val="0432FF"/>
                              </a:solidFill>
                              <a:latin typeface="Cambria Math" panose="02040503050406030204" pitchFamily="18" charset="0"/>
                            </a:rPr>
                            <m:t>0</m:t>
                          </m:r>
                        </m:e>
                        <m:sup>
                          <m:r>
                            <a:rPr lang="en-US" i="0" dirty="0">
                              <a:solidFill>
                                <a:srgbClr val="0432FF"/>
                              </a:solidFill>
                              <a:latin typeface="Cambria Math" panose="02040503050406030204" pitchFamily="18" charset="0"/>
                            </a:rPr>
                            <m:t>+</m:t>
                          </m:r>
                        </m:sup>
                      </m:sSup>
                      <m:r>
                        <a:rPr lang="en-US" i="0" dirty="0">
                          <a:solidFill>
                            <a:srgbClr val="0432FF"/>
                          </a:solidFill>
                          <a:latin typeface="Cambria Math" panose="02040503050406030204" pitchFamily="18" charset="0"/>
                        </a:rPr>
                        <m:t> ⟹ </m:t>
                      </m:r>
                      <m:sSup>
                        <m:sSupPr>
                          <m:ctrlPr>
                            <a:rPr lang="en-US" i="1" dirty="0">
                              <a:solidFill>
                                <a:srgbClr val="0432FF"/>
                              </a:solidFill>
                              <a:latin typeface="Cambria Math" panose="02040503050406030204" pitchFamily="18" charset="0"/>
                            </a:rPr>
                          </m:ctrlPr>
                        </m:sSupPr>
                        <m:e>
                          <m:r>
                            <a:rPr lang="en-US" i="1" dirty="0">
                              <a:solidFill>
                                <a:srgbClr val="0432FF"/>
                              </a:solidFill>
                              <a:latin typeface="Cambria Math" panose="02040503050406030204" pitchFamily="18" charset="0"/>
                            </a:rPr>
                            <m:t>𝑒</m:t>
                          </m:r>
                        </m:e>
                        <m:sup>
                          <m:d>
                            <m:dPr>
                              <m:ctrlPr>
                                <a:rPr lang="en-US" i="1" dirty="0">
                                  <a:solidFill>
                                    <a:srgbClr val="0432FF"/>
                                  </a:solidFill>
                                  <a:latin typeface="Cambria Math" panose="02040503050406030204" pitchFamily="18" charset="0"/>
                                </a:rPr>
                              </m:ctrlPr>
                            </m:dPr>
                            <m:e>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𝑖</m:t>
                                  </m:r>
                                </m:sub>
                              </m:sSub>
                              <m:r>
                                <a:rPr lang="en-US" i="0"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𝑆</m:t>
                                  </m:r>
                                </m:e>
                                <m:sub>
                                  <m:r>
                                    <a:rPr lang="en-US" i="1" dirty="0">
                                      <a:solidFill>
                                        <a:srgbClr val="0432FF"/>
                                      </a:solidFill>
                                      <a:latin typeface="Cambria Math" panose="02040503050406030204" pitchFamily="18" charset="0"/>
                                    </a:rPr>
                                    <m:t>ℎ</m:t>
                                  </m:r>
                                </m:sub>
                              </m:sSub>
                            </m:e>
                          </m:d>
                          <m:r>
                            <a:rPr lang="en-US" i="0" dirty="0">
                              <a:solidFill>
                                <a:srgbClr val="0432FF"/>
                              </a:solidFill>
                              <a:latin typeface="Cambria Math" panose="02040503050406030204" pitchFamily="18" charset="0"/>
                            </a:rPr>
                            <m:t>/</m:t>
                          </m:r>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𝑡</m:t>
                              </m:r>
                            </m:e>
                            <m:sub>
                              <m:r>
                                <m:rPr>
                                  <m:sty m:val="p"/>
                                </m:rPr>
                                <a:rPr lang="en-US" i="0" dirty="0">
                                  <a:solidFill>
                                    <a:srgbClr val="0432FF"/>
                                  </a:solidFill>
                                  <a:latin typeface="Cambria Math" panose="02040503050406030204" pitchFamily="18" charset="0"/>
                                </a:rPr>
                                <m:t>sel</m:t>
                              </m:r>
                            </m:sub>
                          </m:sSub>
                        </m:sup>
                      </m:sSup>
                      <m:r>
                        <a:rPr lang="en-US" i="0" dirty="0">
                          <a:solidFill>
                            <a:srgbClr val="0432FF"/>
                          </a:solidFill>
                          <a:latin typeface="Cambria Math" panose="02040503050406030204" pitchFamily="18" charset="0"/>
                        </a:rPr>
                        <m:t>→∞</m:t>
                      </m:r>
                    </m:oMath>
                  </m:oMathPara>
                </a14:m>
                <a:endParaRPr lang="en-US" dirty="0">
                  <a:solidFill>
                    <a:srgbClr val="0432FF"/>
                  </a:solidFill>
                </a:endParaRPr>
              </a:p>
            </p:txBody>
          </p:sp>
        </mc:Choice>
        <mc:Fallback xmlns="">
          <p:sp>
            <p:nvSpPr>
              <p:cNvPr id="29" name="TextBox 28">
                <a:extLst>
                  <a:ext uri="{FF2B5EF4-FFF2-40B4-BE49-F238E27FC236}">
                    <a16:creationId xmlns:a16="http://schemas.microsoft.com/office/drawing/2014/main" id="{5D0C9501-B758-275E-F2CE-C2C0363D8481}"/>
                  </a:ext>
                </a:extLst>
              </p:cNvPr>
              <p:cNvSpPr txBox="1">
                <a:spLocks noRot="1" noChangeAspect="1" noMove="1" noResize="1" noEditPoints="1" noAdjustHandles="1" noChangeArrowheads="1" noChangeShapeType="1" noTextEdit="1"/>
              </p:cNvSpPr>
              <p:nvPr/>
            </p:nvSpPr>
            <p:spPr>
              <a:xfrm>
                <a:off x="748481" y="2445098"/>
                <a:ext cx="6096000" cy="403124"/>
              </a:xfrm>
              <a:prstGeom prst="rect">
                <a:avLst/>
              </a:prstGeom>
              <a:blipFill>
                <a:blip r:embed="rId4"/>
                <a:stretch>
                  <a:fillRect b="-21212"/>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1028C640-8928-9980-C8A2-C52FC9049D83}"/>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Lower temperature strengthens score advantages</a:t>
            </a:r>
          </a:p>
        </p:txBody>
      </p:sp>
    </p:spTree>
    <p:extLst>
      <p:ext uri="{BB962C8B-B14F-4D97-AF65-F5344CB8AC3E}">
        <p14:creationId xmlns:p14="http://schemas.microsoft.com/office/powerpoint/2010/main" val="3733219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B1E52-5AAA-BF9A-21A2-BBF9C7ECEE9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9D099BE-2BEC-18D5-1A32-E49EDB4B250D}"/>
              </a:ext>
            </a:extLst>
          </p:cNvPr>
          <p:cNvSpPr>
            <a:spLocks noGrp="1"/>
          </p:cNvSpPr>
          <p:nvPr>
            <p:ph type="sldNum" sz="quarter" idx="12"/>
          </p:nvPr>
        </p:nvSpPr>
        <p:spPr/>
        <p:txBody>
          <a:bodyPr/>
          <a:lstStyle/>
          <a:p>
            <a:fld id="{387B101D-DD3C-9947-BBAC-237D8FE858E0}" type="slidenum">
              <a:rPr lang="en-US" smtClean="0"/>
              <a:t>40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E45E469-FB28-EB04-8096-B8AAEE556D60}"/>
                  </a:ext>
                </a:extLst>
              </p:cNvPr>
              <p:cNvSpPr txBox="1"/>
              <p:nvPr/>
            </p:nvSpPr>
            <p:spPr>
              <a:xfrm>
                <a:off x="748481" y="1622326"/>
                <a:ext cx="10605320" cy="646331"/>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As selection temperature increases, the same score difference gives player </a:t>
                </a:r>
                <a14:m>
                  <m:oMath xmlns:m="http://schemas.openxmlformats.org/officeDocument/2006/math">
                    <m:r>
                      <a:rPr lang="en-US" i="1" dirty="0" smtClean="0">
                        <a:latin typeface="Cambria Math" panose="02040503050406030204" pitchFamily="18" charset="0"/>
                      </a:rPr>
                      <m:t>𝑖</m:t>
                    </m:r>
                  </m:oMath>
                </a14:m>
                <a:r>
                  <a:rPr lang="en-US" dirty="0"/>
                  <a:t> a smaller advantage over player </a:t>
                </a:r>
                <a14:m>
                  <m:oMath xmlns:m="http://schemas.openxmlformats.org/officeDocument/2006/math">
                    <m:r>
                      <a:rPr lang="en-US" i="1" dirty="0" smtClean="0">
                        <a:latin typeface="Cambria Math" panose="02040503050406030204" pitchFamily="18" charset="0"/>
                      </a:rPr>
                      <m:t>ℎ</m:t>
                    </m:r>
                  </m:oMath>
                </a14:m>
                <a:r>
                  <a:rPr lang="en-US" dirty="0"/>
                  <a:t>.</a:t>
                </a:r>
              </a:p>
            </p:txBody>
          </p:sp>
        </mc:Choice>
        <mc:Fallback xmlns="">
          <p:sp>
            <p:nvSpPr>
              <p:cNvPr id="5" name="TextBox 4">
                <a:extLst>
                  <a:ext uri="{FF2B5EF4-FFF2-40B4-BE49-F238E27FC236}">
                    <a16:creationId xmlns:a16="http://schemas.microsoft.com/office/drawing/2014/main" id="{9E45E469-FB28-EB04-8096-B8AAEE556D60}"/>
                  </a:ext>
                </a:extLst>
              </p:cNvPr>
              <p:cNvSpPr txBox="1">
                <a:spLocks noRot="1" noChangeAspect="1" noMove="1" noResize="1" noEditPoints="1" noAdjustHandles="1" noChangeArrowheads="1" noChangeShapeType="1" noTextEdit="1"/>
              </p:cNvSpPr>
              <p:nvPr/>
            </p:nvSpPr>
            <p:spPr>
              <a:xfrm>
                <a:off x="748481" y="1622326"/>
                <a:ext cx="10605320" cy="646331"/>
              </a:xfrm>
              <a:prstGeom prst="rect">
                <a:avLst/>
              </a:prstGeom>
              <a:blipFill>
                <a:blip r:embed="rId2"/>
                <a:stretch>
                  <a:fillRect l="-478" t="-3846" b="-13462"/>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DB072F2B-960F-1FF0-34AC-AC8948D39BD4}"/>
              </a:ext>
            </a:extLst>
          </p:cNvPr>
          <p:cNvGrpSpPr/>
          <p:nvPr/>
        </p:nvGrpSpPr>
        <p:grpSpPr>
          <a:xfrm>
            <a:off x="6371303" y="3204415"/>
            <a:ext cx="5083434" cy="2864666"/>
            <a:chOff x="3414901" y="2497394"/>
            <a:chExt cx="6417514" cy="3571687"/>
          </a:xfrm>
        </p:grpSpPr>
        <p:grpSp>
          <p:nvGrpSpPr>
            <p:cNvPr id="3" name="Group 2">
              <a:extLst>
                <a:ext uri="{FF2B5EF4-FFF2-40B4-BE49-F238E27FC236}">
                  <a16:creationId xmlns:a16="http://schemas.microsoft.com/office/drawing/2014/main" id="{9244284C-6665-F7BA-9AE8-D862635A5490}"/>
                </a:ext>
              </a:extLst>
            </p:cNvPr>
            <p:cNvGrpSpPr/>
            <p:nvPr/>
          </p:nvGrpSpPr>
          <p:grpSpPr>
            <a:xfrm>
              <a:off x="3414901" y="2775896"/>
              <a:ext cx="3119580" cy="3263689"/>
              <a:chOff x="1812231" y="2775896"/>
              <a:chExt cx="3119580" cy="3263689"/>
            </a:xfrm>
          </p:grpSpPr>
          <p:pic>
            <p:nvPicPr>
              <p:cNvPr id="27" name="Picture 26">
                <a:extLst>
                  <a:ext uri="{FF2B5EF4-FFF2-40B4-BE49-F238E27FC236}">
                    <a16:creationId xmlns:a16="http://schemas.microsoft.com/office/drawing/2014/main" id="{E9874E74-7C67-47BD-8733-D35B2ACC89C4}"/>
                  </a:ext>
                </a:extLst>
              </p:cNvPr>
              <p:cNvPicPr>
                <a:picLocks noChangeAspect="1"/>
              </p:cNvPicPr>
              <p:nvPr/>
            </p:nvPicPr>
            <p:blipFill>
              <a:blip r:embed="rId3"/>
              <a:stretch>
                <a:fillRect/>
              </a:stretch>
            </p:blipFill>
            <p:spPr>
              <a:xfrm>
                <a:off x="1812231" y="2775896"/>
                <a:ext cx="3119580" cy="311958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D77A704-1EAF-3707-E5FB-EF295B58EF8A}"/>
                      </a:ext>
                    </a:extLst>
                  </p:cNvPr>
                  <p:cNvSpPr txBox="1"/>
                  <p:nvPr/>
                </p:nvSpPr>
                <p:spPr>
                  <a:xfrm>
                    <a:off x="2443562" y="5670253"/>
                    <a:ext cx="92845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28" name="TextBox 27">
                    <a:extLst>
                      <a:ext uri="{FF2B5EF4-FFF2-40B4-BE49-F238E27FC236}">
                        <a16:creationId xmlns:a16="http://schemas.microsoft.com/office/drawing/2014/main" id="{FD77A704-1EAF-3707-E5FB-EF295B58EF8A}"/>
                      </a:ext>
                    </a:extLst>
                  </p:cNvPr>
                  <p:cNvSpPr txBox="1">
                    <a:spLocks noRot="1" noChangeAspect="1" noMove="1" noResize="1" noEditPoints="1" noAdjustHandles="1" noChangeArrowheads="1" noChangeShapeType="1" noTextEdit="1"/>
                  </p:cNvSpPr>
                  <p:nvPr/>
                </p:nvSpPr>
                <p:spPr>
                  <a:xfrm>
                    <a:off x="2443562" y="5670253"/>
                    <a:ext cx="928459" cy="369332"/>
                  </a:xfrm>
                  <a:prstGeom prst="rect">
                    <a:avLst/>
                  </a:prstGeom>
                  <a:blipFill>
                    <a:blip r:embed="rId4"/>
                    <a:stretch>
                      <a:fillRect l="-5000" t="-8000" r="-20000" b="-52000"/>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10295C9F-18EB-0E77-8BCB-33BC3B9BD987}"/>
                </a:ext>
              </a:extLst>
            </p:cNvPr>
            <p:cNvGrpSpPr/>
            <p:nvPr/>
          </p:nvGrpSpPr>
          <p:grpSpPr>
            <a:xfrm>
              <a:off x="7262065" y="3409513"/>
              <a:ext cx="2570350" cy="2659568"/>
              <a:chOff x="4931811" y="3380017"/>
              <a:chExt cx="2570350" cy="2659568"/>
            </a:xfrm>
          </p:grpSpPr>
          <p:pic>
            <p:nvPicPr>
              <p:cNvPr id="25" name="Picture 24">
                <a:extLst>
                  <a:ext uri="{FF2B5EF4-FFF2-40B4-BE49-F238E27FC236}">
                    <a16:creationId xmlns:a16="http://schemas.microsoft.com/office/drawing/2014/main" id="{0D753EA5-AE90-4A78-7345-7BAF5289004D}"/>
                  </a:ext>
                </a:extLst>
              </p:cNvPr>
              <p:cNvPicPr>
                <a:picLocks noChangeAspect="1"/>
              </p:cNvPicPr>
              <p:nvPr/>
            </p:nvPicPr>
            <p:blipFill>
              <a:blip r:embed="rId5"/>
              <a:stretch>
                <a:fillRect/>
              </a:stretch>
            </p:blipFill>
            <p:spPr>
              <a:xfrm flipH="1">
                <a:off x="4931811" y="3380017"/>
                <a:ext cx="2570350" cy="2434344"/>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106AA2E-346D-D97B-13EF-93B3829011CB}"/>
                      </a:ext>
                    </a:extLst>
                  </p:cNvPr>
                  <p:cNvSpPr txBox="1"/>
                  <p:nvPr/>
                </p:nvSpPr>
                <p:spPr>
                  <a:xfrm>
                    <a:off x="6216986" y="5670253"/>
                    <a:ext cx="974049" cy="36933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ℎ</m:t>
                        </m:r>
                      </m:oMath>
                    </a14:m>
                    <a:endParaRPr lang="en-US" dirty="0"/>
                  </a:p>
                </p:txBody>
              </p:sp>
            </mc:Choice>
            <mc:Fallback xmlns="">
              <p:sp>
                <p:nvSpPr>
                  <p:cNvPr id="26" name="TextBox 25">
                    <a:extLst>
                      <a:ext uri="{FF2B5EF4-FFF2-40B4-BE49-F238E27FC236}">
                        <a16:creationId xmlns:a16="http://schemas.microsoft.com/office/drawing/2014/main" id="{9106AA2E-346D-D97B-13EF-93B3829011CB}"/>
                      </a:ext>
                    </a:extLst>
                  </p:cNvPr>
                  <p:cNvSpPr txBox="1">
                    <a:spLocks noRot="1" noChangeAspect="1" noMove="1" noResize="1" noEditPoints="1" noAdjustHandles="1" noChangeArrowheads="1" noChangeShapeType="1" noTextEdit="1"/>
                  </p:cNvSpPr>
                  <p:nvPr/>
                </p:nvSpPr>
                <p:spPr>
                  <a:xfrm>
                    <a:off x="6216986" y="5670253"/>
                    <a:ext cx="974049" cy="369332"/>
                  </a:xfrm>
                  <a:prstGeom prst="rect">
                    <a:avLst/>
                  </a:prstGeom>
                  <a:blipFill>
                    <a:blip r:embed="rId6"/>
                    <a:stretch>
                      <a:fillRect l="-6452" t="-8000" r="-24194" b="-52000"/>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D288F333-7B1D-069C-B60A-F89984A99ABB}"/>
                </a:ext>
              </a:extLst>
            </p:cNvPr>
            <p:cNvGrpSpPr/>
            <p:nvPr/>
          </p:nvGrpSpPr>
          <p:grpSpPr>
            <a:xfrm>
              <a:off x="6759674" y="2497394"/>
              <a:ext cx="147484" cy="3172859"/>
              <a:chOff x="4724396" y="2497394"/>
              <a:chExt cx="147484" cy="3172859"/>
            </a:xfrm>
          </p:grpSpPr>
          <p:cxnSp>
            <p:nvCxnSpPr>
              <p:cNvPr id="12" name="Straight Connector 11">
                <a:extLst>
                  <a:ext uri="{FF2B5EF4-FFF2-40B4-BE49-F238E27FC236}">
                    <a16:creationId xmlns:a16="http://schemas.microsoft.com/office/drawing/2014/main" id="{72AA2E97-98A2-B205-4B38-6BB55FAB8FB4}"/>
                  </a:ext>
                </a:extLst>
              </p:cNvPr>
              <p:cNvCxnSpPr/>
              <p:nvPr/>
            </p:nvCxnSpPr>
            <p:spPr>
              <a:xfrm>
                <a:off x="4788310" y="2497394"/>
                <a:ext cx="0" cy="31728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F62AF28-6434-F7D4-07D2-35ABF9957110}"/>
                  </a:ext>
                </a:extLst>
              </p:cNvPr>
              <p:cNvCxnSpPr>
                <a:cxnSpLocks/>
              </p:cNvCxnSpPr>
              <p:nvPr/>
            </p:nvCxnSpPr>
            <p:spPr>
              <a:xfrm>
                <a:off x="4724396" y="423027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AE3DBBE-0423-08C1-785B-136A066475C1}"/>
                  </a:ext>
                </a:extLst>
              </p:cNvPr>
              <p:cNvCxnSpPr>
                <a:cxnSpLocks/>
              </p:cNvCxnSpPr>
              <p:nvPr/>
            </p:nvCxnSpPr>
            <p:spPr>
              <a:xfrm>
                <a:off x="4724396" y="451827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78C4DB-2D7F-8BB6-28E0-9654F4383CEE}"/>
                  </a:ext>
                </a:extLst>
              </p:cNvPr>
              <p:cNvCxnSpPr>
                <a:cxnSpLocks/>
              </p:cNvCxnSpPr>
              <p:nvPr/>
            </p:nvCxnSpPr>
            <p:spPr>
              <a:xfrm>
                <a:off x="4724396" y="480626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ABBE346-D96B-0316-CD8F-75E9BBCA49B4}"/>
                  </a:ext>
                </a:extLst>
              </p:cNvPr>
              <p:cNvCxnSpPr>
                <a:cxnSpLocks/>
              </p:cNvCxnSpPr>
              <p:nvPr/>
            </p:nvCxnSpPr>
            <p:spPr>
              <a:xfrm>
                <a:off x="4724396" y="509426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3BD131-CE5C-1364-86FD-DBA608762935}"/>
                  </a:ext>
                </a:extLst>
              </p:cNvPr>
              <p:cNvCxnSpPr>
                <a:cxnSpLocks/>
              </p:cNvCxnSpPr>
              <p:nvPr/>
            </p:nvCxnSpPr>
            <p:spPr>
              <a:xfrm>
                <a:off x="4724396" y="538225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6224307-DA2F-8B8B-D223-42E229F8BB2E}"/>
                  </a:ext>
                </a:extLst>
              </p:cNvPr>
              <p:cNvCxnSpPr>
                <a:cxnSpLocks/>
              </p:cNvCxnSpPr>
              <p:nvPr/>
            </p:nvCxnSpPr>
            <p:spPr>
              <a:xfrm>
                <a:off x="4724396" y="5670253"/>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6D5614F-8659-7026-9B58-1954CAD4DC64}"/>
                  </a:ext>
                </a:extLst>
              </p:cNvPr>
              <p:cNvCxnSpPr>
                <a:cxnSpLocks/>
              </p:cNvCxnSpPr>
              <p:nvPr/>
            </p:nvCxnSpPr>
            <p:spPr>
              <a:xfrm>
                <a:off x="4724396" y="2502314"/>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1974328-EFEF-B4CF-22A3-50DC422E4EE0}"/>
                  </a:ext>
                </a:extLst>
              </p:cNvPr>
              <p:cNvCxnSpPr>
                <a:cxnSpLocks/>
              </p:cNvCxnSpPr>
              <p:nvPr/>
            </p:nvCxnSpPr>
            <p:spPr>
              <a:xfrm>
                <a:off x="4724396" y="2790308"/>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F53BD90-6F5F-BBC9-B9CF-BE22F150042D}"/>
                  </a:ext>
                </a:extLst>
              </p:cNvPr>
              <p:cNvCxnSpPr>
                <a:cxnSpLocks/>
              </p:cNvCxnSpPr>
              <p:nvPr/>
            </p:nvCxnSpPr>
            <p:spPr>
              <a:xfrm>
                <a:off x="4724396" y="3078302"/>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85D7415-DCE8-74DD-6C5B-275928F0AD28}"/>
                  </a:ext>
                </a:extLst>
              </p:cNvPr>
              <p:cNvCxnSpPr>
                <a:cxnSpLocks/>
              </p:cNvCxnSpPr>
              <p:nvPr/>
            </p:nvCxnSpPr>
            <p:spPr>
              <a:xfrm>
                <a:off x="4724396" y="3366296"/>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9B32822-78B0-9F60-7F4B-5563504499DD}"/>
                  </a:ext>
                </a:extLst>
              </p:cNvPr>
              <p:cNvCxnSpPr>
                <a:cxnSpLocks/>
              </p:cNvCxnSpPr>
              <p:nvPr/>
            </p:nvCxnSpPr>
            <p:spPr>
              <a:xfrm>
                <a:off x="4724396" y="3654290"/>
                <a:ext cx="1474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57FA424D-0C6A-4304-F21D-84A7C46EF8EE}"/>
                  </a:ext>
                </a:extLst>
              </p:cNvPr>
              <p:cNvCxnSpPr>
                <a:cxnSpLocks/>
              </p:cNvCxnSpPr>
              <p:nvPr/>
            </p:nvCxnSpPr>
            <p:spPr>
              <a:xfrm>
                <a:off x="4724396" y="3942284"/>
                <a:ext cx="147484"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3F4CDC-D3A6-EC36-717A-BE269B7F0D27}"/>
                    </a:ext>
                  </a:extLst>
                </p:cNvPr>
                <p:cNvSpPr txBox="1"/>
                <p:nvPr/>
              </p:nvSpPr>
              <p:spPr>
                <a:xfrm>
                  <a:off x="5997684" y="2794889"/>
                  <a:ext cx="491613" cy="369332"/>
                </a:xfrm>
                <a:prstGeom prst="rect">
                  <a:avLst/>
                </a:prstGeom>
                <a:noFill/>
              </p:spPr>
              <p:txBody>
                <a:bodyPr wrap="square" rtlCol="0">
                  <a:spAutoFit/>
                </a:bodyPr>
                <a:lstStyle/>
                <a:p>
                  <a:pPr/>
                  <a14:m>
                    <m:oMathPara xmlns:m="http://schemas.openxmlformats.org/officeDocument/2006/math">
                      <m:oMath>
                        <m:sSub>
                          <m:sSubPr>
                            <m:ctrlPr>
                              <a:rPr lang="en-US" b="0" i="1" dirty="0" err="1" smtClean="0">
                                <a:solidFill>
                                  <a:srgbClr val="0432FF"/>
                                </a:solidFill>
                                <a:latin typeface="Cambria Math" panose="02040503050406030204" pitchFamily="18" charset="0"/>
                              </a:rPr>
                            </m:ctrlPr>
                          </m:sSubPr>
                          <m:e>
                            <m:r>
                              <a:rPr lang="en-US" b="0" i="1" dirty="0" err="1" smtClean="0">
                                <a:solidFill>
                                  <a:srgbClr val="0432FF"/>
                                </a:solidFill>
                                <a:latin typeface="Cambria Math" panose="02040503050406030204" pitchFamily="18" charset="0"/>
                              </a:rPr>
                              <m:t>𝐴</m:t>
                            </m:r>
                          </m:e>
                          <m:sub>
                            <m:r>
                              <a:rPr lang="en-US" b="0" i="1" dirty="0" err="1" smtClean="0">
                                <a:solidFill>
                                  <a:srgbClr val="0432FF"/>
                                </a:solidFill>
                                <a:latin typeface="Cambria Math" panose="02040503050406030204" pitchFamily="18" charset="0"/>
                              </a:rPr>
                              <m:t>𝑖</m:t>
                            </m:r>
                          </m:sub>
                        </m:sSub>
                      </m:oMath>
                    </m:oMathPara>
                  </a14:m>
                  <a:endParaRPr lang="en-US" dirty="0">
                    <a:solidFill>
                      <a:srgbClr val="0432FF"/>
                    </a:solidFill>
                  </a:endParaRPr>
                </a:p>
              </p:txBody>
            </p:sp>
          </mc:Choice>
          <mc:Fallback xmlns="">
            <p:sp>
              <p:nvSpPr>
                <p:cNvPr id="8" name="TextBox 7">
                  <a:extLst>
                    <a:ext uri="{FF2B5EF4-FFF2-40B4-BE49-F238E27FC236}">
                      <a16:creationId xmlns:a16="http://schemas.microsoft.com/office/drawing/2014/main" id="{FC3F4CDC-D3A6-EC36-717A-BE269B7F0D27}"/>
                    </a:ext>
                  </a:extLst>
                </p:cNvPr>
                <p:cNvSpPr txBox="1">
                  <a:spLocks noRot="1" noChangeAspect="1" noMove="1" noResize="1" noEditPoints="1" noAdjustHandles="1" noChangeArrowheads="1" noChangeShapeType="1" noTextEdit="1"/>
                </p:cNvSpPr>
                <p:nvPr/>
              </p:nvSpPr>
              <p:spPr>
                <a:xfrm>
                  <a:off x="5997684" y="2794889"/>
                  <a:ext cx="491613" cy="369332"/>
                </a:xfrm>
                <a:prstGeom prst="rect">
                  <a:avLst/>
                </a:prstGeom>
                <a:blipFill>
                  <a:blip r:embed="rId7"/>
                  <a:stretch>
                    <a:fillRect b="-20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6D6904-F510-78EE-8592-DFEDD9C9EF62}"/>
                    </a:ext>
                  </a:extLst>
                </p:cNvPr>
                <p:cNvSpPr txBox="1"/>
                <p:nvPr/>
              </p:nvSpPr>
              <p:spPr>
                <a:xfrm>
                  <a:off x="7256201" y="3389571"/>
                  <a:ext cx="491613" cy="369332"/>
                </a:xfrm>
                <a:prstGeom prst="rect">
                  <a:avLst/>
                </a:prstGeom>
                <a:noFill/>
              </p:spPr>
              <p:txBody>
                <a:bodyPr wrap="square" rtlCol="0">
                  <a:spAutoFit/>
                </a:bodyPr>
                <a:lstStyle/>
                <a:p>
                  <a:pPr/>
                  <a14:m>
                    <m:oMathPara xmlns:m="http://schemas.openxmlformats.org/officeDocument/2006/math">
                      <m:oMath>
                        <m:sSub>
                          <m:sSubPr>
                            <m:ctrlPr>
                              <a:rPr lang="en-US" b="1" i="1" dirty="0" err="1" smtClean="0">
                                <a:solidFill>
                                  <a:srgbClr val="0432FF"/>
                                </a:solidFill>
                                <a:latin typeface="Cambria Math" panose="02040503050406030204" pitchFamily="18" charset="0"/>
                              </a:rPr>
                            </m:ctrlPr>
                          </m:sSubPr>
                          <m:e>
                            <m:r>
                              <a:rPr lang="en-US" b="1" i="1" dirty="0" err="1" smtClean="0">
                                <a:solidFill>
                                  <a:srgbClr val="0432FF"/>
                                </a:solidFill>
                                <a:latin typeface="Cambria Math" panose="02040503050406030204" pitchFamily="18" charset="0"/>
                              </a:rPr>
                              <m:t>𝐴</m:t>
                            </m:r>
                          </m:e>
                          <m:sub>
                            <m:r>
                              <a:rPr lang="en-US" b="1" i="1" dirty="0" err="1" smtClean="0">
                                <a:solidFill>
                                  <a:srgbClr val="0432FF"/>
                                </a:solidFill>
                                <a:latin typeface="Cambria Math" panose="02040503050406030204" pitchFamily="18" charset="0"/>
                              </a:rPr>
                              <m:t>ℎ</m:t>
                            </m:r>
                          </m:sub>
                        </m:sSub>
                      </m:oMath>
                    </m:oMathPara>
                  </a14:m>
                  <a:endParaRPr lang="en-US" b="1" dirty="0">
                    <a:solidFill>
                      <a:srgbClr val="0432FF"/>
                    </a:solidFill>
                  </a:endParaRPr>
                </a:p>
              </p:txBody>
            </p:sp>
          </mc:Choice>
          <mc:Fallback xmlns="">
            <p:sp>
              <p:nvSpPr>
                <p:cNvPr id="11" name="TextBox 10">
                  <a:extLst>
                    <a:ext uri="{FF2B5EF4-FFF2-40B4-BE49-F238E27FC236}">
                      <a16:creationId xmlns:a16="http://schemas.microsoft.com/office/drawing/2014/main" id="{2C6D6904-F510-78EE-8592-DFEDD9C9EF62}"/>
                    </a:ext>
                  </a:extLst>
                </p:cNvPr>
                <p:cNvSpPr txBox="1">
                  <a:spLocks noRot="1" noChangeAspect="1" noMove="1" noResize="1" noEditPoints="1" noAdjustHandles="1" noChangeArrowheads="1" noChangeShapeType="1" noTextEdit="1"/>
                </p:cNvSpPr>
                <p:nvPr/>
              </p:nvSpPr>
              <p:spPr>
                <a:xfrm>
                  <a:off x="7256201" y="3389571"/>
                  <a:ext cx="491613" cy="369332"/>
                </a:xfrm>
                <a:prstGeom prst="rect">
                  <a:avLst/>
                </a:prstGeom>
                <a:blipFill>
                  <a:blip r:embed="rId8"/>
                  <a:stretch>
                    <a:fillRect r="-3226" b="-16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D29193C-6F96-2AB1-9E32-C5EF13BE6AE9}"/>
                  </a:ext>
                </a:extLst>
              </p:cNvPr>
              <p:cNvSpPr txBox="1"/>
              <p:nvPr/>
            </p:nvSpPr>
            <p:spPr>
              <a:xfrm>
                <a:off x="748481" y="2533116"/>
                <a:ext cx="6096000" cy="403124"/>
              </a:xfrm>
              <a:prstGeom prst="rect">
                <a:avLst/>
              </a:prstGeom>
              <a:noFill/>
            </p:spPr>
            <p:txBody>
              <a:bodyPr wrap="square">
                <a:spAutoFit/>
              </a:bodyPr>
              <a:lstStyle/>
              <a:p>
                <a:pPr/>
                <a14:m>
                  <m:oMathPara xmlns:m="http://schemas.openxmlformats.org/officeDocument/2006/math">
                    <m:o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m:rPr>
                              <m:sty m:val="p"/>
                            </m:rPr>
                            <a:rPr lang="en-US" i="1" dirty="0" smtClean="0">
                              <a:solidFill>
                                <a:srgbClr val="0432FF"/>
                              </a:solidFill>
                              <a:latin typeface="Cambria Math" panose="02040503050406030204" pitchFamily="18" charset="0"/>
                            </a:rPr>
                            <m:t>sel</m:t>
                          </m:r>
                        </m:sub>
                      </m:sSub>
                      <m:r>
                        <a:rPr lang="en-US" i="1" dirty="0" smtClean="0">
                          <a:solidFill>
                            <a:srgbClr val="0432FF"/>
                          </a:solidFill>
                          <a:latin typeface="Cambria Math" panose="02040503050406030204" pitchFamily="18" charset="0"/>
                        </a:rPr>
                        <m:t>→∞ ⟹ </m:t>
                      </m:r>
                      <m:sSup>
                        <m:sSupPr>
                          <m:ctrlPr>
                            <a:rPr lang="en-US" i="1" dirty="0" smtClean="0">
                              <a:solidFill>
                                <a:srgbClr val="0432FF"/>
                              </a:solidFill>
                              <a:latin typeface="Cambria Math" panose="02040503050406030204" pitchFamily="18" charset="0"/>
                            </a:rPr>
                          </m:ctrlPr>
                        </m:sSupPr>
                        <m:e>
                          <m:r>
                            <a:rPr lang="en-US" i="1" dirty="0" smtClean="0">
                              <a:solidFill>
                                <a:srgbClr val="0432FF"/>
                              </a:solidFill>
                              <a:latin typeface="Cambria Math" panose="02040503050406030204" pitchFamily="18" charset="0"/>
                            </a:rPr>
                            <m:t>𝑒</m:t>
                          </m:r>
                        </m:e>
                        <m:sup>
                          <m:d>
                            <m:dPr>
                              <m:ctrlPr>
                                <a:rPr lang="en-US" i="1" dirty="0" smtClean="0">
                                  <a:solidFill>
                                    <a:srgbClr val="0432FF"/>
                                  </a:solidFill>
                                  <a:latin typeface="Cambria Math" panose="02040503050406030204" pitchFamily="18" charset="0"/>
                                </a:rPr>
                              </m:ctrlPr>
                            </m:dPr>
                            <m:e>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𝑆</m:t>
                                  </m:r>
                                </m:e>
                                <m:sub>
                                  <m:r>
                                    <a:rPr lang="en-US" i="1" dirty="0" smtClean="0">
                                      <a:solidFill>
                                        <a:srgbClr val="0432FF"/>
                                      </a:solidFill>
                                      <a:latin typeface="Cambria Math" panose="02040503050406030204" pitchFamily="18" charset="0"/>
                                    </a:rPr>
                                    <m:t>𝑖</m:t>
                                  </m:r>
                                </m:sub>
                              </m:sSub>
                              <m:r>
                                <a:rPr lang="en-US" i="1"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𝑆</m:t>
                                  </m:r>
                                </m:e>
                                <m:sub>
                                  <m:r>
                                    <a:rPr lang="en-US" i="1" dirty="0" smtClean="0">
                                      <a:solidFill>
                                        <a:srgbClr val="0432FF"/>
                                      </a:solidFill>
                                      <a:latin typeface="Cambria Math" panose="02040503050406030204" pitchFamily="18" charset="0"/>
                                    </a:rPr>
                                    <m:t>ℎ</m:t>
                                  </m:r>
                                </m:sub>
                              </m:sSub>
                            </m:e>
                          </m:d>
                          <m:r>
                            <a:rPr lang="en-US" i="1"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m:rPr>
                                  <m:sty m:val="p"/>
                                </m:rPr>
                                <a:rPr lang="en-US" i="1" dirty="0" smtClean="0">
                                  <a:solidFill>
                                    <a:srgbClr val="0432FF"/>
                                  </a:solidFill>
                                  <a:latin typeface="Cambria Math" panose="02040503050406030204" pitchFamily="18" charset="0"/>
                                </a:rPr>
                                <m:t>sel</m:t>
                              </m:r>
                            </m:sub>
                          </m:sSub>
                        </m:sup>
                      </m:sSup>
                      <m:r>
                        <a:rPr lang="en-US" i="1" dirty="0" smtClean="0">
                          <a:solidFill>
                            <a:srgbClr val="0432FF"/>
                          </a:solidFill>
                          <a:latin typeface="Cambria Math" panose="02040503050406030204" pitchFamily="18" charset="0"/>
                        </a:rPr>
                        <m:t>→1</m:t>
                      </m:r>
                    </m:oMath>
                  </m:oMathPara>
                </a14:m>
                <a:endParaRPr lang="en-US" dirty="0">
                  <a:solidFill>
                    <a:srgbClr val="0432FF"/>
                  </a:solidFill>
                </a:endParaRPr>
              </a:p>
            </p:txBody>
          </p:sp>
        </mc:Choice>
        <mc:Fallback xmlns="">
          <p:sp>
            <p:nvSpPr>
              <p:cNvPr id="29" name="TextBox 28">
                <a:extLst>
                  <a:ext uri="{FF2B5EF4-FFF2-40B4-BE49-F238E27FC236}">
                    <a16:creationId xmlns:a16="http://schemas.microsoft.com/office/drawing/2014/main" id="{AD29193C-6F96-2AB1-9E32-C5EF13BE6AE9}"/>
                  </a:ext>
                </a:extLst>
              </p:cNvPr>
              <p:cNvSpPr txBox="1">
                <a:spLocks noRot="1" noChangeAspect="1" noMove="1" noResize="1" noEditPoints="1" noAdjustHandles="1" noChangeArrowheads="1" noChangeShapeType="1" noTextEdit="1"/>
              </p:cNvSpPr>
              <p:nvPr/>
            </p:nvSpPr>
            <p:spPr>
              <a:xfrm>
                <a:off x="748481" y="2533116"/>
                <a:ext cx="6096000" cy="403124"/>
              </a:xfrm>
              <a:prstGeom prst="rect">
                <a:avLst/>
              </a:prstGeom>
              <a:blipFill>
                <a:blip r:embed="rId9"/>
                <a:stretch>
                  <a:fillRect b="-21212"/>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52EAC11-7E87-F1A7-08F7-394B428A47E6}"/>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Higher temperature weakens score advantages</a:t>
            </a:r>
          </a:p>
        </p:txBody>
      </p:sp>
    </p:spTree>
    <p:extLst>
      <p:ext uri="{BB962C8B-B14F-4D97-AF65-F5344CB8AC3E}">
        <p14:creationId xmlns:p14="http://schemas.microsoft.com/office/powerpoint/2010/main" val="4134401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A318-A6A4-E76E-2382-1D676811F32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CEF74E-90A9-8AAE-2766-8F5D6127D761}"/>
              </a:ext>
            </a:extLst>
          </p:cNvPr>
          <p:cNvPicPr>
            <a:picLocks noChangeAspect="1"/>
          </p:cNvPicPr>
          <p:nvPr/>
        </p:nvPicPr>
        <p:blipFill>
          <a:blip r:embed="rId2"/>
          <a:srcRect/>
          <a:stretch/>
        </p:blipFill>
        <p:spPr>
          <a:xfrm>
            <a:off x="286439" y="3025508"/>
            <a:ext cx="11054080" cy="3108960"/>
          </a:xfrm>
          <a:prstGeom prst="rect">
            <a:avLst/>
          </a:prstGeom>
        </p:spPr>
      </p:pic>
      <p:sp>
        <p:nvSpPr>
          <p:cNvPr id="9" name="Slide Number Placeholder 8">
            <a:extLst>
              <a:ext uri="{FF2B5EF4-FFF2-40B4-BE49-F238E27FC236}">
                <a16:creationId xmlns:a16="http://schemas.microsoft.com/office/drawing/2014/main" id="{912355EB-1127-31C2-4B8E-6FF4D17579C8}"/>
              </a:ext>
            </a:extLst>
          </p:cNvPr>
          <p:cNvSpPr>
            <a:spLocks noGrp="1"/>
          </p:cNvSpPr>
          <p:nvPr>
            <p:ph type="sldNum" sz="quarter" idx="12"/>
          </p:nvPr>
        </p:nvSpPr>
        <p:spPr/>
        <p:txBody>
          <a:bodyPr/>
          <a:lstStyle/>
          <a:p>
            <a:fld id="{387B101D-DD3C-9947-BBAC-237D8FE858E0}" type="slidenum">
              <a:rPr lang="en-US" smtClean="0"/>
              <a:t>41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043CFC0-5965-E4E8-5D9B-5D77BFC44AA4}"/>
                  </a:ext>
                </a:extLst>
              </p:cNvPr>
              <p:cNvSpPr txBox="1"/>
              <p:nvPr/>
            </p:nvSpPr>
            <p:spPr>
              <a:xfrm>
                <a:off x="748481" y="1622326"/>
                <a:ext cx="10605320" cy="646331"/>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In the high-temperature limit, each draw becomes uniform among the eligible players. Each individual’s probability of receiving one of the </a:t>
                </a:r>
                <a14:m>
                  <m:oMath xmlns:m="http://schemas.openxmlformats.org/officeDocument/2006/math">
                    <m:r>
                      <a:rPr lang="en-US" i="1" dirty="0" smtClean="0">
                        <a:latin typeface="Cambria Math" panose="02040503050406030204" pitchFamily="18" charset="0"/>
                      </a:rPr>
                      <m:t>𝐾</m:t>
                    </m:r>
                  </m:oMath>
                </a14:m>
                <a:r>
                  <a:rPr lang="en-US" dirty="0"/>
                  <a:t> places approaches </a:t>
                </a:r>
                <a14:m>
                  <m:oMath xmlns:m="http://schemas.openxmlformats.org/officeDocument/2006/math">
                    <m:r>
                      <a:rPr lang="en-US" i="1" dirty="0" smtClean="0">
                        <a:latin typeface="Cambria Math" panose="02040503050406030204" pitchFamily="18" charset="0"/>
                      </a:rPr>
                      <m:t>𝐾</m:t>
                    </m:r>
                    <m:r>
                      <a:rPr lang="en-US" i="0" dirty="0" smtClean="0">
                        <a:latin typeface="Cambria Math" panose="02040503050406030204" pitchFamily="18" charset="0"/>
                      </a:rPr>
                      <m:t>/</m:t>
                    </m:r>
                    <m:r>
                      <a:rPr lang="en-US" i="1" dirty="0" smtClean="0">
                        <a:latin typeface="Cambria Math" panose="02040503050406030204" pitchFamily="18" charset="0"/>
                      </a:rPr>
                      <m:t>𝑁</m:t>
                    </m:r>
                  </m:oMath>
                </a14:m>
                <a:r>
                  <a:rPr lang="en-US" dirty="0"/>
                  <a:t>.</a:t>
                </a:r>
              </a:p>
            </p:txBody>
          </p:sp>
        </mc:Choice>
        <mc:Fallback xmlns="">
          <p:sp>
            <p:nvSpPr>
              <p:cNvPr id="5" name="TextBox 4">
                <a:extLst>
                  <a:ext uri="{FF2B5EF4-FFF2-40B4-BE49-F238E27FC236}">
                    <a16:creationId xmlns:a16="http://schemas.microsoft.com/office/drawing/2014/main" id="{F043CFC0-5965-E4E8-5D9B-5D77BFC44AA4}"/>
                  </a:ext>
                </a:extLst>
              </p:cNvPr>
              <p:cNvSpPr txBox="1">
                <a:spLocks noRot="1" noChangeAspect="1" noMove="1" noResize="1" noEditPoints="1" noAdjustHandles="1" noChangeArrowheads="1" noChangeShapeType="1" noTextEdit="1"/>
              </p:cNvSpPr>
              <p:nvPr/>
            </p:nvSpPr>
            <p:spPr>
              <a:xfrm>
                <a:off x="748481" y="1622326"/>
                <a:ext cx="10605320" cy="646331"/>
              </a:xfrm>
              <a:prstGeom prst="rect">
                <a:avLst/>
              </a:prstGeom>
              <a:blipFill>
                <a:blip r:embed="rId3"/>
                <a:stretch>
                  <a:fillRect l="-478"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9BCD2A-E5EE-5FC4-E9A8-9E8BC7B6B2FC}"/>
                  </a:ext>
                </a:extLst>
              </p:cNvPr>
              <p:cNvSpPr txBox="1"/>
              <p:nvPr/>
            </p:nvSpPr>
            <p:spPr>
              <a:xfrm>
                <a:off x="6174658" y="2428280"/>
                <a:ext cx="4581832" cy="612796"/>
              </a:xfrm>
              <a:prstGeom prst="rect">
                <a:avLst/>
              </a:prstGeom>
              <a:noFill/>
            </p:spPr>
            <p:txBody>
              <a:bodyPr wrap="square">
                <a:spAutoFit/>
              </a:bodyPr>
              <a:lstStyle/>
              <a:p>
                <a:pPr/>
                <a14:m>
                  <m:oMathPara xmlns:m="http://schemas.openxmlformats.org/officeDocument/2006/math">
                    <m:oMath>
                      <m:func>
                        <m:funcPr>
                          <m:ctrlPr>
                            <a:rPr lang="en-US" i="0" dirty="0">
                              <a:solidFill>
                                <a:srgbClr val="0432FF"/>
                              </a:solidFill>
                              <a:latin typeface="Cambria Math" panose="02040503050406030204" pitchFamily="18" charset="0"/>
                            </a:rPr>
                          </m:ctrlPr>
                        </m:funcPr>
                        <m:fName>
                          <m:r>
                            <m:rPr>
                              <m:sty m:val="p"/>
                            </m:rPr>
                            <a:rPr lang="en-US" i="0" dirty="0">
                              <a:solidFill>
                                <a:srgbClr val="0432FF"/>
                              </a:solidFill>
                              <a:latin typeface="Cambria Math" panose="02040503050406030204" pitchFamily="18" charset="0"/>
                            </a:rPr>
                            <m:t>Pr</m:t>
                          </m:r>
                        </m:fName>
                        <m:e>
                          <m:d>
                            <m:dPr>
                              <m:ctrlPr>
                                <a:rPr lang="en-US" i="1" dirty="0">
                                  <a:solidFill>
                                    <a:srgbClr val="0432FF"/>
                                  </a:solidFill>
                                  <a:latin typeface="Cambria Math" panose="02040503050406030204" pitchFamily="18" charset="0"/>
                                </a:rPr>
                              </m:ctrlPr>
                            </m:dPr>
                            <m:e>
                              <m:sSub>
                                <m:sSubPr>
                                  <m:ctrlPr>
                                    <a:rPr lang="en-US" i="1" dirty="0">
                                      <a:solidFill>
                                        <a:srgbClr val="0432FF"/>
                                      </a:solidFill>
                                      <a:latin typeface="Cambria Math" panose="02040503050406030204" pitchFamily="18" charset="0"/>
                                    </a:rPr>
                                  </m:ctrlPr>
                                </m:sSubPr>
                                <m:e>
                                  <m:r>
                                    <a:rPr lang="en-US" i="1" dirty="0">
                                      <a:solidFill>
                                        <a:srgbClr val="0432FF"/>
                                      </a:solidFill>
                                      <a:latin typeface="Cambria Math" panose="02040503050406030204" pitchFamily="18" charset="0"/>
                                    </a:rPr>
                                    <m:t>𝑌</m:t>
                                  </m:r>
                                </m:e>
                                <m:sub>
                                  <m:r>
                                    <a:rPr lang="en-US" i="1" dirty="0">
                                      <a:solidFill>
                                        <a:srgbClr val="0432FF"/>
                                      </a:solidFill>
                                      <a:latin typeface="Cambria Math" panose="02040503050406030204" pitchFamily="18" charset="0"/>
                                    </a:rPr>
                                    <m:t>𝑖</m:t>
                                  </m:r>
                                </m:sub>
                              </m:sSub>
                              <m:r>
                                <a:rPr lang="en-US" i="0" dirty="0">
                                  <a:solidFill>
                                    <a:srgbClr val="0432FF"/>
                                  </a:solidFill>
                                  <a:latin typeface="Cambria Math" panose="02040503050406030204" pitchFamily="18" charset="0"/>
                                </a:rPr>
                                <m:t>=1</m:t>
                              </m:r>
                            </m:e>
                          </m:d>
                        </m:e>
                      </m:func>
                      <m:r>
                        <a:rPr lang="en-US" i="0" dirty="0">
                          <a:solidFill>
                            <a:srgbClr val="0432FF"/>
                          </a:solidFill>
                          <a:latin typeface="Cambria Math" panose="02040503050406030204" pitchFamily="18" charset="0"/>
                        </a:rPr>
                        <m:t>→</m:t>
                      </m:r>
                      <m:f>
                        <m:fPr>
                          <m:ctrlPr>
                            <a:rPr lang="en-US" i="1" dirty="0">
                              <a:solidFill>
                                <a:srgbClr val="0432FF"/>
                              </a:solidFill>
                              <a:latin typeface="Cambria Math" panose="02040503050406030204" pitchFamily="18" charset="0"/>
                            </a:rPr>
                          </m:ctrlPr>
                        </m:fPr>
                        <m:num>
                          <m:r>
                            <a:rPr lang="en-US" i="1" dirty="0">
                              <a:solidFill>
                                <a:srgbClr val="0432FF"/>
                              </a:solidFill>
                              <a:latin typeface="Cambria Math" panose="02040503050406030204" pitchFamily="18" charset="0"/>
                            </a:rPr>
                            <m:t>𝐾</m:t>
                          </m:r>
                        </m:num>
                        <m:den>
                          <m:r>
                            <a:rPr lang="en-US" i="1" dirty="0">
                              <a:solidFill>
                                <a:srgbClr val="0432FF"/>
                              </a:solidFill>
                              <a:latin typeface="Cambria Math" panose="02040503050406030204" pitchFamily="18" charset="0"/>
                            </a:rPr>
                            <m:t>𝑁</m:t>
                          </m:r>
                        </m:den>
                      </m:f>
                      <m:r>
                        <a:rPr lang="en-US" i="0" dirty="0">
                          <a:solidFill>
                            <a:srgbClr val="0432FF"/>
                          </a:solidFill>
                          <a:latin typeface="Cambria Math" panose="02040503050406030204" pitchFamily="18" charset="0"/>
                        </a:rPr>
                        <m:t>=</m:t>
                      </m:r>
                      <m:f>
                        <m:fPr>
                          <m:ctrlPr>
                            <a:rPr lang="en-US" i="0" dirty="0">
                              <a:solidFill>
                                <a:srgbClr val="0432FF"/>
                              </a:solidFill>
                              <a:latin typeface="Cambria Math" panose="02040503050406030204" pitchFamily="18" charset="0"/>
                            </a:rPr>
                          </m:ctrlPr>
                        </m:fPr>
                        <m:num>
                          <m:r>
                            <a:rPr lang="en-US" i="0" dirty="0">
                              <a:solidFill>
                                <a:srgbClr val="0432FF"/>
                              </a:solidFill>
                              <a:latin typeface="Cambria Math" panose="02040503050406030204" pitchFamily="18" charset="0"/>
                            </a:rPr>
                            <m:t>10</m:t>
                          </m:r>
                        </m:num>
                        <m:den>
                          <m:r>
                            <a:rPr lang="en-US" i="0" dirty="0">
                              <a:solidFill>
                                <a:srgbClr val="0432FF"/>
                              </a:solidFill>
                              <a:latin typeface="Cambria Math" panose="02040503050406030204" pitchFamily="18" charset="0"/>
                            </a:rPr>
                            <m:t>50</m:t>
                          </m:r>
                        </m:den>
                      </m:f>
                      <m:r>
                        <a:rPr lang="en-US" i="0" dirty="0">
                          <a:solidFill>
                            <a:srgbClr val="0432FF"/>
                          </a:solidFill>
                          <a:latin typeface="Cambria Math" panose="02040503050406030204" pitchFamily="18" charset="0"/>
                        </a:rPr>
                        <m:t>=0.2</m:t>
                      </m:r>
                    </m:oMath>
                  </m:oMathPara>
                </a14:m>
                <a:endParaRPr lang="en-US" dirty="0">
                  <a:solidFill>
                    <a:srgbClr val="0432FF"/>
                  </a:solidFill>
                </a:endParaRPr>
              </a:p>
            </p:txBody>
          </p:sp>
        </mc:Choice>
        <mc:Fallback xmlns="">
          <p:sp>
            <p:nvSpPr>
              <p:cNvPr id="6" name="TextBox 5">
                <a:extLst>
                  <a:ext uri="{FF2B5EF4-FFF2-40B4-BE49-F238E27FC236}">
                    <a16:creationId xmlns:a16="http://schemas.microsoft.com/office/drawing/2014/main" id="{2F9BCD2A-E5EE-5FC4-E9A8-9E8BC7B6B2FC}"/>
                  </a:ext>
                </a:extLst>
              </p:cNvPr>
              <p:cNvSpPr txBox="1">
                <a:spLocks noRot="1" noChangeAspect="1" noMove="1" noResize="1" noEditPoints="1" noAdjustHandles="1" noChangeArrowheads="1" noChangeShapeType="1" noTextEdit="1"/>
              </p:cNvSpPr>
              <p:nvPr/>
            </p:nvSpPr>
            <p:spPr>
              <a:xfrm>
                <a:off x="6174658" y="2428280"/>
                <a:ext cx="4581832" cy="612796"/>
              </a:xfrm>
              <a:prstGeom prst="rect">
                <a:avLst/>
              </a:prstGeom>
              <a:blipFill>
                <a:blip r:embed="rId4"/>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0ADE16-D50E-CEA1-4FB9-49148CB03AF8}"/>
                  </a:ext>
                </a:extLst>
              </p:cNvPr>
              <p:cNvSpPr txBox="1"/>
              <p:nvPr/>
            </p:nvSpPr>
            <p:spPr>
              <a:xfrm>
                <a:off x="748481" y="2533116"/>
                <a:ext cx="6096000" cy="403124"/>
              </a:xfrm>
              <a:prstGeom prst="rect">
                <a:avLst/>
              </a:prstGeom>
              <a:noFill/>
            </p:spPr>
            <p:txBody>
              <a:bodyPr wrap="square">
                <a:spAutoFit/>
              </a:bodyPr>
              <a:lstStyle/>
              <a:p>
                <a:pPr/>
                <a14:m>
                  <m:oMathPara xmlns:m="http://schemas.openxmlformats.org/officeDocument/2006/math">
                    <m:o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m:rPr>
                              <m:sty m:val="p"/>
                            </m:rPr>
                            <a:rPr lang="en-US" i="1" dirty="0" smtClean="0">
                              <a:solidFill>
                                <a:srgbClr val="0432FF"/>
                              </a:solidFill>
                              <a:latin typeface="Cambria Math" panose="02040503050406030204" pitchFamily="18" charset="0"/>
                            </a:rPr>
                            <m:t>sel</m:t>
                          </m:r>
                        </m:sub>
                      </m:sSub>
                      <m:r>
                        <a:rPr lang="en-US" i="1" dirty="0" smtClean="0">
                          <a:solidFill>
                            <a:srgbClr val="0432FF"/>
                          </a:solidFill>
                          <a:latin typeface="Cambria Math" panose="02040503050406030204" pitchFamily="18" charset="0"/>
                        </a:rPr>
                        <m:t>→∞ ⟹ </m:t>
                      </m:r>
                      <m:sSup>
                        <m:sSupPr>
                          <m:ctrlPr>
                            <a:rPr lang="en-US" i="1" dirty="0" smtClean="0">
                              <a:solidFill>
                                <a:srgbClr val="0432FF"/>
                              </a:solidFill>
                              <a:latin typeface="Cambria Math" panose="02040503050406030204" pitchFamily="18" charset="0"/>
                            </a:rPr>
                          </m:ctrlPr>
                        </m:sSupPr>
                        <m:e>
                          <m:r>
                            <a:rPr lang="en-US" i="1" dirty="0" smtClean="0">
                              <a:solidFill>
                                <a:srgbClr val="0432FF"/>
                              </a:solidFill>
                              <a:latin typeface="Cambria Math" panose="02040503050406030204" pitchFamily="18" charset="0"/>
                            </a:rPr>
                            <m:t>𝑒</m:t>
                          </m:r>
                        </m:e>
                        <m:sup>
                          <m:d>
                            <m:dPr>
                              <m:ctrlPr>
                                <a:rPr lang="en-US" i="1" dirty="0" smtClean="0">
                                  <a:solidFill>
                                    <a:srgbClr val="0432FF"/>
                                  </a:solidFill>
                                  <a:latin typeface="Cambria Math" panose="02040503050406030204" pitchFamily="18" charset="0"/>
                                </a:rPr>
                              </m:ctrlPr>
                            </m:dPr>
                            <m:e>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𝑆</m:t>
                                  </m:r>
                                </m:e>
                                <m:sub>
                                  <m:r>
                                    <a:rPr lang="en-US" i="1" dirty="0" smtClean="0">
                                      <a:solidFill>
                                        <a:srgbClr val="0432FF"/>
                                      </a:solidFill>
                                      <a:latin typeface="Cambria Math" panose="02040503050406030204" pitchFamily="18" charset="0"/>
                                    </a:rPr>
                                    <m:t>𝑖</m:t>
                                  </m:r>
                                </m:sub>
                              </m:sSub>
                              <m:r>
                                <a:rPr lang="en-US" i="1"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𝑆</m:t>
                                  </m:r>
                                </m:e>
                                <m:sub>
                                  <m:r>
                                    <a:rPr lang="en-US" i="1" dirty="0" smtClean="0">
                                      <a:solidFill>
                                        <a:srgbClr val="0432FF"/>
                                      </a:solidFill>
                                      <a:latin typeface="Cambria Math" panose="02040503050406030204" pitchFamily="18" charset="0"/>
                                    </a:rPr>
                                    <m:t>ℎ</m:t>
                                  </m:r>
                                </m:sub>
                              </m:sSub>
                            </m:e>
                          </m:d>
                          <m:r>
                            <a:rPr lang="en-US" i="1"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𝑡</m:t>
                              </m:r>
                            </m:e>
                            <m:sub>
                              <m:r>
                                <m:rPr>
                                  <m:sty m:val="p"/>
                                </m:rPr>
                                <a:rPr lang="en-US" i="1" dirty="0" smtClean="0">
                                  <a:solidFill>
                                    <a:srgbClr val="0432FF"/>
                                  </a:solidFill>
                                  <a:latin typeface="Cambria Math" panose="02040503050406030204" pitchFamily="18" charset="0"/>
                                </a:rPr>
                                <m:t>sel</m:t>
                              </m:r>
                            </m:sub>
                          </m:sSub>
                        </m:sup>
                      </m:sSup>
                      <m:r>
                        <a:rPr lang="en-US" i="1" dirty="0" smtClean="0">
                          <a:solidFill>
                            <a:srgbClr val="0432FF"/>
                          </a:solidFill>
                          <a:latin typeface="Cambria Math" panose="02040503050406030204" pitchFamily="18" charset="0"/>
                        </a:rPr>
                        <m:t>→1</m:t>
                      </m:r>
                    </m:oMath>
                  </m:oMathPara>
                </a14:m>
                <a:endParaRPr lang="en-US" dirty="0">
                  <a:solidFill>
                    <a:srgbClr val="0432FF"/>
                  </a:solidFill>
                </a:endParaRPr>
              </a:p>
            </p:txBody>
          </p:sp>
        </mc:Choice>
        <mc:Fallback xmlns="">
          <p:sp>
            <p:nvSpPr>
              <p:cNvPr id="7" name="TextBox 6">
                <a:extLst>
                  <a:ext uri="{FF2B5EF4-FFF2-40B4-BE49-F238E27FC236}">
                    <a16:creationId xmlns:a16="http://schemas.microsoft.com/office/drawing/2014/main" id="{B70ADE16-D50E-CEA1-4FB9-49148CB03AF8}"/>
                  </a:ext>
                </a:extLst>
              </p:cNvPr>
              <p:cNvSpPr txBox="1">
                <a:spLocks noRot="1" noChangeAspect="1" noMove="1" noResize="1" noEditPoints="1" noAdjustHandles="1" noChangeArrowheads="1" noChangeShapeType="1" noTextEdit="1"/>
              </p:cNvSpPr>
              <p:nvPr/>
            </p:nvSpPr>
            <p:spPr>
              <a:xfrm>
                <a:off x="748481" y="2533116"/>
                <a:ext cx="6096000" cy="403124"/>
              </a:xfrm>
              <a:prstGeom prst="rect">
                <a:avLst/>
              </a:prstGeom>
              <a:blipFill>
                <a:blip r:embed="rId5"/>
                <a:stretch>
                  <a:fillRect b="-21212"/>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CB114FB-401A-4BF8-859F-5BF073280CA7}"/>
              </a:ext>
            </a:extLst>
          </p:cNvPr>
          <p:cNvSpPr txBox="1"/>
          <p:nvPr/>
        </p:nvSpPr>
        <p:spPr>
          <a:xfrm>
            <a:off x="1771494" y="441416"/>
            <a:ext cx="8649012"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Higher temperature weakens score advantages</a:t>
            </a:r>
          </a:p>
        </p:txBody>
      </p:sp>
    </p:spTree>
    <p:extLst>
      <p:ext uri="{BB962C8B-B14F-4D97-AF65-F5344CB8AC3E}">
        <p14:creationId xmlns:p14="http://schemas.microsoft.com/office/powerpoint/2010/main" val="2954251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FAC8-A1E9-6192-A5FA-A0F2B6B62DC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4D6BD90-FD41-97F8-6AF4-83CF5328B267}"/>
              </a:ext>
            </a:extLst>
          </p:cNvPr>
          <p:cNvSpPr>
            <a:spLocks noGrp="1"/>
          </p:cNvSpPr>
          <p:nvPr>
            <p:ph type="sldNum" sz="quarter" idx="12"/>
          </p:nvPr>
        </p:nvSpPr>
        <p:spPr/>
        <p:txBody>
          <a:bodyPr/>
          <a:lstStyle/>
          <a:p>
            <a:fld id="{387B101D-DD3C-9947-BBAC-237D8FE858E0}" type="slidenum">
              <a:rPr lang="en-US" smtClean="0"/>
              <a:t>42</a:t>
            </a:fld>
            <a:endParaRPr lang="en-US"/>
          </a:p>
        </p:txBody>
      </p:sp>
      <p:sp>
        <p:nvSpPr>
          <p:cNvPr id="8" name="TextBox 7">
            <a:extLst>
              <a:ext uri="{FF2B5EF4-FFF2-40B4-BE49-F238E27FC236}">
                <a16:creationId xmlns:a16="http://schemas.microsoft.com/office/drawing/2014/main" id="{2E7B0FEC-35EE-D156-0627-8AFDB9AC3419}"/>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Higher individual performance is associated with higher draft rates</a:t>
            </a:r>
          </a:p>
        </p:txBody>
      </p:sp>
      <p:sp>
        <p:nvSpPr>
          <p:cNvPr id="2" name="TextBox 1">
            <a:extLst>
              <a:ext uri="{FF2B5EF4-FFF2-40B4-BE49-F238E27FC236}">
                <a16:creationId xmlns:a16="http://schemas.microsoft.com/office/drawing/2014/main" id="{E8D76A5C-8358-97DB-9C3A-B712EBA8FF71}"/>
              </a:ext>
            </a:extLst>
          </p:cNvPr>
          <p:cNvSpPr txBox="1"/>
          <p:nvPr/>
        </p:nvSpPr>
        <p:spPr>
          <a:xfrm>
            <a:off x="755737" y="1007232"/>
            <a:ext cx="10447344" cy="8833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Empirical plot of Points Per Minute (PPM) vs probability of NBA draft</a:t>
            </a:r>
          </a:p>
          <a:p>
            <a:pPr marL="285750" indent="-285750">
              <a:lnSpc>
                <a:spcPct val="150000"/>
              </a:lnSpc>
              <a:buFont typeface="Arial" panose="020B0604020202020204" pitchFamily="34" charset="0"/>
              <a:buChar char="•"/>
            </a:pPr>
            <a:r>
              <a:rPr lang="en-US" dirty="0"/>
              <a:t>How does this relationship change when we consider the performance of a player’s teammates?</a:t>
            </a:r>
          </a:p>
        </p:txBody>
      </p:sp>
      <p:pic>
        <p:nvPicPr>
          <p:cNvPr id="3" name="Picture 2">
            <a:extLst>
              <a:ext uri="{FF2B5EF4-FFF2-40B4-BE49-F238E27FC236}">
                <a16:creationId xmlns:a16="http://schemas.microsoft.com/office/drawing/2014/main" id="{7B074630-A3D8-DBD5-7EF9-B103DA0D1AC0}"/>
              </a:ext>
            </a:extLst>
          </p:cNvPr>
          <p:cNvPicPr>
            <a:picLocks noChangeAspect="1"/>
          </p:cNvPicPr>
          <p:nvPr/>
        </p:nvPicPr>
        <p:blipFill>
          <a:blip r:embed="rId2"/>
          <a:srcRect/>
          <a:stretch/>
        </p:blipFill>
        <p:spPr>
          <a:xfrm>
            <a:off x="1842715" y="2056321"/>
            <a:ext cx="7772400" cy="4371975"/>
          </a:xfrm>
          <a:prstGeom prst="rect">
            <a:avLst/>
          </a:prstGeom>
        </p:spPr>
      </p:pic>
    </p:spTree>
    <p:extLst>
      <p:ext uri="{BB962C8B-B14F-4D97-AF65-F5344CB8AC3E}">
        <p14:creationId xmlns:p14="http://schemas.microsoft.com/office/powerpoint/2010/main" val="1316515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4800-8516-E9E6-04CE-981ED4F0630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6D7C4E9-9C93-3D58-AE6B-BBC96A444857}"/>
              </a:ext>
            </a:extLst>
          </p:cNvPr>
          <p:cNvSpPr>
            <a:spLocks noGrp="1"/>
          </p:cNvSpPr>
          <p:nvPr>
            <p:ph type="sldNum" sz="quarter" idx="12"/>
          </p:nvPr>
        </p:nvSpPr>
        <p:spPr/>
        <p:txBody>
          <a:bodyPr/>
          <a:lstStyle/>
          <a:p>
            <a:fld id="{387B101D-DD3C-9947-BBAC-237D8FE858E0}" type="slidenum">
              <a:rPr lang="en-US" smtClean="0"/>
              <a:t>43</a:t>
            </a:fld>
            <a:endParaRPr lang="en-US"/>
          </a:p>
        </p:txBody>
      </p:sp>
      <p:sp>
        <p:nvSpPr>
          <p:cNvPr id="8" name="TextBox 7">
            <a:extLst>
              <a:ext uri="{FF2B5EF4-FFF2-40B4-BE49-F238E27FC236}">
                <a16:creationId xmlns:a16="http://schemas.microsoft.com/office/drawing/2014/main" id="{577B9D4B-1028-8467-C9CE-B038465F04E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Individuals perform within groups</a:t>
            </a:r>
          </a:p>
        </p:txBody>
      </p:sp>
      <p:sp>
        <p:nvSpPr>
          <p:cNvPr id="7" name="TextBox 6">
            <a:extLst>
              <a:ext uri="{FF2B5EF4-FFF2-40B4-BE49-F238E27FC236}">
                <a16:creationId xmlns:a16="http://schemas.microsoft.com/office/drawing/2014/main" id="{32234B30-FA82-F26F-1D51-1F17C0976D3F}"/>
              </a:ext>
            </a:extLst>
          </p:cNvPr>
          <p:cNvSpPr txBox="1"/>
          <p:nvPr/>
        </p:nvSpPr>
        <p:spPr>
          <a:xfrm>
            <a:off x="748480" y="1091384"/>
            <a:ext cx="10932243" cy="167975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Strong peers can </a:t>
            </a:r>
            <a:r>
              <a:rPr lang="en-US" i="1" dirty="0"/>
              <a:t>support</a:t>
            </a:r>
            <a:r>
              <a:rPr lang="en-US" dirty="0"/>
              <a:t> development while also making it </a:t>
            </a:r>
            <a:r>
              <a:rPr lang="en-US" i="1" dirty="0"/>
              <a:t>harder</a:t>
            </a:r>
            <a:r>
              <a:rPr lang="en-US" dirty="0"/>
              <a:t> to stand out.</a:t>
            </a:r>
          </a:p>
          <a:p>
            <a:pPr marL="285750" indent="-285750">
              <a:lnSpc>
                <a:spcPct val="200000"/>
              </a:lnSpc>
              <a:buFont typeface="Arial" panose="020B0604020202020204" pitchFamily="34" charset="0"/>
              <a:buChar char="•"/>
            </a:pPr>
            <a:r>
              <a:rPr lang="en-US" dirty="0"/>
              <a:t>We model this competitive pressure, which we call </a:t>
            </a:r>
            <a:r>
              <a:rPr lang="en-US" b="1" dirty="0"/>
              <a:t>congestion</a:t>
            </a:r>
            <a:r>
              <a:rPr lang="en-US" dirty="0"/>
              <a:t>, while holding measured performance fixed.</a:t>
            </a:r>
          </a:p>
        </p:txBody>
      </p:sp>
      <p:pic>
        <p:nvPicPr>
          <p:cNvPr id="13" name="Picture 12">
            <a:extLst>
              <a:ext uri="{FF2B5EF4-FFF2-40B4-BE49-F238E27FC236}">
                <a16:creationId xmlns:a16="http://schemas.microsoft.com/office/drawing/2014/main" id="{C3D695B3-812D-B3B6-2B63-5A72A11E925F}"/>
              </a:ext>
            </a:extLst>
          </p:cNvPr>
          <p:cNvPicPr>
            <a:picLocks noChangeAspect="1"/>
          </p:cNvPicPr>
          <p:nvPr/>
        </p:nvPicPr>
        <p:blipFill>
          <a:blip r:embed="rId2"/>
          <a:srcRect/>
          <a:stretch/>
        </p:blipFill>
        <p:spPr>
          <a:xfrm>
            <a:off x="286439" y="3542356"/>
            <a:ext cx="11054080" cy="2763520"/>
          </a:xfrm>
          <a:prstGeom prst="rect">
            <a:avLst/>
          </a:prstGeom>
        </p:spPr>
      </p:pic>
    </p:spTree>
    <p:extLst>
      <p:ext uri="{BB962C8B-B14F-4D97-AF65-F5344CB8AC3E}">
        <p14:creationId xmlns:p14="http://schemas.microsoft.com/office/powerpoint/2010/main" val="271740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8F4B-00BE-216D-80BA-623DD55FBED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0BB50D0-99DB-5336-4011-D797538DB4C3}"/>
              </a:ext>
            </a:extLst>
          </p:cNvPr>
          <p:cNvSpPr>
            <a:spLocks noGrp="1"/>
          </p:cNvSpPr>
          <p:nvPr>
            <p:ph type="sldNum" sz="quarter" idx="12"/>
          </p:nvPr>
        </p:nvSpPr>
        <p:spPr/>
        <p:txBody>
          <a:bodyPr/>
          <a:lstStyle/>
          <a:p>
            <a:fld id="{387B101D-DD3C-9947-BBAC-237D8FE858E0}" type="slidenum">
              <a:rPr lang="en-US" smtClean="0"/>
              <a:t>44</a:t>
            </a:fld>
            <a:endParaRPr lang="en-US"/>
          </a:p>
        </p:txBody>
      </p:sp>
      <p:sp>
        <p:nvSpPr>
          <p:cNvPr id="8" name="TextBox 7">
            <a:extLst>
              <a:ext uri="{FF2B5EF4-FFF2-40B4-BE49-F238E27FC236}">
                <a16:creationId xmlns:a16="http://schemas.microsoft.com/office/drawing/2014/main" id="{E03E035A-497E-799B-F93C-202B1C4CCCC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Congestion changes the score entering selection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809C0D7-92D7-140F-168A-32A30A644CAD}"/>
                  </a:ext>
                </a:extLst>
              </p:cNvPr>
              <p:cNvSpPr txBox="1"/>
              <p:nvPr/>
            </p:nvSpPr>
            <p:spPr>
              <a:xfrm>
                <a:off x="748480" y="1622326"/>
                <a:ext cx="10605320" cy="340330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We introduce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𝐶</m:t>
                        </m:r>
                      </m:e>
                      <m:sub>
                        <m:r>
                          <a:rPr lang="en-US" i="1" dirty="0" err="1" smtClean="0">
                            <a:latin typeface="Cambria Math" panose="02040503050406030204" pitchFamily="18" charset="0"/>
                          </a:rPr>
                          <m:t>𝑖</m:t>
                        </m:r>
                      </m:sub>
                    </m:sSub>
                  </m:oMath>
                </a14:m>
                <a:r>
                  <a:rPr lang="en-US" dirty="0"/>
                  <a:t> to represent the congestion faced by individual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 </m:t>
                    </m:r>
                    <m:r>
                      <m:rPr>
                        <m:sty m:val="p"/>
                      </m:rPr>
                      <a:rPr lang="en-US" i="1" dirty="0" smtClean="0">
                        <a:latin typeface="Cambria Math" panose="02040503050406030204" pitchFamily="18" charset="0"/>
                      </a:rPr>
                      <m:t>and</m:t>
                    </m:r>
                  </m:oMath>
                </a14:m>
                <a:r>
                  <a:rPr lang="en-US" dirty="0"/>
                  <a:t> </a:t>
                </a:r>
                <a14:m>
                  <m:oMath xmlns:m="http://schemas.openxmlformats.org/officeDocument/2006/math">
                    <m:r>
                      <a:rPr lang="en-US" i="1" dirty="0" smtClean="0">
                        <a:latin typeface="Cambria Math" panose="02040503050406030204" pitchFamily="18" charset="0"/>
                      </a:rPr>
                      <m:t>𝜆</m:t>
                    </m:r>
                    <m:r>
                      <a:rPr lang="en-US" i="0" dirty="0" err="1" smtClean="0">
                        <a:latin typeface="Cambria Math" panose="02040503050406030204" pitchFamily="18" charset="0"/>
                      </a:rPr>
                      <m:t>≥0</m:t>
                    </m:r>
                  </m:oMath>
                </a14:m>
                <a:r>
                  <a:rPr lang="en-US" dirty="0"/>
                  <a:t> to control the strength of its effect on their selection score.</a:t>
                </a:r>
              </a:p>
              <a:p>
                <a:pPr>
                  <a:lnSpc>
                    <a:spcPct val="200000"/>
                  </a:lnSpc>
                </a:pPr>
                <a14:m>
                  <m:oMathPara xmlns:m="http://schemas.openxmlformats.org/officeDocument/2006/math">
                    <m:oMath>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𝑆</m:t>
                          </m:r>
                        </m:e>
                        <m:sub>
                          <m:r>
                            <a:rPr lang="en-US" sz="2000" i="1" dirty="0" smtClean="0">
                              <a:solidFill>
                                <a:srgbClr val="0432FF"/>
                              </a:solidFill>
                              <a:latin typeface="Cambria Math" panose="02040503050406030204" pitchFamily="18" charset="0"/>
                            </a:rPr>
                            <m:t>𝑖</m:t>
                          </m:r>
                        </m:sub>
                      </m:sSub>
                      <m:r>
                        <a:rPr lang="en-US" sz="2000" i="0" dirty="0" smtClean="0">
                          <a:solidFill>
                            <a:srgbClr val="0432FF"/>
                          </a:solidFill>
                          <a:latin typeface="Cambria Math" panose="02040503050406030204" pitchFamily="18" charset="0"/>
                        </a:rPr>
                        <m:t>=</m:t>
                      </m:r>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𝐴</m:t>
                          </m:r>
                        </m:e>
                        <m:sub>
                          <m:r>
                            <a:rPr lang="en-US" sz="2000" i="1" dirty="0" smtClean="0">
                              <a:solidFill>
                                <a:srgbClr val="0432FF"/>
                              </a:solidFill>
                              <a:latin typeface="Cambria Math" panose="02040503050406030204" pitchFamily="18" charset="0"/>
                            </a:rPr>
                            <m:t>𝑖</m:t>
                          </m:r>
                        </m:sub>
                      </m:sSub>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𝜆</m:t>
                      </m:r>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𝐶</m:t>
                          </m:r>
                        </m:e>
                        <m:sub>
                          <m:r>
                            <a:rPr lang="en-US" sz="2000" i="1" dirty="0" smtClean="0">
                              <a:solidFill>
                                <a:srgbClr val="0432FF"/>
                              </a:solidFill>
                              <a:latin typeface="Cambria Math" panose="02040503050406030204" pitchFamily="18" charset="0"/>
                            </a:rPr>
                            <m:t>𝑖</m:t>
                          </m:r>
                        </m:sub>
                      </m:sSub>
                    </m:oMath>
                  </m:oMathPara>
                </a14:m>
                <a:endParaRPr lang="en-US" dirty="0"/>
              </a:p>
              <a:p>
                <a:pPr marL="285750" indent="-285750">
                  <a:lnSpc>
                    <a:spcPct val="200000"/>
                  </a:lnSpc>
                  <a:buFont typeface="Arial" panose="020B0604020202020204" pitchFamily="34" charset="0"/>
                  <a:buChar char="•"/>
                </a:pPr>
                <a:r>
                  <a:rPr lang="en-US" dirty="0"/>
                  <a:t>At the same measured performance, greater congestion produces a lower selection score when </a:t>
                </a:r>
                <a14:m>
                  <m:oMath xmlns:m="http://schemas.openxmlformats.org/officeDocument/2006/math">
                    <m:r>
                      <a:rPr lang="el-GR" i="1" dirty="0" smtClean="0">
                        <a:latin typeface="Cambria Math" panose="02040503050406030204" pitchFamily="18" charset="0"/>
                      </a:rPr>
                      <m:t>𝜆</m:t>
                    </m:r>
                    <m:r>
                      <a:rPr lang="el-GR" i="0" dirty="0" smtClean="0">
                        <a:latin typeface="Cambria Math" panose="02040503050406030204" pitchFamily="18" charset="0"/>
                      </a:rPr>
                      <m:t>&gt;0</m:t>
                    </m:r>
                  </m:oMath>
                </a14:m>
                <a:r>
                  <a:rPr lang="el-GR" dirty="0"/>
                  <a:t>.</a:t>
                </a:r>
                <a:endParaRPr lang="en-US" dirty="0"/>
              </a:p>
              <a:p>
                <a:pPr>
                  <a:lnSpc>
                    <a:spcPct val="200000"/>
                  </a:lnSpc>
                </a:pPr>
                <a:endParaRPr lang="en-US" dirty="0"/>
              </a:p>
              <a:p>
                <a:pPr marL="285750" indent="-285750">
                  <a:lnSpc>
                    <a:spcPct val="200000"/>
                  </a:lnSpc>
                  <a:buFont typeface="Arial" panose="020B0604020202020204" pitchFamily="34" charset="0"/>
                  <a:buChar char="•"/>
                </a:pPr>
                <a:r>
                  <a:rPr lang="en-US" b="1" i="1" dirty="0"/>
                  <a:t>How should we measure Congestion?</a:t>
                </a:r>
              </a:p>
            </p:txBody>
          </p:sp>
        </mc:Choice>
        <mc:Fallback xmlns="">
          <p:sp>
            <p:nvSpPr>
              <p:cNvPr id="7" name="TextBox 6">
                <a:extLst>
                  <a:ext uri="{FF2B5EF4-FFF2-40B4-BE49-F238E27FC236}">
                    <a16:creationId xmlns:a16="http://schemas.microsoft.com/office/drawing/2014/main" id="{C809C0D7-92D7-140F-168A-32A30A644CAD}"/>
                  </a:ext>
                </a:extLst>
              </p:cNvPr>
              <p:cNvSpPr txBox="1">
                <a:spLocks noRot="1" noChangeAspect="1" noMove="1" noResize="1" noEditPoints="1" noAdjustHandles="1" noChangeArrowheads="1" noChangeShapeType="1" noTextEdit="1"/>
              </p:cNvSpPr>
              <p:nvPr/>
            </p:nvSpPr>
            <p:spPr>
              <a:xfrm>
                <a:off x="748480" y="1622326"/>
                <a:ext cx="10605320" cy="3403304"/>
              </a:xfrm>
              <a:prstGeom prst="rect">
                <a:avLst/>
              </a:prstGeom>
              <a:blipFill>
                <a:blip r:embed="rId2"/>
                <a:stretch>
                  <a:fillRect l="-478" r="-120" b="-1859"/>
                </a:stretch>
              </a:blipFill>
            </p:spPr>
            <p:txBody>
              <a:bodyPr/>
              <a:lstStyle/>
              <a:p>
                <a:r>
                  <a:rPr lang="en-US">
                    <a:noFill/>
                  </a:rPr>
                  <a:t> </a:t>
                </a:r>
              </a:p>
            </p:txBody>
          </p:sp>
        </mc:Fallback>
      </mc:AlternateContent>
    </p:spTree>
    <p:extLst>
      <p:ext uri="{BB962C8B-B14F-4D97-AF65-F5344CB8AC3E}">
        <p14:creationId xmlns:p14="http://schemas.microsoft.com/office/powerpoint/2010/main" val="3693153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E365-2931-3455-0F15-51425B17AB5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57C8C5F-19DD-B340-1D9E-2E72B8126443}"/>
              </a:ext>
            </a:extLst>
          </p:cNvPr>
          <p:cNvPicPr>
            <a:picLocks noChangeAspect="1"/>
          </p:cNvPicPr>
          <p:nvPr/>
        </p:nvPicPr>
        <p:blipFill>
          <a:blip r:embed="rId2"/>
          <a:srcRect/>
          <a:stretch/>
        </p:blipFill>
        <p:spPr>
          <a:xfrm>
            <a:off x="286439" y="3542356"/>
            <a:ext cx="11054080" cy="2763520"/>
          </a:xfrm>
          <a:prstGeom prst="rect">
            <a:avLst/>
          </a:prstGeom>
        </p:spPr>
      </p:pic>
      <p:sp>
        <p:nvSpPr>
          <p:cNvPr id="9" name="Slide Number Placeholder 8">
            <a:extLst>
              <a:ext uri="{FF2B5EF4-FFF2-40B4-BE49-F238E27FC236}">
                <a16:creationId xmlns:a16="http://schemas.microsoft.com/office/drawing/2014/main" id="{CBE0A24F-F083-B56D-7479-97CCECD0DD3C}"/>
              </a:ext>
            </a:extLst>
          </p:cNvPr>
          <p:cNvSpPr>
            <a:spLocks noGrp="1"/>
          </p:cNvSpPr>
          <p:nvPr>
            <p:ph type="sldNum" sz="quarter" idx="12"/>
          </p:nvPr>
        </p:nvSpPr>
        <p:spPr/>
        <p:txBody>
          <a:bodyPr/>
          <a:lstStyle/>
          <a:p>
            <a:fld id="{387B101D-DD3C-9947-BBAC-237D8FE858E0}" type="slidenum">
              <a:rPr lang="en-US" smtClean="0"/>
              <a:t>45</a:t>
            </a:fld>
            <a:endParaRPr lang="en-US"/>
          </a:p>
        </p:txBody>
      </p:sp>
      <p:sp>
        <p:nvSpPr>
          <p:cNvPr id="8" name="TextBox 7">
            <a:extLst>
              <a:ext uri="{FF2B5EF4-FFF2-40B4-BE49-F238E27FC236}">
                <a16:creationId xmlns:a16="http://schemas.microsoft.com/office/drawing/2014/main" id="{BE944A95-7A2C-E118-1640-AE79237DC6E6}"/>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 first congestion measure: mean group performance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482832-4083-5006-D2E2-05C477FC8291}"/>
                  </a:ext>
                </a:extLst>
              </p:cNvPr>
              <p:cNvSpPr txBox="1"/>
              <p:nvPr/>
            </p:nvSpPr>
            <p:spPr>
              <a:xfrm>
                <a:off x="748480" y="1120883"/>
                <a:ext cx="10605320" cy="2481641"/>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A group’s average performance provides a simple starting point for describing its competitive environment.</a:t>
                </a:r>
              </a:p>
              <a:p>
                <a:r>
                  <a:rPr lang="en-US" dirty="0"/>
                  <a:t>Define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𝑇</m:t>
                        </m:r>
                      </m:e>
                      <m:sub>
                        <m:r>
                          <a:rPr lang="en-US" i="1" dirty="0" err="1" smtClean="0">
                            <a:latin typeface="Cambria Math" panose="02040503050406030204" pitchFamily="18" charset="0"/>
                          </a:rPr>
                          <m:t>𝑗</m:t>
                        </m:r>
                      </m:sub>
                    </m:sSub>
                  </m:oMath>
                </a14:m>
                <a:r>
                  <a:rPr lang="en-US" dirty="0"/>
                  <a:t> as the mean performance of the </a:t>
                </a:r>
                <a14:m>
                  <m:oMath xmlns:m="http://schemas.openxmlformats.org/officeDocument/2006/math">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𝑛</m:t>
                        </m:r>
                      </m:e>
                      <m:sub>
                        <m:r>
                          <a:rPr lang="en-US" i="1" dirty="0" err="1" smtClean="0">
                            <a:latin typeface="Cambria Math" panose="02040503050406030204" pitchFamily="18" charset="0"/>
                          </a:rPr>
                          <m:t>𝑗</m:t>
                        </m:r>
                      </m:sub>
                    </m:sSub>
                  </m:oMath>
                </a14:m>
                <a:r>
                  <a:rPr lang="en-US" dirty="0"/>
                  <a:t> members of group </a:t>
                </a:r>
                <a14:m>
                  <m:oMath xmlns:m="http://schemas.openxmlformats.org/officeDocument/2006/math">
                    <m:r>
                      <a:rPr lang="en-US" i="1" dirty="0" smtClean="0">
                        <a:latin typeface="Cambria Math" panose="02040503050406030204" pitchFamily="18" charset="0"/>
                      </a:rPr>
                      <m:t>𝑗</m:t>
                    </m:r>
                  </m:oMath>
                </a14:m>
                <a:r>
                  <a:rPr lang="en-US" dirty="0"/>
                  <a:t>, then </a:t>
                </a:r>
                <a:endParaRPr lang="en-US" dirty="0">
                  <a:latin typeface="Cambria Math" panose="02040503050406030204" pitchFamily="18" charset="0"/>
                </a:endParaRPr>
              </a:p>
              <a:p>
                <a:pPr/>
                <a14:m>
                  <m:oMathPara xmlns:m="http://schemas.openxmlformats.org/officeDocument/2006/math">
                    <m:o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𝑇</m:t>
                          </m:r>
                        </m:e>
                        <m:sub>
                          <m:r>
                            <a:rPr lang="en-US" i="1" dirty="0" smtClean="0">
                              <a:solidFill>
                                <a:srgbClr val="0432FF"/>
                              </a:solidFill>
                              <a:latin typeface="Cambria Math" panose="02040503050406030204" pitchFamily="18" charset="0"/>
                            </a:rPr>
                            <m:t>𝑗</m:t>
                          </m:r>
                        </m:sub>
                      </m:sSub>
                      <m:r>
                        <a:rPr lang="en-US" i="0" dirty="0" smtClean="0">
                          <a:solidFill>
                            <a:srgbClr val="0432FF"/>
                          </a:solidFill>
                          <a:latin typeface="Cambria Math" panose="02040503050406030204" pitchFamily="18" charset="0"/>
                        </a:rPr>
                        <m:t>=</m:t>
                      </m:r>
                      <m:f>
                        <m:fPr>
                          <m:ctrlPr>
                            <a:rPr lang="en-US" i="0" dirty="0" smtClean="0">
                              <a:solidFill>
                                <a:srgbClr val="0432FF"/>
                              </a:solidFill>
                              <a:latin typeface="Cambria Math" panose="02040503050406030204" pitchFamily="18" charset="0"/>
                            </a:rPr>
                          </m:ctrlPr>
                        </m:fPr>
                        <m:num>
                          <m:r>
                            <a:rPr lang="en-US" i="0" dirty="0" smtClean="0">
                              <a:solidFill>
                                <a:srgbClr val="0432FF"/>
                              </a:solidFill>
                              <a:latin typeface="Cambria Math" panose="02040503050406030204" pitchFamily="18" charset="0"/>
                            </a:rPr>
                            <m:t>1</m:t>
                          </m:r>
                        </m:num>
                        <m:den>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𝑛</m:t>
                              </m:r>
                            </m:e>
                            <m:sub>
                              <m:r>
                                <a:rPr lang="en-US" i="1" dirty="0" smtClean="0">
                                  <a:solidFill>
                                    <a:srgbClr val="0432FF"/>
                                  </a:solidFill>
                                  <a:latin typeface="Cambria Math" panose="02040503050406030204" pitchFamily="18" charset="0"/>
                                </a:rPr>
                                <m:t>𝑗</m:t>
                              </m:r>
                            </m:sub>
                          </m:sSub>
                        </m:den>
                      </m:f>
                      <m:nary>
                        <m:naryPr>
                          <m:chr m:val="∑"/>
                          <m:limLoc m:val="undOvr"/>
                          <m:supHide m:val="on"/>
                          <m:ctrlPr>
                            <a:rPr lang="en-US" i="1" dirty="0" smtClean="0">
                              <a:solidFill>
                                <a:srgbClr val="0432FF"/>
                              </a:solidFill>
                              <a:latin typeface="Cambria Math" panose="02040503050406030204" pitchFamily="18" charset="0"/>
                            </a:rPr>
                          </m:ctrlPr>
                        </m:naryPr>
                        <m:sub>
                          <m:r>
                            <a:rPr lang="en-US" i="1" dirty="0" smtClean="0">
                              <a:solidFill>
                                <a:srgbClr val="0432FF"/>
                              </a:solidFill>
                              <a:latin typeface="Cambria Math" panose="02040503050406030204" pitchFamily="18" charset="0"/>
                            </a:rPr>
                            <m:t>ℎ</m:t>
                          </m:r>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𝑔</m:t>
                          </m:r>
                          <m:d>
                            <m:dPr>
                              <m:ctrlPr>
                                <a:rPr lang="en-US" i="1" dirty="0" smtClean="0">
                                  <a:solidFill>
                                    <a:srgbClr val="0432FF"/>
                                  </a:solidFill>
                                  <a:latin typeface="Cambria Math" panose="02040503050406030204" pitchFamily="18" charset="0"/>
                                </a:rPr>
                              </m:ctrlPr>
                            </m:dPr>
                            <m:e>
                              <m:r>
                                <a:rPr lang="en-US" i="1" dirty="0" smtClean="0">
                                  <a:solidFill>
                                    <a:srgbClr val="0432FF"/>
                                  </a:solidFill>
                                  <a:latin typeface="Cambria Math" panose="02040503050406030204" pitchFamily="18" charset="0"/>
                                </a:rPr>
                                <m:t>ℎ</m:t>
                              </m:r>
                            </m:e>
                          </m:d>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𝑗</m:t>
                          </m:r>
                        </m:sub>
                        <m:sup/>
                        <m:e>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𝐴</m:t>
                              </m:r>
                            </m:e>
                            <m:sub>
                              <m:r>
                                <a:rPr lang="en-US" i="1" dirty="0" smtClean="0">
                                  <a:solidFill>
                                    <a:srgbClr val="0432FF"/>
                                  </a:solidFill>
                                  <a:latin typeface="Cambria Math" panose="02040503050406030204" pitchFamily="18" charset="0"/>
                                </a:rPr>
                                <m:t>ℎ</m:t>
                              </m:r>
                            </m:sub>
                          </m:sSub>
                        </m:e>
                      </m:nary>
                    </m:oMath>
                  </m:oMathPara>
                </a14:m>
                <a:endParaRPr lang="en-US" dirty="0"/>
              </a:p>
              <a:p>
                <a:pPr marL="285750" indent="-285750">
                  <a:lnSpc>
                    <a:spcPct val="100000"/>
                  </a:lnSpc>
                  <a:buFont typeface="Arial" panose="020B0604020202020204" pitchFamily="34" charset="0"/>
                  <a:buChar char="•"/>
                </a:pPr>
                <a:r>
                  <a:rPr lang="en-US" dirty="0"/>
                  <a:t>In this specification, every member faces the same congestion: the group mean which includes their own performance.</a:t>
                </a:r>
              </a:p>
              <a:p>
                <a:pPr>
                  <a:lnSpc>
                    <a:spcPct val="100000"/>
                  </a:lnSpc>
                </a:pPr>
                <a14:m>
                  <m:oMathPara xmlns:m="http://schemas.openxmlformats.org/officeDocument/2006/math">
                    <m:o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𝐶</m:t>
                          </m:r>
                        </m:e>
                        <m:sub>
                          <m:r>
                            <a:rPr lang="en-US" i="1" dirty="0" smtClean="0">
                              <a:solidFill>
                                <a:srgbClr val="0432FF"/>
                              </a:solidFill>
                              <a:latin typeface="Cambria Math" panose="02040503050406030204" pitchFamily="18" charset="0"/>
                            </a:rPr>
                            <m:t>𝑖</m:t>
                          </m:r>
                        </m:sub>
                      </m:sSub>
                      <m:r>
                        <a:rPr lang="en-US" i="0"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𝐶</m:t>
                          </m:r>
                        </m:e>
                        <m:sub>
                          <m:r>
                            <a:rPr lang="en-US" i="1" dirty="0" smtClean="0">
                              <a:solidFill>
                                <a:srgbClr val="0432FF"/>
                              </a:solidFill>
                              <a:latin typeface="Cambria Math" panose="02040503050406030204" pitchFamily="18" charset="0"/>
                            </a:rPr>
                            <m:t>𝑄</m:t>
                          </m:r>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𝑖</m:t>
                          </m:r>
                        </m:sub>
                      </m:sSub>
                      <m:r>
                        <a:rPr lang="en-US" i="0"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𝑇</m:t>
                          </m:r>
                        </m:e>
                        <m:sub>
                          <m:r>
                            <a:rPr lang="en-US" i="1" dirty="0" smtClean="0">
                              <a:solidFill>
                                <a:srgbClr val="0432FF"/>
                              </a:solidFill>
                              <a:latin typeface="Cambria Math" panose="02040503050406030204" pitchFamily="18" charset="0"/>
                            </a:rPr>
                            <m:t>𝑔</m:t>
                          </m:r>
                          <m:d>
                            <m:dPr>
                              <m:ctrlPr>
                                <a:rPr lang="en-US" i="1" dirty="0" smtClean="0">
                                  <a:solidFill>
                                    <a:srgbClr val="0432FF"/>
                                  </a:solidFill>
                                  <a:latin typeface="Cambria Math" panose="02040503050406030204" pitchFamily="18" charset="0"/>
                                </a:rPr>
                              </m:ctrlPr>
                            </m:dPr>
                            <m:e>
                              <m:r>
                                <a:rPr lang="en-US" i="1" dirty="0" smtClean="0">
                                  <a:solidFill>
                                    <a:srgbClr val="0432FF"/>
                                  </a:solidFill>
                                  <a:latin typeface="Cambria Math" panose="02040503050406030204" pitchFamily="18" charset="0"/>
                                </a:rPr>
                                <m:t>𝑖</m:t>
                              </m:r>
                            </m:e>
                          </m:d>
                        </m:sub>
                      </m:sSub>
                    </m:oMath>
                  </m:oMathPara>
                </a14:m>
                <a:endParaRPr lang="en-US" dirty="0"/>
              </a:p>
            </p:txBody>
          </p:sp>
        </mc:Choice>
        <mc:Fallback xmlns="">
          <p:sp>
            <p:nvSpPr>
              <p:cNvPr id="7" name="TextBox 6">
                <a:extLst>
                  <a:ext uri="{FF2B5EF4-FFF2-40B4-BE49-F238E27FC236}">
                    <a16:creationId xmlns:a16="http://schemas.microsoft.com/office/drawing/2014/main" id="{D4482832-4083-5006-D2E2-05C477FC8291}"/>
                  </a:ext>
                </a:extLst>
              </p:cNvPr>
              <p:cNvSpPr txBox="1">
                <a:spLocks noRot="1" noChangeAspect="1" noMove="1" noResize="1" noEditPoints="1" noAdjustHandles="1" noChangeArrowheads="1" noChangeShapeType="1" noTextEdit="1"/>
              </p:cNvSpPr>
              <p:nvPr/>
            </p:nvSpPr>
            <p:spPr>
              <a:xfrm>
                <a:off x="748480" y="1120883"/>
                <a:ext cx="10605320" cy="2481641"/>
              </a:xfrm>
              <a:prstGeom prst="rect">
                <a:avLst/>
              </a:prstGeom>
              <a:blipFill>
                <a:blip r:embed="rId3"/>
                <a:stretch>
                  <a:fillRect l="-598" t="-4082" b="-18367"/>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FE2B35ED-EBDC-7812-C4BD-0BC2C0C401F5}"/>
              </a:ext>
            </a:extLst>
          </p:cNvPr>
          <p:cNvGrpSpPr/>
          <p:nvPr/>
        </p:nvGrpSpPr>
        <p:grpSpPr>
          <a:xfrm>
            <a:off x="6096000" y="5375241"/>
            <a:ext cx="3988515" cy="1084523"/>
            <a:chOff x="6096000" y="5375241"/>
            <a:chExt cx="3988515" cy="1084523"/>
          </a:xfrm>
        </p:grpSpPr>
        <p:cxnSp>
          <p:nvCxnSpPr>
            <p:cNvPr id="4" name="Straight Connector 3">
              <a:extLst>
                <a:ext uri="{FF2B5EF4-FFF2-40B4-BE49-F238E27FC236}">
                  <a16:creationId xmlns:a16="http://schemas.microsoft.com/office/drawing/2014/main" id="{94B6E1B4-B995-F5D6-B267-95ED22C5B82F}"/>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EB937A-0E03-B04C-4A3B-E8F3C51F6468}"/>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5" name="TextBox 4">
                  <a:extLst>
                    <a:ext uri="{FF2B5EF4-FFF2-40B4-BE49-F238E27FC236}">
                      <a16:creationId xmlns:a16="http://schemas.microsoft.com/office/drawing/2014/main" id="{16EB937A-0E03-B04C-4A3B-E8F3C51F6468}"/>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1538"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F04BEA8-9118-DC38-9450-7EB46485D056}"/>
                    </a:ext>
                  </a:extLst>
                </p:cNvPr>
                <p:cNvSpPr txBox="1"/>
                <p:nvPr/>
              </p:nvSpPr>
              <p:spPr>
                <a:xfrm>
                  <a:off x="9692100" y="5375241"/>
                  <a:ext cx="392415" cy="307777"/>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i="0" dirty="0" smtClean="0">
                                <a:solidFill>
                                  <a:srgbClr val="7030A0"/>
                                </a:solidFill>
                                <a:latin typeface="Cambria Math" panose="02040503050406030204" pitchFamily="18" charset="0"/>
                              </a:rPr>
                              <m:t>5</m:t>
                            </m:r>
                          </m:sub>
                        </m:sSub>
                      </m:oMath>
                    </m:oMathPara>
                  </a14:m>
                  <a:endParaRPr lang="en-US" sz="1400" dirty="0">
                    <a:solidFill>
                      <a:srgbClr val="7030A0"/>
                    </a:solidFill>
                  </a:endParaRPr>
                </a:p>
              </p:txBody>
            </p:sp>
          </mc:Choice>
          <mc:Fallback xmlns="">
            <p:sp>
              <p:nvSpPr>
                <p:cNvPr id="6" name="TextBox 5">
                  <a:extLst>
                    <a:ext uri="{FF2B5EF4-FFF2-40B4-BE49-F238E27FC236}">
                      <a16:creationId xmlns:a16="http://schemas.microsoft.com/office/drawing/2014/main" id="{4F04BEA8-9118-DC38-9450-7EB46485D056}"/>
                    </a:ext>
                  </a:extLst>
                </p:cNvPr>
                <p:cNvSpPr txBox="1">
                  <a:spLocks noRot="1" noChangeAspect="1" noMove="1" noResize="1" noEditPoints="1" noAdjustHandles="1" noChangeArrowheads="1" noChangeShapeType="1" noTextEdit="1"/>
                </p:cNvSpPr>
                <p:nvPr/>
              </p:nvSpPr>
              <p:spPr>
                <a:xfrm>
                  <a:off x="9692100" y="5375241"/>
                  <a:ext cx="392415" cy="307777"/>
                </a:xfrm>
                <a:prstGeom prst="rect">
                  <a:avLst/>
                </a:prstGeom>
                <a:blipFill>
                  <a:blip r:embed="rId5"/>
                  <a:stretch>
                    <a:fillRect/>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C6675A8C-1524-014A-F99E-C6343DE6D7D1}"/>
              </a:ext>
            </a:extLst>
          </p:cNvPr>
          <p:cNvGrpSpPr/>
          <p:nvPr/>
        </p:nvGrpSpPr>
        <p:grpSpPr>
          <a:xfrm>
            <a:off x="8090257" y="3946621"/>
            <a:ext cx="3988515" cy="1084523"/>
            <a:chOff x="6096000" y="5375241"/>
            <a:chExt cx="3988515" cy="1084523"/>
          </a:xfrm>
        </p:grpSpPr>
        <p:cxnSp>
          <p:nvCxnSpPr>
            <p:cNvPr id="12" name="Straight Connector 11">
              <a:extLst>
                <a:ext uri="{FF2B5EF4-FFF2-40B4-BE49-F238E27FC236}">
                  <a16:creationId xmlns:a16="http://schemas.microsoft.com/office/drawing/2014/main" id="{B15E85D1-463B-4351-FB9A-862FA18E93AF}"/>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8F8DB97-E643-AB28-981B-00B6F920483B}"/>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b="0" i="1" smtClean="0">
                          <a:solidFill>
                            <a:srgbClr val="7030A0"/>
                          </a:solidFill>
                          <a:latin typeface="Cambria Math" panose="02040503050406030204" pitchFamily="18" charset="0"/>
                        </a:rPr>
                        <m:t>3</m:t>
                      </m:r>
                    </m:oMath>
                  </a14:m>
                  <a:endParaRPr lang="en-US" sz="1400" dirty="0">
                    <a:solidFill>
                      <a:srgbClr val="7030A0"/>
                    </a:solidFill>
                  </a:endParaRPr>
                </a:p>
              </p:txBody>
            </p:sp>
          </mc:Choice>
          <mc:Fallback xmlns="">
            <p:sp>
              <p:nvSpPr>
                <p:cNvPr id="13" name="TextBox 12">
                  <a:extLst>
                    <a:ext uri="{FF2B5EF4-FFF2-40B4-BE49-F238E27FC236}">
                      <a16:creationId xmlns:a16="http://schemas.microsoft.com/office/drawing/2014/main" id="{38F8DB97-E643-AB28-981B-00B6F920483B}"/>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6"/>
                  <a:stretch>
                    <a:fillRect l="-1538" t="-4167"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CF6EA0-7019-7658-FA41-DCF47A280001}"/>
                    </a:ext>
                  </a:extLst>
                </p:cNvPr>
                <p:cNvSpPr txBox="1"/>
                <p:nvPr/>
              </p:nvSpPr>
              <p:spPr>
                <a:xfrm>
                  <a:off x="9692100" y="5375241"/>
                  <a:ext cx="392415" cy="307777"/>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b="0" i="0" dirty="0" smtClean="0">
                                <a:solidFill>
                                  <a:srgbClr val="7030A0"/>
                                </a:solidFill>
                                <a:latin typeface="Cambria Math" panose="02040503050406030204" pitchFamily="18" charset="0"/>
                              </a:rPr>
                              <m:t>3</m:t>
                            </m:r>
                          </m:sub>
                        </m:sSub>
                      </m:oMath>
                    </m:oMathPara>
                  </a14:m>
                  <a:endParaRPr lang="en-US" sz="1400" dirty="0">
                    <a:solidFill>
                      <a:srgbClr val="7030A0"/>
                    </a:solidFill>
                  </a:endParaRPr>
                </a:p>
              </p:txBody>
            </p:sp>
          </mc:Choice>
          <mc:Fallback xmlns="">
            <p:sp>
              <p:nvSpPr>
                <p:cNvPr id="14" name="TextBox 13">
                  <a:extLst>
                    <a:ext uri="{FF2B5EF4-FFF2-40B4-BE49-F238E27FC236}">
                      <a16:creationId xmlns:a16="http://schemas.microsoft.com/office/drawing/2014/main" id="{5FCF6EA0-7019-7658-FA41-DCF47A280001}"/>
                    </a:ext>
                  </a:extLst>
                </p:cNvPr>
                <p:cNvSpPr txBox="1">
                  <a:spLocks noRot="1" noChangeAspect="1" noMove="1" noResize="1" noEditPoints="1" noAdjustHandles="1" noChangeArrowheads="1" noChangeShapeType="1" noTextEdit="1"/>
                </p:cNvSpPr>
                <p:nvPr/>
              </p:nvSpPr>
              <p:spPr>
                <a:xfrm>
                  <a:off x="9692100" y="5375241"/>
                  <a:ext cx="392415" cy="307777"/>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726432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1FF82-8C28-7800-74D1-EB3B16E6EBFF}"/>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6DCD28BC-10AD-F538-2FE9-4B5625D94D0C}"/>
              </a:ext>
            </a:extLst>
          </p:cNvPr>
          <p:cNvPicPr>
            <a:picLocks noChangeAspect="1"/>
          </p:cNvPicPr>
          <p:nvPr/>
        </p:nvPicPr>
        <p:blipFill>
          <a:blip r:embed="rId3"/>
          <a:srcRect l="11431" r="76989"/>
          <a:stretch>
            <a:fillRect/>
          </a:stretch>
        </p:blipFill>
        <p:spPr>
          <a:xfrm>
            <a:off x="10682367" y="3577043"/>
            <a:ext cx="900033" cy="2953512"/>
          </a:xfrm>
          <a:prstGeom prst="rect">
            <a:avLst/>
          </a:prstGeom>
        </p:spPr>
      </p:pic>
      <p:sp>
        <p:nvSpPr>
          <p:cNvPr id="9" name="Slide Number Placeholder 8">
            <a:extLst>
              <a:ext uri="{FF2B5EF4-FFF2-40B4-BE49-F238E27FC236}">
                <a16:creationId xmlns:a16="http://schemas.microsoft.com/office/drawing/2014/main" id="{16AAB6AE-35A9-4944-0202-26CD8AFF6342}"/>
              </a:ext>
            </a:extLst>
          </p:cNvPr>
          <p:cNvSpPr>
            <a:spLocks noGrp="1"/>
          </p:cNvSpPr>
          <p:nvPr>
            <p:ph type="sldNum" sz="quarter" idx="12"/>
          </p:nvPr>
        </p:nvSpPr>
        <p:spPr/>
        <p:txBody>
          <a:bodyPr/>
          <a:lstStyle/>
          <a:p>
            <a:fld id="{387B101D-DD3C-9947-BBAC-237D8FE858E0}" type="slidenum">
              <a:rPr lang="en-US" smtClean="0"/>
              <a:t>46</a:t>
            </a:fld>
            <a:endParaRPr lang="en-US"/>
          </a:p>
        </p:txBody>
      </p:sp>
      <p:sp>
        <p:nvSpPr>
          <p:cNvPr id="8" name="TextBox 7">
            <a:extLst>
              <a:ext uri="{FF2B5EF4-FFF2-40B4-BE49-F238E27FC236}">
                <a16:creationId xmlns:a16="http://schemas.microsoft.com/office/drawing/2014/main" id="{A24A7B8C-FC91-43F0-E736-522541C10A03}"/>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 second congestion measure: mean peer performance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F30A15-FBBE-1D48-1C93-F8D5A74348E6}"/>
                  </a:ext>
                </a:extLst>
              </p:cNvPr>
              <p:cNvSpPr txBox="1"/>
              <p:nvPr/>
            </p:nvSpPr>
            <p:spPr>
              <a:xfrm>
                <a:off x="748480" y="1120883"/>
                <a:ext cx="10605320" cy="217533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leave-one-out mean describes an individual’s peers by averaging the other group members’ performance, excluding their own.</a:t>
                </a:r>
              </a:p>
              <a:p>
                <a:pPr/>
                <a14:m>
                  <m:oMathPara xmlns:m="http://schemas.openxmlformats.org/officeDocument/2006/math">
                    <m:o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𝐶</m:t>
                          </m:r>
                        </m:e>
                        <m:sub>
                          <m:r>
                            <a:rPr lang="en-US" i="1" dirty="0" smtClean="0">
                              <a:solidFill>
                                <a:srgbClr val="0432FF"/>
                              </a:solidFill>
                              <a:latin typeface="Cambria Math" panose="02040503050406030204" pitchFamily="18" charset="0"/>
                            </a:rPr>
                            <m:t>𝐿𝑂𝑂</m:t>
                          </m:r>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𝑖</m:t>
                          </m:r>
                        </m:sub>
                      </m:sSub>
                      <m:r>
                        <a:rPr lang="en-US" i="0" dirty="0" smtClean="0">
                          <a:solidFill>
                            <a:srgbClr val="0432FF"/>
                          </a:solidFill>
                          <a:latin typeface="Cambria Math" panose="02040503050406030204" pitchFamily="18" charset="0"/>
                        </a:rPr>
                        <m:t>=</m:t>
                      </m:r>
                      <m:f>
                        <m:fPr>
                          <m:ctrlPr>
                            <a:rPr lang="en-US" i="0" dirty="0" smtClean="0">
                              <a:solidFill>
                                <a:srgbClr val="0432FF"/>
                              </a:solidFill>
                              <a:latin typeface="Cambria Math" panose="02040503050406030204" pitchFamily="18" charset="0"/>
                            </a:rPr>
                          </m:ctrlPr>
                        </m:fPr>
                        <m:num>
                          <m:r>
                            <a:rPr lang="en-US" i="0" dirty="0" smtClean="0">
                              <a:solidFill>
                                <a:srgbClr val="0432FF"/>
                              </a:solidFill>
                              <a:latin typeface="Cambria Math" panose="02040503050406030204" pitchFamily="18" charset="0"/>
                            </a:rPr>
                            <m:t>1</m:t>
                          </m:r>
                        </m:num>
                        <m:den>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𝑛</m:t>
                              </m:r>
                            </m:e>
                            <m:sub>
                              <m:r>
                                <a:rPr lang="en-US" i="1" dirty="0" smtClean="0">
                                  <a:solidFill>
                                    <a:srgbClr val="0432FF"/>
                                  </a:solidFill>
                                  <a:latin typeface="Cambria Math" panose="02040503050406030204" pitchFamily="18" charset="0"/>
                                </a:rPr>
                                <m:t>𝑔</m:t>
                              </m:r>
                              <m:d>
                                <m:dPr>
                                  <m:ctrlPr>
                                    <a:rPr lang="en-US" i="1" dirty="0" smtClean="0">
                                      <a:solidFill>
                                        <a:srgbClr val="0432FF"/>
                                      </a:solidFill>
                                      <a:latin typeface="Cambria Math" panose="02040503050406030204" pitchFamily="18" charset="0"/>
                                    </a:rPr>
                                  </m:ctrlPr>
                                </m:dPr>
                                <m:e>
                                  <m:r>
                                    <a:rPr lang="en-US" i="1" dirty="0" smtClean="0">
                                      <a:solidFill>
                                        <a:srgbClr val="0432FF"/>
                                      </a:solidFill>
                                      <a:latin typeface="Cambria Math" panose="02040503050406030204" pitchFamily="18" charset="0"/>
                                    </a:rPr>
                                    <m:t>𝑖</m:t>
                                  </m:r>
                                </m:e>
                              </m:d>
                            </m:sub>
                          </m:sSub>
                          <m:r>
                            <a:rPr lang="en-US" i="0" dirty="0" smtClean="0">
                              <a:solidFill>
                                <a:srgbClr val="0432FF"/>
                              </a:solidFill>
                              <a:latin typeface="Cambria Math" panose="02040503050406030204" pitchFamily="18" charset="0"/>
                            </a:rPr>
                            <m:t>−1</m:t>
                          </m:r>
                        </m:den>
                      </m:f>
                      <m:nary>
                        <m:naryPr>
                          <m:chr m:val="∑"/>
                          <m:limLoc m:val="undOvr"/>
                          <m:supHide m:val="on"/>
                          <m:ctrlPr>
                            <a:rPr lang="en-US" i="1" dirty="0" smtClean="0">
                              <a:solidFill>
                                <a:srgbClr val="0432FF"/>
                              </a:solidFill>
                              <a:latin typeface="Cambria Math" panose="02040503050406030204" pitchFamily="18" charset="0"/>
                            </a:rPr>
                          </m:ctrlPr>
                        </m:naryPr>
                        <m:sub>
                          <m:eqArr>
                            <m:eqArrPr>
                              <m:ctrlPr>
                                <a:rPr lang="en-US" i="1" dirty="0" smtClean="0">
                                  <a:solidFill>
                                    <a:srgbClr val="0432FF"/>
                                  </a:solidFill>
                                  <a:latin typeface="Cambria Math" panose="02040503050406030204" pitchFamily="18" charset="0"/>
                                </a:rPr>
                              </m:ctrlPr>
                            </m:eqArrPr>
                            <m:e>
                              <m:r>
                                <a:rPr lang="en-US" i="1" dirty="0" smtClean="0">
                                  <a:solidFill>
                                    <a:srgbClr val="0432FF"/>
                                  </a:solidFill>
                                  <a:latin typeface="Cambria Math" panose="02040503050406030204" pitchFamily="18" charset="0"/>
                                </a:rPr>
                                <m:t>ℎ</m:t>
                              </m:r>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𝑔</m:t>
                              </m:r>
                              <m:d>
                                <m:dPr>
                                  <m:ctrlPr>
                                    <a:rPr lang="en-US" i="1" dirty="0" smtClean="0">
                                      <a:solidFill>
                                        <a:srgbClr val="0432FF"/>
                                      </a:solidFill>
                                      <a:latin typeface="Cambria Math" panose="02040503050406030204" pitchFamily="18" charset="0"/>
                                    </a:rPr>
                                  </m:ctrlPr>
                                </m:dPr>
                                <m:e>
                                  <m:r>
                                    <a:rPr lang="en-US" i="1" dirty="0" smtClean="0">
                                      <a:solidFill>
                                        <a:srgbClr val="0432FF"/>
                                      </a:solidFill>
                                      <a:latin typeface="Cambria Math" panose="02040503050406030204" pitchFamily="18" charset="0"/>
                                    </a:rPr>
                                    <m:t>ℎ</m:t>
                                  </m:r>
                                </m:e>
                              </m:d>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𝑔</m:t>
                              </m:r>
                              <m:d>
                                <m:dPr>
                                  <m:ctrlPr>
                                    <a:rPr lang="en-US" i="1" dirty="0" smtClean="0">
                                      <a:solidFill>
                                        <a:srgbClr val="0432FF"/>
                                      </a:solidFill>
                                      <a:latin typeface="Cambria Math" panose="02040503050406030204" pitchFamily="18" charset="0"/>
                                    </a:rPr>
                                  </m:ctrlPr>
                                </m:dPr>
                                <m:e>
                                  <m:r>
                                    <a:rPr lang="en-US" i="1" dirty="0" smtClean="0">
                                      <a:solidFill>
                                        <a:srgbClr val="0432FF"/>
                                      </a:solidFill>
                                      <a:latin typeface="Cambria Math" panose="02040503050406030204" pitchFamily="18" charset="0"/>
                                    </a:rPr>
                                    <m:t>𝑖</m:t>
                                  </m:r>
                                </m:e>
                              </m:d>
                            </m:e>
                            <m:e>
                              <m:r>
                                <a:rPr lang="en-US" i="1" dirty="0" smtClean="0">
                                  <a:solidFill>
                                    <a:srgbClr val="0432FF"/>
                                  </a:solidFill>
                                  <a:latin typeface="Cambria Math" panose="02040503050406030204" pitchFamily="18" charset="0"/>
                                </a:rPr>
                                <m:t>ℎ</m:t>
                              </m:r>
                              <m:r>
                                <a:rPr lang="en-US" i="0" dirty="0" smtClean="0">
                                  <a:solidFill>
                                    <a:srgbClr val="0432FF"/>
                                  </a:solidFill>
                                  <a:latin typeface="Cambria Math" panose="02040503050406030204" pitchFamily="18" charset="0"/>
                                </a:rPr>
                                <m:t>≠</m:t>
                              </m:r>
                              <m:r>
                                <a:rPr lang="en-US" i="1" dirty="0" smtClean="0">
                                  <a:solidFill>
                                    <a:srgbClr val="0432FF"/>
                                  </a:solidFill>
                                  <a:latin typeface="Cambria Math" panose="02040503050406030204" pitchFamily="18" charset="0"/>
                                </a:rPr>
                                <m:t>𝑖</m:t>
                              </m:r>
                            </m:e>
                          </m:eqArr>
                        </m:sub>
                        <m:sup/>
                        <m:e>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𝐴</m:t>
                              </m:r>
                            </m:e>
                            <m:sub>
                              <m:r>
                                <a:rPr lang="en-US" i="1" dirty="0" smtClean="0">
                                  <a:solidFill>
                                    <a:srgbClr val="0432FF"/>
                                  </a:solidFill>
                                  <a:latin typeface="Cambria Math" panose="02040503050406030204" pitchFamily="18" charset="0"/>
                                </a:rPr>
                                <m:t>ℎ</m:t>
                              </m:r>
                            </m:sub>
                          </m:sSub>
                        </m:e>
                      </m:nary>
                    </m:oMath>
                  </m:oMathPara>
                </a14:m>
                <a:endParaRPr lang="en-US" dirty="0">
                  <a:solidFill>
                    <a:srgbClr val="0432FF"/>
                  </a:solidFill>
                </a:endParaRPr>
              </a:p>
              <a:p>
                <a:pPr marL="285750" indent="-285750">
                  <a:lnSpc>
                    <a:spcPct val="150000"/>
                  </a:lnSpc>
                  <a:buFont typeface="Arial" panose="020B0604020202020204" pitchFamily="34" charset="0"/>
                  <a:buChar char="•"/>
                </a:pPr>
                <a:r>
                  <a:rPr lang="en-US" dirty="0"/>
                  <a:t>Unlike the full-group mean, this measure can differ between teammates.</a:t>
                </a:r>
              </a:p>
            </p:txBody>
          </p:sp>
        </mc:Choice>
        <mc:Fallback xmlns="">
          <p:sp>
            <p:nvSpPr>
              <p:cNvPr id="7" name="TextBox 6">
                <a:extLst>
                  <a:ext uri="{FF2B5EF4-FFF2-40B4-BE49-F238E27FC236}">
                    <a16:creationId xmlns:a16="http://schemas.microsoft.com/office/drawing/2014/main" id="{22F30A15-FBBE-1D48-1C93-F8D5A74348E6}"/>
                  </a:ext>
                </a:extLst>
              </p:cNvPr>
              <p:cNvSpPr txBox="1">
                <a:spLocks noRot="1" noChangeAspect="1" noMove="1" noResize="1" noEditPoints="1" noAdjustHandles="1" noChangeArrowheads="1" noChangeShapeType="1" noTextEdit="1"/>
              </p:cNvSpPr>
              <p:nvPr/>
            </p:nvSpPr>
            <p:spPr>
              <a:xfrm>
                <a:off x="748480" y="1120883"/>
                <a:ext cx="10605320" cy="2175339"/>
              </a:xfrm>
              <a:prstGeom prst="rect">
                <a:avLst/>
              </a:prstGeom>
              <a:blipFill>
                <a:blip r:embed="rId4"/>
                <a:stretch>
                  <a:fillRect l="-478" t="-5814" b="-33721"/>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3162FA17-AFB4-13FF-F267-B7428E0077EF}"/>
              </a:ext>
            </a:extLst>
          </p:cNvPr>
          <p:cNvGrpSpPr/>
          <p:nvPr/>
        </p:nvGrpSpPr>
        <p:grpSpPr>
          <a:xfrm>
            <a:off x="609600" y="3585400"/>
            <a:ext cx="7772400" cy="2953512"/>
            <a:chOff x="609600" y="3585400"/>
            <a:chExt cx="7772400" cy="2953512"/>
          </a:xfrm>
        </p:grpSpPr>
        <p:pic>
          <p:nvPicPr>
            <p:cNvPr id="15" name="Picture 14">
              <a:extLst>
                <a:ext uri="{FF2B5EF4-FFF2-40B4-BE49-F238E27FC236}">
                  <a16:creationId xmlns:a16="http://schemas.microsoft.com/office/drawing/2014/main" id="{C8FCC076-4A4A-CCB3-9C55-E4A0536B5BED}"/>
                </a:ext>
              </a:extLst>
            </p:cNvPr>
            <p:cNvPicPr>
              <a:picLocks noChangeAspect="1"/>
            </p:cNvPicPr>
            <p:nvPr/>
          </p:nvPicPr>
          <p:blipFill>
            <a:blip r:embed="rId3"/>
            <a:stretch>
              <a:fillRect/>
            </a:stretch>
          </p:blipFill>
          <p:spPr>
            <a:xfrm>
              <a:off x="609600" y="3585400"/>
              <a:ext cx="7772400" cy="2953512"/>
            </a:xfrm>
            <a:prstGeom prst="rect">
              <a:avLst/>
            </a:prstGeom>
          </p:spPr>
        </p:pic>
        <p:sp>
          <p:nvSpPr>
            <p:cNvPr id="18" name="Rectangle 17">
              <a:extLst>
                <a:ext uri="{FF2B5EF4-FFF2-40B4-BE49-F238E27FC236}">
                  <a16:creationId xmlns:a16="http://schemas.microsoft.com/office/drawing/2014/main" id="{9A26A679-6C13-D191-CE75-0FCB089A110E}"/>
                </a:ext>
              </a:extLst>
            </p:cNvPr>
            <p:cNvSpPr/>
            <p:nvPr/>
          </p:nvSpPr>
          <p:spPr>
            <a:xfrm>
              <a:off x="1485359" y="3832532"/>
              <a:ext cx="900032" cy="25840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96299F1E-B5C0-4B82-A3DD-F9067123C064}"/>
              </a:ext>
            </a:extLst>
          </p:cNvPr>
          <p:cNvGrpSpPr/>
          <p:nvPr/>
        </p:nvGrpSpPr>
        <p:grpSpPr>
          <a:xfrm>
            <a:off x="847727" y="4779826"/>
            <a:ext cx="8705265" cy="2185262"/>
            <a:chOff x="6096000" y="5434905"/>
            <a:chExt cx="3873017" cy="1024859"/>
          </a:xfrm>
        </p:grpSpPr>
        <p:cxnSp>
          <p:nvCxnSpPr>
            <p:cNvPr id="21" name="Straight Connector 20">
              <a:extLst>
                <a:ext uri="{FF2B5EF4-FFF2-40B4-BE49-F238E27FC236}">
                  <a16:creationId xmlns:a16="http://schemas.microsoft.com/office/drawing/2014/main" id="{998544F6-BC2B-D0BA-350D-8D444CA9C85B}"/>
                </a:ext>
              </a:extLst>
            </p:cNvPr>
            <p:cNvCxnSpPr/>
            <p:nvPr/>
          </p:nvCxnSpPr>
          <p:spPr>
            <a:xfrm>
              <a:off x="6096000" y="5510485"/>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6455C2C-C37C-C430-9836-60628AD52D8B}"/>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22" name="TextBox 21">
                  <a:extLst>
                    <a:ext uri="{FF2B5EF4-FFF2-40B4-BE49-F238E27FC236}">
                      <a16:creationId xmlns:a16="http://schemas.microsoft.com/office/drawing/2014/main" id="{66455C2C-C37C-C430-9836-60628AD52D8B}"/>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5"/>
                  <a:stretch>
                    <a:fillRect l="-1399" t="-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C538113-F4C9-6C21-C951-A1E644CED999}"/>
                    </a:ext>
                  </a:extLst>
                </p:cNvPr>
                <p:cNvSpPr txBox="1"/>
                <p:nvPr/>
              </p:nvSpPr>
              <p:spPr>
                <a:xfrm>
                  <a:off x="9674415" y="5434905"/>
                  <a:ext cx="294602" cy="148764"/>
                </a:xfrm>
                <a:prstGeom prst="rect">
                  <a:avLst/>
                </a:prstGeom>
                <a:noFill/>
              </p:spPr>
              <p:txBody>
                <a:bodyPr wrap="none" rtlCol="0">
                  <a:spAutoFit/>
                </a:bodyPr>
                <a:lstStyle/>
                <a:p>
                  <a:pPr/>
                  <a14:m>
                    <m:oMathPara xmlns:m="http://schemas.openxmlformats.org/officeDocument/2006/math">
                      <m:oMath>
                        <m:sSub>
                          <m:sSubPr>
                            <m:ctrlPr>
                              <a:rPr lang="en-US" sz="1400" b="0" i="1" dirty="0" smtClean="0">
                                <a:solidFill>
                                  <a:srgbClr val="7030A0"/>
                                </a:solidFill>
                                <a:latin typeface="Cambria Math" panose="02040503050406030204" pitchFamily="18" charset="0"/>
                              </a:rPr>
                            </m:ctrlPr>
                          </m:sSubPr>
                          <m:e>
                            <m:r>
                              <a:rPr lang="en-US" sz="1400" b="0" i="1" dirty="0" smtClean="0">
                                <a:solidFill>
                                  <a:srgbClr val="7030A0"/>
                                </a:solidFill>
                                <a:latin typeface="Cambria Math" panose="02040503050406030204" pitchFamily="18" charset="0"/>
                              </a:rPr>
                              <m:t>𝐶</m:t>
                            </m:r>
                          </m:e>
                          <m:sub>
                            <m:r>
                              <a:rPr lang="en-US" sz="1400" b="0" i="1" dirty="0" smtClean="0">
                                <a:solidFill>
                                  <a:srgbClr val="7030A0"/>
                                </a:solidFill>
                                <a:latin typeface="Cambria Math" panose="02040503050406030204" pitchFamily="18" charset="0"/>
                              </a:rPr>
                              <m:t>𝐿𝑂𝑂</m:t>
                            </m:r>
                            <m:r>
                              <a:rPr lang="en-US" sz="1400" b="0" i="1" dirty="0" smtClean="0">
                                <a:solidFill>
                                  <a:srgbClr val="7030A0"/>
                                </a:solidFill>
                                <a:latin typeface="Cambria Math" panose="02040503050406030204" pitchFamily="18" charset="0"/>
                              </a:rPr>
                              <m:t>,</m:t>
                            </m:r>
                            <m:r>
                              <a:rPr lang="en-US" sz="1400" b="0" i="1" dirty="0" smtClean="0">
                                <a:solidFill>
                                  <a:srgbClr val="7030A0"/>
                                </a:solidFill>
                                <a:latin typeface="Cambria Math" panose="02040503050406030204" pitchFamily="18" charset="0"/>
                              </a:rPr>
                              <m:t>𝑖</m:t>
                            </m:r>
                          </m:sub>
                        </m:sSub>
                      </m:oMath>
                    </m:oMathPara>
                  </a14:m>
                  <a:endParaRPr lang="en-US" sz="1400" dirty="0">
                    <a:solidFill>
                      <a:srgbClr val="7030A0"/>
                    </a:solidFill>
                  </a:endParaRPr>
                </a:p>
              </p:txBody>
            </p:sp>
          </mc:Choice>
          <mc:Fallback xmlns="">
            <p:sp>
              <p:nvSpPr>
                <p:cNvPr id="23" name="TextBox 22">
                  <a:extLst>
                    <a:ext uri="{FF2B5EF4-FFF2-40B4-BE49-F238E27FC236}">
                      <a16:creationId xmlns:a16="http://schemas.microsoft.com/office/drawing/2014/main" id="{5C538113-F4C9-6C21-C951-A1E644CED999}"/>
                    </a:ext>
                  </a:extLst>
                </p:cNvPr>
                <p:cNvSpPr txBox="1">
                  <a:spLocks noRot="1" noChangeAspect="1" noMove="1" noResize="1" noEditPoints="1" noAdjustHandles="1" noChangeArrowheads="1" noChangeShapeType="1" noTextEdit="1"/>
                </p:cNvSpPr>
                <p:nvPr/>
              </p:nvSpPr>
              <p:spPr>
                <a:xfrm>
                  <a:off x="9674415" y="5434905"/>
                  <a:ext cx="294602" cy="148764"/>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643ACAD-1F1E-C03E-E614-23B7C8856AA1}"/>
                  </a:ext>
                </a:extLst>
              </p:cNvPr>
              <p:cNvSpPr txBox="1"/>
              <p:nvPr/>
            </p:nvSpPr>
            <p:spPr>
              <a:xfrm>
                <a:off x="10706641" y="3536310"/>
                <a:ext cx="735450" cy="296222"/>
              </a:xfrm>
              <a:prstGeom prst="rect">
                <a:avLst/>
              </a:prstGeom>
              <a:noFill/>
            </p:spPr>
            <p:txBody>
              <a:bodyPr wrap="none" rtlCol="0">
                <a:spAutoFit/>
              </a:bodyPr>
              <a:lstStyle/>
              <a:p>
                <a:r>
                  <a:rPr lang="en-US" dirty="0"/>
                  <a:t>Player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24" name="TextBox 23">
                <a:extLst>
                  <a:ext uri="{FF2B5EF4-FFF2-40B4-BE49-F238E27FC236}">
                    <a16:creationId xmlns:a16="http://schemas.microsoft.com/office/drawing/2014/main" id="{7643ACAD-1F1E-C03E-E614-23B7C8856AA1}"/>
                  </a:ext>
                </a:extLst>
              </p:cNvPr>
              <p:cNvSpPr txBox="1">
                <a:spLocks noRot="1" noChangeAspect="1" noMove="1" noResize="1" noEditPoints="1" noAdjustHandles="1" noChangeArrowheads="1" noChangeShapeType="1" noTextEdit="1"/>
              </p:cNvSpPr>
              <p:nvPr/>
            </p:nvSpPr>
            <p:spPr>
              <a:xfrm>
                <a:off x="10706641" y="3536310"/>
                <a:ext cx="735450" cy="296222"/>
              </a:xfrm>
              <a:prstGeom prst="rect">
                <a:avLst/>
              </a:prstGeom>
              <a:blipFill>
                <a:blip r:embed="rId7"/>
                <a:stretch>
                  <a:fillRect l="-5085" t="-8333" r="-22034" b="-58333"/>
                </a:stretch>
              </a:blipFill>
            </p:spPr>
            <p:txBody>
              <a:bodyPr/>
              <a:lstStyle/>
              <a:p>
                <a:r>
                  <a:rPr lang="en-US">
                    <a:noFill/>
                  </a:rPr>
                  <a:t> </a:t>
                </a:r>
              </a:p>
            </p:txBody>
          </p:sp>
        </mc:Fallback>
      </mc:AlternateContent>
    </p:spTree>
    <p:extLst>
      <p:ext uri="{BB962C8B-B14F-4D97-AF65-F5344CB8AC3E}">
        <p14:creationId xmlns:p14="http://schemas.microsoft.com/office/powerpoint/2010/main" val="2255972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3DE98-8D2B-9C67-57D2-986755A9406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75DBF9D-53D7-65A1-77B8-74ECD3A88EF1}"/>
              </a:ext>
            </a:extLst>
          </p:cNvPr>
          <p:cNvSpPr>
            <a:spLocks noGrp="1"/>
          </p:cNvSpPr>
          <p:nvPr>
            <p:ph type="sldNum" sz="quarter" idx="12"/>
          </p:nvPr>
        </p:nvSpPr>
        <p:spPr/>
        <p:txBody>
          <a:bodyPr/>
          <a:lstStyle/>
          <a:p>
            <a:fld id="{387B101D-DD3C-9947-BBAC-237D8FE858E0}" type="slidenum">
              <a:rPr lang="en-US" smtClean="0"/>
              <a:t>47</a:t>
            </a:fld>
            <a:endParaRPr lang="en-US"/>
          </a:p>
        </p:txBody>
      </p:sp>
      <p:sp>
        <p:nvSpPr>
          <p:cNvPr id="8" name="TextBox 7">
            <a:extLst>
              <a:ext uri="{FF2B5EF4-FFF2-40B4-BE49-F238E27FC236}">
                <a16:creationId xmlns:a16="http://schemas.microsoft.com/office/drawing/2014/main" id="{577BDF0D-9C33-FF3B-C526-E43FBA62F3D5}"/>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Draft outcomes across peer environments</a:t>
            </a:r>
          </a:p>
        </p:txBody>
      </p:sp>
      <p:sp>
        <p:nvSpPr>
          <p:cNvPr id="7" name="Slide Number Placeholder 8">
            <a:extLst>
              <a:ext uri="{FF2B5EF4-FFF2-40B4-BE49-F238E27FC236}">
                <a16:creationId xmlns:a16="http://schemas.microsoft.com/office/drawing/2014/main" id="{D80E9074-7245-2242-5FCE-6E47E5634DC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47</a:t>
            </a:fld>
            <a:endParaRPr lang="en-US"/>
          </a:p>
        </p:txBody>
      </p:sp>
      <p:grpSp>
        <p:nvGrpSpPr>
          <p:cNvPr id="27" name="Group 26">
            <a:extLst>
              <a:ext uri="{FF2B5EF4-FFF2-40B4-BE49-F238E27FC236}">
                <a16:creationId xmlns:a16="http://schemas.microsoft.com/office/drawing/2014/main" id="{3DAA2B29-FE63-A62A-AECD-FDE4175C5084}"/>
              </a:ext>
            </a:extLst>
          </p:cNvPr>
          <p:cNvGrpSpPr/>
          <p:nvPr/>
        </p:nvGrpSpPr>
        <p:grpSpPr>
          <a:xfrm>
            <a:off x="-1335716" y="7808260"/>
            <a:ext cx="5498964" cy="461666"/>
            <a:chOff x="6096000" y="5231014"/>
            <a:chExt cx="3835949" cy="294300"/>
          </a:xfrm>
        </p:grpSpPr>
        <p:cxnSp>
          <p:nvCxnSpPr>
            <p:cNvPr id="28" name="Straight Connector 27">
              <a:extLst>
                <a:ext uri="{FF2B5EF4-FFF2-40B4-BE49-F238E27FC236}">
                  <a16:creationId xmlns:a16="http://schemas.microsoft.com/office/drawing/2014/main" id="{BC6D6C60-DC84-3C6A-759B-41D1DAACCF50}"/>
                </a:ext>
              </a:extLst>
            </p:cNvPr>
            <p:cNvCxnSpPr>
              <a:cxnSpLocks/>
            </p:cNvCxnSpPr>
            <p:nvPr/>
          </p:nvCxnSpPr>
          <p:spPr>
            <a:xfrm flipV="1">
              <a:off x="6096000" y="5361980"/>
              <a:ext cx="3529333" cy="6"/>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B15CCB0-A472-B7A2-BCAD-EBC372D7762B}"/>
                    </a:ext>
                  </a:extLst>
                </p:cNvPr>
                <p:cNvSpPr txBox="1"/>
                <p:nvPr/>
              </p:nvSpPr>
              <p:spPr>
                <a:xfrm>
                  <a:off x="9625333" y="5231014"/>
                  <a:ext cx="306616" cy="294300"/>
                </a:xfrm>
                <a:prstGeom prst="rect">
                  <a:avLst/>
                </a:prstGeom>
                <a:noFill/>
              </p:spPr>
              <p:txBody>
                <a:bodyPr wrap="none" rtlCol="0">
                  <a:spAutoFit/>
                </a:bodyPr>
                <a:lstStyle/>
                <a:p>
                  <a:pPr/>
                  <a14:m>
                    <m:oMathPara xmlns:m="http://schemas.openxmlformats.org/officeDocument/2006/math">
                      <m:oMath>
                        <m:r>
                          <a:rPr lang="en-US" sz="2400" b="1" i="1" dirty="0" smtClean="0">
                            <a:solidFill>
                              <a:srgbClr val="FF0000"/>
                            </a:solidFill>
                            <a:latin typeface="Cambria Math" panose="02040503050406030204" pitchFamily="18" charset="0"/>
                          </a:rPr>
                          <m:t>𝜽</m:t>
                        </m:r>
                      </m:oMath>
                    </m:oMathPara>
                  </a14:m>
                  <a:endParaRPr lang="en-US" sz="1400" b="1" dirty="0">
                    <a:solidFill>
                      <a:srgbClr val="FF0000"/>
                    </a:solidFill>
                  </a:endParaRPr>
                </a:p>
              </p:txBody>
            </p:sp>
          </mc:Choice>
          <mc:Fallback xmlns="">
            <p:sp>
              <p:nvSpPr>
                <p:cNvPr id="30" name="TextBox 29">
                  <a:extLst>
                    <a:ext uri="{FF2B5EF4-FFF2-40B4-BE49-F238E27FC236}">
                      <a16:creationId xmlns:a16="http://schemas.microsoft.com/office/drawing/2014/main" id="{2B15CCB0-A472-B7A2-BCAD-EBC372D7762B}"/>
                    </a:ext>
                  </a:extLst>
                </p:cNvPr>
                <p:cNvSpPr txBox="1">
                  <a:spLocks noRot="1" noChangeAspect="1" noMove="1" noResize="1" noEditPoints="1" noAdjustHandles="1" noChangeArrowheads="1" noChangeShapeType="1" noTextEdit="1"/>
                </p:cNvSpPr>
                <p:nvPr/>
              </p:nvSpPr>
              <p:spPr>
                <a:xfrm>
                  <a:off x="9625333" y="5231014"/>
                  <a:ext cx="306616" cy="294300"/>
                </a:xfrm>
                <a:prstGeom prst="rect">
                  <a:avLst/>
                </a:prstGeom>
                <a:blipFill>
                  <a:blip r:embed="rId2"/>
                  <a:stretch>
                    <a:fillRect/>
                  </a:stretch>
                </a:blipFill>
              </p:spPr>
              <p:txBody>
                <a:bodyPr/>
                <a:lstStyle/>
                <a:p>
                  <a:r>
                    <a:rPr lang="en-US">
                      <a:noFill/>
                    </a:rPr>
                    <a:t> </a:t>
                  </a:r>
                </a:p>
              </p:txBody>
            </p:sp>
          </mc:Fallback>
        </mc:AlternateContent>
      </p:grpSp>
      <p:sp>
        <p:nvSpPr>
          <p:cNvPr id="43" name="TextBox 42">
            <a:extLst>
              <a:ext uri="{FF2B5EF4-FFF2-40B4-BE49-F238E27FC236}">
                <a16:creationId xmlns:a16="http://schemas.microsoft.com/office/drawing/2014/main" id="{2A54E3A7-2B74-D57F-F6EE-7BADEE569270}"/>
              </a:ext>
            </a:extLst>
          </p:cNvPr>
          <p:cNvSpPr txBox="1"/>
          <p:nvPr/>
        </p:nvSpPr>
        <p:spPr>
          <a:xfrm>
            <a:off x="755737" y="1007232"/>
            <a:ext cx="10447344" cy="8833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Across all performance levels, the observed draft rate rises unevenly with teammate performance, then declines in the highest peer-performance bins.</a:t>
            </a:r>
          </a:p>
        </p:txBody>
      </p:sp>
      <p:pic>
        <p:nvPicPr>
          <p:cNvPr id="2" name="Picture 1" descr="Image preview">
            <a:extLst>
              <a:ext uri="{FF2B5EF4-FFF2-40B4-BE49-F238E27FC236}">
                <a16:creationId xmlns:a16="http://schemas.microsoft.com/office/drawing/2014/main" id="{818787F1-650F-9712-F9A2-3E5FC10E5E98}"/>
              </a:ext>
            </a:extLst>
          </p:cNvPr>
          <p:cNvPicPr>
            <a:picLocks noChangeAspect="1"/>
          </p:cNvPicPr>
          <p:nvPr/>
        </p:nvPicPr>
        <p:blipFill>
          <a:blip r:embed="rId3"/>
          <a:stretch>
            <a:fillRect/>
          </a:stretch>
        </p:blipFill>
        <p:spPr>
          <a:xfrm>
            <a:off x="1842715" y="2056321"/>
            <a:ext cx="7772400" cy="4371975"/>
          </a:xfrm>
          <a:prstGeom prst="rect">
            <a:avLst/>
          </a:prstGeom>
        </p:spPr>
      </p:pic>
    </p:spTree>
    <p:extLst>
      <p:ext uri="{BB962C8B-B14F-4D97-AF65-F5344CB8AC3E}">
        <p14:creationId xmlns:p14="http://schemas.microsoft.com/office/powerpoint/2010/main" val="1090350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0D704-AE75-4430-3623-B75C067CF1AC}"/>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96C41B0-0051-B0C8-EC20-8B0E8CABD2D4}"/>
              </a:ext>
            </a:extLst>
          </p:cNvPr>
          <p:cNvSpPr>
            <a:spLocks noGrp="1"/>
          </p:cNvSpPr>
          <p:nvPr>
            <p:ph type="sldNum" sz="quarter" idx="12"/>
          </p:nvPr>
        </p:nvSpPr>
        <p:spPr/>
        <p:txBody>
          <a:bodyPr/>
          <a:lstStyle/>
          <a:p>
            <a:fld id="{387B101D-DD3C-9947-BBAC-237D8FE858E0}" type="slidenum">
              <a:rPr lang="en-US" smtClean="0"/>
              <a:t>48</a:t>
            </a:fld>
            <a:endParaRPr lang="en-US"/>
          </a:p>
        </p:txBody>
      </p:sp>
      <p:sp>
        <p:nvSpPr>
          <p:cNvPr id="8" name="TextBox 7">
            <a:extLst>
              <a:ext uri="{FF2B5EF4-FFF2-40B4-BE49-F238E27FC236}">
                <a16:creationId xmlns:a16="http://schemas.microsoft.com/office/drawing/2014/main" id="{728DEC35-8366-5A16-D853-426455088409}"/>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Comparing players within a high-performance band</a:t>
            </a:r>
          </a:p>
        </p:txBody>
      </p:sp>
      <p:sp>
        <p:nvSpPr>
          <p:cNvPr id="7" name="Slide Number Placeholder 8">
            <a:extLst>
              <a:ext uri="{FF2B5EF4-FFF2-40B4-BE49-F238E27FC236}">
                <a16:creationId xmlns:a16="http://schemas.microsoft.com/office/drawing/2014/main" id="{811C2660-D48E-891B-3C4E-29E82EF57A01}"/>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48</a:t>
            </a:fld>
            <a:endParaRPr lang="en-US"/>
          </a:p>
        </p:txBody>
      </p:sp>
      <p:grpSp>
        <p:nvGrpSpPr>
          <p:cNvPr id="27" name="Group 26">
            <a:extLst>
              <a:ext uri="{FF2B5EF4-FFF2-40B4-BE49-F238E27FC236}">
                <a16:creationId xmlns:a16="http://schemas.microsoft.com/office/drawing/2014/main" id="{776F11D1-D56C-DC87-908F-5CBA17CAF3E2}"/>
              </a:ext>
            </a:extLst>
          </p:cNvPr>
          <p:cNvGrpSpPr/>
          <p:nvPr/>
        </p:nvGrpSpPr>
        <p:grpSpPr>
          <a:xfrm>
            <a:off x="-1335716" y="7808260"/>
            <a:ext cx="5498964" cy="461666"/>
            <a:chOff x="6096000" y="5231014"/>
            <a:chExt cx="3835949" cy="294300"/>
          </a:xfrm>
        </p:grpSpPr>
        <p:cxnSp>
          <p:nvCxnSpPr>
            <p:cNvPr id="28" name="Straight Connector 27">
              <a:extLst>
                <a:ext uri="{FF2B5EF4-FFF2-40B4-BE49-F238E27FC236}">
                  <a16:creationId xmlns:a16="http://schemas.microsoft.com/office/drawing/2014/main" id="{7396A56E-B641-1A01-5696-D4DC35B6C537}"/>
                </a:ext>
              </a:extLst>
            </p:cNvPr>
            <p:cNvCxnSpPr>
              <a:cxnSpLocks/>
            </p:cNvCxnSpPr>
            <p:nvPr/>
          </p:nvCxnSpPr>
          <p:spPr>
            <a:xfrm flipV="1">
              <a:off x="6096000" y="5361980"/>
              <a:ext cx="3529333" cy="6"/>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F80F1F4-4746-DC4A-92A5-F7BD6A7ADFF2}"/>
                    </a:ext>
                  </a:extLst>
                </p:cNvPr>
                <p:cNvSpPr txBox="1"/>
                <p:nvPr/>
              </p:nvSpPr>
              <p:spPr>
                <a:xfrm>
                  <a:off x="9625333" y="5231014"/>
                  <a:ext cx="306616" cy="294300"/>
                </a:xfrm>
                <a:prstGeom prst="rect">
                  <a:avLst/>
                </a:prstGeom>
                <a:noFill/>
              </p:spPr>
              <p:txBody>
                <a:bodyPr wrap="none" rtlCol="0">
                  <a:spAutoFit/>
                </a:bodyPr>
                <a:lstStyle/>
                <a:p>
                  <a:pPr/>
                  <a14:m>
                    <m:oMathPara xmlns:m="http://schemas.openxmlformats.org/officeDocument/2006/math">
                      <m:oMath>
                        <m:r>
                          <a:rPr lang="en-US" sz="2400" b="1" i="1" dirty="0" smtClean="0">
                            <a:solidFill>
                              <a:srgbClr val="FF0000"/>
                            </a:solidFill>
                            <a:latin typeface="Cambria Math" panose="02040503050406030204" pitchFamily="18" charset="0"/>
                          </a:rPr>
                          <m:t>𝜽</m:t>
                        </m:r>
                      </m:oMath>
                    </m:oMathPara>
                  </a14:m>
                  <a:endParaRPr lang="en-US" sz="1400" b="1" dirty="0">
                    <a:solidFill>
                      <a:srgbClr val="FF0000"/>
                    </a:solidFill>
                  </a:endParaRPr>
                </a:p>
              </p:txBody>
            </p:sp>
          </mc:Choice>
          <mc:Fallback xmlns="">
            <p:sp>
              <p:nvSpPr>
                <p:cNvPr id="30" name="TextBox 29">
                  <a:extLst>
                    <a:ext uri="{FF2B5EF4-FFF2-40B4-BE49-F238E27FC236}">
                      <a16:creationId xmlns:a16="http://schemas.microsoft.com/office/drawing/2014/main" id="{8F80F1F4-4746-DC4A-92A5-F7BD6A7ADFF2}"/>
                    </a:ext>
                  </a:extLst>
                </p:cNvPr>
                <p:cNvSpPr txBox="1">
                  <a:spLocks noRot="1" noChangeAspect="1" noMove="1" noResize="1" noEditPoints="1" noAdjustHandles="1" noChangeArrowheads="1" noChangeShapeType="1" noTextEdit="1"/>
                </p:cNvSpPr>
                <p:nvPr/>
              </p:nvSpPr>
              <p:spPr>
                <a:xfrm>
                  <a:off x="9625333" y="5231014"/>
                  <a:ext cx="306616" cy="294300"/>
                </a:xfrm>
                <a:prstGeom prst="rect">
                  <a:avLst/>
                </a:prstGeom>
                <a:blipFill>
                  <a:blip r:embed="rId2"/>
                  <a:stretch>
                    <a:fillRect/>
                  </a:stretch>
                </a:blipFill>
              </p:spPr>
              <p:txBody>
                <a:bodyPr/>
                <a:lstStyle/>
                <a:p>
                  <a:r>
                    <a:rPr lang="en-US">
                      <a:noFill/>
                    </a:rPr>
                    <a:t> </a:t>
                  </a:r>
                </a:p>
              </p:txBody>
            </p:sp>
          </mc:Fallback>
        </mc:AlternateContent>
      </p:grpSp>
      <p:sp>
        <p:nvSpPr>
          <p:cNvPr id="43" name="TextBox 42">
            <a:extLst>
              <a:ext uri="{FF2B5EF4-FFF2-40B4-BE49-F238E27FC236}">
                <a16:creationId xmlns:a16="http://schemas.microsoft.com/office/drawing/2014/main" id="{11143C94-AA22-8164-61CC-66A0ABEA6102}"/>
              </a:ext>
            </a:extLst>
          </p:cNvPr>
          <p:cNvSpPr txBox="1"/>
          <p:nvPr/>
        </p:nvSpPr>
        <p:spPr>
          <a:xfrm>
            <a:off x="755737" y="1007232"/>
            <a:ext cx="10447344" cy="8833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Among players with own-performance z scores between 2 and 3, stronger teammates are not consistently associated with higher draft rates.</a:t>
            </a:r>
          </a:p>
        </p:txBody>
      </p:sp>
      <p:pic>
        <p:nvPicPr>
          <p:cNvPr id="6" name="Picture 5">
            <a:extLst>
              <a:ext uri="{FF2B5EF4-FFF2-40B4-BE49-F238E27FC236}">
                <a16:creationId xmlns:a16="http://schemas.microsoft.com/office/drawing/2014/main" id="{316C2BA5-79DA-4F24-3922-DDFB7A51BE41}"/>
              </a:ext>
            </a:extLst>
          </p:cNvPr>
          <p:cNvPicPr>
            <a:picLocks noChangeAspect="1"/>
          </p:cNvPicPr>
          <p:nvPr/>
        </p:nvPicPr>
        <p:blipFill>
          <a:blip r:embed="rId3"/>
          <a:srcRect/>
          <a:stretch/>
        </p:blipFill>
        <p:spPr>
          <a:xfrm>
            <a:off x="1842715" y="2056321"/>
            <a:ext cx="7772400" cy="4371975"/>
          </a:xfrm>
          <a:prstGeom prst="rect">
            <a:avLst/>
          </a:prstGeom>
        </p:spPr>
      </p:pic>
    </p:spTree>
    <p:extLst>
      <p:ext uri="{BB962C8B-B14F-4D97-AF65-F5344CB8AC3E}">
        <p14:creationId xmlns:p14="http://schemas.microsoft.com/office/powerpoint/2010/main" val="1084163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18E7B-D393-947A-1E56-A63B300543FF}"/>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6E810D3-6021-50DB-988B-46AA37EFFD00}"/>
              </a:ext>
            </a:extLst>
          </p:cNvPr>
          <p:cNvSpPr>
            <a:spLocks noGrp="1"/>
          </p:cNvSpPr>
          <p:nvPr>
            <p:ph type="sldNum" sz="quarter" idx="12"/>
          </p:nvPr>
        </p:nvSpPr>
        <p:spPr/>
        <p:txBody>
          <a:bodyPr/>
          <a:lstStyle/>
          <a:p>
            <a:fld id="{387B101D-DD3C-9947-BBAC-237D8FE858E0}" type="slidenum">
              <a:rPr lang="en-US" smtClean="0"/>
              <a:t>49</a:t>
            </a:fld>
            <a:endParaRPr lang="en-US"/>
          </a:p>
        </p:txBody>
      </p:sp>
      <p:sp>
        <p:nvSpPr>
          <p:cNvPr id="8" name="TextBox 7">
            <a:extLst>
              <a:ext uri="{FF2B5EF4-FFF2-40B4-BE49-F238E27FC236}">
                <a16:creationId xmlns:a16="http://schemas.microsoft.com/office/drawing/2014/main" id="{F39CF500-A3B3-A8E8-55EE-CCA38951C96D}"/>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 downturn among the strongest peer environments.</a:t>
            </a:r>
          </a:p>
        </p:txBody>
      </p:sp>
      <p:sp>
        <p:nvSpPr>
          <p:cNvPr id="7" name="Slide Number Placeholder 8">
            <a:extLst>
              <a:ext uri="{FF2B5EF4-FFF2-40B4-BE49-F238E27FC236}">
                <a16:creationId xmlns:a16="http://schemas.microsoft.com/office/drawing/2014/main" id="{620F3D8B-84B7-B250-7F45-0DE9C5A4A6E1}"/>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49</a:t>
            </a:fld>
            <a:endParaRPr lang="en-US"/>
          </a:p>
        </p:txBody>
      </p:sp>
      <p:grpSp>
        <p:nvGrpSpPr>
          <p:cNvPr id="27" name="Group 26">
            <a:extLst>
              <a:ext uri="{FF2B5EF4-FFF2-40B4-BE49-F238E27FC236}">
                <a16:creationId xmlns:a16="http://schemas.microsoft.com/office/drawing/2014/main" id="{E99C525A-B667-E393-A396-A8216D601021}"/>
              </a:ext>
            </a:extLst>
          </p:cNvPr>
          <p:cNvGrpSpPr/>
          <p:nvPr/>
        </p:nvGrpSpPr>
        <p:grpSpPr>
          <a:xfrm>
            <a:off x="-1335716" y="7808260"/>
            <a:ext cx="5498964" cy="461666"/>
            <a:chOff x="6096000" y="5231014"/>
            <a:chExt cx="3835949" cy="294300"/>
          </a:xfrm>
        </p:grpSpPr>
        <p:cxnSp>
          <p:nvCxnSpPr>
            <p:cNvPr id="28" name="Straight Connector 27">
              <a:extLst>
                <a:ext uri="{FF2B5EF4-FFF2-40B4-BE49-F238E27FC236}">
                  <a16:creationId xmlns:a16="http://schemas.microsoft.com/office/drawing/2014/main" id="{7CFB12D9-FF7D-56CC-AA71-E97DD3AD0FDE}"/>
                </a:ext>
              </a:extLst>
            </p:cNvPr>
            <p:cNvCxnSpPr>
              <a:cxnSpLocks/>
            </p:cNvCxnSpPr>
            <p:nvPr/>
          </p:nvCxnSpPr>
          <p:spPr>
            <a:xfrm flipV="1">
              <a:off x="6096000" y="5361980"/>
              <a:ext cx="3529333" cy="6"/>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513C557-2BAE-CFB1-BBBC-D6348D65D57E}"/>
                    </a:ext>
                  </a:extLst>
                </p:cNvPr>
                <p:cNvSpPr txBox="1"/>
                <p:nvPr/>
              </p:nvSpPr>
              <p:spPr>
                <a:xfrm>
                  <a:off x="9625333" y="5231014"/>
                  <a:ext cx="306616" cy="294300"/>
                </a:xfrm>
                <a:prstGeom prst="rect">
                  <a:avLst/>
                </a:prstGeom>
                <a:noFill/>
              </p:spPr>
              <p:txBody>
                <a:bodyPr wrap="none" rtlCol="0">
                  <a:spAutoFit/>
                </a:bodyPr>
                <a:lstStyle/>
                <a:p>
                  <a:pPr/>
                  <a14:m>
                    <m:oMathPara xmlns:m="http://schemas.openxmlformats.org/officeDocument/2006/math">
                      <m:oMath>
                        <m:r>
                          <a:rPr lang="en-US" sz="2400" b="1" i="1" dirty="0" smtClean="0">
                            <a:solidFill>
                              <a:srgbClr val="FF0000"/>
                            </a:solidFill>
                            <a:latin typeface="Cambria Math" panose="02040503050406030204" pitchFamily="18" charset="0"/>
                          </a:rPr>
                          <m:t>𝜽</m:t>
                        </m:r>
                      </m:oMath>
                    </m:oMathPara>
                  </a14:m>
                  <a:endParaRPr lang="en-US" sz="1400" b="1" dirty="0">
                    <a:solidFill>
                      <a:srgbClr val="FF0000"/>
                    </a:solidFill>
                  </a:endParaRPr>
                </a:p>
              </p:txBody>
            </p:sp>
          </mc:Choice>
          <mc:Fallback xmlns="">
            <p:sp>
              <p:nvSpPr>
                <p:cNvPr id="30" name="TextBox 29">
                  <a:extLst>
                    <a:ext uri="{FF2B5EF4-FFF2-40B4-BE49-F238E27FC236}">
                      <a16:creationId xmlns:a16="http://schemas.microsoft.com/office/drawing/2014/main" id="{A513C557-2BAE-CFB1-BBBC-D6348D65D57E}"/>
                    </a:ext>
                  </a:extLst>
                </p:cNvPr>
                <p:cNvSpPr txBox="1">
                  <a:spLocks noRot="1" noChangeAspect="1" noMove="1" noResize="1" noEditPoints="1" noAdjustHandles="1" noChangeArrowheads="1" noChangeShapeType="1" noTextEdit="1"/>
                </p:cNvSpPr>
                <p:nvPr/>
              </p:nvSpPr>
              <p:spPr>
                <a:xfrm>
                  <a:off x="9625333" y="5231014"/>
                  <a:ext cx="306616" cy="294300"/>
                </a:xfrm>
                <a:prstGeom prst="rect">
                  <a:avLst/>
                </a:prstGeom>
                <a:blipFill>
                  <a:blip r:embed="rId2"/>
                  <a:stretch>
                    <a:fillRect/>
                  </a:stretch>
                </a:blipFill>
              </p:spPr>
              <p:txBody>
                <a:bodyPr/>
                <a:lstStyle/>
                <a:p>
                  <a:r>
                    <a:rPr lang="en-US">
                      <a:noFill/>
                    </a:rPr>
                    <a:t> </a:t>
                  </a:r>
                </a:p>
              </p:txBody>
            </p:sp>
          </mc:Fallback>
        </mc:AlternateContent>
      </p:grpSp>
      <p:sp>
        <p:nvSpPr>
          <p:cNvPr id="43" name="TextBox 42">
            <a:extLst>
              <a:ext uri="{FF2B5EF4-FFF2-40B4-BE49-F238E27FC236}">
                <a16:creationId xmlns:a16="http://schemas.microsoft.com/office/drawing/2014/main" id="{2D675650-959A-F2CB-CDB3-BA4FF61FEA03}"/>
              </a:ext>
            </a:extLst>
          </p:cNvPr>
          <p:cNvSpPr txBox="1"/>
          <p:nvPr/>
        </p:nvSpPr>
        <p:spPr>
          <a:xfrm>
            <a:off x="755737" y="1007232"/>
            <a:ext cx="10447344" cy="744884"/>
          </a:xfrm>
          <a:prstGeom prst="rect">
            <a:avLst/>
          </a:prstGeom>
          <a:noFill/>
        </p:spPr>
        <p:txBody>
          <a:bodyPr wrap="square" rtlCol="0">
            <a:spAutoFit/>
          </a:bodyPr>
          <a:lstStyle/>
          <a:p>
            <a:pPr marL="285750" indent="-285750">
              <a:lnSpc>
                <a:spcPct val="100000"/>
              </a:lnSpc>
              <a:buFont typeface="Arial" panose="020B0604020202020204" pitchFamily="34" charset="0"/>
              <a:buChar char="•"/>
            </a:pPr>
            <a:r>
              <a:rPr lang="en-US" dirty="0"/>
              <a:t>Among the top 7% of performers, the observed draft rate falls in the highest peer-performance bins.</a:t>
            </a:r>
          </a:p>
          <a:p>
            <a:pPr marL="285750" indent="-285750">
              <a:lnSpc>
                <a:spcPct val="150000"/>
              </a:lnSpc>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7C612714-7924-052B-E697-ADAEC7DE21BB}"/>
              </a:ext>
            </a:extLst>
          </p:cNvPr>
          <p:cNvPicPr>
            <a:picLocks noChangeAspect="1"/>
          </p:cNvPicPr>
          <p:nvPr/>
        </p:nvPicPr>
        <p:blipFill>
          <a:blip r:embed="rId3"/>
          <a:srcRect/>
          <a:stretch/>
        </p:blipFill>
        <p:spPr>
          <a:xfrm>
            <a:off x="1842715" y="2056321"/>
            <a:ext cx="7772400" cy="4371975"/>
          </a:xfrm>
          <a:prstGeom prst="rect">
            <a:avLst/>
          </a:prstGeom>
        </p:spPr>
      </p:pic>
    </p:spTree>
    <p:extLst>
      <p:ext uri="{BB962C8B-B14F-4D97-AF65-F5344CB8AC3E}">
        <p14:creationId xmlns:p14="http://schemas.microsoft.com/office/powerpoint/2010/main" val="609056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82CE-CB31-9786-CCD7-BC06F30EA574}"/>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BBA977E-7157-7CD5-AB24-B740F3B4562D}"/>
              </a:ext>
            </a:extLst>
          </p:cNvPr>
          <p:cNvSpPr>
            <a:spLocks noGrp="1"/>
          </p:cNvSpPr>
          <p:nvPr>
            <p:ph type="sldNum" sz="quarter" idx="12"/>
          </p:nvPr>
        </p:nvSpPr>
        <p:spPr/>
        <p:txBody>
          <a:bodyPr/>
          <a:lstStyle/>
          <a:p>
            <a:fld id="{387B101D-DD3C-9947-BBAC-237D8FE858E0}" type="slidenum">
              <a:rPr lang="en-US" smtClean="0"/>
              <a:t>50</a:t>
            </a:fld>
            <a:endParaRPr lang="en-US"/>
          </a:p>
        </p:txBody>
      </p:sp>
      <p:sp>
        <p:nvSpPr>
          <p:cNvPr id="8" name="TextBox 7">
            <a:extLst>
              <a:ext uri="{FF2B5EF4-FFF2-40B4-BE49-F238E27FC236}">
                <a16:creationId xmlns:a16="http://schemas.microsoft.com/office/drawing/2014/main" id="{C5C23AB1-EFB4-4771-89B0-F8FF00D6373A}"/>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The same group average can conceal different competition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2177E5-599B-1A36-FFF5-7D3C1CE8F918}"/>
                  </a:ext>
                </a:extLst>
              </p:cNvPr>
              <p:cNvSpPr txBox="1"/>
              <p:nvPr/>
            </p:nvSpPr>
            <p:spPr>
              <a:xfrm>
                <a:off x="748480" y="1120883"/>
                <a:ext cx="10125154" cy="2545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Two teams can have the same average performance but different numbers of credible competitors.</a:t>
                </a:r>
              </a:p>
              <a:p>
                <a:pPr marL="285750" indent="-285750">
                  <a:lnSpc>
                    <a:spcPct val="150000"/>
                  </a:lnSpc>
                  <a:buFont typeface="Arial" panose="020B0604020202020204" pitchFamily="34" charset="0"/>
                  <a:buChar char="•"/>
                </a:pPr>
                <a:r>
                  <a:rPr lang="en-US" dirty="0"/>
                  <a:t>Our third congestion measure, </a:t>
                </a:r>
                <a:r>
                  <a:rPr lang="en-US" b="1" dirty="0"/>
                  <a:t>roster pressure</a:t>
                </a:r>
                <a:r>
                  <a:rPr lang="en-US" dirty="0"/>
                  <a:t>, accounts for how competitively relevant each member is.</a:t>
                </a:r>
              </a:p>
              <a:p>
                <a:pPr marL="285750" indent="-285750">
                  <a:lnSpc>
                    <a:spcPct val="150000"/>
                  </a:lnSpc>
                  <a:buFont typeface="Arial" panose="020B0604020202020204" pitchFamily="34" charset="0"/>
                  <a:buChar char="•"/>
                </a:pPr>
                <a:r>
                  <a:rPr lang="en-US" dirty="0"/>
                  <a:t>Here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3</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5</m:t>
                        </m:r>
                      </m:sub>
                    </m:sSub>
                  </m:oMath>
                </a14:m>
                <a:r>
                  <a:rPr lang="en-US" dirty="0"/>
                  <a:t>, but clearly the similar players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ℎ</m:t>
                    </m:r>
                  </m:oMath>
                </a14:m>
                <a:r>
                  <a:rPr lang="en-US" dirty="0"/>
                  <a:t> indicated on both teams face different competition.</a:t>
                </a:r>
              </a:p>
            </p:txBody>
          </p:sp>
        </mc:Choice>
        <mc:Fallback xmlns="">
          <p:sp>
            <p:nvSpPr>
              <p:cNvPr id="7" name="TextBox 6">
                <a:extLst>
                  <a:ext uri="{FF2B5EF4-FFF2-40B4-BE49-F238E27FC236}">
                    <a16:creationId xmlns:a16="http://schemas.microsoft.com/office/drawing/2014/main" id="{622177E5-599B-1A36-FFF5-7D3C1CE8F918}"/>
                  </a:ext>
                </a:extLst>
              </p:cNvPr>
              <p:cNvSpPr txBox="1">
                <a:spLocks noRot="1" noChangeAspect="1" noMove="1" noResize="1" noEditPoints="1" noAdjustHandles="1" noChangeArrowheads="1" noChangeShapeType="1" noTextEdit="1"/>
              </p:cNvSpPr>
              <p:nvPr/>
            </p:nvSpPr>
            <p:spPr>
              <a:xfrm>
                <a:off x="748480" y="1120883"/>
                <a:ext cx="10125154" cy="2545377"/>
              </a:xfrm>
              <a:prstGeom prst="rect">
                <a:avLst/>
              </a:prstGeom>
              <a:blipFill>
                <a:blip r:embed="rId2"/>
                <a:stretch>
                  <a:fillRect l="-501" b="-2985"/>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78ADCC74-DFA4-B6C7-5B94-ED69F5065AC4}"/>
              </a:ext>
            </a:extLst>
          </p:cNvPr>
          <p:cNvPicPr>
            <a:picLocks noChangeAspect="1"/>
          </p:cNvPicPr>
          <p:nvPr/>
        </p:nvPicPr>
        <p:blipFill>
          <a:blip r:embed="rId3"/>
          <a:stretch>
            <a:fillRect/>
          </a:stretch>
        </p:blipFill>
        <p:spPr>
          <a:xfrm>
            <a:off x="206477" y="4262513"/>
            <a:ext cx="5201958" cy="1976744"/>
          </a:xfrm>
          <a:prstGeom prst="rect">
            <a:avLst/>
          </a:prstGeom>
        </p:spPr>
      </p:pic>
      <p:pic>
        <p:nvPicPr>
          <p:cNvPr id="2" name="Picture 1">
            <a:extLst>
              <a:ext uri="{FF2B5EF4-FFF2-40B4-BE49-F238E27FC236}">
                <a16:creationId xmlns:a16="http://schemas.microsoft.com/office/drawing/2014/main" id="{97BC5AC2-EFEE-5973-6D80-2DE4EB5AE33C}"/>
              </a:ext>
            </a:extLst>
          </p:cNvPr>
          <p:cNvPicPr>
            <a:picLocks noChangeAspect="1"/>
          </p:cNvPicPr>
          <p:nvPr/>
        </p:nvPicPr>
        <p:blipFill>
          <a:blip r:embed="rId4"/>
          <a:srcRect/>
          <a:stretch/>
        </p:blipFill>
        <p:spPr>
          <a:xfrm>
            <a:off x="6248399" y="4272345"/>
            <a:ext cx="5201957" cy="1976744"/>
          </a:xfrm>
          <a:prstGeom prst="rect">
            <a:avLst/>
          </a:prstGeom>
        </p:spPr>
      </p:pic>
      <p:grpSp>
        <p:nvGrpSpPr>
          <p:cNvPr id="3" name="Group 2">
            <a:extLst>
              <a:ext uri="{FF2B5EF4-FFF2-40B4-BE49-F238E27FC236}">
                <a16:creationId xmlns:a16="http://schemas.microsoft.com/office/drawing/2014/main" id="{6C90F952-88FC-2263-5194-5A6DFB008EB9}"/>
              </a:ext>
            </a:extLst>
          </p:cNvPr>
          <p:cNvGrpSpPr/>
          <p:nvPr/>
        </p:nvGrpSpPr>
        <p:grpSpPr>
          <a:xfrm>
            <a:off x="521110" y="4777237"/>
            <a:ext cx="5309419" cy="1714380"/>
            <a:chOff x="6096000" y="5375241"/>
            <a:chExt cx="3988515" cy="1084523"/>
          </a:xfrm>
        </p:grpSpPr>
        <p:cxnSp>
          <p:nvCxnSpPr>
            <p:cNvPr id="4" name="Straight Connector 3">
              <a:extLst>
                <a:ext uri="{FF2B5EF4-FFF2-40B4-BE49-F238E27FC236}">
                  <a16:creationId xmlns:a16="http://schemas.microsoft.com/office/drawing/2014/main" id="{2F9FE469-1611-9A34-6A60-C2135A6B7E4F}"/>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3845D8-B11F-9AF0-AB2C-E7CFC4B0203F}"/>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5" name="TextBox 4">
                  <a:extLst>
                    <a:ext uri="{FF2B5EF4-FFF2-40B4-BE49-F238E27FC236}">
                      <a16:creationId xmlns:a16="http://schemas.microsoft.com/office/drawing/2014/main" id="{EC3845D8-B11F-9AF0-AB2C-E7CFC4B0203F}"/>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5"/>
                  <a:stretch>
                    <a:fillRect l="-1163" t="-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3ACE0F7-6A4C-BA5B-79D3-FBBB8D2CB0D5}"/>
                    </a:ext>
                  </a:extLst>
                </p:cNvPr>
                <p:cNvSpPr txBox="1"/>
                <p:nvPr/>
              </p:nvSpPr>
              <p:spPr>
                <a:xfrm>
                  <a:off x="9692100" y="5375241"/>
                  <a:ext cx="392415" cy="307777"/>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i="0" dirty="0" smtClean="0">
                                <a:solidFill>
                                  <a:srgbClr val="7030A0"/>
                                </a:solidFill>
                                <a:latin typeface="Cambria Math" panose="02040503050406030204" pitchFamily="18" charset="0"/>
                              </a:rPr>
                              <m:t>5</m:t>
                            </m:r>
                          </m:sub>
                        </m:sSub>
                      </m:oMath>
                    </m:oMathPara>
                  </a14:m>
                  <a:endParaRPr lang="en-US" sz="1400" dirty="0">
                    <a:solidFill>
                      <a:srgbClr val="7030A0"/>
                    </a:solidFill>
                  </a:endParaRPr>
                </a:p>
              </p:txBody>
            </p:sp>
          </mc:Choice>
          <mc:Fallback xmlns="">
            <p:sp>
              <p:nvSpPr>
                <p:cNvPr id="6" name="TextBox 5">
                  <a:extLst>
                    <a:ext uri="{FF2B5EF4-FFF2-40B4-BE49-F238E27FC236}">
                      <a16:creationId xmlns:a16="http://schemas.microsoft.com/office/drawing/2014/main" id="{A3ACE0F7-6A4C-BA5B-79D3-FBBB8D2CB0D5}"/>
                    </a:ext>
                  </a:extLst>
                </p:cNvPr>
                <p:cNvSpPr txBox="1">
                  <a:spLocks noRot="1" noChangeAspect="1" noMove="1" noResize="1" noEditPoints="1" noAdjustHandles="1" noChangeArrowheads="1" noChangeShapeType="1" noTextEdit="1"/>
                </p:cNvSpPr>
                <p:nvPr/>
              </p:nvSpPr>
              <p:spPr>
                <a:xfrm>
                  <a:off x="9692100" y="5375241"/>
                  <a:ext cx="392415" cy="307777"/>
                </a:xfrm>
                <a:prstGeom prst="rect">
                  <a:avLst/>
                </a:prstGeom>
                <a:blipFill>
                  <a:blip r:embed="rId6"/>
                  <a:stretch>
                    <a:fillRect/>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01338499-8AE5-0730-B72E-E7F1278BE74D}"/>
              </a:ext>
            </a:extLst>
          </p:cNvPr>
          <p:cNvGrpSpPr/>
          <p:nvPr/>
        </p:nvGrpSpPr>
        <p:grpSpPr>
          <a:xfrm>
            <a:off x="6670492" y="4777237"/>
            <a:ext cx="5179460" cy="1533965"/>
            <a:chOff x="6096000" y="5375241"/>
            <a:chExt cx="3890888" cy="971711"/>
          </a:xfrm>
        </p:grpSpPr>
        <p:cxnSp>
          <p:nvCxnSpPr>
            <p:cNvPr id="11" name="Straight Connector 10">
              <a:extLst>
                <a:ext uri="{FF2B5EF4-FFF2-40B4-BE49-F238E27FC236}">
                  <a16:creationId xmlns:a16="http://schemas.microsoft.com/office/drawing/2014/main" id="{A6689062-212D-C0E8-7D49-CA4008046C5D}"/>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55DAC1-3531-2CA5-39C2-586D60A6EDB6}"/>
                    </a:ext>
                  </a:extLst>
                </p:cNvPr>
                <p:cNvSpPr txBox="1"/>
                <p:nvPr/>
              </p:nvSpPr>
              <p:spPr>
                <a:xfrm>
                  <a:off x="7325032" y="6151987"/>
                  <a:ext cx="605328" cy="194965"/>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b="0" i="1" smtClean="0">
                          <a:solidFill>
                            <a:srgbClr val="7030A0"/>
                          </a:solidFill>
                          <a:latin typeface="Cambria Math" panose="02040503050406030204" pitchFamily="18" charset="0"/>
                        </a:rPr>
                        <m:t>3</m:t>
                      </m:r>
                    </m:oMath>
                  </a14:m>
                  <a:endParaRPr lang="en-US" sz="1400" dirty="0">
                    <a:solidFill>
                      <a:srgbClr val="7030A0"/>
                    </a:solidFill>
                  </a:endParaRPr>
                </a:p>
              </p:txBody>
            </p:sp>
          </mc:Choice>
          <mc:Fallback xmlns="">
            <p:sp>
              <p:nvSpPr>
                <p:cNvPr id="12" name="TextBox 11">
                  <a:extLst>
                    <a:ext uri="{FF2B5EF4-FFF2-40B4-BE49-F238E27FC236}">
                      <a16:creationId xmlns:a16="http://schemas.microsoft.com/office/drawing/2014/main" id="{E955DAC1-3531-2CA5-39C2-586D60A6EDB6}"/>
                    </a:ext>
                  </a:extLst>
                </p:cNvPr>
                <p:cNvSpPr txBox="1">
                  <a:spLocks noRot="1" noChangeAspect="1" noMove="1" noResize="1" noEditPoints="1" noAdjustHandles="1" noChangeArrowheads="1" noChangeShapeType="1" noTextEdit="1"/>
                </p:cNvSpPr>
                <p:nvPr/>
              </p:nvSpPr>
              <p:spPr>
                <a:xfrm>
                  <a:off x="7325032" y="6151987"/>
                  <a:ext cx="605328" cy="194965"/>
                </a:xfrm>
                <a:prstGeom prst="rect">
                  <a:avLst/>
                </a:prstGeom>
                <a:blipFill>
                  <a:blip r:embed="rId7"/>
                  <a:stretch>
                    <a:fillRect l="-3125" t="-4000" b="-2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CA05E4B-2482-4993-A5A4-D7650E233355}"/>
                    </a:ext>
                  </a:extLst>
                </p:cNvPr>
                <p:cNvSpPr txBox="1"/>
                <p:nvPr/>
              </p:nvSpPr>
              <p:spPr>
                <a:xfrm>
                  <a:off x="9692100" y="5375241"/>
                  <a:ext cx="294788" cy="194965"/>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b="0" i="0" dirty="0" smtClean="0">
                                <a:solidFill>
                                  <a:srgbClr val="7030A0"/>
                                </a:solidFill>
                                <a:latin typeface="Cambria Math" panose="02040503050406030204" pitchFamily="18" charset="0"/>
                              </a:rPr>
                              <m:t>3</m:t>
                            </m:r>
                          </m:sub>
                        </m:sSub>
                      </m:oMath>
                    </m:oMathPara>
                  </a14:m>
                  <a:endParaRPr lang="en-US" sz="1400" dirty="0">
                    <a:solidFill>
                      <a:srgbClr val="7030A0"/>
                    </a:solidFill>
                  </a:endParaRPr>
                </a:p>
              </p:txBody>
            </p:sp>
          </mc:Choice>
          <mc:Fallback xmlns="">
            <p:sp>
              <p:nvSpPr>
                <p:cNvPr id="13" name="TextBox 12">
                  <a:extLst>
                    <a:ext uri="{FF2B5EF4-FFF2-40B4-BE49-F238E27FC236}">
                      <a16:creationId xmlns:a16="http://schemas.microsoft.com/office/drawing/2014/main" id="{ECA05E4B-2482-4993-A5A4-D7650E233355}"/>
                    </a:ext>
                  </a:extLst>
                </p:cNvPr>
                <p:cNvSpPr txBox="1">
                  <a:spLocks noRot="1" noChangeAspect="1" noMove="1" noResize="1" noEditPoints="1" noAdjustHandles="1" noChangeArrowheads="1" noChangeShapeType="1" noTextEdit="1"/>
                </p:cNvSpPr>
                <p:nvPr/>
              </p:nvSpPr>
              <p:spPr>
                <a:xfrm>
                  <a:off x="9692100" y="5375241"/>
                  <a:ext cx="294788" cy="194965"/>
                </a:xfrm>
                <a:prstGeom prst="rect">
                  <a:avLst/>
                </a:prstGeom>
                <a:blipFill>
                  <a:blip r:embed="rId8"/>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770AF998-CD0A-7454-89AB-E2A159BE2B14}"/>
              </a:ext>
            </a:extLst>
          </p:cNvPr>
          <p:cNvCxnSpPr>
            <a:cxnSpLocks/>
          </p:cNvCxnSpPr>
          <p:nvPr/>
        </p:nvCxnSpPr>
        <p:spPr>
          <a:xfrm flipH="1">
            <a:off x="4080387" y="4010153"/>
            <a:ext cx="1750142" cy="591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61441F7-F34A-AD5F-0544-E1B868ABE65C}"/>
              </a:ext>
            </a:extLst>
          </p:cNvPr>
          <p:cNvCxnSpPr>
            <a:cxnSpLocks/>
          </p:cNvCxnSpPr>
          <p:nvPr/>
        </p:nvCxnSpPr>
        <p:spPr>
          <a:xfrm>
            <a:off x="6951406" y="4036915"/>
            <a:ext cx="2483338" cy="5645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6EBC32A-1060-5A6F-F1DD-48C52344CEAC}"/>
                  </a:ext>
                </a:extLst>
              </p:cNvPr>
              <p:cNvSpPr txBox="1"/>
              <p:nvPr/>
            </p:nvSpPr>
            <p:spPr>
              <a:xfrm>
                <a:off x="5569342" y="3657334"/>
                <a:ext cx="1759974" cy="369332"/>
              </a:xfrm>
              <a:prstGeom prst="rect">
                <a:avLst/>
              </a:prstGeom>
              <a:noFill/>
            </p:spPr>
            <p:txBody>
              <a:bodyPr wrap="square">
                <a:spAutoFit/>
              </a:bodyPr>
              <a:lstStyle/>
              <a:p>
                <a:pPr/>
                <a14:m>
                  <m:oMathPara xmlns:m="http://schemas.openxmlformats.org/officeDocument/2006/math">
                    <m:oMath>
                      <m:sSub>
                        <m:sSubPr>
                          <m:ctrlPr>
                            <a:rPr lang="en-US" sz="1800" i="1" dirty="0" err="1" smtClean="0">
                              <a:solidFill>
                                <a:srgbClr val="0432FF"/>
                              </a:solidFill>
                              <a:latin typeface="Cambria Math" panose="02040503050406030204" pitchFamily="18" charset="0"/>
                            </a:rPr>
                          </m:ctrlPr>
                        </m:sSubPr>
                        <m:e>
                          <m:r>
                            <a:rPr lang="en-US" sz="1800" i="1" dirty="0" err="1" smtClean="0">
                              <a:solidFill>
                                <a:srgbClr val="0432FF"/>
                              </a:solidFill>
                              <a:latin typeface="Cambria Math" panose="02040503050406030204" pitchFamily="18" charset="0"/>
                            </a:rPr>
                            <m:t>𝐴</m:t>
                          </m:r>
                        </m:e>
                        <m:sub>
                          <m:r>
                            <a:rPr lang="en-US" sz="1800" i="1" dirty="0" err="1" smtClean="0">
                              <a:solidFill>
                                <a:srgbClr val="0432FF"/>
                              </a:solidFill>
                              <a:latin typeface="Cambria Math" panose="02040503050406030204" pitchFamily="18" charset="0"/>
                            </a:rPr>
                            <m:t>𝑖</m:t>
                          </m:r>
                        </m:sub>
                      </m:sSub>
                      <m:r>
                        <a:rPr lang="en-US" sz="1800" b="0" i="1" dirty="0" smtClean="0">
                          <a:solidFill>
                            <a:srgbClr val="0432FF"/>
                          </a:solidFill>
                          <a:latin typeface="Cambria Math" panose="02040503050406030204" pitchFamily="18" charset="0"/>
                        </a:rPr>
                        <m:t> </m:t>
                      </m:r>
                      <m:r>
                        <a:rPr lang="en-US" sz="1800" b="0" i="0" dirty="0" smtClean="0">
                          <a:solidFill>
                            <a:srgbClr val="0432FF"/>
                          </a:solidFill>
                          <a:latin typeface="Cambria Math" panose="02040503050406030204" pitchFamily="18" charset="0"/>
                        </a:rPr>
                        <m:t>≈</m:t>
                      </m:r>
                      <m:sSub>
                        <m:sSubPr>
                          <m:ctrlPr>
                            <a:rPr lang="en-US" sz="1800" b="0" i="1" dirty="0" smtClean="0">
                              <a:solidFill>
                                <a:srgbClr val="0432FF"/>
                              </a:solidFill>
                              <a:latin typeface="Cambria Math" panose="02040503050406030204" pitchFamily="18" charset="0"/>
                            </a:rPr>
                          </m:ctrlPr>
                        </m:sSubPr>
                        <m:e>
                          <m:r>
                            <a:rPr lang="en-US" sz="1800" b="0" i="1" dirty="0" smtClean="0">
                              <a:solidFill>
                                <a:srgbClr val="0432FF"/>
                              </a:solidFill>
                              <a:latin typeface="Cambria Math" panose="02040503050406030204" pitchFamily="18" charset="0"/>
                            </a:rPr>
                            <m:t>   </m:t>
                          </m:r>
                          <m:r>
                            <a:rPr lang="en-US" sz="1800" i="1" dirty="0" err="1" smtClean="0">
                              <a:solidFill>
                                <a:srgbClr val="0432FF"/>
                              </a:solidFill>
                              <a:latin typeface="Cambria Math" panose="02040503050406030204" pitchFamily="18" charset="0"/>
                            </a:rPr>
                            <m:t>𝐴</m:t>
                          </m:r>
                        </m:e>
                        <m:sub>
                          <m:r>
                            <a:rPr lang="en-US" sz="1800" i="1" dirty="0" err="1" smtClean="0">
                              <a:solidFill>
                                <a:srgbClr val="0432FF"/>
                              </a:solidFill>
                              <a:latin typeface="Cambria Math" panose="02040503050406030204" pitchFamily="18" charset="0"/>
                            </a:rPr>
                            <m:t>ℎ</m:t>
                          </m:r>
                        </m:sub>
                      </m:sSub>
                    </m:oMath>
                  </m:oMathPara>
                </a14:m>
                <a:endParaRPr lang="en-US" dirty="0">
                  <a:solidFill>
                    <a:srgbClr val="0432FF"/>
                  </a:solidFill>
                </a:endParaRPr>
              </a:p>
            </p:txBody>
          </p:sp>
        </mc:Choice>
        <mc:Fallback xmlns="">
          <p:sp>
            <p:nvSpPr>
              <p:cNvPr id="33" name="TextBox 32">
                <a:extLst>
                  <a:ext uri="{FF2B5EF4-FFF2-40B4-BE49-F238E27FC236}">
                    <a16:creationId xmlns:a16="http://schemas.microsoft.com/office/drawing/2014/main" id="{06EBC32A-1060-5A6F-F1DD-48C52344CEAC}"/>
                  </a:ext>
                </a:extLst>
              </p:cNvPr>
              <p:cNvSpPr txBox="1">
                <a:spLocks noRot="1" noChangeAspect="1" noMove="1" noResize="1" noEditPoints="1" noAdjustHandles="1" noChangeArrowheads="1" noChangeShapeType="1" noTextEdit="1"/>
              </p:cNvSpPr>
              <p:nvPr/>
            </p:nvSpPr>
            <p:spPr>
              <a:xfrm>
                <a:off x="5569342" y="3657334"/>
                <a:ext cx="1759974" cy="369332"/>
              </a:xfrm>
              <a:prstGeom prst="rect">
                <a:avLst/>
              </a:prstGeom>
              <a:blipFill>
                <a:blip r:embed="rId9"/>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662555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340C-ACAC-489A-B275-7F70AA8FC4E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31978A9-2471-1D6B-C9DE-05EB129A6A3B}"/>
              </a:ext>
            </a:extLst>
          </p:cNvPr>
          <p:cNvSpPr>
            <a:spLocks noGrp="1"/>
          </p:cNvSpPr>
          <p:nvPr>
            <p:ph type="sldNum" sz="quarter" idx="12"/>
          </p:nvPr>
        </p:nvSpPr>
        <p:spPr/>
        <p:txBody>
          <a:bodyPr/>
          <a:lstStyle/>
          <a:p>
            <a:fld id="{387B101D-DD3C-9947-BBAC-237D8FE858E0}" type="slidenum">
              <a:rPr lang="en-US" smtClean="0"/>
              <a:t>51</a:t>
            </a:fld>
            <a:endParaRPr lang="en-US"/>
          </a:p>
        </p:txBody>
      </p:sp>
      <p:sp>
        <p:nvSpPr>
          <p:cNvPr id="8" name="TextBox 7">
            <a:extLst>
              <a:ext uri="{FF2B5EF4-FFF2-40B4-BE49-F238E27FC236}">
                <a16:creationId xmlns:a16="http://schemas.microsoft.com/office/drawing/2014/main" id="{3A1D4B64-5EEA-0CE6-7186-3F4F486B5183}"/>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7F6F67-8954-1808-44B4-2E51C5C6ADCC}"/>
                  </a:ext>
                </a:extLst>
              </p:cNvPr>
              <p:cNvSpPr txBox="1"/>
              <p:nvPr/>
            </p:nvSpPr>
            <p:spPr>
              <a:xfrm>
                <a:off x="748480" y="1120883"/>
                <a:ext cx="10125154" cy="1714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p:txBody>
          </p:sp>
        </mc:Choice>
        <mc:Fallback xmlns="">
          <p:sp>
            <p:nvSpPr>
              <p:cNvPr id="7" name="TextBox 6">
                <a:extLst>
                  <a:ext uri="{FF2B5EF4-FFF2-40B4-BE49-F238E27FC236}">
                    <a16:creationId xmlns:a16="http://schemas.microsoft.com/office/drawing/2014/main" id="{127F6F67-8954-1808-44B4-2E51C5C6ADCC}"/>
                  </a:ext>
                </a:extLst>
              </p:cNvPr>
              <p:cNvSpPr txBox="1">
                <a:spLocks noRot="1" noChangeAspect="1" noMove="1" noResize="1" noEditPoints="1" noAdjustHandles="1" noChangeArrowheads="1" noChangeShapeType="1" noTextEdit="1"/>
              </p:cNvSpPr>
              <p:nvPr/>
            </p:nvSpPr>
            <p:spPr>
              <a:xfrm>
                <a:off x="748480" y="1120883"/>
                <a:ext cx="10125154" cy="1714380"/>
              </a:xfrm>
              <a:prstGeom prst="rect">
                <a:avLst/>
              </a:prstGeom>
              <a:blipFill>
                <a:blip r:embed="rId2"/>
                <a:stretch>
                  <a:fillRect l="-501" r="-752" b="-4412"/>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939211EC-58A7-E2DC-BB4E-F8CFFB5619AD}"/>
              </a:ext>
            </a:extLst>
          </p:cNvPr>
          <p:cNvPicPr>
            <a:picLocks noChangeAspect="1"/>
          </p:cNvPicPr>
          <p:nvPr/>
        </p:nvPicPr>
        <p:blipFill>
          <a:blip r:embed="rId3"/>
          <a:stretch>
            <a:fillRect/>
          </a:stretch>
        </p:blipFill>
        <p:spPr>
          <a:xfrm>
            <a:off x="609600" y="3585400"/>
            <a:ext cx="7772400" cy="2953512"/>
          </a:xfrm>
          <a:prstGeom prst="rect">
            <a:avLst/>
          </a:prstGeom>
        </p:spPr>
      </p:pic>
      <p:grpSp>
        <p:nvGrpSpPr>
          <p:cNvPr id="19" name="Group 18">
            <a:extLst>
              <a:ext uri="{FF2B5EF4-FFF2-40B4-BE49-F238E27FC236}">
                <a16:creationId xmlns:a16="http://schemas.microsoft.com/office/drawing/2014/main" id="{875129E5-D243-F71B-F45B-B00D947299A1}"/>
              </a:ext>
            </a:extLst>
          </p:cNvPr>
          <p:cNvGrpSpPr/>
          <p:nvPr/>
        </p:nvGrpSpPr>
        <p:grpSpPr>
          <a:xfrm>
            <a:off x="847716" y="4226338"/>
            <a:ext cx="8433180" cy="2738760"/>
            <a:chOff x="6096000" y="5252338"/>
            <a:chExt cx="3751967" cy="1207426"/>
          </a:xfrm>
        </p:grpSpPr>
        <p:cxnSp>
          <p:nvCxnSpPr>
            <p:cNvPr id="20" name="Straight Connector 19">
              <a:extLst>
                <a:ext uri="{FF2B5EF4-FFF2-40B4-BE49-F238E27FC236}">
                  <a16:creationId xmlns:a16="http://schemas.microsoft.com/office/drawing/2014/main" id="{578D9593-87D3-B56C-F65E-BE79AB9B159E}"/>
                </a:ext>
              </a:extLst>
            </p:cNvPr>
            <p:cNvCxnSpPr/>
            <p:nvPr/>
          </p:nvCxnSpPr>
          <p:spPr>
            <a:xfrm>
              <a:off x="6096000" y="5361986"/>
              <a:ext cx="3559277"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409A261-BF10-8A65-557A-2E4BBA57D8F4}"/>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21" name="TextBox 20">
                  <a:extLst>
                    <a:ext uri="{FF2B5EF4-FFF2-40B4-BE49-F238E27FC236}">
                      <a16:creationId xmlns:a16="http://schemas.microsoft.com/office/drawing/2014/main" id="{C409A261-BF10-8A65-557A-2E4BBA57D8F4}"/>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1399" t="-17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8C20ADB-069B-19E8-F8AB-2E4A3B8EC4A6}"/>
                    </a:ext>
                  </a:extLst>
                </p:cNvPr>
                <p:cNvSpPr txBox="1"/>
                <p:nvPr/>
              </p:nvSpPr>
              <p:spPr>
                <a:xfrm>
                  <a:off x="9652412"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22" name="TextBox 21">
                  <a:extLst>
                    <a:ext uri="{FF2B5EF4-FFF2-40B4-BE49-F238E27FC236}">
                      <a16:creationId xmlns:a16="http://schemas.microsoft.com/office/drawing/2014/main" id="{98C20ADB-069B-19E8-F8AB-2E4A3B8EC4A6}"/>
                    </a:ext>
                  </a:extLst>
                </p:cNvPr>
                <p:cNvSpPr txBox="1">
                  <a:spLocks noRot="1" noChangeAspect="1" noMove="1" noResize="1" noEditPoints="1" noAdjustHandles="1" noChangeArrowheads="1" noChangeShapeType="1" noTextEdit="1"/>
                </p:cNvSpPr>
                <p:nvPr/>
              </p:nvSpPr>
              <p:spPr>
                <a:xfrm>
                  <a:off x="9652412" y="5252338"/>
                  <a:ext cx="195555" cy="216515"/>
                </a:xfrm>
                <a:prstGeom prst="rect">
                  <a:avLst/>
                </a:prstGeom>
                <a:blipFill>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025764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E6AD-F27E-2A4D-45BF-7AA75C4DC0E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CEB4A10-0496-37F4-6E67-93DEDB43AFFA}"/>
              </a:ext>
            </a:extLst>
          </p:cNvPr>
          <p:cNvSpPr>
            <a:spLocks noGrp="1"/>
          </p:cNvSpPr>
          <p:nvPr>
            <p:ph type="sldNum" sz="quarter" idx="12"/>
          </p:nvPr>
        </p:nvSpPr>
        <p:spPr/>
        <p:txBody>
          <a:bodyPr/>
          <a:lstStyle/>
          <a:p>
            <a:fld id="{387B101D-DD3C-9947-BBAC-237D8FE858E0}" type="slidenum">
              <a:rPr lang="en-US" smtClean="0"/>
              <a:t>52</a:t>
            </a:fld>
            <a:endParaRPr lang="en-US"/>
          </a:p>
        </p:txBody>
      </p:sp>
      <p:sp>
        <p:nvSpPr>
          <p:cNvPr id="8" name="TextBox 7">
            <a:extLst>
              <a:ext uri="{FF2B5EF4-FFF2-40B4-BE49-F238E27FC236}">
                <a16:creationId xmlns:a16="http://schemas.microsoft.com/office/drawing/2014/main" id="{CEA23850-DB13-3EE7-A30F-C5B9328606EE}"/>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ED61CA-2271-96FB-7448-E0ABC72A4960}"/>
                  </a:ext>
                </a:extLst>
              </p:cNvPr>
              <p:cNvSpPr txBox="1"/>
              <p:nvPr/>
            </p:nvSpPr>
            <p:spPr>
              <a:xfrm>
                <a:off x="748480" y="1120883"/>
                <a:ext cx="10125154" cy="1714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p:txBody>
          </p:sp>
        </mc:Choice>
        <mc:Fallback xmlns="">
          <p:sp>
            <p:nvSpPr>
              <p:cNvPr id="7" name="TextBox 6">
                <a:extLst>
                  <a:ext uri="{FF2B5EF4-FFF2-40B4-BE49-F238E27FC236}">
                    <a16:creationId xmlns:a16="http://schemas.microsoft.com/office/drawing/2014/main" id="{8EED61CA-2271-96FB-7448-E0ABC72A4960}"/>
                  </a:ext>
                </a:extLst>
              </p:cNvPr>
              <p:cNvSpPr txBox="1">
                <a:spLocks noRot="1" noChangeAspect="1" noMove="1" noResize="1" noEditPoints="1" noAdjustHandles="1" noChangeArrowheads="1" noChangeShapeType="1" noTextEdit="1"/>
              </p:cNvSpPr>
              <p:nvPr/>
            </p:nvSpPr>
            <p:spPr>
              <a:xfrm>
                <a:off x="748480" y="1120883"/>
                <a:ext cx="10125154" cy="1714380"/>
              </a:xfrm>
              <a:prstGeom prst="rect">
                <a:avLst/>
              </a:prstGeom>
              <a:blipFill>
                <a:blip r:embed="rId2"/>
                <a:stretch>
                  <a:fillRect l="-501" r="-752" b="-4412"/>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E701DBD9-256F-9E15-EB63-94CE067B9921}"/>
              </a:ext>
            </a:extLst>
          </p:cNvPr>
          <p:cNvPicPr>
            <a:picLocks noChangeAspect="1"/>
          </p:cNvPicPr>
          <p:nvPr/>
        </p:nvPicPr>
        <p:blipFill>
          <a:blip r:embed="rId3"/>
          <a:stretch>
            <a:fillRect/>
          </a:stretch>
        </p:blipFill>
        <p:spPr>
          <a:xfrm>
            <a:off x="609600" y="3585400"/>
            <a:ext cx="7772400" cy="2953512"/>
          </a:xfrm>
          <a:prstGeom prst="rect">
            <a:avLst/>
          </a:prstGeom>
        </p:spPr>
      </p:pic>
      <p:grpSp>
        <p:nvGrpSpPr>
          <p:cNvPr id="19" name="Group 18">
            <a:extLst>
              <a:ext uri="{FF2B5EF4-FFF2-40B4-BE49-F238E27FC236}">
                <a16:creationId xmlns:a16="http://schemas.microsoft.com/office/drawing/2014/main" id="{71DFEF4F-22C6-5376-4404-182C46D7E2B0}"/>
              </a:ext>
            </a:extLst>
          </p:cNvPr>
          <p:cNvGrpSpPr/>
          <p:nvPr/>
        </p:nvGrpSpPr>
        <p:grpSpPr>
          <a:xfrm>
            <a:off x="847716" y="4226338"/>
            <a:ext cx="8433180" cy="2738760"/>
            <a:chOff x="6096000" y="5252338"/>
            <a:chExt cx="3751967" cy="1207426"/>
          </a:xfrm>
        </p:grpSpPr>
        <p:cxnSp>
          <p:nvCxnSpPr>
            <p:cNvPr id="20" name="Straight Connector 19">
              <a:extLst>
                <a:ext uri="{FF2B5EF4-FFF2-40B4-BE49-F238E27FC236}">
                  <a16:creationId xmlns:a16="http://schemas.microsoft.com/office/drawing/2014/main" id="{C2496851-B54C-4EDE-13B1-B18E9BCD9FD3}"/>
                </a:ext>
              </a:extLst>
            </p:cNvPr>
            <p:cNvCxnSpPr/>
            <p:nvPr/>
          </p:nvCxnSpPr>
          <p:spPr>
            <a:xfrm>
              <a:off x="6096000" y="5361986"/>
              <a:ext cx="3559277"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9D137A9-16C4-789D-3919-D8B212FFBBCC}"/>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21" name="TextBox 20">
                  <a:extLst>
                    <a:ext uri="{FF2B5EF4-FFF2-40B4-BE49-F238E27FC236}">
                      <a16:creationId xmlns:a16="http://schemas.microsoft.com/office/drawing/2014/main" id="{E9D137A9-16C4-789D-3919-D8B212FFBBCC}"/>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1399" t="-17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BD58506-EE60-C2DD-C7CC-1039A6942E21}"/>
                    </a:ext>
                  </a:extLst>
                </p:cNvPr>
                <p:cNvSpPr txBox="1"/>
                <p:nvPr/>
              </p:nvSpPr>
              <p:spPr>
                <a:xfrm>
                  <a:off x="9652412"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22" name="TextBox 21">
                  <a:extLst>
                    <a:ext uri="{FF2B5EF4-FFF2-40B4-BE49-F238E27FC236}">
                      <a16:creationId xmlns:a16="http://schemas.microsoft.com/office/drawing/2014/main" id="{4BD58506-EE60-C2DD-C7CC-1039A6942E21}"/>
                    </a:ext>
                  </a:extLst>
                </p:cNvPr>
                <p:cNvSpPr txBox="1">
                  <a:spLocks noRot="1" noChangeAspect="1" noMove="1" noResize="1" noEditPoints="1" noAdjustHandles="1" noChangeArrowheads="1" noChangeShapeType="1" noTextEdit="1"/>
                </p:cNvSpPr>
                <p:nvPr/>
              </p:nvSpPr>
              <p:spPr>
                <a:xfrm>
                  <a:off x="9652412" y="5252338"/>
                  <a:ext cx="195555" cy="216515"/>
                </a:xfrm>
                <a:prstGeom prst="rect">
                  <a:avLst/>
                </a:prstGeom>
                <a:blipFill>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5349417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9F57F-3A13-32AA-B03A-15C6465A287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9478836-7DC0-AF47-BB09-270110186ADD}"/>
              </a:ext>
            </a:extLst>
          </p:cNvPr>
          <p:cNvSpPr>
            <a:spLocks noGrp="1"/>
          </p:cNvSpPr>
          <p:nvPr>
            <p:ph type="sldNum" sz="quarter" idx="12"/>
          </p:nvPr>
        </p:nvSpPr>
        <p:spPr/>
        <p:txBody>
          <a:bodyPr/>
          <a:lstStyle/>
          <a:p>
            <a:fld id="{387B101D-DD3C-9947-BBAC-237D8FE858E0}" type="slidenum">
              <a:rPr lang="en-US" smtClean="0"/>
              <a:t>53</a:t>
            </a:fld>
            <a:endParaRPr lang="en-US"/>
          </a:p>
        </p:txBody>
      </p:sp>
      <p:sp>
        <p:nvSpPr>
          <p:cNvPr id="8" name="TextBox 7">
            <a:extLst>
              <a:ext uri="{FF2B5EF4-FFF2-40B4-BE49-F238E27FC236}">
                <a16:creationId xmlns:a16="http://schemas.microsoft.com/office/drawing/2014/main" id="{6C6947FD-B20A-1631-EBC2-CB2B5438033D}"/>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C0FEDB-40D7-987B-FD31-806114CAC96E}"/>
                  </a:ext>
                </a:extLst>
              </p:cNvPr>
              <p:cNvSpPr txBox="1"/>
              <p:nvPr/>
            </p:nvSpPr>
            <p:spPr>
              <a:xfrm>
                <a:off x="748480" y="1120883"/>
                <a:ext cx="10125154"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a:p>
                <a:pPr marL="285750" indent="-285750">
                  <a:lnSpc>
                    <a:spcPct val="150000"/>
                  </a:lnSpc>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A9C0FEDB-40D7-987B-FD31-806114CAC96E}"/>
                  </a:ext>
                </a:extLst>
              </p:cNvPr>
              <p:cNvSpPr txBox="1">
                <a:spLocks noRot="1" noChangeAspect="1" noMove="1" noResize="1" noEditPoints="1" noAdjustHandles="1" noChangeArrowheads="1" noChangeShapeType="1" noTextEdit="1"/>
              </p:cNvSpPr>
              <p:nvPr/>
            </p:nvSpPr>
            <p:spPr>
              <a:xfrm>
                <a:off x="748480" y="1120883"/>
                <a:ext cx="10125154" cy="2129878"/>
              </a:xfrm>
              <a:prstGeom prst="rect">
                <a:avLst/>
              </a:prstGeom>
              <a:blipFill>
                <a:blip r:embed="rId2"/>
                <a:stretch>
                  <a:fillRect l="-501" r="-752"/>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D406DD35-2CA8-0E15-FD19-5C7C80E99649}"/>
              </a:ext>
            </a:extLst>
          </p:cNvPr>
          <p:cNvGrpSpPr/>
          <p:nvPr/>
        </p:nvGrpSpPr>
        <p:grpSpPr>
          <a:xfrm>
            <a:off x="983160" y="4384133"/>
            <a:ext cx="5196481" cy="2337342"/>
            <a:chOff x="609600" y="3585400"/>
            <a:chExt cx="7843037" cy="3379698"/>
          </a:xfrm>
        </p:grpSpPr>
        <p:pic>
          <p:nvPicPr>
            <p:cNvPr id="17" name="Picture 16">
              <a:extLst>
                <a:ext uri="{FF2B5EF4-FFF2-40B4-BE49-F238E27FC236}">
                  <a16:creationId xmlns:a16="http://schemas.microsoft.com/office/drawing/2014/main" id="{00667FE5-2F63-DBC6-F221-37A056C032DA}"/>
                </a:ext>
              </a:extLst>
            </p:cNvPr>
            <p:cNvPicPr>
              <a:picLocks noChangeAspect="1"/>
            </p:cNvPicPr>
            <p:nvPr/>
          </p:nvPicPr>
          <p:blipFill>
            <a:blip r:embed="rId3"/>
            <a:stretch>
              <a:fillRect/>
            </a:stretch>
          </p:blipFill>
          <p:spPr>
            <a:xfrm>
              <a:off x="609600" y="3585400"/>
              <a:ext cx="7481791" cy="2953512"/>
            </a:xfrm>
            <a:prstGeom prst="rect">
              <a:avLst/>
            </a:prstGeom>
          </p:spPr>
        </p:pic>
        <p:grpSp>
          <p:nvGrpSpPr>
            <p:cNvPr id="19" name="Group 18">
              <a:extLst>
                <a:ext uri="{FF2B5EF4-FFF2-40B4-BE49-F238E27FC236}">
                  <a16:creationId xmlns:a16="http://schemas.microsoft.com/office/drawing/2014/main" id="{6F603C40-D043-3000-491B-AA3B79280C92}"/>
                </a:ext>
              </a:extLst>
            </p:cNvPr>
            <p:cNvGrpSpPr/>
            <p:nvPr/>
          </p:nvGrpSpPr>
          <p:grpSpPr>
            <a:xfrm>
              <a:off x="847730" y="4226338"/>
              <a:ext cx="7604907" cy="2738760"/>
              <a:chOff x="6096000" y="5252338"/>
              <a:chExt cx="3514883" cy="1207426"/>
            </a:xfrm>
          </p:grpSpPr>
          <p:cxnSp>
            <p:nvCxnSpPr>
              <p:cNvPr id="20" name="Straight Connector 19">
                <a:extLst>
                  <a:ext uri="{FF2B5EF4-FFF2-40B4-BE49-F238E27FC236}">
                    <a16:creationId xmlns:a16="http://schemas.microsoft.com/office/drawing/2014/main" id="{DDD3557A-3A56-42E6-7472-80D8A7C0EB8A}"/>
                  </a:ext>
                </a:extLst>
              </p:cNvPr>
              <p:cNvCxnSpPr>
                <a:cxnSpLocks/>
              </p:cNvCxnSpPr>
              <p:nvPr/>
            </p:nvCxnSpPr>
            <p:spPr>
              <a:xfrm>
                <a:off x="6096000" y="5361986"/>
                <a:ext cx="3308728"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E0E342F-EC7D-0057-1AD7-171DE02C53E3}"/>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21" name="TextBox 20">
                    <a:extLst>
                      <a:ext uri="{FF2B5EF4-FFF2-40B4-BE49-F238E27FC236}">
                        <a16:creationId xmlns:a16="http://schemas.microsoft.com/office/drawing/2014/main" id="{BE0E342F-EC7D-0057-1AD7-171DE02C53E3}"/>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1087" t="-2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72EADBE-5EAB-3281-A910-6480C1BF3866}"/>
                      </a:ext>
                    </a:extLst>
                  </p:cNvPr>
                  <p:cNvSpPr txBox="1"/>
                  <p:nvPr/>
                </p:nvSpPr>
                <p:spPr>
                  <a:xfrm>
                    <a:off x="9415328"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22" name="TextBox 21">
                    <a:extLst>
                      <a:ext uri="{FF2B5EF4-FFF2-40B4-BE49-F238E27FC236}">
                        <a16:creationId xmlns:a16="http://schemas.microsoft.com/office/drawing/2014/main" id="{F72EADBE-5EAB-3281-A910-6480C1BF3866}"/>
                      </a:ext>
                    </a:extLst>
                  </p:cNvPr>
                  <p:cNvSpPr txBox="1">
                    <a:spLocks noRot="1" noChangeAspect="1" noMove="1" noResize="1" noEditPoints="1" noAdjustHandles="1" noChangeArrowheads="1" noChangeShapeType="1" noTextEdit="1"/>
                  </p:cNvSpPr>
                  <p:nvPr/>
                </p:nvSpPr>
                <p:spPr>
                  <a:xfrm>
                    <a:off x="9415328" y="5252338"/>
                    <a:ext cx="195555" cy="216515"/>
                  </a:xfrm>
                  <a:prstGeom prst="rect">
                    <a:avLst/>
                  </a:prstGeom>
                  <a:blipFill>
                    <a:blip r:embed="rId5"/>
                    <a:stretch>
                      <a:fillRect l="-4348" r="-34783" b="-21429"/>
                    </a:stretch>
                  </a:blipFill>
                </p:spPr>
                <p:txBody>
                  <a:bodyPr/>
                  <a:lstStyle/>
                  <a:p>
                    <a:r>
                      <a:rPr lang="en-US">
                        <a:noFill/>
                      </a:rPr>
                      <a:t> </a:t>
                    </a:r>
                  </a:p>
                </p:txBody>
              </p:sp>
            </mc:Fallback>
          </mc:AlternateContent>
        </p:grpSp>
      </p:grpSp>
      <p:grpSp>
        <p:nvGrpSpPr>
          <p:cNvPr id="4" name="Group 3">
            <a:extLst>
              <a:ext uri="{FF2B5EF4-FFF2-40B4-BE49-F238E27FC236}">
                <a16:creationId xmlns:a16="http://schemas.microsoft.com/office/drawing/2014/main" id="{418EBB6B-EC94-0732-146E-BD1DA6147D5A}"/>
              </a:ext>
            </a:extLst>
          </p:cNvPr>
          <p:cNvGrpSpPr/>
          <p:nvPr/>
        </p:nvGrpSpPr>
        <p:grpSpPr>
          <a:xfrm>
            <a:off x="6588507" y="4452426"/>
            <a:ext cx="5196481" cy="2257898"/>
            <a:chOff x="609600" y="3700273"/>
            <a:chExt cx="7843037" cy="3264825"/>
          </a:xfrm>
        </p:grpSpPr>
        <p:pic>
          <p:nvPicPr>
            <p:cNvPr id="5" name="Picture 4">
              <a:extLst>
                <a:ext uri="{FF2B5EF4-FFF2-40B4-BE49-F238E27FC236}">
                  <a16:creationId xmlns:a16="http://schemas.microsoft.com/office/drawing/2014/main" id="{4481AE61-096D-9154-EE76-140F67567B57}"/>
                </a:ext>
              </a:extLst>
            </p:cNvPr>
            <p:cNvPicPr>
              <a:picLocks noChangeAspect="1"/>
            </p:cNvPicPr>
            <p:nvPr/>
          </p:nvPicPr>
          <p:blipFill>
            <a:blip r:embed="rId6"/>
            <a:srcRect/>
            <a:stretch/>
          </p:blipFill>
          <p:spPr>
            <a:xfrm>
              <a:off x="609600" y="3700273"/>
              <a:ext cx="7481791" cy="2723765"/>
            </a:xfrm>
            <a:prstGeom prst="rect">
              <a:avLst/>
            </a:prstGeom>
          </p:spPr>
        </p:pic>
        <p:grpSp>
          <p:nvGrpSpPr>
            <p:cNvPr id="6" name="Group 5">
              <a:extLst>
                <a:ext uri="{FF2B5EF4-FFF2-40B4-BE49-F238E27FC236}">
                  <a16:creationId xmlns:a16="http://schemas.microsoft.com/office/drawing/2014/main" id="{83ABEE30-3194-CCA2-3EE4-D12EAB86AA1B}"/>
                </a:ext>
              </a:extLst>
            </p:cNvPr>
            <p:cNvGrpSpPr/>
            <p:nvPr/>
          </p:nvGrpSpPr>
          <p:grpSpPr>
            <a:xfrm>
              <a:off x="847730" y="4226338"/>
              <a:ext cx="7604907" cy="2738760"/>
              <a:chOff x="6096000" y="5252338"/>
              <a:chExt cx="3514883" cy="1207426"/>
            </a:xfrm>
          </p:grpSpPr>
          <p:cxnSp>
            <p:nvCxnSpPr>
              <p:cNvPr id="10" name="Straight Connector 9">
                <a:extLst>
                  <a:ext uri="{FF2B5EF4-FFF2-40B4-BE49-F238E27FC236}">
                    <a16:creationId xmlns:a16="http://schemas.microsoft.com/office/drawing/2014/main" id="{5A5C1578-8676-4444-9A17-8E4269D94679}"/>
                  </a:ext>
                </a:extLst>
              </p:cNvPr>
              <p:cNvCxnSpPr>
                <a:cxnSpLocks/>
              </p:cNvCxnSpPr>
              <p:nvPr/>
            </p:nvCxnSpPr>
            <p:spPr>
              <a:xfrm>
                <a:off x="6096000" y="5361986"/>
                <a:ext cx="3308728"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F6F00C-739F-59F2-8A8E-285152ECB1D0}"/>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11" name="TextBox 10">
                    <a:extLst>
                      <a:ext uri="{FF2B5EF4-FFF2-40B4-BE49-F238E27FC236}">
                        <a16:creationId xmlns:a16="http://schemas.microsoft.com/office/drawing/2014/main" id="{E8F6F00C-739F-59F2-8A8E-285152ECB1D0}"/>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7"/>
                    <a:stretch>
                      <a:fillRect l="-2198" t="-2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E162B3-A2DB-E48C-8A93-0515D8E71EAB}"/>
                      </a:ext>
                    </a:extLst>
                  </p:cNvPr>
                  <p:cNvSpPr txBox="1"/>
                  <p:nvPr/>
                </p:nvSpPr>
                <p:spPr>
                  <a:xfrm>
                    <a:off x="9415328"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12" name="TextBox 11">
                    <a:extLst>
                      <a:ext uri="{FF2B5EF4-FFF2-40B4-BE49-F238E27FC236}">
                        <a16:creationId xmlns:a16="http://schemas.microsoft.com/office/drawing/2014/main" id="{14E162B3-A2DB-E48C-8A93-0515D8E71EAB}"/>
                      </a:ext>
                    </a:extLst>
                  </p:cNvPr>
                  <p:cNvSpPr txBox="1">
                    <a:spLocks noRot="1" noChangeAspect="1" noMove="1" noResize="1" noEditPoints="1" noAdjustHandles="1" noChangeArrowheads="1" noChangeShapeType="1" noTextEdit="1"/>
                  </p:cNvSpPr>
                  <p:nvPr/>
                </p:nvSpPr>
                <p:spPr>
                  <a:xfrm>
                    <a:off x="9415328" y="5252338"/>
                    <a:ext cx="195555" cy="216515"/>
                  </a:xfrm>
                  <a:prstGeom prst="rect">
                    <a:avLst/>
                  </a:prstGeom>
                  <a:blipFill>
                    <a:blip r:embed="rId8"/>
                    <a:stretch>
                      <a:fillRect l="-4348" r="-39130" b="-25000"/>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48048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2C80-F194-1BAC-0B5C-97BF9CC9E12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EB153AA-05C7-C6B3-A357-71F17238C354}"/>
              </a:ext>
            </a:extLst>
          </p:cNvPr>
          <p:cNvSpPr>
            <a:spLocks noGrp="1"/>
          </p:cNvSpPr>
          <p:nvPr>
            <p:ph type="sldNum" sz="quarter" idx="12"/>
          </p:nvPr>
        </p:nvSpPr>
        <p:spPr/>
        <p:txBody>
          <a:bodyPr/>
          <a:lstStyle/>
          <a:p>
            <a:fld id="{387B101D-DD3C-9947-BBAC-237D8FE858E0}" type="slidenum">
              <a:rPr lang="en-US" smtClean="0"/>
              <a:t>54</a:t>
            </a:fld>
            <a:endParaRPr lang="en-US"/>
          </a:p>
        </p:txBody>
      </p:sp>
      <p:sp>
        <p:nvSpPr>
          <p:cNvPr id="8" name="TextBox 7">
            <a:extLst>
              <a:ext uri="{FF2B5EF4-FFF2-40B4-BE49-F238E27FC236}">
                <a16:creationId xmlns:a16="http://schemas.microsoft.com/office/drawing/2014/main" id="{E948B2A6-5917-D760-A40D-911422AD0198}"/>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FA24CB-4188-271C-02BC-765F3A06E199}"/>
                  </a:ext>
                </a:extLst>
              </p:cNvPr>
              <p:cNvSpPr txBox="1"/>
              <p:nvPr/>
            </p:nvSpPr>
            <p:spPr>
              <a:xfrm>
                <a:off x="748480" y="1120883"/>
                <a:ext cx="10125154"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a:p>
                <a:pPr marL="285750" indent="-285750">
                  <a:lnSpc>
                    <a:spcPct val="150000"/>
                  </a:lnSpc>
                  <a:buFont typeface="Arial" panose="020B0604020202020204" pitchFamily="34" charset="0"/>
                  <a:buChar char="•"/>
                </a:pPr>
                <a:r>
                  <a:rPr lang="en-US" dirty="0"/>
                  <a:t>Should someone just below the line count entirely differently than someone just above it?</a:t>
                </a:r>
              </a:p>
            </p:txBody>
          </p:sp>
        </mc:Choice>
        <mc:Fallback xmlns="">
          <p:sp>
            <p:nvSpPr>
              <p:cNvPr id="7" name="TextBox 6">
                <a:extLst>
                  <a:ext uri="{FF2B5EF4-FFF2-40B4-BE49-F238E27FC236}">
                    <a16:creationId xmlns:a16="http://schemas.microsoft.com/office/drawing/2014/main" id="{11FA24CB-4188-271C-02BC-765F3A06E199}"/>
                  </a:ext>
                </a:extLst>
              </p:cNvPr>
              <p:cNvSpPr txBox="1">
                <a:spLocks noRot="1" noChangeAspect="1" noMove="1" noResize="1" noEditPoints="1" noAdjustHandles="1" noChangeArrowheads="1" noChangeShapeType="1" noTextEdit="1"/>
              </p:cNvSpPr>
              <p:nvPr/>
            </p:nvSpPr>
            <p:spPr>
              <a:xfrm>
                <a:off x="748480" y="1120883"/>
                <a:ext cx="10125154" cy="2129878"/>
              </a:xfrm>
              <a:prstGeom prst="rect">
                <a:avLst/>
              </a:prstGeom>
              <a:blipFill>
                <a:blip r:embed="rId2"/>
                <a:stretch>
                  <a:fillRect l="-501" r="-752" b="-4167"/>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64051222-20E5-C607-D3B2-00A2546F78D5}"/>
              </a:ext>
            </a:extLst>
          </p:cNvPr>
          <p:cNvGrpSpPr/>
          <p:nvPr/>
        </p:nvGrpSpPr>
        <p:grpSpPr>
          <a:xfrm>
            <a:off x="1778613" y="3429000"/>
            <a:ext cx="8203587" cy="3476470"/>
            <a:chOff x="609600" y="3700273"/>
            <a:chExt cx="7843037" cy="3264825"/>
          </a:xfrm>
        </p:grpSpPr>
        <p:pic>
          <p:nvPicPr>
            <p:cNvPr id="3" name="Picture 2">
              <a:extLst>
                <a:ext uri="{FF2B5EF4-FFF2-40B4-BE49-F238E27FC236}">
                  <a16:creationId xmlns:a16="http://schemas.microsoft.com/office/drawing/2014/main" id="{B0ACF69E-507A-F4F5-EDC9-95E9AC9073D1}"/>
                </a:ext>
              </a:extLst>
            </p:cNvPr>
            <p:cNvPicPr>
              <a:picLocks noChangeAspect="1"/>
            </p:cNvPicPr>
            <p:nvPr/>
          </p:nvPicPr>
          <p:blipFill>
            <a:blip r:embed="rId3"/>
            <a:srcRect/>
            <a:stretch/>
          </p:blipFill>
          <p:spPr>
            <a:xfrm>
              <a:off x="609600" y="3700273"/>
              <a:ext cx="7481791" cy="2723765"/>
            </a:xfrm>
            <a:prstGeom prst="rect">
              <a:avLst/>
            </a:prstGeom>
          </p:spPr>
        </p:pic>
        <p:grpSp>
          <p:nvGrpSpPr>
            <p:cNvPr id="4" name="Group 3">
              <a:extLst>
                <a:ext uri="{FF2B5EF4-FFF2-40B4-BE49-F238E27FC236}">
                  <a16:creationId xmlns:a16="http://schemas.microsoft.com/office/drawing/2014/main" id="{7E001F09-2EF1-CA82-4630-15BE1E0B43F0}"/>
                </a:ext>
              </a:extLst>
            </p:cNvPr>
            <p:cNvGrpSpPr/>
            <p:nvPr/>
          </p:nvGrpSpPr>
          <p:grpSpPr>
            <a:xfrm>
              <a:off x="847730" y="4226338"/>
              <a:ext cx="7604907" cy="2738760"/>
              <a:chOff x="6096000" y="5252338"/>
              <a:chExt cx="3514883" cy="1207426"/>
            </a:xfrm>
          </p:grpSpPr>
          <p:cxnSp>
            <p:nvCxnSpPr>
              <p:cNvPr id="5" name="Straight Connector 4">
                <a:extLst>
                  <a:ext uri="{FF2B5EF4-FFF2-40B4-BE49-F238E27FC236}">
                    <a16:creationId xmlns:a16="http://schemas.microsoft.com/office/drawing/2014/main" id="{76EB03DF-C7DC-6104-A236-EDE970B119A2}"/>
                  </a:ext>
                </a:extLst>
              </p:cNvPr>
              <p:cNvCxnSpPr>
                <a:cxnSpLocks/>
              </p:cNvCxnSpPr>
              <p:nvPr/>
            </p:nvCxnSpPr>
            <p:spPr>
              <a:xfrm>
                <a:off x="6096000" y="5361986"/>
                <a:ext cx="3308728" cy="0"/>
              </a:xfrm>
              <a:prstGeom prst="line">
                <a:avLst/>
              </a:prstGeom>
              <a:ln>
                <a:solidFill>
                  <a:srgbClr val="FF0000"/>
                </a:soli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937A8B0-9081-7E00-D78A-1CF447AC66EB}"/>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6" name="TextBox 5">
                    <a:extLst>
                      <a:ext uri="{FF2B5EF4-FFF2-40B4-BE49-F238E27FC236}">
                        <a16:creationId xmlns:a16="http://schemas.microsoft.com/office/drawing/2014/main" id="{C937A8B0-9081-7E00-D78A-1CF447AC66EB}"/>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690" t="-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5662BC9-A468-73D3-B703-9ECB9C2786EA}"/>
                      </a:ext>
                    </a:extLst>
                  </p:cNvPr>
                  <p:cNvSpPr txBox="1"/>
                  <p:nvPr/>
                </p:nvSpPr>
                <p:spPr>
                  <a:xfrm>
                    <a:off x="9415328"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10" name="TextBox 9">
                    <a:extLst>
                      <a:ext uri="{FF2B5EF4-FFF2-40B4-BE49-F238E27FC236}">
                        <a16:creationId xmlns:a16="http://schemas.microsoft.com/office/drawing/2014/main" id="{B5662BC9-A468-73D3-B703-9ECB9C2786EA}"/>
                      </a:ext>
                    </a:extLst>
                  </p:cNvPr>
                  <p:cNvSpPr txBox="1">
                    <a:spLocks noRot="1" noChangeAspect="1" noMove="1" noResize="1" noEditPoints="1" noAdjustHandles="1" noChangeArrowheads="1" noChangeShapeType="1" noTextEdit="1"/>
                  </p:cNvSpPr>
                  <p:nvPr/>
                </p:nvSpPr>
                <p:spPr>
                  <a:xfrm>
                    <a:off x="9415328" y="5252338"/>
                    <a:ext cx="195555" cy="216515"/>
                  </a:xfrm>
                  <a:prstGeom prst="rect">
                    <a:avLst/>
                  </a:prstGeom>
                  <a:blipFill>
                    <a:blip r:embed="rId5"/>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143388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0931D-C390-DCF7-C1C5-14617A0F1AF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F3B1E82-8AD9-128E-ED99-CDA1376F1100}"/>
              </a:ext>
            </a:extLst>
          </p:cNvPr>
          <p:cNvSpPr>
            <a:spLocks noGrp="1"/>
          </p:cNvSpPr>
          <p:nvPr>
            <p:ph type="sldNum" sz="quarter" idx="12"/>
          </p:nvPr>
        </p:nvSpPr>
        <p:spPr/>
        <p:txBody>
          <a:bodyPr/>
          <a:lstStyle/>
          <a:p>
            <a:fld id="{387B101D-DD3C-9947-BBAC-237D8FE858E0}" type="slidenum">
              <a:rPr lang="en-US" smtClean="0"/>
              <a:t>55</a:t>
            </a:fld>
            <a:endParaRPr lang="en-US"/>
          </a:p>
        </p:txBody>
      </p:sp>
      <p:sp>
        <p:nvSpPr>
          <p:cNvPr id="8" name="TextBox 7">
            <a:extLst>
              <a:ext uri="{FF2B5EF4-FFF2-40B4-BE49-F238E27FC236}">
                <a16:creationId xmlns:a16="http://schemas.microsoft.com/office/drawing/2014/main" id="{EAD7C5A0-DA23-A427-E2B2-A144159F966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F45E0F-B9B1-AAF1-21BB-CEE76031DFEF}"/>
                  </a:ext>
                </a:extLst>
              </p:cNvPr>
              <p:cNvSpPr txBox="1"/>
              <p:nvPr/>
            </p:nvSpPr>
            <p:spPr>
              <a:xfrm>
                <a:off x="748480" y="1120883"/>
                <a:ext cx="10125154"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a:p>
                <a:pPr marL="285750" indent="-285750">
                  <a:lnSpc>
                    <a:spcPct val="150000"/>
                  </a:lnSpc>
                  <a:buFont typeface="Arial" panose="020B0604020202020204" pitchFamily="34" charset="0"/>
                  <a:buChar char="•"/>
                </a:pPr>
                <a:r>
                  <a:rPr lang="en-US" dirty="0"/>
                  <a:t>Should someone just below the line count entirely differently than someone just above it?</a:t>
                </a:r>
              </a:p>
            </p:txBody>
          </p:sp>
        </mc:Choice>
        <mc:Fallback xmlns="">
          <p:sp>
            <p:nvSpPr>
              <p:cNvPr id="7" name="TextBox 6">
                <a:extLst>
                  <a:ext uri="{FF2B5EF4-FFF2-40B4-BE49-F238E27FC236}">
                    <a16:creationId xmlns:a16="http://schemas.microsoft.com/office/drawing/2014/main" id="{76F45E0F-B9B1-AAF1-21BB-CEE76031DFEF}"/>
                  </a:ext>
                </a:extLst>
              </p:cNvPr>
              <p:cNvSpPr txBox="1">
                <a:spLocks noRot="1" noChangeAspect="1" noMove="1" noResize="1" noEditPoints="1" noAdjustHandles="1" noChangeArrowheads="1" noChangeShapeType="1" noTextEdit="1"/>
              </p:cNvSpPr>
              <p:nvPr/>
            </p:nvSpPr>
            <p:spPr>
              <a:xfrm>
                <a:off x="748480" y="1120883"/>
                <a:ext cx="10125154" cy="2129878"/>
              </a:xfrm>
              <a:prstGeom prst="rect">
                <a:avLst/>
              </a:prstGeom>
              <a:blipFill>
                <a:blip r:embed="rId2"/>
                <a:stretch>
                  <a:fillRect l="-501" r="-752" b="-4167"/>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899A50B2-398B-BE9B-68D8-45D303D10C41}"/>
              </a:ext>
            </a:extLst>
          </p:cNvPr>
          <p:cNvGrpSpPr/>
          <p:nvPr/>
        </p:nvGrpSpPr>
        <p:grpSpPr>
          <a:xfrm>
            <a:off x="4092496" y="3428999"/>
            <a:ext cx="2126394" cy="2900335"/>
            <a:chOff x="2821787" y="3700273"/>
            <a:chExt cx="2032938" cy="2723765"/>
          </a:xfrm>
        </p:grpSpPr>
        <p:pic>
          <p:nvPicPr>
            <p:cNvPr id="3" name="Picture 2">
              <a:extLst>
                <a:ext uri="{FF2B5EF4-FFF2-40B4-BE49-F238E27FC236}">
                  <a16:creationId xmlns:a16="http://schemas.microsoft.com/office/drawing/2014/main" id="{BD7C9505-3FE4-E713-F2A1-50FE549BE18B}"/>
                </a:ext>
              </a:extLst>
            </p:cNvPr>
            <p:cNvPicPr>
              <a:picLocks noChangeAspect="1"/>
            </p:cNvPicPr>
            <p:nvPr/>
          </p:nvPicPr>
          <p:blipFill>
            <a:blip r:embed="rId3"/>
            <a:srcRect l="31278" r="50768"/>
            <a:stretch>
              <a:fillRect/>
            </a:stretch>
          </p:blipFill>
          <p:spPr>
            <a:xfrm>
              <a:off x="2949722" y="3700273"/>
              <a:ext cx="1343301" cy="2723765"/>
            </a:xfrm>
            <a:prstGeom prst="rect">
              <a:avLst/>
            </a:prstGeom>
          </p:spPr>
        </p:pic>
        <p:grpSp>
          <p:nvGrpSpPr>
            <p:cNvPr id="4" name="Group 3">
              <a:extLst>
                <a:ext uri="{FF2B5EF4-FFF2-40B4-BE49-F238E27FC236}">
                  <a16:creationId xmlns:a16="http://schemas.microsoft.com/office/drawing/2014/main" id="{31C269D7-E3EA-93A5-CD5B-77AD21F72230}"/>
                </a:ext>
              </a:extLst>
            </p:cNvPr>
            <p:cNvGrpSpPr/>
            <p:nvPr/>
          </p:nvGrpSpPr>
          <p:grpSpPr>
            <a:xfrm>
              <a:off x="2821787" y="4254476"/>
              <a:ext cx="2032938" cy="491113"/>
              <a:chOff x="7008383" y="5264743"/>
              <a:chExt cx="939596" cy="216515"/>
            </a:xfrm>
          </p:grpSpPr>
          <p:cxnSp>
            <p:nvCxnSpPr>
              <p:cNvPr id="5" name="Straight Connector 4">
                <a:extLst>
                  <a:ext uri="{FF2B5EF4-FFF2-40B4-BE49-F238E27FC236}">
                    <a16:creationId xmlns:a16="http://schemas.microsoft.com/office/drawing/2014/main" id="{82B108D2-0880-4323-E900-C61485FB2439}"/>
                  </a:ext>
                </a:extLst>
              </p:cNvPr>
              <p:cNvCxnSpPr>
                <a:cxnSpLocks/>
              </p:cNvCxnSpPr>
              <p:nvPr/>
            </p:nvCxnSpPr>
            <p:spPr>
              <a:xfrm>
                <a:off x="7008383" y="5361986"/>
                <a:ext cx="744041" cy="0"/>
              </a:xfrm>
              <a:prstGeom prst="line">
                <a:avLst/>
              </a:prstGeom>
              <a:ln>
                <a:solidFill>
                  <a:srgbClr val="FF0000"/>
                </a:soli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D97503-97A1-ED47-9080-26D32E67C4CE}"/>
                      </a:ext>
                    </a:extLst>
                  </p:cNvPr>
                  <p:cNvSpPr txBox="1"/>
                  <p:nvPr/>
                </p:nvSpPr>
                <p:spPr>
                  <a:xfrm>
                    <a:off x="7752424" y="5264743"/>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10" name="TextBox 9">
                    <a:extLst>
                      <a:ext uri="{FF2B5EF4-FFF2-40B4-BE49-F238E27FC236}">
                        <a16:creationId xmlns:a16="http://schemas.microsoft.com/office/drawing/2014/main" id="{F9D97503-97A1-ED47-9080-26D32E67C4CE}"/>
                      </a:ext>
                    </a:extLst>
                  </p:cNvPr>
                  <p:cNvSpPr txBox="1">
                    <a:spLocks noRot="1" noChangeAspect="1" noMove="1" noResize="1" noEditPoints="1" noAdjustHandles="1" noChangeArrowheads="1" noChangeShapeType="1" noTextEdit="1"/>
                  </p:cNvSpPr>
                  <p:nvPr/>
                </p:nvSpPr>
                <p:spPr>
                  <a:xfrm>
                    <a:off x="7752424" y="5264743"/>
                    <a:ext cx="195555" cy="216515"/>
                  </a:xfrm>
                  <a:prstGeom prst="rect">
                    <a:avLst/>
                  </a:prstGeom>
                  <a:blipFill>
                    <a:blip r:embed="rId4"/>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23213746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00FAA-3576-2B27-5B84-9E925919734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732B0A2-2745-DEC0-07D7-005EF713D3BE}"/>
              </a:ext>
            </a:extLst>
          </p:cNvPr>
          <p:cNvGrpSpPr/>
          <p:nvPr/>
        </p:nvGrpSpPr>
        <p:grpSpPr>
          <a:xfrm>
            <a:off x="2935842" y="2415703"/>
            <a:ext cx="5208901" cy="4442296"/>
            <a:chOff x="2821787" y="3700273"/>
            <a:chExt cx="1827181" cy="1535252"/>
          </a:xfrm>
        </p:grpSpPr>
        <p:pic>
          <p:nvPicPr>
            <p:cNvPr id="3" name="Picture 2">
              <a:extLst>
                <a:ext uri="{FF2B5EF4-FFF2-40B4-BE49-F238E27FC236}">
                  <a16:creationId xmlns:a16="http://schemas.microsoft.com/office/drawing/2014/main" id="{B3D5014A-6FF9-CD29-C9F2-47F249E6323B}"/>
                </a:ext>
              </a:extLst>
            </p:cNvPr>
            <p:cNvPicPr>
              <a:picLocks noChangeAspect="1"/>
            </p:cNvPicPr>
            <p:nvPr/>
          </p:nvPicPr>
          <p:blipFill>
            <a:blip r:embed="rId2"/>
            <a:srcRect l="31278" r="50768" b="43635"/>
            <a:stretch>
              <a:fillRect/>
            </a:stretch>
          </p:blipFill>
          <p:spPr>
            <a:xfrm>
              <a:off x="2949722" y="3700273"/>
              <a:ext cx="1343301" cy="1535252"/>
            </a:xfrm>
            <a:prstGeom prst="rect">
              <a:avLst/>
            </a:prstGeom>
          </p:spPr>
        </p:pic>
        <p:grpSp>
          <p:nvGrpSpPr>
            <p:cNvPr id="4" name="Group 3">
              <a:extLst>
                <a:ext uri="{FF2B5EF4-FFF2-40B4-BE49-F238E27FC236}">
                  <a16:creationId xmlns:a16="http://schemas.microsoft.com/office/drawing/2014/main" id="{56891A33-A327-9DBE-6CA4-479D51DFC2F0}"/>
                </a:ext>
              </a:extLst>
            </p:cNvPr>
            <p:cNvGrpSpPr/>
            <p:nvPr/>
          </p:nvGrpSpPr>
          <p:grpSpPr>
            <a:xfrm>
              <a:off x="2821787" y="4356414"/>
              <a:ext cx="1827181" cy="287192"/>
              <a:chOff x="7008383" y="5309676"/>
              <a:chExt cx="844498" cy="126613"/>
            </a:xfrm>
          </p:grpSpPr>
          <p:cxnSp>
            <p:nvCxnSpPr>
              <p:cNvPr id="5" name="Straight Connector 4">
                <a:extLst>
                  <a:ext uri="{FF2B5EF4-FFF2-40B4-BE49-F238E27FC236}">
                    <a16:creationId xmlns:a16="http://schemas.microsoft.com/office/drawing/2014/main" id="{F8EDD8AB-B5CD-0DDE-BF75-7F3361A0E9CD}"/>
                  </a:ext>
                </a:extLst>
              </p:cNvPr>
              <p:cNvCxnSpPr>
                <a:cxnSpLocks/>
              </p:cNvCxnSpPr>
              <p:nvPr/>
            </p:nvCxnSpPr>
            <p:spPr>
              <a:xfrm>
                <a:off x="7008383" y="5361986"/>
                <a:ext cx="744041" cy="0"/>
              </a:xfrm>
              <a:prstGeom prst="line">
                <a:avLst/>
              </a:prstGeom>
              <a:ln w="63500">
                <a:solidFill>
                  <a:srgbClr val="FF0000"/>
                </a:soli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8881B8-CBB3-E928-4E6C-65EF9CA188BE}"/>
                      </a:ext>
                    </a:extLst>
                  </p:cNvPr>
                  <p:cNvSpPr txBox="1"/>
                  <p:nvPr/>
                </p:nvSpPr>
                <p:spPr>
                  <a:xfrm>
                    <a:off x="7740297" y="5309676"/>
                    <a:ext cx="112584" cy="126613"/>
                  </a:xfrm>
                  <a:prstGeom prst="rect">
                    <a:avLst/>
                  </a:prstGeom>
                  <a:noFill/>
                </p:spPr>
                <p:txBody>
                  <a:bodyPr wrap="none" rtlCol="0">
                    <a:spAutoFit/>
                  </a:bodyPr>
                  <a:lstStyle/>
                  <a:p>
                    <a:pPr/>
                    <a14:m>
                      <m:oMathPara xmlns:m="http://schemas.openxmlformats.org/officeDocument/2006/math">
                        <m:oMath>
                          <m:r>
                            <a:rPr lang="en-US" sz="4800" b="0" i="1" dirty="0" smtClean="0">
                              <a:solidFill>
                                <a:srgbClr val="7030A0"/>
                              </a:solidFill>
                              <a:latin typeface="Cambria Math" panose="02040503050406030204" pitchFamily="18" charset="0"/>
                            </a:rPr>
                            <m:t>𝜃</m:t>
                          </m:r>
                        </m:oMath>
                      </m:oMathPara>
                    </a14:m>
                    <a:endParaRPr lang="en-US" sz="3200" dirty="0">
                      <a:solidFill>
                        <a:srgbClr val="7030A0"/>
                      </a:solidFill>
                    </a:endParaRPr>
                  </a:p>
                </p:txBody>
              </p:sp>
            </mc:Choice>
            <mc:Fallback xmlns="">
              <p:sp>
                <p:nvSpPr>
                  <p:cNvPr id="10" name="TextBox 9">
                    <a:extLst>
                      <a:ext uri="{FF2B5EF4-FFF2-40B4-BE49-F238E27FC236}">
                        <a16:creationId xmlns:a16="http://schemas.microsoft.com/office/drawing/2014/main" id="{608881B8-CBB3-E928-4E6C-65EF9CA188BE}"/>
                      </a:ext>
                    </a:extLst>
                  </p:cNvPr>
                  <p:cNvSpPr txBox="1">
                    <a:spLocks noRot="1" noChangeAspect="1" noMove="1" noResize="1" noEditPoints="1" noAdjustHandles="1" noChangeArrowheads="1" noChangeShapeType="1" noTextEdit="1"/>
                  </p:cNvSpPr>
                  <p:nvPr/>
                </p:nvSpPr>
                <p:spPr>
                  <a:xfrm>
                    <a:off x="7740297" y="5309676"/>
                    <a:ext cx="112584" cy="126613"/>
                  </a:xfrm>
                  <a:prstGeom prst="rect">
                    <a:avLst/>
                  </a:prstGeom>
                  <a:blipFill>
                    <a:blip r:embed="rId3"/>
                    <a:stretch>
                      <a:fillRect l="-5357" r="-3571"/>
                    </a:stretch>
                  </a:blipFill>
                </p:spPr>
                <p:txBody>
                  <a:bodyPr/>
                  <a:lstStyle/>
                  <a:p>
                    <a:r>
                      <a:rPr lang="en-US">
                        <a:noFill/>
                      </a:rPr>
                      <a:t> </a:t>
                    </a:r>
                  </a:p>
                </p:txBody>
              </p:sp>
            </mc:Fallback>
          </mc:AlternateContent>
        </p:grpSp>
      </p:grpSp>
      <p:sp>
        <p:nvSpPr>
          <p:cNvPr id="9" name="Slide Number Placeholder 8">
            <a:extLst>
              <a:ext uri="{FF2B5EF4-FFF2-40B4-BE49-F238E27FC236}">
                <a16:creationId xmlns:a16="http://schemas.microsoft.com/office/drawing/2014/main" id="{BDA2D35C-3A55-1821-886F-0B40D03289BB}"/>
              </a:ext>
            </a:extLst>
          </p:cNvPr>
          <p:cNvSpPr>
            <a:spLocks noGrp="1"/>
          </p:cNvSpPr>
          <p:nvPr>
            <p:ph type="sldNum" sz="quarter" idx="12"/>
          </p:nvPr>
        </p:nvSpPr>
        <p:spPr/>
        <p:txBody>
          <a:bodyPr/>
          <a:lstStyle/>
          <a:p>
            <a:fld id="{387B101D-DD3C-9947-BBAC-237D8FE858E0}" type="slidenum">
              <a:rPr lang="en-US" smtClean="0"/>
              <a:t>56</a:t>
            </a:fld>
            <a:endParaRPr lang="en-US"/>
          </a:p>
        </p:txBody>
      </p:sp>
      <p:sp>
        <p:nvSpPr>
          <p:cNvPr id="8" name="TextBox 7">
            <a:extLst>
              <a:ext uri="{FF2B5EF4-FFF2-40B4-BE49-F238E27FC236}">
                <a16:creationId xmlns:a16="http://schemas.microsoft.com/office/drawing/2014/main" id="{279F50A4-3BDB-F0CA-8E00-6EE558EBC593}"/>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Which teammates count as credible competitors?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A9B1CAA-7E3C-4A24-327D-44AE8D3476FA}"/>
                  </a:ext>
                </a:extLst>
              </p:cNvPr>
              <p:cNvSpPr txBox="1"/>
              <p:nvPr/>
            </p:nvSpPr>
            <p:spPr>
              <a:xfrm>
                <a:off x="748480" y="1120883"/>
                <a:ext cx="10125154"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introduce a common performance threshold </a:t>
                </a:r>
                <a14:m>
                  <m:oMath xmlns:m="http://schemas.openxmlformats.org/officeDocument/2006/math">
                    <m:r>
                      <a:rPr lang="el-GR" i="1" dirty="0" smtClean="0">
                        <a:solidFill>
                          <a:srgbClr val="0432FF"/>
                        </a:solidFill>
                        <a:latin typeface="Cambria Math" panose="02040503050406030204" pitchFamily="18" charset="0"/>
                      </a:rPr>
                      <m:t>𝜃</m:t>
                    </m:r>
                  </m:oMath>
                </a14:m>
                <a:r>
                  <a:rPr lang="el-GR" dirty="0"/>
                  <a:t> </a:t>
                </a:r>
                <a:r>
                  <a:rPr lang="en-US" dirty="0"/>
                  <a:t>around which individuals become competitively relevant.</a:t>
                </a:r>
              </a:p>
              <a:p>
                <a:pPr marL="285750" indent="-285750">
                  <a:lnSpc>
                    <a:spcPct val="150000"/>
                  </a:lnSpc>
                  <a:buFont typeface="Arial" panose="020B0604020202020204" pitchFamily="34" charset="0"/>
                  <a:buChar char="•"/>
                </a:pPr>
                <a:r>
                  <a:rPr lang="en-US" dirty="0"/>
                  <a:t>This global threshold determines how strongly someone contributes to roster pressure; it does not determine whether they are selected.</a:t>
                </a:r>
              </a:p>
              <a:p>
                <a:pPr marL="285750" indent="-285750">
                  <a:lnSpc>
                    <a:spcPct val="150000"/>
                  </a:lnSpc>
                  <a:buFont typeface="Arial" panose="020B0604020202020204" pitchFamily="34" charset="0"/>
                  <a:buChar char="•"/>
                </a:pPr>
                <a:r>
                  <a:rPr lang="en-US" dirty="0"/>
                  <a:t>Should someone just below the line count entirely differently than someone just above it?</a:t>
                </a:r>
              </a:p>
            </p:txBody>
          </p:sp>
        </mc:Choice>
        <mc:Fallback xmlns="">
          <p:sp>
            <p:nvSpPr>
              <p:cNvPr id="7" name="TextBox 6">
                <a:extLst>
                  <a:ext uri="{FF2B5EF4-FFF2-40B4-BE49-F238E27FC236}">
                    <a16:creationId xmlns:a16="http://schemas.microsoft.com/office/drawing/2014/main" id="{2A9B1CAA-7E3C-4A24-327D-44AE8D3476FA}"/>
                  </a:ext>
                </a:extLst>
              </p:cNvPr>
              <p:cNvSpPr txBox="1">
                <a:spLocks noRot="1" noChangeAspect="1" noMove="1" noResize="1" noEditPoints="1" noAdjustHandles="1" noChangeArrowheads="1" noChangeShapeType="1" noTextEdit="1"/>
              </p:cNvSpPr>
              <p:nvPr/>
            </p:nvSpPr>
            <p:spPr>
              <a:xfrm>
                <a:off x="748480" y="1120883"/>
                <a:ext cx="10125154" cy="2129878"/>
              </a:xfrm>
              <a:prstGeom prst="rect">
                <a:avLst/>
              </a:prstGeom>
              <a:blipFill>
                <a:blip r:embed="rId4"/>
                <a:stretch>
                  <a:fillRect l="-501" r="-752" b="-4167"/>
                </a:stretch>
              </a:blipFill>
            </p:spPr>
            <p:txBody>
              <a:bodyPr/>
              <a:lstStyle/>
              <a:p>
                <a:r>
                  <a:rPr lang="en-US">
                    <a:noFill/>
                  </a:rPr>
                  <a:t> </a:t>
                </a:r>
              </a:p>
            </p:txBody>
          </p:sp>
        </mc:Fallback>
      </mc:AlternateContent>
    </p:spTree>
    <p:extLst>
      <p:ext uri="{BB962C8B-B14F-4D97-AF65-F5344CB8AC3E}">
        <p14:creationId xmlns:p14="http://schemas.microsoft.com/office/powerpoint/2010/main" val="3477436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F1FB-E618-D173-A425-DA8DB1471DBE}"/>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BEA0C5BB-4740-E001-29CB-0C938A7CCB15}"/>
              </a:ext>
            </a:extLst>
          </p:cNvPr>
          <p:cNvGrpSpPr/>
          <p:nvPr/>
        </p:nvGrpSpPr>
        <p:grpSpPr>
          <a:xfrm>
            <a:off x="6470583" y="2415702"/>
            <a:ext cx="4589277" cy="4442299"/>
            <a:chOff x="2821787" y="3700273"/>
            <a:chExt cx="1609829" cy="1535253"/>
          </a:xfrm>
        </p:grpSpPr>
        <p:pic>
          <p:nvPicPr>
            <p:cNvPr id="14" name="Picture 13">
              <a:extLst>
                <a:ext uri="{FF2B5EF4-FFF2-40B4-BE49-F238E27FC236}">
                  <a16:creationId xmlns:a16="http://schemas.microsoft.com/office/drawing/2014/main" id="{6F711B5E-B324-CDA6-1ED8-C74055F4A0CF}"/>
                </a:ext>
              </a:extLst>
            </p:cNvPr>
            <p:cNvPicPr>
              <a:picLocks noChangeAspect="1"/>
            </p:cNvPicPr>
            <p:nvPr/>
          </p:nvPicPr>
          <p:blipFill>
            <a:blip r:embed="rId3"/>
            <a:srcRect l="31278" r="50768" b="43635"/>
            <a:stretch>
              <a:fillRect/>
            </a:stretch>
          </p:blipFill>
          <p:spPr>
            <a:xfrm>
              <a:off x="2949722" y="3700273"/>
              <a:ext cx="1343301" cy="1535253"/>
            </a:xfrm>
            <a:prstGeom prst="rect">
              <a:avLst/>
            </a:prstGeom>
          </p:spPr>
        </p:pic>
        <p:cxnSp>
          <p:nvCxnSpPr>
            <p:cNvPr id="16" name="Straight Connector 15">
              <a:extLst>
                <a:ext uri="{FF2B5EF4-FFF2-40B4-BE49-F238E27FC236}">
                  <a16:creationId xmlns:a16="http://schemas.microsoft.com/office/drawing/2014/main" id="{F76F8EC5-65DD-51DE-10A4-7684F3859084}"/>
                </a:ext>
              </a:extLst>
            </p:cNvPr>
            <p:cNvCxnSpPr>
              <a:cxnSpLocks/>
            </p:cNvCxnSpPr>
            <p:nvPr/>
          </p:nvCxnSpPr>
          <p:spPr>
            <a:xfrm>
              <a:off x="2821787" y="4475067"/>
              <a:ext cx="1609829" cy="0"/>
            </a:xfrm>
            <a:prstGeom prst="line">
              <a:avLst/>
            </a:prstGeom>
            <a:ln w="63500">
              <a:solidFill>
                <a:srgbClr val="FF0000"/>
              </a:solidFill>
              <a:prstDash val="solid"/>
            </a:ln>
          </p:spPr>
          <p:style>
            <a:lnRef idx="2">
              <a:schemeClr val="accent1"/>
            </a:lnRef>
            <a:fillRef idx="0">
              <a:schemeClr val="accent1"/>
            </a:fillRef>
            <a:effectRef idx="1">
              <a:schemeClr val="accent1"/>
            </a:effectRef>
            <a:fontRef idx="minor">
              <a:schemeClr val="tx1"/>
            </a:fontRef>
          </p:style>
        </p:cxnSp>
      </p:grpSp>
      <p:sp>
        <p:nvSpPr>
          <p:cNvPr id="9" name="Slide Number Placeholder 8">
            <a:extLst>
              <a:ext uri="{FF2B5EF4-FFF2-40B4-BE49-F238E27FC236}">
                <a16:creationId xmlns:a16="http://schemas.microsoft.com/office/drawing/2014/main" id="{51DDAD80-6B32-D41C-FB09-52F2F066E32D}"/>
              </a:ext>
            </a:extLst>
          </p:cNvPr>
          <p:cNvSpPr>
            <a:spLocks noGrp="1"/>
          </p:cNvSpPr>
          <p:nvPr>
            <p:ph type="sldNum" sz="quarter" idx="12"/>
          </p:nvPr>
        </p:nvSpPr>
        <p:spPr/>
        <p:txBody>
          <a:bodyPr/>
          <a:lstStyle/>
          <a:p>
            <a:fld id="{387B101D-DD3C-9947-BBAC-237D8FE858E0}" type="slidenum">
              <a:rPr lang="en-US" smtClean="0"/>
              <a:t>57</a:t>
            </a:fld>
            <a:endParaRPr lang="en-US"/>
          </a:p>
        </p:txBody>
      </p:sp>
      <p:sp>
        <p:nvSpPr>
          <p:cNvPr id="8" name="TextBox 7">
            <a:extLst>
              <a:ext uri="{FF2B5EF4-FFF2-40B4-BE49-F238E27FC236}">
                <a16:creationId xmlns:a16="http://schemas.microsoft.com/office/drawing/2014/main" id="{C01260B9-CE7F-ACF9-B038-B1C0B02FF769}"/>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Competitive relevance changes gradually around the threshold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F83F25-1854-A569-C209-19342B659FCA}"/>
                  </a:ext>
                </a:extLst>
              </p:cNvPr>
              <p:cNvSpPr txBox="1"/>
              <p:nvPr/>
            </p:nvSpPr>
            <p:spPr>
              <a:xfrm>
                <a:off x="748480" y="1120883"/>
                <a:ext cx="10125154" cy="1714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Players just below and just above </a:t>
                </a:r>
                <a14:m>
                  <m:oMath xmlns:m="http://schemas.openxmlformats.org/officeDocument/2006/math">
                    <m:r>
                      <a:rPr lang="el-GR" i="1" dirty="0" smtClean="0">
                        <a:latin typeface="Cambria Math" panose="02040503050406030204" pitchFamily="18" charset="0"/>
                      </a:rPr>
                      <m:t>𝜃</m:t>
                    </m:r>
                  </m:oMath>
                </a14:m>
                <a:r>
                  <a:rPr lang="el-GR" dirty="0"/>
                  <a:t> </a:t>
                </a:r>
                <a:r>
                  <a:rPr lang="en-US" dirty="0"/>
                  <a:t>have similar competitive relevance, rather than falling into entirely different categories.</a:t>
                </a:r>
              </a:p>
              <a:p>
                <a:pPr marL="285750" indent="-285750">
                  <a:lnSpc>
                    <a:spcPct val="150000"/>
                  </a:lnSpc>
                  <a:buFont typeface="Arial" panose="020B0604020202020204" pitchFamily="34" charset="0"/>
                  <a:buChar char="•"/>
                </a:pPr>
                <a:r>
                  <a:rPr lang="en-US" dirty="0"/>
                  <a:t>We introduce the parameter </a:t>
                </a:r>
                <a14:m>
                  <m:oMath xmlns:m="http://schemas.openxmlformats.org/officeDocument/2006/math">
                    <m:r>
                      <a:rPr lang="en-US" i="1" dirty="0" smtClean="0">
                        <a:solidFill>
                          <a:srgbClr val="0432FF"/>
                        </a:solidFill>
                        <a:latin typeface="Cambria Math" panose="02040503050406030204" pitchFamily="18" charset="0"/>
                      </a:rPr>
                      <m:t>𝛾</m:t>
                    </m:r>
                  </m:oMath>
                </a14:m>
                <a:r>
                  <a:rPr lang="en-US" dirty="0"/>
                  <a:t> to control how sharply competitive relevance rises with performance: smaller </a:t>
                </a:r>
                <a14:m>
                  <m:oMath xmlns:m="http://schemas.openxmlformats.org/officeDocument/2006/math">
                    <m:r>
                      <a:rPr lang="en-US" i="1" dirty="0" smtClean="0">
                        <a:solidFill>
                          <a:srgbClr val="0432FF"/>
                        </a:solidFill>
                        <a:latin typeface="Cambria Math" panose="02040503050406030204" pitchFamily="18" charset="0"/>
                      </a:rPr>
                      <m:t>𝛾</m:t>
                    </m:r>
                  </m:oMath>
                </a14:m>
                <a:r>
                  <a:rPr lang="en-US" dirty="0"/>
                  <a:t> gives a more gradual transition;  larger </a:t>
                </a:r>
                <a14:m>
                  <m:oMath xmlns:m="http://schemas.openxmlformats.org/officeDocument/2006/math">
                    <m:r>
                      <a:rPr lang="en-US" i="1" dirty="0" smtClean="0">
                        <a:solidFill>
                          <a:srgbClr val="0432FF"/>
                        </a:solidFill>
                        <a:latin typeface="Cambria Math" panose="02040503050406030204" pitchFamily="18" charset="0"/>
                      </a:rPr>
                      <m:t>𝛾</m:t>
                    </m:r>
                  </m:oMath>
                </a14:m>
                <a:r>
                  <a:rPr lang="en-US" dirty="0"/>
                  <a:t> gives a sharper transition.</a:t>
                </a:r>
              </a:p>
            </p:txBody>
          </p:sp>
        </mc:Choice>
        <mc:Fallback xmlns="">
          <p:sp>
            <p:nvSpPr>
              <p:cNvPr id="7" name="TextBox 6">
                <a:extLst>
                  <a:ext uri="{FF2B5EF4-FFF2-40B4-BE49-F238E27FC236}">
                    <a16:creationId xmlns:a16="http://schemas.microsoft.com/office/drawing/2014/main" id="{68F83F25-1854-A569-C209-19342B659FCA}"/>
                  </a:ext>
                </a:extLst>
              </p:cNvPr>
              <p:cNvSpPr txBox="1">
                <a:spLocks noRot="1" noChangeAspect="1" noMove="1" noResize="1" noEditPoints="1" noAdjustHandles="1" noChangeArrowheads="1" noChangeShapeType="1" noTextEdit="1"/>
              </p:cNvSpPr>
              <p:nvPr/>
            </p:nvSpPr>
            <p:spPr>
              <a:xfrm>
                <a:off x="748480" y="1120883"/>
                <a:ext cx="10125154" cy="1714380"/>
              </a:xfrm>
              <a:prstGeom prst="rect">
                <a:avLst/>
              </a:prstGeom>
              <a:blipFill>
                <a:blip r:embed="rId4"/>
                <a:stretch>
                  <a:fillRect l="-501" b="-4412"/>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CC88FD9E-E4E2-6C8C-E82A-CFA2ACF42A54}"/>
              </a:ext>
            </a:extLst>
          </p:cNvPr>
          <p:cNvGrpSpPr/>
          <p:nvPr/>
        </p:nvGrpSpPr>
        <p:grpSpPr>
          <a:xfrm>
            <a:off x="1287052" y="2415703"/>
            <a:ext cx="5208901" cy="4442296"/>
            <a:chOff x="2935842" y="2415703"/>
            <a:chExt cx="5208901" cy="4442296"/>
          </a:xfrm>
        </p:grpSpPr>
        <p:grpSp>
          <p:nvGrpSpPr>
            <p:cNvPr id="2" name="Group 1">
              <a:extLst>
                <a:ext uri="{FF2B5EF4-FFF2-40B4-BE49-F238E27FC236}">
                  <a16:creationId xmlns:a16="http://schemas.microsoft.com/office/drawing/2014/main" id="{690CB5B0-E317-65BB-A86C-0B292ED4934E}"/>
                </a:ext>
              </a:extLst>
            </p:cNvPr>
            <p:cNvGrpSpPr/>
            <p:nvPr/>
          </p:nvGrpSpPr>
          <p:grpSpPr>
            <a:xfrm>
              <a:off x="2935842" y="2415703"/>
              <a:ext cx="5208901" cy="4442296"/>
              <a:chOff x="2821787" y="3700273"/>
              <a:chExt cx="1827181" cy="1535252"/>
            </a:xfrm>
          </p:grpSpPr>
          <p:grpSp>
            <p:nvGrpSpPr>
              <p:cNvPr id="4" name="Group 3">
                <a:extLst>
                  <a:ext uri="{FF2B5EF4-FFF2-40B4-BE49-F238E27FC236}">
                    <a16:creationId xmlns:a16="http://schemas.microsoft.com/office/drawing/2014/main" id="{0E54C7F9-10BA-6ADC-DC72-468D96628CE4}"/>
                  </a:ext>
                </a:extLst>
              </p:cNvPr>
              <p:cNvGrpSpPr/>
              <p:nvPr/>
            </p:nvGrpSpPr>
            <p:grpSpPr>
              <a:xfrm>
                <a:off x="2821787" y="4356414"/>
                <a:ext cx="1827181" cy="287192"/>
                <a:chOff x="7008383" y="5309676"/>
                <a:chExt cx="844498" cy="126613"/>
              </a:xfrm>
            </p:grpSpPr>
            <p:cxnSp>
              <p:nvCxnSpPr>
                <p:cNvPr id="5" name="Straight Connector 4">
                  <a:extLst>
                    <a:ext uri="{FF2B5EF4-FFF2-40B4-BE49-F238E27FC236}">
                      <a16:creationId xmlns:a16="http://schemas.microsoft.com/office/drawing/2014/main" id="{1EA2CCD9-E203-A388-6541-3502CADEEDF4}"/>
                    </a:ext>
                  </a:extLst>
                </p:cNvPr>
                <p:cNvCxnSpPr>
                  <a:cxnSpLocks/>
                </p:cNvCxnSpPr>
                <p:nvPr/>
              </p:nvCxnSpPr>
              <p:spPr>
                <a:xfrm>
                  <a:off x="7008383" y="5361986"/>
                  <a:ext cx="744041" cy="0"/>
                </a:xfrm>
                <a:prstGeom prst="line">
                  <a:avLst/>
                </a:prstGeom>
                <a:ln w="1041400">
                  <a:gradFill flip="none" rotWithShape="1">
                    <a:gsLst>
                      <a:gs pos="0">
                        <a:schemeClr val="accent1">
                          <a:lumMod val="5000"/>
                          <a:lumOff val="95000"/>
                        </a:schemeClr>
                      </a:gs>
                      <a:gs pos="50000">
                        <a:srgbClr val="FF0000">
                          <a:alpha val="56471"/>
                        </a:srgbClr>
                      </a:gs>
                      <a:gs pos="100000">
                        <a:schemeClr val="bg1"/>
                      </a:gs>
                    </a:gsLst>
                    <a:lin ang="5400000" scaled="1"/>
                    <a:tileRect/>
                  </a:gra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24E01D-A1F1-A22E-4BB3-2AE69194A9FD}"/>
                        </a:ext>
                      </a:extLst>
                    </p:cNvPr>
                    <p:cNvSpPr txBox="1"/>
                    <p:nvPr/>
                  </p:nvSpPr>
                  <p:spPr>
                    <a:xfrm>
                      <a:off x="7740297" y="5309676"/>
                      <a:ext cx="112584" cy="126613"/>
                    </a:xfrm>
                    <a:prstGeom prst="rect">
                      <a:avLst/>
                    </a:prstGeom>
                    <a:noFill/>
                  </p:spPr>
                  <p:txBody>
                    <a:bodyPr wrap="none" rtlCol="0">
                      <a:spAutoFit/>
                    </a:bodyPr>
                    <a:lstStyle/>
                    <a:p>
                      <a:pPr/>
                      <a14:m>
                        <m:oMathPara xmlns:m="http://schemas.openxmlformats.org/officeDocument/2006/math">
                          <m:oMath>
                            <m:r>
                              <a:rPr lang="en-US" sz="4800" b="0" i="1" dirty="0" smtClean="0">
                                <a:solidFill>
                                  <a:srgbClr val="7030A0"/>
                                </a:solidFill>
                                <a:latin typeface="Cambria Math" panose="02040503050406030204" pitchFamily="18" charset="0"/>
                              </a:rPr>
                              <m:t>𝜃</m:t>
                            </m:r>
                          </m:oMath>
                        </m:oMathPara>
                      </a14:m>
                      <a:endParaRPr lang="en-US" sz="3200" dirty="0">
                        <a:solidFill>
                          <a:srgbClr val="7030A0"/>
                        </a:solidFill>
                      </a:endParaRPr>
                    </a:p>
                  </p:txBody>
                </p:sp>
              </mc:Choice>
              <mc:Fallback xmlns="">
                <p:sp>
                  <p:nvSpPr>
                    <p:cNvPr id="10" name="TextBox 9">
                      <a:extLst>
                        <a:ext uri="{FF2B5EF4-FFF2-40B4-BE49-F238E27FC236}">
                          <a16:creationId xmlns:a16="http://schemas.microsoft.com/office/drawing/2014/main" id="{3A24E01D-A1F1-A22E-4BB3-2AE69194A9FD}"/>
                        </a:ext>
                      </a:extLst>
                    </p:cNvPr>
                    <p:cNvSpPr txBox="1">
                      <a:spLocks noRot="1" noChangeAspect="1" noMove="1" noResize="1" noEditPoints="1" noAdjustHandles="1" noChangeArrowheads="1" noChangeShapeType="1" noTextEdit="1"/>
                    </p:cNvSpPr>
                    <p:nvPr/>
                  </p:nvSpPr>
                  <p:spPr>
                    <a:xfrm>
                      <a:off x="7740297" y="5309676"/>
                      <a:ext cx="112584" cy="126613"/>
                    </a:xfrm>
                    <a:prstGeom prst="rect">
                      <a:avLst/>
                    </a:prstGeom>
                    <a:blipFill>
                      <a:blip r:embed="rId5"/>
                      <a:stretch>
                        <a:fillRect l="-5357" r="-3571"/>
                      </a:stretch>
                    </a:blipFill>
                  </p:spPr>
                  <p:txBody>
                    <a:bodyPr/>
                    <a:lstStyle/>
                    <a:p>
                      <a:r>
                        <a:rPr lang="en-US">
                          <a:noFill/>
                        </a:rPr>
                        <a:t> </a:t>
                      </a:r>
                    </a:p>
                  </p:txBody>
                </p:sp>
              </mc:Fallback>
            </mc:AlternateContent>
          </p:grpSp>
          <p:pic>
            <p:nvPicPr>
              <p:cNvPr id="3" name="Picture 2">
                <a:extLst>
                  <a:ext uri="{FF2B5EF4-FFF2-40B4-BE49-F238E27FC236}">
                    <a16:creationId xmlns:a16="http://schemas.microsoft.com/office/drawing/2014/main" id="{5E0B4340-7F32-CBBF-D2D3-2C278DBD925F}"/>
                  </a:ext>
                </a:extLst>
              </p:cNvPr>
              <p:cNvPicPr>
                <a:picLocks noChangeAspect="1"/>
              </p:cNvPicPr>
              <p:nvPr/>
            </p:nvPicPr>
            <p:blipFill>
              <a:blip r:embed="rId3">
                <a:clrChange>
                  <a:clrFrom>
                    <a:srgbClr val="FFFFFF"/>
                  </a:clrFrom>
                  <a:clrTo>
                    <a:srgbClr val="FFFFFF">
                      <a:alpha val="0"/>
                    </a:srgbClr>
                  </a:clrTo>
                </a:clrChange>
              </a:blip>
              <a:srcRect l="31278" r="50768" b="43635"/>
              <a:stretch>
                <a:fillRect/>
              </a:stretch>
            </p:blipFill>
            <p:spPr>
              <a:xfrm>
                <a:off x="2949722" y="3700273"/>
                <a:ext cx="1343301" cy="1535252"/>
              </a:xfrm>
              <a:prstGeom prst="rect">
                <a:avLst/>
              </a:prstGeom>
            </p:spPr>
          </p:pic>
        </p:grpSp>
        <p:cxnSp>
          <p:nvCxnSpPr>
            <p:cNvPr id="11" name="Straight Connector 10">
              <a:extLst>
                <a:ext uri="{FF2B5EF4-FFF2-40B4-BE49-F238E27FC236}">
                  <a16:creationId xmlns:a16="http://schemas.microsoft.com/office/drawing/2014/main" id="{ACEEBCEB-6EA4-AF89-FACF-F8109BE3E758}"/>
                </a:ext>
              </a:extLst>
            </p:cNvPr>
            <p:cNvCxnSpPr>
              <a:cxnSpLocks/>
            </p:cNvCxnSpPr>
            <p:nvPr/>
          </p:nvCxnSpPr>
          <p:spPr>
            <a:xfrm flipV="1">
              <a:off x="2935842" y="4657591"/>
              <a:ext cx="4589278" cy="584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4786E6-301B-4EF9-E410-51A473F11CCD}"/>
                  </a:ext>
                </a:extLst>
              </p:cNvPr>
              <p:cNvSpPr txBox="1"/>
              <p:nvPr/>
            </p:nvSpPr>
            <p:spPr>
              <a:xfrm>
                <a:off x="2803158" y="3429000"/>
                <a:ext cx="1169166" cy="461665"/>
              </a:xfrm>
              <a:prstGeom prst="rect">
                <a:avLst/>
              </a:prstGeom>
              <a:noFill/>
            </p:spPr>
            <p:txBody>
              <a:bodyPr wrap="none" rtlCol="0">
                <a:spAutoFit/>
              </a:bodyPr>
              <a:lstStyle/>
              <a:p>
                <a:r>
                  <a:rPr lang="en-US" dirty="0"/>
                  <a:t>Smaller </a:t>
                </a:r>
                <a14:m>
                  <m:oMath xmlns:m="http://schemas.openxmlformats.org/officeDocument/2006/math">
                    <m:r>
                      <a:rPr lang="en-US" sz="2400" i="1" dirty="0" smtClean="0">
                        <a:solidFill>
                          <a:srgbClr val="0432FF"/>
                        </a:solidFill>
                        <a:latin typeface="Cambria Math" panose="02040503050406030204" pitchFamily="18" charset="0"/>
                      </a:rPr>
                      <m:t>𝛾</m:t>
                    </m:r>
                  </m:oMath>
                </a14:m>
                <a:endParaRPr lang="en-US" dirty="0">
                  <a:solidFill>
                    <a:srgbClr val="0432FF"/>
                  </a:solidFill>
                </a:endParaRPr>
              </a:p>
            </p:txBody>
          </p:sp>
        </mc:Choice>
        <mc:Fallback xmlns="">
          <p:sp>
            <p:nvSpPr>
              <p:cNvPr id="18" name="TextBox 17">
                <a:extLst>
                  <a:ext uri="{FF2B5EF4-FFF2-40B4-BE49-F238E27FC236}">
                    <a16:creationId xmlns:a16="http://schemas.microsoft.com/office/drawing/2014/main" id="{A44786E6-301B-4EF9-E410-51A473F11CCD}"/>
                  </a:ext>
                </a:extLst>
              </p:cNvPr>
              <p:cNvSpPr txBox="1">
                <a:spLocks noRot="1" noChangeAspect="1" noMove="1" noResize="1" noEditPoints="1" noAdjustHandles="1" noChangeArrowheads="1" noChangeShapeType="1" noTextEdit="1"/>
              </p:cNvSpPr>
              <p:nvPr/>
            </p:nvSpPr>
            <p:spPr>
              <a:xfrm>
                <a:off x="2803158" y="3429000"/>
                <a:ext cx="1169166" cy="461665"/>
              </a:xfrm>
              <a:prstGeom prst="rect">
                <a:avLst/>
              </a:prstGeom>
              <a:blipFill>
                <a:blip r:embed="rId6"/>
                <a:stretch>
                  <a:fillRect l="-4301"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B831E8-C41B-C11F-E91A-2E519A6C7DA6}"/>
                  </a:ext>
                </a:extLst>
              </p:cNvPr>
              <p:cNvSpPr txBox="1"/>
              <p:nvPr/>
            </p:nvSpPr>
            <p:spPr>
              <a:xfrm>
                <a:off x="7989762" y="3429000"/>
                <a:ext cx="1025217" cy="461665"/>
              </a:xfrm>
              <a:prstGeom prst="rect">
                <a:avLst/>
              </a:prstGeom>
              <a:noFill/>
            </p:spPr>
            <p:txBody>
              <a:bodyPr wrap="none" rtlCol="0">
                <a:spAutoFit/>
              </a:bodyPr>
              <a:lstStyle/>
              <a:p>
                <a:r>
                  <a:rPr lang="en-US" dirty="0"/>
                  <a:t>Larger </a:t>
                </a:r>
                <a14:m>
                  <m:oMath xmlns:m="http://schemas.openxmlformats.org/officeDocument/2006/math">
                    <m:r>
                      <a:rPr lang="en-US" sz="2400" i="1" dirty="0" smtClean="0">
                        <a:solidFill>
                          <a:srgbClr val="0432FF"/>
                        </a:solidFill>
                        <a:latin typeface="Cambria Math" panose="02040503050406030204" pitchFamily="18" charset="0"/>
                      </a:rPr>
                      <m:t>𝛾</m:t>
                    </m:r>
                  </m:oMath>
                </a14:m>
                <a:endParaRPr lang="en-US" dirty="0">
                  <a:solidFill>
                    <a:srgbClr val="0432FF"/>
                  </a:solidFill>
                </a:endParaRPr>
              </a:p>
            </p:txBody>
          </p:sp>
        </mc:Choice>
        <mc:Fallback xmlns="">
          <p:sp>
            <p:nvSpPr>
              <p:cNvPr id="19" name="TextBox 18">
                <a:extLst>
                  <a:ext uri="{FF2B5EF4-FFF2-40B4-BE49-F238E27FC236}">
                    <a16:creationId xmlns:a16="http://schemas.microsoft.com/office/drawing/2014/main" id="{33B831E8-C41B-C11F-E91A-2E519A6C7DA6}"/>
                  </a:ext>
                </a:extLst>
              </p:cNvPr>
              <p:cNvSpPr txBox="1">
                <a:spLocks noRot="1" noChangeAspect="1" noMove="1" noResize="1" noEditPoints="1" noAdjustHandles="1" noChangeArrowheads="1" noChangeShapeType="1" noTextEdit="1"/>
              </p:cNvSpPr>
              <p:nvPr/>
            </p:nvSpPr>
            <p:spPr>
              <a:xfrm>
                <a:off x="7989762" y="3429000"/>
                <a:ext cx="1025217" cy="461665"/>
              </a:xfrm>
              <a:prstGeom prst="rect">
                <a:avLst/>
              </a:prstGeom>
              <a:blipFill>
                <a:blip r:embed="rId7"/>
                <a:stretch>
                  <a:fillRect l="-6173" b="-13514"/>
                </a:stretch>
              </a:blipFill>
            </p:spPr>
            <p:txBody>
              <a:bodyPr/>
              <a:lstStyle/>
              <a:p>
                <a:r>
                  <a:rPr lang="en-US">
                    <a:noFill/>
                  </a:rPr>
                  <a:t> </a:t>
                </a:r>
              </a:p>
            </p:txBody>
          </p:sp>
        </mc:Fallback>
      </mc:AlternateContent>
    </p:spTree>
    <p:extLst>
      <p:ext uri="{BB962C8B-B14F-4D97-AF65-F5344CB8AC3E}">
        <p14:creationId xmlns:p14="http://schemas.microsoft.com/office/powerpoint/2010/main" val="2943959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8AF4D-0050-1CCD-1C16-CFD108A5D7B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4C6A3CB-216B-D0CB-BE6F-8BB77D8AACB9}"/>
              </a:ext>
            </a:extLst>
          </p:cNvPr>
          <p:cNvSpPr>
            <a:spLocks noGrp="1"/>
          </p:cNvSpPr>
          <p:nvPr>
            <p:ph type="sldNum" sz="quarter" idx="12"/>
          </p:nvPr>
        </p:nvSpPr>
        <p:spPr/>
        <p:txBody>
          <a:bodyPr/>
          <a:lstStyle/>
          <a:p>
            <a:fld id="{387B101D-DD3C-9947-BBAC-237D8FE858E0}" type="slidenum">
              <a:rPr lang="en-US" smtClean="0"/>
              <a:t>58</a:t>
            </a:fld>
            <a:endParaRPr lang="en-US"/>
          </a:p>
        </p:txBody>
      </p:sp>
      <p:sp>
        <p:nvSpPr>
          <p:cNvPr id="8" name="TextBox 7">
            <a:extLst>
              <a:ext uri="{FF2B5EF4-FFF2-40B4-BE49-F238E27FC236}">
                <a16:creationId xmlns:a16="http://schemas.microsoft.com/office/drawing/2014/main" id="{4147EC0D-D7C0-7CAC-B88F-E9C72F548145}"/>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Measuring competitive relevance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B6B121-4E85-51B2-4F2A-8B2CD9DA636D}"/>
                  </a:ext>
                </a:extLst>
              </p:cNvPr>
              <p:cNvSpPr txBox="1"/>
              <p:nvPr/>
            </p:nvSpPr>
            <p:spPr>
              <a:xfrm>
                <a:off x="748480" y="1120883"/>
                <a:ext cx="10447344" cy="18954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We assign each player a competitive relevance </a:t>
                </a:r>
                <a14:m>
                  <m:oMath xmlns:m="http://schemas.openxmlformats.org/officeDocument/2006/math">
                    <m:sSub>
                      <m:sSubPr>
                        <m:ctrlPr>
                          <a:rPr lang="en-US" i="1" dirty="0" err="1" smtClean="0">
                            <a:solidFill>
                              <a:srgbClr val="0432FF"/>
                            </a:solidFill>
                            <a:latin typeface="Cambria Math" panose="02040503050406030204" pitchFamily="18" charset="0"/>
                          </a:rPr>
                        </m:ctrlPr>
                      </m:sSubPr>
                      <m:e>
                        <m:r>
                          <a:rPr lang="en-US" i="1" dirty="0" err="1" smtClean="0">
                            <a:solidFill>
                              <a:srgbClr val="0432FF"/>
                            </a:solidFill>
                            <a:latin typeface="Cambria Math" panose="02040503050406030204" pitchFamily="18" charset="0"/>
                          </a:rPr>
                          <m:t>𝑣</m:t>
                        </m:r>
                      </m:e>
                      <m:sub>
                        <m:r>
                          <a:rPr lang="en-US" i="1" dirty="0" err="1" smtClean="0">
                            <a:solidFill>
                              <a:srgbClr val="0432FF"/>
                            </a:solidFill>
                            <a:latin typeface="Cambria Math" panose="02040503050406030204" pitchFamily="18" charset="0"/>
                          </a:rPr>
                          <m:t>ℎ</m:t>
                        </m:r>
                      </m:sub>
                    </m:sSub>
                  </m:oMath>
                </a14:m>
                <a:r>
                  <a:rPr lang="en-US" dirty="0"/>
                  <a:t> between zero and one using a sigmoid function.</a:t>
                </a:r>
              </a:p>
              <a:p>
                <a:pPr/>
                <a14:m>
                  <m:oMathPara xmlns:m="http://schemas.openxmlformats.org/officeDocument/2006/math">
                    <m:oMath>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𝑣</m:t>
                          </m:r>
                        </m:e>
                        <m:sub>
                          <m:r>
                            <a:rPr lang="en-US" sz="2000" i="1" dirty="0" smtClean="0">
                              <a:solidFill>
                                <a:srgbClr val="0432FF"/>
                              </a:solidFill>
                              <a:latin typeface="Cambria Math" panose="02040503050406030204" pitchFamily="18" charset="0"/>
                            </a:rPr>
                            <m:t>ℎ</m:t>
                          </m:r>
                        </m:sub>
                      </m:sSub>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𝜎</m:t>
                      </m:r>
                      <m:d>
                        <m:dPr>
                          <m:ctrlPr>
                            <a:rPr lang="en-US" sz="2000" i="1" dirty="0" smtClean="0">
                              <a:solidFill>
                                <a:srgbClr val="0432FF"/>
                              </a:solidFill>
                              <a:latin typeface="Cambria Math" panose="02040503050406030204" pitchFamily="18" charset="0"/>
                            </a:rPr>
                          </m:ctrlPr>
                        </m:dPr>
                        <m:e>
                          <m:r>
                            <a:rPr lang="en-US" sz="2000" i="1" dirty="0" smtClean="0">
                              <a:solidFill>
                                <a:srgbClr val="0432FF"/>
                              </a:solidFill>
                              <a:latin typeface="Cambria Math" panose="02040503050406030204" pitchFamily="18" charset="0"/>
                            </a:rPr>
                            <m:t>𝛾</m:t>
                          </m:r>
                          <m:d>
                            <m:dPr>
                              <m:ctrlPr>
                                <a:rPr lang="en-US" sz="2000" i="1" dirty="0" smtClean="0">
                                  <a:solidFill>
                                    <a:srgbClr val="0432FF"/>
                                  </a:solidFill>
                                  <a:latin typeface="Cambria Math" panose="02040503050406030204" pitchFamily="18" charset="0"/>
                                </a:rPr>
                              </m:ctrlPr>
                            </m:dPr>
                            <m:e>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𝐴</m:t>
                                  </m:r>
                                </m:e>
                                <m:sub>
                                  <m:r>
                                    <a:rPr lang="en-US" sz="2000" i="1" dirty="0" smtClean="0">
                                      <a:solidFill>
                                        <a:srgbClr val="0432FF"/>
                                      </a:solidFill>
                                      <a:latin typeface="Cambria Math" panose="02040503050406030204" pitchFamily="18" charset="0"/>
                                    </a:rPr>
                                    <m:t>ℎ</m:t>
                                  </m:r>
                                </m:sub>
                              </m:sSub>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𝜃</m:t>
                              </m:r>
                            </m:e>
                          </m:d>
                        </m:e>
                      </m:d>
                      <m:r>
                        <a:rPr lang="en-US" sz="2000" i="0" dirty="0" smtClean="0">
                          <a:solidFill>
                            <a:srgbClr val="0432FF"/>
                          </a:solidFill>
                          <a:latin typeface="Cambria Math" panose="02040503050406030204" pitchFamily="18" charset="0"/>
                        </a:rPr>
                        <m:t>=</m:t>
                      </m:r>
                      <m:f>
                        <m:fPr>
                          <m:ctrlPr>
                            <a:rPr lang="en-US" sz="2000" i="0" dirty="0" smtClean="0">
                              <a:solidFill>
                                <a:srgbClr val="0432FF"/>
                              </a:solidFill>
                              <a:latin typeface="Cambria Math" panose="02040503050406030204" pitchFamily="18" charset="0"/>
                            </a:rPr>
                          </m:ctrlPr>
                        </m:fPr>
                        <m:num>
                          <m:r>
                            <a:rPr lang="en-US" sz="2000" i="0" dirty="0" smtClean="0">
                              <a:solidFill>
                                <a:srgbClr val="0432FF"/>
                              </a:solidFill>
                              <a:latin typeface="Cambria Math" panose="02040503050406030204" pitchFamily="18" charset="0"/>
                            </a:rPr>
                            <m:t>1</m:t>
                          </m:r>
                        </m:num>
                        <m:den>
                          <m:r>
                            <a:rPr lang="en-US" sz="2000" i="0" dirty="0" smtClean="0">
                              <a:solidFill>
                                <a:srgbClr val="0432FF"/>
                              </a:solidFill>
                              <a:latin typeface="Cambria Math" panose="02040503050406030204" pitchFamily="18" charset="0"/>
                            </a:rPr>
                            <m:t>1+</m:t>
                          </m:r>
                          <m:sSup>
                            <m:sSupPr>
                              <m:ctrlPr>
                                <a:rPr lang="en-US" sz="2000" i="1" dirty="0" smtClean="0">
                                  <a:solidFill>
                                    <a:srgbClr val="0432FF"/>
                                  </a:solidFill>
                                  <a:latin typeface="Cambria Math" panose="02040503050406030204" pitchFamily="18" charset="0"/>
                                </a:rPr>
                              </m:ctrlPr>
                            </m:sSupPr>
                            <m:e>
                              <m:r>
                                <a:rPr lang="en-US" sz="2000" i="1" dirty="0" smtClean="0">
                                  <a:solidFill>
                                    <a:srgbClr val="0432FF"/>
                                  </a:solidFill>
                                  <a:latin typeface="Cambria Math" panose="02040503050406030204" pitchFamily="18" charset="0"/>
                                </a:rPr>
                                <m:t>𝑒</m:t>
                              </m:r>
                            </m:e>
                            <m:sup>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𝛾</m:t>
                              </m:r>
                              <m:d>
                                <m:dPr>
                                  <m:ctrlPr>
                                    <a:rPr lang="en-US" sz="2000" i="1" dirty="0" smtClean="0">
                                      <a:solidFill>
                                        <a:srgbClr val="0432FF"/>
                                      </a:solidFill>
                                      <a:latin typeface="Cambria Math" panose="02040503050406030204" pitchFamily="18" charset="0"/>
                                    </a:rPr>
                                  </m:ctrlPr>
                                </m:dPr>
                                <m:e>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𝐴</m:t>
                                      </m:r>
                                    </m:e>
                                    <m:sub>
                                      <m:r>
                                        <a:rPr lang="en-US" sz="2000" i="1" dirty="0" smtClean="0">
                                          <a:solidFill>
                                            <a:srgbClr val="0432FF"/>
                                          </a:solidFill>
                                          <a:latin typeface="Cambria Math" panose="02040503050406030204" pitchFamily="18" charset="0"/>
                                        </a:rPr>
                                        <m:t>ℎ</m:t>
                                      </m:r>
                                    </m:sub>
                                  </m:sSub>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𝜃</m:t>
                                  </m:r>
                                </m:e>
                              </m:d>
                            </m:sup>
                          </m:sSup>
                        </m:den>
                      </m:f>
                      <m:r>
                        <a:rPr lang="en-US" sz="2000" i="0" dirty="0" smtClean="0">
                          <a:solidFill>
                            <a:srgbClr val="0432FF"/>
                          </a:solidFill>
                          <a:latin typeface="Cambria Math" panose="02040503050406030204" pitchFamily="18" charset="0"/>
                        </a:rPr>
                        <m:t>,  </m:t>
                      </m:r>
                      <m:r>
                        <a:rPr lang="en-US" sz="2000" i="1" dirty="0" smtClean="0">
                          <a:solidFill>
                            <a:srgbClr val="0432FF"/>
                          </a:solidFill>
                          <a:latin typeface="Cambria Math" panose="02040503050406030204" pitchFamily="18" charset="0"/>
                        </a:rPr>
                        <m:t>𝛾</m:t>
                      </m:r>
                      <m:r>
                        <a:rPr lang="en-US" sz="2000" i="0" dirty="0" smtClean="0">
                          <a:solidFill>
                            <a:srgbClr val="0432FF"/>
                          </a:solidFill>
                          <a:latin typeface="Cambria Math" panose="02040503050406030204" pitchFamily="18" charset="0"/>
                        </a:rPr>
                        <m:t>&gt;0</m:t>
                      </m:r>
                    </m:oMath>
                  </m:oMathPara>
                </a14:m>
                <a:endParaRPr lang="en-US" sz="2000" dirty="0">
                  <a:solidFill>
                    <a:srgbClr val="0432FF"/>
                  </a:solidFill>
                </a:endParaRPr>
              </a:p>
              <a:p>
                <a:pPr marL="285750" indent="-285750">
                  <a:lnSpc>
                    <a:spcPct val="150000"/>
                  </a:lnSpc>
                  <a:buFont typeface="Arial" panose="020B0604020202020204" pitchFamily="34" charset="0"/>
                  <a:buChar char="•"/>
                </a:pPr>
                <a:r>
                  <a:rPr lang="en-US" dirty="0"/>
                  <a:t>At </a:t>
                </a:r>
                <a14:m>
                  <m:oMath xmlns:m="http://schemas.openxmlformats.org/officeDocument/2006/math">
                    <m:sSub>
                      <m:sSubPr>
                        <m:ctrlPr>
                          <a:rPr lang="en-US" i="1" dirty="0" err="1" smtClean="0">
                            <a:solidFill>
                              <a:srgbClr val="0432FF"/>
                            </a:solidFill>
                            <a:latin typeface="Cambria Math" panose="02040503050406030204" pitchFamily="18" charset="0"/>
                          </a:rPr>
                        </m:ctrlPr>
                      </m:sSubPr>
                      <m:e>
                        <m:r>
                          <a:rPr lang="en-US" i="1" dirty="0" err="1" smtClean="0">
                            <a:solidFill>
                              <a:srgbClr val="0432FF"/>
                            </a:solidFill>
                            <a:latin typeface="Cambria Math" panose="02040503050406030204" pitchFamily="18" charset="0"/>
                          </a:rPr>
                          <m:t>𝐴</m:t>
                        </m:r>
                      </m:e>
                      <m:sub>
                        <m:r>
                          <a:rPr lang="en-US" i="1" dirty="0" err="1" smtClean="0">
                            <a:solidFill>
                              <a:srgbClr val="0432FF"/>
                            </a:solidFill>
                            <a:latin typeface="Cambria Math" panose="02040503050406030204" pitchFamily="18" charset="0"/>
                          </a:rPr>
                          <m:t>ℎ</m:t>
                        </m:r>
                      </m:sub>
                    </m:sSub>
                    <m:r>
                      <a:rPr lang="en-US" i="0" dirty="0" err="1" smtClean="0">
                        <a:solidFill>
                          <a:srgbClr val="0432FF"/>
                        </a:solidFill>
                        <a:latin typeface="Cambria Math" panose="02040503050406030204" pitchFamily="18" charset="0"/>
                      </a:rPr>
                      <m:t>=</m:t>
                    </m:r>
                    <m:r>
                      <a:rPr lang="en-US" i="1" dirty="0" err="1" smtClean="0">
                        <a:solidFill>
                          <a:srgbClr val="0432FF"/>
                        </a:solidFill>
                        <a:latin typeface="Cambria Math" panose="02040503050406030204" pitchFamily="18" charset="0"/>
                      </a:rPr>
                      <m:t>𝜃</m:t>
                    </m:r>
                  </m:oMath>
                </a14:m>
                <a:r>
                  <a:rPr lang="en-US" dirty="0"/>
                  <a:t>, competitive relevance equals ½. Higher performance gives greater relevance; </a:t>
                </a:r>
                <a14:m>
                  <m:oMath xmlns:m="http://schemas.openxmlformats.org/officeDocument/2006/math">
                    <m:r>
                      <a:rPr lang="en-US" i="1" dirty="0" smtClean="0">
                        <a:solidFill>
                          <a:srgbClr val="0432FF"/>
                        </a:solidFill>
                        <a:latin typeface="Cambria Math" panose="02040503050406030204" pitchFamily="18" charset="0"/>
                      </a:rPr>
                      <m:t>𝛾</m:t>
                    </m:r>
                  </m:oMath>
                </a14:m>
                <a:r>
                  <a:rPr lang="en-US" dirty="0"/>
                  <a:t> controls how sharply it increases.</a:t>
                </a:r>
              </a:p>
            </p:txBody>
          </p:sp>
        </mc:Choice>
        <mc:Fallback xmlns="">
          <p:sp>
            <p:nvSpPr>
              <p:cNvPr id="7" name="TextBox 6">
                <a:extLst>
                  <a:ext uri="{FF2B5EF4-FFF2-40B4-BE49-F238E27FC236}">
                    <a16:creationId xmlns:a16="http://schemas.microsoft.com/office/drawing/2014/main" id="{F4B6B121-4E85-51B2-4F2A-8B2CD9DA636D}"/>
                  </a:ext>
                </a:extLst>
              </p:cNvPr>
              <p:cNvSpPr txBox="1">
                <a:spLocks noRot="1" noChangeAspect="1" noMove="1" noResize="1" noEditPoints="1" noAdjustHandles="1" noChangeArrowheads="1" noChangeShapeType="1" noTextEdit="1"/>
              </p:cNvSpPr>
              <p:nvPr/>
            </p:nvSpPr>
            <p:spPr>
              <a:xfrm>
                <a:off x="748480" y="1120883"/>
                <a:ext cx="10447344" cy="1895455"/>
              </a:xfrm>
              <a:prstGeom prst="rect">
                <a:avLst/>
              </a:prstGeom>
              <a:blipFill>
                <a:blip r:embed="rId3"/>
                <a:stretch>
                  <a:fillRect l="-486" b="-4667"/>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27EBF429-302F-CF94-8A4E-F7E282D262E4}"/>
              </a:ext>
            </a:extLst>
          </p:cNvPr>
          <p:cNvGrpSpPr/>
          <p:nvPr/>
        </p:nvGrpSpPr>
        <p:grpSpPr>
          <a:xfrm>
            <a:off x="4755082" y="2351702"/>
            <a:ext cx="5208901" cy="4442296"/>
            <a:chOff x="2935842" y="2415703"/>
            <a:chExt cx="5208901" cy="4442296"/>
          </a:xfrm>
        </p:grpSpPr>
        <p:grpSp>
          <p:nvGrpSpPr>
            <p:cNvPr id="15" name="Group 14">
              <a:extLst>
                <a:ext uri="{FF2B5EF4-FFF2-40B4-BE49-F238E27FC236}">
                  <a16:creationId xmlns:a16="http://schemas.microsoft.com/office/drawing/2014/main" id="{185D50B2-CB72-3647-A01C-3839CBFB20D1}"/>
                </a:ext>
              </a:extLst>
            </p:cNvPr>
            <p:cNvGrpSpPr/>
            <p:nvPr/>
          </p:nvGrpSpPr>
          <p:grpSpPr>
            <a:xfrm>
              <a:off x="2935842" y="2415703"/>
              <a:ext cx="5208901" cy="4442296"/>
              <a:chOff x="2821787" y="3700273"/>
              <a:chExt cx="1827181" cy="1535252"/>
            </a:xfrm>
          </p:grpSpPr>
          <p:grpSp>
            <p:nvGrpSpPr>
              <p:cNvPr id="20" name="Group 19">
                <a:extLst>
                  <a:ext uri="{FF2B5EF4-FFF2-40B4-BE49-F238E27FC236}">
                    <a16:creationId xmlns:a16="http://schemas.microsoft.com/office/drawing/2014/main" id="{D41A6CE9-701E-AF91-C614-CC51F8C71961}"/>
                  </a:ext>
                </a:extLst>
              </p:cNvPr>
              <p:cNvGrpSpPr/>
              <p:nvPr/>
            </p:nvGrpSpPr>
            <p:grpSpPr>
              <a:xfrm>
                <a:off x="2821787" y="4356414"/>
                <a:ext cx="1827181" cy="287192"/>
                <a:chOff x="7008383" y="5309676"/>
                <a:chExt cx="844498" cy="126613"/>
              </a:xfrm>
            </p:grpSpPr>
            <p:cxnSp>
              <p:nvCxnSpPr>
                <p:cNvPr id="22" name="Straight Connector 21">
                  <a:extLst>
                    <a:ext uri="{FF2B5EF4-FFF2-40B4-BE49-F238E27FC236}">
                      <a16:creationId xmlns:a16="http://schemas.microsoft.com/office/drawing/2014/main" id="{2A2AADAF-F8D5-7C1C-39C7-A8A7C4B84A54}"/>
                    </a:ext>
                  </a:extLst>
                </p:cNvPr>
                <p:cNvCxnSpPr>
                  <a:cxnSpLocks/>
                </p:cNvCxnSpPr>
                <p:nvPr/>
              </p:nvCxnSpPr>
              <p:spPr>
                <a:xfrm>
                  <a:off x="7008383" y="5361986"/>
                  <a:ext cx="744041" cy="0"/>
                </a:xfrm>
                <a:prstGeom prst="line">
                  <a:avLst/>
                </a:prstGeom>
                <a:ln w="1041400">
                  <a:gradFill flip="none" rotWithShape="1">
                    <a:gsLst>
                      <a:gs pos="0">
                        <a:schemeClr val="accent1">
                          <a:lumMod val="5000"/>
                          <a:lumOff val="95000"/>
                        </a:schemeClr>
                      </a:gs>
                      <a:gs pos="50000">
                        <a:srgbClr val="FF0000">
                          <a:alpha val="56471"/>
                        </a:srgbClr>
                      </a:gs>
                      <a:gs pos="100000">
                        <a:schemeClr val="bg1"/>
                      </a:gs>
                    </a:gsLst>
                    <a:lin ang="5400000" scaled="1"/>
                    <a:tileRect/>
                  </a:gra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E5FFDCB-EB4E-CF0C-9351-3C635D7D0876}"/>
                        </a:ext>
                      </a:extLst>
                    </p:cNvPr>
                    <p:cNvSpPr txBox="1"/>
                    <p:nvPr/>
                  </p:nvSpPr>
                  <p:spPr>
                    <a:xfrm>
                      <a:off x="7740297" y="5309676"/>
                      <a:ext cx="112584" cy="126613"/>
                    </a:xfrm>
                    <a:prstGeom prst="rect">
                      <a:avLst/>
                    </a:prstGeom>
                    <a:noFill/>
                  </p:spPr>
                  <p:txBody>
                    <a:bodyPr wrap="none" rtlCol="0">
                      <a:spAutoFit/>
                    </a:bodyPr>
                    <a:lstStyle/>
                    <a:p>
                      <a:pPr/>
                      <a14:m>
                        <m:oMathPara xmlns:m="http://schemas.openxmlformats.org/officeDocument/2006/math">
                          <m:oMath>
                            <m:r>
                              <a:rPr lang="en-US" sz="4800" b="0" i="1" dirty="0" smtClean="0">
                                <a:solidFill>
                                  <a:srgbClr val="7030A0"/>
                                </a:solidFill>
                                <a:latin typeface="Cambria Math" panose="02040503050406030204" pitchFamily="18" charset="0"/>
                              </a:rPr>
                              <m:t>𝜃</m:t>
                            </m:r>
                          </m:oMath>
                        </m:oMathPara>
                      </a14:m>
                      <a:endParaRPr lang="en-US" sz="3200" dirty="0">
                        <a:solidFill>
                          <a:srgbClr val="7030A0"/>
                        </a:solidFill>
                      </a:endParaRPr>
                    </a:p>
                  </p:txBody>
                </p:sp>
              </mc:Choice>
              <mc:Fallback xmlns="">
                <p:sp>
                  <p:nvSpPr>
                    <p:cNvPr id="23" name="TextBox 22">
                      <a:extLst>
                        <a:ext uri="{FF2B5EF4-FFF2-40B4-BE49-F238E27FC236}">
                          <a16:creationId xmlns:a16="http://schemas.microsoft.com/office/drawing/2014/main" id="{FE5FFDCB-EB4E-CF0C-9351-3C635D7D0876}"/>
                        </a:ext>
                      </a:extLst>
                    </p:cNvPr>
                    <p:cNvSpPr txBox="1">
                      <a:spLocks noRot="1" noChangeAspect="1" noMove="1" noResize="1" noEditPoints="1" noAdjustHandles="1" noChangeArrowheads="1" noChangeShapeType="1" noTextEdit="1"/>
                    </p:cNvSpPr>
                    <p:nvPr/>
                  </p:nvSpPr>
                  <p:spPr>
                    <a:xfrm>
                      <a:off x="7740297" y="5309676"/>
                      <a:ext cx="112584" cy="126613"/>
                    </a:xfrm>
                    <a:prstGeom prst="rect">
                      <a:avLst/>
                    </a:prstGeom>
                    <a:blipFill>
                      <a:blip r:embed="rId4"/>
                      <a:stretch>
                        <a:fillRect l="-7273" r="-3636"/>
                      </a:stretch>
                    </a:blipFill>
                  </p:spPr>
                  <p:txBody>
                    <a:bodyPr/>
                    <a:lstStyle/>
                    <a:p>
                      <a:r>
                        <a:rPr lang="en-US">
                          <a:noFill/>
                        </a:rPr>
                        <a:t> </a:t>
                      </a:r>
                    </a:p>
                  </p:txBody>
                </p:sp>
              </mc:Fallback>
            </mc:AlternateContent>
          </p:grpSp>
          <p:pic>
            <p:nvPicPr>
              <p:cNvPr id="21" name="Picture 20">
                <a:extLst>
                  <a:ext uri="{FF2B5EF4-FFF2-40B4-BE49-F238E27FC236}">
                    <a16:creationId xmlns:a16="http://schemas.microsoft.com/office/drawing/2014/main" id="{F3A20574-4A84-85AD-4799-900166E4743F}"/>
                  </a:ext>
                </a:extLst>
              </p:cNvPr>
              <p:cNvPicPr>
                <a:picLocks noChangeAspect="1"/>
              </p:cNvPicPr>
              <p:nvPr/>
            </p:nvPicPr>
            <p:blipFill>
              <a:blip r:embed="rId5">
                <a:clrChange>
                  <a:clrFrom>
                    <a:srgbClr val="FFFFFF"/>
                  </a:clrFrom>
                  <a:clrTo>
                    <a:srgbClr val="FFFFFF">
                      <a:alpha val="0"/>
                    </a:srgbClr>
                  </a:clrTo>
                </a:clrChange>
              </a:blip>
              <a:srcRect l="31278" r="50768" b="43635"/>
              <a:stretch>
                <a:fillRect/>
              </a:stretch>
            </p:blipFill>
            <p:spPr>
              <a:xfrm>
                <a:off x="2949722" y="3700273"/>
                <a:ext cx="1343301" cy="1535252"/>
              </a:xfrm>
              <a:prstGeom prst="rect">
                <a:avLst/>
              </a:prstGeom>
            </p:spPr>
          </p:pic>
        </p:grpSp>
        <p:cxnSp>
          <p:nvCxnSpPr>
            <p:cNvPr id="17" name="Straight Connector 16">
              <a:extLst>
                <a:ext uri="{FF2B5EF4-FFF2-40B4-BE49-F238E27FC236}">
                  <a16:creationId xmlns:a16="http://schemas.microsoft.com/office/drawing/2014/main" id="{CE684292-CEB2-8610-7BFA-4E3E2122D1F5}"/>
                </a:ext>
              </a:extLst>
            </p:cNvPr>
            <p:cNvCxnSpPr>
              <a:cxnSpLocks/>
            </p:cNvCxnSpPr>
            <p:nvPr/>
          </p:nvCxnSpPr>
          <p:spPr>
            <a:xfrm flipV="1">
              <a:off x="2935842" y="4657591"/>
              <a:ext cx="4589278" cy="584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059C6E6-1265-E340-27A1-F8C51F25115F}"/>
                  </a:ext>
                </a:extLst>
              </p:cNvPr>
              <p:cNvSpPr txBox="1"/>
              <p:nvPr/>
            </p:nvSpPr>
            <p:spPr>
              <a:xfrm>
                <a:off x="6271188" y="3364999"/>
                <a:ext cx="1169166" cy="461665"/>
              </a:xfrm>
              <a:prstGeom prst="rect">
                <a:avLst/>
              </a:prstGeom>
              <a:noFill/>
            </p:spPr>
            <p:txBody>
              <a:bodyPr wrap="none" rtlCol="0">
                <a:spAutoFit/>
              </a:bodyPr>
              <a:lstStyle/>
              <a:p>
                <a:r>
                  <a:rPr lang="en-US" dirty="0"/>
                  <a:t>Smaller </a:t>
                </a:r>
                <a14:m>
                  <m:oMath xmlns:m="http://schemas.openxmlformats.org/officeDocument/2006/math">
                    <m:r>
                      <a:rPr lang="en-US" sz="2400" i="1" dirty="0" smtClean="0">
                        <a:solidFill>
                          <a:srgbClr val="0432FF"/>
                        </a:solidFill>
                        <a:latin typeface="Cambria Math" panose="02040503050406030204" pitchFamily="18" charset="0"/>
                      </a:rPr>
                      <m:t>𝛾</m:t>
                    </m:r>
                  </m:oMath>
                </a14:m>
                <a:endParaRPr lang="en-US" dirty="0">
                  <a:solidFill>
                    <a:srgbClr val="0432FF"/>
                  </a:solidFill>
                </a:endParaRPr>
              </a:p>
            </p:txBody>
          </p:sp>
        </mc:Choice>
        <mc:Fallback xmlns="">
          <p:sp>
            <p:nvSpPr>
              <p:cNvPr id="24" name="TextBox 23">
                <a:extLst>
                  <a:ext uri="{FF2B5EF4-FFF2-40B4-BE49-F238E27FC236}">
                    <a16:creationId xmlns:a16="http://schemas.microsoft.com/office/drawing/2014/main" id="{4059C6E6-1265-E340-27A1-F8C51F25115F}"/>
                  </a:ext>
                </a:extLst>
              </p:cNvPr>
              <p:cNvSpPr txBox="1">
                <a:spLocks noRot="1" noChangeAspect="1" noMove="1" noResize="1" noEditPoints="1" noAdjustHandles="1" noChangeArrowheads="1" noChangeShapeType="1" noTextEdit="1"/>
              </p:cNvSpPr>
              <p:nvPr/>
            </p:nvSpPr>
            <p:spPr>
              <a:xfrm>
                <a:off x="6271188" y="3364999"/>
                <a:ext cx="1169166" cy="461665"/>
              </a:xfrm>
              <a:prstGeom prst="rect">
                <a:avLst/>
              </a:prstGeom>
              <a:blipFill>
                <a:blip r:embed="rId6"/>
                <a:stretch>
                  <a:fillRect l="-4255" b="-13158"/>
                </a:stretch>
              </a:blipFill>
            </p:spPr>
            <p:txBody>
              <a:bodyPr/>
              <a:lstStyle/>
              <a:p>
                <a:r>
                  <a:rPr lang="en-US">
                    <a:noFill/>
                  </a:rPr>
                  <a:t> </a:t>
                </a:r>
              </a:p>
            </p:txBody>
          </p:sp>
        </mc:Fallback>
      </mc:AlternateContent>
    </p:spTree>
    <p:extLst>
      <p:ext uri="{BB962C8B-B14F-4D97-AF65-F5344CB8AC3E}">
        <p14:creationId xmlns:p14="http://schemas.microsoft.com/office/powerpoint/2010/main" val="2941168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833ED-9989-E9D5-A54B-68ECA7A7DA2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4FBA4E2-F400-27CE-F7EB-71C54012FA0B}"/>
              </a:ext>
            </a:extLst>
          </p:cNvPr>
          <p:cNvSpPr>
            <a:spLocks noGrp="1"/>
          </p:cNvSpPr>
          <p:nvPr>
            <p:ph type="sldNum" sz="quarter" idx="12"/>
          </p:nvPr>
        </p:nvSpPr>
        <p:spPr/>
        <p:txBody>
          <a:bodyPr/>
          <a:lstStyle/>
          <a:p>
            <a:fld id="{387B101D-DD3C-9947-BBAC-237D8FE858E0}" type="slidenum">
              <a:rPr lang="en-US" smtClean="0"/>
              <a:t>59</a:t>
            </a:fld>
            <a:endParaRPr lang="en-US"/>
          </a:p>
        </p:txBody>
      </p:sp>
      <p:sp>
        <p:nvSpPr>
          <p:cNvPr id="8" name="TextBox 7">
            <a:extLst>
              <a:ext uri="{FF2B5EF4-FFF2-40B4-BE49-F238E27FC236}">
                <a16:creationId xmlns:a16="http://schemas.microsoft.com/office/drawing/2014/main" id="{A4D7D7D0-2D35-5F51-AC72-2390F932FEF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How threshold and sharpness shape competitive relevance</a:t>
            </a:r>
          </a:p>
        </p:txBody>
      </p:sp>
      <p:pic>
        <p:nvPicPr>
          <p:cNvPr id="2" name="Picture 1">
            <a:extLst>
              <a:ext uri="{FF2B5EF4-FFF2-40B4-BE49-F238E27FC236}">
                <a16:creationId xmlns:a16="http://schemas.microsoft.com/office/drawing/2014/main" id="{3BFAF4C7-B6BB-5FF5-6E15-A9B7C3750528}"/>
              </a:ext>
            </a:extLst>
          </p:cNvPr>
          <p:cNvPicPr>
            <a:picLocks noChangeAspect="1"/>
          </p:cNvPicPr>
          <p:nvPr/>
        </p:nvPicPr>
        <p:blipFill>
          <a:blip r:embed="rId3"/>
          <a:stretch>
            <a:fillRect/>
          </a:stretch>
        </p:blipFill>
        <p:spPr>
          <a:xfrm>
            <a:off x="1312057" y="1095685"/>
            <a:ext cx="9567886" cy="458154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68E2E76-CA1E-36BE-ABB1-44A32E4B0A32}"/>
                  </a:ext>
                </a:extLst>
              </p:cNvPr>
              <p:cNvSpPr txBox="1"/>
              <p:nvPr/>
            </p:nvSpPr>
            <p:spPr>
              <a:xfrm>
                <a:off x="310101" y="5982811"/>
                <a:ext cx="11426024" cy="738664"/>
              </a:xfrm>
              <a:prstGeom prst="rect">
                <a:avLst/>
              </a:prstGeom>
              <a:noFill/>
            </p:spPr>
            <p:txBody>
              <a:bodyPr wrap="square">
                <a:spAutoFit/>
              </a:bodyPr>
              <a:lstStyle/>
              <a:p>
                <a:r>
                  <a:rPr lang="en-US" sz="1400" b="1" dirty="0">
                    <a:solidFill>
                      <a:schemeClr val="tx1"/>
                    </a:solidFill>
                    <a:effectLst/>
                    <a:ea typeface="Verdana" panose="020B0604030504040204" pitchFamily="34" charset="0"/>
                    <a:cs typeface="Verdana" panose="020B0604030504040204" pitchFamily="34" charset="0"/>
                  </a:rPr>
                  <a:t>Threshold location and transition sharpness</a:t>
                </a:r>
                <a:r>
                  <a:rPr lang="en-US" sz="1400" dirty="0">
                    <a:solidFill>
                      <a:schemeClr val="tx1"/>
                    </a:solidFill>
                    <a:effectLst/>
                    <a:ea typeface="Verdana" panose="020B0604030504040204" pitchFamily="34" charset="0"/>
                    <a:cs typeface="Verdana" panose="020B0604030504040204" pitchFamily="34" charset="0"/>
                  </a:rPr>
                  <a:t> - Competitive relevance </a:t>
                </a:r>
                <a14:m>
                  <m:oMath xmlns:m="http://schemas.openxmlformats.org/officeDocument/2006/math">
                    <m:sSub>
                      <m:sSubPr>
                        <m:ctrlP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𝑣</m:t>
                        </m:r>
                      </m:e>
                      <m: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ℎ</m:t>
                        </m:r>
                      </m:sub>
                    </m:sSub>
                  </m:oMath>
                </a14:m>
                <a:r>
                  <a:rPr lang="en-US" sz="1400" dirty="0">
                    <a:solidFill>
                      <a:schemeClr val="tx1"/>
                    </a:solidFill>
                    <a:effectLst/>
                    <a:ea typeface="Verdana" panose="020B0604030504040204" pitchFamily="34" charset="0"/>
                    <a:cs typeface="Verdana" panose="020B0604030504040204" pitchFamily="34" charset="0"/>
                  </a:rPr>
                  <a:t> is plotted against individual performance </a:t>
                </a:r>
                <a14:m>
                  <m:oMath xmlns:m="http://schemas.openxmlformats.org/officeDocument/2006/math">
                    <m:sSub>
                      <m:sSubPr>
                        <m:ctrlP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𝐴</m:t>
                        </m:r>
                      </m:e>
                      <m: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ℎ</m:t>
                        </m:r>
                      </m:sub>
                    </m:sSub>
                  </m:oMath>
                </a14:m>
                <a:r>
                  <a:rPr lang="en-US" sz="1400" dirty="0">
                    <a:solidFill>
                      <a:schemeClr val="tx1"/>
                    </a:solidFill>
                    <a:effectLst/>
                    <a:ea typeface="Verdana" panose="020B0604030504040204" pitchFamily="34" charset="0"/>
                    <a:cs typeface="Verdana" panose="020B0604030504040204" pitchFamily="34" charset="0"/>
                  </a:rPr>
                  <a:t>. Panel A holds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𝜃</m:t>
                    </m:r>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=0</m:t>
                    </m:r>
                  </m:oMath>
                </a14:m>
                <a:r>
                  <a:rPr lang="en-US" sz="1400" dirty="0">
                    <a:solidFill>
                      <a:schemeClr val="tx1"/>
                    </a:solidFill>
                    <a:effectLst/>
                    <a:ea typeface="Verdana" panose="020B0604030504040204" pitchFamily="34" charset="0"/>
                    <a:cs typeface="Verdana" panose="020B0604030504040204" pitchFamily="34" charset="0"/>
                  </a:rPr>
                  <a:t> and compares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𝛾</m:t>
                    </m:r>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=0.5,2,</m:t>
                    </m:r>
                  </m:oMath>
                </a14:m>
                <a:r>
                  <a:rPr lang="en-US" sz="1400" dirty="0">
                    <a:solidFill>
                      <a:schemeClr val="tx1"/>
                    </a:solidFill>
                    <a:effectLst/>
                    <a:ea typeface="Verdana" panose="020B0604030504040204" pitchFamily="34" charset="0"/>
                    <a:cs typeface="Verdana" panose="020B0604030504040204" pitchFamily="34" charset="0"/>
                  </a:rPr>
                  <a:t> and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1400" dirty="0">
                    <a:solidFill>
                      <a:schemeClr val="tx1"/>
                    </a:solidFill>
                    <a:effectLst/>
                    <a:ea typeface="Verdana" panose="020B0604030504040204" pitchFamily="34" charset="0"/>
                    <a:cs typeface="Verdana" panose="020B0604030504040204" pitchFamily="34" charset="0"/>
                  </a:rPr>
                  <a:t>. Panel B holds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𝛾</m:t>
                    </m:r>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=2</m:t>
                    </m:r>
                  </m:oMath>
                </a14:m>
                <a:r>
                  <a:rPr lang="en-US" sz="1400" dirty="0">
                    <a:solidFill>
                      <a:schemeClr val="tx1"/>
                    </a:solidFill>
                    <a:effectLst/>
                    <a:ea typeface="Verdana" panose="020B0604030504040204" pitchFamily="34" charset="0"/>
                    <a:cs typeface="Verdana" panose="020B0604030504040204" pitchFamily="34" charset="0"/>
                  </a:rPr>
                  <a:t> and compares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𝜃</m:t>
                    </m:r>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=−1,0,</m:t>
                    </m:r>
                  </m:oMath>
                </a14:m>
                <a:r>
                  <a:rPr lang="en-US" sz="1400" dirty="0">
                    <a:solidFill>
                      <a:schemeClr val="tx1"/>
                    </a:solidFill>
                    <a:effectLst/>
                    <a:ea typeface="Verdana" panose="020B0604030504040204" pitchFamily="34" charset="0"/>
                    <a:cs typeface="Verdana" panose="020B0604030504040204" pitchFamily="34" charset="0"/>
                  </a:rPr>
                  <a:t> and </a:t>
                </a:r>
                <a14:m>
                  <m:oMath xmlns:m="http://schemas.openxmlformats.org/officeDocument/2006/math">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1</m:t>
                    </m:r>
                  </m:oMath>
                </a14:m>
                <a:r>
                  <a:rPr lang="en-US" sz="1400" dirty="0">
                    <a:solidFill>
                      <a:schemeClr val="tx1"/>
                    </a:solidFill>
                    <a:effectLst/>
                    <a:ea typeface="Verdana" panose="020B0604030504040204" pitchFamily="34" charset="0"/>
                    <a:cs typeface="Verdana" panose="020B0604030504040204" pitchFamily="34" charset="0"/>
                  </a:rPr>
                  <a:t>. The marked points identify </a:t>
                </a:r>
                <a14:m>
                  <m:oMath xmlns:m="http://schemas.openxmlformats.org/officeDocument/2006/math">
                    <m:sSub>
                      <m:sSubPr>
                        <m:ctrlP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𝐴</m:t>
                        </m:r>
                      </m:e>
                      <m: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ℎ</m:t>
                        </m:r>
                      </m:sub>
                    </m:s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m:t>
                    </m:r>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𝜃</m:t>
                    </m:r>
                  </m:oMath>
                </a14:m>
                <a:r>
                  <a:rPr lang="en-US" sz="1400" dirty="0">
                    <a:solidFill>
                      <a:schemeClr val="tx1"/>
                    </a:solidFill>
                    <a:effectLst/>
                    <a:ea typeface="Verdana" panose="020B0604030504040204" pitchFamily="34" charset="0"/>
                    <a:cs typeface="Verdana" panose="020B0604030504040204" pitchFamily="34" charset="0"/>
                  </a:rPr>
                  <a:t>, where </a:t>
                </a:r>
                <a14:m>
                  <m:oMath xmlns:m="http://schemas.openxmlformats.org/officeDocument/2006/math">
                    <m:sSub>
                      <m:sSubPr>
                        <m:ctrlP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𝑣</m:t>
                        </m:r>
                      </m:e>
                      <m: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ℎ</m:t>
                        </m:r>
                      </m:sub>
                    </m:sSub>
                    <m:r>
                      <a:rPr lang="en-US" sz="1400" i="1">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=1/2</m:t>
                    </m:r>
                  </m:oMath>
                </a14:m>
                <a:r>
                  <a:rPr lang="en-US" sz="1400" dirty="0">
                    <a:solidFill>
                      <a:schemeClr val="tx1"/>
                    </a:solidFill>
                    <a:effectLst/>
                    <a:ea typeface="Verdana" panose="020B0604030504040204" pitchFamily="34" charset="0"/>
                    <a:cs typeface="Verdana" panose="020B0604030504040204" pitchFamily="34" charset="0"/>
                  </a:rPr>
                  <a:t>. These illustrative curves describe competitive relevance, not selection probabilities.</a:t>
                </a:r>
                <a:r>
                  <a:rPr lang="en-US" sz="1400" dirty="0">
                    <a:effectLst/>
                  </a:rPr>
                  <a:t> </a:t>
                </a:r>
                <a:endParaRPr lang="en-US" sz="1400" dirty="0"/>
              </a:p>
            </p:txBody>
          </p:sp>
        </mc:Choice>
        <mc:Fallback xmlns="">
          <p:sp>
            <p:nvSpPr>
              <p:cNvPr id="4" name="TextBox 3">
                <a:extLst>
                  <a:ext uri="{FF2B5EF4-FFF2-40B4-BE49-F238E27FC236}">
                    <a16:creationId xmlns:a16="http://schemas.microsoft.com/office/drawing/2014/main" id="{B68E2E76-CA1E-36BE-ABB1-44A32E4B0A32}"/>
                  </a:ext>
                </a:extLst>
              </p:cNvPr>
              <p:cNvSpPr txBox="1">
                <a:spLocks noRot="1" noChangeAspect="1" noMove="1" noResize="1" noEditPoints="1" noAdjustHandles="1" noChangeArrowheads="1" noChangeShapeType="1" noTextEdit="1"/>
              </p:cNvSpPr>
              <p:nvPr/>
            </p:nvSpPr>
            <p:spPr>
              <a:xfrm>
                <a:off x="310101" y="5982811"/>
                <a:ext cx="11426024" cy="738664"/>
              </a:xfrm>
              <a:prstGeom prst="rect">
                <a:avLst/>
              </a:prstGeom>
              <a:blipFill>
                <a:blip r:embed="rId4"/>
                <a:stretch>
                  <a:fillRect l="-111" b="-8333"/>
                </a:stretch>
              </a:blipFill>
            </p:spPr>
            <p:txBody>
              <a:bodyPr/>
              <a:lstStyle/>
              <a:p>
                <a:r>
                  <a:rPr lang="en-US">
                    <a:noFill/>
                  </a:rPr>
                  <a:t> </a:t>
                </a:r>
              </a:p>
            </p:txBody>
          </p:sp>
        </mc:Fallback>
      </mc:AlternateContent>
    </p:spTree>
    <p:extLst>
      <p:ext uri="{BB962C8B-B14F-4D97-AF65-F5344CB8AC3E}">
        <p14:creationId xmlns:p14="http://schemas.microsoft.com/office/powerpoint/2010/main" val="42517422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DC53E-04FA-F795-A910-1A6AFE6AC68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F5A2DDB-564B-C8C9-3180-33BBAE93501F}"/>
              </a:ext>
            </a:extLst>
          </p:cNvPr>
          <p:cNvSpPr>
            <a:spLocks noGrp="1"/>
          </p:cNvSpPr>
          <p:nvPr>
            <p:ph type="sldNum" sz="quarter" idx="12"/>
          </p:nvPr>
        </p:nvSpPr>
        <p:spPr/>
        <p:txBody>
          <a:bodyPr/>
          <a:lstStyle/>
          <a:p>
            <a:fld id="{387B101D-DD3C-9947-BBAC-237D8FE858E0}" type="slidenum">
              <a:rPr lang="en-US" smtClean="0"/>
              <a:t>60</a:t>
            </a:fld>
            <a:endParaRPr lang="en-US"/>
          </a:p>
        </p:txBody>
      </p:sp>
      <p:sp>
        <p:nvSpPr>
          <p:cNvPr id="8" name="TextBox 7">
            <a:extLst>
              <a:ext uri="{FF2B5EF4-FFF2-40B4-BE49-F238E27FC236}">
                <a16:creationId xmlns:a16="http://schemas.microsoft.com/office/drawing/2014/main" id="{1F69DE6E-E05E-F437-6480-C2EF1467B2B9}"/>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Roster Pressure means competitive concentration</a:t>
            </a:r>
          </a:p>
        </p:txBody>
      </p:sp>
      <p:grpSp>
        <p:nvGrpSpPr>
          <p:cNvPr id="2" name="Group 1">
            <a:extLst>
              <a:ext uri="{FF2B5EF4-FFF2-40B4-BE49-F238E27FC236}">
                <a16:creationId xmlns:a16="http://schemas.microsoft.com/office/drawing/2014/main" id="{CDB33EDB-19C0-BC73-81CA-25BAE7EB48E6}"/>
              </a:ext>
            </a:extLst>
          </p:cNvPr>
          <p:cNvGrpSpPr/>
          <p:nvPr/>
        </p:nvGrpSpPr>
        <p:grpSpPr>
          <a:xfrm>
            <a:off x="1778613" y="3429000"/>
            <a:ext cx="8203587" cy="3476470"/>
            <a:chOff x="609600" y="3700273"/>
            <a:chExt cx="7843037" cy="3264825"/>
          </a:xfrm>
        </p:grpSpPr>
        <p:pic>
          <p:nvPicPr>
            <p:cNvPr id="3" name="Picture 2">
              <a:extLst>
                <a:ext uri="{FF2B5EF4-FFF2-40B4-BE49-F238E27FC236}">
                  <a16:creationId xmlns:a16="http://schemas.microsoft.com/office/drawing/2014/main" id="{AB2D1C4E-9FDE-C54C-7A9A-45EC9736091F}"/>
                </a:ext>
              </a:extLst>
            </p:cNvPr>
            <p:cNvPicPr>
              <a:picLocks noChangeAspect="1"/>
            </p:cNvPicPr>
            <p:nvPr/>
          </p:nvPicPr>
          <p:blipFill>
            <a:blip r:embed="rId2"/>
            <a:srcRect/>
            <a:stretch/>
          </p:blipFill>
          <p:spPr>
            <a:xfrm>
              <a:off x="609600" y="3700273"/>
              <a:ext cx="7481791" cy="2723765"/>
            </a:xfrm>
            <a:prstGeom prst="rect">
              <a:avLst/>
            </a:prstGeom>
          </p:spPr>
        </p:pic>
        <p:grpSp>
          <p:nvGrpSpPr>
            <p:cNvPr id="4" name="Group 3">
              <a:extLst>
                <a:ext uri="{FF2B5EF4-FFF2-40B4-BE49-F238E27FC236}">
                  <a16:creationId xmlns:a16="http://schemas.microsoft.com/office/drawing/2014/main" id="{BC926CC5-E75D-2E69-ED8A-AD6242DB6A5C}"/>
                </a:ext>
              </a:extLst>
            </p:cNvPr>
            <p:cNvGrpSpPr/>
            <p:nvPr/>
          </p:nvGrpSpPr>
          <p:grpSpPr>
            <a:xfrm>
              <a:off x="847730" y="4226338"/>
              <a:ext cx="7604907" cy="2738760"/>
              <a:chOff x="6096000" y="5252338"/>
              <a:chExt cx="3514883" cy="1207426"/>
            </a:xfrm>
          </p:grpSpPr>
          <p:cxnSp>
            <p:nvCxnSpPr>
              <p:cNvPr id="5" name="Straight Connector 4">
                <a:extLst>
                  <a:ext uri="{FF2B5EF4-FFF2-40B4-BE49-F238E27FC236}">
                    <a16:creationId xmlns:a16="http://schemas.microsoft.com/office/drawing/2014/main" id="{3503097E-E100-830B-8199-52F7BEADE93D}"/>
                  </a:ext>
                </a:extLst>
              </p:cNvPr>
              <p:cNvCxnSpPr>
                <a:cxnSpLocks/>
              </p:cNvCxnSpPr>
              <p:nvPr/>
            </p:nvCxnSpPr>
            <p:spPr>
              <a:xfrm>
                <a:off x="6096000" y="5361986"/>
                <a:ext cx="3308728" cy="0"/>
              </a:xfrm>
              <a:prstGeom prst="line">
                <a:avLst/>
              </a:prstGeom>
              <a:ln>
                <a:solidFill>
                  <a:srgbClr val="FF0000"/>
                </a:soli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3B4D27-6643-A5E3-74D1-BA17DFADD73F}"/>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6" name="TextBox 5">
                    <a:extLst>
                      <a:ext uri="{FF2B5EF4-FFF2-40B4-BE49-F238E27FC236}">
                        <a16:creationId xmlns:a16="http://schemas.microsoft.com/office/drawing/2014/main" id="{ED3B4D27-6643-A5E3-74D1-BA17DFADD73F}"/>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3"/>
                    <a:stretch>
                      <a:fillRect l="-690" t="-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F3D0B7F-7605-57F3-5F98-428A3E6A67FB}"/>
                      </a:ext>
                    </a:extLst>
                  </p:cNvPr>
                  <p:cNvSpPr txBox="1"/>
                  <p:nvPr/>
                </p:nvSpPr>
                <p:spPr>
                  <a:xfrm>
                    <a:off x="9415328" y="5252338"/>
                    <a:ext cx="195555" cy="216515"/>
                  </a:xfrm>
                  <a:prstGeom prst="rect">
                    <a:avLst/>
                  </a:prstGeom>
                  <a:noFill/>
                </p:spPr>
                <p:txBody>
                  <a:bodyPr wrap="none" rtlCol="0">
                    <a:spAutoFit/>
                  </a:bodyPr>
                  <a:lstStyle/>
                  <a:p>
                    <a:pPr/>
                    <a14:m>
                      <m:oMathPara xmlns:m="http://schemas.openxmlformats.org/officeDocument/2006/math">
                        <m:oMath>
                          <m:r>
                            <a:rPr lang="en-US" sz="2400" b="1" i="1" dirty="0" smtClean="0">
                              <a:solidFill>
                                <a:srgbClr val="7030A0"/>
                              </a:solidFill>
                              <a:latin typeface="Cambria Math" panose="02040503050406030204" pitchFamily="18" charset="0"/>
                            </a:rPr>
                            <m:t>𝜽</m:t>
                          </m:r>
                        </m:oMath>
                      </m:oMathPara>
                    </a14:m>
                    <a:endParaRPr lang="en-US" sz="1400" b="1" dirty="0">
                      <a:solidFill>
                        <a:srgbClr val="7030A0"/>
                      </a:solidFill>
                    </a:endParaRPr>
                  </a:p>
                </p:txBody>
              </p:sp>
            </mc:Choice>
            <mc:Fallback xmlns="">
              <p:sp>
                <p:nvSpPr>
                  <p:cNvPr id="10" name="TextBox 9">
                    <a:extLst>
                      <a:ext uri="{FF2B5EF4-FFF2-40B4-BE49-F238E27FC236}">
                        <a16:creationId xmlns:a16="http://schemas.microsoft.com/office/drawing/2014/main" id="{5F3D0B7F-7605-57F3-5F98-428A3E6A67FB}"/>
                      </a:ext>
                    </a:extLst>
                  </p:cNvPr>
                  <p:cNvSpPr txBox="1">
                    <a:spLocks noRot="1" noChangeAspect="1" noMove="1" noResize="1" noEditPoints="1" noAdjustHandles="1" noChangeArrowheads="1" noChangeShapeType="1" noTextEdit="1"/>
                  </p:cNvSpPr>
                  <p:nvPr/>
                </p:nvSpPr>
                <p:spPr>
                  <a:xfrm>
                    <a:off x="9415328" y="5252338"/>
                    <a:ext cx="195555" cy="216515"/>
                  </a:xfrm>
                  <a:prstGeom prst="rect">
                    <a:avLst/>
                  </a:prstGeom>
                  <a:blipFill>
                    <a:blip r:embed="rId4"/>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00F955-BDF5-5DF1-7DC1-A5323D325073}"/>
                  </a:ext>
                </a:extLst>
              </p:cNvPr>
              <p:cNvSpPr txBox="1"/>
              <p:nvPr/>
            </p:nvSpPr>
            <p:spPr>
              <a:xfrm>
                <a:off x="748480" y="1120883"/>
                <a:ext cx="10447344" cy="1966244"/>
              </a:xfrm>
              <a:prstGeom prst="rect">
                <a:avLst/>
              </a:prstGeom>
              <a:noFill/>
            </p:spPr>
            <p:txBody>
              <a:bodyPr wrap="square" rtlCol="0">
                <a:spAutoFit/>
              </a:bodyPr>
              <a:lstStyle/>
              <a:p>
                <a:pPr marL="285750" indent="-285750">
                  <a:buFont typeface="Arial" panose="020B0604020202020204" pitchFamily="34" charset="0"/>
                  <a:buChar char="•"/>
                </a:pPr>
                <a:r>
                  <a:rPr lang="en-US" dirty="0"/>
                  <a:t>We measure roster pressure by averaging competitive relevance across all </a:t>
                </a:r>
                <a14:m>
                  <m:oMath xmlns:m="http://schemas.openxmlformats.org/officeDocument/2006/math">
                    <m:sSub>
                      <m:sSubPr>
                        <m:ctrlPr>
                          <a:rPr lang="en-US" i="1" dirty="0" err="1" smtClean="0">
                            <a:solidFill>
                              <a:srgbClr val="0432FF"/>
                            </a:solidFill>
                            <a:latin typeface="Cambria Math" panose="02040503050406030204" pitchFamily="18" charset="0"/>
                          </a:rPr>
                        </m:ctrlPr>
                      </m:sSubPr>
                      <m:e>
                        <m:r>
                          <a:rPr lang="en-US" i="1" dirty="0" err="1" smtClean="0">
                            <a:solidFill>
                              <a:srgbClr val="0432FF"/>
                            </a:solidFill>
                            <a:latin typeface="Cambria Math" panose="02040503050406030204" pitchFamily="18" charset="0"/>
                          </a:rPr>
                          <m:t>𝑛</m:t>
                        </m:r>
                      </m:e>
                      <m:sub>
                        <m:r>
                          <a:rPr lang="en-US" i="1" dirty="0" err="1" smtClean="0">
                            <a:solidFill>
                              <a:srgbClr val="0432FF"/>
                            </a:solidFill>
                            <a:latin typeface="Cambria Math" panose="02040503050406030204" pitchFamily="18" charset="0"/>
                          </a:rPr>
                          <m:t>𝑗</m:t>
                        </m:r>
                      </m:sub>
                    </m:sSub>
                  </m:oMath>
                </a14:m>
                <a:r>
                  <a:rPr lang="en-US" dirty="0"/>
                  <a:t> members of team </a:t>
                </a:r>
                <a14:m>
                  <m:oMath xmlns:m="http://schemas.openxmlformats.org/officeDocument/2006/math">
                    <m:r>
                      <a:rPr lang="en-US" i="1" dirty="0" smtClean="0">
                        <a:solidFill>
                          <a:srgbClr val="0432FF"/>
                        </a:solidFill>
                        <a:latin typeface="Cambria Math" panose="02040503050406030204" pitchFamily="18" charset="0"/>
                      </a:rPr>
                      <m:t>𝑗</m:t>
                    </m:r>
                  </m:oMath>
                </a14:m>
                <a:r>
                  <a:rPr lang="en-US" dirty="0"/>
                  <a:t>.</a:t>
                </a:r>
              </a:p>
              <a:p>
                <a:pPr/>
                <a14:m>
                  <m:oMathPara xmlns:m="http://schemas.openxmlformats.org/officeDocument/2006/math">
                    <m:oMath>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𝐶</m:t>
                          </m:r>
                        </m:e>
                        <m:sub>
                          <m:r>
                            <a:rPr lang="en-US" sz="2000" i="1" dirty="0" smtClean="0">
                              <a:solidFill>
                                <a:srgbClr val="0432FF"/>
                              </a:solidFill>
                              <a:latin typeface="Cambria Math" panose="02040503050406030204" pitchFamily="18" charset="0"/>
                            </a:rPr>
                            <m:t>𝑗</m:t>
                          </m:r>
                        </m:sub>
                      </m:sSub>
                      <m:r>
                        <a:rPr lang="en-US" sz="2000" i="0" dirty="0" smtClean="0">
                          <a:solidFill>
                            <a:srgbClr val="0432FF"/>
                          </a:solidFill>
                          <a:latin typeface="Cambria Math" panose="02040503050406030204" pitchFamily="18" charset="0"/>
                        </a:rPr>
                        <m:t>=</m:t>
                      </m:r>
                      <m:f>
                        <m:fPr>
                          <m:ctrlPr>
                            <a:rPr lang="en-US" sz="2000" i="0" dirty="0" smtClean="0">
                              <a:solidFill>
                                <a:srgbClr val="0432FF"/>
                              </a:solidFill>
                              <a:latin typeface="Cambria Math" panose="02040503050406030204" pitchFamily="18" charset="0"/>
                            </a:rPr>
                          </m:ctrlPr>
                        </m:fPr>
                        <m:num>
                          <m:r>
                            <a:rPr lang="en-US" sz="2000" i="0" dirty="0" smtClean="0">
                              <a:solidFill>
                                <a:srgbClr val="0432FF"/>
                              </a:solidFill>
                              <a:latin typeface="Cambria Math" panose="02040503050406030204" pitchFamily="18" charset="0"/>
                            </a:rPr>
                            <m:t>1</m:t>
                          </m:r>
                        </m:num>
                        <m:den>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𝑛</m:t>
                              </m:r>
                            </m:e>
                            <m:sub>
                              <m:r>
                                <a:rPr lang="en-US" sz="2000" i="1" dirty="0" smtClean="0">
                                  <a:solidFill>
                                    <a:srgbClr val="0432FF"/>
                                  </a:solidFill>
                                  <a:latin typeface="Cambria Math" panose="02040503050406030204" pitchFamily="18" charset="0"/>
                                </a:rPr>
                                <m:t>𝑗</m:t>
                              </m:r>
                            </m:sub>
                          </m:sSub>
                        </m:den>
                      </m:f>
                      <m:nary>
                        <m:naryPr>
                          <m:chr m:val="∑"/>
                          <m:limLoc m:val="undOvr"/>
                          <m:supHide m:val="on"/>
                          <m:ctrlPr>
                            <a:rPr lang="en-US" sz="2000" i="1" dirty="0" smtClean="0">
                              <a:solidFill>
                                <a:srgbClr val="0432FF"/>
                              </a:solidFill>
                              <a:latin typeface="Cambria Math" panose="02040503050406030204" pitchFamily="18" charset="0"/>
                            </a:rPr>
                          </m:ctrlPr>
                        </m:naryPr>
                        <m:sub>
                          <m:r>
                            <a:rPr lang="en-US" sz="2000" i="1" dirty="0" smtClean="0">
                              <a:solidFill>
                                <a:srgbClr val="0432FF"/>
                              </a:solidFill>
                              <a:latin typeface="Cambria Math" panose="02040503050406030204" pitchFamily="18" charset="0"/>
                            </a:rPr>
                            <m:t>ℎ</m:t>
                          </m:r>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𝑔</m:t>
                          </m:r>
                          <m:d>
                            <m:dPr>
                              <m:ctrlPr>
                                <a:rPr lang="en-US" sz="2000" i="1" dirty="0" smtClean="0">
                                  <a:solidFill>
                                    <a:srgbClr val="0432FF"/>
                                  </a:solidFill>
                                  <a:latin typeface="Cambria Math" panose="02040503050406030204" pitchFamily="18" charset="0"/>
                                </a:rPr>
                              </m:ctrlPr>
                            </m:dPr>
                            <m:e>
                              <m:r>
                                <a:rPr lang="en-US" sz="2000" i="1" dirty="0" smtClean="0">
                                  <a:solidFill>
                                    <a:srgbClr val="0432FF"/>
                                  </a:solidFill>
                                  <a:latin typeface="Cambria Math" panose="02040503050406030204" pitchFamily="18" charset="0"/>
                                </a:rPr>
                                <m:t>ℎ</m:t>
                              </m:r>
                            </m:e>
                          </m:d>
                          <m:r>
                            <a:rPr lang="en-US" sz="2000" i="0" dirty="0" smtClean="0">
                              <a:solidFill>
                                <a:srgbClr val="0432FF"/>
                              </a:solidFill>
                              <a:latin typeface="Cambria Math" panose="02040503050406030204" pitchFamily="18" charset="0"/>
                            </a:rPr>
                            <m:t>=</m:t>
                          </m:r>
                          <m:r>
                            <a:rPr lang="en-US" sz="2000" i="1" dirty="0" smtClean="0">
                              <a:solidFill>
                                <a:srgbClr val="0432FF"/>
                              </a:solidFill>
                              <a:latin typeface="Cambria Math" panose="02040503050406030204" pitchFamily="18" charset="0"/>
                            </a:rPr>
                            <m:t>𝑗</m:t>
                          </m:r>
                        </m:sub>
                        <m:sup/>
                        <m:e>
                          <m:sSub>
                            <m:sSubPr>
                              <m:ctrlPr>
                                <a:rPr lang="en-US" sz="2000" i="1" dirty="0" smtClean="0">
                                  <a:solidFill>
                                    <a:srgbClr val="0432FF"/>
                                  </a:solidFill>
                                  <a:latin typeface="Cambria Math" panose="02040503050406030204" pitchFamily="18" charset="0"/>
                                </a:rPr>
                              </m:ctrlPr>
                            </m:sSubPr>
                            <m:e>
                              <m:r>
                                <a:rPr lang="en-US" sz="2000" i="1" dirty="0" smtClean="0">
                                  <a:solidFill>
                                    <a:srgbClr val="0432FF"/>
                                  </a:solidFill>
                                  <a:latin typeface="Cambria Math" panose="02040503050406030204" pitchFamily="18" charset="0"/>
                                </a:rPr>
                                <m:t>𝑣</m:t>
                              </m:r>
                            </m:e>
                            <m:sub>
                              <m:r>
                                <a:rPr lang="en-US" sz="2000" i="1" dirty="0" smtClean="0">
                                  <a:solidFill>
                                    <a:srgbClr val="0432FF"/>
                                  </a:solidFill>
                                  <a:latin typeface="Cambria Math" panose="02040503050406030204" pitchFamily="18" charset="0"/>
                                </a:rPr>
                                <m:t>ℎ</m:t>
                              </m:r>
                            </m:sub>
                          </m:sSub>
                        </m:e>
                      </m:nary>
                    </m:oMath>
                  </m:oMathPara>
                </a14:m>
                <a:endParaRPr lang="en-US" sz="2000" dirty="0">
                  <a:solidFill>
                    <a:srgbClr val="0432FF"/>
                  </a:solidFill>
                </a:endParaRPr>
              </a:p>
              <a:p>
                <a:pPr marL="285750" indent="-285750">
                  <a:lnSpc>
                    <a:spcPct val="150000"/>
                  </a:lnSpc>
                  <a:buFont typeface="Arial" panose="020B0604020202020204" pitchFamily="34" charset="0"/>
                  <a:buChar char="•"/>
                </a:pPr>
                <a:r>
                  <a:rPr lang="en-US" dirty="0"/>
                  <a:t>Every member, including the focal player, enters this average. This specification gives all teammates the same congestion value.</a:t>
                </a:r>
              </a:p>
            </p:txBody>
          </p:sp>
        </mc:Choice>
        <mc:Fallback xmlns="">
          <p:sp>
            <p:nvSpPr>
              <p:cNvPr id="11" name="TextBox 10">
                <a:extLst>
                  <a:ext uri="{FF2B5EF4-FFF2-40B4-BE49-F238E27FC236}">
                    <a16:creationId xmlns:a16="http://schemas.microsoft.com/office/drawing/2014/main" id="{5400F955-BDF5-5DF1-7DC1-A5323D325073}"/>
                  </a:ext>
                </a:extLst>
              </p:cNvPr>
              <p:cNvSpPr txBox="1">
                <a:spLocks noRot="1" noChangeAspect="1" noMove="1" noResize="1" noEditPoints="1" noAdjustHandles="1" noChangeArrowheads="1" noChangeShapeType="1" noTextEdit="1"/>
              </p:cNvSpPr>
              <p:nvPr/>
            </p:nvSpPr>
            <p:spPr>
              <a:xfrm>
                <a:off x="748480" y="1120883"/>
                <a:ext cx="10447344" cy="1966244"/>
              </a:xfrm>
              <a:prstGeom prst="rect">
                <a:avLst/>
              </a:prstGeom>
              <a:blipFill>
                <a:blip r:embed="rId5"/>
                <a:stretch>
                  <a:fillRect l="-486" t="-39355" b="-33548"/>
                </a:stretch>
              </a:blipFill>
            </p:spPr>
            <p:txBody>
              <a:bodyPr/>
              <a:lstStyle/>
              <a:p>
                <a:r>
                  <a:rPr lang="en-US">
                    <a:noFill/>
                  </a:rPr>
                  <a:t> </a:t>
                </a:r>
              </a:p>
            </p:txBody>
          </p:sp>
        </mc:Fallback>
      </mc:AlternateContent>
    </p:spTree>
    <p:extLst>
      <p:ext uri="{BB962C8B-B14F-4D97-AF65-F5344CB8AC3E}">
        <p14:creationId xmlns:p14="http://schemas.microsoft.com/office/powerpoint/2010/main" val="42585227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D066C-8C37-AD14-A71C-8175A37CE0F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AE4DE6F-4EC3-E1BA-A661-63FD8C8618AF}"/>
              </a:ext>
            </a:extLst>
          </p:cNvPr>
          <p:cNvSpPr>
            <a:spLocks noGrp="1"/>
          </p:cNvSpPr>
          <p:nvPr>
            <p:ph type="sldNum" sz="quarter" idx="12"/>
          </p:nvPr>
        </p:nvSpPr>
        <p:spPr/>
        <p:txBody>
          <a:bodyPr/>
          <a:lstStyle/>
          <a:p>
            <a:fld id="{387B101D-DD3C-9947-BBAC-237D8FE858E0}" type="slidenum">
              <a:rPr lang="en-US" smtClean="0"/>
              <a:t>61</a:t>
            </a:fld>
            <a:endParaRPr lang="en-US"/>
          </a:p>
        </p:txBody>
      </p:sp>
      <p:sp>
        <p:nvSpPr>
          <p:cNvPr id="8" name="TextBox 7">
            <a:extLst>
              <a:ext uri="{FF2B5EF4-FFF2-40B4-BE49-F238E27FC236}">
                <a16:creationId xmlns:a16="http://schemas.microsoft.com/office/drawing/2014/main" id="{18958F5E-3061-6A16-D8D6-EC4049654F63}"/>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The same mean performance can produce different roster pressure</a:t>
            </a:r>
          </a:p>
        </p:txBody>
      </p:sp>
      <p:sp>
        <p:nvSpPr>
          <p:cNvPr id="7" name="Slide Number Placeholder 8">
            <a:extLst>
              <a:ext uri="{FF2B5EF4-FFF2-40B4-BE49-F238E27FC236}">
                <a16:creationId xmlns:a16="http://schemas.microsoft.com/office/drawing/2014/main" id="{06F63225-2DD7-0F98-7443-E452E454F47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61</a:t>
            </a:fld>
            <a:endParaRPr lang="en-US"/>
          </a:p>
        </p:txBody>
      </p:sp>
      <p:pic>
        <p:nvPicPr>
          <p:cNvPr id="12" name="Picture 11">
            <a:extLst>
              <a:ext uri="{FF2B5EF4-FFF2-40B4-BE49-F238E27FC236}">
                <a16:creationId xmlns:a16="http://schemas.microsoft.com/office/drawing/2014/main" id="{4358E1A0-41ED-B2DC-29CE-FCDAF517FDE9}"/>
              </a:ext>
            </a:extLst>
          </p:cNvPr>
          <p:cNvPicPr>
            <a:picLocks noChangeAspect="1"/>
          </p:cNvPicPr>
          <p:nvPr/>
        </p:nvPicPr>
        <p:blipFill>
          <a:blip r:embed="rId2"/>
          <a:stretch>
            <a:fillRect/>
          </a:stretch>
        </p:blipFill>
        <p:spPr>
          <a:xfrm>
            <a:off x="206477" y="4262513"/>
            <a:ext cx="5201958" cy="1976744"/>
          </a:xfrm>
          <a:prstGeom prst="rect">
            <a:avLst/>
          </a:prstGeom>
        </p:spPr>
      </p:pic>
      <p:pic>
        <p:nvPicPr>
          <p:cNvPr id="13" name="Picture 12">
            <a:extLst>
              <a:ext uri="{FF2B5EF4-FFF2-40B4-BE49-F238E27FC236}">
                <a16:creationId xmlns:a16="http://schemas.microsoft.com/office/drawing/2014/main" id="{FEDE47F6-F6EF-73E9-52BD-5BB83ADBD040}"/>
              </a:ext>
            </a:extLst>
          </p:cNvPr>
          <p:cNvPicPr>
            <a:picLocks noChangeAspect="1"/>
          </p:cNvPicPr>
          <p:nvPr/>
        </p:nvPicPr>
        <p:blipFill>
          <a:blip r:embed="rId3"/>
          <a:srcRect/>
          <a:stretch/>
        </p:blipFill>
        <p:spPr>
          <a:xfrm>
            <a:off x="6248399" y="4272345"/>
            <a:ext cx="5201957" cy="1976744"/>
          </a:xfrm>
          <a:prstGeom prst="rect">
            <a:avLst/>
          </a:prstGeom>
        </p:spPr>
      </p:pic>
      <p:grpSp>
        <p:nvGrpSpPr>
          <p:cNvPr id="14" name="Group 13">
            <a:extLst>
              <a:ext uri="{FF2B5EF4-FFF2-40B4-BE49-F238E27FC236}">
                <a16:creationId xmlns:a16="http://schemas.microsoft.com/office/drawing/2014/main" id="{10119F6C-6AEF-B3C3-A6AB-F572D3A9F9E5}"/>
              </a:ext>
            </a:extLst>
          </p:cNvPr>
          <p:cNvGrpSpPr/>
          <p:nvPr/>
        </p:nvGrpSpPr>
        <p:grpSpPr>
          <a:xfrm>
            <a:off x="521110" y="4855280"/>
            <a:ext cx="5309419" cy="1636323"/>
            <a:chOff x="6096000" y="5424619"/>
            <a:chExt cx="3988515" cy="1035145"/>
          </a:xfrm>
        </p:grpSpPr>
        <p:cxnSp>
          <p:nvCxnSpPr>
            <p:cNvPr id="15" name="Straight Connector 14">
              <a:extLst>
                <a:ext uri="{FF2B5EF4-FFF2-40B4-BE49-F238E27FC236}">
                  <a16:creationId xmlns:a16="http://schemas.microsoft.com/office/drawing/2014/main" id="{426778B8-ABB0-5D55-BB24-1AF3B3DD8BDB}"/>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0A49235-32D3-91BE-8353-636FBCDC9ED9}"/>
                    </a:ext>
                  </a:extLst>
                </p:cNvPr>
                <p:cNvSpPr txBox="1"/>
                <p:nvPr/>
              </p:nvSpPr>
              <p:spPr>
                <a:xfrm>
                  <a:off x="7325032" y="6151987"/>
                  <a:ext cx="805798" cy="307777"/>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dirty="0" smtClean="0">
                          <a:solidFill>
                            <a:srgbClr val="7030A0"/>
                          </a:solidFill>
                          <a:latin typeface="Cambria Math" panose="02040503050406030204" pitchFamily="18" charset="0"/>
                        </a:rPr>
                        <m:t>5</m:t>
                      </m:r>
                    </m:oMath>
                  </a14:m>
                  <a:endParaRPr lang="en-US" sz="1400" dirty="0">
                    <a:solidFill>
                      <a:srgbClr val="7030A0"/>
                    </a:solidFill>
                  </a:endParaRPr>
                </a:p>
              </p:txBody>
            </p:sp>
          </mc:Choice>
          <mc:Fallback xmlns="">
            <p:sp>
              <p:nvSpPr>
                <p:cNvPr id="16" name="TextBox 15">
                  <a:extLst>
                    <a:ext uri="{FF2B5EF4-FFF2-40B4-BE49-F238E27FC236}">
                      <a16:creationId xmlns:a16="http://schemas.microsoft.com/office/drawing/2014/main" id="{70A49235-32D3-91BE-8353-636FBCDC9ED9}"/>
                    </a:ext>
                  </a:extLst>
                </p:cNvPr>
                <p:cNvSpPr txBox="1">
                  <a:spLocks noRot="1" noChangeAspect="1" noMove="1" noResize="1" noEditPoints="1" noAdjustHandles="1" noChangeArrowheads="1" noChangeShapeType="1" noTextEdit="1"/>
                </p:cNvSpPr>
                <p:nvPr/>
              </p:nvSpPr>
              <p:spPr>
                <a:xfrm>
                  <a:off x="7325032" y="6151987"/>
                  <a:ext cx="805798" cy="307777"/>
                </a:xfrm>
                <a:prstGeom prst="rect">
                  <a:avLst/>
                </a:prstGeom>
                <a:blipFill>
                  <a:blip r:embed="rId4"/>
                  <a:stretch>
                    <a:fillRect l="-1163" t="-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C78A2A0-8674-E0E8-969D-CBDF35BBDBAE}"/>
                    </a:ext>
                  </a:extLst>
                </p:cNvPr>
                <p:cNvSpPr txBox="1"/>
                <p:nvPr/>
              </p:nvSpPr>
              <p:spPr>
                <a:xfrm>
                  <a:off x="9692100" y="5424619"/>
                  <a:ext cx="392415" cy="307777"/>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i="0" dirty="0" smtClean="0">
                                <a:solidFill>
                                  <a:srgbClr val="7030A0"/>
                                </a:solidFill>
                                <a:latin typeface="Cambria Math" panose="02040503050406030204" pitchFamily="18" charset="0"/>
                              </a:rPr>
                              <m:t>5</m:t>
                            </m:r>
                          </m:sub>
                        </m:sSub>
                      </m:oMath>
                    </m:oMathPara>
                  </a14:m>
                  <a:endParaRPr lang="en-US" sz="1400" dirty="0">
                    <a:solidFill>
                      <a:srgbClr val="7030A0"/>
                    </a:solidFill>
                  </a:endParaRPr>
                </a:p>
              </p:txBody>
            </p:sp>
          </mc:Choice>
          <mc:Fallback xmlns="">
            <p:sp>
              <p:nvSpPr>
                <p:cNvPr id="17" name="TextBox 16">
                  <a:extLst>
                    <a:ext uri="{FF2B5EF4-FFF2-40B4-BE49-F238E27FC236}">
                      <a16:creationId xmlns:a16="http://schemas.microsoft.com/office/drawing/2014/main" id="{1C78A2A0-8674-E0E8-969D-CBDF35BBDBAE}"/>
                    </a:ext>
                  </a:extLst>
                </p:cNvPr>
                <p:cNvSpPr txBox="1">
                  <a:spLocks noRot="1" noChangeAspect="1" noMove="1" noResize="1" noEditPoints="1" noAdjustHandles="1" noChangeArrowheads="1" noChangeShapeType="1" noTextEdit="1"/>
                </p:cNvSpPr>
                <p:nvPr/>
              </p:nvSpPr>
              <p:spPr>
                <a:xfrm>
                  <a:off x="9692100" y="5424619"/>
                  <a:ext cx="392415" cy="307777"/>
                </a:xfrm>
                <a:prstGeom prst="rect">
                  <a:avLst/>
                </a:prstGeom>
                <a:blipFill>
                  <a:blip r:embed="rId5"/>
                  <a:stretch>
                    <a:fillRect/>
                  </a:stretch>
                </a:blipFill>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3D7E22E9-05D9-D722-2A15-E39C332D4862}"/>
              </a:ext>
            </a:extLst>
          </p:cNvPr>
          <p:cNvGrpSpPr/>
          <p:nvPr/>
        </p:nvGrpSpPr>
        <p:grpSpPr>
          <a:xfrm>
            <a:off x="6670492" y="4844161"/>
            <a:ext cx="5179460" cy="1467059"/>
            <a:chOff x="6096000" y="5417625"/>
            <a:chExt cx="3890888" cy="929327"/>
          </a:xfrm>
        </p:grpSpPr>
        <p:cxnSp>
          <p:nvCxnSpPr>
            <p:cNvPr id="19" name="Straight Connector 18">
              <a:extLst>
                <a:ext uri="{FF2B5EF4-FFF2-40B4-BE49-F238E27FC236}">
                  <a16:creationId xmlns:a16="http://schemas.microsoft.com/office/drawing/2014/main" id="{7163A760-D0AF-4BF8-806F-88C870B51A2F}"/>
                </a:ext>
              </a:extLst>
            </p:cNvPr>
            <p:cNvCxnSpPr/>
            <p:nvPr/>
          </p:nvCxnSpPr>
          <p:spPr>
            <a:xfrm>
              <a:off x="6096000" y="5529130"/>
              <a:ext cx="3559277" cy="0"/>
            </a:xfrm>
            <a:prstGeom prst="line">
              <a:avLst/>
            </a:prstGeom>
            <a:ln>
              <a:solidFill>
                <a:srgbClr val="8EFA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A7A1C8A-909D-D3E5-57B2-3EF2134CC69F}"/>
                    </a:ext>
                  </a:extLst>
                </p:cNvPr>
                <p:cNvSpPr txBox="1"/>
                <p:nvPr/>
              </p:nvSpPr>
              <p:spPr>
                <a:xfrm>
                  <a:off x="7325032" y="6151987"/>
                  <a:ext cx="605328" cy="194965"/>
                </a:xfrm>
                <a:prstGeom prst="rect">
                  <a:avLst/>
                </a:prstGeom>
                <a:noFill/>
              </p:spPr>
              <p:txBody>
                <a:bodyPr wrap="none" rtlCol="0">
                  <a:spAutoFit/>
                </a:bodyPr>
                <a:lstStyle/>
                <a:p>
                  <a:r>
                    <a:rPr lang="en-US" sz="1400" dirty="0">
                      <a:solidFill>
                        <a:srgbClr val="7030A0"/>
                      </a:solidFill>
                    </a:rPr>
                    <a:t>Group </a:t>
                  </a:r>
                  <a14:m>
                    <m:oMath xmlns:m="http://schemas.openxmlformats.org/officeDocument/2006/math">
                      <m:r>
                        <a:rPr lang="en-US" sz="1400" b="0" i="1" smtClean="0">
                          <a:solidFill>
                            <a:srgbClr val="7030A0"/>
                          </a:solidFill>
                          <a:latin typeface="Cambria Math" panose="02040503050406030204" pitchFamily="18" charset="0"/>
                        </a:rPr>
                        <m:t>3</m:t>
                      </m:r>
                    </m:oMath>
                  </a14:m>
                  <a:endParaRPr lang="en-US" sz="1400" dirty="0">
                    <a:solidFill>
                      <a:srgbClr val="7030A0"/>
                    </a:solidFill>
                  </a:endParaRPr>
                </a:p>
              </p:txBody>
            </p:sp>
          </mc:Choice>
          <mc:Fallback xmlns="">
            <p:sp>
              <p:nvSpPr>
                <p:cNvPr id="20" name="TextBox 19">
                  <a:extLst>
                    <a:ext uri="{FF2B5EF4-FFF2-40B4-BE49-F238E27FC236}">
                      <a16:creationId xmlns:a16="http://schemas.microsoft.com/office/drawing/2014/main" id="{BA7A1C8A-909D-D3E5-57B2-3EF2134CC69F}"/>
                    </a:ext>
                  </a:extLst>
                </p:cNvPr>
                <p:cNvSpPr txBox="1">
                  <a:spLocks noRot="1" noChangeAspect="1" noMove="1" noResize="1" noEditPoints="1" noAdjustHandles="1" noChangeArrowheads="1" noChangeShapeType="1" noTextEdit="1"/>
                </p:cNvSpPr>
                <p:nvPr/>
              </p:nvSpPr>
              <p:spPr>
                <a:xfrm>
                  <a:off x="7325032" y="6151987"/>
                  <a:ext cx="605328" cy="194965"/>
                </a:xfrm>
                <a:prstGeom prst="rect">
                  <a:avLst/>
                </a:prstGeom>
                <a:blipFill>
                  <a:blip r:embed="rId6"/>
                  <a:stretch>
                    <a:fillRect l="-3125" t="-4000" b="-2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4603E22-86B5-0B6A-46FD-AF12278D4415}"/>
                    </a:ext>
                  </a:extLst>
                </p:cNvPr>
                <p:cNvSpPr txBox="1"/>
                <p:nvPr/>
              </p:nvSpPr>
              <p:spPr>
                <a:xfrm>
                  <a:off x="9692100" y="5417625"/>
                  <a:ext cx="294788" cy="194965"/>
                </a:xfrm>
                <a:prstGeom prst="rect">
                  <a:avLst/>
                </a:prstGeom>
                <a:noFill/>
              </p:spPr>
              <p:txBody>
                <a:bodyPr wrap="none" rtlCol="0">
                  <a:spAutoFit/>
                </a:bodyPr>
                <a:lstStyle/>
                <a:p>
                  <a:pPr/>
                  <a14:m>
                    <m:oMathPara xmlns:m="http://schemas.openxmlformats.org/officeDocument/2006/math">
                      <m:oMath>
                        <m:sSub>
                          <m:sSubPr>
                            <m:ctrlPr>
                              <a:rPr lang="en-US" sz="1400" i="1" dirty="0" smtClean="0">
                                <a:solidFill>
                                  <a:srgbClr val="7030A0"/>
                                </a:solidFill>
                                <a:latin typeface="Cambria Math" panose="02040503050406030204" pitchFamily="18" charset="0"/>
                              </a:rPr>
                            </m:ctrlPr>
                          </m:sSubPr>
                          <m:e>
                            <m:r>
                              <a:rPr lang="en-US" sz="1400" i="1" dirty="0" smtClean="0">
                                <a:solidFill>
                                  <a:srgbClr val="7030A0"/>
                                </a:solidFill>
                                <a:latin typeface="Cambria Math" panose="02040503050406030204" pitchFamily="18" charset="0"/>
                              </a:rPr>
                              <m:t>𝑇</m:t>
                            </m:r>
                          </m:e>
                          <m:sub>
                            <m:r>
                              <a:rPr lang="en-US" sz="1400" b="0" i="0" dirty="0" smtClean="0">
                                <a:solidFill>
                                  <a:srgbClr val="7030A0"/>
                                </a:solidFill>
                                <a:latin typeface="Cambria Math" panose="02040503050406030204" pitchFamily="18" charset="0"/>
                              </a:rPr>
                              <m:t>3</m:t>
                            </m:r>
                          </m:sub>
                        </m:sSub>
                      </m:oMath>
                    </m:oMathPara>
                  </a14:m>
                  <a:endParaRPr lang="en-US" sz="1400" dirty="0">
                    <a:solidFill>
                      <a:srgbClr val="7030A0"/>
                    </a:solidFill>
                  </a:endParaRPr>
                </a:p>
              </p:txBody>
            </p:sp>
          </mc:Choice>
          <mc:Fallback xmlns="">
            <p:sp>
              <p:nvSpPr>
                <p:cNvPr id="21" name="TextBox 20">
                  <a:extLst>
                    <a:ext uri="{FF2B5EF4-FFF2-40B4-BE49-F238E27FC236}">
                      <a16:creationId xmlns:a16="http://schemas.microsoft.com/office/drawing/2014/main" id="{94603E22-86B5-0B6A-46FD-AF12278D4415}"/>
                    </a:ext>
                  </a:extLst>
                </p:cNvPr>
                <p:cNvSpPr txBox="1">
                  <a:spLocks noRot="1" noChangeAspect="1" noMove="1" noResize="1" noEditPoints="1" noAdjustHandles="1" noChangeArrowheads="1" noChangeShapeType="1" noTextEdit="1"/>
                </p:cNvSpPr>
                <p:nvPr/>
              </p:nvSpPr>
              <p:spPr>
                <a:xfrm>
                  <a:off x="9692100" y="5417625"/>
                  <a:ext cx="294788" cy="194965"/>
                </a:xfrm>
                <a:prstGeom prst="rect">
                  <a:avLst/>
                </a:prstGeom>
                <a:blipFill>
                  <a:blip r:embed="rId7"/>
                  <a:stretch>
                    <a:fillRect/>
                  </a:stretch>
                </a:blipFill>
              </p:spPr>
              <p:txBody>
                <a:bodyPr/>
                <a:lstStyle/>
                <a:p>
                  <a:r>
                    <a:rPr lang="en-US">
                      <a:noFill/>
                    </a:rPr>
                    <a:t> </a:t>
                  </a:r>
                </a:p>
              </p:txBody>
            </p:sp>
          </mc:Fallback>
        </mc:AlternateContent>
      </p:grpSp>
      <p:grpSp>
        <p:nvGrpSpPr>
          <p:cNvPr id="38" name="Group 37">
            <a:extLst>
              <a:ext uri="{FF2B5EF4-FFF2-40B4-BE49-F238E27FC236}">
                <a16:creationId xmlns:a16="http://schemas.microsoft.com/office/drawing/2014/main" id="{5E0294EA-1578-1BA2-EBB0-61CDF269BFB3}"/>
              </a:ext>
            </a:extLst>
          </p:cNvPr>
          <p:cNvGrpSpPr/>
          <p:nvPr/>
        </p:nvGrpSpPr>
        <p:grpSpPr>
          <a:xfrm>
            <a:off x="694889" y="4648971"/>
            <a:ext cx="10578994" cy="461666"/>
            <a:chOff x="1140934" y="2173407"/>
            <a:chExt cx="10578994" cy="461666"/>
          </a:xfrm>
        </p:grpSpPr>
        <p:grpSp>
          <p:nvGrpSpPr>
            <p:cNvPr id="27" name="Group 26">
              <a:extLst>
                <a:ext uri="{FF2B5EF4-FFF2-40B4-BE49-F238E27FC236}">
                  <a16:creationId xmlns:a16="http://schemas.microsoft.com/office/drawing/2014/main" id="{AC600098-3D9C-262B-0EDD-FA6F3D34A228}"/>
                </a:ext>
              </a:extLst>
            </p:cNvPr>
            <p:cNvGrpSpPr/>
            <p:nvPr/>
          </p:nvGrpSpPr>
          <p:grpSpPr>
            <a:xfrm>
              <a:off x="1140934" y="2173407"/>
              <a:ext cx="5498964" cy="461666"/>
              <a:chOff x="6096000" y="5231014"/>
              <a:chExt cx="3835949" cy="294300"/>
            </a:xfrm>
          </p:grpSpPr>
          <p:cxnSp>
            <p:nvCxnSpPr>
              <p:cNvPr id="28" name="Straight Connector 27">
                <a:extLst>
                  <a:ext uri="{FF2B5EF4-FFF2-40B4-BE49-F238E27FC236}">
                    <a16:creationId xmlns:a16="http://schemas.microsoft.com/office/drawing/2014/main" id="{E40C9904-115D-A676-8BF6-256167198D56}"/>
                  </a:ext>
                </a:extLst>
              </p:cNvPr>
              <p:cNvCxnSpPr>
                <a:cxnSpLocks/>
              </p:cNvCxnSpPr>
              <p:nvPr/>
            </p:nvCxnSpPr>
            <p:spPr>
              <a:xfrm flipV="1">
                <a:off x="6096000" y="5361980"/>
                <a:ext cx="3529333" cy="6"/>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839F79-CAD7-957F-E887-D2919FE533C1}"/>
                      </a:ext>
                    </a:extLst>
                  </p:cNvPr>
                  <p:cNvSpPr txBox="1"/>
                  <p:nvPr/>
                </p:nvSpPr>
                <p:spPr>
                  <a:xfrm>
                    <a:off x="9625333" y="5231014"/>
                    <a:ext cx="306616" cy="294300"/>
                  </a:xfrm>
                  <a:prstGeom prst="rect">
                    <a:avLst/>
                  </a:prstGeom>
                  <a:noFill/>
                </p:spPr>
                <p:txBody>
                  <a:bodyPr wrap="none" rtlCol="0">
                    <a:spAutoFit/>
                  </a:bodyPr>
                  <a:lstStyle/>
                  <a:p>
                    <a:pPr/>
                    <a14:m>
                      <m:oMathPara xmlns:m="http://schemas.openxmlformats.org/officeDocument/2006/math">
                        <m:oMath>
                          <m:r>
                            <a:rPr lang="en-US" sz="2400" b="1" i="1" dirty="0" smtClean="0">
                              <a:solidFill>
                                <a:srgbClr val="FF0000"/>
                              </a:solidFill>
                              <a:latin typeface="Cambria Math" panose="02040503050406030204" pitchFamily="18" charset="0"/>
                            </a:rPr>
                            <m:t>𝜽</m:t>
                          </m:r>
                        </m:oMath>
                      </m:oMathPara>
                    </a14:m>
                    <a:endParaRPr lang="en-US" sz="1400" b="1" dirty="0">
                      <a:solidFill>
                        <a:srgbClr val="FF0000"/>
                      </a:solidFill>
                    </a:endParaRPr>
                  </a:p>
                </p:txBody>
              </p:sp>
            </mc:Choice>
            <mc:Fallback xmlns="">
              <p:sp>
                <p:nvSpPr>
                  <p:cNvPr id="30" name="TextBox 29">
                    <a:extLst>
                      <a:ext uri="{FF2B5EF4-FFF2-40B4-BE49-F238E27FC236}">
                        <a16:creationId xmlns:a16="http://schemas.microsoft.com/office/drawing/2014/main" id="{12839F79-CAD7-957F-E887-D2919FE533C1}"/>
                      </a:ext>
                    </a:extLst>
                  </p:cNvPr>
                  <p:cNvSpPr txBox="1">
                    <a:spLocks noRot="1" noChangeAspect="1" noMove="1" noResize="1" noEditPoints="1" noAdjustHandles="1" noChangeArrowheads="1" noChangeShapeType="1" noTextEdit="1"/>
                  </p:cNvSpPr>
                  <p:nvPr/>
                </p:nvSpPr>
                <p:spPr>
                  <a:xfrm>
                    <a:off x="9625333" y="5231014"/>
                    <a:ext cx="306616" cy="294300"/>
                  </a:xfrm>
                  <a:prstGeom prst="rect">
                    <a:avLst/>
                  </a:prstGeom>
                  <a:blipFill>
                    <a:blip r:embed="rId8"/>
                    <a:stretch>
                      <a:fillRect/>
                    </a:stretch>
                  </a:blipFill>
                </p:spPr>
                <p:txBody>
                  <a:bodyPr/>
                  <a:lstStyle/>
                  <a:p>
                    <a:r>
                      <a:rPr lang="en-US">
                        <a:noFill/>
                      </a:rPr>
                      <a:t> </a:t>
                    </a:r>
                  </a:p>
                </p:txBody>
              </p:sp>
            </mc:Fallback>
          </mc:AlternateContent>
        </p:grpSp>
        <p:cxnSp>
          <p:nvCxnSpPr>
            <p:cNvPr id="34" name="Straight Connector 33">
              <a:extLst>
                <a:ext uri="{FF2B5EF4-FFF2-40B4-BE49-F238E27FC236}">
                  <a16:creationId xmlns:a16="http://schemas.microsoft.com/office/drawing/2014/main" id="{168D43D4-7BD6-C9E5-025F-353F0EF5CD80}"/>
                </a:ext>
              </a:extLst>
            </p:cNvPr>
            <p:cNvCxnSpPr>
              <a:cxnSpLocks/>
            </p:cNvCxnSpPr>
            <p:nvPr/>
          </p:nvCxnSpPr>
          <p:spPr>
            <a:xfrm>
              <a:off x="6869147" y="2378853"/>
              <a:ext cx="4850781"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3CFF18F-813F-A262-20F9-74C812FA0D2F}"/>
                  </a:ext>
                </a:extLst>
              </p:cNvPr>
              <p:cNvSpPr txBox="1"/>
              <p:nvPr/>
            </p:nvSpPr>
            <p:spPr>
              <a:xfrm>
                <a:off x="748480" y="1120883"/>
                <a:ext cx="10447344"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Two teams can have the same average performance but different concentrations of competitively relevant players.</a:t>
                </a:r>
              </a:p>
              <a:p>
                <a:pPr marL="285750" indent="-285750">
                  <a:lnSpc>
                    <a:spcPct val="200000"/>
                  </a:lnSpc>
                  <a:buFont typeface="Arial" panose="020B0604020202020204" pitchFamily="34" charset="0"/>
                  <a:buChar char="•"/>
                </a:pPr>
                <a:r>
                  <a:rPr lang="en-US" dirty="0"/>
                  <a:t>Using the same </a:t>
                </a:r>
                <a14:m>
                  <m:oMath xmlns:m="http://schemas.openxmlformats.org/officeDocument/2006/math">
                    <m:r>
                      <a:rPr lang="en-US" i="1" dirty="0" smtClean="0">
                        <a:solidFill>
                          <a:srgbClr val="0432FF"/>
                        </a:solidFill>
                        <a:latin typeface="Cambria Math" panose="02040503050406030204" pitchFamily="18" charset="0"/>
                      </a:rPr>
                      <m:t>𝜃</m:t>
                    </m:r>
                  </m:oMath>
                </a14:m>
                <a:r>
                  <a:rPr lang="en-US" dirty="0"/>
                  <a:t>and </a:t>
                </a:r>
                <a14:m>
                  <m:oMath xmlns:m="http://schemas.openxmlformats.org/officeDocument/2006/math">
                    <m:r>
                      <a:rPr lang="en-US" i="1" dirty="0" smtClean="0">
                        <a:solidFill>
                          <a:srgbClr val="0432FF"/>
                        </a:solidFill>
                        <a:latin typeface="Cambria Math" panose="02040503050406030204" pitchFamily="18" charset="0"/>
                      </a:rPr>
                      <m:t>𝛾</m:t>
                    </m:r>
                  </m:oMath>
                </a14:m>
                <a:r>
                  <a:rPr lang="en-US" dirty="0"/>
                  <a:t> for both teams, </a:t>
                </a:r>
                <a:r>
                  <a:rPr lang="en-US" b="1" dirty="0"/>
                  <a:t>roster pressure </a:t>
                </a:r>
                <a:r>
                  <a:rPr lang="en-US" dirty="0"/>
                  <a:t>captures a difference that the team average alone does not reveal</a:t>
                </a:r>
              </a:p>
              <a:p>
                <a:pPr marL="285750" indent="-285750">
                  <a:lnSpc>
                    <a:spcPct val="200000"/>
                  </a:lnSpc>
                  <a:buFont typeface="Arial" panose="020B0604020202020204" pitchFamily="34" charset="0"/>
                  <a:buChar char="•"/>
                </a:pPr>
                <a:r>
                  <a:rPr lang="en-US" dirty="0"/>
                  <a:t>Here </a:t>
                </a:r>
                <a14:m>
                  <m:oMath xmlns:m="http://schemas.openxmlformats.org/officeDocument/2006/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𝑇</m:t>
                        </m:r>
                      </m:e>
                      <m:sub>
                        <m:r>
                          <a:rPr lang="en-US" i="0" dirty="0" smtClean="0">
                            <a:solidFill>
                              <a:srgbClr val="0432FF"/>
                            </a:solidFill>
                            <a:latin typeface="Cambria Math" panose="02040503050406030204" pitchFamily="18" charset="0"/>
                          </a:rPr>
                          <m:t>5</m:t>
                        </m:r>
                      </m:sub>
                    </m:sSub>
                    <m:r>
                      <a:rPr lang="en-US" i="0" dirty="0" smtClean="0">
                        <a:solidFill>
                          <a:srgbClr val="0432FF"/>
                        </a:solidFill>
                        <a:latin typeface="Cambria Math" panose="02040503050406030204" pitchFamily="18" charset="0"/>
                      </a:rPr>
                      <m: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𝑇</m:t>
                        </m:r>
                      </m:e>
                      <m:sub>
                        <m:r>
                          <a:rPr lang="en-US" i="0" dirty="0" smtClean="0">
                            <a:solidFill>
                              <a:srgbClr val="0432FF"/>
                            </a:solidFill>
                            <a:latin typeface="Cambria Math" panose="02040503050406030204" pitchFamily="18" charset="0"/>
                          </a:rPr>
                          <m:t>3</m:t>
                        </m:r>
                      </m:sub>
                    </m:sSub>
                  </m:oMath>
                </a14:m>
                <a:r>
                  <a:rPr lang="en-US" dirty="0"/>
                  <a:t>,   yet   </a:t>
                </a:r>
                <a14:m>
                  <m:oMath xmlns:m="http://schemas.openxmlformats.org/officeDocument/2006/math">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𝐶</m:t>
                        </m:r>
                      </m:e>
                      <m:sub>
                        <m:r>
                          <a:rPr lang="en-US" i="0" dirty="0" smtClean="0">
                            <a:solidFill>
                              <a:srgbClr val="0432FF"/>
                            </a:solidFill>
                            <a:latin typeface="Cambria Math" panose="02040503050406030204" pitchFamily="18" charset="0"/>
                          </a:rPr>
                          <m:t>5</m:t>
                        </m:r>
                      </m:sub>
                    </m:sSub>
                    <m:r>
                      <a:rPr lang="en-US" i="0" dirty="0" smtClean="0">
                        <a:solidFill>
                          <a:srgbClr val="0432FF"/>
                        </a:solidFill>
                        <a:latin typeface="Cambria Math" panose="02040503050406030204" pitchFamily="18" charset="0"/>
                      </a:rPr>
                      <m:t>&lt;</m:t>
                    </m:r>
                    <m:sSub>
                      <m:sSubPr>
                        <m:ctrlPr>
                          <a:rPr lang="en-US" i="1" dirty="0" smtClean="0">
                            <a:solidFill>
                              <a:srgbClr val="0432FF"/>
                            </a:solidFill>
                            <a:latin typeface="Cambria Math" panose="02040503050406030204" pitchFamily="18" charset="0"/>
                          </a:rPr>
                        </m:ctrlPr>
                      </m:sSubPr>
                      <m:e>
                        <m:r>
                          <a:rPr lang="en-US" i="1" dirty="0" smtClean="0">
                            <a:solidFill>
                              <a:srgbClr val="0432FF"/>
                            </a:solidFill>
                            <a:latin typeface="Cambria Math" panose="02040503050406030204" pitchFamily="18" charset="0"/>
                          </a:rPr>
                          <m:t>𝐶</m:t>
                        </m:r>
                      </m:e>
                      <m:sub>
                        <m:r>
                          <a:rPr lang="en-US" i="0" dirty="0" smtClean="0">
                            <a:solidFill>
                              <a:srgbClr val="0432FF"/>
                            </a:solidFill>
                            <a:latin typeface="Cambria Math" panose="02040503050406030204" pitchFamily="18" charset="0"/>
                          </a:rPr>
                          <m:t>3</m:t>
                        </m:r>
                      </m:sub>
                    </m:sSub>
                  </m:oMath>
                </a14:m>
                <a:endParaRPr lang="en-US" dirty="0">
                  <a:solidFill>
                    <a:srgbClr val="0432FF"/>
                  </a:solidFill>
                </a:endParaRPr>
              </a:p>
            </p:txBody>
          </p:sp>
        </mc:Choice>
        <mc:Fallback xmlns="">
          <p:sp>
            <p:nvSpPr>
              <p:cNvPr id="43" name="TextBox 42">
                <a:extLst>
                  <a:ext uri="{FF2B5EF4-FFF2-40B4-BE49-F238E27FC236}">
                    <a16:creationId xmlns:a16="http://schemas.microsoft.com/office/drawing/2014/main" id="{03CFF18F-813F-A262-20F9-74C812FA0D2F}"/>
                  </a:ext>
                </a:extLst>
              </p:cNvPr>
              <p:cNvSpPr txBox="1">
                <a:spLocks noRot="1" noChangeAspect="1" noMove="1" noResize="1" noEditPoints="1" noAdjustHandles="1" noChangeArrowheads="1" noChangeShapeType="1" noTextEdit="1"/>
              </p:cNvSpPr>
              <p:nvPr/>
            </p:nvSpPr>
            <p:spPr>
              <a:xfrm>
                <a:off x="748480" y="1120883"/>
                <a:ext cx="10447344" cy="2787751"/>
              </a:xfrm>
              <a:prstGeom prst="rect">
                <a:avLst/>
              </a:prstGeom>
              <a:blipFill>
                <a:blip r:embed="rId9"/>
                <a:stretch>
                  <a:fillRect l="-486" b="-2273"/>
                </a:stretch>
              </a:blipFill>
            </p:spPr>
            <p:txBody>
              <a:bodyPr/>
              <a:lstStyle/>
              <a:p>
                <a:r>
                  <a:rPr lang="en-US">
                    <a:noFill/>
                  </a:rPr>
                  <a:t> </a:t>
                </a:r>
              </a:p>
            </p:txBody>
          </p:sp>
        </mc:Fallback>
      </mc:AlternateContent>
    </p:spTree>
    <p:extLst>
      <p:ext uri="{BB962C8B-B14F-4D97-AF65-F5344CB8AC3E}">
        <p14:creationId xmlns:p14="http://schemas.microsoft.com/office/powerpoint/2010/main" val="3159720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9C9A-D599-1813-06DC-1CBA20156424}"/>
            </a:ext>
          </a:extLst>
        </p:cNvPr>
        <p:cNvGrpSpPr/>
        <p:nvPr/>
      </p:nvGrpSpPr>
      <p:grpSpPr>
        <a:xfrm>
          <a:off x="0" y="0"/>
          <a:ext cx="0" cy="0"/>
          <a:chOff x="0" y="0"/>
          <a:chExt cx="0" cy="0"/>
        </a:xfrm>
      </p:grpSpPr>
      <p:pic>
        <p:nvPicPr>
          <p:cNvPr id="3" name="Picture 2" descr="Image preview">
            <a:extLst>
              <a:ext uri="{FF2B5EF4-FFF2-40B4-BE49-F238E27FC236}">
                <a16:creationId xmlns:a16="http://schemas.microsoft.com/office/drawing/2014/main" id="{E5B4A4B3-210F-90B0-F613-7BC96C4FF298}"/>
              </a:ext>
            </a:extLst>
          </p:cNvPr>
          <p:cNvPicPr>
            <a:picLocks noChangeAspect="1"/>
          </p:cNvPicPr>
          <p:nvPr/>
        </p:nvPicPr>
        <p:blipFill>
          <a:blip r:embed="rId3"/>
          <a:stretch>
            <a:fillRect/>
          </a:stretch>
        </p:blipFill>
        <p:spPr>
          <a:xfrm>
            <a:off x="198864" y="362325"/>
            <a:ext cx="6542048" cy="6345224"/>
          </a:xfrm>
          <a:prstGeom prst="rect">
            <a:avLst/>
          </a:prstGeom>
        </p:spPr>
      </p:pic>
      <p:sp>
        <p:nvSpPr>
          <p:cNvPr id="9" name="Slide Number Placeholder 8">
            <a:extLst>
              <a:ext uri="{FF2B5EF4-FFF2-40B4-BE49-F238E27FC236}">
                <a16:creationId xmlns:a16="http://schemas.microsoft.com/office/drawing/2014/main" id="{A83370A5-53F7-B5E9-C636-67893C5D481B}"/>
              </a:ext>
            </a:extLst>
          </p:cNvPr>
          <p:cNvSpPr>
            <a:spLocks noGrp="1"/>
          </p:cNvSpPr>
          <p:nvPr>
            <p:ph type="sldNum" sz="quarter" idx="12"/>
          </p:nvPr>
        </p:nvSpPr>
        <p:spPr/>
        <p:txBody>
          <a:bodyPr/>
          <a:lstStyle/>
          <a:p>
            <a:fld id="{387B101D-DD3C-9947-BBAC-237D8FE858E0}" type="slidenum">
              <a:rPr lang="en-US" smtClean="0"/>
              <a:t>62</a:t>
            </a:fld>
            <a:endParaRPr lang="en-US"/>
          </a:p>
        </p:txBody>
      </p:sp>
      <p:sp>
        <p:nvSpPr>
          <p:cNvPr id="8" name="TextBox 7">
            <a:extLst>
              <a:ext uri="{FF2B5EF4-FFF2-40B4-BE49-F238E27FC236}">
                <a16:creationId xmlns:a16="http://schemas.microsoft.com/office/drawing/2014/main" id="{888DE5A6-9648-02A2-2477-A511A7FE07FA}"/>
              </a:ext>
            </a:extLst>
          </p:cNvPr>
          <p:cNvSpPr txBox="1"/>
          <p:nvPr/>
        </p:nvSpPr>
        <p:spPr>
          <a:xfrm>
            <a:off x="7129611" y="376651"/>
            <a:ext cx="4592104" cy="707886"/>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When does congestion change who is selected?</a:t>
            </a:r>
          </a:p>
        </p:txBody>
      </p:sp>
      <p:sp>
        <p:nvSpPr>
          <p:cNvPr id="6" name="TextBox 5">
            <a:extLst>
              <a:ext uri="{FF2B5EF4-FFF2-40B4-BE49-F238E27FC236}">
                <a16:creationId xmlns:a16="http://schemas.microsoft.com/office/drawing/2014/main" id="{BCC67F72-3A27-DC05-5AAF-C2D5CBA7100B}"/>
              </a:ext>
            </a:extLst>
          </p:cNvPr>
          <p:cNvSpPr txBox="1"/>
          <p:nvPr/>
        </p:nvSpPr>
        <p:spPr>
          <a:xfrm>
            <a:off x="7129611" y="3534937"/>
            <a:ext cx="4746437" cy="923330"/>
          </a:xfrm>
          <a:prstGeom prst="rect">
            <a:avLst/>
          </a:prstGeom>
          <a:noFill/>
        </p:spPr>
        <p:txBody>
          <a:bodyPr wrap="square">
            <a:spAutoFit/>
          </a:bodyPr>
          <a:lstStyle/>
          <a:p>
            <a:pPr marL="285750" indent="-285750">
              <a:buFont typeface="Arial" panose="020B0604020202020204" pitchFamily="34" charset="0"/>
              <a:buChar char="•"/>
            </a:pPr>
            <a:r>
              <a:rPr lang="en-US" dirty="0"/>
              <a:t>This illustration uses deterministic top-three selection, so the changes come entirely from congestion.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FF8FCBD-0A65-BD4F-9B4B-A16CC7B1649F}"/>
                  </a:ext>
                </a:extLst>
              </p:cNvPr>
              <p:cNvSpPr txBox="1"/>
              <p:nvPr/>
            </p:nvSpPr>
            <p:spPr>
              <a:xfrm>
                <a:off x="6740912" y="2025734"/>
                <a:ext cx="4845204" cy="531684"/>
              </a:xfrm>
              <a:prstGeom prst="rect">
                <a:avLst/>
              </a:prstGeom>
              <a:noFill/>
            </p:spPr>
            <p:txBody>
              <a:bodyPr wrap="square">
                <a:spAutoFit/>
              </a:bodyPr>
              <a:lstStyle/>
              <a:p>
                <a:pPr algn="ctr"/>
                <a14:m>
                  <m:oMathPara xmlns:m="http://schemas.openxmlformats.org/officeDocument/2006/math">
                    <m:oMath>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𝑆</m:t>
                          </m:r>
                        </m:e>
                        <m:sub>
                          <m:r>
                            <a:rPr lang="en-US" sz="2400" i="1" dirty="0" smtClean="0">
                              <a:solidFill>
                                <a:srgbClr val="0432FF"/>
                              </a:solidFill>
                              <a:latin typeface="Cambria Math" panose="02040503050406030204" pitchFamily="18" charset="0"/>
                            </a:rPr>
                            <m:t>𝑖</m:t>
                          </m:r>
                        </m:sub>
                      </m:sSub>
                      <m:r>
                        <a:rPr lang="en-US" sz="2400" i="0"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𝐴</m:t>
                          </m:r>
                        </m:e>
                        <m:sub>
                          <m:r>
                            <a:rPr lang="en-US" sz="2400" i="1" dirty="0" smtClean="0">
                              <a:solidFill>
                                <a:srgbClr val="0432FF"/>
                              </a:solidFill>
                              <a:latin typeface="Cambria Math" panose="02040503050406030204" pitchFamily="18" charset="0"/>
                            </a:rPr>
                            <m:t>𝑖</m:t>
                          </m:r>
                        </m:sub>
                      </m:sSub>
                      <m:r>
                        <a:rPr lang="en-US" sz="2400" i="0" dirty="0" smtClean="0">
                          <a:solidFill>
                            <a:srgbClr val="0432FF"/>
                          </a:solidFill>
                          <a:latin typeface="Cambria Math" panose="02040503050406030204" pitchFamily="18" charset="0"/>
                        </a:rPr>
                        <m:t>−</m:t>
                      </m:r>
                      <m:r>
                        <a:rPr lang="en-US" sz="2400" i="1" dirty="0" smtClean="0">
                          <a:solidFill>
                            <a:srgbClr val="0432FF"/>
                          </a:solidFill>
                          <a:latin typeface="Cambria Math" panose="02040503050406030204" pitchFamily="18" charset="0"/>
                        </a:rPr>
                        <m:t>𝜆</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𝐶</m:t>
                          </m:r>
                        </m:e>
                        <m:sub>
                          <m:r>
                            <a:rPr lang="en-US" sz="2400" i="1" dirty="0" smtClean="0">
                              <a:solidFill>
                                <a:srgbClr val="0432FF"/>
                              </a:solidFill>
                              <a:latin typeface="Cambria Math" panose="02040503050406030204" pitchFamily="18" charset="0"/>
                            </a:rPr>
                            <m:t>𝑖</m:t>
                          </m:r>
                        </m:sub>
                      </m:sSub>
                      <m:r>
                        <a:rPr lang="en-US" sz="2400" i="0" dirty="0" smtClean="0">
                          <a:solidFill>
                            <a:srgbClr val="0432FF"/>
                          </a:solidFill>
                          <a:latin typeface="Cambria Math" panose="02040503050406030204" pitchFamily="18" charset="0"/>
                        </a:rPr>
                        <m:t>,  </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𝐶</m:t>
                          </m:r>
                        </m:e>
                        <m:sub>
                          <m:r>
                            <a:rPr lang="en-US" sz="2400" i="1" dirty="0" smtClean="0">
                              <a:solidFill>
                                <a:srgbClr val="0432FF"/>
                              </a:solidFill>
                              <a:latin typeface="Cambria Math" panose="02040503050406030204" pitchFamily="18" charset="0"/>
                            </a:rPr>
                            <m:t>𝑖</m:t>
                          </m:r>
                        </m:sub>
                      </m:sSub>
                      <m:r>
                        <a:rPr lang="en-US" sz="2400" i="0" dirty="0" smtClean="0">
                          <a:solidFill>
                            <a:srgbClr val="0432FF"/>
                          </a:solidFill>
                          <a:latin typeface="Cambria Math" panose="02040503050406030204" pitchFamily="18" charset="0"/>
                        </a:rPr>
                        <m:t>=</m:t>
                      </m:r>
                      <m:sSub>
                        <m:sSubPr>
                          <m:ctrlPr>
                            <a:rPr lang="en-US" sz="2400" i="1" dirty="0" smtClean="0">
                              <a:solidFill>
                                <a:srgbClr val="0432FF"/>
                              </a:solidFill>
                              <a:latin typeface="Cambria Math" panose="02040503050406030204" pitchFamily="18" charset="0"/>
                            </a:rPr>
                          </m:ctrlPr>
                        </m:sSubPr>
                        <m:e>
                          <m:r>
                            <a:rPr lang="en-US" sz="2400" i="1" dirty="0" smtClean="0">
                              <a:solidFill>
                                <a:srgbClr val="0432FF"/>
                              </a:solidFill>
                              <a:latin typeface="Cambria Math" panose="02040503050406030204" pitchFamily="18" charset="0"/>
                            </a:rPr>
                            <m:t>𝐶</m:t>
                          </m:r>
                        </m:e>
                        <m:sub>
                          <m:r>
                            <a:rPr lang="en-US" sz="2400" i="1" dirty="0" smtClean="0">
                              <a:solidFill>
                                <a:srgbClr val="0432FF"/>
                              </a:solidFill>
                              <a:latin typeface="Cambria Math" panose="02040503050406030204" pitchFamily="18" charset="0"/>
                            </a:rPr>
                            <m:t>𝑔</m:t>
                          </m:r>
                          <m:d>
                            <m:dPr>
                              <m:ctrlPr>
                                <a:rPr lang="en-US" sz="2400" i="1" dirty="0" smtClean="0">
                                  <a:solidFill>
                                    <a:srgbClr val="0432FF"/>
                                  </a:solidFill>
                                  <a:latin typeface="Cambria Math" panose="02040503050406030204" pitchFamily="18" charset="0"/>
                                </a:rPr>
                              </m:ctrlPr>
                            </m:dPr>
                            <m:e>
                              <m:r>
                                <a:rPr lang="en-US" sz="2400" i="1" dirty="0" smtClean="0">
                                  <a:solidFill>
                                    <a:srgbClr val="0432FF"/>
                                  </a:solidFill>
                                  <a:latin typeface="Cambria Math" panose="02040503050406030204" pitchFamily="18" charset="0"/>
                                </a:rPr>
                                <m:t>𝑖</m:t>
                              </m:r>
                            </m:e>
                          </m:d>
                        </m:sub>
                      </m:sSub>
                    </m:oMath>
                  </m:oMathPara>
                </a14:m>
                <a:endParaRPr lang="en-US" sz="2400" dirty="0">
                  <a:solidFill>
                    <a:srgbClr val="0432FF"/>
                  </a:solidFill>
                </a:endParaRPr>
              </a:p>
            </p:txBody>
          </p:sp>
        </mc:Choice>
        <mc:Fallback xmlns="">
          <p:sp>
            <p:nvSpPr>
              <p:cNvPr id="10" name="TextBox 9">
                <a:extLst>
                  <a:ext uri="{FF2B5EF4-FFF2-40B4-BE49-F238E27FC236}">
                    <a16:creationId xmlns:a16="http://schemas.microsoft.com/office/drawing/2014/main" id="{5FF8FCBD-0A65-BD4F-9B4B-A16CC7B1649F}"/>
                  </a:ext>
                </a:extLst>
              </p:cNvPr>
              <p:cNvSpPr txBox="1">
                <a:spLocks noRot="1" noChangeAspect="1" noMove="1" noResize="1" noEditPoints="1" noAdjustHandles="1" noChangeArrowheads="1" noChangeShapeType="1" noTextEdit="1"/>
              </p:cNvSpPr>
              <p:nvPr/>
            </p:nvSpPr>
            <p:spPr>
              <a:xfrm>
                <a:off x="6740912" y="2025734"/>
                <a:ext cx="4845204" cy="531684"/>
              </a:xfrm>
              <a:prstGeom prst="rect">
                <a:avLst/>
              </a:prstGeom>
              <a:blipFill>
                <a:blip r:embed="rId4"/>
                <a:stretch>
                  <a:fillRect b="-18605"/>
                </a:stretch>
              </a:blipFill>
            </p:spPr>
            <p:txBody>
              <a:bodyPr/>
              <a:lstStyle/>
              <a:p>
                <a:r>
                  <a:rPr lang="en-US">
                    <a:noFill/>
                  </a:rPr>
                  <a:t> </a:t>
                </a:r>
              </a:p>
            </p:txBody>
          </p:sp>
        </mc:Fallback>
      </mc:AlternateContent>
    </p:spTree>
    <p:extLst>
      <p:ext uri="{BB962C8B-B14F-4D97-AF65-F5344CB8AC3E}">
        <p14:creationId xmlns:p14="http://schemas.microsoft.com/office/powerpoint/2010/main" val="793216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6745A-F3D9-72A4-7DD7-DCEBDE2DA0F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6017084-411E-1701-5BF8-47F1F3691872}"/>
              </a:ext>
            </a:extLst>
          </p:cNvPr>
          <p:cNvPicPr>
            <a:picLocks noChangeAspect="1"/>
          </p:cNvPicPr>
          <p:nvPr/>
        </p:nvPicPr>
        <p:blipFill>
          <a:blip r:embed="rId2"/>
          <a:srcRect/>
          <a:stretch/>
        </p:blipFill>
        <p:spPr>
          <a:xfrm>
            <a:off x="1367624" y="1974290"/>
            <a:ext cx="8658664" cy="2435249"/>
          </a:xfrm>
          <a:prstGeom prst="rect">
            <a:avLst/>
          </a:prstGeom>
        </p:spPr>
      </p:pic>
      <p:sp>
        <p:nvSpPr>
          <p:cNvPr id="9" name="Slide Number Placeholder 8">
            <a:extLst>
              <a:ext uri="{FF2B5EF4-FFF2-40B4-BE49-F238E27FC236}">
                <a16:creationId xmlns:a16="http://schemas.microsoft.com/office/drawing/2014/main" id="{E51597CC-EE1D-B253-FE3A-C1DE4FD7F506}"/>
              </a:ext>
            </a:extLst>
          </p:cNvPr>
          <p:cNvSpPr>
            <a:spLocks noGrp="1"/>
          </p:cNvSpPr>
          <p:nvPr>
            <p:ph type="sldNum" sz="quarter" idx="12"/>
          </p:nvPr>
        </p:nvSpPr>
        <p:spPr/>
        <p:txBody>
          <a:bodyPr/>
          <a:lstStyle/>
          <a:p>
            <a:fld id="{387B101D-DD3C-9947-BBAC-237D8FE858E0}" type="slidenum">
              <a:rPr lang="en-US" smtClean="0"/>
              <a:t>63</a:t>
            </a:fld>
            <a:endParaRPr lang="en-US"/>
          </a:p>
        </p:txBody>
      </p:sp>
      <p:sp>
        <p:nvSpPr>
          <p:cNvPr id="8" name="TextBox 7">
            <a:extLst>
              <a:ext uri="{FF2B5EF4-FFF2-40B4-BE49-F238E27FC236}">
                <a16:creationId xmlns:a16="http://schemas.microsoft.com/office/drawing/2014/main" id="{D8D06D95-C9C6-AC8C-C9A5-63377D592C59}"/>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Scarcity informs the competitive threshold</a:t>
            </a:r>
          </a:p>
        </p:txBody>
      </p:sp>
      <p:sp>
        <p:nvSpPr>
          <p:cNvPr id="7" name="Slide Number Placeholder 8">
            <a:extLst>
              <a:ext uri="{FF2B5EF4-FFF2-40B4-BE49-F238E27FC236}">
                <a16:creationId xmlns:a16="http://schemas.microsoft.com/office/drawing/2014/main" id="{507C1BBE-FDFF-A7DD-397D-4925DA0CDBA3}"/>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63</a:t>
            </a:fld>
            <a:endParaRPr lang="en-US"/>
          </a:p>
        </p:txBody>
      </p:sp>
      <p:grpSp>
        <p:nvGrpSpPr>
          <p:cNvPr id="27" name="Group 26">
            <a:extLst>
              <a:ext uri="{FF2B5EF4-FFF2-40B4-BE49-F238E27FC236}">
                <a16:creationId xmlns:a16="http://schemas.microsoft.com/office/drawing/2014/main" id="{AFDA828C-965F-4A42-EF04-BAF653C15DF3}"/>
              </a:ext>
            </a:extLst>
          </p:cNvPr>
          <p:cNvGrpSpPr/>
          <p:nvPr/>
        </p:nvGrpSpPr>
        <p:grpSpPr>
          <a:xfrm>
            <a:off x="-1335716" y="7808260"/>
            <a:ext cx="5498964" cy="461666"/>
            <a:chOff x="6096000" y="5231014"/>
            <a:chExt cx="3835949" cy="294300"/>
          </a:xfrm>
        </p:grpSpPr>
        <p:cxnSp>
          <p:nvCxnSpPr>
            <p:cNvPr id="28" name="Straight Connector 27">
              <a:extLst>
                <a:ext uri="{FF2B5EF4-FFF2-40B4-BE49-F238E27FC236}">
                  <a16:creationId xmlns:a16="http://schemas.microsoft.com/office/drawing/2014/main" id="{132ECEAC-29F7-42BD-2B1E-7E4ADE870227}"/>
                </a:ext>
              </a:extLst>
            </p:cNvPr>
            <p:cNvCxnSpPr>
              <a:cxnSpLocks/>
            </p:cNvCxnSpPr>
            <p:nvPr/>
          </p:nvCxnSpPr>
          <p:spPr>
            <a:xfrm flipV="1">
              <a:off x="6096000" y="5361980"/>
              <a:ext cx="3529333" cy="6"/>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2820D0B-7EF0-8ED3-2BDE-75A034F48933}"/>
                    </a:ext>
                  </a:extLst>
                </p:cNvPr>
                <p:cNvSpPr txBox="1"/>
                <p:nvPr/>
              </p:nvSpPr>
              <p:spPr>
                <a:xfrm>
                  <a:off x="9625333" y="5231014"/>
                  <a:ext cx="306616" cy="294300"/>
                </a:xfrm>
                <a:prstGeom prst="rect">
                  <a:avLst/>
                </a:prstGeom>
                <a:noFill/>
              </p:spPr>
              <p:txBody>
                <a:bodyPr wrap="none" rtlCol="0">
                  <a:spAutoFit/>
                </a:bodyPr>
                <a:lstStyle/>
                <a:p>
                  <a:pPr/>
                  <a14:m>
                    <m:oMathPara xmlns:m="http://schemas.openxmlformats.org/officeDocument/2006/math">
                      <m:oMath>
                        <m:r>
                          <a:rPr lang="en-US" sz="2400" b="1" i="1" dirty="0" smtClean="0">
                            <a:solidFill>
                              <a:srgbClr val="FF0000"/>
                            </a:solidFill>
                            <a:latin typeface="Cambria Math" panose="02040503050406030204" pitchFamily="18" charset="0"/>
                          </a:rPr>
                          <m:t>𝜽</m:t>
                        </m:r>
                      </m:oMath>
                    </m:oMathPara>
                  </a14:m>
                  <a:endParaRPr lang="en-US" sz="1400" b="1" dirty="0">
                    <a:solidFill>
                      <a:srgbClr val="FF0000"/>
                    </a:solidFill>
                  </a:endParaRPr>
                </a:p>
              </p:txBody>
            </p:sp>
          </mc:Choice>
          <mc:Fallback xmlns="">
            <p:sp>
              <p:nvSpPr>
                <p:cNvPr id="30" name="TextBox 29">
                  <a:extLst>
                    <a:ext uri="{FF2B5EF4-FFF2-40B4-BE49-F238E27FC236}">
                      <a16:creationId xmlns:a16="http://schemas.microsoft.com/office/drawing/2014/main" id="{82820D0B-7EF0-8ED3-2BDE-75A034F48933}"/>
                    </a:ext>
                  </a:extLst>
                </p:cNvPr>
                <p:cNvSpPr txBox="1">
                  <a:spLocks noRot="1" noChangeAspect="1" noMove="1" noResize="1" noEditPoints="1" noAdjustHandles="1" noChangeArrowheads="1" noChangeShapeType="1" noTextEdit="1"/>
                </p:cNvSpPr>
                <p:nvPr/>
              </p:nvSpPr>
              <p:spPr>
                <a:xfrm>
                  <a:off x="9625333" y="5231014"/>
                  <a:ext cx="306616" cy="294300"/>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6C7EA4B-7942-F2D7-C95C-55DBEA0A9323}"/>
                  </a:ext>
                </a:extLst>
              </p:cNvPr>
              <p:cNvSpPr txBox="1"/>
              <p:nvPr/>
            </p:nvSpPr>
            <p:spPr>
              <a:xfrm>
                <a:off x="755737" y="641471"/>
                <a:ext cx="10447344" cy="1712969"/>
              </a:xfrm>
              <a:prstGeom prst="rect">
                <a:avLst/>
              </a:prstGeom>
              <a:noFill/>
            </p:spPr>
            <p:txBody>
              <a:bodyPr wrap="square" rtlCol="0">
                <a:spAutoFit/>
              </a:bodyPr>
              <a:lstStyle/>
              <a:p>
                <a:pPr marL="285750" indent="-285750">
                  <a:lnSpc>
                    <a:spcPct val="150000"/>
                  </a:lnSpc>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𝐾</m:t>
                    </m:r>
                    <m:r>
                      <a:rPr lang="en-US" i="0" dirty="0" smtClean="0">
                        <a:latin typeface="Cambria Math" panose="02040503050406030204" pitchFamily="18" charset="0"/>
                      </a:rPr>
                      <m:t>/</m:t>
                    </m:r>
                    <m:r>
                      <a:rPr lang="en-US" i="1" dirty="0" smtClean="0">
                        <a:latin typeface="Cambria Math" panose="02040503050406030204" pitchFamily="18" charset="0"/>
                      </a:rPr>
                      <m:t>𝑁</m:t>
                    </m:r>
                  </m:oMath>
                </a14:m>
                <a:r>
                  <a:rPr lang="en-US" dirty="0"/>
                  <a:t> is the proportion of individuals who can advance. A smaller proportion motivates a higher threshold </a:t>
                </a:r>
                <a14:m>
                  <m:oMath xmlns:m="http://schemas.openxmlformats.org/officeDocument/2006/math">
                    <m:r>
                      <a:rPr lang="en-US" i="1" dirty="0" smtClean="0">
                        <a:latin typeface="Cambria Math" panose="02040503050406030204" pitchFamily="18" charset="0"/>
                      </a:rPr>
                      <m:t>𝜃</m:t>
                    </m:r>
                  </m:oMath>
                </a14:m>
                <a:r>
                  <a:rPr lang="en-US" dirty="0"/>
                  <a:t> for competitive relevance.</a:t>
                </a:r>
              </a:p>
              <a:p>
                <a:pPr marL="285750" indent="-285750">
                  <a:lnSpc>
                    <a:spcPct val="150000"/>
                  </a:lnSpc>
                  <a:buFont typeface="Arial" panose="020B0604020202020204" pitchFamily="34" charset="0"/>
                  <a:buChar char="•"/>
                </a:pPr>
                <a:r>
                  <a:rPr lang="en-US" dirty="0"/>
                  <a:t>For illustration, when </a:t>
                </a:r>
                <a14:m>
                  <m:oMath xmlns:m="http://schemas.openxmlformats.org/officeDocument/2006/math">
                    <m:r>
                      <a:rPr lang="en-US" i="1" dirty="0" smtClean="0">
                        <a:solidFill>
                          <a:srgbClr val="00B050"/>
                        </a:solidFill>
                        <a:latin typeface="Cambria Math" panose="02040503050406030204" pitchFamily="18" charset="0"/>
                      </a:rPr>
                      <m:t>𝐾</m:t>
                    </m:r>
                    <m:r>
                      <a:rPr lang="en-US" i="0" dirty="0" smtClean="0">
                        <a:solidFill>
                          <a:srgbClr val="00B050"/>
                        </a:solidFill>
                        <a:latin typeface="Cambria Math" panose="02040503050406030204" pitchFamily="18" charset="0"/>
                      </a:rPr>
                      <m:t>/</m:t>
                    </m:r>
                    <m:r>
                      <a:rPr lang="en-US" i="1" dirty="0" smtClean="0">
                        <a:solidFill>
                          <a:srgbClr val="00B050"/>
                        </a:solidFill>
                        <a:latin typeface="Cambria Math" panose="02040503050406030204" pitchFamily="18" charset="0"/>
                      </a:rPr>
                      <m:t>𝑁</m:t>
                    </m:r>
                    <m:r>
                      <a:rPr lang="en-US" i="0" dirty="0" smtClean="0">
                        <a:solidFill>
                          <a:srgbClr val="00B050"/>
                        </a:solidFill>
                        <a:latin typeface="Cambria Math" panose="02040503050406030204" pitchFamily="18" charset="0"/>
                      </a:rPr>
                      <m:t>=0.20</m:t>
                    </m:r>
                  </m:oMath>
                </a14:m>
                <a:r>
                  <a:rPr lang="en-US" dirty="0"/>
                  <a:t>, we set </a:t>
                </a:r>
                <a14:m>
                  <m:oMath xmlns:m="http://schemas.openxmlformats.org/officeDocument/2006/math">
                    <m:r>
                      <a:rPr lang="en-US" i="1" dirty="0" smtClean="0">
                        <a:latin typeface="Cambria Math" panose="02040503050406030204" pitchFamily="18" charset="0"/>
                      </a:rPr>
                      <m:t>𝜃</m:t>
                    </m:r>
                  </m:oMath>
                </a14:m>
                <a:r>
                  <a:rPr lang="en-US" dirty="0"/>
                  <a:t> at the </a:t>
                </a:r>
                <a14:m>
                  <m:oMath xmlns:m="http://schemas.openxmlformats.org/officeDocument/2006/math">
                    <m:r>
                      <a:rPr lang="en-US" dirty="0" smtClean="0">
                        <a:solidFill>
                          <a:srgbClr val="00B050"/>
                        </a:solidFill>
                        <a:latin typeface="Cambria Math" panose="02040503050406030204" pitchFamily="18" charset="0"/>
                      </a:rPr>
                      <m:t>80</m:t>
                    </m:r>
                  </m:oMath>
                </a14:m>
                <a:r>
                  <a:rPr lang="en-US" baseline="30000" dirty="0">
                    <a:solidFill>
                      <a:srgbClr val="00B050"/>
                    </a:solidFill>
                  </a:rPr>
                  <a:t>th</a:t>
                </a:r>
                <a:r>
                  <a:rPr lang="en-US" dirty="0">
                    <a:solidFill>
                      <a:srgbClr val="00B050"/>
                    </a:solidFill>
                  </a:rPr>
                  <a:t> </a:t>
                </a:r>
                <a:r>
                  <a:rPr lang="en-US" dirty="0"/>
                  <a:t>performance percentile; when </a:t>
                </a:r>
                <a14:m>
                  <m:oMath xmlns:m="http://schemas.openxmlformats.org/officeDocument/2006/math">
                    <m:r>
                      <a:rPr lang="en-US" i="1" dirty="0" smtClean="0">
                        <a:solidFill>
                          <a:srgbClr val="FF0000"/>
                        </a:solidFill>
                        <a:latin typeface="Cambria Math" panose="02040503050406030204" pitchFamily="18" charset="0"/>
                      </a:rPr>
                      <m:t>𝐾</m:t>
                    </m:r>
                    <m:r>
                      <a:rPr lang="en-US" i="0" dirty="0" smtClean="0">
                        <a:solidFill>
                          <a:srgbClr val="FF0000"/>
                        </a:solidFill>
                        <a:latin typeface="Cambria Math" panose="02040503050406030204" pitchFamily="18" charset="0"/>
                      </a:rPr>
                      <m:t>/</m:t>
                    </m:r>
                    <m:r>
                      <a:rPr lang="en-US" i="1" dirty="0" smtClean="0">
                        <a:solidFill>
                          <a:srgbClr val="FF0000"/>
                        </a:solidFill>
                        <a:latin typeface="Cambria Math" panose="02040503050406030204" pitchFamily="18" charset="0"/>
                      </a:rPr>
                      <m:t>𝑁</m:t>
                    </m:r>
                    <m:r>
                      <a:rPr lang="en-US" i="0" dirty="0" smtClean="0">
                        <a:solidFill>
                          <a:srgbClr val="FF0000"/>
                        </a:solidFill>
                        <a:latin typeface="Cambria Math" panose="02040503050406030204" pitchFamily="18" charset="0"/>
                      </a:rPr>
                      <m:t>=0.10</m:t>
                    </m:r>
                  </m:oMath>
                </a14:m>
                <a:r>
                  <a:rPr lang="en-US" dirty="0"/>
                  <a:t>, we set it at the </a:t>
                </a:r>
                <a14:m>
                  <m:oMath xmlns:m="http://schemas.openxmlformats.org/officeDocument/2006/math">
                    <m:r>
                      <a:rPr lang="en-US" dirty="0" smtClean="0">
                        <a:solidFill>
                          <a:srgbClr val="FF0000"/>
                        </a:solidFill>
                        <a:latin typeface="Cambria Math" panose="02040503050406030204" pitchFamily="18" charset="0"/>
                      </a:rPr>
                      <m:t>90</m:t>
                    </m:r>
                  </m:oMath>
                </a14:m>
                <a:r>
                  <a:rPr lang="en-US" baseline="30000" dirty="0">
                    <a:solidFill>
                      <a:srgbClr val="FF0000"/>
                    </a:solidFill>
                  </a:rPr>
                  <a:t>th</a:t>
                </a:r>
                <a:r>
                  <a:rPr lang="en-US" dirty="0"/>
                  <a:t> percentile.</a:t>
                </a:r>
              </a:p>
            </p:txBody>
          </p:sp>
        </mc:Choice>
        <mc:Fallback xmlns="">
          <p:sp>
            <p:nvSpPr>
              <p:cNvPr id="43" name="TextBox 42">
                <a:extLst>
                  <a:ext uri="{FF2B5EF4-FFF2-40B4-BE49-F238E27FC236}">
                    <a16:creationId xmlns:a16="http://schemas.microsoft.com/office/drawing/2014/main" id="{06C7EA4B-7942-F2D7-C95C-55DBEA0A9323}"/>
                  </a:ext>
                </a:extLst>
              </p:cNvPr>
              <p:cNvSpPr txBox="1">
                <a:spLocks noRot="1" noChangeAspect="1" noMove="1" noResize="1" noEditPoints="1" noAdjustHandles="1" noChangeArrowheads="1" noChangeShapeType="1" noTextEdit="1"/>
              </p:cNvSpPr>
              <p:nvPr/>
            </p:nvSpPr>
            <p:spPr>
              <a:xfrm>
                <a:off x="755737" y="641471"/>
                <a:ext cx="10447344" cy="1712969"/>
              </a:xfrm>
              <a:prstGeom prst="rect">
                <a:avLst/>
              </a:prstGeom>
              <a:blipFill>
                <a:blip r:embed="rId4"/>
                <a:stretch>
                  <a:fillRect l="-364" r="-121" b="-514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14951A6-2E8B-8BE7-3EEA-49A31E06348D}"/>
              </a:ext>
            </a:extLst>
          </p:cNvPr>
          <p:cNvPicPr>
            <a:picLocks noChangeAspect="1"/>
          </p:cNvPicPr>
          <p:nvPr/>
        </p:nvPicPr>
        <p:blipFill>
          <a:blip r:embed="rId5"/>
          <a:srcRect/>
          <a:stretch/>
        </p:blipFill>
        <p:spPr>
          <a:xfrm>
            <a:off x="1367624" y="4290274"/>
            <a:ext cx="8658663" cy="2435249"/>
          </a:xfrm>
          <a:prstGeom prst="rect">
            <a:avLst/>
          </a:prstGeom>
        </p:spPr>
      </p:pic>
      <p:cxnSp>
        <p:nvCxnSpPr>
          <p:cNvPr id="4" name="Straight Connector 3">
            <a:extLst>
              <a:ext uri="{FF2B5EF4-FFF2-40B4-BE49-F238E27FC236}">
                <a16:creationId xmlns:a16="http://schemas.microsoft.com/office/drawing/2014/main" id="{E509EC2A-B98C-A95E-A2F5-68535017924B}"/>
              </a:ext>
            </a:extLst>
          </p:cNvPr>
          <p:cNvCxnSpPr>
            <a:cxnSpLocks/>
          </p:cNvCxnSpPr>
          <p:nvPr/>
        </p:nvCxnSpPr>
        <p:spPr>
          <a:xfrm>
            <a:off x="3013652" y="3339605"/>
            <a:ext cx="7487962" cy="0"/>
          </a:xfrm>
          <a:prstGeom prst="line">
            <a:avLst/>
          </a:prstGeom>
          <a:ln>
            <a:solidFill>
              <a:srgbClr val="00B050"/>
            </a:solidFill>
            <a:prstDash val="solid"/>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DDF7F8D-8469-7E3A-50F4-FD9E4DFEE15F}"/>
              </a:ext>
            </a:extLst>
          </p:cNvPr>
          <p:cNvCxnSpPr>
            <a:cxnSpLocks/>
          </p:cNvCxnSpPr>
          <p:nvPr/>
        </p:nvCxnSpPr>
        <p:spPr>
          <a:xfrm>
            <a:off x="3014975" y="5599101"/>
            <a:ext cx="7487962" cy="0"/>
          </a:xfrm>
          <a:prstGeom prst="line">
            <a:avLst/>
          </a:prstGeom>
          <a:ln>
            <a:solidFill>
              <a:srgbClr val="FF0000"/>
            </a:solidFill>
            <a:prstDash val="soli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E785F96-EFBF-8E5A-5458-9E480D427A03}"/>
                  </a:ext>
                </a:extLst>
              </p:cNvPr>
              <p:cNvSpPr txBox="1"/>
              <p:nvPr/>
            </p:nvSpPr>
            <p:spPr>
              <a:xfrm>
                <a:off x="10638183" y="3091524"/>
                <a:ext cx="329979" cy="461665"/>
              </a:xfrm>
              <a:prstGeom prst="rect">
                <a:avLst/>
              </a:prstGeom>
              <a:noFill/>
            </p:spPr>
            <p:txBody>
              <a:bodyPr wrap="square">
                <a:spAutoFit/>
              </a:bodyPr>
              <a:lstStyle/>
              <a:p>
                <a:pPr/>
                <a14:m>
                  <m:oMathPara xmlns:m="http://schemas.openxmlformats.org/officeDocument/2006/math">
                    <m:oMath>
                      <m:r>
                        <a:rPr lang="en-US" sz="2400" i="1" dirty="0" smtClean="0">
                          <a:solidFill>
                            <a:srgbClr val="00B050"/>
                          </a:solidFill>
                          <a:latin typeface="Cambria Math" panose="02040503050406030204" pitchFamily="18" charset="0"/>
                        </a:rPr>
                        <m:t>𝜃</m:t>
                      </m:r>
                    </m:oMath>
                  </m:oMathPara>
                </a14:m>
                <a:endParaRPr lang="en-US" sz="2400" dirty="0">
                  <a:solidFill>
                    <a:srgbClr val="00B050"/>
                  </a:solidFill>
                </a:endParaRPr>
              </a:p>
            </p:txBody>
          </p:sp>
        </mc:Choice>
        <mc:Fallback xmlns="">
          <p:sp>
            <p:nvSpPr>
              <p:cNvPr id="22" name="TextBox 21">
                <a:extLst>
                  <a:ext uri="{FF2B5EF4-FFF2-40B4-BE49-F238E27FC236}">
                    <a16:creationId xmlns:a16="http://schemas.microsoft.com/office/drawing/2014/main" id="{AE785F96-EFBF-8E5A-5458-9E480D427A03}"/>
                  </a:ext>
                </a:extLst>
              </p:cNvPr>
              <p:cNvSpPr txBox="1">
                <a:spLocks noRot="1" noChangeAspect="1" noMove="1" noResize="1" noEditPoints="1" noAdjustHandles="1" noChangeArrowheads="1" noChangeShapeType="1" noTextEdit="1"/>
              </p:cNvSpPr>
              <p:nvPr/>
            </p:nvSpPr>
            <p:spPr>
              <a:xfrm>
                <a:off x="10638183" y="3091524"/>
                <a:ext cx="329979" cy="461665"/>
              </a:xfrm>
              <a:prstGeom prst="rect">
                <a:avLst/>
              </a:prstGeom>
              <a:blipFill>
                <a:blip r:embed="rId6"/>
                <a:stretch>
                  <a:fillRect l="-3704" r="-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27E3BF2-D3F3-DCDB-EB44-61A0522CCA9B}"/>
                  </a:ext>
                </a:extLst>
              </p:cNvPr>
              <p:cNvSpPr txBox="1"/>
              <p:nvPr/>
            </p:nvSpPr>
            <p:spPr>
              <a:xfrm>
                <a:off x="10638182" y="5368268"/>
                <a:ext cx="329979" cy="461665"/>
              </a:xfrm>
              <a:prstGeom prst="rect">
                <a:avLst/>
              </a:prstGeom>
              <a:noFill/>
            </p:spPr>
            <p:txBody>
              <a:bodyPr wrap="square">
                <a:spAutoFit/>
              </a:bodyPr>
              <a:lstStyle/>
              <a:p>
                <a:pPr/>
                <a14:m>
                  <m:oMathPara xmlns:m="http://schemas.openxmlformats.org/officeDocument/2006/math">
                    <m:oMath>
                      <m:r>
                        <a:rPr lang="en-US" sz="2400" i="1" dirty="0" smtClean="0">
                          <a:solidFill>
                            <a:srgbClr val="FF0000"/>
                          </a:solidFill>
                          <a:latin typeface="Cambria Math" panose="02040503050406030204" pitchFamily="18" charset="0"/>
                        </a:rPr>
                        <m:t>𝜃</m:t>
                      </m:r>
                    </m:oMath>
                  </m:oMathPara>
                </a14:m>
                <a:endParaRPr lang="en-US" sz="2400" dirty="0">
                  <a:solidFill>
                    <a:srgbClr val="FF0000"/>
                  </a:solidFill>
                </a:endParaRPr>
              </a:p>
            </p:txBody>
          </p:sp>
        </mc:Choice>
        <mc:Fallback xmlns="">
          <p:sp>
            <p:nvSpPr>
              <p:cNvPr id="23" name="TextBox 22">
                <a:extLst>
                  <a:ext uri="{FF2B5EF4-FFF2-40B4-BE49-F238E27FC236}">
                    <a16:creationId xmlns:a16="http://schemas.microsoft.com/office/drawing/2014/main" id="{427E3BF2-D3F3-DCDB-EB44-61A0522CCA9B}"/>
                  </a:ext>
                </a:extLst>
              </p:cNvPr>
              <p:cNvSpPr txBox="1">
                <a:spLocks noRot="1" noChangeAspect="1" noMove="1" noResize="1" noEditPoints="1" noAdjustHandles="1" noChangeArrowheads="1" noChangeShapeType="1" noTextEdit="1"/>
              </p:cNvSpPr>
              <p:nvPr/>
            </p:nvSpPr>
            <p:spPr>
              <a:xfrm>
                <a:off x="10638182" y="5368268"/>
                <a:ext cx="329979" cy="461665"/>
              </a:xfrm>
              <a:prstGeom prst="rect">
                <a:avLst/>
              </a:prstGeom>
              <a:blipFill>
                <a:blip r:embed="rId7"/>
                <a:stretch>
                  <a:fillRect l="-3704" r="-11111"/>
                </a:stretch>
              </a:blipFill>
            </p:spPr>
            <p:txBody>
              <a:bodyPr/>
              <a:lstStyle/>
              <a:p>
                <a:r>
                  <a:rPr lang="en-US">
                    <a:noFill/>
                  </a:rPr>
                  <a:t> </a:t>
                </a:r>
              </a:p>
            </p:txBody>
          </p:sp>
        </mc:Fallback>
      </mc:AlternateContent>
    </p:spTree>
    <p:extLst>
      <p:ext uri="{BB962C8B-B14F-4D97-AF65-F5344CB8AC3E}">
        <p14:creationId xmlns:p14="http://schemas.microsoft.com/office/powerpoint/2010/main" val="1743575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6445D-503B-4F75-7DAB-D277332BC59C}"/>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B51E5EC-9EF4-17A6-ACBB-13C5FD887EF6}"/>
              </a:ext>
            </a:extLst>
          </p:cNvPr>
          <p:cNvSpPr>
            <a:spLocks noGrp="1"/>
          </p:cNvSpPr>
          <p:nvPr>
            <p:ph type="sldNum" sz="quarter" idx="12"/>
          </p:nvPr>
        </p:nvSpPr>
        <p:spPr/>
        <p:txBody>
          <a:bodyPr/>
          <a:lstStyle/>
          <a:p>
            <a:fld id="{387B101D-DD3C-9947-BBAC-237D8FE858E0}" type="slidenum">
              <a:rPr lang="en-US" smtClean="0"/>
              <a:t>64</a:t>
            </a:fld>
            <a:endParaRPr lang="en-US"/>
          </a:p>
        </p:txBody>
      </p:sp>
      <p:sp>
        <p:nvSpPr>
          <p:cNvPr id="8" name="TextBox 7">
            <a:extLst>
              <a:ext uri="{FF2B5EF4-FFF2-40B4-BE49-F238E27FC236}">
                <a16:creationId xmlns:a16="http://schemas.microsoft.com/office/drawing/2014/main" id="{7F949D2C-8431-DCF1-171D-F38282A0897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ASSIGN: varying how strongly similar performers group together</a:t>
            </a:r>
          </a:p>
        </p:txBody>
      </p:sp>
      <p:sp>
        <p:nvSpPr>
          <p:cNvPr id="7" name="Slide Number Placeholder 8">
            <a:extLst>
              <a:ext uri="{FF2B5EF4-FFF2-40B4-BE49-F238E27FC236}">
                <a16:creationId xmlns:a16="http://schemas.microsoft.com/office/drawing/2014/main" id="{44F6F02D-75FE-44F9-8890-020491C21862}"/>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64</a:t>
            </a:fld>
            <a:endParaRPr lang="en-US"/>
          </a:p>
        </p:txBody>
      </p:sp>
      <p:sp>
        <p:nvSpPr>
          <p:cNvPr id="43" name="TextBox 42">
            <a:extLst>
              <a:ext uri="{FF2B5EF4-FFF2-40B4-BE49-F238E27FC236}">
                <a16:creationId xmlns:a16="http://schemas.microsoft.com/office/drawing/2014/main" id="{A56BF661-82B3-9CB1-5A90-5930BB6F236E}"/>
              </a:ext>
            </a:extLst>
          </p:cNvPr>
          <p:cNvSpPr txBox="1"/>
          <p:nvPr/>
        </p:nvSpPr>
        <p:spPr>
          <a:xfrm>
            <a:off x="748480" y="1120883"/>
            <a:ext cx="10447344" cy="167975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So how do players get assigned to teams in the real-world anyway?</a:t>
            </a:r>
          </a:p>
          <a:p>
            <a:pPr marL="285750" indent="-285750">
              <a:lnSpc>
                <a:spcPct val="200000"/>
              </a:lnSpc>
              <a:buFont typeface="Arial" panose="020B0604020202020204" pitchFamily="34" charset="0"/>
              <a:buChar char="•"/>
            </a:pPr>
            <a:r>
              <a:rPr lang="en-US" dirty="0"/>
              <a:t>Is it random?</a:t>
            </a:r>
          </a:p>
          <a:p>
            <a:pPr marL="285750" indent="-285750">
              <a:lnSpc>
                <a:spcPct val="200000"/>
              </a:lnSpc>
              <a:buFont typeface="Arial" panose="020B0604020202020204" pitchFamily="34" charset="0"/>
              <a:buChar char="•"/>
            </a:pPr>
            <a:r>
              <a:rPr lang="en-US" dirty="0"/>
              <a:t>Do we think it looks like this?</a:t>
            </a:r>
          </a:p>
        </p:txBody>
      </p:sp>
      <p:pic>
        <p:nvPicPr>
          <p:cNvPr id="3" name="Picture 2">
            <a:extLst>
              <a:ext uri="{FF2B5EF4-FFF2-40B4-BE49-F238E27FC236}">
                <a16:creationId xmlns:a16="http://schemas.microsoft.com/office/drawing/2014/main" id="{CE457341-4F85-6122-0809-1C29FF84EAD0}"/>
              </a:ext>
            </a:extLst>
          </p:cNvPr>
          <p:cNvPicPr>
            <a:picLocks noChangeAspect="1"/>
          </p:cNvPicPr>
          <p:nvPr/>
        </p:nvPicPr>
        <p:blipFill>
          <a:blip r:embed="rId2"/>
          <a:srcRect/>
          <a:stretch/>
        </p:blipFill>
        <p:spPr>
          <a:xfrm>
            <a:off x="286439" y="3542356"/>
            <a:ext cx="11054080" cy="2763520"/>
          </a:xfrm>
          <a:prstGeom prst="rect">
            <a:avLst/>
          </a:prstGeom>
        </p:spPr>
      </p:pic>
    </p:spTree>
    <p:extLst>
      <p:ext uri="{BB962C8B-B14F-4D97-AF65-F5344CB8AC3E}">
        <p14:creationId xmlns:p14="http://schemas.microsoft.com/office/powerpoint/2010/main" val="34860085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0B716-805D-E4A7-D283-99D3B80F00C1}"/>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2773CB4-41A2-0A54-8F21-873BC9FF8DF4}"/>
              </a:ext>
            </a:extLst>
          </p:cNvPr>
          <p:cNvSpPr>
            <a:spLocks noGrp="1"/>
          </p:cNvSpPr>
          <p:nvPr>
            <p:ph type="sldNum" sz="quarter" idx="12"/>
          </p:nvPr>
        </p:nvSpPr>
        <p:spPr/>
        <p:txBody>
          <a:bodyPr/>
          <a:lstStyle/>
          <a:p>
            <a:fld id="{387B101D-DD3C-9947-BBAC-237D8FE858E0}" type="slidenum">
              <a:rPr lang="en-US" smtClean="0"/>
              <a:t>65</a:t>
            </a:fld>
            <a:endParaRPr lang="en-US"/>
          </a:p>
        </p:txBody>
      </p:sp>
      <p:sp>
        <p:nvSpPr>
          <p:cNvPr id="8" name="TextBox 7">
            <a:extLst>
              <a:ext uri="{FF2B5EF4-FFF2-40B4-BE49-F238E27FC236}">
                <a16:creationId xmlns:a16="http://schemas.microsoft.com/office/drawing/2014/main" id="{47A5523E-A96B-8229-F6B0-A5B705196EB5}"/>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ASSIGN: varying how strongly similar performers group together</a:t>
            </a:r>
          </a:p>
        </p:txBody>
      </p:sp>
      <p:sp>
        <p:nvSpPr>
          <p:cNvPr id="7" name="Slide Number Placeholder 8">
            <a:extLst>
              <a:ext uri="{FF2B5EF4-FFF2-40B4-BE49-F238E27FC236}">
                <a16:creationId xmlns:a16="http://schemas.microsoft.com/office/drawing/2014/main" id="{287E7AD6-7C58-EA22-3638-3E3E0C000F46}"/>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65</a:t>
            </a:fld>
            <a:endParaRPr lang="en-US"/>
          </a:p>
        </p:txBody>
      </p:sp>
      <p:sp>
        <p:nvSpPr>
          <p:cNvPr id="43" name="TextBox 42">
            <a:extLst>
              <a:ext uri="{FF2B5EF4-FFF2-40B4-BE49-F238E27FC236}">
                <a16:creationId xmlns:a16="http://schemas.microsoft.com/office/drawing/2014/main" id="{9C9EBD0C-C72E-8D13-86F6-61A62BBBB010}"/>
              </a:ext>
            </a:extLst>
          </p:cNvPr>
          <p:cNvSpPr txBox="1"/>
          <p:nvPr/>
        </p:nvSpPr>
        <p:spPr>
          <a:xfrm>
            <a:off x="748480" y="1120883"/>
            <a:ext cx="10447344" cy="112575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Or does it look more like this?</a:t>
            </a:r>
          </a:p>
          <a:p>
            <a:pPr marL="285750" indent="-285750">
              <a:lnSpc>
                <a:spcPct val="200000"/>
              </a:lnSpc>
              <a:buFont typeface="Arial" panose="020B0604020202020204" pitchFamily="34" charset="0"/>
              <a:buChar char="•"/>
            </a:pPr>
            <a:r>
              <a:rPr lang="en-US" dirty="0"/>
              <a:t>We investigate whether sorting, combined with congestion, can help explain the observed downturns.</a:t>
            </a:r>
          </a:p>
        </p:txBody>
      </p:sp>
      <p:pic>
        <p:nvPicPr>
          <p:cNvPr id="3" name="Picture 2">
            <a:extLst>
              <a:ext uri="{FF2B5EF4-FFF2-40B4-BE49-F238E27FC236}">
                <a16:creationId xmlns:a16="http://schemas.microsoft.com/office/drawing/2014/main" id="{A73B8FF3-C5EC-C856-C8C2-3257BC43FD5C}"/>
              </a:ext>
            </a:extLst>
          </p:cNvPr>
          <p:cNvPicPr>
            <a:picLocks noChangeAspect="1"/>
          </p:cNvPicPr>
          <p:nvPr/>
        </p:nvPicPr>
        <p:blipFill>
          <a:blip r:embed="rId2"/>
          <a:srcRect/>
          <a:stretch/>
        </p:blipFill>
        <p:spPr>
          <a:xfrm>
            <a:off x="286439" y="3542356"/>
            <a:ext cx="11054080" cy="2763520"/>
          </a:xfrm>
          <a:prstGeom prst="rect">
            <a:avLst/>
          </a:prstGeom>
        </p:spPr>
      </p:pic>
    </p:spTree>
    <p:extLst>
      <p:ext uri="{BB962C8B-B14F-4D97-AF65-F5344CB8AC3E}">
        <p14:creationId xmlns:p14="http://schemas.microsoft.com/office/powerpoint/2010/main" val="28214140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36B7D-59D1-7F06-5B4A-494F193A723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B6639FA-EDC3-8A25-92CF-F205AA82BF16}"/>
              </a:ext>
            </a:extLst>
          </p:cNvPr>
          <p:cNvSpPr>
            <a:spLocks noGrp="1"/>
          </p:cNvSpPr>
          <p:nvPr>
            <p:ph type="sldNum" sz="quarter" idx="12"/>
          </p:nvPr>
        </p:nvSpPr>
        <p:spPr/>
        <p:txBody>
          <a:bodyPr/>
          <a:lstStyle/>
          <a:p>
            <a:fld id="{387B101D-DD3C-9947-BBAC-237D8FE858E0}" type="slidenum">
              <a:rPr lang="en-US" smtClean="0"/>
              <a:t>66</a:t>
            </a:fld>
            <a:endParaRPr lang="en-US"/>
          </a:p>
        </p:txBody>
      </p:sp>
      <p:sp>
        <p:nvSpPr>
          <p:cNvPr id="8" name="TextBox 7">
            <a:extLst>
              <a:ext uri="{FF2B5EF4-FFF2-40B4-BE49-F238E27FC236}">
                <a16:creationId xmlns:a16="http://schemas.microsoft.com/office/drawing/2014/main" id="{6BC828CE-C0CE-C6B9-EB46-697B57D97C8F}"/>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ASSIGN: varying how strongly similar performers group together</a:t>
            </a:r>
          </a:p>
        </p:txBody>
      </p:sp>
      <p:sp>
        <p:nvSpPr>
          <p:cNvPr id="7" name="Slide Number Placeholder 8">
            <a:extLst>
              <a:ext uri="{FF2B5EF4-FFF2-40B4-BE49-F238E27FC236}">
                <a16:creationId xmlns:a16="http://schemas.microsoft.com/office/drawing/2014/main" id="{8FDB60DF-F0A0-FEE1-A7E3-7FC4F7B49146}"/>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66</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FC32B67-F228-482C-C4B7-6D2759B8D522}"/>
                  </a:ext>
                </a:extLst>
              </p:cNvPr>
              <p:cNvSpPr txBox="1"/>
              <p:nvPr/>
            </p:nvSpPr>
            <p:spPr>
              <a:xfrm>
                <a:off x="748480" y="1120883"/>
                <a:ext cx="10447344" cy="1200329"/>
              </a:xfrm>
              <a:prstGeom prst="rect">
                <a:avLst/>
              </a:prstGeom>
              <a:noFill/>
            </p:spPr>
            <p:txBody>
              <a:bodyPr wrap="square" rtlCol="0">
                <a:spAutoFit/>
              </a:bodyPr>
              <a:lstStyle/>
              <a:p>
                <a:pPr marL="342900" indent="-342900">
                  <a:buFont typeface="Arial" panose="020B0604020202020204" pitchFamily="34" charset="0"/>
                  <a:buChar char="•"/>
                </a:pPr>
                <a:r>
                  <a:rPr lang="en-US" dirty="0"/>
                  <a:t>Players join teams probabilistically, based on similarity to the team’s current mean performance and available places.</a:t>
                </a:r>
              </a:p>
              <a:p>
                <a:pPr marL="342900" indent="-342900">
                  <a:buFont typeface="Arial" panose="020B0604020202020204" pitchFamily="34" charset="0"/>
                  <a:buChar char="•"/>
                </a:pPr>
                <a:r>
                  <a:rPr lang="en-US" dirty="0"/>
                  <a:t>The parameter </a:t>
                </a:r>
                <a14:m>
                  <m:oMath xmlns:m="http://schemas.openxmlformats.org/officeDocument/2006/math">
                    <m:r>
                      <a:rPr lang="en-US" i="1" dirty="0" smtClean="0">
                        <a:solidFill>
                          <a:srgbClr val="0432FF"/>
                        </a:solidFill>
                        <a:latin typeface="Cambria Math" panose="02040503050406030204" pitchFamily="18" charset="0"/>
                      </a:rPr>
                      <m:t>𝜌</m:t>
                    </m:r>
                  </m:oMath>
                </a14:m>
                <a:r>
                  <a:rPr lang="en-US" dirty="0"/>
                  <a:t>, a proxy for </a:t>
                </a:r>
                <a:r>
                  <a:rPr lang="en-US" b="1" dirty="0"/>
                  <a:t>homophily</a:t>
                </a:r>
                <a:r>
                  <a:rPr lang="en-US" dirty="0"/>
                  <a:t>, controls the strength preference for similarity; each arrival updates the receiving team’s mean.</a:t>
                </a:r>
              </a:p>
            </p:txBody>
          </p:sp>
        </mc:Choice>
        <mc:Fallback xmlns="">
          <p:sp>
            <p:nvSpPr>
              <p:cNvPr id="43" name="TextBox 42">
                <a:extLst>
                  <a:ext uri="{FF2B5EF4-FFF2-40B4-BE49-F238E27FC236}">
                    <a16:creationId xmlns:a16="http://schemas.microsoft.com/office/drawing/2014/main" id="{8FC32B67-F228-482C-C4B7-6D2759B8D522}"/>
                  </a:ext>
                </a:extLst>
              </p:cNvPr>
              <p:cNvSpPr txBox="1">
                <a:spLocks noRot="1" noChangeAspect="1" noMove="1" noResize="1" noEditPoints="1" noAdjustHandles="1" noChangeArrowheads="1" noChangeShapeType="1" noTextEdit="1"/>
              </p:cNvSpPr>
              <p:nvPr/>
            </p:nvSpPr>
            <p:spPr>
              <a:xfrm>
                <a:off x="748480" y="1120883"/>
                <a:ext cx="10447344" cy="1200329"/>
              </a:xfrm>
              <a:prstGeom prst="rect">
                <a:avLst/>
              </a:prstGeom>
              <a:blipFill>
                <a:blip r:embed="rId2"/>
                <a:stretch>
                  <a:fillRect l="-486" t="-3158" b="-736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5BBFC20-A290-BB35-4584-9F4CDF872796}"/>
              </a:ext>
            </a:extLst>
          </p:cNvPr>
          <p:cNvPicPr>
            <a:picLocks noChangeAspect="1"/>
          </p:cNvPicPr>
          <p:nvPr/>
        </p:nvPicPr>
        <p:blipFill>
          <a:blip r:embed="rId3"/>
          <a:srcRect/>
          <a:stretch/>
        </p:blipFill>
        <p:spPr>
          <a:xfrm>
            <a:off x="286439" y="3955825"/>
            <a:ext cx="11054080" cy="2763520"/>
          </a:xfrm>
          <a:prstGeom prst="rect">
            <a:avLst/>
          </a:prstGeom>
        </p:spPr>
      </p:pic>
    </p:spTree>
    <p:extLst>
      <p:ext uri="{BB962C8B-B14F-4D97-AF65-F5344CB8AC3E}">
        <p14:creationId xmlns:p14="http://schemas.microsoft.com/office/powerpoint/2010/main" val="35416338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D5A7F-62FB-DC27-CD82-3B6E2155B8B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7D3836F-8ACC-9829-09AF-63C1283AEED3}"/>
              </a:ext>
            </a:extLst>
          </p:cNvPr>
          <p:cNvSpPr>
            <a:spLocks noGrp="1"/>
          </p:cNvSpPr>
          <p:nvPr>
            <p:ph type="sldNum" sz="quarter" idx="12"/>
          </p:nvPr>
        </p:nvSpPr>
        <p:spPr/>
        <p:txBody>
          <a:bodyPr/>
          <a:lstStyle/>
          <a:p>
            <a:fld id="{387B101D-DD3C-9947-BBAC-237D8FE858E0}" type="slidenum">
              <a:rPr lang="en-US" smtClean="0"/>
              <a:t>67</a:t>
            </a:fld>
            <a:endParaRPr lang="en-US"/>
          </a:p>
        </p:txBody>
      </p:sp>
      <p:sp>
        <p:nvSpPr>
          <p:cNvPr id="8" name="TextBox 7">
            <a:extLst>
              <a:ext uri="{FF2B5EF4-FFF2-40B4-BE49-F238E27FC236}">
                <a16:creationId xmlns:a16="http://schemas.microsoft.com/office/drawing/2014/main" id="{743FDCC5-1E5C-3ECB-5D1F-4C14668558BA}"/>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ASSIGN: varying how strongly similar performers group together</a:t>
            </a:r>
          </a:p>
        </p:txBody>
      </p:sp>
      <p:sp>
        <p:nvSpPr>
          <p:cNvPr id="7" name="Slide Number Placeholder 8">
            <a:extLst>
              <a:ext uri="{FF2B5EF4-FFF2-40B4-BE49-F238E27FC236}">
                <a16:creationId xmlns:a16="http://schemas.microsoft.com/office/drawing/2014/main" id="{D4993EDF-6A49-B7BA-F064-051762EDF75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67</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B667F86-E949-51A9-E2BD-28D6A75CA65E}"/>
                  </a:ext>
                </a:extLst>
              </p:cNvPr>
              <p:cNvSpPr txBox="1"/>
              <p:nvPr/>
            </p:nvSpPr>
            <p:spPr>
              <a:xfrm>
                <a:off x="748480" y="1120883"/>
                <a:ext cx="10447344" cy="2692725"/>
              </a:xfrm>
              <a:prstGeom prst="rect">
                <a:avLst/>
              </a:prstGeom>
              <a:noFill/>
            </p:spPr>
            <p:txBody>
              <a:bodyPr wrap="square" rtlCol="0">
                <a:spAutoFit/>
              </a:bodyPr>
              <a:lstStyle/>
              <a:p>
                <a:pPr marL="285750" indent="-285750">
                  <a:buFont typeface="Arial" panose="020B0604020202020204" pitchFamily="34" charset="0"/>
                  <a:buChar char="•"/>
                </a:pPr>
                <a:r>
                  <a:rPr lang="en-US" dirty="0"/>
                  <a:t>We summarize the resulting sorting using </a:t>
                </a:r>
                <a14:m>
                  <m:oMath xmlns:m="http://schemas.openxmlformats.org/officeDocument/2006/math">
                    <m:sSub>
                      <m:sSubPr>
                        <m:ctrlPr>
                          <a:rPr lang="en-US" i="1">
                            <a:solidFill>
                              <a:srgbClr val="0432FF"/>
                            </a:solidFill>
                            <a:latin typeface="Cambria Math" panose="02040503050406030204" pitchFamily="18" charset="0"/>
                          </a:rPr>
                        </m:ctrlPr>
                      </m:sSubPr>
                      <m:e>
                        <m:r>
                          <a:rPr lang="en-US" i="1">
                            <a:solidFill>
                              <a:srgbClr val="0432FF"/>
                            </a:solidFill>
                            <a:latin typeface="Cambria Math" panose="02040503050406030204" pitchFamily="18" charset="0"/>
                          </a:rPr>
                          <m:t>𝐻</m:t>
                        </m:r>
                      </m:e>
                      <m:sub>
                        <m:r>
                          <a:rPr lang="en-US" i="1">
                            <a:solidFill>
                              <a:srgbClr val="0432FF"/>
                            </a:solidFill>
                            <a:latin typeface="Cambria Math" panose="02040503050406030204" pitchFamily="18" charset="0"/>
                          </a:rPr>
                          <m:t>𝑠𝑜𝑟𝑡</m:t>
                        </m:r>
                      </m:sub>
                    </m:sSub>
                  </m:oMath>
                </a14:m>
                <a:r>
                  <a:rPr lang="en-US" dirty="0"/>
                  <a:t>, the fraction of total variation in individual performance that lies between groups. </a:t>
                </a:r>
                <a:endParaRPr lang="en-US" sz="2000" i="1" dirty="0">
                  <a:solidFill>
                    <a:srgbClr val="0432FF"/>
                  </a:solidFill>
                </a:endParaRPr>
              </a:p>
              <a:p>
                <a:pPr algn="ctr"/>
                <a14:m>
                  <m:oMath xmlns:m="http://schemas.openxmlformats.org/officeDocument/2006/math">
                    <m:sSub>
                      <m:sSubPr>
                        <m:ctrlPr>
                          <a:rPr lang="en-US" sz="2000" b="1" i="1">
                            <a:solidFill>
                              <a:srgbClr val="0432FF"/>
                            </a:solidFill>
                            <a:latin typeface="Cambria Math" panose="02040503050406030204" pitchFamily="18" charset="0"/>
                          </a:rPr>
                        </m:ctrlPr>
                      </m:sSubPr>
                      <m:e>
                        <m:r>
                          <a:rPr lang="en-US" sz="2000" b="1" i="1">
                            <a:solidFill>
                              <a:srgbClr val="0432FF"/>
                            </a:solidFill>
                            <a:latin typeface="Cambria Math" panose="02040503050406030204" pitchFamily="18" charset="0"/>
                          </a:rPr>
                          <m:t>𝑯</m:t>
                        </m:r>
                      </m:e>
                      <m:sub>
                        <m:r>
                          <a:rPr lang="en-US" sz="2000" b="1">
                            <a:solidFill>
                              <a:srgbClr val="0432FF"/>
                            </a:solidFill>
                            <a:latin typeface="Cambria Math" panose="02040503050406030204" pitchFamily="18" charset="0"/>
                          </a:rPr>
                          <m:t>𝐬𝐨𝐫𝐭</m:t>
                        </m:r>
                      </m:sub>
                    </m:sSub>
                    <m:r>
                      <a:rPr lang="en-US" sz="2000" b="1" i="1">
                        <a:solidFill>
                          <a:srgbClr val="0432FF"/>
                        </a:solidFill>
                        <a:latin typeface="Cambria Math" panose="02040503050406030204" pitchFamily="18" charset="0"/>
                      </a:rPr>
                      <m:t>=</m:t>
                    </m:r>
                    <m:r>
                      <a:rPr lang="en-US" sz="2000" b="1" i="1">
                        <a:solidFill>
                          <a:srgbClr val="0432FF"/>
                        </a:solidFill>
                        <a:latin typeface="Cambria Math" panose="02040503050406030204" pitchFamily="18" charset="0"/>
                      </a:rPr>
                      <m:t>𝟏</m:t>
                    </m:r>
                    <m:r>
                      <a:rPr lang="en-US" sz="2000" b="1" i="1">
                        <a:solidFill>
                          <a:srgbClr val="0432FF"/>
                        </a:solidFill>
                        <a:latin typeface="Cambria Math" panose="02040503050406030204" pitchFamily="18" charset="0"/>
                      </a:rPr>
                      <m:t>−</m:t>
                    </m:r>
                    <m:f>
                      <m:fPr>
                        <m:ctrlPr>
                          <a:rPr lang="en-US" sz="2000" b="1" i="1">
                            <a:solidFill>
                              <a:srgbClr val="0432FF"/>
                            </a:solidFill>
                            <a:latin typeface="Cambria Math" panose="02040503050406030204" pitchFamily="18" charset="0"/>
                          </a:rPr>
                        </m:ctrlPr>
                      </m:fPr>
                      <m:num>
                        <m:nary>
                          <m:naryPr>
                            <m:chr m:val="∑"/>
                            <m:limLoc m:val="undOvr"/>
                            <m:supHide m:val="on"/>
                            <m:ctrlPr>
                              <a:rPr lang="en-US" sz="2000" b="1" i="1">
                                <a:solidFill>
                                  <a:srgbClr val="0432FF"/>
                                </a:solidFill>
                                <a:latin typeface="Cambria Math" panose="02040503050406030204" pitchFamily="18" charset="0"/>
                              </a:rPr>
                            </m:ctrlPr>
                          </m:naryPr>
                          <m:sub>
                            <m:r>
                              <a:rPr lang="en-US" sz="2000" b="1" i="1">
                                <a:solidFill>
                                  <a:srgbClr val="0432FF"/>
                                </a:solidFill>
                                <a:latin typeface="Cambria Math" panose="02040503050406030204" pitchFamily="18" charset="0"/>
                              </a:rPr>
                              <m:t>𝒊</m:t>
                            </m:r>
                          </m:sub>
                          <m:sup/>
                          <m:e>
                            <m:sSup>
                              <m:sSupPr>
                                <m:ctrlPr>
                                  <a:rPr lang="en-US" sz="2000" i="1">
                                    <a:solidFill>
                                      <a:srgbClr val="0432FF"/>
                                    </a:solidFill>
                                    <a:latin typeface="Cambria Math" panose="02040503050406030204" pitchFamily="18" charset="0"/>
                                  </a:rPr>
                                </m:ctrlPr>
                              </m:sSupPr>
                              <m:e>
                                <m:d>
                                  <m:dPr>
                                    <m:ctrlPr>
                                      <a:rPr lang="en-US" sz="2000" b="1" i="1">
                                        <a:solidFill>
                                          <a:srgbClr val="0432FF"/>
                                        </a:solidFill>
                                        <a:latin typeface="Cambria Math" panose="02040503050406030204" pitchFamily="18" charset="0"/>
                                      </a:rPr>
                                    </m:ctrlPr>
                                  </m:dPr>
                                  <m:e>
                                    <m:sSub>
                                      <m:sSubPr>
                                        <m:ctrlPr>
                                          <a:rPr lang="en-US" sz="2000" b="1" i="1">
                                            <a:solidFill>
                                              <a:srgbClr val="0432FF"/>
                                            </a:solidFill>
                                            <a:latin typeface="Cambria Math" panose="02040503050406030204" pitchFamily="18" charset="0"/>
                                          </a:rPr>
                                        </m:ctrlPr>
                                      </m:sSubPr>
                                      <m:e>
                                        <m:r>
                                          <a:rPr lang="en-US" sz="2000" b="1" i="1">
                                            <a:solidFill>
                                              <a:srgbClr val="0432FF"/>
                                            </a:solidFill>
                                            <a:latin typeface="Cambria Math" panose="02040503050406030204" pitchFamily="18" charset="0"/>
                                          </a:rPr>
                                          <m:t>𝑨</m:t>
                                        </m:r>
                                      </m:e>
                                      <m:sub>
                                        <m:r>
                                          <a:rPr lang="en-US" sz="2000" b="1" i="1">
                                            <a:solidFill>
                                              <a:srgbClr val="0432FF"/>
                                            </a:solidFill>
                                            <a:latin typeface="Cambria Math" panose="02040503050406030204" pitchFamily="18" charset="0"/>
                                          </a:rPr>
                                          <m:t>𝒊</m:t>
                                        </m:r>
                                      </m:sub>
                                    </m:sSub>
                                    <m:r>
                                      <a:rPr lang="en-US" sz="2000" b="1" i="1">
                                        <a:solidFill>
                                          <a:srgbClr val="0432FF"/>
                                        </a:solidFill>
                                        <a:latin typeface="Cambria Math" panose="02040503050406030204" pitchFamily="18" charset="0"/>
                                      </a:rPr>
                                      <m:t>−</m:t>
                                    </m:r>
                                    <m:sSub>
                                      <m:sSubPr>
                                        <m:ctrlPr>
                                          <a:rPr lang="en-US" sz="2000" b="1" i="1">
                                            <a:solidFill>
                                              <a:srgbClr val="0432FF"/>
                                            </a:solidFill>
                                            <a:latin typeface="Cambria Math" panose="02040503050406030204" pitchFamily="18" charset="0"/>
                                          </a:rPr>
                                        </m:ctrlPr>
                                      </m:sSubPr>
                                      <m:e>
                                        <m:r>
                                          <a:rPr lang="en-US" sz="2000" b="1" i="1">
                                            <a:solidFill>
                                              <a:srgbClr val="0432FF"/>
                                            </a:solidFill>
                                            <a:latin typeface="Cambria Math" panose="02040503050406030204" pitchFamily="18" charset="0"/>
                                          </a:rPr>
                                          <m:t>𝑻</m:t>
                                        </m:r>
                                      </m:e>
                                      <m:sub>
                                        <m:r>
                                          <a:rPr lang="en-US" sz="2000" b="1" i="1">
                                            <a:solidFill>
                                              <a:srgbClr val="0432FF"/>
                                            </a:solidFill>
                                            <a:latin typeface="Cambria Math" panose="02040503050406030204" pitchFamily="18" charset="0"/>
                                          </a:rPr>
                                          <m:t>𝒈</m:t>
                                        </m:r>
                                        <m:d>
                                          <m:dPr>
                                            <m:ctrlPr>
                                              <a:rPr lang="en-US" sz="2000" b="1" i="1">
                                                <a:solidFill>
                                                  <a:srgbClr val="0432FF"/>
                                                </a:solidFill>
                                                <a:latin typeface="Cambria Math" panose="02040503050406030204" pitchFamily="18" charset="0"/>
                                              </a:rPr>
                                            </m:ctrlPr>
                                          </m:dPr>
                                          <m:e>
                                            <m:r>
                                              <a:rPr lang="en-US" sz="2000" b="1" i="1">
                                                <a:solidFill>
                                                  <a:srgbClr val="0432FF"/>
                                                </a:solidFill>
                                                <a:latin typeface="Cambria Math" panose="02040503050406030204" pitchFamily="18" charset="0"/>
                                              </a:rPr>
                                              <m:t>𝒊</m:t>
                                            </m:r>
                                          </m:e>
                                        </m:d>
                                      </m:sub>
                                    </m:sSub>
                                  </m:e>
                                </m:d>
                              </m:e>
                              <m:sup>
                                <m:r>
                                  <a:rPr lang="en-US" sz="2000" b="1" i="1">
                                    <a:solidFill>
                                      <a:srgbClr val="0432FF"/>
                                    </a:solidFill>
                                    <a:latin typeface="Cambria Math" panose="02040503050406030204" pitchFamily="18" charset="0"/>
                                  </a:rPr>
                                  <m:t>𝟐</m:t>
                                </m:r>
                              </m:sup>
                            </m:sSup>
                          </m:e>
                        </m:nary>
                      </m:num>
                      <m:den>
                        <m:nary>
                          <m:naryPr>
                            <m:chr m:val="∑"/>
                            <m:limLoc m:val="undOvr"/>
                            <m:supHide m:val="on"/>
                            <m:ctrlPr>
                              <a:rPr lang="en-US" sz="2000" b="1" i="1">
                                <a:solidFill>
                                  <a:srgbClr val="0432FF"/>
                                </a:solidFill>
                                <a:latin typeface="Cambria Math" panose="02040503050406030204" pitchFamily="18" charset="0"/>
                              </a:rPr>
                            </m:ctrlPr>
                          </m:naryPr>
                          <m:sub>
                            <m:r>
                              <a:rPr lang="en-US" sz="2000" b="1" i="1">
                                <a:solidFill>
                                  <a:srgbClr val="0432FF"/>
                                </a:solidFill>
                                <a:latin typeface="Cambria Math" panose="02040503050406030204" pitchFamily="18" charset="0"/>
                              </a:rPr>
                              <m:t>𝒊</m:t>
                            </m:r>
                          </m:sub>
                          <m:sup/>
                          <m:e>
                            <m:sSup>
                              <m:sSupPr>
                                <m:ctrlPr>
                                  <a:rPr lang="en-US" sz="2000" i="1">
                                    <a:solidFill>
                                      <a:srgbClr val="0432FF"/>
                                    </a:solidFill>
                                    <a:latin typeface="Cambria Math" panose="02040503050406030204" pitchFamily="18" charset="0"/>
                                  </a:rPr>
                                </m:ctrlPr>
                              </m:sSupPr>
                              <m:e>
                                <m:d>
                                  <m:dPr>
                                    <m:ctrlPr>
                                      <a:rPr lang="en-US" sz="2000" b="1" i="1">
                                        <a:solidFill>
                                          <a:srgbClr val="0432FF"/>
                                        </a:solidFill>
                                        <a:latin typeface="Cambria Math" panose="02040503050406030204" pitchFamily="18" charset="0"/>
                                      </a:rPr>
                                    </m:ctrlPr>
                                  </m:dPr>
                                  <m:e>
                                    <m:sSub>
                                      <m:sSubPr>
                                        <m:ctrlPr>
                                          <a:rPr lang="en-US" sz="2000" b="1" i="1">
                                            <a:solidFill>
                                              <a:srgbClr val="0432FF"/>
                                            </a:solidFill>
                                            <a:latin typeface="Cambria Math" panose="02040503050406030204" pitchFamily="18" charset="0"/>
                                          </a:rPr>
                                        </m:ctrlPr>
                                      </m:sSubPr>
                                      <m:e>
                                        <m:r>
                                          <a:rPr lang="en-US" sz="2000" b="1" i="1">
                                            <a:solidFill>
                                              <a:srgbClr val="0432FF"/>
                                            </a:solidFill>
                                            <a:latin typeface="Cambria Math" panose="02040503050406030204" pitchFamily="18" charset="0"/>
                                          </a:rPr>
                                          <m:t>𝑨</m:t>
                                        </m:r>
                                      </m:e>
                                      <m:sub>
                                        <m:r>
                                          <a:rPr lang="en-US" sz="2000" b="1" i="1">
                                            <a:solidFill>
                                              <a:srgbClr val="0432FF"/>
                                            </a:solidFill>
                                            <a:latin typeface="Cambria Math" panose="02040503050406030204" pitchFamily="18" charset="0"/>
                                          </a:rPr>
                                          <m:t>𝒊</m:t>
                                        </m:r>
                                      </m:sub>
                                    </m:sSub>
                                    <m:r>
                                      <a:rPr lang="en-US" sz="2000" b="1" i="1">
                                        <a:solidFill>
                                          <a:srgbClr val="0432FF"/>
                                        </a:solidFill>
                                        <a:latin typeface="Cambria Math" panose="02040503050406030204" pitchFamily="18" charset="0"/>
                                      </a:rPr>
                                      <m:t>−</m:t>
                                    </m:r>
                                    <m:acc>
                                      <m:accPr>
                                        <m:chr m:val="̅"/>
                                        <m:ctrlPr>
                                          <a:rPr lang="en-US" sz="2000" b="1" i="1">
                                            <a:solidFill>
                                              <a:srgbClr val="0432FF"/>
                                            </a:solidFill>
                                            <a:latin typeface="Cambria Math" panose="02040503050406030204" pitchFamily="18" charset="0"/>
                                          </a:rPr>
                                        </m:ctrlPr>
                                      </m:accPr>
                                      <m:e>
                                        <m:r>
                                          <a:rPr lang="en-US" sz="2000" b="1" i="1">
                                            <a:solidFill>
                                              <a:srgbClr val="0432FF"/>
                                            </a:solidFill>
                                            <a:latin typeface="Cambria Math" panose="02040503050406030204" pitchFamily="18" charset="0"/>
                                          </a:rPr>
                                          <m:t>𝑨</m:t>
                                        </m:r>
                                      </m:e>
                                    </m:acc>
                                  </m:e>
                                </m:d>
                              </m:e>
                              <m:sup>
                                <m:r>
                                  <a:rPr lang="en-US" sz="2000" b="1" i="1">
                                    <a:solidFill>
                                      <a:srgbClr val="0432FF"/>
                                    </a:solidFill>
                                    <a:latin typeface="Cambria Math" panose="02040503050406030204" pitchFamily="18" charset="0"/>
                                  </a:rPr>
                                  <m:t>𝟐</m:t>
                                </m:r>
                              </m:sup>
                            </m:sSup>
                          </m:e>
                        </m:nary>
                      </m:den>
                    </m:f>
                    <m:r>
                      <a:rPr lang="en-US" sz="2000" b="1" i="1">
                        <a:solidFill>
                          <a:srgbClr val="0432FF"/>
                        </a:solidFill>
                        <a:latin typeface="Cambria Math" panose="02040503050406030204" pitchFamily="18" charset="0"/>
                      </a:rPr>
                      <m:t>.</m:t>
                    </m:r>
                  </m:oMath>
                </a14:m>
                <a:r>
                  <a:rPr lang="en-US" sz="2000" dirty="0">
                    <a:solidFill>
                      <a:srgbClr val="0432FF"/>
                    </a:solidFill>
                    <a:effectLst/>
                  </a:rPr>
                  <a:t> </a:t>
                </a:r>
              </a:p>
              <a:p>
                <a:pPr algn="ctr"/>
                <a:endParaRPr lang="en-US" sz="2000" dirty="0">
                  <a:solidFill>
                    <a:srgbClr val="0432FF"/>
                  </a:solidFill>
                </a:endParaRPr>
              </a:p>
              <a:p>
                <a:pPr marL="285750" indent="-285750">
                  <a:buFont typeface="Arial" panose="020B0604020202020204" pitchFamily="34" charset="0"/>
                  <a:buChar char="•"/>
                </a:pPr>
                <a:r>
                  <a:rPr lang="en-US" dirty="0"/>
                  <a:t>The denominator measures total variation around the population mean. The numerator measures the variation remaining within groups, around their respective means. Subtracting their ratio from one gives the fraction of total variation accounted for by differences between group means.</a:t>
                </a:r>
              </a:p>
              <a:p>
                <a:pPr marL="285750" indent="-285750">
                  <a:buFont typeface="Arial" panose="020B0604020202020204" pitchFamily="34" charset="0"/>
                  <a:buChar char="•"/>
                </a:pPr>
                <a:endParaRPr lang="en-US" dirty="0"/>
              </a:p>
            </p:txBody>
          </p:sp>
        </mc:Choice>
        <mc:Fallback xmlns="">
          <p:sp>
            <p:nvSpPr>
              <p:cNvPr id="43" name="TextBox 42">
                <a:extLst>
                  <a:ext uri="{FF2B5EF4-FFF2-40B4-BE49-F238E27FC236}">
                    <a16:creationId xmlns:a16="http://schemas.microsoft.com/office/drawing/2014/main" id="{1B667F86-E949-51A9-E2BD-28D6A75CA65E}"/>
                  </a:ext>
                </a:extLst>
              </p:cNvPr>
              <p:cNvSpPr txBox="1">
                <a:spLocks noRot="1" noChangeAspect="1" noMove="1" noResize="1" noEditPoints="1" noAdjustHandles="1" noChangeArrowheads="1" noChangeShapeType="1" noTextEdit="1"/>
              </p:cNvSpPr>
              <p:nvPr/>
            </p:nvSpPr>
            <p:spPr>
              <a:xfrm>
                <a:off x="748480" y="1120883"/>
                <a:ext cx="10447344" cy="2692725"/>
              </a:xfrm>
              <a:prstGeom prst="rect">
                <a:avLst/>
              </a:prstGeom>
              <a:blipFill>
                <a:blip r:embed="rId2"/>
                <a:stretch>
                  <a:fillRect l="-486" t="-140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D2BB6D5-6DC2-8D29-646F-0547E4BE68A8}"/>
              </a:ext>
            </a:extLst>
          </p:cNvPr>
          <p:cNvPicPr>
            <a:picLocks noChangeAspect="1"/>
          </p:cNvPicPr>
          <p:nvPr/>
        </p:nvPicPr>
        <p:blipFill>
          <a:blip r:embed="rId3"/>
          <a:srcRect/>
          <a:stretch/>
        </p:blipFill>
        <p:spPr>
          <a:xfrm>
            <a:off x="286439" y="4003533"/>
            <a:ext cx="11054080" cy="2763520"/>
          </a:xfrm>
          <a:prstGeom prst="rect">
            <a:avLst/>
          </a:prstGeom>
        </p:spPr>
      </p:pic>
    </p:spTree>
    <p:extLst>
      <p:ext uri="{BB962C8B-B14F-4D97-AF65-F5344CB8AC3E}">
        <p14:creationId xmlns:p14="http://schemas.microsoft.com/office/powerpoint/2010/main" val="4756672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950F-14EA-D51C-63DB-6DBD6132DF9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158954B-F9AB-965E-4354-E0925FD3B915}"/>
              </a:ext>
            </a:extLst>
          </p:cNvPr>
          <p:cNvSpPr>
            <a:spLocks noGrp="1"/>
          </p:cNvSpPr>
          <p:nvPr>
            <p:ph type="sldNum" sz="quarter" idx="12"/>
          </p:nvPr>
        </p:nvSpPr>
        <p:spPr/>
        <p:txBody>
          <a:bodyPr/>
          <a:lstStyle/>
          <a:p>
            <a:fld id="{387B101D-DD3C-9947-BBAC-237D8FE858E0}" type="slidenum">
              <a:rPr lang="en-US" smtClean="0"/>
              <a:t>68</a:t>
            </a:fld>
            <a:endParaRPr lang="en-US"/>
          </a:p>
        </p:txBody>
      </p:sp>
      <p:sp>
        <p:nvSpPr>
          <p:cNvPr id="8" name="TextBox 7">
            <a:extLst>
              <a:ext uri="{FF2B5EF4-FFF2-40B4-BE49-F238E27FC236}">
                <a16:creationId xmlns:a16="http://schemas.microsoft.com/office/drawing/2014/main" id="{60E9DAB8-1906-EB93-ABD2-AE82BE04B421}"/>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When does group composition change who advances?</a:t>
            </a:r>
          </a:p>
        </p:txBody>
      </p:sp>
      <p:sp>
        <p:nvSpPr>
          <p:cNvPr id="7" name="Slide Number Placeholder 8">
            <a:extLst>
              <a:ext uri="{FF2B5EF4-FFF2-40B4-BE49-F238E27FC236}">
                <a16:creationId xmlns:a16="http://schemas.microsoft.com/office/drawing/2014/main" id="{2D3A3856-C06F-7021-6061-AC3AC211319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68</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CCB9A2E-314E-19C4-7C85-2D25D5BA832F}"/>
                  </a:ext>
                </a:extLst>
              </p:cNvPr>
              <p:cNvSpPr txBox="1"/>
              <p:nvPr/>
            </p:nvSpPr>
            <p:spPr>
              <a:xfrm>
                <a:off x="675861" y="1120676"/>
                <a:ext cx="11227241" cy="337637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ASSIGN forms groups → SCORE incorporates congestion → SELECT allocates </a:t>
                </a:r>
                <a14:m>
                  <m:oMath xmlns:m="http://schemas.openxmlformats.org/officeDocument/2006/math">
                    <m:r>
                      <a:rPr lang="en-US" i="1" dirty="0" smtClean="0">
                        <a:latin typeface="Cambria Math" panose="02040503050406030204" pitchFamily="18" charset="0"/>
                      </a:rPr>
                      <m:t>𝐾</m:t>
                    </m:r>
                  </m:oMath>
                </a14:m>
                <a:r>
                  <a:rPr lang="en-US" dirty="0"/>
                  <a:t> opportunities</a:t>
                </a:r>
                <a:endParaRPr lang="en-US" sz="2000" dirty="0">
                  <a:solidFill>
                    <a:srgbClr val="0432FF"/>
                  </a:solidFill>
                </a:endParaRPr>
              </a:p>
              <a:p>
                <a:pPr marL="285750" indent="-285750">
                  <a:lnSpc>
                    <a:spcPct val="150000"/>
                  </a:lnSpc>
                  <a:buFont typeface="Arial" panose="020B0604020202020204" pitchFamily="34" charset="0"/>
                  <a:buChar char="•"/>
                </a:pPr>
                <a:r>
                  <a:rPr lang="en-US" dirty="0"/>
                  <a:t>Holding individual performance fixed, we examine when group composition changes the winners and how many places change hands.</a:t>
                </a:r>
              </a:p>
              <a:p>
                <a:pPr marL="285750" indent="-285750">
                  <a:lnSpc>
                    <a:spcPct val="150000"/>
                  </a:lnSpc>
                  <a:buFont typeface="Arial" panose="020B0604020202020204" pitchFamily="34" charset="0"/>
                  <a:buChar char="•"/>
                </a:pPr>
                <a:r>
                  <a:rPr lang="en-US" dirty="0"/>
                  <a:t>Next, specify a likelihood for the observed selection outcomes and use maximum likelihood estimation to estimate the selection and congestion parameters.</a:t>
                </a:r>
              </a:p>
              <a:p>
                <a:pPr marL="285750" indent="-285750">
                  <a:lnSpc>
                    <a:spcPct val="150000"/>
                  </a:lnSpc>
                  <a:buFont typeface="Arial" panose="020B0604020202020204" pitchFamily="34" charset="0"/>
                  <a:buChar char="•"/>
                </a:pPr>
                <a:r>
                  <a:rPr lang="en-US" dirty="0"/>
                  <a:t>Then assess how well the fitted model reproduces the empirical patterns, including the location and size of the downturn.</a:t>
                </a:r>
              </a:p>
              <a:p>
                <a:pPr marL="285750" indent="-285750">
                  <a:lnSpc>
                    <a:spcPct val="150000"/>
                  </a:lnSpc>
                  <a:buFont typeface="Arial" panose="020B0604020202020204" pitchFamily="34" charset="0"/>
                  <a:buChar char="•"/>
                </a:pPr>
                <a:endParaRPr lang="en-US" dirty="0"/>
              </a:p>
            </p:txBody>
          </p:sp>
        </mc:Choice>
        <mc:Fallback xmlns="">
          <p:sp>
            <p:nvSpPr>
              <p:cNvPr id="43" name="TextBox 42">
                <a:extLst>
                  <a:ext uri="{FF2B5EF4-FFF2-40B4-BE49-F238E27FC236}">
                    <a16:creationId xmlns:a16="http://schemas.microsoft.com/office/drawing/2014/main" id="{9CCB9A2E-314E-19C4-7C85-2D25D5BA832F}"/>
                  </a:ext>
                </a:extLst>
              </p:cNvPr>
              <p:cNvSpPr txBox="1">
                <a:spLocks noRot="1" noChangeAspect="1" noMove="1" noResize="1" noEditPoints="1" noAdjustHandles="1" noChangeArrowheads="1" noChangeShapeType="1" noTextEdit="1"/>
              </p:cNvSpPr>
              <p:nvPr/>
            </p:nvSpPr>
            <p:spPr>
              <a:xfrm>
                <a:off x="675861" y="1120676"/>
                <a:ext cx="11227241" cy="3376374"/>
              </a:xfrm>
              <a:prstGeom prst="rect">
                <a:avLst/>
              </a:prstGeom>
              <a:blipFill>
                <a:blip r:embed="rId2"/>
                <a:stretch>
                  <a:fillRect l="-33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C7381BA-3667-CE8C-B9CE-7277BBBE3DCE}"/>
              </a:ext>
            </a:extLst>
          </p:cNvPr>
          <p:cNvPicPr>
            <a:picLocks noChangeAspect="1"/>
          </p:cNvPicPr>
          <p:nvPr/>
        </p:nvPicPr>
        <p:blipFill>
          <a:blip r:embed="rId3"/>
          <a:srcRect/>
          <a:stretch/>
        </p:blipFill>
        <p:spPr>
          <a:xfrm>
            <a:off x="286439" y="4003533"/>
            <a:ext cx="11054080" cy="2763520"/>
          </a:xfrm>
          <a:prstGeom prst="rect">
            <a:avLst/>
          </a:prstGeom>
        </p:spPr>
      </p:pic>
    </p:spTree>
    <p:extLst>
      <p:ext uri="{BB962C8B-B14F-4D97-AF65-F5344CB8AC3E}">
        <p14:creationId xmlns:p14="http://schemas.microsoft.com/office/powerpoint/2010/main" val="233205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3588B-88A6-C4BC-F346-61882B34B80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BF97406-A58F-452A-73CE-B4DC8499B429}"/>
              </a:ext>
            </a:extLst>
          </p:cNvPr>
          <p:cNvSpPr>
            <a:spLocks noGrp="1"/>
          </p:cNvSpPr>
          <p:nvPr>
            <p:ph type="sldNum" sz="quarter" idx="12"/>
          </p:nvPr>
        </p:nvSpPr>
        <p:spPr/>
        <p:txBody>
          <a:bodyPr/>
          <a:lstStyle/>
          <a:p>
            <a:fld id="{387B101D-DD3C-9947-BBAC-237D8FE858E0}" type="slidenum">
              <a:rPr lang="en-US" smtClean="0"/>
              <a:t>69</a:t>
            </a:fld>
            <a:endParaRPr lang="en-US"/>
          </a:p>
        </p:txBody>
      </p:sp>
      <p:sp>
        <p:nvSpPr>
          <p:cNvPr id="8" name="TextBox 7">
            <a:extLst>
              <a:ext uri="{FF2B5EF4-FFF2-40B4-BE49-F238E27FC236}">
                <a16:creationId xmlns:a16="http://schemas.microsoft.com/office/drawing/2014/main" id="{C5EEC39A-9189-936D-AE36-A47503CEC015}"/>
              </a:ext>
            </a:extLst>
          </p:cNvPr>
          <p:cNvSpPr txBox="1"/>
          <p:nvPr/>
        </p:nvSpPr>
        <p:spPr>
          <a:xfrm>
            <a:off x="1318367" y="441416"/>
            <a:ext cx="9555267" cy="400110"/>
          </a:xfrm>
          <a:prstGeom prst="rect">
            <a:avLst/>
          </a:prstGeom>
          <a:noFill/>
        </p:spPr>
        <p:txBody>
          <a:bodyPr wrap="square" rtlCol="0">
            <a:spAutoFit/>
          </a:bodyPr>
          <a:lstStyle/>
          <a:p>
            <a:pPr algn="ctr"/>
            <a:r>
              <a:rPr lang="en-US" sz="2000" dirty="0">
                <a:solidFill>
                  <a:srgbClr val="0432FF"/>
                </a:solidFill>
                <a:latin typeface="Ford Antenna Medium" panose="02000505000000020004" pitchFamily="2" charset="0"/>
              </a:rPr>
              <a:t>QUESTIONS?</a:t>
            </a:r>
          </a:p>
        </p:txBody>
      </p:sp>
      <p:sp>
        <p:nvSpPr>
          <p:cNvPr id="7" name="Slide Number Placeholder 8">
            <a:extLst>
              <a:ext uri="{FF2B5EF4-FFF2-40B4-BE49-F238E27FC236}">
                <a16:creationId xmlns:a16="http://schemas.microsoft.com/office/drawing/2014/main" id="{C6D350F8-8FF0-9607-AB6E-A4C740B16E8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7B101D-DD3C-9947-BBAC-237D8FE858E0}" type="slidenum">
              <a:rPr lang="en-US" smtClean="0"/>
              <a:pPr/>
              <a:t>69</a:t>
            </a:fld>
            <a:endParaRPr lang="en-US"/>
          </a:p>
        </p:txBody>
      </p:sp>
      <p:pic>
        <p:nvPicPr>
          <p:cNvPr id="4" name="Picture 3">
            <a:extLst>
              <a:ext uri="{FF2B5EF4-FFF2-40B4-BE49-F238E27FC236}">
                <a16:creationId xmlns:a16="http://schemas.microsoft.com/office/drawing/2014/main" id="{88718FE8-7E22-BEB5-D080-75E244B8CD2C}"/>
              </a:ext>
            </a:extLst>
          </p:cNvPr>
          <p:cNvPicPr>
            <a:picLocks noChangeAspect="1"/>
          </p:cNvPicPr>
          <p:nvPr/>
        </p:nvPicPr>
        <p:blipFill>
          <a:blip r:embed="rId2"/>
          <a:stretch>
            <a:fillRect/>
          </a:stretch>
        </p:blipFill>
        <p:spPr>
          <a:xfrm>
            <a:off x="357810" y="3258506"/>
            <a:ext cx="5593080" cy="3281935"/>
          </a:xfrm>
          <a:prstGeom prst="rect">
            <a:avLst/>
          </a:prstGeom>
        </p:spPr>
      </p:pic>
      <p:pic>
        <p:nvPicPr>
          <p:cNvPr id="5" name="Picture 4">
            <a:extLst>
              <a:ext uri="{FF2B5EF4-FFF2-40B4-BE49-F238E27FC236}">
                <a16:creationId xmlns:a16="http://schemas.microsoft.com/office/drawing/2014/main" id="{551A750B-AD78-FB93-1947-1D464C3E7981}"/>
              </a:ext>
            </a:extLst>
          </p:cNvPr>
          <p:cNvPicPr>
            <a:picLocks noChangeAspect="1"/>
          </p:cNvPicPr>
          <p:nvPr/>
        </p:nvPicPr>
        <p:blipFill>
          <a:blip r:embed="rId3"/>
          <a:stretch>
            <a:fillRect/>
          </a:stretch>
        </p:blipFill>
        <p:spPr>
          <a:xfrm>
            <a:off x="6718853" y="3340910"/>
            <a:ext cx="4813852" cy="3117126"/>
          </a:xfrm>
          <a:prstGeom prst="rect">
            <a:avLst/>
          </a:prstGeom>
        </p:spPr>
      </p:pic>
    </p:spTree>
    <p:extLst>
      <p:ext uri="{BB962C8B-B14F-4D97-AF65-F5344CB8AC3E}">
        <p14:creationId xmlns:p14="http://schemas.microsoft.com/office/powerpoint/2010/main" val="1236026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827</TotalTime>
  <Words>2961</Words>
  <Application>Microsoft Macintosh PowerPoint</Application>
  <PresentationFormat>Widescreen</PresentationFormat>
  <Paragraphs>426</Paragraphs>
  <Slides>69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Aptos</vt:lpstr>
      <vt:lpstr>Aptos Display</vt:lpstr>
      <vt:lpstr>Arial</vt:lpstr>
      <vt:lpstr>Cambria Math</vt:lpstr>
      <vt:lpstr>Ford Antenna Medium</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Levine, Charles Roger (dzk3ja)</dc:creator>
  <cp:lastModifiedBy>Levine, Charles Roger (dzk3ja)</cp:lastModifiedBy>
  <cp:revision>74</cp:revision>
  <dcterms:created xsi:type="dcterms:W3CDTF">2026-10-22T05:00:36Z</dcterms:created>
  <dcterms:modified xsi:type="dcterms:W3CDTF">2026-10-22T18:53:53Z</dcterms:modified>
</cp:coreProperties>
</file>