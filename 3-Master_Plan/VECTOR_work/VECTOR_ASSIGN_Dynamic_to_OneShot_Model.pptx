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60"/>
    <p:restoredTop sz="94626"/>
  </p:normalViewPr>
  <p:slideViewPr>
    <p:cSldViewPr snapToGrid="0" snapToObjects="1">
      <p:cViewPr varScale="1">
        <p:scale>
          <a:sx n="213" d="100"/>
          <a:sy n="213" d="100"/>
        </p:scale>
        <p:origin x="2768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1064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44C"/>
                </a:solidFill>
              </a:defRPr>
            </a:pPr>
            <a:r>
              <a:t>ASSIGN Parent Model: Constrained Homophilic Bipartite 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D5B8C"/>
                </a:solidFill>
              </a:defRPr>
            </a:pPr>
            <a:r>
              <a:t>Two established ideas supply the ingredients; the synthesis is our assignment mechanism.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6702" y="1193293"/>
            <a:ext cx="47548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2D5B8C"/>
                </a:solidFill>
              </a:defRPr>
            </a:pPr>
            <a:r>
              <a:rPr dirty="0"/>
              <a:t>Configuration-model logic</a:t>
            </a:r>
          </a:p>
          <a:p>
            <a:pPr>
              <a:spcBef>
                <a:spcPts val="500"/>
              </a:spcBef>
              <a:defRPr sz="1300">
                <a:solidFill>
                  <a:srgbClr val="1E1E1E"/>
                </a:solidFill>
              </a:defRPr>
            </a:pPr>
            <a:r>
              <a:rPr dirty="0"/>
              <a:t>Give each team a fixed number of stubs. Rⱼ is our notation for the number of unmatched team stubs remaining.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10420" y="1193293"/>
            <a:ext cx="47548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A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AA3232"/>
                </a:solidFill>
              </a:defRPr>
            </a:pPr>
            <a:r>
              <a:rPr dirty="0"/>
              <a:t>Quayle-style homophily</a:t>
            </a:r>
          </a:p>
          <a:p>
            <a:pPr>
              <a:spcBef>
                <a:spcPts val="500"/>
              </a:spcBef>
              <a:defRPr sz="1300">
                <a:solidFill>
                  <a:srgbClr val="1E1E1E"/>
                </a:solidFill>
              </a:defRPr>
            </a:pPr>
            <a:r>
              <a:rPr dirty="0"/>
              <a:t>Similarity is a generative preference. Closer individual–team states receive greater attachment weight.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22191" y="3410712"/>
            <a:ext cx="749809" cy="0"/>
          </a:xfrm>
          <a:prstGeom prst="line">
            <a:avLst/>
          </a:prstGeom>
          <a:ln w="25400">
            <a:solidFill>
              <a:srgbClr val="5F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7543800" y="3410712"/>
            <a:ext cx="758952" cy="0"/>
          </a:xfrm>
          <a:prstGeom prst="line">
            <a:avLst/>
          </a:prstGeom>
          <a:ln w="25400">
            <a:solidFill>
              <a:srgbClr val="5F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ounded Rectangle 9"/>
              <p:cNvSpPr/>
              <p:nvPr/>
            </p:nvSpPr>
            <p:spPr>
              <a:xfrm>
                <a:off x="3113627" y="2779776"/>
                <a:ext cx="5964746" cy="1828800"/>
              </a:xfrm>
              <a:prstGeom prst="roundRect">
                <a:avLst/>
              </a:prstGeom>
              <a:solidFill>
                <a:srgbClr val="F2F6F9"/>
              </a:solidFill>
              <a:ln>
                <a:solidFill>
                  <a:srgbClr val="D7E1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14:m>
                  <m:oMathPara xmlns:m="http://schemas.openxmlformats.org/officeDocument/2006/math">
                    <m:oMath>
                      <m:r>
                        <a:rPr lang="en-US" sz="24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</m:d>
                      <m:r>
                        <a:rPr lang="en-US" sz="24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4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sz="24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24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sup>
                          </m:sSubSup>
                          <m:sSup>
                            <m:sSupPr>
                              <m:ctrlPr>
                                <a:rPr lang="en-US" sz="24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4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4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sz="24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sz="24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  <m:r>
                                    <a:rPr lang="en-US" sz="24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sz="24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24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4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  <m:r>
                                        <a:rPr lang="en-US" sz="24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sz="24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9"/>
                                </m:rPr>
                                <a:rPr lang="en-US" sz="24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sz="24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sz="24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4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24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</m:d>
                                </m:sup>
                              </m:sSubSup>
                              <m:sSup>
                                <m:sSupPr>
                                  <m:ctrlPr>
                                    <a:rPr lang="en-US" sz="24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4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sz="24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4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b>
                                          <m:r>
                                            <a:rPr lang="en-US" sz="24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sz="24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  <m:r>
                                        <a:rPr lang="en-US" sz="24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sz="24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  <m:r>
                                            <a:rPr lang="en-US" sz="24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t</m:t>
                                          </m:r>
                                          <m:r>
                                            <a:rPr lang="en-US" sz="24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</m:d>
                                </m:sup>
                              </m:sSup>
                            </m:e>
                          </m:nary>
                          <m:r>
                            <a:rPr lang="en-US" sz="2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sz="3200" dirty="0">
                  <a:solidFill>
                    <a:prstClr val="black"/>
                  </a:solidFill>
                </a:endParaRPr>
              </a:p>
              <a:p>
                <a:pPr algn="ctr">
                  <a:defRPr sz="2100" b="1">
                    <a:solidFill>
                      <a:srgbClr val="19344C"/>
                    </a:solidFill>
                    <a:latin typeface="Cambria Math"/>
                  </a:defRPr>
                </a:pPr>
                <a:r>
                  <a:rPr sz="1600" dirty="0"/>
                  <a:t>our synthesis: capacity-preserving matching biased by homophily</a:t>
                </a:r>
              </a:p>
            </p:txBody>
          </p:sp>
        </mc:Choice>
        <mc:Fallback>
          <p:sp>
            <p:nvSpPr>
              <p:cNvPr id="10" name="Rounded 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3627" y="2779776"/>
                <a:ext cx="5964746" cy="18288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D7E1E9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10"/>
          <p:cNvSpPr/>
          <p:nvPr/>
        </p:nvSpPr>
        <p:spPr>
          <a:xfrm>
            <a:off x="354329" y="4895631"/>
            <a:ext cx="3280121" cy="12984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9344C"/>
                </a:solidFill>
              </a:defRPr>
            </a:pPr>
            <a:r>
              <a:rPr dirty="0"/>
              <a:t>After each assignment</a:t>
            </a:r>
          </a:p>
          <a:p>
            <a:pPr>
              <a:spcBef>
                <a:spcPts val="500"/>
              </a:spcBef>
              <a:defRPr sz="1300">
                <a:solidFill>
                  <a:srgbClr val="1E1E1E"/>
                </a:solidFill>
              </a:defRPr>
            </a:pPr>
            <a:r>
              <a:rPr dirty="0"/>
              <a:t>If </a:t>
            </a:r>
            <a:r>
              <a:rPr dirty="0" err="1"/>
              <a:t>i</a:t>
            </a:r>
            <a:r>
              <a:rPr dirty="0"/>
              <a:t> joins team j:</a:t>
            </a:r>
            <a:br>
              <a:rPr dirty="0"/>
            </a:br>
            <a:r>
              <a:rPr dirty="0"/>
              <a:t>Rⱼ,ₜ⁽ˢ⁺¹⁾ = Rⱼ,ₜ⁽</a:t>
            </a:r>
            <a:r>
              <a:rPr dirty="0" err="1"/>
              <a:t>ˢ</a:t>
            </a:r>
            <a:r>
              <a:rPr dirty="0"/>
              <a:t>⁾ − 1</a:t>
            </a:r>
            <a:br>
              <a:rPr dirty="0"/>
            </a:br>
            <a:r>
              <a:rPr lang="en-US" dirty="0"/>
              <a:t>F</a:t>
            </a:r>
            <a:r>
              <a:rPr dirty="0"/>
              <a:t>ull team therefore has </a:t>
            </a:r>
            <a:r>
              <a:rPr lang="en-US" dirty="0"/>
              <a:t>0</a:t>
            </a:r>
            <a:r>
              <a:rPr dirty="0"/>
              <a:t> remaining stubs.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4663" y="4895631"/>
            <a:ext cx="2965601" cy="12984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9344C"/>
                </a:solidFill>
              </a:defRPr>
            </a:pPr>
            <a:r>
              <a:rPr dirty="0"/>
              <a:t>After each period</a:t>
            </a:r>
          </a:p>
          <a:p>
            <a:pPr>
              <a:spcBef>
                <a:spcPts val="500"/>
              </a:spcBef>
              <a:defRPr sz="1300">
                <a:solidFill>
                  <a:srgbClr val="1E1E1E"/>
                </a:solidFill>
              </a:defRPr>
            </a:pPr>
            <a:r>
              <a:rPr dirty="0"/>
              <a:t>Recalculate the team centroid </a:t>
            </a:r>
            <a:r>
              <a:rPr dirty="0" err="1"/>
              <a:t>μ</a:t>
            </a:r>
            <a:r>
              <a:rPr dirty="0"/>
              <a:t>ⱼ,ₜ from the new roster. That state can guide the next formation period.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80477" y="4895631"/>
            <a:ext cx="4484824" cy="12984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9344C"/>
                </a:solidFill>
              </a:defRPr>
            </a:pPr>
            <a:r>
              <a:rPr dirty="0"/>
              <a:t>Dynamic extension</a:t>
            </a:r>
          </a:p>
          <a:p>
            <a:pPr>
              <a:spcBef>
                <a:spcPts val="500"/>
              </a:spcBef>
              <a:defRPr sz="1300">
                <a:solidFill>
                  <a:srgbClr val="1E1E1E"/>
                </a:solidFill>
              </a:defRPr>
            </a:pPr>
            <a:r>
              <a:rPr sz="1400" dirty="0" err="1"/>
              <a:t>μ</a:t>
            </a:r>
            <a:r>
              <a:rPr sz="1400" dirty="0"/>
              <a:t>ⱼ,ₜ₋₁ → ASSIGN at t → roster at t → </a:t>
            </a:r>
            <a:r>
              <a:rPr sz="1400" dirty="0" err="1"/>
              <a:t>μ</a:t>
            </a:r>
            <a:r>
              <a:rPr sz="1400" dirty="0"/>
              <a:t>ⱼ,ₜ → ASSIGN at t+1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0"/>
                </a:solidFill>
              </a:defRPr>
            </a:pPr>
            <a:r>
              <a:t>Structural lineage: Fosdick et al. (2018), SIAM Review 60(2), 315–355. Homophily lineage: Quayle et al. (2006), EPJ B 50, 617–630.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AD333DA0-A9BD-3849-A743-5747F890EB81}"/>
                  </a:ext>
                </a:extLst>
              </p:cNvPr>
              <p:cNvSpPr/>
              <p:nvPr/>
            </p:nvSpPr>
            <p:spPr>
              <a:xfrm>
                <a:off x="9781535" y="3099816"/>
                <a:ext cx="2194560" cy="1188720"/>
              </a:xfrm>
              <a:prstGeom prst="roundRect">
                <a:avLst/>
              </a:prstGeom>
              <a:solidFill>
                <a:srgbClr val="F2F6F9"/>
              </a:solidFill>
              <a:ln>
                <a:solidFill>
                  <a:srgbClr val="D7E1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 sz="2100" b="1">
                    <a:solidFill>
                      <a:srgbClr val="19344C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algn="ctr">
                  <a:defRPr sz="2100" b="1">
                    <a:solidFill>
                      <a:srgbClr val="19344C"/>
                    </a:solidFill>
                    <a:latin typeface="Cambria Math"/>
                  </a:defRPr>
                </a:pPr>
                <a:r>
                  <a:rPr sz="1600" dirty="0"/>
                  <a:t>non-structural similarity attraction</a:t>
                </a:r>
              </a:p>
            </p:txBody>
          </p:sp>
        </mc:Choice>
        <mc:Fallback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AD333DA0-A9BD-3849-A743-5747F890EB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1535" y="3099816"/>
                <a:ext cx="2194560" cy="118872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D7E1E9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3DB0B6C7-278C-59E1-D5DE-A2F8B555C181}"/>
                  </a:ext>
                </a:extLst>
              </p:cNvPr>
              <p:cNvSpPr/>
              <p:nvPr/>
            </p:nvSpPr>
            <p:spPr>
              <a:xfrm>
                <a:off x="141827" y="3099816"/>
                <a:ext cx="2194560" cy="1188720"/>
              </a:xfrm>
              <a:prstGeom prst="roundRect">
                <a:avLst/>
              </a:prstGeom>
              <a:solidFill>
                <a:srgbClr val="F2F6F9"/>
              </a:solidFill>
              <a:ln>
                <a:solidFill>
                  <a:srgbClr val="D7E1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 sz="1100">
                    <a:solidFill>
                      <a:srgbClr val="5F6970"/>
                    </a:solidFill>
                  </a:defRPr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100" i="1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2100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100" i="1">
                          <a:latin typeface="Cambria Math" panose="02040503050406030204" pitchFamily="18" charset="0"/>
                        </a:rPr>
                        <m:t>– </m:t>
                      </m:r>
                      <m:sSubSup>
                        <m:sSubSup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100" i="1"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100" i="1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100" i="1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sz="2100" dirty="0"/>
              </a:p>
              <a:p>
                <a:pPr algn="ctr">
                  <a:defRPr sz="1100">
                    <a:solidFill>
                      <a:srgbClr val="5F6970"/>
                    </a:solidFill>
                  </a:defRPr>
                </a:pPr>
                <a:r>
                  <a:rPr sz="1600" dirty="0"/>
                  <a:t>structural availability / remaining capacity</a:t>
                </a:r>
              </a:p>
            </p:txBody>
          </p:sp>
        </mc:Choice>
        <mc:Fallback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3DB0B6C7-278C-59E1-D5DE-A2F8B555C1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27" y="3099816"/>
                <a:ext cx="2194560" cy="118872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D7E1E9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52C8581-E979-7147-23E3-924FDAD7A50B}"/>
              </a:ext>
            </a:extLst>
          </p:cNvPr>
          <p:cNvCxnSpPr>
            <a:stCxn id="17" idx="3"/>
            <a:endCxn id="10" idx="1"/>
          </p:cNvCxnSpPr>
          <p:nvPr/>
        </p:nvCxnSpPr>
        <p:spPr>
          <a:xfrm>
            <a:off x="2336387" y="3694176"/>
            <a:ext cx="777240" cy="0"/>
          </a:xfrm>
          <a:prstGeom prst="straightConnector1">
            <a:avLst/>
          </a:prstGeom>
          <a:ln w="698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11240AC-4BC0-2054-7BE5-3290A8337BE2}"/>
              </a:ext>
            </a:extLst>
          </p:cNvPr>
          <p:cNvCxnSpPr>
            <a:cxnSpLocks/>
            <a:stCxn id="16" idx="1"/>
            <a:endCxn id="10" idx="3"/>
          </p:cNvCxnSpPr>
          <p:nvPr/>
        </p:nvCxnSpPr>
        <p:spPr>
          <a:xfrm flipH="1">
            <a:off x="9078373" y="3694176"/>
            <a:ext cx="703162" cy="0"/>
          </a:xfrm>
          <a:prstGeom prst="straightConnector1">
            <a:avLst/>
          </a:prstGeom>
          <a:ln w="698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874649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44C"/>
                </a:solidFill>
              </a:defRPr>
            </a:pPr>
            <a:r>
              <a:rPr lang="en-US"/>
              <a:t>Child Model</a:t>
            </a:r>
            <a:r>
              <a:t>: </a:t>
            </a:r>
            <a:r>
              <a:rPr dirty="0"/>
              <a:t>One-Shot Homophilic Initial-League Generator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D5B8C"/>
                </a:solidFill>
              </a:defRPr>
            </a:pPr>
            <a:r>
              <a:t>We derive the smallest model needed for the paper—no longitudinal updating.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ounded Rectangle 3"/>
              <p:cNvSpPr/>
              <p:nvPr/>
            </p:nvSpPr>
            <p:spPr>
              <a:xfrm>
                <a:off x="104172" y="1170783"/>
                <a:ext cx="3070434" cy="1234440"/>
              </a:xfrm>
              <a:prstGeom prst="roundRect">
                <a:avLst/>
              </a:prstGeom>
              <a:solidFill>
                <a:srgbClr val="FFFFFF"/>
              </a:solidFill>
              <a:ln w="19050">
                <a:solidFill>
                  <a:srgbClr val="D7E1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46304" tIns="91440" rIns="146304" rtlCol="0" anchor="ctr"/>
              <a:lstStyle/>
              <a:p>
                <a:pPr algn="ctr">
                  <a:defRPr sz="1700" b="1">
                    <a:solidFill>
                      <a:srgbClr val="19344C"/>
                    </a:solidFill>
                  </a:defRPr>
                </a:pPr>
                <a:r>
                  <a:rPr dirty="0"/>
                  <a:t>1  Fixed empirical team states</a:t>
                </a:r>
              </a:p>
              <a:p>
                <a:pPr>
                  <a:spcBef>
                    <a:spcPts val="500"/>
                  </a:spcBef>
                  <a:defRPr sz="1300">
                    <a:solidFill>
                      <a:srgbClr val="1E1E1E"/>
                    </a:solidFill>
                  </a:defRPr>
                </a:pPr>
                <a:r>
                  <a:rPr dirty="0"/>
                  <a:t>Initialize each team with an empirical centroid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0" dirty="0" err="1">
                        <a:latin typeface="Cambria Math" panose="02040503050406030204" pitchFamily="18" charset="0"/>
                      </a:rPr>
                      <m:t>ⱼ</m:t>
                    </m:r>
                  </m:oMath>
                </a14:m>
                <a:r>
                  <a:rPr dirty="0"/>
                  <a:t>. These centroids remain fixed for the entire formation round.</a:t>
                </a:r>
              </a:p>
            </p:txBody>
          </p:sp>
        </mc:Choice>
        <mc:Fallback>
          <p:sp>
            <p:nvSpPr>
              <p:cNvPr id="4" name="Rounded 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72" y="1170783"/>
                <a:ext cx="3070434" cy="123444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rgbClr val="D7E1E9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ounded Rectangle 4"/>
              <p:cNvSpPr/>
              <p:nvPr/>
            </p:nvSpPr>
            <p:spPr>
              <a:xfrm>
                <a:off x="3573624" y="1170783"/>
                <a:ext cx="2514600" cy="1234440"/>
              </a:xfrm>
              <a:prstGeom prst="roundRect">
                <a:avLst/>
              </a:prstGeom>
              <a:solidFill>
                <a:srgbClr val="FFFFFF"/>
              </a:solidFill>
              <a:ln w="19050">
                <a:solidFill>
                  <a:srgbClr val="D7E1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46304" tIns="91440" rIns="146304" rtlCol="0" anchor="ctr"/>
              <a:lstStyle/>
              <a:p>
                <a:pPr algn="ctr">
                  <a:defRPr sz="1700" b="1">
                    <a:solidFill>
                      <a:srgbClr val="19344C"/>
                    </a:solidFill>
                  </a:defRPr>
                </a:pPr>
                <a:r>
                  <a:rPr dirty="0"/>
                  <a:t>2  Individual states</a:t>
                </a:r>
              </a:p>
              <a:p>
                <a:pPr>
                  <a:spcBef>
                    <a:spcPts val="500"/>
                  </a:spcBef>
                  <a:defRPr sz="1300">
                    <a:solidFill>
                      <a:srgbClr val="1E1E1E"/>
                    </a:solidFill>
                  </a:defRPr>
                </a:pPr>
                <a:r>
                  <a:rPr dirty="0"/>
                  <a:t>Use the observed / empirically informed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ᵢ</m:t>
                    </m:r>
                  </m:oMath>
                </a14:m>
                <a:r>
                  <a:rPr dirty="0"/>
                  <a:t> values for the complete player population.</a:t>
                </a:r>
              </a:p>
            </p:txBody>
          </p:sp>
        </mc:Choice>
        <mc:Fallback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3624" y="1170783"/>
                <a:ext cx="2514600" cy="123444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D7E1E9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ounded Rectangle 5"/>
              <p:cNvSpPr/>
              <p:nvPr/>
            </p:nvSpPr>
            <p:spPr>
              <a:xfrm>
                <a:off x="6487242" y="1170783"/>
                <a:ext cx="2580246" cy="1234440"/>
              </a:xfrm>
              <a:prstGeom prst="roundRect">
                <a:avLst/>
              </a:prstGeom>
              <a:solidFill>
                <a:srgbClr val="FFFFFF"/>
              </a:solidFill>
              <a:ln w="19050">
                <a:solidFill>
                  <a:srgbClr val="D7E1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46304" tIns="91440" rIns="146304" rtlCol="0" anchor="ctr"/>
              <a:lstStyle/>
              <a:p>
                <a:pPr algn="ctr">
                  <a:defRPr sz="1700" b="1">
                    <a:solidFill>
                      <a:srgbClr val="19344C"/>
                    </a:solidFill>
                  </a:defRPr>
                </a:pPr>
                <a:r>
                  <a:rPr dirty="0"/>
                  <a:t>3  All slots initially open</a:t>
                </a:r>
              </a:p>
              <a:p>
                <a:pPr>
                  <a:spcBef>
                    <a:spcPts val="500"/>
                  </a:spcBef>
                  <a:defRPr sz="1300">
                    <a:solidFill>
                      <a:srgbClr val="1E1E1E"/>
                    </a:solidFill>
                  </a:defRPr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ⱼ⁽⁰⁾=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</a:t>
                </a:r>
                <a:r>
                  <a:rPr dirty="0"/>
                  <a:t>for every team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dirty="0"/>
                  <a:t>.</a:t>
                </a:r>
                <a:br>
                  <a:rPr dirty="0"/>
                </a:br>
                <a:r>
                  <a:rPr dirty="0"/>
                  <a:t>For NCAA MBB: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dirty="0"/>
                  <a:t>.</a:t>
                </a:r>
              </a:p>
            </p:txBody>
          </p:sp>
        </mc:Choice>
        <mc:Fallback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7242" y="1170783"/>
                <a:ext cx="2580246" cy="123444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D7E1E9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ounded Rectangle 6"/>
              <p:cNvSpPr/>
              <p:nvPr/>
            </p:nvSpPr>
            <p:spPr>
              <a:xfrm>
                <a:off x="9466506" y="1170783"/>
                <a:ext cx="2621322" cy="1234440"/>
              </a:xfrm>
              <a:prstGeom prst="roundRect">
                <a:avLst/>
              </a:prstGeom>
              <a:solidFill>
                <a:srgbClr val="FFFFFF"/>
              </a:solidFill>
              <a:ln w="19050">
                <a:solidFill>
                  <a:srgbClr val="D7E1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46304" tIns="91440" rIns="146304" rtlCol="0" anchor="ctr"/>
              <a:lstStyle/>
              <a:p>
                <a:pPr algn="ctr">
                  <a:defRPr sz="1700" b="1">
                    <a:solidFill>
                      <a:srgbClr val="19344C"/>
                    </a:solidFill>
                  </a:defRPr>
                </a:pPr>
                <a:r>
                  <a:rPr dirty="0"/>
                  <a:t>4  Random player queue</a:t>
                </a:r>
              </a:p>
              <a:p>
                <a:pPr>
                  <a:spcBef>
                    <a:spcPts val="500"/>
                  </a:spcBef>
                  <a:defRPr sz="1300">
                    <a:solidFill>
                      <a:srgbClr val="1E1E1E"/>
                    </a:solidFill>
                  </a:defRPr>
                </a:pPr>
                <a:r>
                  <a:rPr dirty="0"/>
                  <a:t>Randomly permute players before sequential assignment; order is not based 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ᵢ</m:t>
                    </m:r>
                  </m:oMath>
                </a14:m>
                <a:r>
                  <a:rPr dirty="0"/>
                  <a:t>.</a:t>
                </a:r>
              </a:p>
            </p:txBody>
          </p:sp>
        </mc:Choice>
        <mc:Fallback>
          <p:sp>
            <p:nvSpPr>
              <p:cNvPr id="7" name="Rounded 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6506" y="1170783"/>
                <a:ext cx="2621322" cy="123444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D7E1E9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ounded Rectangle 7"/>
              <p:cNvSpPr/>
              <p:nvPr/>
            </p:nvSpPr>
            <p:spPr>
              <a:xfrm>
                <a:off x="932688" y="2529590"/>
                <a:ext cx="5581938" cy="2157633"/>
              </a:xfrm>
              <a:prstGeom prst="roundRect">
                <a:avLst/>
              </a:prstGeom>
              <a:solidFill>
                <a:srgbClr val="F2F6F9"/>
              </a:solidFill>
              <a:ln>
                <a:solidFill>
                  <a:srgbClr val="D7E1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 sz="1100">
                    <a:solidFill>
                      <a:srgbClr val="5F697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lang="ar-AE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ar-AE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ar-AE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ar-AE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|</m:t>
                          </m:r>
                          <m:r>
                            <m:rPr>
                              <m:sty m:val="p"/>
                            </m:rPr>
                            <a:rPr lang="en-US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</m:d>
                      <m:r>
                        <a:rPr lang="ar-AE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ar-AE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ar-AE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sup>
                          </m:sSubSup>
                          <m:sSup>
                            <m:sSupPr>
                              <m:ctrlPr>
                                <a:rPr lang="ar-AE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ar-AE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ar-AE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sz="2800" b="0" i="1" dirty="0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2800" b="0" i="1" dirty="0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ar-AE" sz="2800" b="0" i="1" dirty="0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ar-AE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ar-AE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ar-AE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9"/>
                                </m:rPr>
                                <a:rPr lang="en-US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ar-AE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ar-AE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ar-AE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</m:d>
                                </m:sup>
                              </m:sSubSup>
                              <m:sSup>
                                <m:sSupPr>
                                  <m:ctrlPr>
                                    <a:rPr lang="ar-AE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ar-AE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800" b="0" i="1" dirty="0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ar-AE" sz="2800" b="0" i="1" dirty="0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sz="2800" b="0" i="1" dirty="0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dirty="0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ar-AE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ar-AE" sz="28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sz="28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ar-AE" sz="28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</m:e>
                                  </m:d>
                                </m:sup>
                              </m:sSup>
                            </m:e>
                          </m:nary>
                          <m:r>
                            <a:rPr lang="ar-AE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ar-AE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ar-AE" sz="2800" dirty="0">
                  <a:solidFill>
                    <a:prstClr val="black"/>
                  </a:solidFill>
                </a:endParaRPr>
              </a:p>
              <a:p>
                <a:pPr algn="ctr">
                  <a:defRPr sz="1100">
                    <a:solidFill>
                      <a:srgbClr val="5F6970"/>
                    </a:solidFill>
                  </a:defRPr>
                </a:pPr>
                <a:r>
                  <a:rPr lang="en-US" sz="1100" i="1" dirty="0"/>
                  <a:t>Rⱼ⁽⁰⁾ = C </a:t>
                </a:r>
                <a:r>
                  <a:rPr lang="en-US" sz="1100" dirty="0"/>
                  <a:t>for all teams; after each assignment, the selected team's </a:t>
                </a:r>
                <a:r>
                  <a:rPr lang="en-US" sz="1100" i="1" dirty="0"/>
                  <a:t>Rⱼ</a:t>
                </a:r>
                <a:r>
                  <a:rPr lang="en-US" sz="1100" dirty="0"/>
                  <a:t> decreases by one</a:t>
                </a:r>
                <a:endParaRPr sz="1100" dirty="0"/>
              </a:p>
            </p:txBody>
          </p:sp>
        </mc:Choice>
        <mc:Fallback>
          <p:sp>
            <p:nvSpPr>
              <p:cNvPr id="8" name="Rounded 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688" y="2529590"/>
                <a:ext cx="5581938" cy="2157633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D7E1E9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685800" y="4855815"/>
            <a:ext cx="333756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2D5B8C"/>
                </a:solidFill>
              </a:defRPr>
            </a:pPr>
            <a:r>
              <a:t>ρ = 0  → random baseline</a:t>
            </a:r>
          </a:p>
          <a:p>
            <a:pPr>
              <a:spcBef>
                <a:spcPts val="500"/>
              </a:spcBef>
              <a:defRPr sz="1300">
                <a:solidFill>
                  <a:srgbClr val="1E1E1E"/>
                </a:solidFill>
              </a:defRPr>
            </a:pPr>
            <a:r>
              <a:t>P(i→j|s) = Rⱼ⁽ˢ⁾ / ΣₗRₗ⁽ˢ⁾</a:t>
            </a:r>
            <a:br/>
            <a:r>
              <a:t>Uniform matching over all remaining team stubs.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4855815"/>
            <a:ext cx="333756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A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AA3232"/>
                </a:solidFill>
              </a:defRPr>
            </a:pPr>
            <a:r>
              <a:t>ρ &gt; 0  → homophilic bias</a:t>
            </a:r>
          </a:p>
          <a:p>
            <a:pPr>
              <a:spcBef>
                <a:spcPts val="500"/>
              </a:spcBef>
              <a:defRPr sz="1300">
                <a:solidFill>
                  <a:srgbClr val="1E1E1E"/>
                </a:solidFill>
              </a:defRPr>
            </a:pPr>
            <a:r>
              <a:t>The same capacity-preserving process increasingly favors teams with μⱼ close to Aᵢ.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4855815"/>
            <a:ext cx="333756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9344C"/>
                </a:solidFill>
              </a:defRPr>
            </a:pPr>
            <a:r>
              <a:t>One run = one realization</a:t>
            </a:r>
          </a:p>
          <a:p>
            <a:pPr>
              <a:spcBef>
                <a:spcPts val="500"/>
              </a:spcBef>
              <a:defRPr sz="1300">
                <a:solidFill>
                  <a:srgbClr val="1E1E1E"/>
                </a:solidFill>
              </a:defRPr>
            </a:pPr>
            <a:r>
              <a:t>Repeat from the same initial conditions to obtain an ensemble of possible leagues—not longitudinal iterations.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0"/>
                </a:solidFill>
              </a:defRPr>
            </a:pPr>
            <a:r>
              <a:t>The combined probability rule is our synthesis; Fosdick supports the stub/configuration logic and Quayle supports the similarity-weighted homophily logic.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54656594-EE15-76B3-EAA7-14DE0AF112C8}"/>
                  </a:ext>
                </a:extLst>
              </p:cNvPr>
              <p:cNvSpPr/>
              <p:nvPr/>
            </p:nvSpPr>
            <p:spPr>
              <a:xfrm>
                <a:off x="7300022" y="2529590"/>
                <a:ext cx="4028360" cy="2157633"/>
              </a:xfrm>
              <a:prstGeom prst="roundRect">
                <a:avLst/>
              </a:prstGeom>
              <a:solidFill>
                <a:srgbClr val="F2F6F9"/>
              </a:solidFill>
              <a:ln>
                <a:solidFill>
                  <a:srgbClr val="D7E1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/>
                <a14:m>
                  <m:oMath xmlns:m="http://schemas.openxmlformats.org/officeDocument/2006/math">
                    <m:r>
                      <a:rPr lang="en-US" sz="105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050" dirty="0">
                    <a:solidFill>
                      <a:srgbClr val="0070C0"/>
                    </a:solidFill>
                  </a:rPr>
                  <a:t> = the individual/player currently being assigned 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 sz="105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050" dirty="0">
                    <a:solidFill>
                      <a:srgbClr val="0070C0"/>
                    </a:solidFill>
                  </a:rPr>
                  <a:t> = a candidate team 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105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05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050" dirty="0">
                    <a:solidFill>
                      <a:srgbClr val="0070C0"/>
                    </a:solidFill>
                  </a:rPr>
                  <a:t>​ = individual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050" dirty="0">
                    <a:solidFill>
                      <a:srgbClr val="0070C0"/>
                    </a:solidFill>
                  </a:rPr>
                  <a:t>'s ability/performance value 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105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05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050" dirty="0">
                    <a:solidFill>
                      <a:srgbClr val="0070C0"/>
                    </a:solidFill>
                  </a:rPr>
                  <a:t>​ = fixed empirical centroid for team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050" dirty="0">
                    <a:solidFill>
                      <a:srgbClr val="0070C0"/>
                    </a:solidFill>
                  </a:rPr>
                  <a:t> 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 sz="105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050" dirty="0">
                    <a:solidFill>
                      <a:srgbClr val="0070C0"/>
                    </a:solidFill>
                  </a:rPr>
                  <a:t> = strength of homophilic attraction </a:t>
                </a:r>
              </a:p>
              <a:p>
                <a:pPr lvl="0"/>
                <a14:m>
                  <m:oMath xmlns:m="http://schemas.openxmlformats.org/officeDocument/2006/math">
                    <m:sSubSup>
                      <m:sSubSupPr>
                        <m:ctrlPr>
                          <a:rPr lang="en-US" sz="105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d>
                          <m:dPr>
                            <m:ctrlPr>
                              <a:rPr lang="en-US" sz="105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05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bSup>
                    <m:r>
                      <a:rPr lang="en-US" sz="105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​</m:t>
                    </m:r>
                  </m:oMath>
                </a14:m>
                <a:r>
                  <a:rPr lang="en-US" sz="1050" dirty="0">
                    <a:solidFill>
                      <a:srgbClr val="0070C0"/>
                    </a:solidFill>
                  </a:rPr>
                  <a:t> = remaining open roster positions (unmatched team stubs) </a:t>
                </a:r>
              </a:p>
              <a:p>
                <a:pPr lvl="0"/>
                <a:r>
                  <a:rPr lang="en-US" sz="1050" dirty="0">
                    <a:solidFill>
                      <a:srgbClr val="0070C0"/>
                    </a:solidFill>
                  </a:rPr>
                  <a:t>	for team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050" dirty="0">
                    <a:solidFill>
                      <a:srgbClr val="0070C0"/>
                    </a:solidFill>
                  </a:rPr>
                  <a:t> at assignment step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050" dirty="0">
                    <a:solidFill>
                      <a:srgbClr val="0070C0"/>
                    </a:solidFill>
                  </a:rPr>
                  <a:t> 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 sz="105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1050" dirty="0">
                    <a:solidFill>
                      <a:srgbClr val="0070C0"/>
                    </a:solidFill>
                  </a:rPr>
                  <a:t> = index over </a:t>
                </a:r>
                <a:r>
                  <a:rPr lang="en-US" sz="1050" b="1" dirty="0">
                    <a:solidFill>
                      <a:srgbClr val="0070C0"/>
                    </a:solidFill>
                  </a:rPr>
                  <a:t>all teams with remaining capacity</a:t>
                </a:r>
                <a:r>
                  <a:rPr lang="en-US" sz="1050" dirty="0">
                    <a:solidFill>
                      <a:srgbClr val="0070C0"/>
                    </a:solidFill>
                  </a:rPr>
                  <a:t> 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 sz="105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050" b="1" dirty="0">
                    <a:solidFill>
                      <a:srgbClr val="0070C0"/>
                    </a:solidFill>
                  </a:rPr>
                  <a:t> = the sequential assignment step within this one formation run</a:t>
                </a:r>
                <a:endParaRPr lang="en-US" sz="1050" dirty="0">
                  <a:solidFill>
                    <a:srgbClr val="0070C0"/>
                  </a:solidFill>
                </a:endParaRPr>
              </a:p>
              <a:p>
                <a:pPr algn="ctr">
                  <a:defRPr sz="1100">
                    <a:solidFill>
                      <a:srgbClr val="5F6970"/>
                    </a:solidFill>
                  </a:defRPr>
                </a:pPr>
                <a:endParaRPr sz="105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54656594-EE15-76B3-EAA7-14DE0AF112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022" y="2529590"/>
                <a:ext cx="4028360" cy="2157633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D7E1E9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516</Words>
  <Application>Microsoft Macintosh PowerPoint</Application>
  <PresentationFormat>Widescreen</PresentationFormat>
  <Paragraphs>47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Cambria Math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Levine, Charles R CTR</cp:lastModifiedBy>
  <cp:revision>6</cp:revision>
  <cp:lastPrinted>2026-08-10T18:18:33Z</cp:lastPrinted>
  <dcterms:created xsi:type="dcterms:W3CDTF">2013-01-27T09:14:16Z</dcterms:created>
  <dcterms:modified xsi:type="dcterms:W3CDTF">2026-08-10T19:10:16Z</dcterms:modified>
  <cp:category/>
</cp:coreProperties>
</file>