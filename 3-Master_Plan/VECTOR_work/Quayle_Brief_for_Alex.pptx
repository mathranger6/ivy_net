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07"/>
    <p:restoredTop sz="94651"/>
  </p:normalViewPr>
  <p:slideViewPr>
    <p:cSldViewPr snapToGrid="0" snapToObjects="1">
      <p:cViewPr varScale="1">
        <p:scale>
          <a:sx n="110" d="100"/>
          <a:sy n="110" d="100"/>
        </p:scale>
        <p:origin x="-4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44C"/>
                </a:solidFill>
              </a:defRPr>
            </a:pPr>
            <a:r>
              <a:t>Quayle: From Similarity Preference to Network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5C91"/>
                </a:solidFill>
              </a:defRPr>
            </a:pPr>
            <a:r>
              <a:t>The essential idea before we introduce our bipartite extension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Property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pᵢ, pⱼ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2264" y="2157984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5C91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04872" y="1874519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Similarity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xᵢⱼ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14215" y="2157984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5C91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1874519"/>
            <a:ext cx="1600200" cy="1051560"/>
          </a:xfrm>
          <a:prstGeom prst="roundRect">
            <a:avLst/>
          </a:prstGeom>
          <a:solidFill>
            <a:srgbClr val="F1F5F8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Homophily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168" y="2157984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5C91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874519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Attachment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57984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5C91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0728" y="1874519"/>
            <a:ext cx="1600200" cy="1051560"/>
          </a:xfrm>
          <a:prstGeom prst="roundRect">
            <a:avLst/>
          </a:prstGeom>
          <a:solidFill>
            <a:srgbClr val="F1F5F8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Assortativity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0072" y="2157984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5C91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1874519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Community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3383280" cy="1417320"/>
          </a:xfrm>
          <a:prstGeom prst="roundRect">
            <a:avLst/>
          </a:prstGeom>
          <a:solidFill>
            <a:srgbClr val="F1F5F8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Similarity xᵢⱼ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Pairwise: how alike are these two vertices?</a:t>
            </a:r>
            <a:br/>
            <a:r>
              <a:t>It is an input to the choice rule.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429000"/>
            <a:ext cx="3383280" cy="1417320"/>
          </a:xfrm>
          <a:prstGeom prst="roundRect">
            <a:avLst/>
          </a:prstGeom>
          <a:solidFill>
            <a:srgbClr val="F1F5F8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Homophily α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Generative preference: how strongly does similarity affect attachment?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429000"/>
            <a:ext cx="3383280" cy="1417320"/>
          </a:xfrm>
          <a:prstGeom prst="roundRect">
            <a:avLst/>
          </a:prstGeom>
          <a:solidFill>
            <a:srgbClr val="F1F5F8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Assortativity r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Realized network outcome: how strongly do connected vertices mix by property?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166360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03030"/>
                </a:solidFill>
              </a:defRPr>
            </a:pPr>
            <a:r>
              <a:t>xᵢⱼ  ≠  α  ≠  r</a:t>
            </a:r>
          </a:p>
          <a:p>
            <a:pPr algn="ctr">
              <a:defRPr sz="1500">
                <a:solidFill>
                  <a:srgbClr val="1E1E1E"/>
                </a:solidFill>
              </a:defRPr>
            </a:pPr>
            <a:r>
              <a:t>Mechanism and outcome are related — but they are not the same object.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Quayle, Siddiqui &amp; Jones (2006), European Physical Journal B 50, 617–630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44C"/>
                </a:solidFill>
              </a:defRPr>
            </a:pPr>
            <a:r>
              <a:t>Quayle's Formation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5C91"/>
                </a:solidFill>
              </a:defRPr>
            </a:pPr>
            <a:r>
              <a:t>Structural attractiveness × similarity attraction → normalized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594360" y="1417320"/>
                <a:ext cx="10927080" cy="177867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CE4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164592" tIns="109728" rIns="164592" rtlCol="0" anchor="t" anchorCtr="0"/>
              <a:lstStyle/>
              <a:p>
                <a:pPr algn="ctr">
                  <a:defRPr sz="1800" b="1">
                    <a:solidFill>
                      <a:srgbClr val="19344C"/>
                    </a:solidFill>
                  </a:defRPr>
                </a:pPr>
                <a:r>
                  <a:rPr dirty="0"/>
                  <a:t>Equation (4)</a:t>
                </a:r>
              </a:p>
              <a:p>
                <a:pPr>
                  <a:spcBef>
                    <a:spcPts val="700"/>
                  </a:spcBef>
                  <a:defRPr sz="1400">
                    <a:solidFill>
                      <a:srgbClr val="1E1E1E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l-GR" sz="1600" b="1" i="0" dirty="0" smtClean="0">
                          <a:latin typeface="Cambria Math" panose="02040503050406030204" pitchFamily="18" charset="0"/>
                        </a:rPr>
                        <m:t>𝚷</m:t>
                      </m:r>
                      <m:d>
                        <m:dPr>
                          <m:ctrlPr>
                            <a:rPr lang="el-GR" sz="1600" b="1" i="1" dirty="0" err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1600" b="1" i="1" dirty="0" err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1600" b="1" i="1" dirty="0" err="1">
                              <a:latin typeface="Cambria Math" panose="02040503050406030204" pitchFamily="18" charset="0"/>
                            </a:rPr>
                            <m:t>ⱼ,</m:t>
                          </m:r>
                          <m:r>
                            <a:rPr lang="en-US" sz="1600" b="1" i="1" dirty="0" err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600" b="1" i="1" dirty="0">
                              <a:latin typeface="Cambria Math" panose="02040503050406030204" pitchFamily="18" charset="0"/>
                            </a:rPr>
                            <m:t>ᵢⱼ</m:t>
                          </m:r>
                        </m:e>
                      </m:d>
                      <m:r>
                        <a:rPr lang="en-US" sz="1600" b="1" i="1" dirty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dirty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  <m:t>ⱼ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  <m:d>
                                    <m:dPr>
                                      <m:ctrlP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  <m:t>ᵢⱼ</m:t>
                                      </m:r>
                                    </m:e>
                                  </m:d>
                                </m:e>
                              </m:d>
                            </m:sup>
                          </m:sSup>
                        </m:num>
                        <m:den>
                          <m:r>
                            <a:rPr lang="el-GR" sz="1600" b="1" i="1" dirty="0">
                              <a:latin typeface="Cambria Math" panose="02040503050406030204" pitchFamily="18" charset="0"/>
                            </a:rPr>
                            <m:t>𝚺</m:t>
                          </m:r>
                          <m:r>
                            <a:rPr lang="en-US" sz="1600" b="1" i="1" dirty="0">
                              <a:latin typeface="Cambria Math" panose="02040503050406030204" pitchFamily="18" charset="0"/>
                            </a:rPr>
                            <m:t>ₗ </m:t>
                          </m:r>
                          <m:r>
                            <a:rPr lang="en-US" sz="1600" b="1" i="1" dirty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  <m:t>ₗ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  <m:d>
                                    <m:dPr>
                                      <m:ctrlP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  <m:t>ᵢₗ</m:t>
                                      </m:r>
                                    </m:e>
                                  </m:d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417320"/>
                <a:ext cx="10927080" cy="177867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DCE4EB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640080" y="3516032"/>
            <a:ext cx="3337560" cy="1508760"/>
          </a:xfrm>
          <a:prstGeom prst="roundRect">
            <a:avLst/>
          </a:prstGeom>
          <a:solidFill>
            <a:srgbClr val="F1F5F8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f(kⱼ)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Structural attractiveness / popularity of candidate j.</a:t>
            </a:r>
            <a:br/>
            <a:r>
              <a:t>Standard BA implementation: f(kⱼ)=kⱼ.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/>
              <p:cNvSpPr/>
              <p:nvPr/>
            </p:nvSpPr>
            <p:spPr>
              <a:xfrm>
                <a:off x="4160520" y="3516032"/>
                <a:ext cx="3337560" cy="1508760"/>
              </a:xfrm>
              <a:prstGeom prst="roundRect">
                <a:avLst/>
              </a:prstGeom>
              <a:solidFill>
                <a:srgbClr val="F1F5F8"/>
              </a:solidFill>
              <a:ln>
                <a:solidFill>
                  <a:srgbClr val="DCE4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64592" tIns="109728" rIns="164592" rtlCol="0" anchor="ctr"/>
              <a:lstStyle/>
              <a:p>
                <a:pPr algn="ctr">
                  <a:defRPr sz="1800" b="1">
                    <a:solidFill>
                      <a:srgbClr val="19344C"/>
                    </a:solidFill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{-</m:t>
                        </m:r>
                        <m:r>
                          <m:rPr>
                            <m:sty m:val="p"/>
                          </m:rPr>
                          <a:rPr lang="el-GR" b="1" i="1" dirty="0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(1-</m:t>
                        </m:r>
                        <m:r>
                          <m:rPr>
                            <m:sty m:val="p"/>
                          </m:rPr>
                          <a:rPr lang="en-US" b="1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_{</m:t>
                        </m:r>
                        <m:r>
                          <m:rPr>
                            <m:sty m:val="p"/>
                          </m:rPr>
                          <a:rPr lang="en-US" b="1" i="1" dirty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1" i="1" dirty="0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})}</m:t>
                        </m:r>
                      </m:sup>
                    </m:sSup>
                  </m:oMath>
                </a14:m>
              </a:p>
              <a:p>
                <a:pPr>
                  <a:spcBef>
                    <a:spcPts val="700"/>
                  </a:spcBef>
                  <a:defRPr sz="1400">
                    <a:solidFill>
                      <a:srgbClr val="1E1E1E"/>
                    </a:solidFill>
                  </a:defRPr>
                </a:pPr>
                <a:r>
                  <a:rPr dirty="0"/>
                  <a:t>Similarity attraction.</a:t>
                </a:r>
                <a:br>
                  <a:rPr dirty="0"/>
                </a:br>
                <a:r>
                  <a:rPr dirty="0"/>
                  <a:t>α=0 → similarity irrelevant.</a:t>
                </a:r>
                <a:br>
                  <a:rPr dirty="0"/>
                </a:br>
                <a:r>
                  <a:rPr dirty="0"/>
                  <a:t>Larger α → dissimilar candidates penalized.</a:t>
                </a:r>
              </a:p>
            </p:txBody>
          </p:sp>
        </mc:Choice>
        <mc:Fallback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520" y="3516032"/>
                <a:ext cx="3337560" cy="150876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DCE4EB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680960" y="3516032"/>
            <a:ext cx="3886200" cy="1508760"/>
          </a:xfrm>
          <a:prstGeom prst="roundRect">
            <a:avLst/>
          </a:prstGeom>
          <a:solidFill>
            <a:srgbClr val="F1F5F8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Σ over l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Normalize against ALL eligible candidates.</a:t>
            </a:r>
            <a:br/>
            <a:r>
              <a:t>Numerator = candidate j.</a:t>
            </a:r>
            <a:br/>
            <a:r>
              <a:t>Denominator = complete choice set.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/>
              <p:cNvSpPr/>
              <p:nvPr/>
            </p:nvSpPr>
            <p:spPr>
              <a:xfrm>
                <a:off x="640080" y="5344832"/>
                <a:ext cx="5257800" cy="1143000"/>
              </a:xfrm>
              <a:prstGeom prst="roundRect">
                <a:avLst/>
              </a:prstGeom>
              <a:solidFill>
                <a:srgbClr val="F1F5F8"/>
              </a:solidFill>
              <a:ln>
                <a:solidFill>
                  <a:srgbClr val="DCE4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64592" tIns="109728" rIns="164592" rtlCol="0" anchor="ctr"/>
              <a:lstStyle/>
              <a:p>
                <a:pPr algn="ctr">
                  <a:defRPr sz="1800" b="1">
                    <a:solidFill>
                      <a:srgbClr val="19344C"/>
                    </a:solidFill>
                  </a:defRPr>
                </a:pPr>
                <a:r>
                  <a:rPr dirty="0"/>
                  <a:t>Discrete similarity</a:t>
                </a:r>
              </a:p>
              <a:p>
                <a:pPr>
                  <a:spcBef>
                    <a:spcPts val="700"/>
                  </a:spcBef>
                  <a:defRPr sz="1400">
                    <a:solidFill>
                      <a:srgbClr val="1E1E1E"/>
                    </a:solidFill>
                  </a:defRPr>
                </a:pPr>
                <a:r>
                  <a:rPr dirty="0"/>
                  <a:t>xᵢⱼ=1 if same property; </a:t>
                </a:r>
                <a:r>
                  <a:rPr lang="en-US" dirty="0"/>
                  <a:t>		</a:t>
                </a:r>
                <a:r>
                  <a:rPr dirty="0"/>
                  <a:t>xᵢⱼ=0 if different.</a:t>
                </a:r>
                <a:br>
                  <a:rPr dirty="0"/>
                </a:br>
                <a:r>
                  <a:rPr dirty="0"/>
                  <a:t>Weights: same = 1; different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5344832"/>
                <a:ext cx="5257800" cy="1143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DCE4EB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/>
              <p:cNvSpPr/>
              <p:nvPr/>
            </p:nvSpPr>
            <p:spPr>
              <a:xfrm>
                <a:off x="6080760" y="5344832"/>
                <a:ext cx="5486400" cy="1143000"/>
              </a:xfrm>
              <a:prstGeom prst="roundRect">
                <a:avLst/>
              </a:prstGeom>
              <a:solidFill>
                <a:srgbClr val="F1F5F8"/>
              </a:solidFill>
              <a:ln>
                <a:solidFill>
                  <a:srgbClr val="DCE4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64592" tIns="109728" rIns="164592" rtlCol="0" anchor="ctr"/>
              <a:lstStyle/>
              <a:p>
                <a:pPr algn="ctr">
                  <a:defRPr sz="1800" b="1">
                    <a:solidFill>
                      <a:srgbClr val="19344C"/>
                    </a:solidFill>
                  </a:defRPr>
                </a:pPr>
                <a:r>
                  <a:rPr dirty="0"/>
                  <a:t>Scalar / continuous similarity</a:t>
                </a:r>
              </a:p>
              <a:p>
                <a:pPr>
                  <a:spcBef>
                    <a:spcPts val="700"/>
                  </a:spcBef>
                  <a:defRPr sz="1400">
                    <a:solidFill>
                      <a:srgbClr val="1E1E1E"/>
                    </a:solidFill>
                  </a:defRPr>
                </a:pPr>
                <a:r>
                  <a:rPr dirty="0"/>
                  <a:t>xᵢⱼ = 1 − |pᵢ−pⱼ|</a:t>
                </a:r>
                <a:br>
                  <a:rPr dirty="0"/>
                </a:br>
                <a:r>
                  <a:rPr dirty="0"/>
                  <a:t>⇒ similarity weight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ᵢ−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ⱼ</m:t>
                            </m:r>
                          </m:e>
                        </m:d>
                      </m:sup>
                    </m:sSup>
                  </m:oMath>
                </a14:m>
                <a:endParaRPr dirty="0"/>
              </a:p>
            </p:txBody>
          </p:sp>
        </mc:Choice>
        <mc:Fallback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760" y="5344832"/>
                <a:ext cx="5486400" cy="1143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DCE4EB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Quayle, Siddiqui &amp; Jones (2006), European Physical Journal B 50, 617–630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44C"/>
                </a:solidFill>
              </a:defRPr>
            </a:pPr>
            <a:r>
              <a:t>What Quayle Establishes — and the Boundary We Cross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5C91"/>
                </a:solidFill>
              </a:defRPr>
            </a:pPr>
            <a:r>
              <a:t>Why this is a foundation, not a plug-and-play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94960" cy="1371600"/>
          </a:xfrm>
          <a:prstGeom prst="roundRect">
            <a:avLst/>
          </a:prstGeom>
          <a:solidFill>
            <a:srgbClr val="F1F5F8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Microscopic preference → macroscopic assortment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For the symmetric discrete ensemble:</a:t>
            </a:r>
            <a:br/>
            <a:r>
              <a:t>r = (1−e^{−α}) / [1+(nₚ−1)e^{−α}]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17320"/>
            <a:ext cx="5394960" cy="1371600"/>
          </a:xfrm>
          <a:prstGeom prst="roundRect">
            <a:avLst/>
          </a:prstGeom>
          <a:solidFill>
            <a:srgbClr val="F1F5F8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Inverse calibration is conditional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α = ln[(1+(nₚ−1)r)/(1−r)]</a:t>
            </a:r>
            <a:br/>
            <a:r>
              <a:t>Useful only under the assumptions that produced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63240"/>
            <a:ext cx="5394960" cy="2057400"/>
          </a:xfrm>
          <a:prstGeom prst="roundRect">
            <a:avLst/>
          </a:prstGeom>
          <a:solidFill>
            <a:srgbClr val="F1F5F8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What transfers cleanly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• Explicit pairwise similarity</a:t>
            </a:r>
            <a:br/>
            <a:r>
              <a:t>• Preference strength distinct from realized assortment</a:t>
            </a:r>
            <a:br/>
            <a:r>
              <a:t>• Normalize over available alternatives</a:t>
            </a:r>
            <a:br/>
            <a:r>
              <a:t>• Local stochastic choices can generate macro structure</a:t>
            </a:r>
            <a:br/>
            <a:r>
              <a:t>• Similarity metric is a modeling choice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063240"/>
            <a:ext cx="5394960" cy="2057400"/>
          </a:xfrm>
          <a:prstGeom prst="roundRect">
            <a:avLst/>
          </a:prstGeom>
          <a:solidFill>
            <a:srgbClr val="F1F5F8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 b="1">
                <a:solidFill>
                  <a:srgbClr val="19344C"/>
                </a:solidFill>
              </a:defRPr>
            </a:pPr>
            <a:r>
              <a:t>What Quayle does NOT contain</a:t>
            </a:r>
          </a:p>
          <a:p>
            <a:pPr>
              <a:spcBef>
                <a:spcPts val="700"/>
              </a:spcBef>
              <a:defRPr sz="1400">
                <a:solidFill>
                  <a:srgbClr val="1E1E1E"/>
                </a:solidFill>
              </a:defRPr>
            </a:pPr>
            <a:r>
              <a:t>• Bipartite individual → team affiliation</a:t>
            </a:r>
            <a:br/>
            <a:r>
              <a:t>• Hard roster / pool capacity</a:t>
            </a:r>
            <a:br/>
            <a:r>
              <a:t>• Lagged endogenous team centroids</a:t>
            </a:r>
            <a:br/>
            <a:r>
              <a:t>• Repeated turnover / reassignment</a:t>
            </a:r>
            <a:br/>
            <a:r>
              <a:t>• A validated α→r map under those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52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344C"/>
                </a:solidFill>
              </a:defRPr>
            </a:pPr>
            <a:r>
              <a:t>Bridge to our model:</a:t>
            </a:r>
          </a:p>
          <a:p>
            <a:pPr>
              <a:defRPr sz="1700">
                <a:solidFill>
                  <a:srgbClr val="B03030"/>
                </a:solidFill>
              </a:defRPr>
            </a:pPr>
            <a:r>
              <a:t>Keep the generative logic; change the candidate from another individual to a finite-capacity team — then re-establish the preference → realized-sorting relationship.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Quayle, Siddiqui &amp; Jones (2006), European Physical Journal B 50, 617–630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471</Words>
  <Application>Microsoft Macintosh PowerPoint</Application>
  <PresentationFormat>Widescreen</PresentationFormat>
  <Paragraphs>56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2</cp:revision>
  <dcterms:created xsi:type="dcterms:W3CDTF">2013-01-27T09:14:16Z</dcterms:created>
  <dcterms:modified xsi:type="dcterms:W3CDTF">2026-08-10T17:05:16Z</dcterms:modified>
  <cp:category/>
</cp:coreProperties>
</file>