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0"/>
            <a:ext cx="114601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800" b="1"/>
            </a:pPr>
            <a:r>
              <a:t>PD30 flipbook — talk skeleton (Acts 0–VI)</a:t>
            </a:r>
          </a:p>
          <a:p>
            <a:pPr>
              <a:spcAft>
                <a:spcPts val="200"/>
              </a:spcAft>
              <a:defRPr sz="1600" b="0">
                <a:solidFill>
                  <a:srgbClr val="555555"/>
                </a:solidFill>
              </a:defRPr>
            </a:pPr>
            <a:r>
              <a:t>One slide per flipbook slide ID in _DISPOSABLE_paper_flipbook_PD30.md</a:t>
            </a:r>
          </a:p>
          <a:p>
            <a:pPr>
              <a:spcAft>
                <a:spcPts val="200"/>
              </a:spcAft>
              <a:defRPr sz="1400" b="0"/>
            </a:pPr>
            <a:r>
              <a:t>Subset of figure inventory — not the full catalog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Regenerate: python scripts/build_flipbook_figure_deck.py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0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0.2 · What is not the claim?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0  ·  Binding three-separations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3-Master_Plan/BINDING_Selection_is_its_own_step.md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3-Master_Plan/BINDING_Selection_is_its_own_step.md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Markdown — not a PNG; read binding doc.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0.3 · What is the hero?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0  ·  Army CIF / pool-quality porch (G1)</a:t>
            </a:r>
          </a:p>
        </p:txBody>
      </p:sp>
      <p:pic>
        <p:nvPicPr>
          <p:cNvPr id="3" name="Picture 2" descr="ARMY_G1_pool_minus_mean_fwd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3-Master_Plan/re_entry/HEROs_and_PASSes/army_sandbox/ARMY_G1_pool_minus_mean_fwd_cif_b8.png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G1: regenerate from talent/520 Cell 11 — z_pool_minus_mean_snr_fwd 8-bin promotion CIF. · auto-discovered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0.4 · Why basketball in the repo?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0  ·  Access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679192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Text-only slide — no figure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Text slide — no figure.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I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1.1 · Who is in the pond?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  ·  Army cohort / HRC talent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talent/documents/520_PIPELINE_COX_OVERVIEW.md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talent/documents/520_PIPELINE_COX_OVERVIEW.md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Notebook: talent/talent_pipeline/520_pipeline_cox_working.ipynb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1.2 · Talent alone?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  ·  Own TB ratio — monotone promotion CIF</a:t>
            </a:r>
          </a:p>
        </p:txBody>
      </p:sp>
      <p:pic>
        <p:nvPicPr>
          <p:cNvPr id="3" name="Picture 2" descr="ARMY_own_tb_ratio_fwd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3-Master_Plan/re_entry/HEROs_and_PASSes/army_sandbox/ARMY_own_tb_ratio_fwd_cif_b8.png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G1 sibling: Cell 11 z_tb_ratio_fwd_snr 8-bin bars (not in git). · auto-discovered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1.3 · The hero shape?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  ·  Strong inverted-U vs pool LOO (G1)</a:t>
            </a:r>
          </a:p>
        </p:txBody>
      </p:sp>
      <p:pic>
        <p:nvPicPr>
          <p:cNvPr id="3" name="Picture 2" descr="ARMY_G1_pool_minus_mean_fwd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3-Master_Plan/re_entry/HEROs_and_PASSes/army_sandbox/ARMY_G1_pool_minus_mean_fwd_cif_b8.png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G1 lead figure — Q1–Q8 promotion CIF on z_pool_minus_mean_snr_fwd. · auto-discovered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1.4 · Formal check?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  ·  Cox quadratic + partial effects</a:t>
            </a:r>
          </a:p>
        </p:txBody>
      </p:sp>
      <p:pic>
        <p:nvPicPr>
          <p:cNvPr id="3" name="Picture 2" descr="ARMY_partial_effects_pool_minus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874" y="1307592"/>
            <a:ext cx="736994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3-Master_Plan/re_entry/HEROs_and_PASSes/army_sandbox/ARMY_partial_effects_pool_minus_mean.png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Cell 12 / 12.6A exports not in git. · auto-discovered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II 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2.1 · Who is in the pond?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  ·  MBB cohort (panel 1 text in 3×3)</a:t>
            </a:r>
          </a:p>
        </p:txBody>
      </p:sp>
      <p:pic>
        <p:nvPicPr>
          <p:cNvPr id="3" name="Picture 2" descr="MBB_DATA_STORY_reigning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3-Master_Plan/re_entry/HEROs_and_PASSes/sports_sandbox/data_story/MBB_DATA_STORY_reigning_3x3.png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Panel 1 = text tile top-left of this mosaic.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2.2 · Talent alone? (naïve)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  ·  Draft rate vs own ability ventiles</a:t>
            </a:r>
          </a:p>
        </p:txBody>
      </p:sp>
      <p:pic>
        <p:nvPicPr>
          <p:cNvPr id="3" name="Picture 2" descr="PASS_A_naive_ability_q16_allt_min20_mg10_9_21_last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59" y="1307592"/>
            <a:ext cx="11412375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3-Master_Plan/re_entry/HEROs_and_PASSes/pass_a/PASS_A_naive_ability_q16_allt_min20_mg10_9_21_last_ps.png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Pairs with 2.3 hero; regen: pass_a_empirical_bundle.py --panel-rows last-ps --season-min 2009 --season-max 2021 --naive-panel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2.3 · Same axis, same family?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  ·  Reigning HERO EW16 (panel 9)</a:t>
            </a:r>
          </a:p>
        </p:txBody>
      </p:sp>
      <p:pic>
        <p:nvPicPr>
          <p:cNvPr id="3" name="Picture 2" descr="HERO_ew16_allt_min20_mg10_09_21_last_ps_perm_loo_ever_lastps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76" y="1307592"/>
            <a:ext cx="847554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3-Master_Plan/re_entry/HEROs_and_PASSes/sports_sandbox/hero/HERO_ew16_allt_min20_mg10_09_21_last_ps_perm_loo_ever_lastps_ew16.png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2.4 · Assortment / overlap?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  ·  Team interval overlap (panel 5)</a:t>
            </a:r>
          </a:p>
        </p:txBody>
      </p:sp>
      <p:pic>
        <p:nvPicPr>
          <p:cNvPr id="3" name="Picture 2" descr="REIGNING_team_interval_overlap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881" y="1307592"/>
            <a:ext cx="6083933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3-Master_Plan/re_entry/HEROs_and_PASSes/sports_sandbox/reigning_hero/basic_data_plots/REIGNING_team_interval_overlap_mg10_min20_09_21.png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III 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3.1 · Same skeleton, academia?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III  ·  Tenure PD29 3×3 + panel 9 HERO</a:t>
            </a:r>
          </a:p>
        </p:txBody>
      </p:sp>
      <p:pic>
        <p:nvPicPr>
          <p:cNvPr id="3" name="Picture 2" descr="TENURE_DATA_STORY_pd29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3-Master_Plan/re_entry/HEROs_and_PASSes/tenure_sandbox/data_story/TENURE_DATA_STORY_pd29_3x3.png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Panel 9 path below as standalone.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3.1b · Tenure HERO (panel 9 alone)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III  ·  Dept LOO career rate Q16</a:t>
            </a:r>
          </a:p>
        </p:txBody>
      </p:sp>
      <p:pic>
        <p:nvPicPr>
          <p:cNvPr id="3" name="Picture 2" descr="HERO_tenure_q16_decision_dept_loo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10" y="1307592"/>
            <a:ext cx="6994473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3-Master_Plan/re_entry/HEROs_and_PASSes/tenure_sandbox/hero/HERO_tenure_q16_decision_dept_loo_infHM_slide.png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Same as panel 9 in 3×3.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3.2 · Which performance metric?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III  ·  Perf story p1</a:t>
            </a:r>
          </a:p>
        </p:txBody>
      </p:sp>
      <p:pic>
        <p:nvPicPr>
          <p:cNvPr id="3" name="Picture 2" descr="TENURE_PERF_METRIC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3-Master_Plan/re_entry/HEROs_and_PASSes/tenure_sandbox/data_story/TENURE_PERF_METRIC_STORY.png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3.2b · Perf story p2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III  ·  10-bin sensitivity</a:t>
            </a:r>
          </a:p>
        </p:txBody>
      </p:sp>
      <p:pic>
        <p:nvPicPr>
          <p:cNvPr id="3" name="Picture 2" descr="TENURE_PERF_METRIC_STORY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3-Master_Plan/re_entry/HEROs_and_PASSes/tenure_sandbox/data_story/TENURE_PERF_METRIC_STORY_p2.png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3.3 · Three-leg composite?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III  ·  Army G1 + MBB + tenure heroes</a:t>
            </a:r>
          </a:p>
        </p:txBody>
      </p:sp>
      <p:pic>
        <p:nvPicPr>
          <p:cNvPr id="3" name="Picture 2" descr="THREE_LEG_HERO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2609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3-Master_Plan/re_entry/HEROs_and_PASSes/composites/THREE_LEG_HERO_composite.png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Regen: scripts/build_three_leg_hero_composite.py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IV 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4.0 · Model in plain English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IV  ·  Text intro before Model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679192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Text-only slide — no figure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Text slide — four-step pipeline overview.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4.1 · Minimal generative story?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IV  ·  Model one-slide (four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565C0"/>
                </a:solidFill>
              </a:defRPr>
            </a:pPr>
            <a:r>
              <a:t>PDF not embedded — open: 3-Master_Plan/re_entry/Model.pdf  |  Or: Model.pptx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3-Master_Plan/re_entry/Model.pdf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Also Model.pptx — Charles updated Sep 2026.</a:t>
            </a:r>
          </a:p>
          <a:p>
            <a:pPr>
              <a:spcAft>
                <a:spcPts val="200"/>
              </a:spcAft>
              <a:defRPr sz="900" b="1">
                <a:solidFill>
                  <a:srgbClr val="1565C0"/>
                </a:solidFill>
              </a:defRPr>
            </a:pPr>
            <a:r>
              <a:t>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4.2 · λ knockout?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IV  ·  Pass A generative sim (G2)</a:t>
            </a:r>
          </a:p>
        </p:txBody>
      </p:sp>
      <p:pic>
        <p:nvPicPr>
          <p:cNvPr id="3" name="Picture 2" descr="PASS_B_generative_lambda_knockout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453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3-Master_Plan/re_entry/HEROs_and_PASSes/pass_b/PASS_B_generative_lambda_knockout_side_by_side.png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Repo folder pass_b/; doc 04 = Pass A.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4.2b · Empirical talent vs LOO pair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IV  ·  Pass A empirical (MBB)</a:t>
            </a:r>
          </a:p>
        </p:txBody>
      </p:sp>
      <p:pic>
        <p:nvPicPr>
          <p:cNvPr id="3" name="Picture 2" descr="PASS_A_side_by_side_q16_allt_min20_mg10_9_21_last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092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3-Master_Plan/re_entry/HEROs_and_PASSes/pass_a/PASS_A_side_by_side_q16_allt_min20_mg10_9_21_last_ps.png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Inventory / appendix — same read as 2.2+2.3 on one slide.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4.3 · Environment ≠ advancement?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IV  ·  Binding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3-Master_Plan/BINDING_Selection_is_its_own_step.md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3-Master_Plan/BINDING_Selection_is_its_own_step.md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Same as slide 0.2.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V 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5.1 · Why LOO not team mean?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V  ·  Usage T̂_j twin + usage LOO</a:t>
            </a:r>
          </a:p>
        </p:txBody>
      </p:sp>
      <p:pic>
        <p:nvPicPr>
          <p:cNvPr id="3" name="Picture 2" descr="FOOTBALL_usage_Tj_q16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282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3-Master_Plan/re_entry/HEROs_and_PASSes/football_sandbox/perf_story/FOOTBALL_usage_Tj_q16_ew16.png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Pair with usage LOO panel below.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5.1b · Usage LOO panel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V  ·  Perf story row 5</a:t>
            </a:r>
          </a:p>
        </p:txBody>
      </p:sp>
      <p:pic>
        <p:nvPicPr>
          <p:cNvPr id="3" name="Picture 2" descr="HERO_football_perf_q16_loo_z_diy_usage_overal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94" y="1307592"/>
            <a:ext cx="75309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3-Master_Plan/re_entry/HEROs_and_PASSes/football_sandbox/perf_story/panels/HERO_football_perf_q16_loo_z_diy_usage_overall_slide.png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5.2 · Wrong metric, wrong story?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V  ·  PPA LOO vs usage LOO</a:t>
            </a:r>
          </a:p>
        </p:txBody>
      </p:sp>
      <p:pic>
        <p:nvPicPr>
          <p:cNvPr id="3" name="Picture 2" descr="FOOTBALL_PERF_METRIC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3-Master_Plan/re_entry/HEROs_and_PASSes/football_sandbox/data_story/FOOTBALL_PERF_METRIC_STORY.png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Full six-metric deck; row 4 vs 5 contrast.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5.2b · PPA total LOO (row 4)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V  ·  Talent-peer axis</a:t>
            </a:r>
          </a:p>
        </p:txBody>
      </p:sp>
      <p:pic>
        <p:nvPicPr>
          <p:cNvPr id="3" name="Picture 2" descr="HERO_football_perf_q16_loo_z_diy_ppa_total_al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94" y="1307592"/>
            <a:ext cx="75309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3-Master_Plan/re_entry/HEROs_and_PASSes/football_sandbox/perf_story/panels/HERO_football_perf_q16_loo_z_diy_ppa_total_all_slide.png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Act VI 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6.1–6.3 · Limits &amp; close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Act VI  ·  Text / gap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679192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Text-only slide — no figure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No figures — see flipbook Act VI claims.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