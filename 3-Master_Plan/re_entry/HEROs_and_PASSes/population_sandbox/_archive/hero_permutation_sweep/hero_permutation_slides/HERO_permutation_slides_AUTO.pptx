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8"/>
    <p:restoredTop sz="94658"/>
  </p:normalViewPr>
  <p:slideViewPr>
    <p:cSldViewPr snapToGrid="0" snapToObjects="1">
      <p:cViewPr varScale="1">
        <p:scale>
          <a:sx n="76" d="100"/>
          <a:sy n="76" d="100"/>
        </p:scale>
        <p:origin x="200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270" d="100"/>
          <a:sy n="270" d="100"/>
        </p:scale>
        <p:origin x="833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47BB1-796B-1649-BBEF-05A69E152AA8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E4C0E-AECD-C846-8630-678B4352F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E4C0E-AECD-C846-8630-678B4352F9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23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E4C0E-AECD-C846-8630-678B4352F9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7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HERO permutation sweep</a:t>
            </a:r>
          </a:p>
          <a:p>
            <a:pPr>
              <a:defRPr sz="1200" i="1"/>
            </a:pPr>
            <a:r>
              <a:t>Tier real_full · season both · 64 run slides · 2026-08-26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113687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compare roster-x × Y-mode × panel-rows (and optional +DFT / EW20).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Three knobs are orthogonal:</a:t>
            </a:r>
          </a:p>
          <a:p>
            <a:pPr>
              <a:defRPr sz="1400"/>
            </a:pPr>
            <a:r>
              <a:t>  • roster-x: poolq_loo (LOO teammates) vs poolq (team mean, incl. self)</a:t>
            </a:r>
          </a:p>
          <a:p>
            <a:pPr>
              <a:defRPr sz="1400"/>
            </a:pPr>
            <a:r>
              <a:t>  • y-draft-mode: ever (Y=1 all PS for draftees) vs season (Y=1 last PS only)</a:t>
            </a:r>
          </a:p>
          <a:p>
            <a:pPr>
              <a:defRPr sz="1400"/>
            </a:pPr>
            <a:r>
              <a:t>  • panel-rows: all-ps vs last-ps (cross-section)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Slide 2 = FIXED HERO baseline. Later slides = other combinations.</a:t>
            </a:r>
          </a:p>
          <a:p>
            <a:pPr>
              <a:defRPr sz="1400"/>
            </a:pPr>
            <a:r>
              <a:t>Command box on each slide = exact CLI to reproduce.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Regenerate: python sports/scripts/hero_permutation_sweep.py --tier core|extended|full|real_full …</a:t>
            </a:r>
          </a:p>
          <a:p>
            <a:pPr>
              <a:defRPr sz="1400"/>
            </a:pPr>
            <a:r>
              <a:t>Rebuild deck: python sports/scripts/build_hero_permutation_slides.py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 — FIXED HERO — canonical deck (11–21)</a:t>
            </a:r>
          </a:p>
          <a:p>
            <a:pPr>
              <a:defRPr sz="1200" i="1"/>
            </a:pPr>
            <a:r>
              <a:t>Baseline — canonical deck HERO</a:t>
            </a:r>
          </a:p>
        </p:txBody>
      </p:sp>
      <p:pic>
        <p:nvPicPr>
          <p:cNvPr id="3" name="Picture 2" descr="HERO_q16_allt_min20_mg10_11_21_FIXED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54" y="777240"/>
            <a:ext cx="877918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FIXED_HERO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bin1=1.934% · peak=ventile 15 @ 3.248% · last=3.214% · LPM β₂=+0.006414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75847-5AED-548C-043A-8C30D85FE52A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 — 11–21 · LOO poolq_loo · ever-draft · all PS rows · EW20 ALLT</a:t>
            </a:r>
          </a:p>
          <a:p>
            <a:pPr>
              <a:defRPr sz="1200" i="1"/>
            </a:pPr>
            <a:r>
              <a:t>Δ vs FIXED HERO: poolq_binning: quantile → equal_width; n_bins: 16 → 20</a:t>
            </a:r>
          </a:p>
        </p:txBody>
      </p:sp>
      <p:pic>
        <p:nvPicPr>
          <p:cNvPr id="3" name="Picture 2" descr="HERO_ew20_allt_min20_mg10_11_21_perm_loo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92" y="777240"/>
            <a:ext cx="874591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bin1=1.121% · peak=ventile 16 @ 3.594% · last=3.252% · LPM β₂=+0.006414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D506A-96D1-DA80-3863-650F8BD68E82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 — 11–21 · LOO poolq_loo · ever-draft · all PS rows · QTL16 +DFT</a:t>
            </a:r>
          </a:p>
          <a:p>
            <a:pPr>
              <a:defRPr sz="1200" i="1"/>
            </a:pPr>
            <a:r>
              <a:t>Δ vs FIXED HERO: dft: False → True</a:t>
            </a:r>
          </a:p>
        </p:txBody>
      </p:sp>
      <p:pic>
        <p:nvPicPr>
          <p:cNvPr id="3" name="Picture 2" descr="HERO_q16_dft_min20_mg10_11_21_perm_loo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843" y="777240"/>
            <a:ext cx="881800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bin1=7.337% · peak=ventile 4 @ 7.525% · last=6.165% · LPM β₂=+0.01444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F5440-74AA-D2BA-526A-F77EF755F365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E5606-07D4-B6B3-576C-9B71E54F039B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 — 11–21 · LOO poolq_loo · ever-draft · all PS rows · EW20 +DFT</a:t>
            </a:r>
          </a:p>
          <a:p>
            <a:pPr>
              <a:defRPr sz="1200" i="1"/>
            </a:pPr>
            <a:r>
              <a:t>Δ vs FIXED HERO: poolq_binning: quantile → equal_width; n_bins: 16 → 20; dft: False → True</a:t>
            </a:r>
          </a:p>
        </p:txBody>
      </p:sp>
      <p:pic>
        <p:nvPicPr>
          <p:cNvPr id="3" name="Picture 2" descr="HERO_ew20_dft_min20_mg10_11_21_perm_loo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81" y="777240"/>
            <a:ext cx="878473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bin1=4.737% · peak=ventile 3 @ 9.766% · last=6.208% · LPM β₂=+0.01444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215A8-FA14-AC5F-193B-30A2E75164B9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34BF2-9565-C35B-196A-1BFB305F10EA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ERO_q16_allt_min20_mg10_11_21_last_ps_perm_loo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 — 11–21 · LOO poolq_loo · ever-draft · last PS only (cross-section) · QTL16 ALLT</a:t>
            </a:r>
          </a:p>
          <a:p>
            <a:pPr>
              <a:defRPr sz="1200" i="1"/>
            </a:pPr>
            <a:r>
              <a:t>Δ vs FIXED HERO: panel_rows: all-ps → last-ps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631D6-E21C-D4AA-CC42-7D207165AE30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ERO_ew20_allt_min20_mg10_11_21_last_ps_perm_loo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 — 11–21 · LOO poolq_loo · ever-draft · last PS only (cross-section) · EW20 ALLT</a:t>
            </a:r>
          </a:p>
          <a:p>
            <a:pPr>
              <a:defRPr sz="1200" i="1"/>
            </a:pPr>
            <a:r>
              <a:t>Δ vs FIXED HERO: panel_rows: all-ps → last-ps; poolq_binning: quantile → equal_width; n_bins: 16 →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bin1=1.535% · peak=ventile 18 @ 3.571% · last=2.55% · LPM β₂=-0.00909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254AD-F216-2C29-01F9-D596FBD433B4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7 — 11–21 · LOO poolq_loo · ever-draft · last PS only (cross-section) · QTL16 +DFT</a:t>
            </a:r>
          </a:p>
          <a:p>
            <a:pPr>
              <a:defRPr sz="1200" i="1"/>
            </a:pPr>
            <a:r>
              <a:t>Δ vs FIXED HERO: panel_rows: all-ps → last-ps; dft: False → True</a:t>
            </a:r>
          </a:p>
        </p:txBody>
      </p:sp>
      <p:pic>
        <p:nvPicPr>
          <p:cNvPr id="3" name="Picture 2" descr="HERO_q16_dft_min20_mg10_11_21_last_ps_perm_loo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bin1=8.74% · peak=ventile 1 @ 8.74% · last=4.888% · LPM β₂=-0.000642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7D82E-4135-9EF8-137B-5B2621D45439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DFF58-54FC-1E52-C707-0821A07AC64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8 — 11–21 · LOO poolq_loo · ever-draft · last PS only (cross-section) · EW20 +DFT</a:t>
            </a:r>
          </a:p>
          <a:p>
            <a:pPr>
              <a:defRPr sz="1200" i="1"/>
            </a:pPr>
            <a:r>
              <a:t>Δ vs FIXED HERO: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1_21_last_ps_perm_loo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bin1=5.714% · peak=ventile 3 @ 12.381% · last=4.787% · LPM β₂=-0.000642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9E03E-E84E-D135-8496-17BE64C60AC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E81B3-C98D-D7DB-FCB5-D743606BC5E6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9 — 11–21 · LOO poolq_loo · season-Y label · all PS rows · QTL16 ALLT</a:t>
            </a:r>
          </a:p>
          <a:p>
            <a:pPr>
              <a:defRPr sz="1200" i="1"/>
            </a:pPr>
            <a:r>
              <a:t>Δ vs FIXED HERO: y_draft_mode: ever → season</a:t>
            </a:r>
          </a:p>
        </p:txBody>
      </p:sp>
      <p:pic>
        <p:nvPicPr>
          <p:cNvPr id="3" name="Picture 2" descr="HERO_q16_allt_min20_mg10_11_21_season_y_perm_loo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17" y="777240"/>
            <a:ext cx="989946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bin1=1.416% · peak=ventile 1 @ 1.416% · last=1.14% · LPM β₂=+0.009613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AEFC2-63D3-CB77-16DC-2D2F64CA74D7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10 — 11–21 · LOO poolq_loo · season-Y label · all PS rows · EW20 ALLT</a:t>
            </a:r>
          </a:p>
          <a:p>
            <a:pPr>
              <a:defRPr sz="1200" i="1"/>
            </a:pPr>
            <a:r>
              <a:t>Δ vs FIXED HERO: y_draft_mode: ever → season; poolq_binning: quantile → equal_width; n_bins: 16 → 20</a:t>
            </a:r>
          </a:p>
        </p:txBody>
      </p:sp>
      <p:pic>
        <p:nvPicPr>
          <p:cNvPr id="3" name="Picture 2" descr="HERO_ew20_allt_min20_mg10_11_21_season_y_perm_loo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3" y="777240"/>
            <a:ext cx="99826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bin1=2.459% · peak=ventile 2 @ 3.311% · last=0.699% · LPM β₂=+0.009613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1B5D9-667C-2042-56BF-CA0AE2423F81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11 — 11–21 · LOO poolq_loo · season-Y label · all PS rows · QTL16 +DFT</a:t>
            </a:r>
          </a:p>
          <a:p>
            <a:pPr>
              <a:defRPr sz="1200" i="1"/>
            </a:pPr>
            <a:r>
              <a:t>Δ vs FIXED HERO: y_draft_mode: ever → season; dft: False → True</a:t>
            </a:r>
          </a:p>
        </p:txBody>
      </p:sp>
      <p:pic>
        <p:nvPicPr>
          <p:cNvPr id="3" name="Picture 2" descr="HERO_q16_dft_min20_mg10_11_21_season_y_perm_loo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90" y="777240"/>
            <a:ext cx="1009911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bin1=4.563% · peak=ventile 1 @ 4.563% · last=2.721% · LPM β₂=+0.02303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80303-5488-40FD-A224-6920EEF07377}"/>
              </a:ext>
            </a:extLst>
          </p:cNvPr>
          <p:cNvSpPr txBox="1"/>
          <p:nvPr/>
        </p:nvSpPr>
        <p:spPr>
          <a:xfrm>
            <a:off x="10593860" y="1042087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E80B5-CACF-C9A8-3594-894FC9B448AB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12 — 11–21 · LOO poolq_loo · season-Y label · all PS rows · EW20 +DFT</a:t>
            </a:r>
          </a:p>
          <a:p>
            <a:pPr>
              <a:defRPr sz="1200" i="1"/>
            </a:pPr>
            <a:r>
              <a:t>Δ vs FIXED HERO: y_draft_mode: ever → season; poolq_binning: quantile → equal_width; n_bins: 16 → 20; dft: False → True</a:t>
            </a:r>
          </a:p>
        </p:txBody>
      </p:sp>
      <p:pic>
        <p:nvPicPr>
          <p:cNvPr id="3" name="Picture 2" descr="HERO_ew20_dft_min20_mg10_11_21_season_y_perm_loo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bin1=4.839% · peak=ventile 2 @ 8.929% · last=2.174% · LPM β₂=+0.02303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18B2B-CDC4-CB8E-9C52-31856C1BD0BB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94577-D219-7000-DC45-9319E2F2A9F2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13 — 11–21 · LOO poolq_loo · season-Y label · last PS only (cross-section) · QTL16 ALLT</a:t>
            </a:r>
          </a:p>
          <a:p>
            <a:pPr>
              <a:defRPr sz="1200" i="1"/>
            </a:pPr>
            <a:r>
              <a:t>Δ vs FIXED HERO: y_draft_mode: ever → season; panel_rows: all-ps → last-ps</a:t>
            </a:r>
          </a:p>
        </p:txBody>
      </p:sp>
      <p:pic>
        <p:nvPicPr>
          <p:cNvPr id="3" name="Picture 2" descr="HERO_q16_allt_min20_mg10_11_21_season_y_last_ps_perm_loo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bin1=3.231% · peak=ventile 1 @ 3.231% · last=2.587% · LPM β₂=+0.01636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C22AC-0013-5115-2F34-2E192C654605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14 — 11–21 · LOO poolq_loo · season-Y label · last PS only (cross-section) · EW20 ALLT</a:t>
            </a:r>
          </a:p>
          <a:p>
            <a:pPr>
              <a:defRPr sz="1200" i="1"/>
            </a:pPr>
            <a:r>
              <a:t>Δ vs FIXED HERO: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1_21_season_y_last_ps_perm_loo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bin1=7.317% · peak=ventile 2 @ 7.937% · last=1.523% · LPM β₂=+0.01636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4ACC6-8859-BBF0-08F3-A353DC6D479B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15 — 11–21 · LOO poolq_loo · season-Y label · last PS only (cross-section) · QTL16 +DFT</a:t>
            </a:r>
          </a:p>
          <a:p>
            <a:pPr>
              <a:defRPr sz="1200" i="1"/>
            </a:pPr>
            <a:r>
              <a:t>Δ vs FIXED HERO: y_draft_mode: ever → season; panel_rows: all-ps → last-ps; dft: False → True</a:t>
            </a:r>
          </a:p>
        </p:txBody>
      </p:sp>
      <p:pic>
        <p:nvPicPr>
          <p:cNvPr id="3" name="Picture 2" descr="HERO_q16_dft_min20_mg10_11_21_season_y_last_ps_perm_loo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bin1=10.652% · peak=ventile 1 @ 10.652% · last=6.318% · LPM β₂=+0.05631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D77E9-646F-9450-026E-0C3609DDB69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6DBEC-BAEF-1048-51FC-247778E2F46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16 — 11–21 · LOO poolq_loo · season-Y label · last PS only (cross-section) · EW20 +DFT</a:t>
            </a:r>
          </a:p>
          <a:p>
            <a:pPr>
              <a:defRPr sz="1200" i="1"/>
            </a:pPr>
            <a:r>
              <a:t>Δ vs FIXED HERO: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1_21_season_y_last_ps_perm_loo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bin1=13.636% · peak=ventile 2 @ 21.739% · last=4.348% · LPM β₂=+0.05631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F21A0-7987-30C2-EB71-9E97598A3E7C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38887-75D2-AF5C-5469-B66CE3748D36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17 — 11–21 · team poolq (incl. self) · ever-draft · all PS rows · QTL16 ALLT</a:t>
            </a:r>
          </a:p>
          <a:p>
            <a:pPr>
              <a:defRPr sz="1200" i="1"/>
            </a:pPr>
            <a:r>
              <a:t>Δ vs FIXED HERO: roster_x: poolq_loo → poolq</a:t>
            </a:r>
          </a:p>
        </p:txBody>
      </p:sp>
      <p:pic>
        <p:nvPicPr>
          <p:cNvPr id="3" name="Picture 2" descr="HERO_poolq_q16_allt_min20_mg10_11_21_perm_poolq_ever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086" y="777240"/>
            <a:ext cx="845752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bin1=0.311% · peak=ventile 16 @ 5.218% · last=5.218% · LPM β₂=+0.0278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8F3EE8-4201-FD14-A02A-05334E3B12E9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DBABC-C473-21A5-2890-164779DB3167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18 — 11–21 · team poolq (incl. self) · ever-draft · all PS rows · EW20 ALLT</a:t>
            </a:r>
          </a:p>
          <a:p>
            <a:pPr>
              <a:defRPr sz="1200" i="1"/>
            </a:pPr>
            <a:r>
              <a:t>Δ vs FIXED HERO: roster_x: poolq_loo → poolq; poolq_binning: quantile → equal_width; n_bins: 16 → 20</a:t>
            </a:r>
          </a:p>
        </p:txBody>
      </p:sp>
      <p:pic>
        <p:nvPicPr>
          <p:cNvPr id="3" name="Picture 2" descr="HERO_poolq_ew20_allt_min20_mg10_11_21_perm_poolq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24" y="777240"/>
            <a:ext cx="8424247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bin1=0.118% · peak=ventile 19 @ 6.536% · last=6.4% · LPM β₂=+0.0278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084034-4906-96F3-0AA1-88ECCCB64A53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BD1CD-0A38-44E7-032F-58E7FBD76C3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19 — 11–21 · team poolq (incl. self) · ever-draft · all PS rows · QTL16 +DFT</a:t>
            </a:r>
          </a:p>
          <a:p>
            <a:pPr>
              <a:defRPr sz="1200" i="1"/>
            </a:pPr>
            <a:r>
              <a:t>Δ vs FIXED HERO: roster_x: poolq_loo → poolq; dft: False → True</a:t>
            </a:r>
          </a:p>
        </p:txBody>
      </p:sp>
      <p:pic>
        <p:nvPicPr>
          <p:cNvPr id="3" name="Picture 2" descr="HERO_poolq_q16_dft_min20_mg10_11_21_perm_poolq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10" y="777240"/>
            <a:ext cx="852407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bin1=2.083% · peak=ventile 16 @ 9.973% · last=9.973% · LPM β₂=+0.001628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A81165-603B-F663-F284-FF020017DC1E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E2922-65D1-4912-5BF2-09F72BEE0102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65857-42DD-79AB-808F-C8840B0C0A90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20 — 11–21 · team poolq (incl. self) · ever-draft · all PS rows · EW20 +DFT</a:t>
            </a:r>
          </a:p>
          <a:p>
            <a:pPr>
              <a:defRPr sz="1200" i="1"/>
            </a:pPr>
            <a:r>
              <a:t>Δ vs FIXED HERO: roster_x: poolq_loo → poolq; poolq_binning: quantile → equal_width; n_bins: 16 → 20; dft: False → True</a:t>
            </a:r>
          </a:p>
        </p:txBody>
      </p:sp>
      <p:pic>
        <p:nvPicPr>
          <p:cNvPr id="3" name="Picture 2" descr="HERO_poolq_ew20_dft_min20_mg10_11_21_perm_poolq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43" y="777240"/>
            <a:ext cx="861280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bin1=0.312% · peak=ventile 20 @ 13.415% · last=13.415% · LPM β₂=+0.001628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A87F1B-BA8A-5883-96A6-7CE6026A16FE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F5E97-E870-CF0F-5C48-909CF1055353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2F244-B1F4-71E9-11C5-C110981C0280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21 — 11–21 · team poolq (incl. self) · ever-draft · last PS only (cross-section) · QTL16 ALLT</a:t>
            </a:r>
          </a:p>
          <a:p>
            <a:pPr>
              <a:defRPr sz="1200" i="1"/>
            </a:pPr>
            <a:r>
              <a:t>Δ vs FIXED HERO: roster_x: poolq_loo → poolq; panel_rows: all-ps → last-ps</a:t>
            </a:r>
          </a:p>
        </p:txBody>
      </p:sp>
      <p:pic>
        <p:nvPicPr>
          <p:cNvPr id="3" name="Picture 2" descr="HERO_poolq_q16_allt_min20_mg10_11_21_last_ps_perm_poolq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bin1=0.404% · peak=ventile 16 @ 12.126% · last=12.126% · LPM β₂=+0.05147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554F425-CF24-3BDF-318B-50C5C6AEEBA4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88512-0D2E-88AC-D06B-1A2E975A71EF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22 — 11–21 · team poolq (incl. self) · ever-draft · last PS only (cross-section) · EW20 ALLT</a:t>
            </a:r>
          </a:p>
          <a:p>
            <a:pPr>
              <a:defRPr sz="1200" i="1"/>
            </a:pPr>
            <a:r>
              <a:t>Δ vs FIXED HERO: roster_x: poolq_loo → poolq;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1_21_last_ps_perm_poolq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bin1=0.308% · peak=ventile 19 @ 17.419% · last=15.068% · LPM β₂=+0.05147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C10D15-955F-B942-C66B-C978C533D504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BCC9B-5B8A-D155-D89D-653107C8967F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23 — 11–21 · team poolq (incl. self) · ever-draft · last PS only (cross-section) · QTL16 +DFT</a:t>
            </a:r>
          </a:p>
          <a:p>
            <a:pPr>
              <a:defRPr sz="1200" i="1"/>
            </a:pPr>
            <a:r>
              <a:t>Δ vs FIXED HERO: roster_x: poolq_loo → poolq; panel_rows: all-ps → last-ps; dft: False → True</a:t>
            </a:r>
          </a:p>
        </p:txBody>
      </p:sp>
      <p:pic>
        <p:nvPicPr>
          <p:cNvPr id="3" name="Picture 2" descr="HERO_poolq_q16_dft_min20_mg10_11_21_last_ps_perm_poolq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bin1=1.016% · peak=ventile 16 @ 23.014% · last=23.014% · LPM β₂=+0.08031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461BF0-6E32-7920-FFA4-46BA711BA476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B23D1-0162-AFC3-0980-3A786B85DAAE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1EA3B-7143-6756-3E71-D9A2A2A49BA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24 — 11–21 · team poolq (incl. self) · ever-draft · last PS only (cross-section) · EW20 +DFT</a:t>
            </a:r>
          </a:p>
          <a:p>
            <a:pPr>
              <a:defRPr sz="1200" i="1"/>
            </a:pPr>
            <a:r>
              <a:t>Δ vs FIXED HERO: roster_x: poolq_loo → poolq;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1_21_last_ps_perm_poolq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bin1=0.735% · peak=ventile 19 @ 27.381% · last=25.21% · LPM β₂=+0.08031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8ECE51-478D-11B4-F236-9E7AAB9EAA80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1C59B-9E47-05F5-02DE-88910E598F46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F95BD-9CB1-C06E-42F5-D3EE0D7B003A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25 — 11–21 · team poolq (incl. self) · season-Y label · all PS rows · QTL16 ALLT</a:t>
            </a:r>
          </a:p>
          <a:p>
            <a:pPr>
              <a:defRPr sz="1200" i="1"/>
            </a:pPr>
            <a:r>
              <a:t>Δ vs FIXED HERO: roster_x: poolq_loo → poolq; y_draft_mode: ever → season</a:t>
            </a:r>
          </a:p>
        </p:txBody>
      </p:sp>
      <p:pic>
        <p:nvPicPr>
          <p:cNvPr id="3" name="Picture 2" descr="HERO_poolq_q16_allt_min20_mg10_11_21_season_y_perm_poolq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3" y="777240"/>
            <a:ext cx="973862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1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bin1=0.207% · peak=ventile 16 @ 2.557% · last=2.557% · LPM β₂=+0.04573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9C7E11-FA00-34D1-5121-050332483999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39A5C-40BD-A042-B70F-23138A9CFCA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26 — 11–21 · team poolq (incl. self) · season-Y label · all PS rows · EW20 ALLT</a:t>
            </a:r>
          </a:p>
          <a:p>
            <a:pPr>
              <a:defRPr sz="1200" i="1"/>
            </a:pPr>
            <a:r>
              <a:t>Δ vs FIXED HERO: roster_x: poolq_loo → poolq; y_draft_mode: ever → season; poolq_binning: quantile → equal_width; n_bins: 16 → 20</a:t>
            </a:r>
          </a:p>
        </p:txBody>
      </p:sp>
      <p:pic>
        <p:nvPicPr>
          <p:cNvPr id="3" name="Picture 2" descr="HERO_poolq_ew20_allt_min20_mg10_11_21_season_y_perm_poolq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92" y="777240"/>
            <a:ext cx="983291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bin1=0.152% · peak=ventile 20 @ 3.545% · last=3.545% · LPM β₂=+0.04573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113353-039F-F14F-3552-CC277061ADB8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9EC22C-6F20-3C2B-2B13-ED3A8F24B4B6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27 — 11–21 · team poolq (incl. self) · season-Y label · all PS rows · QTL16 +DFT</a:t>
            </a:r>
          </a:p>
          <a:p>
            <a:pPr>
              <a:defRPr sz="1200" i="1"/>
            </a:pPr>
            <a:r>
              <a:t>Δ vs FIXED HERO: roster_x: poolq_loo → poolq; y_draft_mode: ever → season; dft: False → True</a:t>
            </a:r>
          </a:p>
        </p:txBody>
      </p:sp>
      <p:pic>
        <p:nvPicPr>
          <p:cNvPr id="3" name="Picture 2" descr="HERO_poolq_q16_dft_min20_mg10_11_21_season_y_perm_poolq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01" y="777240"/>
            <a:ext cx="1006029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bin1=1.068% · peak=ventile 16 @ 5.248% · last=5.248% · LPM β₂=+0.02351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0574B6-0D82-6659-11B5-02E4E54DFDED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DDB41-452B-FD79-8A34-4D6A3D359A20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D4622-FE58-3E37-625D-C6C4A9E28C27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28 — 11–21 · team poolq (incl. self) · season-Y label · all PS rows · EW20 +DFT</a:t>
            </a:r>
          </a:p>
          <a:p>
            <a:pPr>
              <a:defRPr sz="1200" i="1"/>
            </a:pPr>
            <a:r>
              <a:t>Δ vs FIXED HERO: roster_x: poolq_loo → poolq; y_draft_mode: ever → season; poolq_binning: quantile → equal_width; n_bins: 16 → 20; dft: False → True</a:t>
            </a:r>
          </a:p>
        </p:txBody>
      </p:sp>
      <p:pic>
        <p:nvPicPr>
          <p:cNvPr id="3" name="Picture 2" descr="HERO_poolq_ew20_dft_min20_mg10_11_21_season_y_perm_poolq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bin1=0.862% · peak=ventile 20 @ 7.119% · last=7.119% · LPM β₂=+0.02351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1AFEA6-CA7E-14FF-4AF2-9BE747CEB73A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D90FE-024B-B242-DC53-326FF59829F7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E2DC2-8CA7-321B-3DAD-D7CD75CE9066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29 — 11–21 · team poolq (incl. self) · season-Y label · last PS only (cross-section) · QTL16 ALLT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</a:t>
            </a:r>
          </a:p>
        </p:txBody>
      </p:sp>
      <p:pic>
        <p:nvPicPr>
          <p:cNvPr id="3" name="Picture 2" descr="HERO_poolq_q16_allt_min20_mg10_11_21_season_y_last_ps_perm_poolq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bin1=0.323% · peak=ventile 16 @ 11.964% · last=11.964% · LPM β₂=+0.13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94CD29-3E1E-C6FC-D488-AF3FD74D0FF1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ACA79-6808-53C6-D59F-0DC002C8215C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30 — 11–21 · team poolq (incl. self) · season-Y label · last PS only (cross-section) · EW20 ALLT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1_21_season_y_last_ps_perm_poolq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bin1=0.322% · peak=ventile 19 @ 21.333% · last=13.651% · LPM β₂=+0.13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55C59-7402-ECA8-8B85-6FE0B2E2E82A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C0B3A-BA2E-4BEA-71CA-929229153999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31 — 11–21 · team poolq (incl. self) · season-Y label · last PS only (cross-section) · QTL16 +DFT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dft: False → True</a:t>
            </a:r>
          </a:p>
        </p:txBody>
      </p:sp>
      <p:pic>
        <p:nvPicPr>
          <p:cNvPr id="3" name="Picture 2" descr="HERO_poolq_q16_dft_min20_mg10_11_21_season_y_last_ps_perm_poolq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bin1=1.087% · peak=ventile 16 @ 24.619% · last=24.619% · LPM β₂=+0.1975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CAA32E-4F8F-E9C5-5E93-165930D9CF2B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30258-12E4-2EDB-D5C1-16A831A012A1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4F2A0-3EBC-3DBE-E1F6-F98EACF510EA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32 — 11–21 · team poolq (incl. self) · season-Y label · last PS only (cross-section) · EW20 +DFT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1_21_season_y_last_ps_perm_poolq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bin1=0.893% · peak=ventile 19 @ 29.487% · last=24.286% · LPM β₂=+0.1975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05F8DD-DB9E-EF8E-59D0-831690FB0378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3E3E2-3904-DED5-2081-E252BC8D6E92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B0C4F-55E5-72C2-24DA-76FFE98105B2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33 — FIXED HERO — canonical deck (13–21)</a:t>
            </a:r>
          </a:p>
          <a:p>
            <a:pPr>
              <a:defRPr sz="1200" i="1"/>
            </a:pPr>
            <a:r>
              <a:t>Baseline — canonical deck HERO</a:t>
            </a:r>
          </a:p>
        </p:txBody>
      </p:sp>
      <p:pic>
        <p:nvPicPr>
          <p:cNvPr id="3" name="Picture 2" descr="HERO_q16_allt_min20_mg10_13_21_FIX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49" y="777240"/>
            <a:ext cx="8695997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FIXED_HERO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bin1=2.098% · peak=ventile 15 @ 3.021% · last=2.645% · LPM β₂=+0.000462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AD81BC-B862-A7FE-0ED0-6C9C043FB6A1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4606D-EEC9-D454-58BA-4DA99208D442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34 — 13–21 · LOO poolq_loo · ever-draft · all PS rows · EW20 ALLT</a:t>
            </a:r>
          </a:p>
          <a:p>
            <a:pPr>
              <a:defRPr sz="1200" i="1"/>
            </a:pPr>
            <a:r>
              <a:t>Δ vs FIXED HERO: season_window: 11_21 → 13_21; poolq_binning: quantile → equal_width; n_bins: 16 → 20</a:t>
            </a:r>
          </a:p>
        </p:txBody>
      </p:sp>
      <p:pic>
        <p:nvPicPr>
          <p:cNvPr id="3" name="Picture 2" descr="HERO_ew20_allt_min20_mg10_13_21_perm_loo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86" y="777240"/>
            <a:ext cx="866272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bin1=0.927% · peak=ventile 16 @ 3.256% · last=2.537% · LPM β₂=+0.000462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181AA8-F5E9-3388-0C35-E1A203E7A6CB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0638A-A8CA-AED8-8706-D851B17A5D1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35 — 13–21 · LOO poolq_loo · ever-draft · all PS rows · QTL16 +DFT</a:t>
            </a:r>
          </a:p>
          <a:p>
            <a:pPr>
              <a:defRPr sz="1200" i="1"/>
            </a:pPr>
            <a:r>
              <a:t>Δ vs FIXED HERO: season_window: 11_21 → 13_21; dft: False → True</a:t>
            </a:r>
          </a:p>
        </p:txBody>
      </p:sp>
      <p:pic>
        <p:nvPicPr>
          <p:cNvPr id="3" name="Picture 2" descr="HERO_q16_dft_min20_mg10_13_21_perm_loo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38" y="777240"/>
            <a:ext cx="873481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bin1=8.01% · peak=ventile 4 @ 8.252% · last=5.346% · LPM β₂=-0.006194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C837E-88ED-EE43-BE40-F23AAD486B84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95A41-C588-A2FD-CE74-9B47069A6263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36 — 13–21 · LOO poolq_loo · ever-draft · all PS rows · EW20 +DFT</a:t>
            </a:r>
          </a:p>
          <a:p>
            <a:pPr>
              <a:defRPr sz="1200" i="1"/>
            </a:pPr>
            <a:r>
              <a:t>Δ vs FIXED HERO: season_window: 11_21 → 13_21; poolq_binning: quantile → equal_width; n_bins: 16 → 20; dft: False → True</a:t>
            </a:r>
          </a:p>
        </p:txBody>
      </p:sp>
      <p:pic>
        <p:nvPicPr>
          <p:cNvPr id="3" name="Picture 2" descr="HERO_ew20_dft_min20_mg10_13_21_perm_loo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210" y="777240"/>
            <a:ext cx="8729274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bin1=3.822% · peak=ventile 3 @ 11.917% · last=5.346% · LPM β₂=-0.006194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16B9F-19E7-A616-1AF5-F13DA13C112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73A92-EA48-959D-9059-722B0865A260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37 — 13–21 · LOO poolq_loo · ever-draft · last PS only (cross-section) · QTL16 ALLT</a:t>
            </a:r>
          </a:p>
          <a:p>
            <a:pPr>
              <a:defRPr sz="1200" i="1"/>
            </a:pPr>
            <a:r>
              <a:t>Δ vs FIXED HERO: season_window: 11_21 → 13_21; panel_rows: all-ps → last-ps</a:t>
            </a:r>
          </a:p>
        </p:txBody>
      </p:sp>
      <p:pic>
        <p:nvPicPr>
          <p:cNvPr id="3" name="Picture 2" descr="HERO_q16_allt_min20_mg10_13_21_last_ps_perm_loo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bin1=2.089% · peak=ventile 11 @ 3.232% · last=2.757% · LPM β₂=-0.01282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D9585-A2CF-3D21-1BDF-9504ACB4E97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38 — 13–21 · LOO poolq_loo · ever-draft · last PS only (cross-section) · EW20 ALLT</a:t>
            </a:r>
          </a:p>
          <a:p>
            <a:pPr>
              <a:defRPr sz="1200" i="1"/>
            </a:pPr>
            <a:r>
              <a:t>Δ vs FIXED HERO: season_window: 11_21 → 13_21;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3_21_last_ps_perm_loo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bin1=1.524% · peak=ventile 3 @ 3.333% · last=2.288% · LPM β₂=-0.01282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84F5E-B874-E2E0-41F1-E56E7F4CFA0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39 — 13–21 · LOO poolq_loo · ever-draft · last PS only (cross-section) · QTL16 +DFT</a:t>
            </a:r>
          </a:p>
          <a:p>
            <a:pPr>
              <a:defRPr sz="1200" i="1"/>
            </a:pPr>
            <a:r>
              <a:t>Δ vs FIXED HERO: season_window: 11_21 → 13_21; panel_rows: all-ps → last-ps; dft: False → True</a:t>
            </a:r>
          </a:p>
        </p:txBody>
      </p:sp>
      <p:pic>
        <p:nvPicPr>
          <p:cNvPr id="3" name="Picture 2" descr="HERO_q16_dft_min20_mg10_13_21_last_ps_perm_loo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bin1=8.924% · peak=ventile 4 @ 9.186% · last=4.211% · LPM β₂=-0.0189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BD7FF-4CF5-D6F2-6F22-D7AE4C92674A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D7ECD-55FD-E3C3-E5E8-3D49C4B7E433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40 — 13–21 · LOO poolq_loo · ever-draft · last PS only (cross-section) · EW20 +DFT</a:t>
            </a:r>
          </a:p>
          <a:p>
            <a:pPr>
              <a:defRPr sz="1200" i="1"/>
            </a:pPr>
            <a:r>
              <a:t>Δ vs FIXED HERO: season_window: 11_21 → 13_21;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3_21_last_ps_perm_loo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bin1=5.618% · peak=ventile 3 @ 14.634% · last=4.516% · LPM β₂=-0.0189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94938-4D2C-5A88-90DD-4E7E940694CF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E7F55-4C0F-E7FC-32F0-25898D249DFD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41 — 13–21 · LOO poolq_loo · season-Y label · all PS rows · QTL16 ALLT</a:t>
            </a:r>
          </a:p>
          <a:p>
            <a:pPr>
              <a:defRPr sz="1200" i="1"/>
            </a:pPr>
            <a:r>
              <a:t>Δ vs FIXED HERO: season_window: 11_21 → 13_21; y_draft_mode: ever → season</a:t>
            </a:r>
          </a:p>
        </p:txBody>
      </p:sp>
      <p:pic>
        <p:nvPicPr>
          <p:cNvPr id="3" name="Picture 2" descr="HERO_q16_allt_min20_mg10_13_21_season_y_perm_loo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17" y="777240"/>
            <a:ext cx="989946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bin1=1.511% · peak=ventile 1 @ 1.511% · last=1.134% · LPM β₂=+0.01041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5CA3A-2132-30C4-0CE5-7B8CA242A9AE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42 — 13–21 · LOO poolq_loo · season-Y label · all PS rows · EW20 ALLT</a:t>
            </a:r>
          </a:p>
          <a:p>
            <a:pPr>
              <a:defRPr sz="1200" i="1"/>
            </a:pPr>
            <a:r>
              <a:t>Δ vs FIXED HERO: season_window: 11_21 → 13_21; y_draft_mode: ever → season; poolq_binning: quantile → equal_width; n_bins: 16 → 20</a:t>
            </a:r>
          </a:p>
        </p:txBody>
      </p:sp>
      <p:pic>
        <p:nvPicPr>
          <p:cNvPr id="3" name="Picture 2" descr="HERO_ew20_allt_min20_mg10_13_21_season_y_perm_loo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3" y="777240"/>
            <a:ext cx="99826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2.222% · last=0.529% · LPM β₂=+0.01041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4D221-90BF-CEDA-8BD1-89ECD69CF3A4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43 — 13–21 · LOO poolq_loo · season-Y label · all PS rows · QTL16 +DFT</a:t>
            </a:r>
          </a:p>
          <a:p>
            <a:pPr>
              <a:defRPr sz="1200" i="1"/>
            </a:pPr>
            <a:r>
              <a:t>Δ vs FIXED HERO: season_window: 11_21 → 13_21; y_draft_mode: ever → season; dft: False → True</a:t>
            </a:r>
          </a:p>
        </p:txBody>
      </p:sp>
      <p:pic>
        <p:nvPicPr>
          <p:cNvPr id="3" name="Picture 2" descr="HERO_q16_dft_min20_mg10_13_21_season_y_perm_loo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90" y="777240"/>
            <a:ext cx="1009911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bin1=4.675% · peak=ventile 1 @ 4.675% · last=3.121% · LPM β₂=+0.01032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4B0DC-9CEC-AB02-FD61-0DE5D57E15F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F5465-5521-3549-9C5B-BABF4F186F63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44 — 13–21 · LOO poolq_loo · season-Y label · all PS rows · EW20 +DFT</a:t>
            </a:r>
          </a:p>
          <a:p>
            <a:pPr>
              <a:defRPr sz="1200" i="1"/>
            </a:pPr>
            <a:r>
              <a:t>Δ vs FIXED HERO: season_window: 11_21 → 13_21; y_draft_mode: ever → season; poolq_binning: quantile → equal_width; n_bins: 16 → 20; dft: False → True</a:t>
            </a:r>
          </a:p>
        </p:txBody>
      </p:sp>
      <p:pic>
        <p:nvPicPr>
          <p:cNvPr id="3" name="Picture 2" descr="HERO_ew20_dft_min20_mg10_13_21_season_y_perm_loo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7.317% · last=1.818% · LPM β₂=+0.01032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68096-DE8D-50C6-9ED6-D065AD66F9F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A3481-785C-5550-4AE1-823916577F4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45 — 13–21 · LOO poolq_loo · season-Y label · last PS only (cross-section) · QTL16 ALLT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</a:t>
            </a:r>
          </a:p>
        </p:txBody>
      </p:sp>
      <p:pic>
        <p:nvPicPr>
          <p:cNvPr id="3" name="Picture 2" descr="HERO_q16_allt_min20_mg10_13_21_season_y_last_ps_perm_loo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bin1=3.039% · peak=ventile 4 @ 3.042% · last=2.376% · LPM β₂=+0.008419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FF8E1-FF0A-7BD7-3473-E8731E810E1F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46 — 13–21 · LOO poolq_loo · season-Y label · last PS only (cross-section) · EW20 ALLT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3_21_season_y_last_ps_perm_loo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4.348% · last=1.117% · LPM β₂=+0.008419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22CAC-3BC2-022C-D904-1598F4C4F283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47 — 13–21 · LOO poolq_loo · season-Y label · last PS only (cross-section) · QTL16 +DFT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dft: False → True</a:t>
            </a:r>
          </a:p>
        </p:txBody>
      </p:sp>
      <p:pic>
        <p:nvPicPr>
          <p:cNvPr id="3" name="Picture 2" descr="HERO_q16_dft_min20_mg10_13_21_season_y_last_ps_perm_loo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bin1=10.056% · peak=ventile 1 @ 10.056% · last=6.443% · LPM β₂=+0.01897 ⚠ bin1 LOWEST ventile is PEAK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CF169-FE84-2DB5-EBAF-FC7A062EC2E5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F553C-6B8C-F382-0F6A-7F96AD0A9267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48 — 13–21 · LOO poolq_loo · season-Y label · last PS only (cross-section) · EW20 +DFT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3_21_season_y_last_ps_perm_loo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2 @ 16.667% · last=3.077% · LPM β₂=+0.01897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B4A6C-B83D-75A5-D97F-36E368F41CEA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DC7EB-8062-914E-0212-5DDF9BE1C8D1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49 — 13–21 · team poolq (incl. self) · ever-draft · all PS rows · QTL16 ALLT</a:t>
            </a:r>
          </a:p>
          <a:p>
            <a:pPr>
              <a:defRPr sz="1200" i="1"/>
            </a:pPr>
            <a:r>
              <a:t>Δ vs FIXED HERO: season_window: 11_21 → 13_21; roster_x: poolq_loo → poolq</a:t>
            </a:r>
          </a:p>
        </p:txBody>
      </p:sp>
      <p:pic>
        <p:nvPicPr>
          <p:cNvPr id="3" name="Picture 2" descr="HERO_poolq_q16_allt_min20_mg10_13_21_perm_poolq_ever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80" y="777240"/>
            <a:ext cx="837433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bin1=0.378% · peak=ventile 15 @ 4.784% · last=4.366% · LPM β₂=+0.01828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C8E794-ED52-3BA3-E60A-013089E7F3C3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D336B-A1D8-D4D4-2A0B-C9D02495E3B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50 — 13–21 · team poolq (incl. self) · ever-draft · all PS rows · EW20 ALLT</a:t>
            </a:r>
          </a:p>
          <a:p>
            <a:pPr>
              <a:defRPr sz="1200" i="1"/>
            </a:pPr>
            <a:r>
              <a:t>Δ vs FIXED HERO: season_window: 11_21 → 13_21; roster_x: poolq_loo → poolq; poolq_binning: quantile → equal_width; n_bins: 16 → 20</a:t>
            </a:r>
          </a:p>
        </p:txBody>
      </p:sp>
      <p:pic>
        <p:nvPicPr>
          <p:cNvPr id="3" name="Picture 2" descr="HERO_poolq_ew20_allt_min20_mg10_13_21_perm_poolq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318" y="777240"/>
            <a:ext cx="834105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bin1=0.144% · peak=ventile 20 @ 5.527% · last=5.527% · LPM β₂=+0.01828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AD8BCD-124D-5C05-4D59-B53E42DC43B2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C15D6-C1D8-78FB-5FF3-4E23D2DDBD00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51 — 13–21 · team poolq (incl. self) · ever-draft · all PS rows · QTL16 +DFT</a:t>
            </a:r>
          </a:p>
          <a:p>
            <a:pPr>
              <a:defRPr sz="1200" i="1"/>
            </a:pPr>
            <a:r>
              <a:t>Δ vs FIXED HERO: season_window: 11_21 → 13_21; roster_x: poolq_loo → poolq; dft: False → True</a:t>
            </a:r>
          </a:p>
        </p:txBody>
      </p:sp>
      <p:pic>
        <p:nvPicPr>
          <p:cNvPr id="3" name="Picture 2" descr="HERO_poolq_q16_dft_min20_mg10_13_21_perm_poolq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21" y="777240"/>
            <a:ext cx="848525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bin1=2.063% · peak=ventile 15 @ 10.922% · last=8.141% · LPM β₂=-0.02287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C0FDC4-946E-5CBF-8A13-97E2753A427B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580AC-6C27-B318-FD5C-8D8AD7FD1282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4F9A3-2773-631B-79FF-DF0B8B8012D3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52 — 13–21 · team poolq (incl. self) · ever-draft · all PS rows · EW20 +DFT</a:t>
            </a:r>
          </a:p>
          <a:p>
            <a:pPr>
              <a:defRPr sz="1200" i="1"/>
            </a:pPr>
            <a:r>
              <a:t>Δ vs FIXED HERO: season_window: 11_21 → 13_21; roster_x: poolq_loo → poolq; poolq_binning: quantile → equal_width; n_bins: 16 → 20; dft: False → True</a:t>
            </a:r>
          </a:p>
        </p:txBody>
      </p:sp>
      <p:pic>
        <p:nvPicPr>
          <p:cNvPr id="3" name="Picture 2" descr="HERO_poolq_ew20_dft_min20_mg10_13_21_perm_poolq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26" y="777240"/>
            <a:ext cx="856844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bin1=0.388% · peak=ventile 20 @ 12.185% · last=12.185% · LPM β₂=-0.02287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D8EAEF-534C-DACC-8190-A09A26C280EB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3E284-FE98-3914-D6B4-33351B38AC43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2213B-3D11-7F06-E8EA-BDDE0620B3E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53 — 13–21 · team poolq (incl. self) · ever-draft · last PS only (cross-section) · QTL16 ALLT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</a:t>
            </a:r>
          </a:p>
        </p:txBody>
      </p:sp>
      <p:pic>
        <p:nvPicPr>
          <p:cNvPr id="3" name="Picture 2" descr="HERO_poolq_q16_allt_min20_mg10_13_21_last_ps_perm_poolq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bin1=0.38% · peak=ventile 16 @ 11.787% · last=11.787% · LPM β₂=+0.05195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2DF72F-7222-4465-C497-78AA71BB3013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B3033-23B7-1F10-1A05-03AD154DE18B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54 — 13–21 · team poolq (incl. self) · ever-draft · last PS only (cross-section) · EW20 ALLT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3_21_last_ps_perm_poolq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19.643% · last=14.8% · LPM β₂=+0.05195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A66706-6EC9-065F-D695-F803D8502F8C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0AA30-4EBA-B388-878E-023E042A67F5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55 — 13–21 · team poolq (incl. self) · ever-draft · last PS only (cross-section) · QTL16 +DFT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dft: False → True</a:t>
            </a:r>
          </a:p>
        </p:txBody>
      </p:sp>
      <p:pic>
        <p:nvPicPr>
          <p:cNvPr id="3" name="Picture 2" descr="HERO_poolq_q16_dft_min20_mg10_13_21_last_ps_perm_poolq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bin1=1.312% · peak=ventile 16 @ 22.632% · last=22.632% · LPM β₂=+0.08639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682182-972B-E033-B28E-0EE4F232DF12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6BECF-8AD2-6274-49F0-34DB858B74A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0311E-0F9B-6508-41B3-5886AA09597D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56 — 13–21 · team poolq (incl. self) · ever-draft · last PS only (cross-section) · EW20 +DFT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3_21_last_ps_perm_poolq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20 @ 28.421% · last=28.421% · LPM β₂=+0.08639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28E6DD-FB58-5E0B-EC83-28D12FAD1F5A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328FC-07B9-74C1-A662-35993E2D6D2D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551D6-0C80-8D16-6BCE-F1BE06D9DB98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57 — 13–21 · team poolq (incl. self) · season-Y label · all PS rows · QTL16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</a:t>
            </a:r>
          </a:p>
        </p:txBody>
      </p:sp>
      <p:pic>
        <p:nvPicPr>
          <p:cNvPr id="3" name="Picture 2" descr="HERO_poolq_q16_allt_min20_mg10_13_21_season_y_perm_poolq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3" y="777240"/>
            <a:ext cx="973862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1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bin1=0.084% · peak=ventile 16 @ 2.393% · last=2.393% · LPM β₂=+0.04542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FD9DBD-F403-B6A1-7FA7-10A551657812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A1C65-29A7-D77B-615C-0E5AB1F1B80A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58 — 13–21 · team poolq (incl. self) · season-Y label · all PS rows · EW20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poolq_binning: quantile → equal_width; n_bins: 16 → 20</a:t>
            </a:r>
          </a:p>
        </p:txBody>
      </p:sp>
      <p:pic>
        <p:nvPicPr>
          <p:cNvPr id="3" name="Picture 2" descr="HERO_poolq_ew20_allt_min20_mg10_13_21_season_y_perm_poolq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92" y="777240"/>
            <a:ext cx="983291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bin1=0.173% · peak=ventile 20 @ 3.399% · last=3.399% · LPM β₂=+0.04542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BC303-9B45-5106-AE73-8EF4EAE83397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7F3E2-3B4B-E666-5658-03A6D8986543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59 — 13–21 · team poolq (incl. self) · season-Y label · all PS rows · QTL16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dft: False → True</a:t>
            </a:r>
          </a:p>
        </p:txBody>
      </p:sp>
      <p:pic>
        <p:nvPicPr>
          <p:cNvPr id="3" name="Picture 2" descr="HERO_poolq_q16_dft_min20_mg10_13_21_season_y_perm_poolq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01" y="777240"/>
            <a:ext cx="1006029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bin1=0.779% · peak=ventile 12 @ 5.584% · last=5.332% · LPM β₂=+0.01064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04E6F7-AFF3-3DC8-A992-F7A18C46E85A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A2BFD-401A-7D60-DF5E-C6456F4DCE6B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7395E-D7C5-ADBF-1FEB-03AFEBFF680D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60 — 13–21 · team poolq (incl. self) · season-Y label · all PS rows · EW20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poolq_binning: quantile → equal_width; n_bins: 16 → 20; dft: False → True</a:t>
            </a:r>
          </a:p>
        </p:txBody>
      </p:sp>
      <p:pic>
        <p:nvPicPr>
          <p:cNvPr id="3" name="Picture 2" descr="HERO_poolq_ew20_dft_min20_mg10_13_21_season_y_perm_poolq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bin1=0.599% · peak=ventile 20 @ 7.386% · last=7.386% · LPM β₂=+0.01064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2BB7A2-3DDB-F64A-908C-8C33AAFA7CEC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C28F6-FF5B-01E6-D3B5-3BD3B01F0193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4C82A-E161-43D2-AE07-E371E74F90FC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61 — 13–21 · team poolq (incl. self) · season-Y label · last PS only (cross-section) · QTL16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</a:t>
            </a:r>
          </a:p>
        </p:txBody>
      </p:sp>
      <p:pic>
        <p:nvPicPr>
          <p:cNvPr id="3" name="Picture 2" descr="HERO_poolq_q16_allt_min20_mg10_13_21_season_y_last_ps_perm_poolq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bin1=0.285% · peak=ventile 16 @ 11.217% · last=11.217% · LPM β₂=+0.1429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F47F02-C088-8D97-0FFA-C4D8651BFB28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4B8CE-6AA7-BACA-E2B3-B70AA7A8005F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62 — 13–21 · team poolq (incl. self) · season-Y label · last PS only (cross-section) · EW20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3_21_season_y_last_ps_perm_poolq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22.414% · last=13.953% · LPM β₂=+0.1429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7BDCD6-29DD-C194-F181-94422419FAAB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87351-644D-DC80-3834-3F38E9447718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63 — 13–21 · team poolq (incl. self) · season-Y label · last PS only (cross-section) · QTL16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dft: False → True</a:t>
            </a:r>
          </a:p>
        </p:txBody>
      </p:sp>
      <p:pic>
        <p:nvPicPr>
          <p:cNvPr id="3" name="Picture 2" descr="HERO_poolq_q16_dft_min20_mg10_13_21_season_y_last_ps_perm_poolq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bin1=1.676% · peak=ventile 16 @ 24.37% · last=24.37% · LPM β₂=+0.2174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86CEAC-E295-A171-FE68-913CBF3C225F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65785-4F00-77FC-5D9E-E8C6725309C9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FA6C7-6431-F2EB-1358-04D683793D5D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64 — 13–21 · team poolq (incl. self) · season-Y label · last PS only (cross-section) · EW20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3_21_season_y_last_ps_perm_poolq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35.185% · last=23.762% · LPM β₂=+0.2174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59F23C-1305-D795-7C51-F735A3F850D4}"/>
              </a:ext>
            </a:extLst>
          </p:cNvPr>
          <p:cNvSpPr/>
          <p:nvPr/>
        </p:nvSpPr>
        <p:spPr>
          <a:xfrm>
            <a:off x="10903712" y="1097280"/>
            <a:ext cx="784352" cy="276352"/>
          </a:xfrm>
          <a:prstGeom prst="roundRect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19C71-4867-F37A-57A3-E7B9F9D739EA}"/>
              </a:ext>
            </a:extLst>
          </p:cNvPr>
          <p:cNvSpPr txBox="1"/>
          <p:nvPr/>
        </p:nvSpPr>
        <p:spPr>
          <a:xfrm>
            <a:off x="10593860" y="1033849"/>
            <a:ext cx="1384504" cy="480265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numCol="1" rtlCol="0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PoolQ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LOO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QTL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EW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ALL-PS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LAST-PS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DFT-EVER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DFT-SEASON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2011-2021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2013-2021</a:t>
            </a:r>
          </a:p>
          <a:p>
            <a:pPr algn="ctr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16BINS</a:t>
            </a:r>
          </a:p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20BINS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418A4-59EE-B168-2BB3-326F6FCAAEC3}"/>
              </a:ext>
            </a:extLst>
          </p:cNvPr>
          <p:cNvSpPr txBox="1"/>
          <p:nvPr/>
        </p:nvSpPr>
        <p:spPr>
          <a:xfrm>
            <a:off x="10750548" y="6127496"/>
            <a:ext cx="107112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DFT-TMS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12378</Words>
  <Application>Microsoft Macintosh PowerPoint</Application>
  <PresentationFormat>Widescreen</PresentationFormat>
  <Paragraphs>1391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</cp:revision>
  <cp:lastPrinted>2026-08-26T17:00:54Z</cp:lastPrinted>
  <dcterms:created xsi:type="dcterms:W3CDTF">2013-01-27T09:14:16Z</dcterms:created>
  <dcterms:modified xsi:type="dcterms:W3CDTF">2026-08-26T17:56:16Z</dcterms:modified>
  <cp:category/>
</cp:coreProperties>
</file>