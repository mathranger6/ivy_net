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233" d="100"/>
          <a:sy n="233" d="100"/>
        </p:scale>
        <p:origin x="14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 — Reigning hero star sweep</a:t>
            </a:r>
          </a:p>
          <a:p>
            <a:pPr>
              <a:defRPr sz="1200" i="1"/>
            </a:pPr>
            <a:r>
              <a:t>20 run slides · 2026-08-27 · vs lock EW16 · 09_21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87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sensitivity of named reigning hero to EW ventile count and season window.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Reigning lock (slide 12): EW16 · 2009–2021 · poolq_LOO · ever · last-ps · ALLT · equal_width · min20 · mg10 · winsor 1–99.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Varied in this sweep:</a:t>
            </a:r>
          </a:p>
          <a:p>
            <a:pPr>
              <a:defRPr sz="1400"/>
            </a:pPr>
            <a:r>
              <a:t>  • n_bins ∈ {8, 10, 12, 20, 24}  (lock EW16 not in grid — use EW12/EW20 as neighbors)</a:t>
            </a:r>
          </a:p>
          <a:p>
            <a:pPr>
              <a:defRPr sz="1400"/>
            </a:pPr>
            <a:r>
              <a:t>  • season_window ∈ {09_21, 11_21, 13_21, 09_19}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Each candidate slide explains Δ vs the lock; β₂ comparisons apply within the same era.</a:t>
            </a:r>
          </a:p>
          <a:p>
            <a:pPr>
              <a:defRPr sz="1400"/>
            </a:pPr>
            <a:r>
              <a:t>Regenerate runs: python sports/scripts/reigning_hero_star_sweep.py</a:t>
            </a:r>
          </a:p>
          <a:p>
            <a:pPr>
              <a:defRPr sz="1400"/>
            </a:pPr>
            <a:r>
              <a:t>Rebuild deck: python sports/scripts/build_reigning_hero_star_sweep_slides.py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 — Reigning hero (reference lock)</a:t>
            </a:r>
          </a:p>
          <a:p>
            <a:pPr>
              <a:defRPr sz="1200" i="1"/>
            </a:pPr>
            <a:r>
              <a:t>Slide 12 · tag `perm_loo_ever_lastps_ew16` · EW16 · 2009–2021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Named hero from 09–21 permutation deck (HAND matrix slide 12).</a:t>
            </a:r>
          </a:p>
          <a:p>
            <a:pPr>
              <a:spcAft>
                <a:spcPts val="200"/>
              </a:spcAft>
              <a:defRPr sz="1100"/>
            </a:pPr>
            <a:r>
              <a:t>• Star sweep varies only EW bin count and season window; everything else matches this lock.</a:t>
            </a:r>
          </a:p>
          <a:p>
            <a:pPr>
              <a:spcAft>
                <a:spcPts val="200"/>
              </a:spcAft>
              <a:defRPr sz="1100"/>
            </a:pPr>
            <a:r>
              <a:t>• Sweep grid omits EW16 — nearest neighbors are EW12 and EW20 at 09–21.</a:t>
            </a:r>
          </a:p>
          <a:p>
            <a:pPr>
              <a:spcAft>
                <a:spcPts val="200"/>
              </a:spcAft>
              <a:defRPr sz="1100"/>
            </a:pPr>
            <a:r>
              <a:t>• β₂ ≈ +0.00172 (flat / not concave) on 2009–2021.</a:t>
            </a:r>
          </a:p>
        </p:txBody>
      </p:sp>
      <p:pic>
        <p:nvPicPr>
          <p:cNvPr id="4" name="Picture 3" descr="HERO_ew16_allt_min20_mg10_09_21_last_ps_perm_loo_ever_lastps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0472"/>
            <a:ext cx="11368735" cy="4281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 — Star EW8 · 09–21 · last-ps · LOO · ever · ALLT</a:t>
            </a:r>
          </a:p>
          <a:p>
            <a:pPr>
              <a:defRPr sz="1200" i="1"/>
            </a:pPr>
            <a:r>
              <a:t>Δ vs reigning lock (EW16 · 09–21): n_bins: 16 →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8_allt_min20_mg10_09_21_last_ps_star_ew8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bin1=1.87% · peak=ventile 7 @ 3.851% · last=3.006%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 — Star EW8 · 11–21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8_allt_min20_mg10_11_21_last_ps_star_ew8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bin1=2.074% · peak=ventile 7 @ 3.345% · last=2.574%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 — Star EW8 · 13–21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8_allt_min20_mg10_13_21_last_ps_star_ew8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bin1=2.063% · peak=ventile 7 @ 2.946% · last=2.152%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 — Star EW8 · 09–19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8_allt_min20_mg10_09_19_last_ps_star_ew8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bin1=1.837% · peak=ventile 7 @ 3.941% · last=3.286%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7 — Star EW10 · 09–21 · last-ps · LOO · ever · ALLT</a:t>
            </a:r>
          </a:p>
          <a:p>
            <a:pPr>
              <a:defRPr sz="1200" i="1"/>
            </a:pPr>
            <a:r>
              <a:t>Δ vs reigning lock (EW16 · 09–21): n_bins: 16 →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10_allt_min20_mg10_09_21_last_ps_star_ew1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bin1=1.311% · peak=ventile 9 @ 4.049% · last=2.933%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8 — Star EW10 · 11–21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10_allt_min20_mg10_11_21_last_ps_star_ew10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bin1=1.38% · peak=ventile 9 @ 3.452% · last=2.451%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9 — Star EW10 · 13–21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10_allt_min20_mg10_13_21_last_ps_star_ew10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bin1=1.107% · peak=ventile 2 @ 2.957% · last=2.235%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10 — Star EW10 · 09–19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10_allt_min20_mg10_09_19_last_ps_star_ew10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bin1=1.331% · peak=ventile 9 @ 4.436% · last=3.091%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11 — Star EW12 · 09–21 · last-ps · LOO · ever · ALLT</a:t>
            </a:r>
          </a:p>
          <a:p>
            <a:pPr>
              <a:defRPr sz="1200" i="1"/>
            </a:pPr>
            <a:r>
              <a:t>Δ vs reigning lock (EW16 · 09–21): n_bins: 16 →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12_allt_min20_mg10_09_21_last_ps_star_ew12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bin1=1.4% · peak=ventile 10 @ 3.817% · last=3.259%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12 — Star EW12 · 11–21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12_allt_min20_mg10_11_21_last_ps_star_ew12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bin1=1.423% · peak=ventile 10 @ 3.38% · last=2.761%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13 — Star EW12 · 13–21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12_allt_min20_mg10_13_21_last_ps_star_ew12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bin1=1.288% · peak=ventile 11 @ 2.883% · last=2.472%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14 — Star EW12 · 09–19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12_allt_min20_mg10_09_19_last_ps_star_ew12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bin1=1.232% · peak=ventile 10 @ 4.178% · last=3.426%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15 — Star EW20 · 09–21 · last-ps · LOO · ever · ALLT</a:t>
            </a:r>
          </a:p>
          <a:p>
            <a:pPr>
              <a:defRPr sz="1200" i="1"/>
            </a:pPr>
            <a:r>
              <a:t>Δ vs reigning lock (EW16 · 09–21): n_bins: 16 →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20_allt_min20_mg10_09_21_last_ps_star_ew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bin1=1.556% · peak=ventile 17 @ 4.371% · last=3.194%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16 — Star EW20 · 11–21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20_allt_min20_mg10_11_21_last_ps_star_ew20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bin1=1.535% · peak=ventile 18 @ 3.571% · last=2.55%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17 — Star EW20 · 13–21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20_allt_min20_mg10_13_21_last_ps_star_ew20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bin1=1.524% · peak=ventile 3 @ 3.333% · last=2.288%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18 — Star EW20 · 09–19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20_allt_min20_mg10_09_19_last_ps_star_ew20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bin1=1.036% · peak=ventile 17 @ 5.21% · last=3.892%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19 — Star EW24 · 09–21 · last-ps · LOO · ever · ALLT</a:t>
            </a:r>
          </a:p>
          <a:p>
            <a:pPr>
              <a:defRPr sz="1200" i="1"/>
            </a:pPr>
            <a:r>
              <a:t>Δ vs reigning lock (EW16 · 09–21): n_bins: 16 →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24_allt_min20_mg10_09_21_last_ps_star_ew24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bin1=1.467% · peak=ventile 20 @ 4.0% · last=2.997%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20 — Star EW24 · 11–21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24_allt_min20_mg10_11_21_last_ps_star_ew24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bin1=1.146% · peak=ventile 20 @ 3.433% · last=2.532%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21 — Star EW24 · 13–21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24_allt_min20_mg10_13_21_last_ps_star_ew24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bin1=1.356% · peak=ventile 21 @ 3.96% · last=2.518%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22 — Star EW24 · 09–19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24_allt_min20_mg10_09_19_last_ps_star_ew24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bin1=1.13% · peak=ventile 20 @ 5.031% · last=3.583%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5130</Words>
  <Application>Microsoft Macintosh PowerPoint</Application>
  <PresentationFormat>Widescreen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1</cp:revision>
  <dcterms:created xsi:type="dcterms:W3CDTF">2013-01-27T09:14:16Z</dcterms:created>
  <dcterms:modified xsi:type="dcterms:W3CDTF">2026-08-28T02:35:45Z</dcterms:modified>
  <cp:category/>
</cp:coreProperties>
</file>