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233" d="100"/>
          <a:sy n="233" d="100"/>
        </p:scale>
        <p:origin x="14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 — Reigning hero star sweep</a:t>
            </a:r>
          </a:p>
          <a:p>
            <a:pPr>
              <a:defRPr sz="1200" i="1"/>
            </a:pPr>
            <a:r>
              <a:t>20 run slides · 2026-08-27 · vs lock EW16 · 09_21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687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Purpose: sensitivity of named reigning hero to EW ventile count and season window.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Reigning lock (slide 12): EW16 · 2009–2021 · poolq_LOO · ever · last-ps · ALLT · equal_width · min20 · mg10 · winsor 1–99.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Varied in this sweep:</a:t>
            </a:r>
          </a:p>
          <a:p>
            <a:pPr>
              <a:defRPr sz="1400"/>
            </a:pPr>
            <a:r>
              <a:t>  • n_bins ∈ {8, 10, 12, 20, 24}  (lock EW16 not in grid — use EW12/EW20 as neighbors)</a:t>
            </a:r>
          </a:p>
          <a:p>
            <a:pPr>
              <a:defRPr sz="1400"/>
            </a:pPr>
            <a:r>
              <a:t>  • season_window ∈ {09_21, 11_21, 13_21, 09_19}</a:t>
            </a:r>
          </a:p>
          <a:p>
            <a:pPr>
              <a:defRPr sz="1400"/>
            </a:pPr>
            <a:endParaRPr/>
          </a:p>
          <a:p>
            <a:pPr>
              <a:defRPr sz="1400"/>
            </a:pPr>
            <a:r>
              <a:t>Each candidate slide explains Δ vs the lock; β₂ comparisons apply within the same era.</a:t>
            </a:r>
          </a:p>
          <a:p>
            <a:pPr>
              <a:defRPr sz="1400"/>
            </a:pPr>
            <a:r>
              <a:t>Regenerate runs: python sports/scripts/reigning_hero_star_sweep.py</a:t>
            </a:r>
          </a:p>
          <a:p>
            <a:pPr>
              <a:defRPr sz="1400"/>
            </a:pPr>
            <a:r>
              <a:t>Rebuild deck: python sports/scripts/build_reigning_hero_star_sweep_slides.py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 — Reigning hero (reference lock)</a:t>
            </a:r>
          </a:p>
          <a:p>
            <a:pPr>
              <a:defRPr sz="1200" i="1"/>
            </a:pPr>
            <a:r>
              <a:t>Slide 12 · tag `perm_loo_ever_lastps_ew16` · EW16 · 2009–2021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Named hero from 09–21 permutation deck (HAND matrix slide 12).</a:t>
            </a:r>
          </a:p>
          <a:p>
            <a:pPr>
              <a:spcAft>
                <a:spcPts val="200"/>
              </a:spcAft>
              <a:defRPr sz="1100"/>
            </a:pPr>
            <a:r>
              <a:t>• Star sweep varies only EW bin count and season window; everything else matches this lock.</a:t>
            </a:r>
          </a:p>
          <a:p>
            <a:pPr>
              <a:spcAft>
                <a:spcPts val="200"/>
              </a:spcAft>
              <a:defRPr sz="1100"/>
            </a:pPr>
            <a:r>
              <a:t>• Sweep grid omits EW16 — nearest neighbors are EW12 and EW20 at 09–21.</a:t>
            </a:r>
          </a:p>
          <a:p>
            <a:pPr>
              <a:spcAft>
                <a:spcPts val="200"/>
              </a:spcAft>
              <a:defRPr sz="1100"/>
            </a:pPr>
            <a:r>
              <a:t>• β₂ ≈ +0.00172 (flat / not concave) on 2009–2021.</a:t>
            </a:r>
          </a:p>
        </p:txBody>
      </p:sp>
      <p:pic>
        <p:nvPicPr>
          <p:cNvPr id="4" name="Picture 3" descr="HERO_ew16_allt_min20_mg10_09_21_last_ps_perm_loo_ever_lastps_ew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79227"/>
            <a:ext cx="11368735" cy="4281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EC654C-7219-822C-665F-5026A1B98428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16E80-D73C-B95C-14AF-03FF251A931E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3 — Star EW8 · 09–21 · last-ps · LOO · ever · ALLT</a:t>
            </a:r>
          </a:p>
          <a:p>
            <a:pPr>
              <a:defRPr sz="1200" i="1"/>
            </a:pPr>
            <a:r>
              <a:t>Δ vs reigning lock (EW16 · 09–21): n_bins: 16 →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8_allt_min20_mg10_09_21_last_ps_star_ew8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bin1=1.87% · peak=ventile 7 @ 3.851% · last=3.006%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FC0F2C-122B-4744-46A6-B004427BC622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809F5-8DAF-AA09-4A47-6159B002203A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4 — Star EW8 · 11–21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8_allt_min20_mg10_11_21_last_ps_star_ew8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bin1=2.074% · peak=ventile 7 @ 3.345% · last=2.574%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F72D4-9EA3-1249-64FD-0DBC9859369C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E0515-681A-6FA8-1969-148D4C179670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11_21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5 — Star EW8 · 13–21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8_allt_min20_mg10_13_21_last_ps_star_ew8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bin1=2.063% · peak=ventile 7 @ 2.946% · last=2.152%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CF588-ABCD-3712-CA26-5909E869404E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04D043-A6D9-4A4C-D747-38550217997B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13_21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6 — Star EW8 · 09–19 · last-ps · LOO · ever · ALLT</a:t>
            </a:r>
          </a:p>
          <a:p>
            <a:pPr>
              <a:defRPr sz="1200" i="1"/>
            </a:pPr>
            <a:r>
              <a:t>Δ vs reigning lock (EW16 · 09–21): n_bins: 16 → 8;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8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8_allt_min20_mg10_09_19_last_ps_star_ew8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572" y="1490472"/>
            <a:ext cx="8542551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8 \</a:t>
            </a:r>
            <a:br/>
            <a:r>
              <a:t>  --poolq-binning equal_width \</a:t>
            </a:r>
            <a:br/>
            <a:r>
              <a:t>  --output-tag star_ew8_09_19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bin1=1.837% · peak=ventile 7 @ 3.941% · last=3.286%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66FE6A-FB90-E1D1-060D-861796431318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4517B-C48D-DF28-321B-766100D0038D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7 — Star EW10 · 09–21 · last-ps · LOO · ever · ALLT</a:t>
            </a:r>
          </a:p>
          <a:p>
            <a:pPr>
              <a:defRPr sz="1200" i="1"/>
            </a:pPr>
            <a:r>
              <a:t>Δ vs reigning lock (EW16 · 09–21): n_bins: 16 →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10_allt_min20_mg10_09_21_last_ps_star_ew1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bin1=1.311% · peak=ventile 9 @ 4.049% · last=2.933%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A8701-D3F1-EB9A-27A3-3EF4B91B05F6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34D496-41CA-B337-8E6B-D36861A75929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8 — Star EW10 · 11–21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10_allt_min20_mg10_11_21_last_ps_star_ew10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bin1=1.38% · peak=ventile 9 @ 3.452% · last=2.451%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16E02-9C22-2F02-EE88-EB97F5CF5604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B9359-EF1D-384C-8F88-D3FDA7C2A417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11_21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9 — Star EW10 · 13–21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10_allt_min20_mg10_13_21_last_ps_star_ew10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bin1=1.107% · peak=ventile 2 @ 2.957% · last=2.235%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8E4DE-345D-9EBA-BED5-DB3B117598FD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93F77-7120-8891-7846-08F7B1AD32F6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13_21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10 — Star EW10 · 09–19 · last-ps · LOO · ever · ALLT</a:t>
            </a:r>
          </a:p>
          <a:p>
            <a:pPr>
              <a:defRPr sz="1200" i="1"/>
            </a:pPr>
            <a:r>
              <a:t>Δ vs reigning lock (EW16 · 09–21): n_bins: 16 → 10;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10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10_allt_min20_mg10_09_19_last_ps_star_ew10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10 \</a:t>
            </a:r>
            <a:br/>
            <a:r>
              <a:t>  --poolq-binning equal_width \</a:t>
            </a:r>
            <a:br/>
            <a:r>
              <a:t>  --output-tag star_ew10_09_19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bin1=1.331% · peak=ventile 9 @ 4.436% · last=3.091%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C2C218-0131-671B-BA2C-AED12BC79663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BF566-C88F-6382-7759-CC2AA3F0F344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11 — Star EW12 · 09–21 · last-ps · LOO · ever · ALLT</a:t>
            </a:r>
          </a:p>
          <a:p>
            <a:pPr>
              <a:defRPr sz="1200" i="1"/>
            </a:pPr>
            <a:r>
              <a:t>Δ vs reigning lock (EW16 · 09–21): n_bins: 16 →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12_allt_min20_mg10_09_21_last_ps_star_ew12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bin1=1.4% · peak=ventile 10 @ 3.817% · last=3.259%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A0EEA-0DE9-33D4-48FC-E08EFB33B794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57DE2E-A1F8-4DFB-B147-442A8124DCF3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12 — Star EW12 · 11–21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12_allt_min20_mg10_11_21_last_ps_star_ew12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bin1=1.423% · peak=ventile 10 @ 3.38% · last=2.761%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22C75E-60D0-AD32-F412-E9496E478F8C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66A4A-DBA1-7445-5195-EEAAC9A004F7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11_21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13 — Star EW12 · 13–21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12_allt_min20_mg10_13_21_last_ps_star_ew12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bin1=1.288% · peak=ventile 11 @ 2.883% · last=2.472%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36B04-10FF-7BE1-7D31-050C0D5D459A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47DA7F-5B60-FC7D-58D1-1BB6A32880EB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13_21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14 — Star EW12 · 09–19 · last-ps · LOO · ever · ALLT</a:t>
            </a:r>
          </a:p>
          <a:p>
            <a:pPr>
              <a:defRPr sz="1200" i="1"/>
            </a:pPr>
            <a:r>
              <a:t>Δ vs reigning lock (EW16 · 09–21): n_bins: 16 → 12;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12 (coarser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12_allt_min20_mg10_09_19_last_ps_star_ew12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12 \</a:t>
            </a:r>
            <a:br/>
            <a:r>
              <a:t>  --poolq-binning equal_width \</a:t>
            </a:r>
            <a:br/>
            <a:r>
              <a:t>  --output-tag star_ew12_09_19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bin1=1.232% · peak=ventile 10 @ 4.178% · last=3.426%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F3FD8-7330-1397-FC23-1AFEF870BD51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1C332A-ACDF-8723-878B-CC5477E61902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15 — Star EW20 · 09–21 · last-ps · LOO · ever · ALLT</a:t>
            </a:r>
          </a:p>
          <a:p>
            <a:pPr>
              <a:defRPr sz="1200" i="1"/>
            </a:pPr>
            <a:r>
              <a:t>Δ vs reigning lock (EW16 · 09–21): n_bins: 16 →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20_allt_min20_mg10_09_21_last_ps_star_ew20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bin1=1.556% · peak=ventile 17 @ 4.371% · last=3.194%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01038-E6D1-C6DA-A6F0-530D1CCB7E46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A21629-F855-2EB7-6BAD-29A9BEB80243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16 — Star EW20 · 11–21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20_allt_min20_mg10_11_21_last_ps_star_ew20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bin1=1.535% · peak=ventile 18 @ 3.571% · last=2.55%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34AA78-425A-F4FA-10E4-E57BE6753F9F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83337-89B5-E3E6-1DF0-2C310DF7ED60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11_21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17 — Star EW20 · 13–21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20_allt_min20_mg10_13_21_last_ps_star_ew20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20 \</a:t>
            </a:r>
            <a:br/>
            <a:r>
              <a:t>  --poolq-binning equal_width \</a:t>
            </a:r>
            <a:br/>
            <a:r>
              <a:t>  --output-tag star_ew20_13_21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bin1=1.524% · peak=ventile 3 @ 3.333% · last=2.288%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2772CF-DDD9-4369-E306-FAF132E5AFA6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F87C9-EB8D-CE47-D7FC-2E50FC76F4FC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13_21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18 — Star EW20 · 09–19 · last-ps · LOO · ever · ALLT</a:t>
            </a:r>
          </a:p>
          <a:p>
            <a:pPr>
              <a:defRPr sz="1200" i="1"/>
            </a:pPr>
            <a:r>
              <a:t>Δ vs reigning lock (EW16 · 09–21): n_bins: 16 → 20;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20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20_allt_min20_mg10_09_19_last_ps_star_ew20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rPr dirty="0"/>
              <a:t>python sports/scripts/</a:t>
            </a:r>
            <a:r>
              <a:rPr dirty="0" err="1"/>
              <a:t>pass_a_empirical_bundle.py</a:t>
            </a:r>
            <a:r>
              <a:rPr dirty="0"/>
              <a:t> \</a:t>
            </a:r>
            <a:br>
              <a:rPr dirty="0"/>
            </a:br>
            <a:r>
              <a:rPr dirty="0"/>
              <a:t>  --season-min 2009 \</a:t>
            </a:r>
            <a:br>
              <a:rPr dirty="0"/>
            </a:br>
            <a:r>
              <a:rPr dirty="0"/>
              <a:t>  --season-max 2019 \</a:t>
            </a:r>
            <a:br>
              <a:rPr dirty="0"/>
            </a:br>
            <a:r>
              <a:rPr dirty="0"/>
              <a:t>  --y-draft-mode ever \</a:t>
            </a:r>
            <a:br>
              <a:rPr dirty="0"/>
            </a:br>
            <a:r>
              <a:rPr dirty="0"/>
              <a:t>  --panel-rows last-</a:t>
            </a:r>
            <a:r>
              <a:rPr dirty="0" err="1"/>
              <a:t>ps</a:t>
            </a:r>
            <a:r>
              <a:rPr dirty="0"/>
              <a:t> \</a:t>
            </a:r>
            <a:br>
              <a:rPr dirty="0"/>
            </a:br>
            <a:r>
              <a:rPr dirty="0"/>
              <a:t>  --roster-x poolq_loo \</a:t>
            </a:r>
            <a:br>
              <a:rPr dirty="0"/>
            </a:br>
            <a:r>
              <a:rPr dirty="0"/>
              <a:t>  --n-bins 20 \</a:t>
            </a:r>
            <a:br>
              <a:rPr dirty="0"/>
            </a:br>
            <a:r>
              <a:rPr dirty="0"/>
              <a:t>  --poolq-binning </a:t>
            </a:r>
            <a:r>
              <a:rPr dirty="0" err="1"/>
              <a:t>equal_width</a:t>
            </a:r>
            <a:r>
              <a:rPr dirty="0"/>
              <a:t> \</a:t>
            </a:r>
            <a:br>
              <a:rPr dirty="0"/>
            </a:br>
            <a:r>
              <a:rPr dirty="0"/>
              <a:t>  --output-tag star_ew20_09_19 \</a:t>
            </a:r>
            <a:br>
              <a:rPr dirty="0"/>
            </a:br>
            <a:r>
              <a:rPr dirty="0"/>
              <a:t>  --output-root 3-Master_Plan/</a:t>
            </a:r>
            <a:r>
              <a:rPr dirty="0" err="1"/>
              <a:t>re_entry</a:t>
            </a:r>
            <a:r>
              <a:rPr dirty="0"/>
              <a:t>/</a:t>
            </a:r>
            <a:r>
              <a:rPr dirty="0" err="1"/>
              <a:t>HEROs_and_PASSes</a:t>
            </a:r>
            <a:r>
              <a:rPr dirty="0"/>
              <a:t>/</a:t>
            </a:r>
            <a:r>
              <a:rPr dirty="0" err="1"/>
              <a:t>population_sandbox</a:t>
            </a:r>
            <a:r>
              <a:rPr dirty="0"/>
              <a:t>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bin1=1.036% · peak=ventile 17 @ 5.21% · last=3.892%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A0145-E4CF-E7D2-5C7D-349D55FC070F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5BFEF-538E-068E-3904-F89B87535740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19 — Star EW24 · 09–21 · last-ps · LOO · ever · ALLT</a:t>
            </a:r>
          </a:p>
          <a:p>
            <a:pPr>
              <a:defRPr sz="1200" i="1"/>
            </a:pPr>
            <a:r>
              <a:t>Δ vs reigning lock (EW16 · 09–21): n_bins: 16 →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Same season window as reigning lock (2009–2021).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+0.00172 — matches lock (+0.00172); bin count is a display choice only.</a:t>
            </a:r>
          </a:p>
        </p:txBody>
      </p:sp>
      <p:pic>
        <p:nvPicPr>
          <p:cNvPr id="4" name="Picture 3" descr="HERO_ew24_allt_min20_mg10_09_21_last_ps_star_ew24_09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star_ew24_09_21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bin1=1.467% · peak=ventile 20 @ 4.0% · last=2.997% · LPM β₂=+0.00172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FD4F1-0DF6-5550-E302-626F4F99AE01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95EED-814D-C771-8990-E53430CC63E7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20 — Star EW24 · 11–21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11_21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2009–10 vs lock — full ESPN panel start (2011–21).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-0.00909 — era shift vs lock; concave/negative β₂ common off 09–21.</a:t>
            </a:r>
          </a:p>
        </p:txBody>
      </p:sp>
      <p:pic>
        <p:nvPicPr>
          <p:cNvPr id="4" name="Picture 3" descr="HERO_ew24_allt_min20_mg10_11_21_last_ps_star_ew24_11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2011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star_ew24_11_21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bin1=1.146% · peak=ventile 20 @ 3.433% · last=2.532% · LPM β₂=-0.00909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E2320-4723-8F69-4C44-A3B3515C210A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A5245-813D-9447-4D8F-434907A7F624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2">
                    <a:lumMod val="5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11_21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21 — Star EW24 · 13–21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13_21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2009–12 vs lock — primary campaign window (2013–21).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-0.012825 — era shift vs lock; concave/negative β₂ common off 09–21.</a:t>
            </a:r>
          </a:p>
        </p:txBody>
      </p:sp>
      <p:pic>
        <p:nvPicPr>
          <p:cNvPr id="4" name="Picture 3" descr="HERO_ew24_allt_min20_mg10_13_21_last_ps_star_ew24_13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236" y="1490472"/>
            <a:ext cx="8595223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2013 \</a:t>
            </a:r>
            <a:br/>
            <a:r>
              <a:t>  --season-max 2021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star_ew24_13_21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bin1=1.356% · peak=ventile 21 @ 3.96% · last=2.518% · LPM β₂=-0.01282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1F3CE-8629-9A87-ABA9-7B494ED14B03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8089D-E6A0-B6E7-4334-7471D0987FC5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3">
                    <a:lumMod val="7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13_21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Slide 22 — Star EW24 · 09–19 · last-ps · LOO · ever · ALLT</a:t>
            </a:r>
          </a:p>
          <a:p>
            <a:pPr>
              <a:defRPr sz="1200" i="1"/>
            </a:pPr>
            <a:r>
              <a:t>Δ vs reigning lock (EW16 · 09–21): n_bins: 16 → 24; season_window: 09_21 → 09_19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87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/>
            </a:pPr>
            <a:r>
              <a:t>• EW ventiles: 16 → 24 (finer equal-width bins on poolq_LOO). Bar heights and ventile labels change; LPM fits continuous poolq_LOO so β₂ should match lock within the same season window.</a:t>
            </a:r>
          </a:p>
          <a:p>
            <a:pPr>
              <a:spcAft>
                <a:spcPts val="200"/>
              </a:spcAft>
              <a:defRPr sz="1100"/>
            </a:pPr>
            <a:r>
              <a:t>• Drops 2020–21 vs lock — pre-COVID end state (2009–19).</a:t>
            </a:r>
          </a:p>
          <a:p>
            <a:pPr>
              <a:spcAft>
                <a:spcPts val="200"/>
              </a:spcAft>
              <a:defRPr sz="1100"/>
            </a:pPr>
            <a:r>
              <a:t>• LPM β₂ = +0.001749 — era shift vs lock; concave/negative β₂ common off 09–21.</a:t>
            </a:r>
          </a:p>
        </p:txBody>
      </p:sp>
      <p:pic>
        <p:nvPicPr>
          <p:cNvPr id="4" name="Picture 3" descr="HERO_ew24_allt_min20_mg10_09_19_last_ps_star_ew24_09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629" y="1490472"/>
            <a:ext cx="8590436" cy="32369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00600"/>
            <a:ext cx="11368735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>
                <a:latin typeface="Menlo"/>
              </a:defRPr>
            </a:pPr>
            <a:r>
              <a:t>python sports/scripts/pass_a_empirical_bundle.py \</a:t>
            </a:r>
            <a:br/>
            <a:r>
              <a:t>  --season-min 2009 \</a:t>
            </a:r>
            <a:br/>
            <a:r>
              <a:t>  --season-max 2019 \</a:t>
            </a:r>
            <a:br/>
            <a:r>
              <a:t>  --y-draft-mode ever \</a:t>
            </a:r>
            <a:br/>
            <a:r>
              <a:t>  --panel-rows last-ps \</a:t>
            </a:r>
            <a:br/>
            <a:r>
              <a:t>  --roster-x poolq_loo \</a:t>
            </a:r>
            <a:br/>
            <a:r>
              <a:t>  --n-bins 24 \</a:t>
            </a:r>
            <a:br/>
            <a:r>
              <a:t>  --poolq-binning equal_width \</a:t>
            </a:r>
            <a:br/>
            <a:r>
              <a:t>  --output-tag star_ew24_09_19 \</a:t>
            </a:r>
            <a:br/>
            <a:r>
              <a:t>  --output-root 3-Master_Plan/re_entry/HEROs_and_PASSes/population_sandbox/hero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71616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Shape: bin1=1.13% · peak=ventile 20 @ 5.031% · last=3.583% · LPM β₂=+0.001749</a:t>
            </a:r>
          </a:p>
          <a:p>
            <a:pPr>
              <a:defRPr sz="900" i="1"/>
            </a:pPr>
            <a:r>
              <a:t>Held vs lock: poolq_loo · y-draft-mode ever · panel-rows last-ps · ALLT ·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6E42E-D35A-C8A3-B9E9-2D424B2BB28B}"/>
              </a:ext>
            </a:extLst>
          </p:cNvPr>
          <p:cNvSpPr txBox="1"/>
          <p:nvPr/>
        </p:nvSpPr>
        <p:spPr>
          <a:xfrm>
            <a:off x="11000177" y="5940863"/>
            <a:ext cx="9801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7030A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11268-D3AD-B05A-B3F4-24395397D755}"/>
              </a:ext>
            </a:extLst>
          </p:cNvPr>
          <p:cNvSpPr txBox="1"/>
          <p:nvPr/>
        </p:nvSpPr>
        <p:spPr>
          <a:xfrm>
            <a:off x="9691331" y="67907"/>
            <a:ext cx="2088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09_19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5172</Words>
  <Application>Microsoft Macintosh PowerPoint</Application>
  <PresentationFormat>Widescreen</PresentationFormat>
  <Paragraphs>221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Futura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3</cp:revision>
  <dcterms:created xsi:type="dcterms:W3CDTF">2013-01-27T09:14:16Z</dcterms:created>
  <dcterms:modified xsi:type="dcterms:W3CDTF">2026-08-28T14:26:07Z</dcterms:modified>
  <cp:category/>
</cp:coreProperties>
</file>