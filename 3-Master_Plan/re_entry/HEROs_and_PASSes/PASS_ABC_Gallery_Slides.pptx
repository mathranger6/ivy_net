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A — Empirical MBB: Roster Pressure in the Data</a:t>
            </a:r>
          </a:p>
        </p:txBody>
      </p:sp>
      <p:pic>
        <p:nvPicPr>
          <p:cNvPr id="3" name="Picture 2" descr="PASS_A_empirical_talent_vs_roster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79" y="841248"/>
            <a:ext cx="9735337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Real NCAA panel (2011–2021): mean NBA draft rate by ventile.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talent alone: ability (ppm </a:t>
            </a:r>
            <a:r>
              <a:rPr sz="1100" i="1">
                <a:latin typeface="Cambria Math"/>
              </a:rPr>
              <a:t>z</a:t>
            </a:r>
            <a:r>
              <a:rPr sz="1100"/>
              <a:t> within season). Monotone up.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roster context: leave-one-out teammate quality (</a:t>
            </a:r>
            <a:r>
              <a:rPr sz="1100" i="1">
                <a:latin typeface="Cambria Math"/>
              </a:rPr>
              <a:t>poolq\</a:t>
            </a:r>
            <a:r>
              <a:rPr sz="1100" i="1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). Inverted-U.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No </a:t>
            </a:r>
            <a:r>
              <a:rPr sz="1100" i="1">
                <a:latin typeface="Cambria Math"/>
              </a:rPr>
              <a:t>λ</a:t>
            </a:r>
            <a:r>
              <a:rPr sz="1100"/>
              <a:t> in the empirical story — stylized fact Pass B/C echo.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Pipeline: VISUALIZE only (bin real </a:t>
            </a:r>
            <a:r>
              <a:rPr sz="1100" i="1">
                <a:latin typeface="Cambria Math"/>
              </a:rPr>
              <a:t>Y</a:t>
            </a:r>
            <a:r>
              <a:rPr sz="1100" i="1">
                <a:latin typeface="Cambria Math"/>
              </a:rPr>
              <a:t>draft</a:t>
            </a:r>
            <a:r>
              <a:rPr sz="1100"/>
              <a:t> on ability | </a:t>
            </a:r>
            <a:r>
              <a:rPr sz="1100" i="1">
                <a:latin typeface="Cambria Math"/>
              </a:rPr>
              <a:t>poolq\</a:t>
            </a:r>
            <a:r>
              <a:rPr sz="1100" i="1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Assign </a:t>
            </a:r>
            <a:r>
              <a:rPr sz="1000" i="1">
                <a:latin typeface="Cambria Math"/>
              </a:rPr>
              <a:t>→</a:t>
            </a:r>
            <a:r>
              <a:rPr sz="1000"/>
              <a:t> Score </a:t>
            </a:r>
            <a:r>
              <a:rPr sz="1000" i="1">
                <a:latin typeface="Cambria Math"/>
              </a:rPr>
              <a:t>→</a:t>
            </a:r>
            <a:r>
              <a:rPr sz="1000"/>
              <a:t> Select in the real world; we read outcomes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B — Generative: Congestion in Score Bends the Curve</a:t>
            </a:r>
          </a:p>
        </p:txBody>
      </p:sp>
      <p:pic>
        <p:nvPicPr>
          <p:cNvPr id="3" name="Picture 2" descr="PASS_B_generative_lambda_knockout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79" y="841248"/>
            <a:ext cx="9735337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Synthetic league: ASSIGN </a:t>
            </a:r>
            <a:r>
              <a:rPr sz="1100" i="1">
                <a:latin typeface="Cambria Math"/>
              </a:rPr>
              <a:t>→</a:t>
            </a:r>
            <a:r>
              <a:rPr sz="1100"/>
              <a:t> SCORE </a:t>
            </a:r>
            <a:r>
              <a:rPr sz="1100" i="1">
                <a:latin typeface="Cambria Math"/>
              </a:rPr>
              <a:t>→</a:t>
            </a:r>
            <a:r>
              <a:rPr sz="1100"/>
              <a:t> SELECT </a:t>
            </a:r>
            <a:r>
              <a:rPr sz="1100" i="1">
                <a:latin typeface="Cambria Math"/>
              </a:rPr>
              <a:t>→</a:t>
            </a:r>
            <a:r>
              <a:rPr sz="1100"/>
              <a:t> VISUALIZE (</a:t>
            </a:r>
            <a:r>
              <a:rPr sz="1100" i="1">
                <a:latin typeface="Cambria Math"/>
              </a:rPr>
              <a:t>539</a:t>
            </a:r>
            <a:r>
              <a:rPr sz="1100"/>
              <a:t> preset).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Left — </a:t>
            </a:r>
            <a:r>
              <a:rPr sz="1100" i="1">
                <a:latin typeface="Cambria Math"/>
              </a:rPr>
              <a:t>λ =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1100" i="1">
                <a:latin typeface="Cambria Math"/>
              </a:rPr>
              <a:t>i</a:t>
            </a:r>
            <a:r>
              <a:rPr sz="1100"/>
              <a:t> only (talent-only ranking). Roughly monotone.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Right — </a:t>
            </a:r>
            <a:r>
              <a:rPr sz="1100" i="1">
                <a:latin typeface="Cambria Math"/>
              </a:rPr>
              <a:t>λ &gt; 0</a:t>
            </a:r>
            <a:r>
              <a:rPr sz="1100"/>
              <a:t>: score </a:t>
            </a:r>
            <a:r>
              <a:rPr sz="1100" i="1">
                <a:latin typeface="Cambria Math"/>
              </a:rPr>
              <a:t>S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- w\,L</a:t>
            </a:r>
            <a:r>
              <a:rPr sz="1100" i="1">
                <a:latin typeface="Cambria Math"/>
              </a:rPr>
              <a:t>C</a:t>
            </a:r>
            <a:r>
              <a:rPr sz="1100"/>
              <a:t> (viable-peer congestion in SCORE).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 (team ability, includes self) — not </a:t>
            </a:r>
            <a:r>
              <a:rPr sz="1100" i="1">
                <a:latin typeface="Cambria Math"/>
              </a:rPr>
              <a:t>poolq\</a:t>
            </a:r>
            <a:r>
              <a:rPr sz="1100" i="1">
                <a:latin typeface="Cambria Math"/>
              </a:rPr>
              <a:t>l</a:t>
            </a:r>
            <a:r>
              <a:rPr sz="1100" i="1">
                <a:latin typeface="Cambria Math"/>
              </a:rPr>
              <a:t>oo</a:t>
            </a:r>
            <a:r>
              <a:rPr sz="110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Claim: roster pressure in the advancement rule bends the curve (qualitative POC).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B knob: </a:t>
            </a:r>
            <a:r>
              <a:rPr sz="1000" i="1">
                <a:latin typeface="Cambria Math"/>
              </a:rPr>
              <a:t>λ</a:t>
            </a:r>
            <a:r>
              <a:rPr sz="1000"/>
              <a:t> / </a:t>
            </a:r>
            <a:r>
              <a:rPr sz="1000" i="1">
                <a:latin typeface="Cambria Math"/>
              </a:rPr>
              <a:t>w</a:t>
            </a:r>
            <a:r>
              <a:rPr sz="1000"/>
              <a:t> in SCORE. Does not vary assignment </a:t>
            </a:r>
            <a:r>
              <a:rPr sz="1000" i="1">
                <a:latin typeface="Cambria Math"/>
              </a:rPr>
              <a:t>ρ</a:t>
            </a:r>
            <a:r>
              <a:rPr sz="100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/>
            </a:pPr>
            <a:r>
              <a:rPr sz="2200"/>
              <a:t>Pass C — Generative: Assortativity Shapes the Sorted World</a:t>
            </a:r>
          </a:p>
        </p:txBody>
      </p:sp>
      <p:pic>
        <p:nvPicPr>
          <p:cNvPr id="3" name="Picture 2" descr="PASS_C_rho_ablation_selection_by_pool_m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117" y="841248"/>
            <a:ext cx="5991460" cy="3794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Same </a:t>
            </a:r>
            <a:r>
              <a:rPr sz="1100" i="1">
                <a:latin typeface="Cambria Math"/>
              </a:rPr>
              <a:t>539</a:t>
            </a:r>
            <a:r>
              <a:rPr sz="1100"/>
              <a:t> score as Pass B right arm — </a:t>
            </a:r>
            <a:r>
              <a:rPr sz="1100" i="1">
                <a:latin typeface="Cambria Math"/>
              </a:rPr>
              <a:t>S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= A</a:t>
            </a:r>
            <a:r>
              <a:rPr sz="1100" i="1">
                <a:latin typeface="Cambria Math"/>
              </a:rPr>
              <a:t>i</a:t>
            </a:r>
            <a:r>
              <a:rPr sz="1100" i="1">
                <a:latin typeface="Cambria Math"/>
              </a:rPr>
              <a:t> - w\,L</a:t>
            </a:r>
            <a:r>
              <a:rPr sz="1100" i="1">
                <a:latin typeface="Cambria Math"/>
              </a:rPr>
              <a:t>C</a:t>
            </a:r>
            <a:r>
              <a:rPr sz="1100"/>
              <a:t> held fixed.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One draw of talent; only ASSIGN changes (soft </a:t>
            </a:r>
            <a:r>
              <a:rPr sz="1100" i="1">
                <a:latin typeface="Cambria Math"/>
              </a:rPr>
              <a:t>ρ</a:t>
            </a:r>
            <a:r>
              <a:rPr sz="1100"/>
              <a:t> ladder + sort-and-chop).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i="1">
                <a:latin typeface="Cambria Math"/>
              </a:rPr>
              <a:t>ρ</a:t>
            </a:r>
            <a:r>
              <a:rPr sz="1100"/>
              <a:t> controls how sharply players match team targets — roster sorting.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4764025"/>
            <a:ext cx="5570067" cy="1335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VISUALIZE on pool mean: assortativity moves the inverted-U readout.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/>
              <a:t>Story: </a:t>
            </a:r>
            <a:r>
              <a:rPr sz="1100" i="1">
                <a:latin typeface="Cambria Math"/>
              </a:rPr>
              <a:t>λ</a:t>
            </a:r>
            <a:r>
              <a:rPr sz="1100"/>
              <a:t> puts roster pressure in score; </a:t>
            </a:r>
            <a:r>
              <a:rPr sz="1100" i="1">
                <a:latin typeface="Cambria Math"/>
              </a:rPr>
              <a:t>ρ</a:t>
            </a:r>
            <a:r>
              <a:rPr sz="1100"/>
              <a:t> delivers pressured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99048"/>
            <a:ext cx="113687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000"/>
              <a:t>Pass C knob: </a:t>
            </a:r>
            <a:r>
              <a:rPr sz="1000" i="1">
                <a:latin typeface="Cambria Math"/>
              </a:rPr>
              <a:t>ρ</a:t>
            </a:r>
            <a:r>
              <a:rPr sz="1000"/>
              <a:t> in ASSIGN. Score + top-</a:t>
            </a:r>
            <a:r>
              <a:rPr sz="1000" i="1">
                <a:latin typeface="Cambria Math"/>
              </a:rPr>
              <a:t>K</a:t>
            </a:r>
            <a:r>
              <a:rPr sz="1000"/>
              <a:t> fixed across arms.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