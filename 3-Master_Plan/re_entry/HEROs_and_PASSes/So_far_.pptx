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A — Empirical MBB: Roster Pressure in the Data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79" y="841248"/>
            <a:ext cx="9735337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Real NCAA panel (2011–2021): mean NBA draft rate by ventile.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talent alone: ability (ppm </a:t>
            </a:r>
            <a:r>
              <a:rPr sz="1100" i="1">
                <a:latin typeface="Cambria Math"/>
              </a:rPr>
              <a:t>z</a:t>
            </a:r>
            <a:r>
              <a:rPr sz="1100"/>
              <a:t> within season). Monotone up.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roster context: leave-one-out teammate quality (</a:t>
            </a:r>
            <a:r>
              <a:rPr sz="1100" i="1">
                <a:latin typeface="Cambria Math"/>
              </a:rPr>
              <a:t>poolq\</a:t>
            </a:r>
            <a:r>
              <a:rPr sz="1100" i="1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 Inverted-U.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No </a:t>
            </a:r>
            <a:r>
              <a:rPr sz="1100" i="1">
                <a:latin typeface="Cambria Math"/>
              </a:rPr>
              <a:t>λ</a:t>
            </a:r>
            <a:r>
              <a:rPr sz="1100"/>
              <a:t> in the empirical story — stylized fact Pass B/C echo.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Pipeline: VISUALIZE only (bin real </a:t>
            </a:r>
            <a:r>
              <a:rPr sz="1100" i="1">
                <a:latin typeface="Cambria Math"/>
              </a:rPr>
              <a:t>Y</a:t>
            </a:r>
            <a:r>
              <a:rPr sz="1100" i="1">
                <a:latin typeface="Cambria Math"/>
              </a:rPr>
              <a:t>draft</a:t>
            </a:r>
            <a:r>
              <a:rPr sz="1100"/>
              <a:t> on ability | </a:t>
            </a:r>
            <a:r>
              <a:rPr sz="1100" i="1">
                <a:latin typeface="Cambria Math"/>
              </a:rPr>
              <a:t>poolq\</a:t>
            </a:r>
            <a:r>
              <a:rPr sz="1100" i="1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Assign </a:t>
            </a:r>
            <a:r>
              <a:rPr sz="1000" i="1">
                <a:latin typeface="Cambria Math"/>
              </a:rPr>
              <a:t>→</a:t>
            </a:r>
            <a:r>
              <a:rPr sz="1000"/>
              <a:t> Score </a:t>
            </a:r>
            <a:r>
              <a:rPr sz="1000" i="1">
                <a:latin typeface="Cambria Math"/>
              </a:rPr>
              <a:t>→</a:t>
            </a:r>
            <a:r>
              <a:rPr sz="1000"/>
              <a:t> Select in the real world; we read outcomes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B — Generative: Congestion in Score Bends the Curve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79" y="841248"/>
            <a:ext cx="9735337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Synthetic league: ASSIGN </a:t>
            </a:r>
            <a:r>
              <a:rPr sz="1100" i="1">
                <a:latin typeface="Cambria Math"/>
              </a:rPr>
              <a:t>→</a:t>
            </a:r>
            <a:r>
              <a:rPr sz="1100"/>
              <a:t> SCORE </a:t>
            </a:r>
            <a:r>
              <a:rPr sz="1100" i="1">
                <a:latin typeface="Cambria Math"/>
              </a:rPr>
              <a:t>→</a:t>
            </a:r>
            <a:r>
              <a:rPr sz="1100"/>
              <a:t> SELECT </a:t>
            </a:r>
            <a:r>
              <a:rPr sz="1100" i="1">
                <a:latin typeface="Cambria Math"/>
              </a:rPr>
              <a:t>→</a:t>
            </a:r>
            <a:r>
              <a:rPr sz="1100"/>
              <a:t> VISUALIZE (</a:t>
            </a:r>
            <a:r>
              <a:rPr sz="1100" i="1">
                <a:latin typeface="Cambria Math"/>
              </a:rPr>
              <a:t>539</a:t>
            </a:r>
            <a:r>
              <a:rPr sz="1100"/>
              <a:t> preset).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</a:t>
            </a:r>
            <a:r>
              <a:rPr sz="1100" i="1">
                <a:latin typeface="Cambria Math"/>
              </a:rPr>
              <a:t>λ =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1100" i="1">
                <a:latin typeface="Cambria Math"/>
              </a:rPr>
              <a:t>i</a:t>
            </a:r>
            <a:r>
              <a:rPr sz="1100"/>
              <a:t> only (talent-only ranking).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</a:t>
            </a:r>
            <a:r>
              <a:rPr sz="1100" i="1">
                <a:latin typeface="Cambria Math"/>
              </a:rPr>
              <a:t>λ &gt;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- w\,L</a:t>
            </a:r>
            <a:r>
              <a:rPr sz="1100" i="1">
                <a:latin typeface="Cambria Math"/>
              </a:rPr>
              <a:t>C</a:t>
            </a:r>
            <a:r>
              <a:rPr sz="1100"/>
              <a:t> (viable-peer congestion in SCORE).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 (team ability, includes self) — not </a:t>
            </a:r>
            <a:r>
              <a:rPr sz="1100" i="1">
                <a:latin typeface="Cambria Math"/>
              </a:rPr>
              <a:t>poolq\</a:t>
            </a:r>
            <a:r>
              <a:rPr sz="1100" i="1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Claim: roster pressure in the advancement rule bends the curve (qualitative POC).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B knob: </a:t>
            </a:r>
            <a:r>
              <a:rPr sz="1000" i="1">
                <a:latin typeface="Cambria Math"/>
              </a:rPr>
              <a:t>λ</a:t>
            </a:r>
            <a:r>
              <a:rPr sz="1000"/>
              <a:t> / </a:t>
            </a:r>
            <a:r>
              <a:rPr sz="1000" i="1">
                <a:latin typeface="Cambria Math"/>
              </a:rPr>
              <a:t>w</a:t>
            </a:r>
            <a:r>
              <a:rPr sz="1000"/>
              <a:t> in SCORE. Does not vary assignment </a:t>
            </a:r>
            <a:r>
              <a:rPr sz="1000" i="1">
                <a:latin typeface="Cambria Math"/>
              </a:rPr>
              <a:t>ρ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C — Generative: Assortativity Shapes the Sorted World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117" y="841248"/>
            <a:ext cx="5991460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Same </a:t>
            </a:r>
            <a:r>
              <a:rPr sz="1100" i="1">
                <a:latin typeface="Cambria Math"/>
              </a:rPr>
              <a:t>539</a:t>
            </a:r>
            <a:r>
              <a:rPr sz="1100"/>
              <a:t> score as Pass B right arm — </a:t>
            </a:r>
            <a:r>
              <a:rPr sz="1100" i="1">
                <a:latin typeface="Cambria Math"/>
              </a:rPr>
              <a:t>S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- w\,L</a:t>
            </a:r>
            <a:r>
              <a:rPr sz="1100" i="1">
                <a:latin typeface="Cambria Math"/>
              </a:rPr>
              <a:t>C</a:t>
            </a:r>
            <a:r>
              <a:rPr sz="1100"/>
              <a:t> held fixed.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One draw of talent; only ASSIGN changes (soft </a:t>
            </a:r>
            <a:r>
              <a:rPr sz="1100" i="1">
                <a:latin typeface="Cambria Math"/>
              </a:rPr>
              <a:t>ρ</a:t>
            </a:r>
            <a:r>
              <a:rPr sz="1100"/>
              <a:t> ladder + sort-and-chop).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i="1">
                <a:latin typeface="Cambria Math"/>
              </a:rPr>
              <a:t>ρ</a:t>
            </a:r>
            <a:r>
              <a:rPr sz="1100"/>
              <a:t> controls how sharply players match team targets — roster sorting.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mean: assortativity moves the inverted-U readout.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Story: </a:t>
            </a:r>
            <a:r>
              <a:rPr sz="1100" i="1">
                <a:latin typeface="Cambria Math"/>
              </a:rPr>
              <a:t>λ</a:t>
            </a:r>
            <a:r>
              <a:rPr sz="1100"/>
              <a:t> puts roster pressure in score; </a:t>
            </a:r>
            <a:r>
              <a:rPr sz="1100" i="1">
                <a:latin typeface="Cambria Math"/>
              </a:rPr>
              <a:t>ρ</a:t>
            </a:r>
            <a:r>
              <a:rPr sz="1100"/>
              <a:t> delivers pressured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C knob: </a:t>
            </a:r>
            <a:r>
              <a:rPr sz="1000" i="1">
                <a:latin typeface="Cambria Math"/>
              </a:rPr>
              <a:t>ρ</a:t>
            </a:r>
            <a:r>
              <a:rPr sz="1000"/>
              <a:t> in ASSIGN. Score + top-</a:t>
            </a:r>
            <a:r>
              <a:rPr sz="1000" i="1">
                <a:latin typeface="Cambria Math"/>
              </a:rPr>
              <a:t>K</a:t>
            </a:r>
            <a:r>
              <a:rPr sz="1000"/>
              <a:t> fixed across 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48F736-A396-43B9-B51B-15DA9BA15F59}"/>
                  </a:ext>
                </a:extLst>
              </p:cNvPr>
              <p:cNvSpPr txBox="1"/>
              <p:nvPr/>
            </p:nvSpPr>
            <p:spPr>
              <a:xfrm>
                <a:off x="413399" y="828420"/>
                <a:ext cx="5644309" cy="1062211"/>
              </a:xfrm>
              <a:prstGeom prst="rect">
                <a:avLst/>
              </a:prstGeom>
              <a:noFill/>
            </p:spPr>
            <p:txBody>
              <a:bodyPr wrap="square" numCol="2" rtlCol="0">
                <a:noAutofit/>
              </a:bodyPr>
              <a:lstStyle/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Assignment to pools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. 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Selection Scoring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US" sz="1400" b="0" dirty="0">
                  <a:latin typeface="Futura Medium" panose="020B0602020204020303" pitchFamily="34" charset="-79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Selection - select top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.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Visualize – bin and plot.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48F736-A396-43B9-B51B-15DA9BA15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" y="828420"/>
                <a:ext cx="5644309" cy="1062211"/>
              </a:xfrm>
              <a:prstGeom prst="rect">
                <a:avLst/>
              </a:prstGeom>
              <a:blipFill>
                <a:blip r:embed=""/>
                <a:stretch>
                  <a:fillRect l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7749C4F-EE9C-B1EA-1134-44EC02293BA7}"/>
              </a:ext>
            </a:extLst>
          </p:cNvPr>
          <p:cNvGrpSpPr/>
          <p:nvPr/>
        </p:nvGrpSpPr>
        <p:grpSpPr>
          <a:xfrm>
            <a:off x="327226" y="5113691"/>
            <a:ext cx="4516916" cy="1651969"/>
            <a:chOff x="6222694" y="1896492"/>
            <a:chExt cx="3261913" cy="15739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736192-DD40-FDF1-097C-DDB6E6B0FEC8}"/>
                </a:ext>
              </a:extLst>
            </p:cNvPr>
            <p:cNvSpPr txBox="1"/>
            <p:nvPr/>
          </p:nvSpPr>
          <p:spPr>
            <a:xfrm>
              <a:off x="6222694" y="1896492"/>
              <a:ext cx="3261912" cy="263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Congestion Equation v1</a:t>
              </a:r>
              <a:endParaRPr lang="en-US" sz="1200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98D608-4F63-807E-D1C7-797CA0D726D8}"/>
                    </a:ext>
                  </a:extLst>
                </p:cNvPr>
                <p:cNvSpPr txBox="1"/>
                <p:nvPr/>
              </p:nvSpPr>
              <p:spPr>
                <a:xfrm>
                  <a:off x="6222695" y="2107914"/>
                  <a:ext cx="3261912" cy="136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n-US" sz="1200" b="0" dirty="0"/>
                    <a:t>  (congestion)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  <a:p>
                  <a:r>
                    <a:rPr lang="en-US" sz="1200" dirty="0"/>
                    <a:t>Knockout (sim): </a:t>
                  </a:r>
                  <a14:m>
                    <m:oMath xmlns:m="http://schemas.openxmlformats.org/officeDocument/2006/math"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 = 0 ⇒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200" dirty="0"/>
                    <a:t> (congestion out of selection)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(hard)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count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sz="1200" dirty="0"/>
                </a:p>
                <a:p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med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0" i="0" dirty="0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a14:m>
                  <a:endParaRPr lang="en-US" sz="1200" dirty="0"/>
                </a:p>
                <a:p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n-US" sz="1200" dirty="0"/>
                    <a:t> (smooth, sim default)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 LOO mean of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1200" dirty="0"/>
                    <a:t> 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98D608-4F63-807E-D1C7-797CA0D72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2695" y="2107914"/>
                  <a:ext cx="3261912" cy="1362542"/>
                </a:xfrm>
                <a:prstGeom prst="rect">
                  <a:avLst/>
                </a:prstGeom>
                <a:blipFill>
                  <a:blip r:embed="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CC208B5-EB39-7B80-C198-C8E98A540F97}"/>
              </a:ext>
            </a:extLst>
          </p:cNvPr>
          <p:cNvSpPr txBox="1"/>
          <p:nvPr/>
        </p:nvSpPr>
        <p:spPr>
          <a:xfrm>
            <a:off x="308113" y="2001582"/>
            <a:ext cx="3865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1. Soft Assignment</a:t>
            </a:r>
            <a:endParaRPr lang="en-US" sz="1400" dirty="0">
              <a:solidFill>
                <a:srgbClr val="0432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469F68-CAA9-E49D-F6C1-5CFDC19B2386}"/>
              </a:ext>
            </a:extLst>
          </p:cNvPr>
          <p:cNvSpPr txBox="1"/>
          <p:nvPr/>
        </p:nvSpPr>
        <p:spPr>
          <a:xfrm>
            <a:off x="1498888" y="307119"/>
            <a:ext cx="3473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MODEL FOUR STEP PROCESS:</a:t>
            </a:r>
          </a:p>
          <a:p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C98397-F41D-C757-7DD0-297ADAF9D84A}"/>
              </a:ext>
            </a:extLst>
          </p:cNvPr>
          <p:cNvGrpSpPr/>
          <p:nvPr/>
        </p:nvGrpSpPr>
        <p:grpSpPr>
          <a:xfrm>
            <a:off x="5739323" y="3112649"/>
            <a:ext cx="5821260" cy="2762104"/>
            <a:chOff x="5896486" y="1893636"/>
            <a:chExt cx="5821260" cy="276210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1A9E92-5C9D-BCD7-C6C5-E0DA529B171F}"/>
                </a:ext>
              </a:extLst>
            </p:cNvPr>
            <p:cNvSpPr txBox="1"/>
            <p:nvPr/>
          </p:nvSpPr>
          <p:spPr>
            <a:xfrm>
              <a:off x="5896486" y="1893636"/>
              <a:ext cx="4536028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4. Visualize</a:t>
              </a:r>
              <a:endParaRPr lang="en-US" sz="1400" dirty="0">
                <a:solidFill>
                  <a:srgbClr val="0432FF"/>
                </a:solidFill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A24237-A28E-D2A3-9F28-712E70DD479A}"/>
                </a:ext>
              </a:extLst>
            </p:cNvPr>
            <p:cNvGrpSpPr/>
            <p:nvPr/>
          </p:nvGrpSpPr>
          <p:grpSpPr>
            <a:xfrm>
              <a:off x="6012815" y="2135929"/>
              <a:ext cx="5704931" cy="2519811"/>
              <a:chOff x="6012815" y="2135929"/>
              <a:chExt cx="5704931" cy="251981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2F7F6AD-3FF6-6C6F-0329-C3D9E58FA597}"/>
                  </a:ext>
                </a:extLst>
              </p:cNvPr>
              <p:cNvSpPr txBox="1"/>
              <p:nvPr/>
            </p:nvSpPr>
            <p:spPr>
              <a:xfrm>
                <a:off x="7838076" y="2135929"/>
                <a:ext cx="192187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00" dirty="0">
                    <a:solidFill>
                      <a:srgbClr val="0432FF"/>
                    </a:solidFill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TALENT vs SELECTION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35A64FD-CCE0-2EBD-8861-BAE439E7A4CA}"/>
                  </a:ext>
                </a:extLst>
              </p:cNvPr>
              <p:cNvGrpSpPr/>
              <p:nvPr/>
            </p:nvGrpSpPr>
            <p:grpSpPr>
              <a:xfrm>
                <a:off x="6012815" y="4103742"/>
                <a:ext cx="5704931" cy="551998"/>
                <a:chOff x="6096000" y="2274932"/>
                <a:chExt cx="5704931" cy="551998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80F20F0-942E-865E-0CF4-8CDD18DA42FD}"/>
                    </a:ext>
                  </a:extLst>
                </p:cNvPr>
                <p:cNvSpPr txBox="1"/>
                <p:nvPr/>
              </p:nvSpPr>
              <p:spPr>
                <a:xfrm>
                  <a:off x="6096000" y="2274932"/>
                  <a:ext cx="570493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300" dirty="0">
                      <a:solidFill>
                        <a:srgbClr val="0432FF"/>
                      </a:solidFill>
                      <a:latin typeface="Futura Medium" panose="020B0602020204020303" pitchFamily="34" charset="-79"/>
                      <a:cs typeface="Futura Medium" panose="020B0602020204020303" pitchFamily="34" charset="-79"/>
                    </a:rPr>
                    <a:t>Empirical (real panel)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B77B650-C396-DEF6-5A33-8DB93D5652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2485170"/>
                      <a:ext cx="5704931" cy="3417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dirty="0"/>
                        <a:t>Naïve: </a:t>
                      </a:r>
                      <a14:m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→ </m:t>
                          </m:r>
                        </m:oMath>
                      </a14:m>
                      <a:r>
                        <a:rPr lang="en-US" sz="1200" b="0" dirty="0"/>
                        <a:t>   </a:t>
                      </a:r>
                      <a14:m>
                        <m:oMath xmlns:m="http://schemas.openxmlformats.org/officeDocument/2006/math">
                          <m:r>
                            <a:rPr lang="en-US" sz="1200" b="0" dirty="0" smtClean="0">
                              <a:latin typeface="Cambria Math" panose="02040503050406030204" pitchFamily="18" charset="0"/>
                            </a:rPr>
                            <m:t>≈</m:t>
                          </m:r>
                        </m:oMath>
                      </a14:m>
                      <a:r>
                        <a:rPr lang="en-US" sz="1200" b="0" dirty="0"/>
                        <a:t>  monotone              Hero:  </a:t>
                      </a:r>
                      <a14:m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0" dirty="0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𝑃𝑜𝑜𝑙𝑄</m:t>
                              </m:r>
                              <m:r>
                                <a:rPr lang="en-US" sz="1200" b="0" i="0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𝐿𝑂𝑂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→ </m:t>
                          </m:r>
                        </m:oMath>
                      </a14:m>
                      <a:r>
                        <a:rPr lang="en-US" sz="1200" b="0" dirty="0"/>
                        <a:t>  tail dip</a:t>
                      </a: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B77B650-C396-DEF6-5A33-8DB93D5652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000" y="2485170"/>
                      <a:ext cx="5704931" cy="341760"/>
                    </a:xfrm>
                    <a:prstGeom prst="rect">
                      <a:avLst/>
                    </a:prstGeom>
                    <a:blipFill>
                      <a:blip r:embed=""/>
                      <a:stretch>
                        <a:fillRect l="-222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87A4389-5EED-3727-88B2-2098D31DAA44}"/>
                  </a:ext>
                </a:extLst>
              </p:cNvPr>
              <p:cNvGrpSpPr/>
              <p:nvPr/>
            </p:nvGrpSpPr>
            <p:grpSpPr>
              <a:xfrm>
                <a:off x="6379001" y="2593972"/>
                <a:ext cx="4972558" cy="1262789"/>
                <a:chOff x="5929630" y="765162"/>
                <a:chExt cx="4972558" cy="1262789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70FB135-E9EC-6756-E718-9EA297D4BB65}"/>
                    </a:ext>
                  </a:extLst>
                </p:cNvPr>
                <p:cNvGrpSpPr/>
                <p:nvPr/>
              </p:nvGrpSpPr>
              <p:grpSpPr>
                <a:xfrm>
                  <a:off x="8563807" y="765162"/>
                  <a:ext cx="2338381" cy="1262789"/>
                  <a:chOff x="9163891" y="765162"/>
                  <a:chExt cx="2338381" cy="1262789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2BD0EC91-815F-C3E5-4E8F-7E226E707EEB}"/>
                      </a:ext>
                    </a:extLst>
                  </p:cNvPr>
                  <p:cNvGrpSpPr/>
                  <p:nvPr/>
                </p:nvGrpSpPr>
                <p:grpSpPr>
                  <a:xfrm>
                    <a:off x="9248166" y="1052739"/>
                    <a:ext cx="2169831" cy="975212"/>
                    <a:chOff x="9238479" y="1052739"/>
                    <a:chExt cx="2169831" cy="975212"/>
                  </a:xfrm>
                </p:grpSpPr>
                <p:cxnSp>
                  <p:nvCxnSpPr>
                    <p:cNvPr id="13" name="Straight Arrow Connector 12">
                      <a:extLst>
                        <a:ext uri="{FF2B5EF4-FFF2-40B4-BE49-F238E27FC236}">
                          <a16:creationId xmlns:a16="http://schemas.microsoft.com/office/drawing/2014/main" id="{234D3C5B-0386-6577-8F3A-3B32318FCE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21826" y="1052739"/>
                      <a:ext cx="0" cy="94884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" name="Straight Arrow Connector 14">
                      <a:extLst>
                        <a:ext uri="{FF2B5EF4-FFF2-40B4-BE49-F238E27FC236}">
                          <a16:creationId xmlns:a16="http://schemas.microsoft.com/office/drawing/2014/main" id="{5CD78934-FF51-6805-CC54-572EE0E2BE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53830" y="1829061"/>
                      <a:ext cx="155448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F02243E-BE04-CFA6-42FF-2D21A22E0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0567" y="1156263"/>
                      <a:ext cx="1093689" cy="593999"/>
                    </a:xfrm>
                    <a:custGeom>
                      <a:avLst/>
                      <a:gdLst>
                        <a:gd name="csX0" fmla="*/ 0 w 1593560"/>
                        <a:gd name="csY0" fmla="*/ 588775 h 593999"/>
                        <a:gd name="csX1" fmla="*/ 265593 w 1593560"/>
                        <a:gd name="csY1" fmla="*/ 584981 h 593999"/>
                        <a:gd name="csX2" fmla="*/ 538775 w 1593560"/>
                        <a:gd name="csY2" fmla="*/ 505303 h 593999"/>
                        <a:gd name="csX3" fmla="*/ 770221 w 1593560"/>
                        <a:gd name="csY3" fmla="*/ 395272 h 593999"/>
                        <a:gd name="csX4" fmla="*/ 982695 w 1593560"/>
                        <a:gd name="csY4" fmla="*/ 239710 h 593999"/>
                        <a:gd name="csX5" fmla="*/ 1130669 w 1593560"/>
                        <a:gd name="csY5" fmla="*/ 122090 h 593999"/>
                        <a:gd name="csX6" fmla="*/ 1305201 w 1593560"/>
                        <a:gd name="csY6" fmla="*/ 676 h 593999"/>
                        <a:gd name="csX7" fmla="*/ 1506294 w 1593560"/>
                        <a:gd name="csY7" fmla="*/ 80354 h 593999"/>
                        <a:gd name="csX8" fmla="*/ 1593560 w 1593560"/>
                        <a:gd name="csY8" fmla="*/ 232121 h 59399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593560" h="593999">
                          <a:moveTo>
                            <a:pt x="0" y="588775"/>
                          </a:moveTo>
                          <a:cubicBezTo>
                            <a:pt x="87898" y="593834"/>
                            <a:pt x="175797" y="598893"/>
                            <a:pt x="265593" y="584981"/>
                          </a:cubicBezTo>
                          <a:cubicBezTo>
                            <a:pt x="355389" y="571069"/>
                            <a:pt x="454670" y="536921"/>
                            <a:pt x="538775" y="505303"/>
                          </a:cubicBezTo>
                          <a:cubicBezTo>
                            <a:pt x="622880" y="473685"/>
                            <a:pt x="696234" y="439537"/>
                            <a:pt x="770221" y="395272"/>
                          </a:cubicBezTo>
                          <a:cubicBezTo>
                            <a:pt x="844208" y="351007"/>
                            <a:pt x="922620" y="285240"/>
                            <a:pt x="982695" y="239710"/>
                          </a:cubicBezTo>
                          <a:cubicBezTo>
                            <a:pt x="1042770" y="194180"/>
                            <a:pt x="1076918" y="161929"/>
                            <a:pt x="1130669" y="122090"/>
                          </a:cubicBezTo>
                          <a:cubicBezTo>
                            <a:pt x="1184420" y="82251"/>
                            <a:pt x="1242597" y="7632"/>
                            <a:pt x="1305201" y="676"/>
                          </a:cubicBezTo>
                          <a:cubicBezTo>
                            <a:pt x="1367805" y="-6280"/>
                            <a:pt x="1458234" y="41780"/>
                            <a:pt x="1506294" y="80354"/>
                          </a:cubicBezTo>
                          <a:cubicBezTo>
                            <a:pt x="1554354" y="118928"/>
                            <a:pt x="1573957" y="175524"/>
                            <a:pt x="1593560" y="232121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" name="TextBox 21">
                          <a:extLst>
                            <a:ext uri="{FF2B5EF4-FFF2-40B4-BE49-F238E27FC236}">
                              <a16:creationId xmlns:a16="http://schemas.microsoft.com/office/drawing/2014/main" id="{E3E0712F-1D01-EB8E-7547-12BDDB329C6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238479" y="1299374"/>
                          <a:ext cx="615351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22" name="TextBox 21">
                          <a:extLst>
                            <a:ext uri="{FF2B5EF4-FFF2-40B4-BE49-F238E27FC236}">
                              <a16:creationId xmlns:a16="http://schemas.microsoft.com/office/drawing/2014/main" id="{E3E0712F-1D01-EB8E-7547-12BDDB329C6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238479" y="1299374"/>
                          <a:ext cx="615351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8163" t="-7692" r="-20408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3" name="TextBox 22">
                          <a:extLst>
                            <a:ext uri="{FF2B5EF4-FFF2-40B4-BE49-F238E27FC236}">
                              <a16:creationId xmlns:a16="http://schemas.microsoft.com/office/drawing/2014/main" id="{3FCE6E86-C6BA-9D19-0046-C043E90E37A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07670" y="1874063"/>
                          <a:ext cx="560407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𝑃𝑜𝑜𝑙𝑄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𝐿𝑂𝑂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23" name="TextBox 22">
                          <a:extLst>
                            <a:ext uri="{FF2B5EF4-FFF2-40B4-BE49-F238E27FC236}">
                              <a16:creationId xmlns:a16="http://schemas.microsoft.com/office/drawing/2014/main" id="{3FCE6E86-C6BA-9D19-0046-C043E90E37A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07670" y="1874063"/>
                          <a:ext cx="560407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8696" t="-15385" r="-17391" b="-3846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AA5E550-27E9-1E5D-A47B-CC9894E5E972}"/>
                      </a:ext>
                    </a:extLst>
                  </p:cNvPr>
                  <p:cNvSpPr txBox="1"/>
                  <p:nvPr/>
                </p:nvSpPr>
                <p:spPr>
                  <a:xfrm>
                    <a:off x="9163891" y="765162"/>
                    <a:ext cx="233838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i="1" dirty="0">
                        <a:solidFill>
                          <a:srgbClr val="0432FF"/>
                        </a:solidFill>
                      </a:rPr>
                      <a:t>HERO (empirical)</a:t>
                    </a: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5D42937F-04FB-BCCD-5B63-F83C664D59A5}"/>
                    </a:ext>
                  </a:extLst>
                </p:cNvPr>
                <p:cNvGrpSpPr/>
                <p:nvPr/>
              </p:nvGrpSpPr>
              <p:grpSpPr>
                <a:xfrm>
                  <a:off x="5929630" y="766052"/>
                  <a:ext cx="2807266" cy="1261899"/>
                  <a:chOff x="5929630" y="766052"/>
                  <a:chExt cx="2807266" cy="1261899"/>
                </a:xfrm>
              </p:grpSpPr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303886C-1548-5570-E17E-5BD0CF5AC674}"/>
                      </a:ext>
                    </a:extLst>
                  </p:cNvPr>
                  <p:cNvSpPr txBox="1"/>
                  <p:nvPr/>
                </p:nvSpPr>
                <p:spPr>
                  <a:xfrm>
                    <a:off x="5929630" y="766052"/>
                    <a:ext cx="28072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i="1" dirty="0">
                        <a:solidFill>
                          <a:srgbClr val="0432FF"/>
                        </a:solidFill>
                      </a:rPr>
                      <a:t>Naïve (empirical)</a:t>
                    </a: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2E92C112-BF68-EC93-A4F2-C2FEC165B307}"/>
                      </a:ext>
                    </a:extLst>
                  </p:cNvPr>
                  <p:cNvGrpSpPr/>
                  <p:nvPr/>
                </p:nvGrpSpPr>
                <p:grpSpPr>
                  <a:xfrm>
                    <a:off x="6250967" y="1052739"/>
                    <a:ext cx="2164593" cy="975212"/>
                    <a:chOff x="6288893" y="1052739"/>
                    <a:chExt cx="2164593" cy="975212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BE58BA4-22A1-ABB5-039D-E96A936D102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288893" y="1299374"/>
                          <a:ext cx="738739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BE58BA4-22A1-ABB5-039D-E96A936D102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288893" y="1299374"/>
                          <a:ext cx="738739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3390" t="-7692" r="-3390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2" name="TextBox 31">
                          <a:extLst>
                            <a:ext uri="{FF2B5EF4-FFF2-40B4-BE49-F238E27FC236}">
                              <a16:creationId xmlns:a16="http://schemas.microsoft.com/office/drawing/2014/main" id="{78092802-0200-04DA-853D-32FFCFD8E61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599437" y="1874063"/>
                          <a:ext cx="153618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 xmlns="">
                    <p:sp>
                      <p:nvSpPr>
                        <p:cNvPr id="32" name="TextBox 31">
                          <a:extLst>
                            <a:ext uri="{FF2B5EF4-FFF2-40B4-BE49-F238E27FC236}">
                              <a16:creationId xmlns:a16="http://schemas.microsoft.com/office/drawing/2014/main" id="{78092802-0200-04DA-853D-32FFCFD8E61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599437" y="1874063"/>
                          <a:ext cx="153618" cy="153888"/>
                        </a:xfrm>
                        <a:prstGeom prst="rect">
                          <a:avLst/>
                        </a:prstGeom>
                        <a:blipFill>
                          <a:blip r:embed=""/>
                          <a:stretch>
                            <a:fillRect l="-23077" r="-7692" b="-1538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5" name="Freeform 34">
                      <a:extLst>
                        <a:ext uri="{FF2B5EF4-FFF2-40B4-BE49-F238E27FC236}">
                          <a16:creationId xmlns:a16="http://schemas.microsoft.com/office/drawing/2014/main" id="{A2F5A194-1ED3-EC75-8B0B-8728190CC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4169" y="1156509"/>
                      <a:ext cx="1095016" cy="562794"/>
                    </a:xfrm>
                    <a:custGeom>
                      <a:avLst/>
                      <a:gdLst>
                        <a:gd name="csX0" fmla="*/ 0 w 1403850"/>
                        <a:gd name="csY0" fmla="*/ 409773 h 409773"/>
                        <a:gd name="csX1" fmla="*/ 18971 w 1403850"/>
                        <a:gd name="csY1" fmla="*/ 405979 h 409773"/>
                        <a:gd name="csX2" fmla="*/ 34148 w 1403850"/>
                        <a:gd name="csY2" fmla="*/ 402185 h 409773"/>
                        <a:gd name="csX3" fmla="*/ 79678 w 1403850"/>
                        <a:gd name="csY3" fmla="*/ 394596 h 409773"/>
                        <a:gd name="csX4" fmla="*/ 91060 w 1403850"/>
                        <a:gd name="csY4" fmla="*/ 387008 h 409773"/>
                        <a:gd name="csX5" fmla="*/ 132797 w 1403850"/>
                        <a:gd name="csY5" fmla="*/ 379419 h 409773"/>
                        <a:gd name="csX6" fmla="*/ 170738 w 1403850"/>
                        <a:gd name="csY6" fmla="*/ 368037 h 409773"/>
                        <a:gd name="csX7" fmla="*/ 185915 w 1403850"/>
                        <a:gd name="csY7" fmla="*/ 360448 h 409773"/>
                        <a:gd name="csX8" fmla="*/ 220063 w 1403850"/>
                        <a:gd name="csY8" fmla="*/ 371831 h 409773"/>
                        <a:gd name="csX9" fmla="*/ 242828 w 1403850"/>
                        <a:gd name="csY9" fmla="*/ 379419 h 409773"/>
                        <a:gd name="csX10" fmla="*/ 254211 w 1403850"/>
                        <a:gd name="csY10" fmla="*/ 383214 h 409773"/>
                        <a:gd name="csX11" fmla="*/ 276976 w 1403850"/>
                        <a:gd name="csY11" fmla="*/ 387008 h 409773"/>
                        <a:gd name="csX12" fmla="*/ 303535 w 1403850"/>
                        <a:gd name="csY12" fmla="*/ 383214 h 409773"/>
                        <a:gd name="csX13" fmla="*/ 314918 w 1403850"/>
                        <a:gd name="csY13" fmla="*/ 375625 h 409773"/>
                        <a:gd name="csX14" fmla="*/ 333889 w 1403850"/>
                        <a:gd name="csY14" fmla="*/ 364243 h 409773"/>
                        <a:gd name="csX15" fmla="*/ 349065 w 1403850"/>
                        <a:gd name="csY15" fmla="*/ 360448 h 409773"/>
                        <a:gd name="csX16" fmla="*/ 364242 w 1403850"/>
                        <a:gd name="csY16" fmla="*/ 352860 h 409773"/>
                        <a:gd name="csX17" fmla="*/ 390801 w 1403850"/>
                        <a:gd name="csY17" fmla="*/ 345272 h 409773"/>
                        <a:gd name="csX18" fmla="*/ 405978 w 1403850"/>
                        <a:gd name="csY18" fmla="*/ 337683 h 409773"/>
                        <a:gd name="csX19" fmla="*/ 432538 w 1403850"/>
                        <a:gd name="csY19" fmla="*/ 326301 h 409773"/>
                        <a:gd name="csX20" fmla="*/ 455303 w 1403850"/>
                        <a:gd name="csY20" fmla="*/ 307330 h 409773"/>
                        <a:gd name="csX21" fmla="*/ 478068 w 1403850"/>
                        <a:gd name="csY21" fmla="*/ 295947 h 409773"/>
                        <a:gd name="csX22" fmla="*/ 489450 w 1403850"/>
                        <a:gd name="csY22" fmla="*/ 288359 h 409773"/>
                        <a:gd name="csX23" fmla="*/ 576717 w 1403850"/>
                        <a:gd name="csY23" fmla="*/ 295947 h 409773"/>
                        <a:gd name="csX24" fmla="*/ 614659 w 1403850"/>
                        <a:gd name="csY24" fmla="*/ 292153 h 409773"/>
                        <a:gd name="csX25" fmla="*/ 626041 w 1403850"/>
                        <a:gd name="csY25" fmla="*/ 280770 h 409773"/>
                        <a:gd name="csX26" fmla="*/ 641218 w 1403850"/>
                        <a:gd name="csY26" fmla="*/ 254211 h 409773"/>
                        <a:gd name="csX27" fmla="*/ 660189 w 1403850"/>
                        <a:gd name="csY27" fmla="*/ 239034 h 409773"/>
                        <a:gd name="csX28" fmla="*/ 675366 w 1403850"/>
                        <a:gd name="csY28" fmla="*/ 235240 h 409773"/>
                        <a:gd name="csX29" fmla="*/ 686748 w 1403850"/>
                        <a:gd name="csY29" fmla="*/ 231446 h 409773"/>
                        <a:gd name="csX30" fmla="*/ 709514 w 1403850"/>
                        <a:gd name="csY30" fmla="*/ 235240 h 409773"/>
                        <a:gd name="csX31" fmla="*/ 724690 w 1403850"/>
                        <a:gd name="csY31" fmla="*/ 239034 h 409773"/>
                        <a:gd name="csX32" fmla="*/ 743661 w 1403850"/>
                        <a:gd name="csY32" fmla="*/ 235240 h 409773"/>
                        <a:gd name="csX33" fmla="*/ 762632 w 1403850"/>
                        <a:gd name="csY33" fmla="*/ 223858 h 409773"/>
                        <a:gd name="csX34" fmla="*/ 777809 w 1403850"/>
                        <a:gd name="csY34" fmla="*/ 216269 h 409773"/>
                        <a:gd name="csX35" fmla="*/ 792986 w 1403850"/>
                        <a:gd name="csY35" fmla="*/ 204887 h 409773"/>
                        <a:gd name="csX36" fmla="*/ 830928 w 1403850"/>
                        <a:gd name="csY36" fmla="*/ 182121 h 409773"/>
                        <a:gd name="csX37" fmla="*/ 861281 w 1403850"/>
                        <a:gd name="csY37" fmla="*/ 174533 h 409773"/>
                        <a:gd name="csX38" fmla="*/ 887840 w 1403850"/>
                        <a:gd name="csY38" fmla="*/ 166945 h 409773"/>
                        <a:gd name="csX39" fmla="*/ 910606 w 1403850"/>
                        <a:gd name="csY39" fmla="*/ 151768 h 409773"/>
                        <a:gd name="csX40" fmla="*/ 940959 w 1403850"/>
                        <a:gd name="csY40" fmla="*/ 125209 h 409773"/>
                        <a:gd name="csX41" fmla="*/ 971313 w 1403850"/>
                        <a:gd name="csY41" fmla="*/ 121414 h 409773"/>
                        <a:gd name="csX42" fmla="*/ 994078 w 1403850"/>
                        <a:gd name="csY42" fmla="*/ 129003 h 409773"/>
                        <a:gd name="csX43" fmla="*/ 1039608 w 1403850"/>
                        <a:gd name="csY43" fmla="*/ 121414 h 409773"/>
                        <a:gd name="csX44" fmla="*/ 1077550 w 1403850"/>
                        <a:gd name="csY44" fmla="*/ 117620 h 409773"/>
                        <a:gd name="csX45" fmla="*/ 1142051 w 1403850"/>
                        <a:gd name="csY45" fmla="*/ 110032 h 409773"/>
                        <a:gd name="csX46" fmla="*/ 1157228 w 1403850"/>
                        <a:gd name="csY46" fmla="*/ 102443 h 409773"/>
                        <a:gd name="csX47" fmla="*/ 1176199 w 1403850"/>
                        <a:gd name="csY47" fmla="*/ 94855 h 409773"/>
                        <a:gd name="csX48" fmla="*/ 1206553 w 1403850"/>
                        <a:gd name="csY48" fmla="*/ 68296 h 409773"/>
                        <a:gd name="csX49" fmla="*/ 1217935 w 1403850"/>
                        <a:gd name="csY49" fmla="*/ 60707 h 409773"/>
                        <a:gd name="csX50" fmla="*/ 1236906 w 1403850"/>
                        <a:gd name="csY50" fmla="*/ 45531 h 409773"/>
                        <a:gd name="csX51" fmla="*/ 1255877 w 1403850"/>
                        <a:gd name="csY51" fmla="*/ 30354 h 409773"/>
                        <a:gd name="csX52" fmla="*/ 1290025 w 1403850"/>
                        <a:gd name="csY52" fmla="*/ 18971 h 409773"/>
                        <a:gd name="csX53" fmla="*/ 1301407 w 1403850"/>
                        <a:gd name="csY53" fmla="*/ 11383 h 409773"/>
                        <a:gd name="csX54" fmla="*/ 1316584 w 1403850"/>
                        <a:gd name="csY54" fmla="*/ 7589 h 409773"/>
                        <a:gd name="csX55" fmla="*/ 1346938 w 1403850"/>
                        <a:gd name="csY55" fmla="*/ 0 h 409773"/>
                        <a:gd name="csX56" fmla="*/ 1403850 w 1403850"/>
                        <a:gd name="csY56" fmla="*/ 3795 h 4097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  <a:cxn ang="0">
                          <a:pos x="csX56" y="csY56"/>
                        </a:cxn>
                      </a:cxnLst>
                      <a:rect l="l" t="t" r="r" b="b"/>
                      <a:pathLst>
                        <a:path w="1403850" h="409773">
                          <a:moveTo>
                            <a:pt x="0" y="409773"/>
                          </a:moveTo>
                          <a:cubicBezTo>
                            <a:pt x="6324" y="408508"/>
                            <a:pt x="12676" y="407378"/>
                            <a:pt x="18971" y="405979"/>
                          </a:cubicBezTo>
                          <a:cubicBezTo>
                            <a:pt x="24062" y="404848"/>
                            <a:pt x="29023" y="403146"/>
                            <a:pt x="34148" y="402185"/>
                          </a:cubicBezTo>
                          <a:cubicBezTo>
                            <a:pt x="49270" y="399349"/>
                            <a:pt x="79678" y="394596"/>
                            <a:pt x="79678" y="394596"/>
                          </a:cubicBezTo>
                          <a:cubicBezTo>
                            <a:pt x="83472" y="392067"/>
                            <a:pt x="86790" y="388609"/>
                            <a:pt x="91060" y="387008"/>
                          </a:cubicBezTo>
                          <a:cubicBezTo>
                            <a:pt x="95705" y="385266"/>
                            <a:pt x="129760" y="380026"/>
                            <a:pt x="132797" y="379419"/>
                          </a:cubicBezTo>
                          <a:cubicBezTo>
                            <a:pt x="141873" y="377604"/>
                            <a:pt x="164287" y="371263"/>
                            <a:pt x="170738" y="368037"/>
                          </a:cubicBezTo>
                          <a:lnTo>
                            <a:pt x="185915" y="360448"/>
                          </a:lnTo>
                          <a:cubicBezTo>
                            <a:pt x="222375" y="367742"/>
                            <a:pt x="188643" y="359264"/>
                            <a:pt x="220063" y="371831"/>
                          </a:cubicBezTo>
                          <a:cubicBezTo>
                            <a:pt x="227490" y="374802"/>
                            <a:pt x="235240" y="376890"/>
                            <a:pt x="242828" y="379419"/>
                          </a:cubicBezTo>
                          <a:cubicBezTo>
                            <a:pt x="246622" y="380684"/>
                            <a:pt x="250266" y="382556"/>
                            <a:pt x="254211" y="383214"/>
                          </a:cubicBezTo>
                          <a:lnTo>
                            <a:pt x="276976" y="387008"/>
                          </a:lnTo>
                          <a:cubicBezTo>
                            <a:pt x="285829" y="385743"/>
                            <a:pt x="294969" y="385784"/>
                            <a:pt x="303535" y="383214"/>
                          </a:cubicBezTo>
                          <a:cubicBezTo>
                            <a:pt x="307903" y="381904"/>
                            <a:pt x="311051" y="378042"/>
                            <a:pt x="314918" y="375625"/>
                          </a:cubicBezTo>
                          <a:cubicBezTo>
                            <a:pt x="321172" y="371717"/>
                            <a:pt x="327150" y="367238"/>
                            <a:pt x="333889" y="364243"/>
                          </a:cubicBezTo>
                          <a:cubicBezTo>
                            <a:pt x="338654" y="362125"/>
                            <a:pt x="344183" y="362279"/>
                            <a:pt x="349065" y="360448"/>
                          </a:cubicBezTo>
                          <a:cubicBezTo>
                            <a:pt x="354361" y="358462"/>
                            <a:pt x="359043" y="355088"/>
                            <a:pt x="364242" y="352860"/>
                          </a:cubicBezTo>
                          <a:cubicBezTo>
                            <a:pt x="371861" y="349595"/>
                            <a:pt x="383101" y="347197"/>
                            <a:pt x="390801" y="345272"/>
                          </a:cubicBezTo>
                          <a:cubicBezTo>
                            <a:pt x="395860" y="342742"/>
                            <a:pt x="400779" y="339911"/>
                            <a:pt x="405978" y="337683"/>
                          </a:cubicBezTo>
                          <a:cubicBezTo>
                            <a:pt x="427261" y="328562"/>
                            <a:pt x="407371" y="340682"/>
                            <a:pt x="432538" y="326301"/>
                          </a:cubicBezTo>
                          <a:cubicBezTo>
                            <a:pt x="450513" y="316029"/>
                            <a:pt x="438191" y="321590"/>
                            <a:pt x="455303" y="307330"/>
                          </a:cubicBezTo>
                          <a:cubicBezTo>
                            <a:pt x="465112" y="299156"/>
                            <a:pt x="466657" y="299750"/>
                            <a:pt x="478068" y="295947"/>
                          </a:cubicBezTo>
                          <a:cubicBezTo>
                            <a:pt x="481862" y="293418"/>
                            <a:pt x="484899" y="288643"/>
                            <a:pt x="489450" y="288359"/>
                          </a:cubicBezTo>
                          <a:cubicBezTo>
                            <a:pt x="498255" y="287809"/>
                            <a:pt x="563367" y="294612"/>
                            <a:pt x="576717" y="295947"/>
                          </a:cubicBezTo>
                          <a:cubicBezTo>
                            <a:pt x="589364" y="294682"/>
                            <a:pt x="602511" y="295891"/>
                            <a:pt x="614659" y="292153"/>
                          </a:cubicBezTo>
                          <a:cubicBezTo>
                            <a:pt x="619787" y="290575"/>
                            <a:pt x="622922" y="285136"/>
                            <a:pt x="626041" y="280770"/>
                          </a:cubicBezTo>
                          <a:cubicBezTo>
                            <a:pt x="633475" y="270363"/>
                            <a:pt x="632262" y="263167"/>
                            <a:pt x="641218" y="254211"/>
                          </a:cubicBezTo>
                          <a:cubicBezTo>
                            <a:pt x="646944" y="248485"/>
                            <a:pt x="653110" y="242967"/>
                            <a:pt x="660189" y="239034"/>
                          </a:cubicBezTo>
                          <a:cubicBezTo>
                            <a:pt x="664747" y="236502"/>
                            <a:pt x="670352" y="236673"/>
                            <a:pt x="675366" y="235240"/>
                          </a:cubicBezTo>
                          <a:cubicBezTo>
                            <a:pt x="679211" y="234141"/>
                            <a:pt x="682954" y="232711"/>
                            <a:pt x="686748" y="231446"/>
                          </a:cubicBezTo>
                          <a:cubicBezTo>
                            <a:pt x="694337" y="232711"/>
                            <a:pt x="701970" y="233731"/>
                            <a:pt x="709514" y="235240"/>
                          </a:cubicBezTo>
                          <a:cubicBezTo>
                            <a:pt x="714627" y="236263"/>
                            <a:pt x="719476" y="239034"/>
                            <a:pt x="724690" y="239034"/>
                          </a:cubicBezTo>
                          <a:cubicBezTo>
                            <a:pt x="731139" y="239034"/>
                            <a:pt x="737337" y="236505"/>
                            <a:pt x="743661" y="235240"/>
                          </a:cubicBezTo>
                          <a:cubicBezTo>
                            <a:pt x="749985" y="231446"/>
                            <a:pt x="756186" y="227439"/>
                            <a:pt x="762632" y="223858"/>
                          </a:cubicBezTo>
                          <a:cubicBezTo>
                            <a:pt x="767576" y="221111"/>
                            <a:pt x="773013" y="219267"/>
                            <a:pt x="777809" y="216269"/>
                          </a:cubicBezTo>
                          <a:cubicBezTo>
                            <a:pt x="783171" y="212918"/>
                            <a:pt x="787805" y="208513"/>
                            <a:pt x="792986" y="204887"/>
                          </a:cubicBezTo>
                          <a:cubicBezTo>
                            <a:pt x="800856" y="199378"/>
                            <a:pt x="819750" y="185847"/>
                            <a:pt x="830928" y="182121"/>
                          </a:cubicBezTo>
                          <a:cubicBezTo>
                            <a:pt x="840822" y="178823"/>
                            <a:pt x="851387" y="177831"/>
                            <a:pt x="861281" y="174533"/>
                          </a:cubicBezTo>
                          <a:cubicBezTo>
                            <a:pt x="877611" y="169090"/>
                            <a:pt x="868784" y="171709"/>
                            <a:pt x="887840" y="166945"/>
                          </a:cubicBezTo>
                          <a:cubicBezTo>
                            <a:pt x="909751" y="134080"/>
                            <a:pt x="877935" y="176271"/>
                            <a:pt x="910606" y="151768"/>
                          </a:cubicBezTo>
                          <a:cubicBezTo>
                            <a:pt x="966732" y="109673"/>
                            <a:pt x="892405" y="149484"/>
                            <a:pt x="940959" y="125209"/>
                          </a:cubicBezTo>
                          <a:cubicBezTo>
                            <a:pt x="953172" y="112996"/>
                            <a:pt x="946772" y="115279"/>
                            <a:pt x="971313" y="121414"/>
                          </a:cubicBezTo>
                          <a:cubicBezTo>
                            <a:pt x="979073" y="123354"/>
                            <a:pt x="994078" y="129003"/>
                            <a:pt x="994078" y="129003"/>
                          </a:cubicBezTo>
                          <a:cubicBezTo>
                            <a:pt x="1009255" y="126473"/>
                            <a:pt x="1024363" y="123493"/>
                            <a:pt x="1039608" y="121414"/>
                          </a:cubicBezTo>
                          <a:cubicBezTo>
                            <a:pt x="1052202" y="119697"/>
                            <a:pt x="1064917" y="119024"/>
                            <a:pt x="1077550" y="117620"/>
                          </a:cubicBezTo>
                          <a:lnTo>
                            <a:pt x="1142051" y="110032"/>
                          </a:lnTo>
                          <a:cubicBezTo>
                            <a:pt x="1147110" y="107502"/>
                            <a:pt x="1152059" y="104740"/>
                            <a:pt x="1157228" y="102443"/>
                          </a:cubicBezTo>
                          <a:cubicBezTo>
                            <a:pt x="1163452" y="99677"/>
                            <a:pt x="1170245" y="98162"/>
                            <a:pt x="1176199" y="94855"/>
                          </a:cubicBezTo>
                          <a:cubicBezTo>
                            <a:pt x="1212596" y="74636"/>
                            <a:pt x="1169372" y="93086"/>
                            <a:pt x="1206553" y="68296"/>
                          </a:cubicBezTo>
                          <a:lnTo>
                            <a:pt x="1217935" y="60707"/>
                          </a:lnTo>
                          <a:cubicBezTo>
                            <a:pt x="1233049" y="38036"/>
                            <a:pt x="1216542" y="57750"/>
                            <a:pt x="1236906" y="45531"/>
                          </a:cubicBezTo>
                          <a:cubicBezTo>
                            <a:pt x="1255956" y="34100"/>
                            <a:pt x="1231016" y="40713"/>
                            <a:pt x="1255877" y="30354"/>
                          </a:cubicBezTo>
                          <a:cubicBezTo>
                            <a:pt x="1266952" y="25739"/>
                            <a:pt x="1280042" y="25627"/>
                            <a:pt x="1290025" y="18971"/>
                          </a:cubicBezTo>
                          <a:cubicBezTo>
                            <a:pt x="1293819" y="16442"/>
                            <a:pt x="1297216" y="13179"/>
                            <a:pt x="1301407" y="11383"/>
                          </a:cubicBezTo>
                          <a:cubicBezTo>
                            <a:pt x="1306200" y="9329"/>
                            <a:pt x="1311570" y="9021"/>
                            <a:pt x="1316584" y="7589"/>
                          </a:cubicBezTo>
                          <a:cubicBezTo>
                            <a:pt x="1343814" y="-190"/>
                            <a:pt x="1308359" y="7717"/>
                            <a:pt x="1346938" y="0"/>
                          </a:cubicBezTo>
                          <a:cubicBezTo>
                            <a:pt x="1398784" y="3989"/>
                            <a:pt x="1379772" y="3795"/>
                            <a:pt x="1403850" y="3795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 dirty="0"/>
                    </a:p>
                  </p:txBody>
                </p: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3E016420-5927-FD32-0FCE-83E364F87D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067002" y="1052739"/>
                      <a:ext cx="0" cy="94884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80B21997-826F-5CDA-BDC4-DE7298E6ED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899006" y="1829061"/>
                      <a:ext cx="155448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ECA550-A462-0B6D-B433-F7FBCA53C9CF}"/>
              </a:ext>
            </a:extLst>
          </p:cNvPr>
          <p:cNvGrpSpPr/>
          <p:nvPr/>
        </p:nvGrpSpPr>
        <p:grpSpPr>
          <a:xfrm>
            <a:off x="308112" y="3548422"/>
            <a:ext cx="4536028" cy="1536048"/>
            <a:chOff x="436400" y="1835634"/>
            <a:chExt cx="3628824" cy="15360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71144F-2EC4-33F7-5D2E-B4BD02D87E7F}"/>
                </a:ext>
              </a:extLst>
            </p:cNvPr>
            <p:cNvSpPr txBox="1"/>
            <p:nvPr/>
          </p:nvSpPr>
          <p:spPr>
            <a:xfrm>
              <a:off x="451691" y="1835634"/>
              <a:ext cx="3613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2. Unified Selection Score Equation</a:t>
              </a:r>
              <a:endParaRPr lang="en-US" sz="1400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D1ECB8-4444-68F0-367A-195A32F205DE}"/>
                    </a:ext>
                  </a:extLst>
                </p:cNvPr>
                <p:cNvSpPr txBox="1"/>
                <p:nvPr/>
              </p:nvSpPr>
              <p:spPr>
                <a:xfrm>
                  <a:off x="436400" y="2048243"/>
                  <a:ext cx="3613533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dirty="0"/>
                    <a:t>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solidFill>
                      <a:srgbClr val="9437FF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selection score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individual performance metric</a:t>
                  </a:r>
                </a:p>
                <a:p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200" dirty="0"/>
                    <a:t> environmental weight</a:t>
                  </a:r>
                </a:p>
                <a:p>
                  <a:r>
                    <a:rPr lang="en-US" sz="1200" dirty="0">
                      <a:solidFill>
                        <a:srgbClr val="0432FF"/>
                      </a:solidFill>
                    </a:rPr>
                    <a:t>environmental impact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US" sz="1200" dirty="0"/>
                    <a:t>     (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1200" dirty="0"/>
                    <a:t> benefits, 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1200" dirty="0"/>
                    <a:t> drawbacks)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D1ECB8-4444-68F0-367A-195A32F20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400" y="2048243"/>
                  <a:ext cx="3613533" cy="1323439"/>
                </a:xfrm>
                <a:prstGeom prst="rect">
                  <a:avLst/>
                </a:prstGeom>
                <a:blipFill>
                  <a:blip r:embed="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E77B8A6-F58E-8DB5-727E-F8CED3934D83}"/>
              </a:ext>
            </a:extLst>
          </p:cNvPr>
          <p:cNvSpPr txBox="1"/>
          <p:nvPr/>
        </p:nvSpPr>
        <p:spPr>
          <a:xfrm>
            <a:off x="5739323" y="2007354"/>
            <a:ext cx="453602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3. Selection</a:t>
            </a:r>
            <a:endParaRPr lang="en-US" sz="1400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97B29-CB0B-2225-3C2C-3BD04FF5EC04}"/>
                  </a:ext>
                </a:extLst>
              </p:cNvPr>
              <p:cNvSpPr txBox="1"/>
              <p:nvPr/>
            </p:nvSpPr>
            <p:spPr>
              <a:xfrm>
                <a:off x="460513" y="2162594"/>
                <a:ext cx="4536028" cy="178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rgbClr val="9437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9437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smtClean="0">
                                              <a:solidFill>
                                                <a:srgbClr val="9437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rgbClr val="9437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0" dirty="0">
                  <a:solidFill>
                    <a:srgbClr val="9437FF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 Soft preference of player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 for team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00" dirty="0"/>
                  <a:t> before we normalize to probabilities and fill seats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Team target PoolQ,  \rho  -&gt;. Assortativity knob</a:t>
                </a:r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Fixed length-scale in ability units (default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~0.65</m:t>
                    </m:r>
                  </m:oMath>
                </a14:m>
                <a:r>
                  <a:rPr lang="en-US" sz="1200" dirty="0"/>
                  <a:t>)</a:t>
                </a:r>
              </a:p>
              <a:p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97B29-CB0B-2225-3C2C-3BD04FF5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" y="2162594"/>
                <a:ext cx="4536028" cy="1785552"/>
              </a:xfrm>
              <a:prstGeom prst="rect">
                <a:avLst/>
              </a:prstGeom>
              <a:blipFill>
                <a:blip r:embed="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E5036B-5655-642A-64B3-0642C6A39E43}"/>
                  </a:ext>
                </a:extLst>
              </p:cNvPr>
              <p:cNvSpPr txBox="1"/>
              <p:nvPr/>
            </p:nvSpPr>
            <p:spPr>
              <a:xfrm>
                <a:off x="5796854" y="2377885"/>
                <a:ext cx="4536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current trivial method is just to choose the top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00" dirty="0"/>
                  <a:t> players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200" dirty="0"/>
              </a:p>
              <a:p>
                <a:r>
                  <a:rPr lang="en-US" sz="1200" dirty="0"/>
                  <a:t>Future methods could introduce stochastic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E5036B-5655-642A-64B3-0642C6A3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854" y="2377885"/>
                <a:ext cx="4536027" cy="461665"/>
              </a:xfrm>
              <a:prstGeom prst="rect">
                <a:avLst/>
              </a:prstGeom>
              <a:blipFill>
                <a:blip r:embed="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05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Macintosh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</cp:revision>
  <dcterms:created xsi:type="dcterms:W3CDTF">2013-01-27T09:14:16Z</dcterms:created>
  <dcterms:modified xsi:type="dcterms:W3CDTF">2026-07-31T19:47:16Z</dcterms:modified>
  <cp:category/>
</cp:coreProperties>
</file>