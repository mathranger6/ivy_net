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Tenure empirical HERO — inference panel</a:t>
            </a:r>
          </a:p>
          <a:p>
            <a:pPr>
              <a:defRPr sz="1200" i="1"/>
            </a:pPr>
            <a:r>
              <a:t>2026-09-01 · infHM · MBB slide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687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/>
            </a:pPr>
            <a:r>
              <a:t>• Tenure HERO: HIGH + MEDIUM OpenAlex inference.</a:t>
            </a:r>
          </a:p>
          <a:p>
            <a:pPr>
              <a:spcAft>
                <a:spcPts val="300"/>
              </a:spcAft>
              <a:defRPr sz="1200"/>
            </a:pPr>
            <a:r>
              <a:t>• Spell-mean annual LOO = v0; last-ps cum LOO = MBB cross-section at exit.</a:t>
            </a:r>
          </a:p>
          <a:p>
            <a:pPr>
              <a:spcAft>
                <a:spcPts val="300"/>
              </a:spcAft>
              <a:defRPr sz="1200"/>
            </a:pPr>
            <a:r>
              <a:t>• Last-ps own cum pubs = ability slice (toward F-HERO).</a:t>
            </a:r>
          </a:p>
          <a:p>
            <a:pPr>
              <a:spcAft>
                <a:spcPts val="300"/>
              </a:spcAft>
              <a:defRPr sz="1200"/>
            </a:pPr>
            <a:r>
              <a:t>• Rates among resolved only (Option A); MBB bar panel + shape readout.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113687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>
                <a:latin typeface="Menlo"/>
              </a:defRPr>
            </a:pPr>
            <a:r>
              <a:t>python tenure/scripts/tenure_pass_a_hero.py …</a:t>
            </a:r>
            <a:br/>
            <a:r>
              <a:t>python tenure/scripts/build_tenure_hero_slides.py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 — Tenure HERO v0 — Q16 spell-mean annual LOO</a:t>
            </a:r>
          </a:p>
          <a:p>
            <a:pPr>
              <a:defRPr sz="1200" i="1"/>
            </a:pPr>
            <a:r>
              <a:t>Baseline lock · mean poolq_LOO over assistant years</a:t>
            </a:r>
          </a:p>
        </p:txBody>
      </p:sp>
      <p:pic>
        <p:nvPicPr>
          <p:cNvPr id="3" name="Picture 2" descr="HERO_tenure_q16_infHM_resolved_v0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45" y="777240"/>
            <a:ext cx="7432205" cy="41147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983479"/>
            <a:ext cx="1136873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tenure/scripts/tenure_pass_a_hero.py --output-tag q16_infHM_resolved_v0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5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bin1=41.667% · peak=ventile 15 @ 83.333% · last=72.727% · LPM β₂=-0.001097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 — Tenure HERO — Q20 spell-mean (dip robustness)</a:t>
            </a:r>
          </a:p>
          <a:p>
            <a:pPr>
              <a:defRPr sz="1200" i="1"/>
            </a:pPr>
            <a:r>
              <a:t>Higher bin count · annual LOO · spell mean</a:t>
            </a:r>
          </a:p>
        </p:txBody>
      </p:sp>
      <p:pic>
        <p:nvPicPr>
          <p:cNvPr id="3" name="Picture 2" descr="HERO_tenure_q20_loo_infH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049" y="777240"/>
            <a:ext cx="7389596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983480"/>
            <a:ext cx="1136873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tenure/scripts/tenure_pass_a_hero.py --n-bins 20 --output-tag q20_loo_infHM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bin1=41.667% · peak=ventile 18 @ 78.571% · last=70.588% · LPM β₂=-0.001097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 — Tenure HERO — Q16 last-ps cumulative LOO</a:t>
            </a:r>
          </a:p>
          <a:p>
            <a:pPr>
              <a:defRPr sz="1200" i="1"/>
            </a:pPr>
            <a:r>
              <a:t>Final assistant year · peer cumulative pubs · MBB last-ps analog</a:t>
            </a:r>
          </a:p>
        </p:txBody>
      </p:sp>
      <p:pic>
        <p:nvPicPr>
          <p:cNvPr id="3" name="Picture 2" descr="HERO_tenure_q16_lastps_loo_cum_infH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397" y="777240"/>
            <a:ext cx="74809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983480"/>
            <a:ext cx="1136873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tenure/scripts/tenure_pass_a_hero.py --grain last_asst --pool-perf cumulative --output-tag q16_lastps_loo_cum_infHM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bin1=55.172% · peak=ventile 14 @ 84.21% · last=84.0% · LPM β₂=-3.072e-05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 — Tenure HERO — Q20 last-ps cumulative LOO</a:t>
            </a:r>
          </a:p>
          <a:p>
            <a:pPr>
              <a:defRPr sz="1200" i="1"/>
            </a:pPr>
            <a:r>
              <a:t>Dip / shoulder robustness · peer cum LOO at exit year</a:t>
            </a:r>
          </a:p>
        </p:txBody>
      </p:sp>
      <p:pic>
        <p:nvPicPr>
          <p:cNvPr id="3" name="Picture 2" descr="HERO_tenure_q20_lastps_loo_cum_infH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397" y="777240"/>
            <a:ext cx="74809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983480"/>
            <a:ext cx="1136873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tenure/scripts/tenure_pass_a_hero.py --grain last_asst --pool-perf cumulative --n-bins 20 --output-tag q20_lastps_loo_cum_infHM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bin1=57.692% · peak=ventile 18 @ 88.889% · last=87.5% · LPM β₂=-3.072e-05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 — Tenure HERO — Q16 last-ps own cumulative pubs</a:t>
            </a:r>
          </a:p>
          <a:p>
            <a:pPr>
              <a:defRPr sz="1200" i="1"/>
            </a:pPr>
            <a:r>
              <a:t>Ability slice · own cum pubs at exit (F-HERO porch)</a:t>
            </a:r>
          </a:p>
        </p:txBody>
      </p:sp>
      <p:pic>
        <p:nvPicPr>
          <p:cNvPr id="3" name="Picture 2" descr="HERO_tenure_q16_lastps_own_cum_infH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81" y="777240"/>
            <a:ext cx="6951333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983480"/>
            <a:ext cx="1136873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tenure/scripts/tenure_pass_a_hero.py --grain last_asst --x-metric own_cum --output-tag q16_lastps_own_cum_infHM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bin1=54.546% · peak=ventile 16 @ 83.333% · last=83.333% · LPM β₂=-2.632e-05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6 — Tenure HERO — EW16 last-ps cumulative LOO</a:t>
            </a:r>
          </a:p>
          <a:p>
            <a:pPr>
              <a:defRPr sz="1200" i="1"/>
            </a:pPr>
            <a:r>
              <a:t>Equal-width bins · hue = bin n · on-bar counts</a:t>
            </a:r>
          </a:p>
        </p:txBody>
      </p:sp>
      <p:pic>
        <p:nvPicPr>
          <p:cNvPr id="3" name="Picture 2" descr="HERO_tenure_ew16_lastps_loo_cum_infH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58" y="777240"/>
            <a:ext cx="7444379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983480"/>
            <a:ext cx="1136873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tenure/scripts/tenure_pass_a_hero.py --grain last_asst --pool-perf cumulative --bin-method equal_width --output-tag ew16_lastps_loo_cum_infHM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bin1=29.747% · peak=ventile 7 @ 100.0% · last=100.0% · LPM β₂=-3.072e-05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7 — Tenure HERO — EW20 last-ps cumulative LOO</a:t>
            </a:r>
          </a:p>
          <a:p>
            <a:pPr>
              <a:defRPr sz="1200" i="1"/>
            </a:pPr>
            <a:r>
              <a:t>Equal-width robustness · peer cum LOO at exit year</a:t>
            </a:r>
          </a:p>
        </p:txBody>
      </p:sp>
      <p:pic>
        <p:nvPicPr>
          <p:cNvPr id="3" name="Picture 2" descr="HERO_tenure_ew20_lastps_loo_cum_infH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58" y="777240"/>
            <a:ext cx="7444379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983480"/>
            <a:ext cx="1136873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tenure/scripts/tenure_pass_a_hero.py --grain last_asst --pool-perf cumulative --bin-method equal_width --n-bins 20 --output-tag ew20_lastps_loo_cum_infHM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bin1=29.032% · peak=ventile 6 @ 100.0% · last=100.0% · LPM β₂=-3.072e-05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