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Tenure empirical HERO — inference panel</a:t>
            </a:r>
          </a:p>
          <a:p>
            <a:pPr>
              <a:defRPr sz="1200" i="1"/>
            </a:pPr>
            <a:r>
              <a:t>2026-09-02 · infHM · MBB slide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60120"/>
            <a:ext cx="1136873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/>
            </a:pPr>
            <a:r>
              <a:t>• Tenure HERO: HIGH + MEDIUM OpenAlex inference.</a:t>
            </a:r>
          </a:p>
          <a:p>
            <a:pPr>
              <a:spcAft>
                <a:spcPts val="300"/>
              </a:spcAft>
              <a:defRPr sz="1200"/>
            </a:pPr>
            <a:r>
              <a:t>• ASST-PS · mean · peer LOO (annum) = v0 default · N≈796.</a:t>
            </a:r>
          </a:p>
          <a:p>
            <a:pPr>
              <a:spcAft>
                <a:spcPts val="300"/>
              </a:spcAft>
              <a:defRPr sz="1200"/>
            </a:pPr>
            <a:r>
              <a:t>• LAST-PS · cum · peer LOO = final assistant year (MBB exit cross-section) · N≈732–805.</a:t>
            </a:r>
          </a:p>
          <a:p>
            <a:pPr>
              <a:spcAft>
                <a:spcPts val="300"/>
              </a:spcAft>
              <a:defRPr sz="1200"/>
            </a:pPr>
            <a:r>
              <a:t>• Rates among resolved only (Option A); yellow badge = window on each plot.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1136873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>
                <a:latin typeface="Menlo"/>
              </a:defRPr>
            </a:pPr>
            <a:r>
              <a:t>python tenure/scripts/tenure_pass_a_hero.py …</a:t>
            </a:r>
            <a:br/>
            <a:r>
              <a:t>python tenure/scripts/build_tenure_hero_slides.py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1 — Tenure HERO v0 — Q16 ASST-PS mean peer LOO</a:t>
            </a:r>
          </a:p>
          <a:p>
            <a:pPr>
              <a:defRPr sz="1200" i="1"/>
            </a:pPr>
            <a:r>
              <a:t>ASST-PS · peer LOO (annum) · N=796 · res=376</a:t>
            </a:r>
          </a:p>
        </p:txBody>
      </p:sp>
      <p:pic>
        <p:nvPicPr>
          <p:cNvPr id="3" name="Picture 2" descr="HERO_tenure_q16_infHM_resolved_v0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2104" y="777240"/>
            <a:ext cx="6147486" cy="41147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983479"/>
            <a:ext cx="1136873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tenure/scripts/tenure_pass_a_hero.py --output-tag q16_infHM_resolved_v0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080759"/>
            <a:ext cx="113687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Shape: bin1=41.667% · peak=ventile 15 @ 83.333% · last=72.727% · LPM β₂=-0.001097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2 — Tenure HERO — Q20 ASST-PS mean (dip robustness)</a:t>
            </a:r>
          </a:p>
          <a:p>
            <a:pPr>
              <a:defRPr sz="1200" i="1"/>
            </a:pPr>
            <a:r>
              <a:t>ASST-PS · peer LOO (annum) · N=796 · res=376</a:t>
            </a:r>
          </a:p>
        </p:txBody>
      </p:sp>
      <p:pic>
        <p:nvPicPr>
          <p:cNvPr id="3" name="Picture 2" descr="HERO_tenure_q20_loo_infHM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2104" y="777240"/>
            <a:ext cx="6147486" cy="41147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983479"/>
            <a:ext cx="1136873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tenure/scripts/tenure_pass_a_hero.py --n-bins 20 --output-tag q20_loo_infHM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080759"/>
            <a:ext cx="113687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Shape: bin1=41.667% · peak=ventile 18 @ 78.571% · last=70.588% · LPM β₂=-0.001097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3 — Tenure HERO — Q16 LAST-PS cum peer LOO</a:t>
            </a:r>
          </a:p>
          <a:p>
            <a:pPr>
              <a:defRPr sz="1200" i="1"/>
            </a:pPr>
            <a:r>
              <a:t>LAST-PS · peer cumulative LOO · N=732 · res=324</a:t>
            </a:r>
          </a:p>
        </p:txBody>
      </p:sp>
      <p:pic>
        <p:nvPicPr>
          <p:cNvPr id="3" name="Picture 2" descr="HERO_tenure_q16_lastps_loo_cum_infHM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2104" y="777240"/>
            <a:ext cx="6147486" cy="41147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983479"/>
            <a:ext cx="1136873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tenure/scripts/tenure_pass_a_hero.py --window last_ps --stat cum --output-tag q16_lastps_loo_cum_infHM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080759"/>
            <a:ext cx="113687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Shape: bin1=55.172% · peak=ventile 14 @ 84.21% · last=84.0% · LPM β₂=-3.072e-05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4 — Tenure HERO — Q20 LAST-PS cum peer LOO</a:t>
            </a:r>
          </a:p>
          <a:p>
            <a:pPr>
              <a:defRPr sz="1200" i="1"/>
            </a:pPr>
            <a:r>
              <a:t>LAST-PS · peer cumulative LOO · N=732 · res=324</a:t>
            </a:r>
          </a:p>
        </p:txBody>
      </p:sp>
      <p:pic>
        <p:nvPicPr>
          <p:cNvPr id="3" name="Picture 2" descr="HERO_tenure_q20_lastps_loo_cum_infHM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945" y="777240"/>
            <a:ext cx="6227805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983480"/>
            <a:ext cx="1136873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tenure/scripts/tenure_pass_a_hero.py --window last_ps --stat cum --n-bins 20 --output-tag q20_lastps_loo_cum_infHM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080760"/>
            <a:ext cx="113687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Shape: bin1=57.692% · peak=ventile 18 @ 88.889% · last=87.5% · LPM β₂=-3.072e-05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5 — Tenure HERO — Q16 LAST-PS own cum pubs</a:t>
            </a:r>
          </a:p>
          <a:p>
            <a:pPr>
              <a:defRPr sz="1200" i="1"/>
            </a:pPr>
            <a:r>
              <a:t>LAST-PS · own cumulative pubs · N=805 · res=383</a:t>
            </a:r>
          </a:p>
        </p:txBody>
      </p:sp>
      <p:pic>
        <p:nvPicPr>
          <p:cNvPr id="3" name="Picture 2" descr="HERO_tenure_q16_lastps_own_cum_infHM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2104" y="777240"/>
            <a:ext cx="6147486" cy="41147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983479"/>
            <a:ext cx="1136873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tenure/scripts/tenure_pass_a_hero.py --window last_ps --x-metric own_cum --output-tag q16_lastps_own_cum_infHM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080759"/>
            <a:ext cx="113687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Shape: bin1=54.546% · peak=ventile 16 @ 83.333% · last=83.333% · LPM β₂=-2.632e-05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6 — Tenure HERO — EW16 LAST-PS cum peer LOO</a:t>
            </a:r>
          </a:p>
          <a:p>
            <a:pPr>
              <a:defRPr sz="1200" i="1"/>
            </a:pPr>
            <a:r>
              <a:t>LAST-PS · peer cumulative LOO · N=732 · res=324</a:t>
            </a:r>
          </a:p>
        </p:txBody>
      </p:sp>
      <p:pic>
        <p:nvPicPr>
          <p:cNvPr id="3" name="Picture 2" descr="HERO_tenure_ew16_lastps_loo_cum_infHM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945" y="777240"/>
            <a:ext cx="6227805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983480"/>
            <a:ext cx="1136873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tenure/scripts/tenure_pass_a_hero.py --window last_ps --stat cum --bin-method equal_width --output-tag ew16_lastps_loo_cum_infHM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080760"/>
            <a:ext cx="113687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Shape: bin1=29.747% · peak=ventile 7 @ 100.0% · last=100.0% · LPM β₂=-3.072e-05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7 — Tenure HERO — EW20 LAST-PS cum peer LOO</a:t>
            </a:r>
          </a:p>
          <a:p>
            <a:pPr>
              <a:defRPr sz="1200" i="1"/>
            </a:pPr>
            <a:r>
              <a:t>LAST-PS · peer cumulative LOO · N=732 · res=324</a:t>
            </a:r>
          </a:p>
        </p:txBody>
      </p:sp>
      <p:pic>
        <p:nvPicPr>
          <p:cNvPr id="3" name="Picture 2" descr="HERO_tenure_ew20_lastps_loo_cum_infHM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945" y="777240"/>
            <a:ext cx="6227805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983480"/>
            <a:ext cx="1136873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tenure/scripts/tenure_pass_a_hero.py --window last_ps --stat cum --bin-method equal_width --n-bins 20 --output-tag ew20_lastps_loo_cum_infHM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080760"/>
            <a:ext cx="113687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Shape: bin1=29.032% · peak=ventile 6 @ 100.0% · last=100.0% · LPM β₂=-3.072e-05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Decision cohort HERO — dept pond (PD29)</a:t>
            </a:r>
          </a:p>
          <a:p>
            <a:pPr>
              <a:defRPr sz="1200" i="1"/>
            </a:pPr>
            <a:r>
              <a:t>Resolved exits · whole department at decision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60120"/>
            <a:ext cx="113687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Peer X = LOO mean pubs_per_career_year among dept faculty at decision year.</a:t>
            </a:r>
          </a:p>
          <a:p>
            <a:pPr>
              <a:defRPr sz="1200"/>
            </a:pPr>
            <a:r>
              <a:t>• Cohort = all resolved infHM (391); excludes transferred.</a:t>
            </a:r>
          </a:p>
          <a:p>
            <a:pPr>
              <a:defRPr sz="1200"/>
            </a:pPr>
            <a:r>
              <a:t>• Own-career slide = ability slice (not peer context).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8 — Decision HERO — Q16 dept pond LOO</a:t>
            </a:r>
          </a:p>
          <a:p>
            <a:pPr>
              <a:defRPr sz="1200" i="1"/>
            </a:pPr>
            <a:r>
              <a:t>DECISION · dept LOO career rate · N=389 · res=389</a:t>
            </a:r>
          </a:p>
        </p:txBody>
      </p:sp>
      <p:pic>
        <p:nvPicPr>
          <p:cNvPr id="3" name="Picture 2" descr="HERO_tenure_q16_decision_dept_loo_infHM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2104" y="777240"/>
            <a:ext cx="6147486" cy="41147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983479"/>
            <a:ext cx="1136873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tenure/scripts/tenure_pass_a_decision_hero.py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080759"/>
            <a:ext cx="113687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Shape: bin1=48.0% · peak=ventile 6 @ 79.167% · last=37.5% · LPM β₂=-0.01734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9 — Decision HERO — Q8 dept pond LOO</a:t>
            </a:r>
          </a:p>
          <a:p>
            <a:pPr>
              <a:defRPr sz="1200" i="1"/>
            </a:pPr>
            <a:r>
              <a:t>DECISION · dept LOO career rate · N=389 · res=389</a:t>
            </a:r>
          </a:p>
        </p:txBody>
      </p:sp>
      <p:pic>
        <p:nvPicPr>
          <p:cNvPr id="3" name="Picture 2" descr="HERO_tenure_q8_decision_dept_loo_infHM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2104" y="777240"/>
            <a:ext cx="6147486" cy="41147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983479"/>
            <a:ext cx="1136873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tenure/scripts/tenure_pass_a_decision_hero.py --n-bins 8 --output-tag q8_decision_dept_loo_infHM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080759"/>
            <a:ext cx="113687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Shape: bin1=44.898% · peak=ventile 6 @ 77.083% · last=41.667% · LPM β₂=-0.01734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10 — Decision HERO — Q10 dept pond LOO</a:t>
            </a:r>
          </a:p>
          <a:p>
            <a:pPr>
              <a:defRPr sz="1200" i="1"/>
            </a:pPr>
            <a:r>
              <a:t>DECISION · dept LOO career rate · N=389 · res=389</a:t>
            </a:r>
          </a:p>
        </p:txBody>
      </p:sp>
      <p:pic>
        <p:nvPicPr>
          <p:cNvPr id="3" name="Picture 2" descr="HERO_tenure_q10_decision_dept_loo_infHM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2104" y="777240"/>
            <a:ext cx="6147486" cy="41147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983479"/>
            <a:ext cx="1136873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tenure/scripts/tenure_pass_a_decision_hero.py --n-bins 10 --output-tag q10_decision_dept_loo_infHM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080759"/>
            <a:ext cx="113687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Shape: bin1=41.026% · peak=ventile 4 @ 69.231% · last=36.842% · LPM β₂=-0.01734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11 — Decision HERO — Q16 own career rate</a:t>
            </a:r>
          </a:p>
          <a:p>
            <a:pPr>
              <a:defRPr sz="1200" i="1"/>
            </a:pPr>
            <a:r>
              <a:t>DECISION · own career pubs rate · N=280 · res=280</a:t>
            </a:r>
          </a:p>
        </p:txBody>
      </p:sp>
      <p:pic>
        <p:nvPicPr>
          <p:cNvPr id="3" name="Picture 2" descr="HERO_tenure_q16_decision_own_career_infHM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2104" y="777240"/>
            <a:ext cx="6147486" cy="41147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983479"/>
            <a:ext cx="1136873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tenure/scripts/tenure_pass_a_decision_hero.py --x-metric own_career --output-tag q16_decision_own_career_infHM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080759"/>
            <a:ext cx="113687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Shape: bin1=50.0% · peak=ventile 15 @ 77.778% · last=58.823% · LPM β₂=-0.0006929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12 — Decision HERO — Q8 own career rate</a:t>
            </a:r>
          </a:p>
          <a:p>
            <a:pPr>
              <a:defRPr sz="1200" i="1"/>
            </a:pPr>
            <a:r>
              <a:t>DECISION · own career pubs rate · N=280 · res=280</a:t>
            </a:r>
          </a:p>
        </p:txBody>
      </p:sp>
      <p:pic>
        <p:nvPicPr>
          <p:cNvPr id="3" name="Picture 2" descr="HERO_tenure_q8_decision_own_career_infHM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2104" y="777240"/>
            <a:ext cx="6147486" cy="41147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983479"/>
            <a:ext cx="1136873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tenure/scripts/tenure_pass_a_decision_hero.py --x-metric own_career --n-bins 8 --output-tag q8_decision_own_career_infHM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080759"/>
            <a:ext cx="113687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Shape: bin1=45.714% · peak=ventile 7 @ 71.429% · last=68.571% · LPM β₂=-0.0006929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13 — Decision HERO — Q10 own career rate</a:t>
            </a:r>
          </a:p>
          <a:p>
            <a:pPr>
              <a:defRPr sz="1200" i="1"/>
            </a:pPr>
            <a:r>
              <a:t>DECISION · own career pubs rate · N=280 · res=280</a:t>
            </a:r>
          </a:p>
        </p:txBody>
      </p:sp>
      <p:pic>
        <p:nvPicPr>
          <p:cNvPr id="3" name="Picture 2" descr="HERO_tenure_q10_decision_own_career_infHM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2104" y="777240"/>
            <a:ext cx="6147486" cy="41147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983479"/>
            <a:ext cx="1136873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tenure/scripts/tenure_pass_a_decision_hero.py --x-metric own_career --n-bins 10 --output-tag q10_decision_own_career_infHM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080759"/>
            <a:ext cx="113687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Shape: bin1=46.429% · peak=ventile 8 @ 71.429% · last=67.857% · LPM β₂=-0.0006929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