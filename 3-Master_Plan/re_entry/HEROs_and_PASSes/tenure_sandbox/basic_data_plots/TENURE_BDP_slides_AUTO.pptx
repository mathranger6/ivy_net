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000"/>
            </a:pPr>
            <a:r>
              <a:t>Tenure basic data plots — inference porch</a:t>
            </a:r>
          </a:p>
          <a:p>
            <a:pPr>
              <a:defRPr sz="1200" i="1"/>
            </a:pPr>
            <a:r>
              <a:t>2026-09-02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05840"/>
            <a:ext cx="1136873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00"/>
            </a:pPr>
            <a:r>
              <a:t>• Tenure porch BDP: HIGH + MEDIUM OpenAlex inference · LOO computable.</a:t>
            </a:r>
          </a:p>
          <a:p>
            <a:pPr>
              <a:spcAft>
                <a:spcPts val="200"/>
              </a:spcAft>
              <a:defRPr sz="1100"/>
            </a:pPr>
            <a:r>
              <a:t>• v0 section: ASST-PS uni×year assistant pools (exploratory lock).</a:t>
            </a:r>
          </a:p>
          <a:p>
            <a:pPr>
              <a:spcAft>
                <a:spcPts val="200"/>
              </a:spcAft>
              <a:defRPr sz="1100"/>
            </a:pPr>
            <a:r>
              <a:t>• PD29 section: decision cohort · asst_time · pubs_per_career_year · dept pond LOO.</a:t>
            </a:r>
          </a:p>
          <a:p>
            <a:pPr>
              <a:spcAft>
                <a:spcPts val="200"/>
              </a:spcAft>
              <a:defRPr sz="1100"/>
            </a:pPr>
            <a:r>
              <a:t>• HERO rate plots: TENURE_HERO_slides_AUTO.pptx (decision dept LOO = primary).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2377440"/>
            <a:ext cx="1136873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>
                <a:latin typeface="Menlo"/>
              </a:defRPr>
            </a:pPr>
            <a:r>
              <a:t>python tenure/scripts/tenure_basic_plots.py</a:t>
            </a:r>
            <a:br/>
            <a:r>
              <a:t>python tenure/scripts/build_tenure_basic_plots_slides.py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000"/>
            </a:pPr>
            <a:r>
              <a:t>Slide 1 — Uni-year peer pool interval overlap</a:t>
            </a:r>
          </a:p>
          <a:p>
            <a:pPr>
              <a:defRPr sz="1200" i="1"/>
            </a:pPr>
            <a:r>
              <a:t>ASST-PS · MBB PD17 / reigning overlap analog · pubs_year z within year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11368735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00"/>
            </a:pPr>
            <a:r>
              <a:t>• Pool unit = university × year (OpenAlex assistant peer pool).</a:t>
            </a:r>
          </a:p>
          <a:p>
            <a:pPr>
              <a:spcAft>
                <a:spcPts val="200"/>
              </a:spcAft>
              <a:defRPr sz="1100"/>
            </a:pPr>
            <a:r>
              <a:t>• Each interval = [min, max] own pubs (z within year) across OA assistants in pool.</a:t>
            </a:r>
          </a:p>
          <a:p>
            <a:pPr>
              <a:spcAft>
                <a:spcPts val="200"/>
              </a:spcAft>
              <a:defRPr sz="1100"/>
            </a:pPr>
            <a:r>
              <a:t>• Overlap along the spectrum motivates LOO vs full-pool pressure (F-HERO later).</a:t>
            </a:r>
          </a:p>
        </p:txBody>
      </p:sp>
      <p:pic>
        <p:nvPicPr>
          <p:cNvPr id="4" name="Picture 3" descr="TENURE_pool_interval_overlap_infH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88034" y="1545336"/>
            <a:ext cx="5015626" cy="387705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5495544"/>
            <a:ext cx="11368735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>
                <a:latin typeface="Menlo"/>
              </a:defRPr>
            </a:pPr>
            <a:r>
              <a:t>python tenure/scripts/tenure_basic_plots.py --only overlap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035040"/>
            <a:ext cx="1136873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uni-year pools=283 · asst-years=2,373 · max coverage=243 · H_sort=0.174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000"/>
            </a:pPr>
            <a:r>
              <a:t>Slide 2 — Uni-year peer pool interval overlap (pubs &gt; 0)</a:t>
            </a:r>
          </a:p>
          <a:p>
            <a:pPr>
              <a:defRPr sz="1200" i="1"/>
            </a:pPr>
            <a:r>
              <a:t>ASST-PS · Sensitivity — intensive margin only · compare to prior slide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11368735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00"/>
            </a:pPr>
            <a:r>
              <a:t>• Same pool unit; assistant-years with pubs_year = 0 dropped before z and intervals.</a:t>
            </a:r>
          </a:p>
          <a:p>
            <a:pPr>
              <a:spcAft>
                <a:spcPts val="200"/>
              </a:spcAft>
              <a:defRPr sz="1100"/>
            </a:pPr>
            <a:r>
              <a:t>• z within year recomputed on pubs &gt; 0 rows only (not identical to full-panel z).</a:t>
            </a:r>
          </a:p>
          <a:p>
            <a:pPr>
              <a:spcAft>
                <a:spcPts val="200"/>
              </a:spcAft>
              <a:defRPr sz="1100"/>
            </a:pPr>
            <a:r>
              <a:t>• Compare H_sort and coverage to full-panel slide — zeros inflate overlap mass at bottom.</a:t>
            </a:r>
          </a:p>
        </p:txBody>
      </p:sp>
      <p:pic>
        <p:nvPicPr>
          <p:cNvPr id="4" name="Picture 3" descr="TENURE_pool_interval_overlap_infHM_pubs_gt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88034" y="1545336"/>
            <a:ext cx="5015626" cy="387705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5495544"/>
            <a:ext cx="11368735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>
                <a:latin typeface="Menlo"/>
              </a:defRPr>
            </a:pPr>
            <a:r>
              <a:t>python tenure/scripts/tenure_basic_plots.py --only overlap_gt0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035040"/>
            <a:ext cx="1136873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uni-year pools=263 · asst-years=1,526 · max coverage=205 · H_sort=0.207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000"/>
            </a:pPr>
            <a:r>
              <a:t>Slide 3 — poolq_LOO distribution (HERO grain)</a:t>
            </a:r>
          </a:p>
          <a:p>
            <a:pPr>
              <a:defRPr sz="1200" i="1"/>
            </a:pPr>
            <a:r>
              <a:t>ASST-PS · Person-level mean · N≈796 matches Q16/Q20 HERO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11368735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00"/>
            </a:pPr>
            <a:r>
              <a:t>• Same collapse as tenure_pass_a_hero: mean poolq_loo_mean over assistant years.</a:t>
            </a:r>
          </a:p>
          <a:p>
            <a:pPr>
              <a:spcAft>
                <a:spcPts val="200"/>
              </a:spcAft>
              <a:defRPr sz="1100"/>
            </a:pPr>
            <a:r>
              <a:t>• Right-skew drives equal-width bin sparsity at high LOO.</a:t>
            </a:r>
          </a:p>
        </p:txBody>
      </p:sp>
      <p:pic>
        <p:nvPicPr>
          <p:cNvPr id="4" name="Picture 3" descr="TENURE_poolq_loo_distribution_infH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71490" y="1545336"/>
            <a:ext cx="6248715" cy="387705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5495544"/>
            <a:ext cx="11368735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>
                <a:latin typeface="Menlo"/>
              </a:defRPr>
            </a:pPr>
            <a:r>
              <a:t>python tenure/scripts/tenure_basic_plots.py --only poolq_loo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035040"/>
            <a:ext cx="1136873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n=787 · median=3.34 · mean=4.22 · sd=3.16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000"/>
            </a:pPr>
            <a:r>
              <a:t>Slide 4 — Own pubs_year distribution</a:t>
            </a:r>
          </a:p>
          <a:p>
            <a:pPr>
              <a:defRPr sz="1200" i="1"/>
            </a:pPr>
            <a:r>
              <a:t>ASST-PS · Unconditional + inset (pubs &gt; 0) · inference panel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11368735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00"/>
            </a:pPr>
            <a:r>
              <a:t>• Main: all assistant-years (36% zero pub years in OpenAlex count).</a:t>
            </a:r>
          </a:p>
          <a:p>
            <a:pPr>
              <a:spcAft>
                <a:spcPts val="200"/>
              </a:spcAft>
              <a:defRPr sz="1100"/>
            </a:pPr>
            <a:r>
              <a:t>• Inset: intensive margin — shape among those with ≥1 pub (N≈1,544).</a:t>
            </a:r>
          </a:p>
          <a:p>
            <a:pPr>
              <a:spcAft>
                <a:spcPts val="200"/>
              </a:spcAft>
              <a:defRPr sz="1100"/>
            </a:pPr>
            <a:r>
              <a:t>• Main x-axis capped near p99; tail max=237 noted in legend box.</a:t>
            </a:r>
          </a:p>
        </p:txBody>
      </p:sp>
      <p:pic>
        <p:nvPicPr>
          <p:cNvPr id="4" name="Picture 3" descr="TENURE_pubs_year_distribution_infH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32854" y="1545336"/>
            <a:ext cx="6325987" cy="387705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5495544"/>
            <a:ext cx="11368735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>
                <a:latin typeface="Menlo"/>
              </a:defRPr>
            </a:pPr>
            <a:r>
              <a:t>python tenure/scripts/tenure_basic_plots.py --only pubs_year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035040"/>
            <a:ext cx="1136873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all n=2,373 (36% zero) · inset n=1,526 · med=7.0 · mean=9.7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000"/>
            </a:pPr>
            <a:r>
              <a:t>Slide 5 — LOO peer pool size distribution</a:t>
            </a:r>
          </a:p>
          <a:p>
            <a:pPr>
              <a:defRPr sz="1200" i="1"/>
            </a:pPr>
            <a:r>
              <a:t>ASST-PS · pool_size_oa_loo on assistant person-years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11368735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00"/>
            </a:pPr>
            <a:r>
              <a:t>• Count of OA-matched co-assistants after leave-one-out.</a:t>
            </a:r>
          </a:p>
          <a:p>
            <a:pPr>
              <a:spcAft>
                <a:spcPts val="200"/>
              </a:spcAft>
              <a:defRPr sz="1100"/>
            </a:pPr>
            <a:r>
              <a:t>• Thin pools → noisy LOO; complements overlap slide.</a:t>
            </a:r>
          </a:p>
        </p:txBody>
      </p:sp>
      <p:pic>
        <p:nvPicPr>
          <p:cNvPr id="4" name="Picture 3" descr="TENURE_pool_size_loo_distribution_infH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71490" y="1545336"/>
            <a:ext cx="6248715" cy="387705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5495544"/>
            <a:ext cx="11368735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>
                <a:latin typeface="Menlo"/>
              </a:defRPr>
            </a:pPr>
            <a:r>
              <a:t>python tenure/scripts/tenure_basic_plots.py --only pool_size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035040"/>
            <a:ext cx="1136873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n=2,373 · median=15.00 · mean=17.12 · sd=10.36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000"/>
            </a:pPr>
            <a:r>
              <a:t>Slide 6 — Own pubs by outcome (person-level)</a:t>
            </a:r>
          </a:p>
          <a:p>
            <a:pPr>
              <a:defRPr sz="1200" i="1"/>
            </a:pPr>
            <a:r>
              <a:t>ASST-PS · Tenured vs attrition vs censored · same HERO 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11368735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00"/>
            </a:pPr>
            <a:r>
              <a:t>• Person-level mean pubs_year over assistant spell — descriptive, not HERO.</a:t>
            </a:r>
          </a:p>
          <a:p>
            <a:pPr>
              <a:spcAft>
                <a:spcPts val="200"/>
              </a:spcAft>
              <a:defRPr sz="1100"/>
            </a:pPr>
            <a:r>
              <a:t>• Blue = promoted (tenure_event); orange = left as assistant; gray = still asst ≈ 2024.</a:t>
            </a:r>
          </a:p>
          <a:p>
            <a:pPr>
              <a:spcAft>
                <a:spcPts val="200"/>
              </a:spcAft>
              <a:defRPr sz="1100"/>
            </a:pPr>
            <a:r>
              <a:t>• Compares own output to the LOO environment HERO bins on.</a:t>
            </a:r>
          </a:p>
        </p:txBody>
      </p:sp>
      <p:pic>
        <p:nvPicPr>
          <p:cNvPr id="4" name="Picture 3" descr="TENURE_pubs_mean_by_outcome_infH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32854" y="1545336"/>
            <a:ext cx="6325987" cy="387705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5495544"/>
            <a:ext cx="11368735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>
                <a:latin typeface="Menlo"/>
              </a:defRPr>
            </a:pPr>
            <a:r>
              <a:t>python tenure/scripts/tenure_basic_plots.py --only pubs_by_outcome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035040"/>
            <a:ext cx="1136873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tenured n=191 med=6.0 · attrition n=194 med=2.8 · censored n=402 med=1.7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000"/>
            </a:pPr>
            <a:r>
              <a:t>Slide 7 — Promoted instructors — own pubs</a:t>
            </a:r>
          </a:p>
          <a:p>
            <a:pPr>
              <a:defRPr sz="1200" i="1"/>
            </a:pPr>
            <a:r>
              <a:t>ASST-PS · Tenured only · person-level mean + inset (mean &gt; 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11368735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00"/>
            </a:pPr>
            <a:r>
              <a:t>• Subset to tenure_event = True (N≈174 on inference panel).</a:t>
            </a:r>
          </a:p>
          <a:p>
            <a:pPr>
              <a:spcAft>
                <a:spcPts val="200"/>
              </a:spcAft>
              <a:defRPr sz="1100"/>
            </a:pPr>
            <a:r>
              <a:t>• Mean annual pubs over assistant years — not cumulative career total.</a:t>
            </a:r>
          </a:p>
          <a:p>
            <a:pPr>
              <a:spcAft>
                <a:spcPts val="200"/>
              </a:spcAft>
              <a:defRPr sz="1100"/>
            </a:pPr>
            <a:r>
              <a:t>• Pairs with HERO high-bin tenure rates; inset drops zero-mean spells.</a:t>
            </a:r>
          </a:p>
        </p:txBody>
      </p:sp>
      <p:pic>
        <p:nvPicPr>
          <p:cNvPr id="4" name="Picture 3" descr="TENURE_pubs_mean_tenured_infH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35368" y="1545336"/>
            <a:ext cx="6320958" cy="387705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5495544"/>
            <a:ext cx="11368735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>
                <a:latin typeface="Menlo"/>
              </a:defRPr>
            </a:pPr>
            <a:r>
              <a:t>python tenure/scripts/tenure_basic_plots.py --only pubs_tenured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035040"/>
            <a:ext cx="1136873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tenured n=191 · med=6.0 · mean=7.7 · inset n=149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000"/>
            </a:pPr>
            <a:r>
              <a:t>Slide 8 — poolq_LOO by outcome (person-level)</a:t>
            </a:r>
          </a:p>
          <a:p>
            <a:pPr>
              <a:defRPr sz="1200" i="1"/>
            </a:pPr>
            <a:r>
              <a:t>ASST-PS · Peer environment split · complements HERO x-axis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11368735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00"/>
            </a:pPr>
            <a:r>
              <a:t>• Same outcome colors as pubs-by-outcome slide.</a:t>
            </a:r>
          </a:p>
          <a:p>
            <a:pPr>
              <a:spcAft>
                <a:spcPts val="200"/>
              </a:spcAft>
              <a:defRPr sz="1100"/>
            </a:pPr>
            <a:r>
              <a:t>• Shows whether promoted faculty carried higher LOO peer pressure on average.</a:t>
            </a:r>
          </a:p>
          <a:p>
            <a:pPr>
              <a:spcAft>
                <a:spcPts val="200"/>
              </a:spcAft>
              <a:defRPr sz="1100"/>
            </a:pPr>
            <a:r>
              <a:t>• HERO asks rate(T|LOO bin); this is marginal LOO by outcome.</a:t>
            </a:r>
          </a:p>
        </p:txBody>
      </p:sp>
      <p:pic>
        <p:nvPicPr>
          <p:cNvPr id="4" name="Picture 3" descr="TENURE_poolq_loo_by_outcome_infH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30340" y="1545336"/>
            <a:ext cx="6331015" cy="387705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5495544"/>
            <a:ext cx="11368735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>
                <a:latin typeface="Menlo"/>
              </a:defRPr>
            </a:pPr>
            <a:r>
              <a:t>python tenure/scripts/tenure_basic_plots.py --only loo_by_outcome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035040"/>
            <a:ext cx="1136873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tenured n=191 med=3.8 · attrition n=194 med=3.7 · censored n=402 med=3.1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000"/>
            </a:pPr>
            <a:r>
              <a:t>Decision cohort — basic data plots (PD29)</a:t>
            </a:r>
          </a:p>
          <a:p>
            <a:pPr>
              <a:defRPr sz="1200" i="1"/>
            </a:pPr>
            <a:r>
              <a:t>2026-09-02 · rebuilt panel · new metrics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05840"/>
            <a:ext cx="11368735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00"/>
            </a:pPr>
            <a:r>
              <a:t>• Resolved = tenure or attrition (incl. off_tenure_track). Excl. censored + transferred.</a:t>
            </a:r>
          </a:p>
          <a:p>
            <a:pPr>
              <a:spcAft>
                <a:spcPts val="200"/>
              </a:spcAft>
              <a:defRPr sz="1100"/>
            </a:pPr>
            <a:r>
              <a:t>• Metrics: asst_time · own pubs_per_career_year · dept pond LOO (whole dept, you excluded).</a:t>
            </a:r>
          </a:p>
          <a:p>
            <a:pPr>
              <a:spcAft>
                <a:spcPts val="200"/>
              </a:spcAft>
              <a:defRPr sz="1100"/>
            </a:pPr>
            <a:r>
              <a:t>• Reference band asst_time 5–6 shaded on timing plot only — not an inclusion filter.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000"/>
            </a:pPr>
            <a:r>
              <a:t>Slide 9 — Assistant time at exit (all resolved)</a:t>
            </a:r>
          </a:p>
          <a:p>
            <a:pPr>
              <a:defRPr sz="1200" i="1"/>
            </a:pPr>
            <a:r>
              <a:t>exit cross-section · Reference band asst_time 5–6 shaded · not a filter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11368735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00"/>
            </a:pPr>
            <a:r>
              <a:t>• 391 resolved infHM at last assistant year (excl. transferred).</a:t>
            </a:r>
          </a:p>
          <a:p>
            <a:pPr>
              <a:spcAft>
                <a:spcPts val="200"/>
              </a:spcAft>
              <a:defRPr sz="1100"/>
            </a:pPr>
            <a:r>
              <a:t>• Dept-year censoring + off-tenure-track attrition on rebuilt panel.</a:t>
            </a:r>
          </a:p>
          <a:p>
            <a:pPr>
              <a:spcAft>
                <a:spcPts val="200"/>
              </a:spcAft>
              <a:defRPr sz="1100"/>
            </a:pPr>
            <a:r>
              <a:t>• Most exits early (asst_time 1–4); band 5–6 = Alex expected clock (63 people, 16%).</a:t>
            </a:r>
          </a:p>
        </p:txBody>
      </p:sp>
      <p:pic>
        <p:nvPicPr>
          <p:cNvPr id="4" name="Picture 3" descr="TENURE_decision_asst_time_exit_pd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68849" y="1545336"/>
            <a:ext cx="6253997" cy="387705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5495544"/>
            <a:ext cx="11368735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>
                <a:latin typeface="Menlo"/>
              </a:defRPr>
            </a:pPr>
            <a:r>
              <a:t>python tenure/scripts/tenure_basic_plots.py --mode pd29 --only decision_asst_time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035040"/>
            <a:ext cx="1136873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resolved=391 · in reference band=63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000"/>
            </a:pPr>
            <a:r>
              <a:t>Slide 10 — Own career pubs rate at decision (Alex Â)</a:t>
            </a:r>
          </a:p>
          <a:p>
            <a:pPr>
              <a:defRPr sz="1200" i="1"/>
            </a:pPr>
            <a:r>
              <a:t>DECISION · cum ÷ career age · ability slice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11368735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00"/>
            </a:pPr>
            <a:r>
              <a:t>• pubs_per_career_year from career master at decision calendar year.</a:t>
            </a:r>
          </a:p>
          <a:p>
            <a:pPr>
              <a:spcAft>
                <a:spcPts val="200"/>
              </a:spcAft>
              <a:defRPr sz="1100"/>
            </a:pPr>
            <a:r>
              <a:t>• 280/391 with computable rate (OpenAlex coverage gap).</a:t>
            </a:r>
          </a:p>
          <a:p>
            <a:pPr>
              <a:spcAft>
                <a:spcPts val="200"/>
              </a:spcAft>
              <a:defRPr sz="1100"/>
            </a:pPr>
            <a:r>
              <a:t>• Pairs with own-career HERO slide — not the peer-context X.</a:t>
            </a:r>
          </a:p>
        </p:txBody>
      </p:sp>
      <p:pic>
        <p:nvPicPr>
          <p:cNvPr id="4" name="Picture 3" descr="TENURE_pubs_career_rate_pd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67227" y="1545336"/>
            <a:ext cx="6257240" cy="387705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5495544"/>
            <a:ext cx="11368735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>
                <a:latin typeface="Menlo"/>
              </a:defRPr>
            </a:pPr>
            <a:r>
              <a:t>python tenure/scripts/tenure_basic_plots.py --mode pd29 --only career_rate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035040"/>
            <a:ext cx="1136873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n=280 · median=3.65 · mean=4.83 · sd=5.51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000"/>
            </a:pPr>
            <a:r>
              <a:t>Slide 11 — Own career pubs rate by outcome</a:t>
            </a:r>
          </a:p>
          <a:p>
            <a:pPr>
              <a:defRPr sz="1200" i="1"/>
            </a:pPr>
            <a:r>
              <a:t>DECISION · Tenured vs attrition · ability slice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11368735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00"/>
            </a:pPr>
            <a:r>
              <a:t>• Same career-rate metric split by tenure vs attrition (incl. OTT).</a:t>
            </a:r>
          </a:p>
          <a:p>
            <a:pPr>
              <a:spcAft>
                <a:spcPts val="200"/>
              </a:spcAft>
              <a:defRPr sz="1100"/>
            </a:pPr>
            <a:r>
              <a:t>• Descriptive marginals — HERO bins on dept pond LOO, not own Â.</a:t>
            </a:r>
          </a:p>
        </p:txBody>
      </p:sp>
      <p:pic>
        <p:nvPicPr>
          <p:cNvPr id="4" name="Picture 3" descr="TENURE_pubs_career_rate_by_outcome_pd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32854" y="1545336"/>
            <a:ext cx="6325987" cy="387705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5495544"/>
            <a:ext cx="11368735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>
                <a:latin typeface="Menlo"/>
              </a:defRPr>
            </a:pPr>
            <a:r>
              <a:t>python tenure/scripts/tenure_basic_plots.py --mode pd29 --only career_rate_by_outcome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035040"/>
            <a:ext cx="1136873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tenured n=146 med=4.4 · attrition n=134 med=3.0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000"/>
            </a:pPr>
            <a:r>
              <a:t>Slide 12 — Dept pond LOO career rate</a:t>
            </a:r>
          </a:p>
          <a:p>
            <a:pPr>
              <a:defRPr sz="1200" i="1"/>
            </a:pPr>
            <a:r>
              <a:t>DECISION · Whole dept at decision year · HERO peer-context 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11368735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00"/>
            </a:pPr>
            <a:r>
              <a:t>• LOO mean of all other faculty's pubs_per_career_year in department.</a:t>
            </a:r>
          </a:p>
          <a:p>
            <a:pPr>
              <a:spcAft>
                <a:spcPts val="200"/>
              </a:spcAft>
              <a:defRPr sz="1100"/>
            </a:pPr>
            <a:r>
              <a:t>• 389/391 with computable dept LOO — primary HERO x-axis.</a:t>
            </a:r>
          </a:p>
          <a:p>
            <a:pPr>
              <a:spcAft>
                <a:spcPts val="200"/>
              </a:spcAft>
              <a:defRPr sz="1100"/>
            </a:pPr>
            <a:r>
              <a:t>• Includes senior faculty, not assistant-only uni×year pool.</a:t>
            </a:r>
          </a:p>
        </p:txBody>
      </p:sp>
      <p:pic>
        <p:nvPicPr>
          <p:cNvPr id="4" name="Picture 3" descr="TENURE_dept_loo_career_rate_pd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67227" y="1545336"/>
            <a:ext cx="6257240" cy="387705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5495544"/>
            <a:ext cx="11368735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>
                <a:latin typeface="Menlo"/>
              </a:defRPr>
            </a:pPr>
            <a:r>
              <a:t>python tenure/scripts/tenure_basic_plots.py --mode pd29 --only dept_loo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035040"/>
            <a:ext cx="1136873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n=389 · med=4.69 · mean=4.76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000"/>
            </a:pPr>
            <a:r>
              <a:t>Slide 13 — Dept pond LOO by outcome</a:t>
            </a:r>
          </a:p>
          <a:p>
            <a:pPr>
              <a:defRPr sz="1200" i="1"/>
            </a:pPr>
            <a:r>
              <a:t>DECISION · Peer environment split · complements decision HERO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11368735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00"/>
            </a:pPr>
            <a:r>
              <a:t>• Marginal dept LOO by tenure vs attrition — not binned rates.</a:t>
            </a:r>
          </a:p>
          <a:p>
            <a:pPr>
              <a:spcAft>
                <a:spcPts val="200"/>
              </a:spcAft>
              <a:defRPr sz="1100"/>
            </a:pPr>
            <a:r>
              <a:t>• Ask: did promoted faculty sit in stronger department ponds on average?</a:t>
            </a:r>
          </a:p>
        </p:txBody>
      </p:sp>
      <p:pic>
        <p:nvPicPr>
          <p:cNvPr id="4" name="Picture 3" descr="TENURE_dept_loo_career_rate_by_outcome_pd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32854" y="1545336"/>
            <a:ext cx="6325987" cy="387705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5495544"/>
            <a:ext cx="11368735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>
                <a:latin typeface="Menlo"/>
              </a:defRPr>
            </a:pPr>
            <a:r>
              <a:t>python tenure/scripts/tenure_basic_plots.py --mode pd29 --only dept_loo_by_outcome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035040"/>
            <a:ext cx="1136873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tenured n=191 med=4.7 · attrition n=198 med=4.8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000"/>
            </a:pPr>
            <a:r>
              <a:t>Slide 14 — Zero annual pubs but positive career rate (tenured)</a:t>
            </a:r>
          </a:p>
          <a:p>
            <a:pPr>
              <a:defRPr sz="1200" i="1"/>
            </a:pPr>
            <a:r>
              <a:t>DECISION · Wrong lens if you use pubs_year only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11368735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00"/>
            </a:pPr>
            <a:r>
              <a:t>• Tenured with pubs_year=0 at decision but pubs_per_career_year &gt; 0.</a:t>
            </a:r>
          </a:p>
          <a:p>
            <a:pPr>
              <a:spcAft>
                <a:spcPts val="200"/>
              </a:spcAft>
              <a:defRPr sz="1100"/>
            </a:pPr>
            <a:r>
              <a:t>• Motivates cumulative / career-rate lock vs single-year annual count.</a:t>
            </a:r>
          </a:p>
        </p:txBody>
      </p:sp>
      <p:pic>
        <p:nvPicPr>
          <p:cNvPr id="4" name="Picture 3" descr="TENURE_annual_zero_tenured_pd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1578" y="1545336"/>
            <a:ext cx="6528538" cy="387705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5495544"/>
            <a:ext cx="11368735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>
                <a:latin typeface="Menlo"/>
              </a:defRPr>
            </a:pPr>
            <a:r>
              <a:t>python tenure/scripts/tenure_basic_plots.py --mode pd29 --only annual_zero_tenured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035040"/>
            <a:ext cx="1136873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tenured=191 · zero annual / +career=6 (3.14%)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