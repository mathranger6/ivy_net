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Tenure basic data plots — inference porch</a:t>
            </a:r>
          </a:p>
          <a:p>
            <a:pPr>
              <a:defRPr sz="1200" i="1"/>
            </a:pPr>
            <a:r>
              <a:t>2026-09-01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05840"/>
            <a:ext cx="113687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Tenure HERO population: HIGH + MEDIUM OpenAlex inference · LOO computable on assistant rows.</a:t>
            </a:r>
          </a:p>
          <a:p>
            <a:pPr>
              <a:spcAft>
                <a:spcPts val="200"/>
              </a:spcAft>
              <a:defRPr sz="1100"/>
            </a:pPr>
            <a:r>
              <a:t>• HERO lock: person-level mean poolq_LOO · Q16 quantile (Q20 for dip robustness).</a:t>
            </a:r>
          </a:p>
          <a:p>
            <a:pPr>
              <a:spcAft>
                <a:spcPts val="200"/>
              </a:spcAft>
              <a:defRPr sz="1100"/>
            </a:pPr>
            <a:r>
              <a:t>• Rates: tenure among resolved (Option A); censored excluded from denominator.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377440"/>
            <a:ext cx="113687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>
                <a:latin typeface="Menlo"/>
              </a:defRPr>
            </a:pPr>
            <a:r>
              <a:t>python tenure/scripts/tenure_basic_plots.py</a:t>
            </a:r>
            <a:br/>
            <a:r>
              <a:t>python tenure/scripts/build_tenure_basic_plots_slides.py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1 — Uni-year peer pool interval overlap</a:t>
            </a:r>
          </a:p>
          <a:p>
            <a:pPr>
              <a:defRPr sz="1200" i="1"/>
            </a:pPr>
            <a:r>
              <a:t>MBB PD17 / reigning overlap analog · pubs_year z within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Pool unit = university × year (OpenAlex assistant peer pool).</a:t>
            </a:r>
          </a:p>
          <a:p>
            <a:pPr>
              <a:spcAft>
                <a:spcPts val="200"/>
              </a:spcAft>
              <a:defRPr sz="1100"/>
            </a:pPr>
            <a:r>
              <a:t>• Each interval = [min, max] own pubs (z within year) across OA assistants in pool.</a:t>
            </a:r>
          </a:p>
          <a:p>
            <a:pPr>
              <a:spcAft>
                <a:spcPts val="200"/>
              </a:spcAft>
              <a:defRPr sz="1100"/>
            </a:pPr>
            <a:r>
              <a:t>• Overlap along the spectrum motivates LOO vs full-pool pressure (F-HERO later).</a:t>
            </a:r>
          </a:p>
        </p:txBody>
      </p:sp>
      <p:pic>
        <p:nvPicPr>
          <p:cNvPr id="4" name="Picture 3" descr="TENURE_pool_interval_overlap_inf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8034" y="1545336"/>
            <a:ext cx="5015626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--only overlap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uni-year pools=283 · asst-years=2,396 · max coverage=245 · H_sort=0.173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2 — Uni-year peer pool interval overlap (pubs &gt; 0)</a:t>
            </a:r>
          </a:p>
          <a:p>
            <a:pPr>
              <a:defRPr sz="1200" i="1"/>
            </a:pPr>
            <a:r>
              <a:t>Sensitivity — intensive margin only · compare to prior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Same pool unit; assistant-years with pubs_year = 0 dropped before z and intervals.</a:t>
            </a:r>
          </a:p>
          <a:p>
            <a:pPr>
              <a:spcAft>
                <a:spcPts val="200"/>
              </a:spcAft>
              <a:defRPr sz="1100"/>
            </a:pPr>
            <a:r>
              <a:t>• z within year recomputed on pubs &gt; 0 rows only (not identical to full-panel z).</a:t>
            </a:r>
          </a:p>
          <a:p>
            <a:pPr>
              <a:spcAft>
                <a:spcPts val="200"/>
              </a:spcAft>
              <a:defRPr sz="1100"/>
            </a:pPr>
            <a:r>
              <a:t>• Compare H_sort and coverage to full-panel slide — zeros inflate overlap mass at bottom.</a:t>
            </a:r>
          </a:p>
        </p:txBody>
      </p:sp>
      <p:pic>
        <p:nvPicPr>
          <p:cNvPr id="4" name="Picture 3" descr="TENURE_pool_interval_overlap_infHM_pubs_gt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8034" y="1545336"/>
            <a:ext cx="5015626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--only overlap_gt0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uni-year pools=263 · asst-years=1,544 · max coverage=208 · H_sort=0.204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3 — poolq_LOO distribution (HERO grain)</a:t>
            </a:r>
          </a:p>
          <a:p>
            <a:pPr>
              <a:defRPr sz="1200" i="1"/>
            </a:pPr>
            <a:r>
              <a:t>Person-level mean · N≈796 matches Q16/Q20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Same collapse as tenure_pass_a_hero: mean poolq_loo_mean over assistant years.</a:t>
            </a:r>
          </a:p>
          <a:p>
            <a:pPr>
              <a:spcAft>
                <a:spcPts val="200"/>
              </a:spcAft>
              <a:defRPr sz="1100"/>
            </a:pPr>
            <a:r>
              <a:t>• Right-skew drives equal-width bin sparsity at high LOO.</a:t>
            </a:r>
          </a:p>
        </p:txBody>
      </p:sp>
      <p:pic>
        <p:nvPicPr>
          <p:cNvPr id="4" name="Picture 3" descr="TENURE_poolq_loo_distribution_inf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90" y="1545336"/>
            <a:ext cx="6248715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--only poolq_loo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n=796 · median=3.35 · mean=4.24 · sd=3.16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4 — Own pubs_year distribution</a:t>
            </a:r>
          </a:p>
          <a:p>
            <a:pPr>
              <a:defRPr sz="1200" i="1"/>
            </a:pPr>
            <a:r>
              <a:t>Unconditional + inset (pubs &gt; 0) · inference panel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Main: all assistant-years (36% zero pub years in OpenAlex count).</a:t>
            </a:r>
          </a:p>
          <a:p>
            <a:pPr>
              <a:spcAft>
                <a:spcPts val="200"/>
              </a:spcAft>
              <a:defRPr sz="1100"/>
            </a:pPr>
            <a:r>
              <a:t>• Inset: intensive margin — shape among those with ≥1 pub (N≈1,544).</a:t>
            </a:r>
          </a:p>
          <a:p>
            <a:pPr>
              <a:spcAft>
                <a:spcPts val="200"/>
              </a:spcAft>
              <a:defRPr sz="1100"/>
            </a:pPr>
            <a:r>
              <a:t>• Main x-axis capped near p99; tail max=237 noted in legend box.</a:t>
            </a:r>
          </a:p>
        </p:txBody>
      </p:sp>
      <p:pic>
        <p:nvPicPr>
          <p:cNvPr id="4" name="Picture 3" descr="TENURE_pubs_year_distribution_inf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854" y="1545336"/>
            <a:ext cx="6325987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--only pubs_year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all n=2,396 (36% zero) · inset n=1,544 · med=7.0 · mean=9.7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5 — LOO peer pool size distribution</a:t>
            </a:r>
          </a:p>
          <a:p>
            <a:pPr>
              <a:defRPr sz="1200" i="1"/>
            </a:pPr>
            <a:r>
              <a:t>pool_size_oa_loo on assistant person-years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Count of OA-matched co-assistants after leave-one-out.</a:t>
            </a:r>
          </a:p>
          <a:p>
            <a:pPr>
              <a:spcAft>
                <a:spcPts val="200"/>
              </a:spcAft>
              <a:defRPr sz="1100"/>
            </a:pPr>
            <a:r>
              <a:t>• Thin pools → noisy LOO; complements overlap slide.</a:t>
            </a:r>
          </a:p>
        </p:txBody>
      </p:sp>
      <p:pic>
        <p:nvPicPr>
          <p:cNvPr id="4" name="Picture 3" descr="TENURE_pool_size_loo_distribution_inf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90" y="1545336"/>
            <a:ext cx="6248715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--only pool_size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n=2,396 · median=15.00 · mean=17.22 · sd=10.32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6 — Own pubs by outcome (person-level)</a:t>
            </a:r>
          </a:p>
          <a:p>
            <a:pPr>
              <a:defRPr sz="1200" i="1"/>
            </a:pPr>
            <a:r>
              <a:t>Tenured vs attrition vs censored · same HERO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Person-level mean pubs_year over assistant spell — descriptive, not HERO.</a:t>
            </a:r>
          </a:p>
          <a:p>
            <a:pPr>
              <a:spcAft>
                <a:spcPts val="200"/>
              </a:spcAft>
              <a:defRPr sz="1100"/>
            </a:pPr>
            <a:r>
              <a:t>• Blue = promoted (tenure_event); orange = left as assistant; gray = still asst ≈ 2024.</a:t>
            </a:r>
          </a:p>
          <a:p>
            <a:pPr>
              <a:spcAft>
                <a:spcPts val="200"/>
              </a:spcAft>
              <a:defRPr sz="1100"/>
            </a:pPr>
            <a:r>
              <a:t>• Compares own output to the LOO environment HERO bins on.</a:t>
            </a:r>
          </a:p>
        </p:txBody>
      </p:sp>
      <p:pic>
        <p:nvPicPr>
          <p:cNvPr id="4" name="Picture 3" descr="TENURE_pubs_mean_by_outcome_inf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5368" y="1545336"/>
            <a:ext cx="6320958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--only pubs_by_outcome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tenured n=174 med=6.2 · attrition n=202 med=3.0 · censored n=420 med=2.0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7 — Promoted instructors — own pubs</a:t>
            </a:r>
          </a:p>
          <a:p>
            <a:pPr>
              <a:defRPr sz="1200" i="1"/>
            </a:pPr>
            <a:r>
              <a:t>Tenured only · person-level mean + inset (mean &gt; 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Subset to tenure_event = True (N≈174 on inference panel).</a:t>
            </a:r>
          </a:p>
          <a:p>
            <a:pPr>
              <a:spcAft>
                <a:spcPts val="200"/>
              </a:spcAft>
              <a:defRPr sz="1100"/>
            </a:pPr>
            <a:r>
              <a:t>• Mean annual pubs over assistant years — not cumulative career total.</a:t>
            </a:r>
          </a:p>
          <a:p>
            <a:pPr>
              <a:spcAft>
                <a:spcPts val="200"/>
              </a:spcAft>
              <a:defRPr sz="1100"/>
            </a:pPr>
            <a:r>
              <a:t>• Pairs with HERO high-bin tenure rates; inset drops zero-mean spells.</a:t>
            </a:r>
          </a:p>
        </p:txBody>
      </p:sp>
      <p:pic>
        <p:nvPicPr>
          <p:cNvPr id="4" name="Picture 3" descr="TENURE_pubs_mean_tenured_inf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854" y="1545336"/>
            <a:ext cx="6325987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--only pubs_tenured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tenured n=174 · med=6.2 · mean=7.7 · inset n=133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/>
            </a:pPr>
            <a:r>
              <a:t>Slide 8 — poolq_LOO by outcome (person-level)</a:t>
            </a:r>
          </a:p>
          <a:p>
            <a:pPr>
              <a:defRPr sz="1200" i="1"/>
            </a:pPr>
            <a:r>
              <a:t>Peer environment split · complements HERO x-axis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113687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/>
            </a:pPr>
            <a:r>
              <a:t>• Same outcome colors as pubs-by-outcome slide.</a:t>
            </a:r>
          </a:p>
          <a:p>
            <a:pPr>
              <a:spcAft>
                <a:spcPts val="200"/>
              </a:spcAft>
              <a:defRPr sz="1100"/>
            </a:pPr>
            <a:r>
              <a:t>• Shows whether promoted faculty carried higher LOO peer pressure on average.</a:t>
            </a:r>
          </a:p>
          <a:p>
            <a:pPr>
              <a:spcAft>
                <a:spcPts val="200"/>
              </a:spcAft>
              <a:defRPr sz="1100"/>
            </a:pPr>
            <a:r>
              <a:t>• HERO asks rate(T|LOO bin); this is marginal LOO by outcome.</a:t>
            </a:r>
          </a:p>
        </p:txBody>
      </p:sp>
      <p:pic>
        <p:nvPicPr>
          <p:cNvPr id="4" name="Picture 3" descr="TENURE_poolq_loo_by_outcome_inf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0340" y="1545336"/>
            <a:ext cx="6331015" cy="38770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5544"/>
            <a:ext cx="113687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>
                <a:latin typeface="Menlo"/>
              </a:defRPr>
            </a:pPr>
            <a:r>
              <a:t>python tenure/scripts/tenure_basic_plots.py --only loo_by_outcome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35040"/>
            <a:ext cx="1136873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tenured n=174 med=3.8 · attrition n=202 med=3.5 · censored n=420 med=3.2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