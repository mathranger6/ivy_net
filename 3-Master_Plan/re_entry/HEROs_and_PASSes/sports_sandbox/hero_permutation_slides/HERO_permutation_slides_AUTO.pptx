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HERO permutation sweep</a:t>
            </a:r>
          </a:p>
          <a:p>
            <a:pPr>
              <a:defRPr sz="1200" i="1"/>
            </a:pPr>
            <a:r>
              <a:t>Tier real_full · season both · 64 run slides · 2026-08-25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113687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Purpose: compare roster-x × Y-mode × panel-rows (and optional +DFT / EW20).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Three knobs are orthogonal:</a:t>
            </a:r>
          </a:p>
          <a:p>
            <a:pPr>
              <a:defRPr sz="1400"/>
            </a:pPr>
            <a:r>
              <a:t>  • roster-x: poolq_loo (LOO teammates) vs poolq (team mean, incl. self)</a:t>
            </a:r>
          </a:p>
          <a:p>
            <a:pPr>
              <a:defRPr sz="1400"/>
            </a:pPr>
            <a:r>
              <a:t>  • y-draft-mode: ever (Y=1 all PS for draftees) vs season (Y=1 last PS only)</a:t>
            </a:r>
          </a:p>
          <a:p>
            <a:pPr>
              <a:defRPr sz="1400"/>
            </a:pPr>
            <a:r>
              <a:t>  • panel-rows: all-ps vs last-ps (cross-section)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Slide 2 = FIXED HERO baseline. Later slides = other combinations.</a:t>
            </a:r>
          </a:p>
          <a:p>
            <a:pPr>
              <a:defRPr sz="1400"/>
            </a:pPr>
            <a:r>
              <a:t>Command box on each slide = exact CLI to reproduce.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Regenerate: python sports/scripts/hero_permutation_sweep.py --tier core|extended|full|real_full …</a:t>
            </a:r>
          </a:p>
          <a:p>
            <a:pPr>
              <a:defRPr sz="1400"/>
            </a:pPr>
            <a:r>
              <a:t>Rebuild deck: python sports/scripts/build_hero_permutation_slides.py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1 — FIXED HERO — canonical deck (11–21)</a:t>
            </a:r>
          </a:p>
          <a:p>
            <a:pPr>
              <a:defRPr sz="1200" i="1"/>
            </a:pPr>
            <a:r>
              <a:t>Baseline — canonical deck HERO</a:t>
            </a:r>
          </a:p>
        </p:txBody>
      </p:sp>
      <p:pic>
        <p:nvPicPr>
          <p:cNvPr id="3" name="Picture 2" descr="HERO_q16_allt_min20_mg10_11_21_FIXED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54" y="777240"/>
            <a:ext cx="8779186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FIXED_HERO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bin1=1.934% · peak=ventile 15 @ 3.248% · last=3.214% · LPM β₂=+0.006414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2 — 11–21 · LOO poolq_loo · ever-draft · all PS rows · EW20 ALLT</a:t>
            </a:r>
          </a:p>
          <a:p>
            <a:pPr>
              <a:defRPr sz="1200" i="1"/>
            </a:pPr>
            <a:r>
              <a:t>Δ vs FIXED HERO: poolq_binning: quantile → equal_width; n_bins: 16 → 20</a:t>
            </a:r>
          </a:p>
        </p:txBody>
      </p:sp>
      <p:pic>
        <p:nvPicPr>
          <p:cNvPr id="3" name="Picture 2" descr="HERO_ew20_allt_min20_mg10_11_21_perm_loo_ever_allps_ew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892" y="777240"/>
            <a:ext cx="8745911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perm_loo_ever_allps_ew20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bin1=1.121% · peak=ventile 16 @ 3.594% · last=3.252% · LPM β₂=+0.006414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3 — 11–21 · LOO poolq_loo · ever-draft · all PS rows · QTL16 +DFT</a:t>
            </a:r>
          </a:p>
          <a:p>
            <a:pPr>
              <a:defRPr sz="1200" i="1"/>
            </a:pPr>
            <a:r>
              <a:t>Δ vs FIXED HERO: dft: False → True</a:t>
            </a:r>
          </a:p>
        </p:txBody>
      </p:sp>
      <p:pic>
        <p:nvPicPr>
          <p:cNvPr id="3" name="Picture 2" descr="HERO_q16_dft_min20_mg10_11_21_perm_loo_ever_allps_q16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843" y="777240"/>
            <a:ext cx="8818008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perm_loo_ever_allps_q16_dft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bin1=7.337% · peak=ventile 4 @ 7.525% · last=6.165% · LPM β₂=+0.01444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4 — 11–21 · LOO poolq_loo · ever-draft · all PS rows · EW20 +DFT</a:t>
            </a:r>
          </a:p>
          <a:p>
            <a:pPr>
              <a:defRPr sz="1200" i="1"/>
            </a:pPr>
            <a:r>
              <a:t>Δ vs FIXED HERO: poolq_binning: quantile → equal_width; n_bins: 16 → 20; dft: False → True</a:t>
            </a:r>
          </a:p>
        </p:txBody>
      </p:sp>
      <p:pic>
        <p:nvPicPr>
          <p:cNvPr id="3" name="Picture 2" descr="HERO_ew20_dft_min20_mg10_11_21_perm_loo_ever_allps_ew20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481" y="777240"/>
            <a:ext cx="8784732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perm_loo_ever_allps_ew20_dft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bin1=4.737% · peak=ventile 3 @ 9.766% · last=6.208% · LPM β₂=+0.01444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5 — 11–21 · LOO poolq_loo · ever-draft · last PS only (cross-section) · QTL16 ALLT</a:t>
            </a:r>
          </a:p>
          <a:p>
            <a:pPr>
              <a:defRPr sz="1200" i="1"/>
            </a:pPr>
            <a:r>
              <a:t>Δ vs FIXED HERO: panel_rows: all-ps → last-ps</a:t>
            </a:r>
          </a:p>
        </p:txBody>
      </p:sp>
      <p:pic>
        <p:nvPicPr>
          <p:cNvPr id="3" name="Picture 2" descr="HERO_q16_allt_min20_mg10_11_21_last_ps_perm_loo_ever_last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213" y="777240"/>
            <a:ext cx="9755268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perm_loo_ever_lastps_q16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bin1=2.019% · peak=ventile 11 @ 3.393% · last=3.072% · LPM β₂=-0.00909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6 — 11–21 · LOO poolq_loo · ever-draft · last PS only (cross-section) · EW20 ALLT</a:t>
            </a:r>
          </a:p>
          <a:p>
            <a:pPr>
              <a:defRPr sz="1200" i="1"/>
            </a:pPr>
            <a:r>
              <a:t>Δ vs FIXED HERO: panel_rows: all-ps → last-ps; poolq_binning: quantile → equal_width; n_bins: 16 → 20</a:t>
            </a:r>
          </a:p>
        </p:txBody>
      </p:sp>
      <p:pic>
        <p:nvPicPr>
          <p:cNvPr id="3" name="Picture 2" descr="HERO_ew20_allt_min20_mg10_11_21_last_ps_perm_loo_ever_lastps_ew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4" y="777240"/>
            <a:ext cx="9960466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perm_loo_ever_lastps_ew20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bin1=1.535% · peak=ventile 18 @ 3.571% · last=2.55% · LPM β₂=-0.00909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7 — 11–21 · LOO poolq_loo · ever-draft · last PS only (cross-section) · QTL16 +DFT</a:t>
            </a:r>
          </a:p>
          <a:p>
            <a:pPr>
              <a:defRPr sz="1200" i="1"/>
            </a:pPr>
            <a:r>
              <a:t>Δ vs FIXED HERO: panel_rows: all-ps → last-ps; dft: False → True</a:t>
            </a:r>
          </a:p>
        </p:txBody>
      </p:sp>
      <p:pic>
        <p:nvPicPr>
          <p:cNvPr id="3" name="Picture 2" descr="HERO_q16_dft_min20_mg10_11_21_last_ps_perm_loo_ever_lastps_q16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922" y="777240"/>
            <a:ext cx="10187850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perm_loo_ever_lastps_q16_dft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bin1=8.74% · peak=ventile 1 @ 8.74% · last=4.888% · LPM β₂=-0.000642 ⚠ bin1 LOWEST ventile is PEAK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8 — 11–21 · LOO poolq_loo · ever-draft · last PS only (cross-section) · EW20 +DFT</a:t>
            </a:r>
          </a:p>
          <a:p>
            <a:pPr>
              <a:defRPr sz="1200" i="1"/>
            </a:pPr>
            <a:r>
              <a:t>Δ vs FIXED HERO: panel_rows: all-ps → last-ps; poolq_binning: quantile → equal_width; n_bins: 16 → 20; dft: False → True</a:t>
            </a:r>
          </a:p>
        </p:txBody>
      </p:sp>
      <p:pic>
        <p:nvPicPr>
          <p:cNvPr id="3" name="Picture 2" descr="HERO_ew20_dft_min20_mg10_11_21_last_ps_perm_loo_ever_lastps_ew20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23" y="777240"/>
            <a:ext cx="10393049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perm_loo_ever_lastps_ew20_dft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bin1=5.714% · peak=ventile 3 @ 12.381% · last=4.787% · LPM β₂=-0.000642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9 — 11–21 · LOO poolq_loo · season-Y label · all PS rows · QTL16 ALLT</a:t>
            </a:r>
          </a:p>
          <a:p>
            <a:pPr>
              <a:defRPr sz="1200" i="1"/>
            </a:pPr>
            <a:r>
              <a:t>Δ vs FIXED HERO: y_draft_mode: ever → season</a:t>
            </a:r>
          </a:p>
        </p:txBody>
      </p:sp>
      <p:pic>
        <p:nvPicPr>
          <p:cNvPr id="3" name="Picture 2" descr="HERO_q16_allt_min20_mg10_11_21_season_y_perm_loo_seasony_all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117" y="777240"/>
            <a:ext cx="9899461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perm_loo_seasony_allps_q16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bin1=1.416% · peak=ventile 1 @ 1.416% · last=1.14% · LPM β₂=+0.009613 ⚠ bin1 LOWEST ventile is PEAK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10 — 11–21 · LOO poolq_loo · season-Y label · all PS rows · EW20 ALLT</a:t>
            </a:r>
          </a:p>
          <a:p>
            <a:pPr>
              <a:defRPr sz="1200" i="1"/>
            </a:pPr>
            <a:r>
              <a:t>Δ vs FIXED HERO: y_draft_mode: ever → season; poolq_binning: quantile → equal_width; n_bins: 16 → 20</a:t>
            </a:r>
          </a:p>
        </p:txBody>
      </p:sp>
      <p:pic>
        <p:nvPicPr>
          <p:cNvPr id="3" name="Picture 2" descr="HERO_ew20_allt_min20_mg10_11_21_season_y_perm_loo_seasony_allps_ew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23" y="777240"/>
            <a:ext cx="9982649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perm_loo_seasony_allps_ew20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bin1=2.459% · peak=ventile 2 @ 3.311% · last=0.699% · LPM β₂=+0.009613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11 — 11–21 · LOO poolq_loo · season-Y label · all PS rows · QTL16 +DFT</a:t>
            </a:r>
          </a:p>
          <a:p>
            <a:pPr>
              <a:defRPr sz="1200" i="1"/>
            </a:pPr>
            <a:r>
              <a:t>Δ vs FIXED HERO: y_draft_mode: ever → season; dft: False → True</a:t>
            </a:r>
          </a:p>
        </p:txBody>
      </p:sp>
      <p:pic>
        <p:nvPicPr>
          <p:cNvPr id="3" name="Picture 2" descr="HERO_q16_dft_min20_mg10_11_21_season_y_perm_loo_seasony_allps_q16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290" y="777240"/>
            <a:ext cx="10099115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perm_loo_seasony_allps_q16_dft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bin1=4.563% · peak=ventile 1 @ 4.563% · last=2.721% · LPM β₂=+0.02303 ⚠ bin1 LOWEST ventile is PEAK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12 — 11–21 · LOO poolq_loo · season-Y label · all PS rows · EW20 +DFT</a:t>
            </a:r>
          </a:p>
          <a:p>
            <a:pPr>
              <a:defRPr sz="1200" i="1"/>
            </a:pPr>
            <a:r>
              <a:t>Δ vs FIXED HERO: y_draft_mode: ever → season; poolq_binning: quantile → equal_width; n_bins: 16 → 20; dft: False → True</a:t>
            </a:r>
          </a:p>
        </p:txBody>
      </p:sp>
      <p:pic>
        <p:nvPicPr>
          <p:cNvPr id="3" name="Picture 2" descr="HERO_ew20_dft_min20_mg10_11_21_season_y_perm_loo_seasony_allps_ew20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01" y="777240"/>
            <a:ext cx="10265492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perm_loo_seasony_allps_ew20_dft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bin1=4.839% · peak=ventile 2 @ 8.929% · last=2.174% · LPM β₂=+0.02303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13 — 11–21 · LOO poolq_loo · season-Y label · last PS only (cross-section) · QTL16 ALLT</a:t>
            </a:r>
          </a:p>
          <a:p>
            <a:pPr>
              <a:defRPr sz="1200" i="1"/>
            </a:pPr>
            <a:r>
              <a:t>Δ vs FIXED HERO: y_draft_mode: ever → season; panel_rows: all-ps → last-ps</a:t>
            </a:r>
          </a:p>
        </p:txBody>
      </p:sp>
      <p:pic>
        <p:nvPicPr>
          <p:cNvPr id="3" name="Picture 2" descr="HERO_q16_allt_min20_mg10_11_21_season_y_last_ps_perm_loo_seasony_last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6234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492096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perm_loo_seasony_lastps_q16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55136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bin1=3.231% · peak=ventile 1 @ 3.231% · last=2.587% · LPM β₂=+0.01636 ⚠ bin1 LOWEST ventile is PEAK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14 — 11–21 · LOO poolq_loo · season-Y label · last PS only (cross-section) · EW20 ALLT</a:t>
            </a:r>
          </a:p>
          <a:p>
            <a:pPr>
              <a:defRPr sz="1200" i="1"/>
            </a:pPr>
            <a:r>
              <a:t>Δ vs FIXED HERO: y_draft_mode: ever → season; panel_rows: all-ps → last-ps; poolq_binning: quantile → equal_width; n_bins: 16 → 20</a:t>
            </a:r>
          </a:p>
        </p:txBody>
      </p:sp>
      <p:pic>
        <p:nvPicPr>
          <p:cNvPr id="3" name="Picture 2" descr="HERO_ew20_allt_min20_mg10_11_21_season_y_last_ps_perm_loo_seasony_lastps_ew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5612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42997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perm_loo_seasony_lastps_ew20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89301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bin1=7.317% · peak=ventile 2 @ 7.937% · last=1.523% · LPM β₂=+0.01636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15 — 11–21 · LOO poolq_loo · season-Y label · last PS only (cross-section) · QTL16 +DFT</a:t>
            </a:r>
          </a:p>
          <a:p>
            <a:pPr>
              <a:defRPr sz="1200" i="1"/>
            </a:pPr>
            <a:r>
              <a:t>Δ vs FIXED HERO: y_draft_mode: ever → season; panel_rows: all-ps → last-ps; dft: False → True</a:t>
            </a:r>
          </a:p>
        </p:txBody>
      </p:sp>
      <p:pic>
        <p:nvPicPr>
          <p:cNvPr id="3" name="Picture 2" descr="HERO_q16_dft_min20_mg10_11_21_season_y_last_ps_perm_loo_seasony_lastps_q16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494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363571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perm_loo_seasony_lastps_q16_dft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826611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bin1=10.652% · peak=ventile 1 @ 10.652% · last=6.318% · LPM β₂=+0.05631 ⚠ bin1 LOWEST ventile is PEAK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16 — 11–21 · LOO poolq_loo · season-Y label · last PS only (cross-section) · EW20 +DFT</a:t>
            </a:r>
          </a:p>
          <a:p>
            <a:pPr>
              <a:defRPr sz="1200" i="1"/>
            </a:pPr>
            <a:r>
              <a:t>Δ vs FIXED HERO: y_draft_mode: ever → season; panel_rows: all-ps → last-ps; poolq_binning: quantile → equal_width; n_bins: 16 → 20; dft: False → True</a:t>
            </a:r>
          </a:p>
        </p:txBody>
      </p:sp>
      <p:pic>
        <p:nvPicPr>
          <p:cNvPr id="3" name="Picture 2" descr="HERO_ew20_dft_min20_mg10_11_21_season_y_last_ps_perm_loo_seasony_lastps_ew20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4370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305739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perm_loo_seasony_lastps_ew20_dft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768779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bin1=13.636% · peak=ventile 2 @ 21.739% · last=4.348% · LPM β₂=+0.05631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17 — 11–21 · team poolq (incl. self) · ever-draft · all PS rows · QTL16 ALLT</a:t>
            </a:r>
          </a:p>
          <a:p>
            <a:pPr>
              <a:defRPr sz="1200" i="1"/>
            </a:pPr>
            <a:r>
              <a:t>Δ vs FIXED HERO: roster_x: poolq_loo → poolq</a:t>
            </a:r>
          </a:p>
        </p:txBody>
      </p:sp>
      <p:pic>
        <p:nvPicPr>
          <p:cNvPr id="3" name="Picture 2" descr="HERO_poolq_q16_allt_min20_mg10_11_21_perm_poolq_ever_all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086" y="777240"/>
            <a:ext cx="8457523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perm_poolq_ever_allps_q16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bin1=0.311% · peak=ventile 16 @ 5.218% · last=5.218% · LPM β₂=+0.0278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18 — 11–21 · team poolq (incl. self) · ever-draft · all PS rows · EW20 ALLT</a:t>
            </a:r>
          </a:p>
          <a:p>
            <a:pPr>
              <a:defRPr sz="1200" i="1"/>
            </a:pPr>
            <a:r>
              <a:t>Δ vs FIXED HERO: roster_x: poolq_loo → poolq; poolq_binning: quantile → equal_width; n_bins: 16 → 20</a:t>
            </a:r>
          </a:p>
        </p:txBody>
      </p:sp>
      <p:pic>
        <p:nvPicPr>
          <p:cNvPr id="3" name="Picture 2" descr="HERO_poolq_ew20_allt_min20_mg10_11_21_perm_poolq_ever_allps_ew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724" y="777240"/>
            <a:ext cx="8424247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perm_poolq_ever_allps_ew20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bin1=0.118% · peak=ventile 19 @ 6.536% · last=6.4% · LPM β₂=+0.0278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19 — 11–21 · team poolq (incl. self) · ever-draft · all PS rows · QTL16 +DFT</a:t>
            </a:r>
          </a:p>
          <a:p>
            <a:pPr>
              <a:defRPr sz="1200" i="1"/>
            </a:pPr>
            <a:r>
              <a:t>Δ vs FIXED HERO: roster_x: poolq_loo → poolq; dft: False → True</a:t>
            </a:r>
          </a:p>
        </p:txBody>
      </p:sp>
      <p:pic>
        <p:nvPicPr>
          <p:cNvPr id="3" name="Picture 2" descr="HERO_poolq_q16_dft_min20_mg10_11_21_perm_poolq_ever_allps_q16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810" y="777240"/>
            <a:ext cx="8524075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perm_poolq_ever_allps_q16_dft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bin1=2.083% · peak=ventile 16 @ 9.973% · last=9.973% · LPM β₂=+0.001628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20 — 11–21 · team poolq (incl. self) · ever-draft · all PS rows · EW20 +DFT</a:t>
            </a:r>
          </a:p>
          <a:p>
            <a:pPr>
              <a:defRPr sz="1200" i="1"/>
            </a:pPr>
            <a:r>
              <a:t>Δ vs FIXED HERO: roster_x: poolq_loo → poolq; poolq_binning: quantile → equal_width; n_bins: 16 → 20; dft: False → True</a:t>
            </a:r>
          </a:p>
        </p:txBody>
      </p:sp>
      <p:pic>
        <p:nvPicPr>
          <p:cNvPr id="3" name="Picture 2" descr="HERO_poolq_ew20_dft_min20_mg10_11_21_perm_poolq_ever_allps_ew20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443" y="777240"/>
            <a:ext cx="8612809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perm_poolq_ever_allps_ew20_dft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bin1=0.312% · peak=ventile 20 @ 13.415% · last=13.415% · LPM β₂=+0.001628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21 — 11–21 · team poolq (incl. self) · ever-draft · last PS only (cross-section) · QTL16 ALLT</a:t>
            </a:r>
          </a:p>
          <a:p>
            <a:pPr>
              <a:defRPr sz="1200" i="1"/>
            </a:pPr>
            <a:r>
              <a:t>Δ vs FIXED HERO: roster_x: poolq_loo → poolq; panel_rows: all-ps → last-ps</a:t>
            </a:r>
          </a:p>
        </p:txBody>
      </p:sp>
      <p:pic>
        <p:nvPicPr>
          <p:cNvPr id="3" name="Picture 2" descr="HERO_poolq_q16_allt_min20_mg10_11_21_last_ps_perm_poolq_ever_last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213" y="777240"/>
            <a:ext cx="9755268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perm_poolq_ever_lastps_q16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bin1=0.404% · peak=ventile 16 @ 12.126% · last=12.126% · LPM β₂=+0.05147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22 — 11–21 · team poolq (incl. self) · ever-draft · last PS only (cross-section) · EW20 ALLT</a:t>
            </a:r>
          </a:p>
          <a:p>
            <a:pPr>
              <a:defRPr sz="1200" i="1"/>
            </a:pPr>
            <a:r>
              <a:t>Δ vs FIXED HERO: roster_x: poolq_loo → poolq; panel_rows: all-ps → last-ps; poolq_binning: quantile → equal_width; n_bins: 16 → 20</a:t>
            </a:r>
          </a:p>
        </p:txBody>
      </p:sp>
      <p:pic>
        <p:nvPicPr>
          <p:cNvPr id="3" name="Picture 2" descr="HERO_poolq_ew20_allt_min20_mg10_11_21_last_ps_perm_poolq_ever_lastps_ew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4" y="777240"/>
            <a:ext cx="9960466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perm_poolq_ever_lastps_ew20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bin1=0.308% · peak=ventile 19 @ 17.419% · last=15.068% · LPM β₂=+0.05147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23 — 11–21 · team poolq (incl. self) · ever-draft · last PS only (cross-section) · QTL16 +DFT</a:t>
            </a:r>
          </a:p>
          <a:p>
            <a:pPr>
              <a:defRPr sz="1200" i="1"/>
            </a:pPr>
            <a:r>
              <a:t>Δ vs FIXED HERO: roster_x: poolq_loo → poolq; panel_rows: all-ps → last-ps; dft: False → True</a:t>
            </a:r>
          </a:p>
        </p:txBody>
      </p:sp>
      <p:pic>
        <p:nvPicPr>
          <p:cNvPr id="3" name="Picture 2" descr="HERO_poolq_q16_dft_min20_mg10_11_21_last_ps_perm_poolq_ever_lastps_q16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922" y="777240"/>
            <a:ext cx="10187850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perm_poolq_ever_lastps_q16_dft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bin1=1.016% · peak=ventile 16 @ 23.014% · last=23.014% · LPM β₂=+0.08031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24 — 11–21 · team poolq (incl. self) · ever-draft · last PS only (cross-section) · EW20 +DFT</a:t>
            </a:r>
          </a:p>
          <a:p>
            <a:pPr>
              <a:defRPr sz="1200" i="1"/>
            </a:pPr>
            <a:r>
              <a:t>Δ vs FIXED HERO: roster_x: poolq_loo → poolq; panel_rows: all-ps → last-ps; poolq_binning: quantile → equal_width; n_bins: 16 → 20; dft: False → True</a:t>
            </a:r>
          </a:p>
        </p:txBody>
      </p:sp>
      <p:pic>
        <p:nvPicPr>
          <p:cNvPr id="3" name="Picture 2" descr="HERO_poolq_ew20_dft_min20_mg10_11_21_last_ps_perm_poolq_ever_lastps_ew20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23" y="777240"/>
            <a:ext cx="10393049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perm_poolq_ever_lastps_ew20_dft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bin1=0.735% · peak=ventile 19 @ 27.381% · last=25.21% · LPM β₂=+0.08031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25 — 11–21 · team poolq (incl. self) · season-Y label · all PS rows · QTL16 ALLT</a:t>
            </a:r>
          </a:p>
          <a:p>
            <a:pPr>
              <a:defRPr sz="1200" i="1"/>
            </a:pPr>
            <a:r>
              <a:t>Δ vs FIXED HERO: roster_x: poolq_loo → poolq; y_draft_mode: ever → season</a:t>
            </a:r>
          </a:p>
        </p:txBody>
      </p:sp>
      <p:pic>
        <p:nvPicPr>
          <p:cNvPr id="3" name="Picture 2" descr="HERO_poolq_q16_allt_min20_mg10_11_21_season_y_perm_poolq_seasony_all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533" y="777240"/>
            <a:ext cx="9738629" cy="37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19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perm_poolq_seasony_allps_q16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59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bin1=0.207% · peak=ventile 16 @ 2.557% · last=2.557% · LPM β₂=+0.04573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26 — 11–21 · team poolq (incl. self) · season-Y label · all PS rows · EW20 ALLT</a:t>
            </a:r>
          </a:p>
          <a:p>
            <a:pPr>
              <a:defRPr sz="1200" i="1"/>
            </a:pPr>
            <a:r>
              <a:t>Δ vs FIXED HERO: roster_x: poolq_loo → poolq; y_draft_mode: ever → season; poolq_binning: quantile → equal_width; n_bins: 16 → 20</a:t>
            </a:r>
          </a:p>
        </p:txBody>
      </p:sp>
      <p:pic>
        <p:nvPicPr>
          <p:cNvPr id="3" name="Picture 2" descr="HERO_poolq_ew20_allt_min20_mg10_11_21_season_y_perm_poolq_seasony_allps_ew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392" y="777240"/>
            <a:ext cx="9832910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perm_poolq_seasony_allps_ew20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bin1=0.152% · peak=ventile 20 @ 3.545% · last=3.545% · LPM β₂=+0.04573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27 — 11–21 · team poolq (incl. self) · season-Y label · all PS rows · QTL16 +DFT</a:t>
            </a:r>
          </a:p>
          <a:p>
            <a:pPr>
              <a:defRPr sz="1200" i="1"/>
            </a:pPr>
            <a:r>
              <a:t>Δ vs FIXED HERO: roster_x: poolq_loo → poolq; y_draft_mode: ever → season; dft: False → True</a:t>
            </a:r>
          </a:p>
        </p:txBody>
      </p:sp>
      <p:pic>
        <p:nvPicPr>
          <p:cNvPr id="3" name="Picture 2" descr="HERO_poolq_q16_dft_min20_mg10_11_21_season_y_perm_poolq_seasony_allps_q16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01" y="777240"/>
            <a:ext cx="10060293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perm_poolq_seasony_allps_q16_dft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bin1=1.068% · peak=ventile 16 @ 5.248% · last=5.248% · LPM β₂=+0.02351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28 — 11–21 · team poolq (incl. self) · season-Y label · all PS rows · EW20 +DFT</a:t>
            </a:r>
          </a:p>
          <a:p>
            <a:pPr>
              <a:defRPr sz="1200" i="1"/>
            </a:pPr>
            <a:r>
              <a:t>Δ vs FIXED HERO: roster_x: poolq_loo → poolq; y_draft_mode: ever → season; poolq_binning: quantile → equal_width; n_bins: 16 → 20; dft: False → True</a:t>
            </a:r>
          </a:p>
        </p:txBody>
      </p:sp>
      <p:pic>
        <p:nvPicPr>
          <p:cNvPr id="3" name="Picture 2" descr="HERO_poolq_ew20_dft_min20_mg10_11_21_season_y_perm_poolq_seasony_allps_ew20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01" y="777240"/>
            <a:ext cx="10265492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perm_poolq_seasony_allps_ew20_dft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bin1=0.862% · peak=ventile 20 @ 7.119% · last=7.119% · LPM β₂=+0.02351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29 — 11–21 · team poolq (incl. self) · season-Y label · last PS only (cross-section) · QTL16 ALLT</a:t>
            </a:r>
          </a:p>
          <a:p>
            <a:pPr>
              <a:defRPr sz="1200" i="1"/>
            </a:pPr>
            <a:r>
              <a:t>Δ vs FIXED HERO: roster_x: poolq_loo → poolq; y_draft_mode: ever → season; panel_rows: all-ps → last-ps</a:t>
            </a:r>
          </a:p>
        </p:txBody>
      </p:sp>
      <p:pic>
        <p:nvPicPr>
          <p:cNvPr id="3" name="Picture 2" descr="HERO_poolq_q16_allt_min20_mg10_11_21_season_y_last_ps_perm_poolq_seasony_last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6234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492096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perm_poolq_seasony_lastps_q16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55136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bin1=0.323% · peak=ventile 16 @ 11.964% · last=11.964% · LPM β₂=+0.13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30 — 11–21 · team poolq (incl. self) · season-Y label · last PS only (cross-section) · EW20 ALLT</a:t>
            </a:r>
          </a:p>
          <a:p>
            <a:pPr>
              <a:defRPr sz="1200" i="1"/>
            </a:pPr>
            <a:r>
              <a:t>Δ vs FIXED HERO: roster_x: poolq_loo → poolq; y_draft_mode: ever → season; panel_rows: all-ps → last-ps; poolq_binning: quantile → equal_width; n_bins: 16 → 20</a:t>
            </a:r>
          </a:p>
        </p:txBody>
      </p:sp>
      <p:pic>
        <p:nvPicPr>
          <p:cNvPr id="3" name="Picture 2" descr="HERO_poolq_ew20_allt_min20_mg10_11_21_season_y_last_ps_perm_poolq_seasony_lastps_ew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5612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42997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perm_poolq_seasony_lastps_ew20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89301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bin1=0.322% · peak=ventile 19 @ 21.333% · last=13.651% · LPM β₂=+0.13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31 — 11–21 · team poolq (incl. self) · season-Y label · last PS only (cross-section) · QTL16 +DFT</a:t>
            </a:r>
          </a:p>
          <a:p>
            <a:pPr>
              <a:defRPr sz="1200" i="1"/>
            </a:pPr>
            <a:r>
              <a:t>Δ vs FIXED HERO: roster_x: poolq_loo → poolq; y_draft_mode: ever → season; panel_rows: all-ps → last-ps; dft: False → True</a:t>
            </a:r>
          </a:p>
        </p:txBody>
      </p:sp>
      <p:pic>
        <p:nvPicPr>
          <p:cNvPr id="3" name="Picture 2" descr="HERO_poolq_q16_dft_min20_mg10_11_21_season_y_last_ps_perm_poolq_seasony_lastps_q16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494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363571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perm_poolq_seasony_lastps_q16_dft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826611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bin1=1.087% · peak=ventile 16 @ 24.619% · last=24.619% · LPM β₂=+0.1975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32 — 11–21 · team poolq (incl. self) · season-Y label · last PS only (cross-section) · EW20 +DFT</a:t>
            </a:r>
          </a:p>
          <a:p>
            <a:pPr>
              <a:defRPr sz="1200" i="1"/>
            </a:pPr>
            <a:r>
              <a:t>Δ vs FIXED HERO: roster_x: poolq_loo → poolq; y_draft_mode: ever → season; panel_rows: all-ps → last-ps; poolq_binning: quantile → equal_width; n_bins: 16 → 20; dft: False → True</a:t>
            </a:r>
          </a:p>
        </p:txBody>
      </p:sp>
      <p:pic>
        <p:nvPicPr>
          <p:cNvPr id="3" name="Picture 2" descr="HERO_poolq_ew20_dft_min20_mg10_11_21_season_y_last_ps_perm_poolq_seasony_lastps_ew20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4370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305739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perm_poolq_seasony_lastps_ew20_dft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768779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bin1=0.893% · peak=ventile 19 @ 29.487% · last=24.286% · LPM β₂=+0.1975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33 — FIXED HERO — canonical deck (13–21)</a:t>
            </a:r>
          </a:p>
          <a:p>
            <a:pPr>
              <a:defRPr sz="1200" i="1"/>
            </a:pPr>
            <a:r>
              <a:t>Baseline — canonical deck HERO</a:t>
            </a:r>
          </a:p>
        </p:txBody>
      </p:sp>
      <p:pic>
        <p:nvPicPr>
          <p:cNvPr id="3" name="Picture 2" descr="HERO_q16_allt_min20_mg10_13_21_FIXED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849" y="777240"/>
            <a:ext cx="8695997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FIXED_HERO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bin1=2.098% · peak=ventile 15 @ 3.021% · last=2.645% · LPM β₂=+0.000462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34 — 13–21 · LOO poolq_loo · ever-draft · all PS rows · EW20 ALLT</a:t>
            </a:r>
          </a:p>
          <a:p>
            <a:pPr>
              <a:defRPr sz="1200" i="1"/>
            </a:pPr>
            <a:r>
              <a:t>Δ vs FIXED HERO: season_window: 11_21 → 13_21; poolq_binning: quantile → equal_width; n_bins: 16 → 20</a:t>
            </a:r>
          </a:p>
        </p:txBody>
      </p:sp>
      <p:pic>
        <p:nvPicPr>
          <p:cNvPr id="3" name="Picture 2" descr="HERO_ew20_allt_min20_mg10_13_21_perm_loo_ever_allps_ew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486" y="777240"/>
            <a:ext cx="8662722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perm_loo_ever_allps_ew20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bin1=0.927% · peak=ventile 16 @ 3.256% · last=2.537% · LPM β₂=+0.000462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35 — 13–21 · LOO poolq_loo · ever-draft · all PS rows · QTL16 +DFT</a:t>
            </a:r>
          </a:p>
          <a:p>
            <a:pPr>
              <a:defRPr sz="1200" i="1"/>
            </a:pPr>
            <a:r>
              <a:t>Δ vs FIXED HERO: season_window: 11_21 → 13_21; dft: False → True</a:t>
            </a:r>
          </a:p>
        </p:txBody>
      </p:sp>
      <p:pic>
        <p:nvPicPr>
          <p:cNvPr id="3" name="Picture 2" descr="HERO_q16_dft_min20_mg10_13_21_perm_loo_ever_allps_q16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438" y="777240"/>
            <a:ext cx="8734819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perm_loo_ever_allps_q16_dft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bin1=8.01% · peak=ventile 4 @ 8.252% · last=5.346% · LPM β₂=-0.006194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36 — 13–21 · LOO poolq_loo · ever-draft · all PS rows · EW20 +DFT</a:t>
            </a:r>
          </a:p>
          <a:p>
            <a:pPr>
              <a:defRPr sz="1200" i="1"/>
            </a:pPr>
            <a:r>
              <a:t>Δ vs FIXED HERO: season_window: 11_21 → 13_21; poolq_binning: quantile → equal_width; n_bins: 16 → 20; dft: False → True</a:t>
            </a:r>
          </a:p>
        </p:txBody>
      </p:sp>
      <p:pic>
        <p:nvPicPr>
          <p:cNvPr id="3" name="Picture 2" descr="HERO_ew20_dft_min20_mg10_13_21_perm_loo_ever_allps_ew20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210" y="777240"/>
            <a:ext cx="8729274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perm_loo_ever_allps_ew20_dft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bin1=3.822% · peak=ventile 3 @ 11.917% · last=5.346% · LPM β₂=-0.006194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37 — 13–21 · LOO poolq_loo · ever-draft · last PS only (cross-section) · QTL16 ALLT</a:t>
            </a:r>
          </a:p>
          <a:p>
            <a:pPr>
              <a:defRPr sz="1200" i="1"/>
            </a:pPr>
            <a:r>
              <a:t>Δ vs FIXED HERO: season_window: 11_21 → 13_21; panel_rows: all-ps → last-ps</a:t>
            </a:r>
          </a:p>
        </p:txBody>
      </p:sp>
      <p:pic>
        <p:nvPicPr>
          <p:cNvPr id="3" name="Picture 2" descr="HERO_q16_allt_min20_mg10_13_21_last_ps_perm_loo_ever_last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213" y="777240"/>
            <a:ext cx="9755268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perm_loo_ever_lastps_q16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bin1=2.089% · peak=ventile 11 @ 3.232% · last=2.757% · LPM β₂=-0.01282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38 — 13–21 · LOO poolq_loo · ever-draft · last PS only (cross-section) · EW20 ALLT</a:t>
            </a:r>
          </a:p>
          <a:p>
            <a:pPr>
              <a:defRPr sz="1200" i="1"/>
            </a:pPr>
            <a:r>
              <a:t>Δ vs FIXED HERO: season_window: 11_21 → 13_21; panel_rows: all-ps → last-ps; poolq_binning: quantile → equal_width; n_bins: 16 → 20</a:t>
            </a:r>
          </a:p>
        </p:txBody>
      </p:sp>
      <p:pic>
        <p:nvPicPr>
          <p:cNvPr id="3" name="Picture 2" descr="HERO_ew20_allt_min20_mg10_13_21_last_ps_perm_loo_ever_lastps_ew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4" y="777240"/>
            <a:ext cx="9960466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perm_loo_ever_lastps_ew20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bin1=1.524% · peak=ventile 3 @ 3.333% · last=2.288% · LPM β₂=-0.01282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39 — 13–21 · LOO poolq_loo · ever-draft · last PS only (cross-section) · QTL16 +DFT</a:t>
            </a:r>
          </a:p>
          <a:p>
            <a:pPr>
              <a:defRPr sz="1200" i="1"/>
            </a:pPr>
            <a:r>
              <a:t>Δ vs FIXED HERO: season_window: 11_21 → 13_21; panel_rows: all-ps → last-ps; dft: False → True</a:t>
            </a:r>
          </a:p>
        </p:txBody>
      </p:sp>
      <p:pic>
        <p:nvPicPr>
          <p:cNvPr id="3" name="Picture 2" descr="HERO_q16_dft_min20_mg10_13_21_last_ps_perm_loo_ever_lastps_q16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922" y="777240"/>
            <a:ext cx="10187850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perm_loo_ever_lastps_q16_dft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bin1=8.924% · peak=ventile 4 @ 9.186% · last=4.211% · LPM β₂=-0.0189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40 — 13–21 · LOO poolq_loo · ever-draft · last PS only (cross-section) · EW20 +DFT</a:t>
            </a:r>
          </a:p>
          <a:p>
            <a:pPr>
              <a:defRPr sz="1200" i="1"/>
            </a:pPr>
            <a:r>
              <a:t>Δ vs FIXED HERO: season_window: 11_21 → 13_21; panel_rows: all-ps → last-ps; poolq_binning: quantile → equal_width; n_bins: 16 → 20; dft: False → True</a:t>
            </a:r>
          </a:p>
        </p:txBody>
      </p:sp>
      <p:pic>
        <p:nvPicPr>
          <p:cNvPr id="3" name="Picture 2" descr="HERO_ew20_dft_min20_mg10_13_21_last_ps_perm_loo_ever_lastps_ew20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23" y="777240"/>
            <a:ext cx="10393049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perm_loo_ever_lastps_ew20_dft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bin1=5.618% · peak=ventile 3 @ 14.634% · last=4.516% · LPM β₂=-0.0189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41 — 13–21 · LOO poolq_loo · season-Y label · all PS rows · QTL16 ALLT</a:t>
            </a:r>
          </a:p>
          <a:p>
            <a:pPr>
              <a:defRPr sz="1200" i="1"/>
            </a:pPr>
            <a:r>
              <a:t>Δ vs FIXED HERO: season_window: 11_21 → 13_21; y_draft_mode: ever → season</a:t>
            </a:r>
          </a:p>
        </p:txBody>
      </p:sp>
      <p:pic>
        <p:nvPicPr>
          <p:cNvPr id="3" name="Picture 2" descr="HERO_q16_allt_min20_mg10_13_21_season_y_perm_loo_seasony_all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117" y="777240"/>
            <a:ext cx="9899461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perm_loo_seasony_allps_q16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bin1=1.511% · peak=ventile 1 @ 1.511% · last=1.134% · LPM β₂=+0.01041 ⚠ bin1 LOWEST ventile is PEAK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42 — 13–21 · LOO poolq_loo · season-Y label · all PS rows · EW20 ALLT</a:t>
            </a:r>
          </a:p>
          <a:p>
            <a:pPr>
              <a:defRPr sz="1200" i="1"/>
            </a:pPr>
            <a:r>
              <a:t>Δ vs FIXED HERO: season_window: 11_21 → 13_21; y_draft_mode: ever → season; poolq_binning: quantile → equal_width; n_bins: 16 → 20</a:t>
            </a:r>
          </a:p>
        </p:txBody>
      </p:sp>
      <p:pic>
        <p:nvPicPr>
          <p:cNvPr id="3" name="Picture 2" descr="HERO_ew20_allt_min20_mg10_13_21_season_y_perm_loo_seasony_allps_ew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23" y="777240"/>
            <a:ext cx="9982649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perm_loo_seasony_allps_ew20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bin1=0.0% · peak=ventile 4 @ 2.222% · last=0.529% · LPM β₂=+0.01041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43 — 13–21 · LOO poolq_loo · season-Y label · all PS rows · QTL16 +DFT</a:t>
            </a:r>
          </a:p>
          <a:p>
            <a:pPr>
              <a:defRPr sz="1200" i="1"/>
            </a:pPr>
            <a:r>
              <a:t>Δ vs FIXED HERO: season_window: 11_21 → 13_21; y_draft_mode: ever → season; dft: False → True</a:t>
            </a:r>
          </a:p>
        </p:txBody>
      </p:sp>
      <p:pic>
        <p:nvPicPr>
          <p:cNvPr id="3" name="Picture 2" descr="HERO_q16_dft_min20_mg10_13_21_season_y_perm_loo_seasony_allps_q16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290" y="777240"/>
            <a:ext cx="10099115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perm_loo_seasony_allps_q16_dft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bin1=4.675% · peak=ventile 1 @ 4.675% · last=3.121% · LPM β₂=+0.01032 ⚠ bin1 LOWEST ventile is PEAK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44 — 13–21 · LOO poolq_loo · season-Y label · all PS rows · EW20 +DFT</a:t>
            </a:r>
          </a:p>
          <a:p>
            <a:pPr>
              <a:defRPr sz="1200" i="1"/>
            </a:pPr>
            <a:r>
              <a:t>Δ vs FIXED HERO: season_window: 11_21 → 13_21; y_draft_mode: ever → season; poolq_binning: quantile → equal_width; n_bins: 16 → 20; dft: False → True</a:t>
            </a:r>
          </a:p>
        </p:txBody>
      </p:sp>
      <p:pic>
        <p:nvPicPr>
          <p:cNvPr id="3" name="Picture 2" descr="HERO_ew20_dft_min20_mg10_13_21_season_y_perm_loo_seasony_allps_ew20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01" y="777240"/>
            <a:ext cx="10265492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perm_loo_seasony_allps_ew20_dft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bin1=0.0% · peak=ventile 4 @ 7.317% · last=1.818% · LPM β₂=+0.01032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45 — 13–21 · LOO poolq_loo · season-Y label · last PS only (cross-section) · QTL16 ALLT</a:t>
            </a:r>
          </a:p>
          <a:p>
            <a:pPr>
              <a:defRPr sz="1200" i="1"/>
            </a:pPr>
            <a:r>
              <a:t>Δ vs FIXED HERO: season_window: 11_21 → 13_21; y_draft_mode: ever → season; panel_rows: all-ps → last-ps</a:t>
            </a:r>
          </a:p>
        </p:txBody>
      </p:sp>
      <p:pic>
        <p:nvPicPr>
          <p:cNvPr id="3" name="Picture 2" descr="HERO_q16_allt_min20_mg10_13_21_season_y_last_ps_perm_loo_seasony_last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6234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492096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perm_loo_seasony_lastps_q16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55136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bin1=3.039% · peak=ventile 4 @ 3.042% · last=2.376% · LPM β₂=+0.008419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46 — 13–21 · LOO poolq_loo · season-Y label · last PS only (cross-section) · EW20 ALLT</a:t>
            </a:r>
          </a:p>
          <a:p>
            <a:pPr>
              <a:defRPr sz="1200" i="1"/>
            </a:pPr>
            <a:r>
              <a:t>Δ vs FIXED HERO: season_window: 11_21 → 13_21; y_draft_mode: ever → season; panel_rows: all-ps → last-ps; poolq_binning: quantile → equal_width; n_bins: 16 → 20</a:t>
            </a:r>
          </a:p>
        </p:txBody>
      </p:sp>
      <p:pic>
        <p:nvPicPr>
          <p:cNvPr id="3" name="Picture 2" descr="HERO_ew20_allt_min20_mg10_13_21_season_y_last_ps_perm_loo_seasony_lastps_ew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5612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42997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perm_loo_seasony_lastps_ew20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89301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bin1=0.0% · peak=ventile 4 @ 4.348% · last=1.117% · LPM β₂=+0.008419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47 — 13–21 · LOO poolq_loo · season-Y label · last PS only (cross-section) · QTL16 +DFT</a:t>
            </a:r>
          </a:p>
          <a:p>
            <a:pPr>
              <a:defRPr sz="1200" i="1"/>
            </a:pPr>
            <a:r>
              <a:t>Δ vs FIXED HERO: season_window: 11_21 → 13_21; y_draft_mode: ever → season; panel_rows: all-ps → last-ps; dft: False → True</a:t>
            </a:r>
          </a:p>
        </p:txBody>
      </p:sp>
      <p:pic>
        <p:nvPicPr>
          <p:cNvPr id="3" name="Picture 2" descr="HERO_q16_dft_min20_mg10_13_21_season_y_last_ps_perm_loo_seasony_lastps_q16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494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363571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perm_loo_seasony_lastps_q16_dft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826611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bin1=10.056% · peak=ventile 1 @ 10.056% · last=6.443% · LPM β₂=+0.01897 ⚠ bin1 LOWEST ventile is PEAK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48 — 13–21 · LOO poolq_loo · season-Y label · last PS only (cross-section) · EW20 +DFT</a:t>
            </a:r>
          </a:p>
          <a:p>
            <a:pPr>
              <a:defRPr sz="1200" i="1"/>
            </a:pPr>
            <a:r>
              <a:t>Δ vs FIXED HERO: season_window: 11_21 → 13_21; y_draft_mode: ever → season; panel_rows: all-ps → last-ps; poolq_binning: quantile → equal_width; n_bins: 16 → 20; dft: False → True</a:t>
            </a:r>
          </a:p>
        </p:txBody>
      </p:sp>
      <p:pic>
        <p:nvPicPr>
          <p:cNvPr id="3" name="Picture 2" descr="HERO_ew20_dft_min20_mg10_13_21_season_y_last_ps_perm_loo_seasony_lastps_ew20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4370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305739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perm_loo_seasony_lastps_ew20_dft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768779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bin1=0.0% · peak=ventile 2 @ 16.667% · last=3.077% · LPM β₂=+0.01897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49 — 13–21 · team poolq (incl. self) · ever-draft · all PS rows · QTL16 ALLT</a:t>
            </a:r>
          </a:p>
          <a:p>
            <a:pPr>
              <a:defRPr sz="1200" i="1"/>
            </a:pPr>
            <a:r>
              <a:t>Δ vs FIXED HERO: season_window: 11_21 → 13_21; roster_x: poolq_loo → poolq</a:t>
            </a:r>
          </a:p>
        </p:txBody>
      </p:sp>
      <p:pic>
        <p:nvPicPr>
          <p:cNvPr id="3" name="Picture 2" descr="HERO_poolq_q16_allt_min20_mg10_13_21_perm_poolq_ever_all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680" y="777240"/>
            <a:ext cx="8374335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perm_poolq_ever_allps_q16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bin1=0.378% · peak=ventile 15 @ 4.784% · last=4.366% · LPM β₂=+0.01828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50 — 13–21 · team poolq (incl. self) · ever-draft · all PS rows · EW20 ALLT</a:t>
            </a:r>
          </a:p>
          <a:p>
            <a:pPr>
              <a:defRPr sz="1200" i="1"/>
            </a:pPr>
            <a:r>
              <a:t>Δ vs FIXED HERO: season_window: 11_21 → 13_21; roster_x: poolq_loo → poolq; poolq_binning: quantile → equal_width; n_bins: 16 → 20</a:t>
            </a:r>
          </a:p>
        </p:txBody>
      </p:sp>
      <p:pic>
        <p:nvPicPr>
          <p:cNvPr id="3" name="Picture 2" descr="HERO_poolq_ew20_allt_min20_mg10_13_21_perm_poolq_ever_allps_ew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318" y="777240"/>
            <a:ext cx="8341058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perm_poolq_ever_allps_ew20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bin1=0.144% · peak=ventile 20 @ 5.527% · last=5.527% · LPM β₂=+0.01828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51 — 13–21 · team poolq (incl. self) · ever-draft · all PS rows · QTL16 +DFT</a:t>
            </a:r>
          </a:p>
          <a:p>
            <a:pPr>
              <a:defRPr sz="1200" i="1"/>
            </a:pPr>
            <a:r>
              <a:t>Δ vs FIXED HERO: season_window: 11_21 → 13_21; roster_x: poolq_loo → poolq; dft: False → True</a:t>
            </a:r>
          </a:p>
        </p:txBody>
      </p:sp>
      <p:pic>
        <p:nvPicPr>
          <p:cNvPr id="3" name="Picture 2" descr="HERO_poolq_q16_dft_min20_mg10_13_21_perm_poolq_ever_allps_q16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221" y="777240"/>
            <a:ext cx="8485253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perm_poolq_ever_allps_q16_dft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bin1=2.063% · peak=ventile 15 @ 10.922% · last=8.141% · LPM β₂=-0.02287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52 — 13–21 · team poolq (incl. self) · ever-draft · all PS rows · EW20 +DFT</a:t>
            </a:r>
          </a:p>
          <a:p>
            <a:pPr>
              <a:defRPr sz="1200" i="1"/>
            </a:pPr>
            <a:r>
              <a:t>Δ vs FIXED HERO: season_window: 11_21 → 13_21; roster_x: poolq_loo → poolq; poolq_binning: quantile → equal_width; n_bins: 16 → 20; dft: False → True</a:t>
            </a:r>
          </a:p>
        </p:txBody>
      </p:sp>
      <p:pic>
        <p:nvPicPr>
          <p:cNvPr id="3" name="Picture 2" descr="HERO_poolq_ew20_dft_min20_mg10_13_21_perm_poolq_ever_allps_ew20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626" y="777240"/>
            <a:ext cx="8568442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perm_poolq_ever_allps_ew20_dft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bin1=0.388% · peak=ventile 20 @ 12.185% · last=12.185% · LPM β₂=-0.02287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53 — 13–21 · team poolq (incl. self) · ever-draft · last PS only (cross-section) · QTL16 ALLT</a:t>
            </a:r>
          </a:p>
          <a:p>
            <a:pPr>
              <a:defRPr sz="1200" i="1"/>
            </a:pPr>
            <a:r>
              <a:t>Δ vs FIXED HERO: season_window: 11_21 → 13_21; roster_x: poolq_loo → poolq; panel_rows: all-ps → last-ps</a:t>
            </a:r>
          </a:p>
        </p:txBody>
      </p:sp>
      <p:pic>
        <p:nvPicPr>
          <p:cNvPr id="3" name="Picture 2" descr="HERO_poolq_q16_allt_min20_mg10_13_21_last_ps_perm_poolq_ever_last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213" y="777240"/>
            <a:ext cx="9755268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perm_poolq_ever_lastps_q16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bin1=0.38% · peak=ventile 16 @ 11.787% · last=11.787% · LPM β₂=+0.05195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54 — 13–21 · team poolq (incl. self) · ever-draft · last PS only (cross-section) · EW20 ALLT</a:t>
            </a:r>
          </a:p>
          <a:p>
            <a:pPr>
              <a:defRPr sz="1200" i="1"/>
            </a:pPr>
            <a:r>
              <a:t>Δ vs FIXED HERO: season_window: 11_21 → 13_21; roster_x: poolq_loo → poolq; panel_rows: all-ps → last-ps; poolq_binning: quantile → equal_width; n_bins: 16 → 20</a:t>
            </a:r>
          </a:p>
        </p:txBody>
      </p:sp>
      <p:pic>
        <p:nvPicPr>
          <p:cNvPr id="3" name="Picture 2" descr="HERO_poolq_ew20_allt_min20_mg10_13_21_last_ps_perm_poolq_ever_lastps_ew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4" y="777240"/>
            <a:ext cx="9960466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perm_poolq_ever_lastps_ew20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bin1=0.0% · peak=ventile 19 @ 19.643% · last=14.8% · LPM β₂=+0.05195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55 — 13–21 · team poolq (incl. self) · ever-draft · last PS only (cross-section) · QTL16 +DFT</a:t>
            </a:r>
          </a:p>
          <a:p>
            <a:pPr>
              <a:defRPr sz="1200" i="1"/>
            </a:pPr>
            <a:r>
              <a:t>Δ vs FIXED HERO: season_window: 11_21 → 13_21; roster_x: poolq_loo → poolq; panel_rows: all-ps → last-ps; dft: False → True</a:t>
            </a:r>
          </a:p>
        </p:txBody>
      </p:sp>
      <p:pic>
        <p:nvPicPr>
          <p:cNvPr id="3" name="Picture 2" descr="HERO_poolq_q16_dft_min20_mg10_13_21_last_ps_perm_poolq_ever_lastps_q16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922" y="777240"/>
            <a:ext cx="10187850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perm_poolq_ever_lastps_q16_dft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bin1=1.312% · peak=ventile 16 @ 22.632% · last=22.632% · LPM β₂=+0.08639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56 — 13–21 · team poolq (incl. self) · ever-draft · last PS only (cross-section) · EW20 +DFT</a:t>
            </a:r>
          </a:p>
          <a:p>
            <a:pPr>
              <a:defRPr sz="1200" i="1"/>
            </a:pPr>
            <a:r>
              <a:t>Δ vs FIXED HERO: season_window: 11_21 → 13_21; roster_x: poolq_loo → poolq; panel_rows: all-ps → last-ps; poolq_binning: quantile → equal_width; n_bins: 16 → 20; dft: False → True</a:t>
            </a:r>
          </a:p>
        </p:txBody>
      </p:sp>
      <p:pic>
        <p:nvPicPr>
          <p:cNvPr id="3" name="Picture 2" descr="HERO_poolq_ew20_dft_min20_mg10_13_21_last_ps_perm_poolq_ever_lastps_ew20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23" y="777240"/>
            <a:ext cx="10393049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perm_poolq_ever_lastps_ew20_dft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bin1=0.0% · peak=ventile 20 @ 28.421% · last=28.421% · LPM β₂=+0.08639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57 — 13–21 · team poolq (incl. self) · season-Y label · all PS rows · QTL16 ALLT</a:t>
            </a:r>
          </a:p>
          <a:p>
            <a:pPr>
              <a:defRPr sz="1200" i="1"/>
            </a:pPr>
            <a:r>
              <a:t>Δ vs FIXED HERO: season_window: 11_21 → 13_21; roster_x: poolq_loo → poolq; y_draft_mode: ever → season</a:t>
            </a:r>
          </a:p>
        </p:txBody>
      </p:sp>
      <p:pic>
        <p:nvPicPr>
          <p:cNvPr id="3" name="Picture 2" descr="HERO_poolq_q16_allt_min20_mg10_13_21_season_y_perm_poolq_seasony_all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533" y="777240"/>
            <a:ext cx="9738629" cy="37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19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perm_poolq_seasony_allps_q16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59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bin1=0.084% · peak=ventile 16 @ 2.393% · last=2.393% · LPM β₂=+0.04542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58 — 13–21 · team poolq (incl. self) · season-Y label · all PS rows · EW20 ALLT</a:t>
            </a:r>
          </a:p>
          <a:p>
            <a:pPr>
              <a:defRPr sz="1200" i="1"/>
            </a:pPr>
            <a:r>
              <a:t>Δ vs FIXED HERO: season_window: 11_21 → 13_21; roster_x: poolq_loo → poolq; y_draft_mode: ever → season; poolq_binning: quantile → equal_width; n_bins: 16 → 20</a:t>
            </a:r>
          </a:p>
        </p:txBody>
      </p:sp>
      <p:pic>
        <p:nvPicPr>
          <p:cNvPr id="3" name="Picture 2" descr="HERO_poolq_ew20_allt_min20_mg10_13_21_season_y_perm_poolq_seasony_allps_ew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392" y="777240"/>
            <a:ext cx="9832910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perm_poolq_seasony_allps_ew20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bin1=0.173% · peak=ventile 20 @ 3.399% · last=3.399% · LPM β₂=+0.04542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59 — 13–21 · team poolq (incl. self) · season-Y label · all PS rows · QTL16 +DFT</a:t>
            </a:r>
          </a:p>
          <a:p>
            <a:pPr>
              <a:defRPr sz="1200" i="1"/>
            </a:pPr>
            <a:r>
              <a:t>Δ vs FIXED HERO: season_window: 11_21 → 13_21; roster_x: poolq_loo → poolq; y_draft_mode: ever → season; dft: False → True</a:t>
            </a:r>
          </a:p>
        </p:txBody>
      </p:sp>
      <p:pic>
        <p:nvPicPr>
          <p:cNvPr id="3" name="Picture 2" descr="HERO_poolq_q16_dft_min20_mg10_13_21_season_y_perm_poolq_seasony_allps_q16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01" y="777240"/>
            <a:ext cx="10060293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perm_poolq_seasony_allps_q16_dft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bin1=0.779% · peak=ventile 12 @ 5.584% · last=5.332% · LPM β₂=+0.01064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60 — 13–21 · team poolq (incl. self) · season-Y label · all PS rows · EW20 +DFT</a:t>
            </a:r>
          </a:p>
          <a:p>
            <a:pPr>
              <a:defRPr sz="1200" i="1"/>
            </a:pPr>
            <a:r>
              <a:t>Δ vs FIXED HERO: season_window: 11_21 → 13_21; roster_x: poolq_loo → poolq; y_draft_mode: ever → season; poolq_binning: quantile → equal_width; n_bins: 16 → 20; dft: False → True</a:t>
            </a:r>
          </a:p>
        </p:txBody>
      </p:sp>
      <p:pic>
        <p:nvPicPr>
          <p:cNvPr id="3" name="Picture 2" descr="HERO_poolq_ew20_dft_min20_mg10_13_21_season_y_perm_poolq_seasony_allps_ew20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01" y="777240"/>
            <a:ext cx="10265492" cy="374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all-ps \</a:t>
            </a:r>
            <a:br/>
            <a:r>
              <a:t>  --roster-x poolq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perm_poolq_seasony_allps_ew20_dft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8076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bin1=0.599% · peak=ventile 20 @ 7.386% · last=7.386% · LPM β₂=+0.01064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61 — 13–21 · team poolq (incl. self) · season-Y label · last PS only (cross-section) · QTL16 ALLT</a:t>
            </a:r>
          </a:p>
          <a:p>
            <a:pPr>
              <a:defRPr sz="1200" i="1"/>
            </a:pPr>
            <a:r>
              <a:t>Δ vs FIXED HERO: season_window: 11_21 → 13_21; roster_x: poolq_loo → poolq; y_draft_mode: ever → season; panel_rows: all-ps → last-ps</a:t>
            </a:r>
          </a:p>
        </p:txBody>
      </p:sp>
      <p:pic>
        <p:nvPicPr>
          <p:cNvPr id="3" name="Picture 2" descr="HERO_poolq_q16_allt_min20_mg10_13_21_season_y_last_ps_perm_poolq_seasony_lastps_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6234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492096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perm_poolq_seasony_lastps_q16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55136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bin1=0.285% · peak=ventile 16 @ 11.217% · last=11.217% · LPM β₂=+0.1429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62 — 13–21 · team poolq (incl. self) · season-Y label · last PS only (cross-section) · EW20 ALLT</a:t>
            </a:r>
          </a:p>
          <a:p>
            <a:pPr>
              <a:defRPr sz="1200" i="1"/>
            </a:pPr>
            <a:r>
              <a:t>Δ vs FIXED HERO: season_window: 11_21 → 13_21; roster_x: poolq_loo → poolq; y_draft_mode: ever → season; panel_rows: all-ps → last-ps; poolq_binning: quantile → equal_width; n_bins: 16 → 20</a:t>
            </a:r>
          </a:p>
        </p:txBody>
      </p:sp>
      <p:pic>
        <p:nvPicPr>
          <p:cNvPr id="3" name="Picture 2" descr="HERO_poolq_ew20_allt_min20_mg10_13_21_season_y_last_ps_perm_poolq_seasony_lastps_ew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5612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429970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perm_poolq_seasony_lastps_ew20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893010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bin1=0.0% · peak=ventile 19 @ 22.414% · last=13.953% · LPM β₂=+0.1429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63 — 13–21 · team poolq (incl. self) · season-Y label · last PS only (cross-section) · QTL16 +DFT</a:t>
            </a:r>
          </a:p>
          <a:p>
            <a:pPr>
              <a:defRPr sz="1200" i="1"/>
            </a:pPr>
            <a:r>
              <a:t>Δ vs FIXED HERO: season_window: 11_21 → 13_21; roster_x: poolq_loo → poolq; y_draft_mode: ever → season; panel_rows: all-ps → last-ps; dft: False → True</a:t>
            </a:r>
          </a:p>
        </p:txBody>
      </p:sp>
      <p:pic>
        <p:nvPicPr>
          <p:cNvPr id="3" name="Picture 2" descr="HERO_poolq_q16_dft_min20_mg10_13_21_season_y_last_ps_perm_poolq_seasony_lastps_q16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494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363571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16 \</a:t>
            </a:r>
            <a:br/>
            <a:r>
              <a:t>  --poolq-binning quantile \</a:t>
            </a:r>
            <a:br/>
            <a:r>
              <a:t>  --output-tag perm_poolq_seasony_lastps_q16_dft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826611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bin1=1.676% · peak=ventile 16 @ 24.37% · last=24.37% · LPM β₂=+0.2174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Slide 64 — 13–21 · team poolq (incl. self) · season-Y label · last PS only (cross-section) · EW20 +DFT</a:t>
            </a:r>
          </a:p>
          <a:p>
            <a:pPr>
              <a:defRPr sz="1200" i="1"/>
            </a:pPr>
            <a:r>
              <a:t>Δ vs FIXED HERO: season_window: 11_21 → 13_21; roster_x: poolq_loo → poolq; y_draft_mode: ever → season; panel_rows: all-ps → last-ps; poolq_binning: quantile → equal_width; n_bins: 16 → 20; dft: False → True</a:t>
            </a:r>
          </a:p>
        </p:txBody>
      </p:sp>
      <p:pic>
        <p:nvPicPr>
          <p:cNvPr id="3" name="Picture 2" descr="HERO_poolq_ew20_dft_min20_mg10_13_21_season_y_last_ps_perm_poolq_seasony_lastps_ew20_d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1368735" cy="34370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305739"/>
            <a:ext cx="11368735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season \</a:t>
            </a:r>
            <a:br/>
            <a:r>
              <a:t>  --panel-rows last-ps \</a:t>
            </a:r>
            <a:br/>
            <a:r>
              <a:t>  --roster-x poolq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perm_poolq_seasony_lastps_ew20_dft \</a:t>
            </a:r>
            <a:br/>
            <a:r>
              <a:t>  --output-root 3-Master_Plan/re_entry/HEROs_and_PASSes/population_sandbox/hero \</a:t>
            </a:r>
            <a:br/>
            <a:r>
              <a:t>  --dft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768779"/>
            <a:ext cx="113687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Shape: bin1=0.0% · peak=ventile 19 @ 35.185% · last=23.762% · LPM β₂=+0.2174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