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3" r:id="rId2"/>
    <p:sldId id="256" r:id="rId3"/>
    <p:sldId id="257" r:id="rId4"/>
    <p:sldId id="258" r:id="rId5"/>
    <p:sldId id="259" r:id="rId6"/>
    <p:sldId id="260" r:id="rId7"/>
    <p:sldId id="305" r:id="rId8"/>
    <p:sldId id="306" r:id="rId9"/>
    <p:sldId id="30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61" r:id="rId18"/>
    <p:sldId id="262" r:id="rId19"/>
    <p:sldId id="273" r:id="rId20"/>
    <p:sldId id="274" r:id="rId21"/>
    <p:sldId id="26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42"/>
    <p:restoredTop sz="94658"/>
  </p:normalViewPr>
  <p:slideViewPr>
    <p:cSldViewPr snapToGrid="0" snapToObjects="1">
      <p:cViewPr varScale="1">
        <p:scale>
          <a:sx n="197" d="100"/>
          <a:sy n="197" d="100"/>
        </p:scale>
        <p:origin x="216" y="7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E7DCF-1A3D-1CEE-5EBF-9B07041D6A72}"/>
              </a:ext>
            </a:extLst>
          </p:cNvPr>
          <p:cNvSpPr txBox="1"/>
          <p:nvPr/>
        </p:nvSpPr>
        <p:spPr>
          <a:xfrm>
            <a:off x="169762" y="2967335"/>
            <a:ext cx="11852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REIGNING </a:t>
            </a:r>
            <a:r>
              <a:rPr lang="en-US" sz="5400" i="1">
                <a:latin typeface="Futura Medium" panose="020B0602020204020303" pitchFamily="34" charset="-79"/>
                <a:cs typeface="Futura Medium" panose="020B0602020204020303" pitchFamily="34" charset="-79"/>
              </a:rPr>
              <a:t>BDP slides </a:t>
            </a:r>
            <a:r>
              <a:rPr lang="en-US" sz="5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HAND</a:t>
            </a:r>
          </a:p>
        </p:txBody>
      </p:sp>
    </p:spTree>
    <p:extLst>
      <p:ext uri="{BB962C8B-B14F-4D97-AF65-F5344CB8AC3E}">
        <p14:creationId xmlns:p14="http://schemas.microsoft.com/office/powerpoint/2010/main" val="300703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 — Reigning hero basic data plots (porch)</a:t>
            </a:r>
          </a:p>
          <a:p>
            <a:pPr>
              <a:defRPr sz="1200" i="1"/>
            </a:pPr>
            <a:r>
              <a:t>7 plots · 2026-08-27 · lock mg10 min20 09_21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87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Purpose: porch diagnostics for the named reigning hero before star sweep / F-HERO.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Reigning hero (slide 12): </a:t>
            </a:r>
            <a:r>
              <a:rPr lang="en-US" dirty="0"/>
              <a:t>poolq_{LOO}</a:t>
            </a:r>
            <a:r>
              <a:rPr dirty="0"/>
              <a:t> · ever · last-</a:t>
            </a:r>
            <a:r>
              <a:rPr dirty="0" err="1"/>
              <a:t>ps</a:t>
            </a:r>
            <a:r>
              <a:rPr dirty="0"/>
              <a:t> · EW16 · ALLT · 2009–2021.</a:t>
            </a:r>
          </a:p>
          <a:p>
            <a:pPr>
              <a:defRPr sz="1400"/>
            </a:pPr>
            <a:r>
              <a:rPr dirty="0"/>
              <a:t>Filters: min20 · mg10 · PPM z · winsor 1–99 on </a:t>
            </a:r>
            <a:r>
              <a:rPr lang="en-US" dirty="0"/>
              <a:t>poolq_{LOO}</a:t>
            </a:r>
            <a:r>
              <a:rPr dirty="0"/>
              <a:t> (LOO plots only).</a:t>
            </a:r>
          </a:p>
          <a:p>
            <a:pPr>
              <a:defRPr sz="1400"/>
            </a:pPr>
            <a:r>
              <a:rPr dirty="0"/>
              <a:t>HERO tag: `perm_loo_ever_lastps_ew16`.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Population split (Charles Aug 2026):</a:t>
            </a:r>
          </a:p>
          <a:p>
            <a:pPr>
              <a:defRPr sz="1400"/>
            </a:pPr>
            <a:r>
              <a:rPr dirty="0"/>
              <a:t>  • last-</a:t>
            </a:r>
            <a:r>
              <a:rPr dirty="0" err="1"/>
              <a:t>ps</a:t>
            </a:r>
            <a:r>
              <a:rPr dirty="0"/>
              <a:t>: </a:t>
            </a:r>
            <a:r>
              <a:rPr dirty="0" err="1"/>
              <a:t>Â</a:t>
            </a:r>
            <a:r>
              <a:rPr dirty="0"/>
              <a:t>, LOO, </a:t>
            </a:r>
            <a:r>
              <a:rPr lang="en-US" dirty="0"/>
              <a:t>\hat{T}_j</a:t>
            </a:r>
            <a:r>
              <a:rPr dirty="0"/>
              <a:t> vs LOO — matches HERO scoring cross-section</a:t>
            </a:r>
          </a:p>
          <a:p>
            <a:pPr>
              <a:defRPr sz="1400"/>
            </a:pPr>
            <a:r>
              <a:rPr dirty="0"/>
              <a:t>  • all-</a:t>
            </a:r>
            <a:r>
              <a:rPr dirty="0" err="1"/>
              <a:t>ps</a:t>
            </a:r>
            <a:r>
              <a:rPr dirty="0"/>
              <a:t>: interval overlap, APGMS/ARGMS, roster size — full panel geometry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Regenerate plots: python sports/scripts/</a:t>
            </a:r>
            <a:r>
              <a:rPr dirty="0" err="1"/>
              <a:t>reigning_hero_basic_plots.py</a:t>
            </a:r>
            <a:endParaRPr dirty="0"/>
          </a:p>
          <a:p>
            <a:pPr>
              <a:defRPr sz="1400"/>
            </a:pPr>
            <a:r>
              <a:rPr dirty="0"/>
              <a:t>Rebuild deck: python sports/scripts/</a:t>
            </a:r>
            <a:r>
              <a:rPr dirty="0" err="1"/>
              <a:t>build_reigning_hero_basic_plots_slides.py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IGNING_team_interval_overlap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299" y="452628"/>
            <a:ext cx="7522395" cy="57881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01168"/>
            <a:ext cx="1136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Slide </a:t>
            </a:r>
            <a:r>
              <a:rPr lang="en-US" dirty="0"/>
              <a:t>3</a:t>
            </a:r>
            <a:r>
              <a:rPr dirty="0"/>
              <a:t> — Team interval overlap</a:t>
            </a:r>
          </a:p>
          <a:p>
            <a:pPr>
              <a:defRPr sz="1200" i="1"/>
            </a:pPr>
            <a:r>
              <a:rPr dirty="0"/>
              <a:t>HAND analog ~PD20 slide 21 · all-</a:t>
            </a:r>
            <a:r>
              <a:rPr dirty="0" err="1"/>
              <a:t>ps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12421" y="1905000"/>
            <a:ext cx="3931919" cy="1789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  <a:defRPr sz="1100"/>
            </a:pPr>
            <a:r>
              <a:rPr dirty="0"/>
              <a:t>• Full roster panel (all player-seasons) — needed for team-season interval geometry.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1100"/>
            </a:pPr>
            <a:r>
              <a:rPr dirty="0"/>
              <a:t>• Same filter chain as lock: mg10 · min20 · 09–21 · PPM z · ALLT.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1100"/>
            </a:pPr>
            <a:r>
              <a:rPr dirty="0"/>
              <a:t>• Complements last-</a:t>
            </a:r>
            <a:r>
              <a:rPr dirty="0" err="1"/>
              <a:t>ps</a:t>
            </a:r>
            <a:r>
              <a:rPr dirty="0"/>
              <a:t> HERO aperture — shows roster spread before LOO cross-section.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dirty="0"/>
              <a:t>n=4,534 team-seasons · </a:t>
            </a:r>
            <a:r>
              <a:rPr lang="en-US" dirty="0"/>
              <a:t>H_{sort}</a:t>
            </a:r>
            <a:r>
              <a:rPr dirty="0"/>
              <a:t>=0.0644 · coverage mean=1676 · disjoint mean=91.25%</a:t>
            </a:r>
          </a:p>
          <a:p>
            <a:pPr>
              <a:defRPr sz="900" i="1"/>
            </a:pPr>
            <a:r>
              <a:rPr dirty="0"/>
              <a:t>Rows: all-</a:t>
            </a:r>
            <a:r>
              <a:rPr dirty="0" err="1"/>
              <a:t>ps</a:t>
            </a:r>
            <a:r>
              <a:rPr dirty="0"/>
              <a:t> · HAND: PD20 ~slide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609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</a:t>
                </a:r>
                <a:r>
                  <a:rPr lang="en-US" dirty="0"/>
                  <a:t>4</a:t>
                </a:r>
                <a:r>
                  <a:rPr dirty="0"/>
                  <a:t>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 err="1">
                            <a:latin typeface="Cambria Math" panose="02040503050406030204" pitchFamily="18" charset="0"/>
                          </a:rPr>
                          <m:t>Â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distributions</a:t>
                </a:r>
              </a:p>
              <a:p>
                <a:pPr>
                  <a:defRPr sz="1200" i="1"/>
                </a:pPr>
                <a:r>
                  <a:rPr dirty="0"/>
                  <a:t>BDP slide 7 analog · last-</a:t>
                </a:r>
                <a:r>
                  <a:rPr dirty="0" err="1"/>
                  <a:t>ps</a:t>
                </a:r>
                <a:r>
                  <a:rPr dirty="0"/>
                  <a:t> · ALLT + orange +DFT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609462"/>
              </a:xfrm>
              <a:prstGeom prst="rect">
                <a:avLst/>
              </a:prstGeom>
              <a:blipFill>
                <a:blip r:embed="rId2"/>
                <a:stretch>
                  <a:fillRect l="-558" t="-4082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" y="1394460"/>
                <a:ext cx="3642360" cy="2154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Aft>
                    <a:spcPts val="200"/>
                  </a:spcAft>
                  <a:defRPr sz="1100"/>
                </a:pPr>
                <a:r>
                  <a:rPr dirty="0"/>
                  <a:t>• Last-</a:t>
                </a:r>
                <a:r>
                  <a:rPr dirty="0" err="1"/>
                  <a:t>ps</a:t>
                </a:r>
                <a:r>
                  <a:rPr dirty="0"/>
                  <a:t> cross-section (one row per athlete) — matches HERO scoring aperture.</a:t>
                </a:r>
              </a:p>
              <a:p>
                <a:pPr>
                  <a:lnSpc>
                    <a:spcPct val="200000"/>
                  </a:lnSpc>
                  <a:spcAft>
                    <a:spcPts val="200"/>
                  </a:spcAft>
                  <a:defRPr sz="1100"/>
                </a:pPr>
                <a:r>
                  <a:rPr dirty="0"/>
                  <a:t>• 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 err="1">
                            <a:latin typeface="Cambria Math" panose="02040503050406030204" pitchFamily="18" charset="0"/>
                          </a:rPr>
                          <m:t>Â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(player PPM z). Right: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(team-season mean). No poolq winsor.</a:t>
                </a:r>
              </a:p>
              <a:p>
                <a:pPr>
                  <a:lnSpc>
                    <a:spcPct val="200000"/>
                  </a:lnSpc>
                  <a:spcAft>
                    <a:spcPts val="200"/>
                  </a:spcAft>
                  <a:defRPr sz="1100"/>
                </a:pPr>
                <a:r>
                  <a:rPr dirty="0"/>
                  <a:t>• Orange overlay = +DFT subset (player-seasons on draft-ever teams).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394460"/>
                <a:ext cx="3642360" cy="2154757"/>
              </a:xfrm>
              <a:prstGeom prst="rect">
                <a:avLst/>
              </a:prstGeom>
              <a:blipFill>
                <a:blip r:embed="rId3"/>
                <a:stretch>
                  <a:fillRect b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Ai_Tj_mg10_min20_09_21_ppm_last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738" y="777241"/>
            <a:ext cx="7367362" cy="4905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ai_tj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97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 err="1"/>
                  <a:t>Â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=22,795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+0.011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=1.081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=4,508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=+0.035</m:t>
                    </m:r>
                  </m:oMath>
                </a14:m>
                <a:r>
                  <a:rPr dirty="0"/>
                  <a:t>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=0.563</m:t>
                    </m:r>
                  </m:oMath>
                </a14:m>
                <a:r>
                  <a:rPr dirty="0"/>
                  <a:t> · +DFT overlay: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=9,483</m:t>
                    </m:r>
                  </m:oMath>
                </a14:m>
                <a:r>
                  <a:rPr dirty="0"/>
                  <a:t> player-seasons on draft-ever teams</a:t>
                </a:r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BDP slide 7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97096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609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</a:t>
                </a:r>
                <a:r>
                  <a:rPr lang="en-US" dirty="0"/>
                  <a:t>5</a:t>
                </a:r>
                <a:r>
                  <a:rPr dirty="0"/>
                  <a:t>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 err="1">
                            <a:latin typeface="Cambria Math" panose="02040503050406030204" pitchFamily="18" charset="0"/>
                          </a:rPr>
                          <m:t>Â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distributions</a:t>
                </a:r>
              </a:p>
              <a:p>
                <a:pPr>
                  <a:defRPr sz="1200" i="1"/>
                </a:pPr>
                <a:r>
                  <a:rPr dirty="0"/>
                  <a:t>Mirror of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Â</m:t>
                    </m:r>
                  </m:oMath>
                </a14:m>
                <a:r>
                  <a:rPr dirty="0" err="1"/>
                  <a:t>|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· last-</a:t>
                </a:r>
                <a:r>
                  <a:rPr dirty="0" err="1"/>
                  <a:t>ps</a:t>
                </a:r>
                <a:r>
                  <a:rPr dirty="0"/>
                  <a:t> · winsor 1–99 on LOO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609398"/>
              </a:xfrm>
              <a:prstGeom prst="rect">
                <a:avLst/>
              </a:prstGeom>
              <a:blipFill>
                <a:blip r:embed="rId2"/>
                <a:stretch>
                  <a:fillRect l="-558" t="-2041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3748" y="1920240"/>
                <a:ext cx="4571611" cy="1111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Aft>
                    <a:spcPts val="200"/>
                  </a:spcAft>
                  <a:defRPr sz="1100"/>
                </a:pPr>
                <a:r>
                  <a:rPr dirty="0"/>
                  <a:t>• Right panel = LOO teammate mean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) with reigning winsor 1–99.</a:t>
                </a:r>
              </a:p>
              <a:p>
                <a:pPr>
                  <a:lnSpc>
                    <a:spcPct val="200000"/>
                  </a:lnSpc>
                  <a:spcAft>
                    <a:spcPts val="200"/>
                  </a:spcAft>
                  <a:defRPr sz="1100"/>
                </a:pPr>
                <a:r>
                  <a:rPr dirty="0"/>
                  <a:t>• Same last-</a:t>
                </a:r>
                <a:r>
                  <a:rPr dirty="0" err="1"/>
                  <a:t>ps</a:t>
                </a:r>
                <a:r>
                  <a:rPr dirty="0"/>
                  <a:t> aperture as HERO lock; shows individual vs local congestion.</a:t>
                </a:r>
              </a:p>
              <a:p>
                <a:pPr>
                  <a:lnSpc>
                    <a:spcPct val="200000"/>
                  </a:lnSpc>
                  <a:spcAft>
                    <a:spcPts val="200"/>
                  </a:spcAft>
                  <a:defRPr sz="1100"/>
                </a:pPr>
                <a:r>
                  <a:rPr dirty="0"/>
                  <a:t>• Tail structure on LOO reflects winsor clip — not LOO algebra.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48" y="1920240"/>
                <a:ext cx="4571611" cy="1111907"/>
              </a:xfrm>
              <a:prstGeom prst="rect">
                <a:avLst/>
              </a:prstGeom>
              <a:blipFill>
                <a:blip r:embed="rId3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Ai_poolq_loo_mg10_min20_09_21_ppm_last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554" y="1187196"/>
            <a:ext cx="7286697" cy="4811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ai_loo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 err="1"/>
                  <a:t>Â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=22,795</m:t>
                    </m:r>
                  </m:oMath>
                </a14:m>
                <a:r>
                  <a:rPr dirty="0"/>
                  <a:t>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=1.081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=22,795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=0.266</m:t>
                    </m:r>
                  </m:oMath>
                </a14:m>
                <a:r>
                  <a:rPr dirty="0"/>
                  <a:t> · winsor 1%–99%</a:t>
                </a:r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BDP slide 7 (LOO variant)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IGNING_BDP_Tj_vs_poolq_loo_mg10_min20_09_21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069" y="1371600"/>
            <a:ext cx="8181491" cy="46268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609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</a:t>
                </a:r>
                <a:r>
                  <a:rPr lang="en-US" dirty="0"/>
                  <a:t>6</a:t>
                </a:r>
                <a:r>
                  <a:rPr dirty="0"/>
                  <a:t> 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vs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density overlay</a:t>
                </a:r>
              </a:p>
              <a:p>
                <a:pPr>
                  <a:defRPr sz="1200" i="1"/>
                </a:pPr>
                <a:r>
                  <a:rPr dirty="0"/>
                  <a:t>New porch diagnostic · last-</a:t>
                </a:r>
                <a:r>
                  <a:rPr dirty="0" err="1"/>
                  <a:t>ps</a:t>
                </a:r>
                <a:r>
                  <a:rPr dirty="0"/>
                  <a:t> · winsor on LOO only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609462"/>
              </a:xfrm>
              <a:prstGeom prst="rect">
                <a:avLst/>
              </a:prstGeom>
              <a:blipFill>
                <a:blip r:embed="rId3"/>
                <a:stretch>
                  <a:fillRect l="-558" t="-4082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6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Compares team mean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(broad) vs LOO teammate mean (tight) on shared PPM z axis.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LOO winsor 1–99 — tail spikes at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dirty="0"/>
                  <a:t> are clip artifacts, not biology.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Motivation: visualize gap between team talent and local congestion before HERO bins.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65054"/>
              </a:xfrm>
              <a:prstGeom prst="rect">
                <a:avLst/>
              </a:prstGeom>
              <a:blipFill>
                <a:blip r:embed="rId4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tj_loo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97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0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=0.563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: sd=0.266 · winsor 1%–99% · tail spikes at winsor clip = artifact</a:t>
                </a:r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(new)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97096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661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</a:t>
                </a:r>
                <a:r>
                  <a:rPr lang="en-US" dirty="0"/>
                  <a:t>7</a:t>
                </a:r>
                <a:r>
                  <a:rPr dirty="0"/>
                  <a:t> —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dirty="0"/>
                  <a:t>vs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density overlay (no winsor)</a:t>
                </a:r>
              </a:p>
              <a:p>
                <a:pPr>
                  <a:defRPr sz="1200" i="1"/>
                </a:pPr>
                <a:r>
                  <a:rPr dirty="0"/>
                  <a:t>Mirror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vs LOO · last-</a:t>
                </a:r>
                <a:r>
                  <a:rPr dirty="0" err="1"/>
                  <a:t>ps</a:t>
                </a:r>
                <a:r>
                  <a:rPr dirty="0"/>
                  <a:t> · raw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661463"/>
              </a:xfrm>
              <a:prstGeom prst="rect">
                <a:avLst/>
              </a:prstGeom>
              <a:blipFill>
                <a:blip r:embed="rId2"/>
                <a:stretch>
                  <a:fillRect l="-558" t="-5556"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Same hist-density overlay as prior slide 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winsor 1–99 removed.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Shows natural LOO tails without clip spikes at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Reigning HERO lock still uses winsor; this is porch diagnostic only.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blipFill>
                <a:blip r:embed="rId3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Tj_vs_poolq_loo_mg10_min20_09_21_ppm_lastps_NOWIN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104" y="1545336"/>
            <a:ext cx="686948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tj_loo_nowinsor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408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=0.563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=0.273</m:t>
                    </m:r>
                  </m:oMath>
                </a14:m>
                <a:r>
                  <a:rPr dirty="0"/>
                  <a:t> · no winsor · tail spikes at winsor clip = artifact</a:t>
                </a:r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(new)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408638"/>
              </a:xfrm>
              <a:prstGeom prst="rect">
                <a:avLst/>
              </a:prstGeom>
              <a:blipFill>
                <a:blip r:embed="rId5"/>
                <a:stretch>
                  <a:fillRect t="-3030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</a:t>
                </a:r>
                <a:r>
                  <a:rPr lang="en-US" dirty="0"/>
                  <a:t>8</a:t>
                </a:r>
                <a:r>
                  <a:rPr dirty="0"/>
                  <a:t> —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dirty="0"/>
                  <a:t> distribution</a:t>
                </a:r>
              </a:p>
              <a:p>
                <a:pPr>
                  <a:defRPr sz="1200" i="1"/>
                </a:pPr>
                <a:r>
                  <a:rPr dirty="0"/>
                  <a:t>Realized sorting index · all-</a:t>
                </a:r>
                <a:r>
                  <a:rPr dirty="0" err="1"/>
                  <a:t>ps</a:t>
                </a:r>
                <a:r>
                  <a:rPr dirty="0"/>
                  <a:t> · vs sim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reference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584775"/>
              </a:xfrm>
              <a:prstGeom prst="rect">
                <a:avLst/>
              </a:prstGeom>
              <a:blipFill>
                <a:blip r:embed="rId2"/>
                <a:stretch>
                  <a:fillRect l="-558" t="-4255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dirty="0"/>
                  <a:t> = variance explained by team assignment (not interval overlap).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Per-season empirical bars + pooled line; orange = Grandchild sim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distribution.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Pooled reigning lock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0.064</m:t>
                    </m:r>
                  </m:oMath>
                </a14:m>
                <a:r>
                  <a:rPr dirty="0"/>
                  <a:t> — weak homophily on realized rosters.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blipFill>
                <a:blip r:embed="rId3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Hsort_dist_mg10_min20_09_21_ppm_all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689" y="1545336"/>
            <a:ext cx="798031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hsort_dist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/>
                  <a:t>pooled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=0.0644</m:t>
                    </m:r>
                  </m:oMath>
                </a14:m>
                <a:r>
                  <a:rPr dirty="0"/>
                  <a:t> · sim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mean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0.0823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=650</m:t>
                        </m:r>
                      </m:e>
                    </m:d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PD17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dirty="0"/>
                  <a:t> readout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Slide </a:t>
            </a:r>
            <a:r>
              <a:rPr lang="en-US" dirty="0"/>
              <a:t>9</a:t>
            </a:r>
            <a:r>
              <a:rPr dirty="0"/>
              <a:t> — Ability residuals — team vs grand mean</a:t>
            </a:r>
          </a:p>
          <a:p>
            <a:pPr>
              <a:defRPr sz="1200" i="1"/>
            </a:pPr>
            <a:r>
              <a:rPr dirty="0"/>
              <a:t>$H_{\</a:t>
            </a:r>
            <a:r>
              <a:rPr dirty="0" err="1"/>
              <a:t>mathrm</a:t>
            </a:r>
            <a:r>
              <a:rPr dirty="0"/>
              <a:t>{sort}}$ decomposition · all-</a:t>
            </a:r>
            <a:r>
              <a:rPr dirty="0" err="1"/>
              <a:t>ps</a:t>
            </a:r>
            <a:r>
              <a:rPr dirty="0"/>
              <a:t> · ALLT + purple +DFT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77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(within-team demeaned perf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dirty="0"/>
                  <a:t> numerator).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dirty="0"/>
                  <a:t> (grand-mean demeaned — denominator).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Pooled over 09–21; purple overlay = +DFT (draft-ever teams).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77814"/>
              </a:xfrm>
              <a:prstGeom prst="rect">
                <a:avLst/>
              </a:prstGeom>
              <a:blipFill>
                <a:blip r:embed="rId2"/>
                <a:stretch>
                  <a:fillRect t="-185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ability_residuals_mg10_min20_09_21_ppm_all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093" y="1545336"/>
            <a:ext cx="9465509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ability_residuals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=54,582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=0.0644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dirty="0"/>
                  <a:t>(team resid)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0.967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dirty="0"/>
                  <a:t>(grand resid)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1.000</m:t>
                    </m:r>
                  </m:oMath>
                </a14:m>
                <a:r>
                  <a:rPr dirty="0"/>
                  <a:t> · +DFT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=0.0605</m:t>
                    </m:r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BDP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dirty="0"/>
                  <a:t> porch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194444"/>
                <a:ext cx="11368735" cy="611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</a:t>
                </a:r>
                <a:r>
                  <a:rPr lang="en-US" dirty="0"/>
                  <a:t>10</a:t>
                </a:r>
                <a:r>
                  <a:rPr dirty="0"/>
                  <a:t> — Ability minus LOO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poolq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LOO</m:t>
                        </m:r>
                      </m:sup>
                    </m:sSubSup>
                  </m:oMath>
                </a14:m>
                <a:r>
                  <a:rPr dirty="0"/>
                  <a:t>)</a:t>
                </a:r>
              </a:p>
              <a:p>
                <a:pPr>
                  <a:defRPr sz="1200" i="1"/>
                </a:pPr>
                <a:r>
                  <a:rPr dirty="0"/>
                  <a:t>LOO congestion residual · all-</a:t>
                </a:r>
                <a:r>
                  <a:rPr dirty="0" err="1"/>
                  <a:t>ps</a:t>
                </a:r>
                <a:r>
                  <a:rPr dirty="0"/>
                  <a:t> · ALLT + purple +DFT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94444"/>
                <a:ext cx="11368735" cy="611834"/>
              </a:xfrm>
              <a:prstGeom prst="rect">
                <a:avLst/>
              </a:prstGeom>
              <a:blipFill>
                <a:blip r:embed="rId2"/>
                <a:stretch>
                  <a:fillRect l="-558" t="-2041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66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Histogram + ECDF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poolq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LOO</m:t>
                        </m:r>
                      </m:sup>
                    </m:sSubSup>
                  </m:oMath>
                </a14:m>
                <a:r>
                  <a:rPr dirty="0"/>
                  <a:t> (teammate mean excl.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Analogous to team residual panel but LOO replaces team mean in the decomposition.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≈1.05&gt;</m:t>
                    </m:r>
                  </m:oMath>
                </a14:m>
                <a:r>
                  <a:rPr dirty="0"/>
                  <a:t> team residual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—</m:t>
                    </m:r>
                  </m:oMath>
                </a14:m>
                <a:r>
                  <a:rPr dirty="0"/>
                  <a:t> LOO axis carries more player-level spread.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66273"/>
              </a:xfrm>
              <a:prstGeom prst="rect">
                <a:avLst/>
              </a:prstGeom>
              <a:blipFill>
                <a:blip r:embed="rId3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ability_loo_residuals_mg10_min20_09_21_ppm_all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930" y="1545336"/>
            <a:ext cx="5239835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ability_loo_residuals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=54,582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dirty="0"/>
                  <a:t>(LOO resid)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1.053</m:t>
                    </m:r>
                  </m:oMath>
                </a14:m>
                <a:r>
                  <a:rPr dirty="0"/>
                  <a:t> · </a:t>
                </a:r>
                <a:r>
                  <a:rPr dirty="0" err="1"/>
                  <a:t>frac_var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1.108</m:t>
                    </m:r>
                  </m:oMath>
                </a14:m>
                <a:r>
                  <a:rPr dirty="0"/>
                  <a:t> · +DFT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=1.069</m:t>
                    </m:r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BDP LOO porch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Slide 1</a:t>
            </a:r>
            <a:r>
              <a:rPr lang="en-US" dirty="0"/>
              <a:t>1</a:t>
            </a:r>
            <a:r>
              <a:rPr dirty="0"/>
              <a:t> — Team vs LOO ability residuals (overlay)</a:t>
            </a:r>
          </a:p>
          <a:p>
            <a:pPr>
              <a:defRPr sz="1200" i="1"/>
            </a:pPr>
            <a:r>
              <a:rPr dirty="0"/>
              <a:t>Superposed KDEs · all-</a:t>
            </a:r>
            <a:r>
              <a:rPr dirty="0" err="1"/>
              <a:t>ps</a:t>
            </a:r>
            <a:r>
              <a:rPr dirty="0"/>
              <a:t> · orange team · blue LOO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704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Orange: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(team mean incl.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). Blue: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poolq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LOO</m:t>
                        </m:r>
                      </m:sup>
                    </m:sSubSup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Same player-rows; </a:t>
                </a:r>
                <a:r>
                  <a:rPr dirty="0" err="1"/>
                  <a:t>corr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0.9997</m:t>
                    </m:r>
                  </m:oMath>
                </a14:m>
                <a:r>
                  <a:rPr dirty="0"/>
                  <a:t> — nearly collinear but LOO slightly wider.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Motivation: visualize self-inclusion gap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dirty="0"/>
                  <a:t>LOO slide.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704167"/>
              </a:xfrm>
              <a:prstGeom prst="rect">
                <a:avLst/>
              </a:prstGeom>
              <a:blipFill>
                <a:blip r:embed="rId2"/>
                <a:stretch>
                  <a:fillRect t="-1786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ability_Tj_vs_loo_residuals_mg10_min20_09_21_ppm_all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362" y="1545336"/>
            <a:ext cx="6084970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ability_tj_vs_loo_residuals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=54,582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dirty="0"/>
                  <a:t>(team resid)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0.967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dirty="0"/>
                  <a:t>(LOO resid)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1.053</m:t>
                    </m:r>
                  </m:oMath>
                </a14:m>
                <a:r>
                  <a:rPr dirty="0"/>
                  <a:t> · </a:t>
                </a:r>
                <a:r>
                  <a:rPr dirty="0" err="1"/>
                  <a:t>corr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0.9997</m:t>
                    </m:r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BDP LOO porch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6353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1</a:t>
                </a:r>
                <a:r>
                  <a:rPr lang="en-US" dirty="0"/>
                  <a:t>2</a:t>
                </a:r>
                <a:r>
                  <a:rPr dirty="0"/>
                  <a:t>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poolq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LOO</m:t>
                        </m:r>
                      </m:sup>
                    </m:sSubSup>
                  </m:oMath>
                </a14:m>
                <a:r>
                  <a:rPr dirty="0"/>
                  <a:t> (self-inclusion gap)</a:t>
                </a:r>
              </a:p>
              <a:p>
                <a:pPr>
                  <a:defRPr sz="1200" i="1"/>
                </a:pPr>
                <a:r>
                  <a:rPr dirty="0"/>
                  <a:t>Team mean minus LOO teammate mean · all-</a:t>
                </a:r>
                <a:r>
                  <a:rPr dirty="0" err="1"/>
                  <a:t>ps</a:t>
                </a:r>
                <a:r>
                  <a:rPr dirty="0"/>
                  <a:t> · ALLT + purple +DFT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635302"/>
              </a:xfrm>
              <a:prstGeom prst="rect">
                <a:avLst/>
              </a:prstGeom>
              <a:blipFill>
                <a:blip r:embed="rId2"/>
                <a:stretch>
                  <a:fillRect l="-558" t="-588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85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poolq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LOO</m:t>
                        </m:r>
                      </m:sup>
                    </m:sSubSup>
                  </m:oMath>
                </a14:m>
                <a:r>
                  <a:rPr dirty="0"/>
                  <a:t> — how much self pulls team mean above LOO.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Reports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team</m:t>
                        </m:r>
                      </m:sup>
                    </m:sSubSup>
                  </m:oMath>
                </a14:m>
                <a:r>
                  <a:rPr dirty="0"/>
                  <a:t> vs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LOO</m:t>
                        </m:r>
                      </m:sup>
                    </m:sSubSup>
                  </m:oMath>
                </a14:m>
                <a:r>
                  <a:rPr dirty="0"/>
                  <a:t> (LOO can go negative).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Tight spike near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≈0.09</m:t>
                        </m:r>
                      </m:e>
                    </m:d>
                  </m:oMath>
                </a14:m>
                <a:r>
                  <a:rPr dirty="0"/>
                  <a:t>; axis-mismatch diagnostic for SCORE vs HERO readout.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85957"/>
              </a:xfrm>
              <a:prstGeom prst="rect">
                <a:avLst/>
              </a:prstGeom>
              <a:blipFill>
                <a:blip r:embed="rId3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Tj_minus_loo_mg10_min20_09_21_ppm_all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362" y="1545336"/>
            <a:ext cx="6084970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tj_minus_loo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408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=54,582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𝐿𝑂𝑂</m:t>
                        </m:r>
                      </m:e>
                    </m:d>
                    <m:r>
                      <a:rPr lang="en-US" i="0" dirty="0" err="1">
                        <a:latin typeface="Cambria Math" panose="02040503050406030204" pitchFamily="18" charset="0"/>
                      </a:rPr>
                      <m:t>=+0.0002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=0.089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𝑡𝑒𝑎𝑚</m:t>
                        </m:r>
                      </m:sup>
                    </m:sSubSup>
                    <m:r>
                      <a:rPr lang="en-US" i="0" dirty="0" smtClean="0">
                        <a:latin typeface="Cambria Math" panose="02040503050406030204" pitchFamily="18" charset="0"/>
                      </a:rPr>
                      <m:t>=0.0644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p>
                    </m:sSubSup>
                    <m:r>
                      <a:rPr lang="en-US" i="0" dirty="0" smtClean="0">
                        <a:latin typeface="Cambria Math" panose="02040503050406030204" pitchFamily="18" charset="0"/>
                      </a:rPr>
                      <m:t>=−0.1085</m:t>
                    </m:r>
                  </m:oMath>
                </a14:m>
                <a:r>
                  <a:rPr dirty="0"/>
                  <a:t> · +DFT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=0.091</m:t>
                    </m:r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BDP LOO porch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408638"/>
              </a:xfrm>
              <a:prstGeom prst="rect">
                <a:avLst/>
              </a:prstGeom>
              <a:blipFill>
                <a:blip r:embed="rId5"/>
                <a:stretch>
                  <a:fillRect t="-3030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1</a:t>
                </a:r>
                <a:r>
                  <a:rPr lang="en-US" dirty="0"/>
                  <a:t>3</a:t>
                </a:r>
                <a:r>
                  <a:rPr dirty="0"/>
                  <a:t> — Player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distribution</a:t>
                </a:r>
              </a:p>
              <a:p>
                <a:pPr>
                  <a:defRPr sz="1200" i="1"/>
                </a:pPr>
                <a:r>
                  <a:rPr dirty="0"/>
                  <a:t>Alex Aug 2026 · last-</a:t>
                </a:r>
                <a:r>
                  <a:rPr dirty="0" err="1"/>
                  <a:t>ps</a:t>
                </a:r>
                <a:r>
                  <a:rPr dirty="0"/>
                  <a:t> · winsor 1–99 · ALLT + orange +DFT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584775"/>
              </a:xfrm>
              <a:prstGeom prst="rect">
                <a:avLst/>
              </a:prstGeom>
              <a:blipFill>
                <a:blip r:embed="rId2"/>
                <a:stretch>
                  <a:fillRect l="-558" t="-4255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61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Standalone distribution of player LOO teammate quality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Histogram + ECDF on reigning last-</a:t>
                </a:r>
                <a:r>
                  <a:rPr dirty="0" err="1"/>
                  <a:t>ps</a:t>
                </a:r>
                <a:r>
                  <a:rPr dirty="0"/>
                  <a:t> aperture — not paired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Orange = +DFT overlay (draft-ever teams).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61400"/>
              </a:xfrm>
              <a:prstGeom prst="rect">
                <a:avLst/>
              </a:prstGeom>
              <a:blipFill>
                <a:blip r:embed="rId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poolq_loo_dist_mg10_min20_09_21_ppm_last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956" y="1545336"/>
            <a:ext cx="8211783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loo_dist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/>
                  <a:t>last-</a:t>
                </a:r>
                <a:r>
                  <a:rPr dirty="0" err="1"/>
                  <a:t>ps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=22,795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=−0.015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=−0.008</m:t>
                    </m:r>
                  </m:oMath>
                </a14:m>
                <a:r>
                  <a:rPr dirty="0"/>
                  <a:t> · winsor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%–99%</m:t>
                    </m:r>
                  </m:oMath>
                </a14:m>
                <a:r>
                  <a:rPr dirty="0"/>
                  <a:t> · +DFT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=−0.003</m:t>
                    </m:r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(new · Alex request)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Slide 1</a:t>
            </a:r>
            <a:r>
              <a:rPr lang="en-US" dirty="0"/>
              <a:t>4</a:t>
            </a:r>
            <a:r>
              <a:rPr dirty="0"/>
              <a:t> — Player </a:t>
            </a:r>
            <a:r>
              <a:rPr lang="en-US" dirty="0"/>
              <a:t>poolq_{LOO}</a:t>
            </a:r>
            <a:r>
              <a:rPr dirty="0"/>
              <a:t> distribution (no winsor)</a:t>
            </a:r>
          </a:p>
          <a:p>
            <a:pPr>
              <a:defRPr sz="1200" i="1"/>
            </a:pPr>
            <a:r>
              <a:rPr dirty="0"/>
              <a:t>Mirror of LOO </a:t>
            </a:r>
            <a:r>
              <a:rPr dirty="0" err="1"/>
              <a:t>dist</a:t>
            </a:r>
            <a:r>
              <a:rPr dirty="0"/>
              <a:t> · last-</a:t>
            </a:r>
            <a:r>
              <a:rPr dirty="0" err="1"/>
              <a:t>ps</a:t>
            </a:r>
            <a:r>
              <a:rPr dirty="0"/>
              <a:t> · raw </a:t>
            </a:r>
            <a:r>
              <a:rPr lang="en-US" dirty="0"/>
              <a:t>poolq_{LOO}</a:t>
            </a:r>
            <a:r>
              <a:rPr dirty="0"/>
              <a:t> · ALLT + orange +DFT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Same hist + ECDF pair as prior slide 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winsor 1–99 removed.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Shows natural LOO tails without clip spikes at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Reigning HERO lock still uses winsor; this is porch diagnostic only.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blipFill>
                <a:blip r:embed="rId2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poolq_loo_dist_mg10_min20_09_21_ppm_lastps_nowi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1545336"/>
            <a:ext cx="8211783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loo_dist_nowinsor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/>
                  <a:t>last-</a:t>
                </a:r>
                <a:r>
                  <a:rPr dirty="0" err="1"/>
                  <a:t>ps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=22,795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=−0.015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=−0.008</m:t>
                    </m:r>
                  </m:oMath>
                </a14:m>
                <a:r>
                  <a:rPr dirty="0"/>
                  <a:t> · no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winsor · +DFT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=−0.003</m:t>
                    </m:r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(new · Alex request)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1</a:t>
                </a:r>
                <a:r>
                  <a:rPr lang="en-US" dirty="0"/>
                  <a:t>5</a:t>
                </a:r>
                <a:r>
                  <a:rPr dirty="0"/>
                  <a:t> 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dirty="0"/>
                  <a:t> vs player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endParaRPr dirty="0"/>
              </a:p>
              <a:p>
                <a:pPr>
                  <a:defRPr sz="1200" i="1"/>
                </a:pPr>
                <a:r>
                  <a:rPr dirty="0"/>
                  <a:t>Reigning lock EW16 · ever-Y · last-</a:t>
                </a:r>
                <a:r>
                  <a:rPr dirty="0" err="1"/>
                  <a:t>ps</a:t>
                </a:r>
                <a:endParaRPr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584775"/>
              </a:xfrm>
              <a:prstGeom prst="rect">
                <a:avLst/>
              </a:prstGeom>
              <a:blipFill>
                <a:blip r:embed="rId2"/>
                <a:stretch>
                  <a:fillRect l="-558" t="-4255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11480" y="777240"/>
            <a:ext cx="11368735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• Mean </a:t>
            </a:r>
            <a:r>
              <a:rPr dirty="0" err="1"/>
              <a:t>Y_draft</a:t>
            </a:r>
            <a:r>
              <a:rPr dirty="0"/>
              <a:t> by equal-width </a:t>
            </a:r>
            <a:r>
              <a:rPr lang="en-US" dirty="0"/>
              <a:t>poolq_{LOO}</a:t>
            </a:r>
            <a:r>
              <a:rPr dirty="0"/>
              <a:t> bins (16) — same binning as reigning HERO.</a:t>
            </a:r>
          </a:p>
          <a:p>
            <a:pPr>
              <a:spcAft>
                <a:spcPts val="200"/>
              </a:spcAft>
              <a:defRPr sz="1100"/>
            </a:pPr>
            <a:r>
              <a:rPr dirty="0"/>
              <a:t>• Bar height = empirical draft rate; labels = bin n; LPM β₂ annotation.</a:t>
            </a:r>
          </a:p>
          <a:p>
            <a:pPr>
              <a:spcAft>
                <a:spcPts val="200"/>
              </a:spcAft>
              <a:defRPr sz="1100"/>
            </a:pPr>
            <a:r>
              <a:rPr dirty="0"/>
              <a:t>• Complements HERO PNG in ../hero/ — porch copy for slide 12 deck.</a:t>
            </a:r>
          </a:p>
        </p:txBody>
      </p:sp>
      <p:pic>
        <p:nvPicPr>
          <p:cNvPr id="4" name="Picture 3" descr="REIGNING_BDP_draft_rate_poolq_loo_mg10_min20_09_21_ew16_ppm_last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371" y="1545336"/>
            <a:ext cx="6540952" cy="3877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3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draft_rate_loo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39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/>
                  <a:t>EW16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=22,795</m:t>
                    </m:r>
                  </m:oMath>
                </a14:m>
                <a:r>
                  <a:rPr dirty="0"/>
                  <a:t> · LPM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₂=+0.00172</m:t>
                    </m:r>
                  </m:oMath>
                </a14:m>
                <a:r>
                  <a:rPr dirty="0"/>
                  <a:t> · ever-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dirty="0"/>
                  <a:t> · last-</a:t>
                </a:r>
                <a:r>
                  <a:rPr dirty="0" err="1"/>
                  <a:t>ps</a:t>
                </a:r>
                <a:endParaRPr dirty="0"/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HERO / Pass A roster panel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39"/>
                <a:ext cx="11368735" cy="384048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632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1</a:t>
                </a:r>
                <a:r>
                  <a:rPr lang="en-US" dirty="0"/>
                  <a:t>6</a:t>
                </a:r>
                <a:r>
                  <a:rPr dirty="0"/>
                  <a:t> 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dirty="0"/>
                  <a:t> — player LOO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(side-by-side)</a:t>
                </a:r>
              </a:p>
              <a:p>
                <a:pPr>
                  <a:defRPr sz="1200" i="1"/>
                </a:pPr>
                <a:r>
                  <a:rPr dirty="0"/>
                  <a:t>Reigning lock EW16 · ever-Y · last-</a:t>
                </a:r>
                <a:r>
                  <a:rPr dirty="0" err="1"/>
                  <a:t>ps</a:t>
                </a:r>
                <a:r>
                  <a:rPr dirty="0"/>
                  <a:t> · same panel both panels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632674"/>
              </a:xfrm>
              <a:prstGeom prst="rect">
                <a:avLst/>
              </a:prstGeom>
              <a:blipFill>
                <a:blip r:embed="rId2"/>
                <a:stretch>
                  <a:fillRect l="-558" t="-588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77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2×2: top row EW16 equal-width; bottom row quantile 16 (same n per bin).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Left: HERO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· Right: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— same panel, both binning schemes.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LPM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r>
                  <a:rPr dirty="0"/>
                  <a:t> on continuous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 (not binned); compare shape sensitivity to binning.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7781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draft_rate_poolq_loo_vs_Tj_mg10_min20_09_21_ew16_ppm_last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908" y="1545336"/>
            <a:ext cx="5427878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draft_rate_loo_tj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408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/>
                  <a:t>EW16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=22,795</m:t>
                    </m:r>
                  </m:oMath>
                </a14:m>
                <a:r>
                  <a:rPr dirty="0"/>
                  <a:t> · LOO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₂=+0.00172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₂=+0.05537</m:t>
                    </m:r>
                  </m:oMath>
                </a14:m>
                <a:endParaRPr dirty="0"/>
              </a:p>
              <a:p>
                <a:pPr>
                  <a:defRPr sz="900" i="1"/>
                </a:pPr>
                <a:r>
                  <a:rPr dirty="0"/>
                  <a:t>Rows: last-</a:t>
                </a:r>
                <a:r>
                  <a:rPr dirty="0" err="1"/>
                  <a:t>ps</a:t>
                </a:r>
                <a:r>
                  <a:rPr dirty="0"/>
                  <a:t> · HAND: HERO vs F-HERO team axis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408638"/>
              </a:xfrm>
              <a:prstGeom prst="rect">
                <a:avLst/>
              </a:prstGeom>
              <a:blipFill>
                <a:blip r:embed="rId5"/>
                <a:stretch>
                  <a:fillRect t="-3030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IGNING_BDP_draft_rate_APGMS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637" y="1204983"/>
            <a:ext cx="7631303" cy="44480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01168"/>
            <a:ext cx="1136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Slide </a:t>
            </a:r>
            <a:r>
              <a:rPr lang="en-US" dirty="0"/>
              <a:t>17</a:t>
            </a:r>
            <a:r>
              <a:rPr dirty="0"/>
              <a:t> — Draft rate vs APGMS ventiles</a:t>
            </a:r>
          </a:p>
          <a:p>
            <a:pPr>
              <a:defRPr sz="1200" i="1"/>
            </a:pPr>
            <a:r>
              <a:rPr dirty="0" err="1"/>
              <a:t>Fixed_Ai</a:t>
            </a:r>
            <a:r>
              <a:rPr dirty="0"/>
              <a:t> slides 11–14 analog · all-</a:t>
            </a:r>
            <a:r>
              <a:rPr dirty="0" err="1"/>
              <a:t>ps</a:t>
            </a:r>
            <a:r>
              <a:rPr dirty="0"/>
              <a:t> · ALLT + orange +DFT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Exposure diagnostic: average player-games per season (APGMS) vs draft rate.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All-</a:t>
                </a:r>
                <a:r>
                  <a:rPr dirty="0" err="1"/>
                  <a:t>ps</a:t>
                </a:r>
                <a:r>
                  <a:rPr dirty="0"/>
                  <a:t> panel (full minutes exposure) — not last-</a:t>
                </a:r>
                <a:r>
                  <a:rPr dirty="0" err="1"/>
                  <a:t>ps</a:t>
                </a:r>
                <a:r>
                  <a:rPr dirty="0"/>
                  <a:t> HERO aperture.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Quantile ventiles on APGMS; independent of HERO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𝑝𝑜𝑜𝑙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𝐿𝑂𝑂</m:t>
                        </m:r>
                      </m:sub>
                    </m:sSub>
                  </m:oMath>
                </a14:m>
                <a:r>
                  <a:rPr dirty="0"/>
                  <a:t> binning.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blipFill>
                <a:blip r:embed="rId3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/>
                  <a:t>APGMS · all-</a:t>
                </a:r>
                <a:r>
                  <a:rPr dirty="0" err="1"/>
                  <a:t>ps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=54,582</m:t>
                    </m:r>
                  </m:oMath>
                </a14:m>
                <a:r>
                  <a:rPr dirty="0"/>
                  <a:t> · draft rate vent1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0.09%</m:t>
                    </m:r>
                  </m:oMath>
                </a14:m>
                <a:r>
                  <a:rPr dirty="0"/>
                  <a:t> · vent16=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9.59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dirty="0"/>
                  <a:t> · orange=+DFT overlay</a:t>
                </a:r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</a:t>
                </a:r>
                <a:r>
                  <a:rPr dirty="0" err="1"/>
                  <a:t>Fixed_Ai</a:t>
                </a:r>
                <a:r>
                  <a:rPr dirty="0"/>
                  <a:t> 11–14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IGNING_BDP_draft_rate_ARGMS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012" y="994014"/>
            <a:ext cx="8355203" cy="48699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01168"/>
            <a:ext cx="1136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Slide </a:t>
            </a:r>
            <a:r>
              <a:rPr lang="en-US" dirty="0"/>
              <a:t>18</a:t>
            </a:r>
            <a:r>
              <a:rPr dirty="0"/>
              <a:t> — Draft rate vs ARGMS ventiles</a:t>
            </a:r>
          </a:p>
          <a:p>
            <a:pPr>
              <a:defRPr sz="1200" i="1"/>
            </a:pPr>
            <a:r>
              <a:rPr dirty="0" err="1"/>
              <a:t>Fixed_Ai</a:t>
            </a:r>
            <a:r>
              <a:rPr dirty="0"/>
              <a:t> slides 11–14 analog · all-</a:t>
            </a:r>
            <a:r>
              <a:rPr dirty="0" err="1"/>
              <a:t>ps</a:t>
            </a:r>
            <a:r>
              <a:rPr dirty="0"/>
              <a:t> · ALLT + orange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Exposure diagnostic: average roster-games per season (ARGMS) vs draft rate.</a:t>
            </a:r>
          </a:p>
          <a:p>
            <a:pPr>
              <a:spcAft>
                <a:spcPts val="200"/>
              </a:spcAft>
              <a:defRPr sz="1100"/>
            </a:pPr>
            <a:r>
              <a:t>• Team-level minutes exposure complement to APGMS player ventiles.</a:t>
            </a:r>
          </a:p>
          <a:p>
            <a:pPr>
              <a:spcAft>
                <a:spcPts val="200"/>
              </a:spcAft>
              <a:defRPr sz="1100"/>
            </a:pPr>
            <a:r>
              <a:t>• Same 09–21 lock filters; orange +DFT overlay on draft-ever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ARGMS · all-ps n=54,582 · draft rate vent1=0.15% · vent16=9.53% · orange=+DFT overlay</a:t>
            </a:r>
          </a:p>
          <a:p>
            <a:pPr>
              <a:defRPr sz="900" i="1"/>
            </a:pPr>
            <a:r>
              <a:t>Rows: all-ps · HAND: Fixed_Ai 11–14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18 — Team games per season</a:t>
            </a:r>
          </a:p>
          <a:p>
            <a:pPr>
              <a:defRPr sz="1200" i="1"/>
            </a:pPr>
            <a:r>
              <a:t>PD22 memo slide 27 analog · after box QC (mg10)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Distinct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𝚐𝚊𝚖𝚎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𝚒𝚍</m:t>
                        </m:r>
                      </m:e>
                    </m:box>
                  </m:oMath>
                </a14:m>
                <a:r>
                  <a:rPr dirty="0"/>
                  <a:t> counts per 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𝚝𝚎𝚊𝚖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𝚒𝚍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𝚜𝚎𝚊𝚜𝚘𝚗</m:t>
                        </m:r>
                      </m:e>
                    </m:box>
                  </m:oMath>
                </a14:m>
                <a:r>
                  <a:rPr dirty="0"/>
                  <a:t>) in ESPN box — after dash-QC and mg10.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Dual panel: linear counts + log-y share (same layout as PD22 backup slide).</a:t>
                </a:r>
              </a:p>
              <a:p>
                <a:pPr>
                  <a:spcAft>
                    <a:spcPts val="200"/>
                  </a:spcAft>
                  <a:defRPr sz="1100"/>
                </a:pPr>
                <a:r>
                  <a:rPr dirty="0"/>
                  <a:t>• Sparse one-game team-seasons dropped by mg10; mass clusters near full-season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dirty="0"/>
                  <a:t> games.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11368735" cy="651460"/>
              </a:xfrm>
              <a:prstGeom prst="rect">
                <a:avLst/>
              </a:prstGeom>
              <a:blipFill>
                <a:blip r:embed="rId2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IGNING_BDP_team_games_mg10_min20_09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844" y="1545336"/>
            <a:ext cx="920800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team_games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=4,534</m:t>
                    </m:r>
                  </m:oMath>
                </a14:m>
                <a:r>
                  <a:rPr dirty="0"/>
                  <a:t> team-seasons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dirty="0"/>
                  <a:t> games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=31.5</m:t>
                    </m:r>
                  </m:oMath>
                </a14:m>
                <a:r>
                  <a:rPr dirty="0"/>
                  <a:t> · after box QC</a:t>
                </a:r>
              </a:p>
              <a:p>
                <a:pPr>
                  <a:defRPr sz="900" i="1"/>
                </a:pPr>
                <a:r>
                  <a:rPr dirty="0"/>
                  <a:t>Rows: team-season (box) · HAND: PD22 memo slide 27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19 — Season minutes — player vs team mean</a:t>
            </a:r>
          </a:p>
          <a:p>
            <a:pPr>
              <a:defRPr sz="1200" i="1"/>
            </a:pPr>
            <a:r>
              <a:t>Exposure porch · all-ps · min20 floor marked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2×2: player histogram (+ log-y inset) and ECDF; team mean ditto.</a:t>
            </a:r>
          </a:p>
          <a:p>
            <a:pPr>
              <a:spcAft>
                <a:spcPts val="200"/>
              </a:spcAft>
              <a:defRPr sz="1100"/>
            </a:pPr>
            <a:r>
              <a:t>• Blue = full panel; orange line = +DFT (draft-ever teams only).</a:t>
            </a:r>
          </a:p>
          <a:p>
            <a:pPr>
              <a:spcAft>
                <a:spcPts val="200"/>
              </a:spcAft>
              <a:defRPr sz="1100"/>
            </a:pPr>
            <a:r>
              <a:t>• Stats boxes on ECDF panels show w/o DFT and +DFT medians.</a:t>
            </a:r>
          </a:p>
        </p:txBody>
      </p:sp>
      <p:pic>
        <p:nvPicPr>
          <p:cNvPr id="4" name="Picture 3" descr="REIGNING_BDP_minutes_player_team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473" y="201168"/>
            <a:ext cx="7197016" cy="55056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minutes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:r>
                  <a:rPr dirty="0"/>
                  <a:t>player PS: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=54,582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=515</m:t>
                    </m:r>
                  </m:oMath>
                </a14:m>
                <a:r>
                  <a:rPr dirty="0"/>
                  <a:t> min · team mean: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=4,534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=536</m:t>
                    </m:r>
                  </m:oMath>
                </a14:m>
                <a:r>
                  <a:rPr dirty="0"/>
                  <a:t> min · all-</a:t>
                </a:r>
                <a:r>
                  <a:rPr dirty="0" err="1"/>
                  <a:t>ps</a:t>
                </a:r>
                <a:r>
                  <a:rPr dirty="0"/>
                  <a:t> post-min20 · +DFT player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=552</m:t>
                    </m:r>
                  </m:oMath>
                </a14:m>
                <a:r>
                  <a:rPr dirty="0"/>
                  <a:t> min</a:t>
                </a:r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PD22 minutes (porch variant)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384048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01168"/>
                <a:ext cx="11368735" cy="631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 b="1"/>
                </a:pPr>
                <a:r>
                  <a:rPr dirty="0"/>
                  <a:t>Slide </a:t>
                </a:r>
                <a:r>
                  <a:rPr lang="en-US" dirty="0"/>
                  <a:t>19</a:t>
                </a:r>
                <a:r>
                  <a:rPr dirty="0"/>
                  <a:t> — Team roster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  <a:p>
                <a:pPr>
                  <a:defRPr sz="1200" i="1"/>
                </a:pPr>
                <a:r>
                  <a:rPr dirty="0"/>
                  <a:t>BDP slide 18 analog · all-</a:t>
                </a:r>
                <a:r>
                  <a:rPr dirty="0" err="1"/>
                  <a:t>ps</a:t>
                </a:r>
                <a:r>
                  <a:rPr dirty="0"/>
                  <a:t> · ALLT + orange +DFT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01168"/>
                <a:ext cx="11368735" cy="631583"/>
              </a:xfrm>
              <a:prstGeom prst="rect">
                <a:avLst/>
              </a:prstGeom>
              <a:blipFill>
                <a:blip r:embed="rId2"/>
                <a:stretch>
                  <a:fillRect l="-55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Roster depth distribution — full panel (all-ps), not last-ps cross-section.</a:t>
            </a:r>
          </a:p>
          <a:p>
            <a:pPr>
              <a:spcAft>
                <a:spcPts val="200"/>
              </a:spcAft>
              <a:defRPr sz="1100"/>
            </a:pPr>
            <a:r>
              <a:t>• Validates team-season cardinality under min20 · mg10 lock filters.</a:t>
            </a:r>
          </a:p>
          <a:p>
            <a:pPr>
              <a:spcAft>
                <a:spcPts val="200"/>
              </a:spcAft>
              <a:defRPr sz="1100"/>
            </a:pPr>
            <a:r>
              <a:t>• Orange +DFT overlay: teams with at least one draftee in sample.</a:t>
            </a:r>
          </a:p>
        </p:txBody>
      </p:sp>
      <p:pic>
        <p:nvPicPr>
          <p:cNvPr id="4" name="Picture 3" descr="REIGNING_BDP_team_size_mg10_min20_09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115" y="493456"/>
            <a:ext cx="6224243" cy="5949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team_size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6035040"/>
                <a:ext cx="11368735" cy="408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000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=12.04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𝑚𝑒𝑑𝑖𝑎𝑛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dirty="0"/>
                  <a:t> 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=4,534</m:t>
                    </m:r>
                  </m:oMath>
                </a14:m>
                <a:r>
                  <a:rPr dirty="0"/>
                  <a:t> team-seasons · all-</a:t>
                </a:r>
                <a:r>
                  <a:rPr dirty="0" err="1"/>
                  <a:t>ps</a:t>
                </a:r>
                <a:r>
                  <a:rPr dirty="0"/>
                  <a:t> · orange=+DFT</a:t>
                </a:r>
              </a:p>
              <a:p>
                <a:pPr>
                  <a:defRPr sz="900" i="1"/>
                </a:pPr>
                <a:r>
                  <a:rPr dirty="0"/>
                  <a:t>Rows: all-</a:t>
                </a:r>
                <a:r>
                  <a:rPr dirty="0" err="1"/>
                  <a:t>ps</a:t>
                </a:r>
                <a:r>
                  <a:rPr dirty="0"/>
                  <a:t> · HAND: BDP slide 18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35040"/>
                <a:ext cx="11368735" cy="40806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2466</Words>
  <Application>Microsoft Macintosh PowerPoint</Application>
  <PresentationFormat>Widescreen</PresentationFormat>
  <Paragraphs>167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9</cp:revision>
  <dcterms:created xsi:type="dcterms:W3CDTF">2013-01-27T09:14:16Z</dcterms:created>
  <dcterms:modified xsi:type="dcterms:W3CDTF">2026-08-28T22:04:16Z</dcterms:modified>
  <cp:category/>
</cp:coreProperties>
</file>