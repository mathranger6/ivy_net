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 — Reigning hero basic data plots (porch)</a:t>
            </a:r>
          </a:p>
          <a:p>
            <a:pPr>
              <a:defRPr sz="1200" i="1"/>
            </a:pPr>
            <a:r>
              <a:t>19 plots · 2026-08-28 · lock mg10 min20 09_21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87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Purpose: porch diagnostics for the named reigning hero before star sweep / F-HERO.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Reigning hero (slide 12): poolq_LOO · ever · last-ps · EW16 · ALLT · 2009–2021.</a:t>
            </a:r>
          </a:p>
          <a:p>
            <a:pPr>
              <a:defRPr sz="1400"/>
            </a:pPr>
            <a:r>
              <a:t>Filters: min20 · mg10 · PPM z · winsor 1–99 on poolq_LOO (LOO plots only).</a:t>
            </a:r>
          </a:p>
          <a:p>
            <a:pPr>
              <a:defRPr sz="1400"/>
            </a:pPr>
            <a:r>
              <a:t>HERO tag: `perm_loo_ever_lastps_ew16`.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Population split (Charles Aug 2026):</a:t>
            </a:r>
          </a:p>
          <a:p>
            <a:pPr>
              <a:defRPr sz="1400"/>
            </a:pPr>
            <a:r>
              <a:t>  • last-ps: Â, LOO, T̂_j vs LOO — matches HERO scoring cross-section</a:t>
            </a:r>
          </a:p>
          <a:p>
            <a:pPr>
              <a:defRPr sz="1400"/>
            </a:pPr>
            <a:r>
              <a:t>  • all-ps: interval overlap, APGMS/ARGMS, roster size — full panel geometry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Regenerate plots: python sports/scripts/reigning_hero_basic_plots.py</a:t>
            </a:r>
          </a:p>
          <a:p>
            <a:pPr>
              <a:defRPr sz="1400"/>
            </a:pPr>
            <a:r>
              <a:t>Rebuild deck: python sports/scripts/build_reigning_hero_basic_plots_slides.py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 — Team interval overlap</a:t>
            </a:r>
          </a:p>
          <a:p>
            <a:pPr>
              <a:defRPr sz="1200" i="1"/>
            </a:pPr>
            <a:r>
              <a:t>HAND analog ~PD20 slide 21 · all-ps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Full roster panel (all player-seasons) — needed for team-season interval geometry.</a:t>
            </a:r>
          </a:p>
          <a:p>
            <a:pPr>
              <a:spcAft>
                <a:spcPts val="200"/>
              </a:spcAft>
              <a:defRPr sz="1100"/>
            </a:pPr>
            <a:r>
              <a:t>• Same filter chain as lock: mg10 · min20 · 09–21 · PPM z · ALLT.</a:t>
            </a:r>
          </a:p>
          <a:p>
            <a:pPr>
              <a:spcAft>
                <a:spcPts val="200"/>
              </a:spcAft>
              <a:defRPr sz="1100"/>
            </a:pPr>
            <a:r>
              <a:t>• Complements last-ps HERO aperture — shows roster spread before LOO cross-section.</a:t>
            </a:r>
          </a:p>
        </p:txBody>
      </p:sp>
      <p:pic>
        <p:nvPicPr>
          <p:cNvPr id="4" name="Picture 3" descr="REIGNING_team_interval_overlap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98" y="1545336"/>
            <a:ext cx="5038698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n=4,534 team-seasons · H_sort=0.0644 · coverage mean=1676 · disjoint mean=91.25%</a:t>
            </a:r>
          </a:p>
          <a:p>
            <a:pPr>
              <a:defRPr sz="900" i="1"/>
            </a:pPr>
            <a:r>
              <a:t>Rows: all-ps · HAND: PD20 ~slide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 — Â_i and T̂_j distributions</a:t>
            </a:r>
          </a:p>
          <a:p>
            <a:pPr>
              <a:defRPr sz="1200" i="1"/>
            </a:pPr>
            <a:r>
              <a:t>BDP slide 7 analog · last-ps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Last-ps cross-section (one row per athlete) — matches HERO scoring aperture.</a:t>
            </a:r>
          </a:p>
          <a:p>
            <a:pPr>
              <a:spcAft>
                <a:spcPts val="200"/>
              </a:spcAft>
              <a:defRPr sz="1100"/>
            </a:pPr>
            <a:r>
              <a:t>• Left: Â_i (player PPM z). Right: T̂_j (team-season mean). No poolq winsor.</a:t>
            </a:r>
          </a:p>
          <a:p>
            <a:pPr>
              <a:spcAft>
                <a:spcPts val="200"/>
              </a:spcAft>
              <a:defRPr sz="1100"/>
            </a:pPr>
            <a:r>
              <a:t>• Orange overlay = +DFT subset (player-seasons on draft-ever teams).</a:t>
            </a:r>
          </a:p>
        </p:txBody>
      </p:sp>
      <p:pic>
        <p:nvPicPr>
          <p:cNvPr id="4" name="Picture 3" descr="REIGNING_BDP_Ai_Tj_mg10_min20_09_21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306" y="1545336"/>
            <a:ext cx="5823083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ai_tj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Â: n=22,795 · mean=+0.011 · sd=1.081 · T̂_j: n=4,508 · mean=+0.035 · sd=0.563 · +DFT overlay: n=9,483 player-seasons on draft-ever teams</a:t>
            </a:r>
          </a:p>
          <a:p>
            <a:pPr>
              <a:defRPr sz="900" i="1"/>
            </a:pPr>
            <a:r>
              <a:t>Rows: last-ps · HAND: BDP slide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 — Â_i and poolq_LOO distributions</a:t>
            </a:r>
          </a:p>
          <a:p>
            <a:pPr>
              <a:defRPr sz="1200" i="1"/>
            </a:pPr>
            <a:r>
              <a:t>Mirror of Â|T̂_j · last-ps · winsor 1–99 on LOO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Right panel = LOO teammate mean (poolq_LOO) with reigning winsor 1–99.</a:t>
            </a:r>
          </a:p>
          <a:p>
            <a:pPr>
              <a:spcAft>
                <a:spcPts val="200"/>
              </a:spcAft>
              <a:defRPr sz="1100"/>
            </a:pPr>
            <a:r>
              <a:t>• Same last-ps aperture as HERO lock; shows individual vs local congestion.</a:t>
            </a:r>
          </a:p>
          <a:p>
            <a:pPr>
              <a:spcAft>
                <a:spcPts val="200"/>
              </a:spcAft>
              <a:defRPr sz="1100"/>
            </a:pPr>
            <a:r>
              <a:t>• Tail structure on LOO reflects winsor clip — not LOO algebra.</a:t>
            </a:r>
          </a:p>
        </p:txBody>
      </p:sp>
      <p:pic>
        <p:nvPicPr>
          <p:cNvPr id="4" name="Picture 3" descr="REIGNING_BDP_Ai_poolq_loo_mg10_min20_09_21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934" y="1545336"/>
            <a:ext cx="587182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ai_loo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Â: n=22,795 · sd=1.081 · poolq_LOO: n=22,795 · sd=0.266 · winsor 1%–99%</a:t>
            </a:r>
          </a:p>
          <a:p>
            <a:pPr>
              <a:defRPr sz="900" i="1"/>
            </a:pPr>
            <a:r>
              <a:t>Rows: last-ps · HAND: BDP slide 7 (LOO variant)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 — T̂_j vs poolq_LOO density overlay</a:t>
            </a:r>
          </a:p>
          <a:p>
            <a:pPr>
              <a:defRPr sz="1200" i="1"/>
            </a:pPr>
            <a:r>
              <a:t>New porch diagnostic · last-ps · winsor on LOO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Compares team mean T̂_j (broad) vs LOO teammate mean (tight) on shared PPM z axis.</a:t>
            </a:r>
          </a:p>
          <a:p>
            <a:pPr>
              <a:spcAft>
                <a:spcPts val="200"/>
              </a:spcAft>
              <a:defRPr sz="1100"/>
            </a:pPr>
            <a:r>
              <a:t>• LOO winsor 1–99 — tail spikes at ±0.6 are clip artifacts, not biology.</a:t>
            </a:r>
          </a:p>
          <a:p>
            <a:pPr>
              <a:spcAft>
                <a:spcPts val="200"/>
              </a:spcAft>
              <a:defRPr sz="1100"/>
            </a:pPr>
            <a:r>
              <a:t>• Motivation: visualize gap between team talent and local congestion before HERO bins.</a:t>
            </a:r>
          </a:p>
        </p:txBody>
      </p:sp>
      <p:pic>
        <p:nvPicPr>
          <p:cNvPr id="4" name="Picture 3" descr="REIGNING_BDP_Tj_vs_poolq_loo_mg10_min20_09_21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029" y="1545336"/>
            <a:ext cx="685563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tj_loo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T̂_j: sd=0.563 · poolq_LOO: sd=0.266 · winsor 1%–99% · tail spikes at winsor clip = artifact</a:t>
            </a:r>
          </a:p>
          <a:p>
            <a:pPr>
              <a:defRPr sz="900" i="1"/>
            </a:pPr>
            <a:r>
              <a:t>Rows: last-ps · HAND: (new)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 — T̂_j vs poolq_LOO density overlay (no winsor)</a:t>
            </a:r>
          </a:p>
          <a:p>
            <a:pPr>
              <a:defRPr sz="1200" i="1"/>
            </a:pPr>
            <a:r>
              <a:t>Mirror of T̂_j vs LOO · last-ps · raw poolq_LOO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Same hist-density overlay as prior slide — poolq_LOO winsor 1–99 removed.</a:t>
            </a:r>
          </a:p>
          <a:p>
            <a:pPr>
              <a:spcAft>
                <a:spcPts val="200"/>
              </a:spcAft>
              <a:defRPr sz="1100"/>
            </a:pPr>
            <a:r>
              <a:t>• Shows natural LOO tails without clip spikes at ±0.6.</a:t>
            </a:r>
          </a:p>
          <a:p>
            <a:pPr>
              <a:spcAft>
                <a:spcPts val="200"/>
              </a:spcAft>
              <a:defRPr sz="1100"/>
            </a:pPr>
            <a:r>
              <a:t>• Reigning HERO lock still uses winsor; this is porch diagnostic only.</a:t>
            </a:r>
          </a:p>
        </p:txBody>
      </p:sp>
      <p:pic>
        <p:nvPicPr>
          <p:cNvPr id="4" name="Picture 3" descr="REIGNING_BDP_Tj_vs_poolq_loo_mg10_min20_09_21_ppm_lastps_NOWI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4" y="1545336"/>
            <a:ext cx="686948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tj_loo_nowinsor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T̂_j: sd=0.563 · poolq_LOO: sd=0.273 · no winsor · tail spikes at winsor clip = artifact</a:t>
            </a:r>
          </a:p>
          <a:p>
            <a:pPr>
              <a:defRPr sz="900" i="1"/>
            </a:pPr>
            <a:r>
              <a:t>Rows: last-ps · HAND: (new)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7 — Empirical $H_{\mathrm{sort}}$ distribution</a:t>
            </a:r>
          </a:p>
          <a:p>
            <a:pPr>
              <a:defRPr sz="1200" i="1"/>
            </a:pPr>
            <a:r>
              <a:t>Realized sorting index · all-ps · vs sim ρ=0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$H_{\mathrm{sort}}$ = variance explained by team assignment (not interval overlap).</a:t>
            </a:r>
          </a:p>
          <a:p>
            <a:pPr>
              <a:spcAft>
                <a:spcPts val="200"/>
              </a:spcAft>
              <a:defRPr sz="1100"/>
            </a:pPr>
            <a:r>
              <a:t>• Per-season empirical bars + pooled line; orange = Grandchild sim ρ=0 distribution.</a:t>
            </a:r>
          </a:p>
          <a:p>
            <a:pPr>
              <a:spcAft>
                <a:spcPts val="200"/>
              </a:spcAft>
              <a:defRPr sz="1100"/>
            </a:pPr>
            <a:r>
              <a:t>• Pooled reigning lock ≈ 0.064 — weak homophily on realized rosters.</a:t>
            </a:r>
          </a:p>
        </p:txBody>
      </p:sp>
      <p:pic>
        <p:nvPicPr>
          <p:cNvPr id="4" name="Picture 3" descr="REIGNING_BDP_Hsort_dist_mg10_min20_09_21_ppm_al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89" y="1545336"/>
            <a:ext cx="798031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hsort_dist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pooled empirical H_sort=0.0644 · sim ρ=0 mean=0.0823 (n=650)</a:t>
            </a:r>
          </a:p>
          <a:p>
            <a:pPr>
              <a:defRPr sz="900" i="1"/>
            </a:pPr>
            <a:r>
              <a:t>Rows: all-ps · HAND: PD17 H_sort readout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8 — Ability residuals — team vs grand mean</a:t>
            </a:r>
          </a:p>
          <a:p>
            <a:pPr>
              <a:defRPr sz="1200" i="1"/>
            </a:pPr>
            <a:r>
              <a:t>$H_{\mathrm{sort}}$ decomposition · all-ps · ALLT + purple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Left: $A_i - \hat{T}_j$ (within-team demeaned perf — $H_{\mathrm{sort}}$ numerator).</a:t>
            </a:r>
          </a:p>
          <a:p>
            <a:pPr>
              <a:spcAft>
                <a:spcPts val="200"/>
              </a:spcAft>
              <a:defRPr sz="1100"/>
            </a:pPr>
            <a:r>
              <a:t>• Right: $A_i - \bar{A}$ (grand-mean demeaned — denominator).</a:t>
            </a:r>
          </a:p>
          <a:p>
            <a:pPr>
              <a:spcAft>
                <a:spcPts val="200"/>
              </a:spcAft>
              <a:defRPr sz="1100"/>
            </a:pPr>
            <a:r>
              <a:t>• Pooled over 09–21; purple overlay = +DFT (draft-ever teams).</a:t>
            </a:r>
          </a:p>
        </p:txBody>
      </p:sp>
      <p:pic>
        <p:nvPicPr>
          <p:cNvPr id="4" name="Picture 3" descr="REIGNING_BDP_ability_residuals_mg10_min20_09_21_ppm_al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93" y="1545336"/>
            <a:ext cx="9465509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ability_residuals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n=54,582 · H_sort=0.0644 · σ(team resid)=0.967 · σ(grand resid)=1.000 · +DFT H_sort=0.0605</a:t>
            </a:r>
          </a:p>
          <a:p>
            <a:pPr>
              <a:defRPr sz="900" i="1"/>
            </a:pPr>
            <a:r>
              <a:t>Rows: all-ps · HAND: BDP H_sort porch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9 — Ability minus LOO ($A_i - \mathrm{poolq}^{\mathrm{LOO}}_i$)</a:t>
            </a:r>
          </a:p>
          <a:p>
            <a:pPr>
              <a:defRPr sz="1200" i="1"/>
            </a:pPr>
            <a:r>
              <a:t>LOO congestion residual · all-ps · ALLT + purple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Histogram + ECDF of $A_i - \mathrm{poolq}^{\mathrm{LOO}}_i$ (teammate mean excl. $i$).</a:t>
            </a:r>
          </a:p>
          <a:p>
            <a:pPr>
              <a:spcAft>
                <a:spcPts val="200"/>
              </a:spcAft>
              <a:defRPr sz="1100"/>
            </a:pPr>
            <a:r>
              <a:t>• Analogous to team residual panel but LOO replaces team mean in the decomposition.</a:t>
            </a:r>
          </a:p>
          <a:p>
            <a:pPr>
              <a:spcAft>
                <a:spcPts val="200"/>
              </a:spcAft>
              <a:defRPr sz="1100"/>
            </a:pPr>
            <a:r>
              <a:t>• σ ≈ 1.05 &gt; team residual σ — LOO axis carries more player-level spread.</a:t>
            </a:r>
          </a:p>
        </p:txBody>
      </p:sp>
      <p:pic>
        <p:nvPicPr>
          <p:cNvPr id="4" name="Picture 3" descr="REIGNING_BDP_ability_loo_residuals_mg10_min20_09_21_ppm_al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930" y="1545336"/>
            <a:ext cx="5239835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ability_loo_residuals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n=54,582 · σ(LOO resid)=1.053 · frac_var=1.108 · +DFT σ=1.069</a:t>
            </a:r>
          </a:p>
          <a:p>
            <a:pPr>
              <a:defRPr sz="900" i="1"/>
            </a:pPr>
            <a:r>
              <a:t>Rows: all-ps · HAND: BDP LOO porch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10 — Team vs LOO ability residuals (overlay)</a:t>
            </a:r>
          </a:p>
          <a:p>
            <a:pPr>
              <a:defRPr sz="1200" i="1"/>
            </a:pPr>
            <a:r>
              <a:t>Superposed KDEs · all-ps · orange team · blue LOO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Orange: $A_i - \hat{T}_j$ (team mean incl. $i$). Blue: $A_i - \mathrm{poolq}^{\mathrm{LOO}}_i$.</a:t>
            </a:r>
          </a:p>
          <a:p>
            <a:pPr>
              <a:spcAft>
                <a:spcPts val="200"/>
              </a:spcAft>
              <a:defRPr sz="1100"/>
            </a:pPr>
            <a:r>
              <a:t>• Same player-rows; corr ≈ 0.9997 — nearly collinear but LOO slightly wider.</a:t>
            </a:r>
          </a:p>
          <a:p>
            <a:pPr>
              <a:spcAft>
                <a:spcPts val="200"/>
              </a:spcAft>
              <a:defRPr sz="1100"/>
            </a:pPr>
            <a:r>
              <a:t>• Motivation: visualize self-inclusion gap before T̂_j − LOO slide.</a:t>
            </a:r>
          </a:p>
        </p:txBody>
      </p:sp>
      <p:pic>
        <p:nvPicPr>
          <p:cNvPr id="4" name="Picture 3" descr="REIGNING_BDP_ability_Tj_vs_loo_residuals_mg10_min20_09_21_ppm_al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362" y="1545336"/>
            <a:ext cx="6084970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ability_tj_vs_loo_residuals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n=54,582 · σ(team resid)=0.967 · σ(LOO resid)=1.053 · corr=0.9997</a:t>
            </a:r>
          </a:p>
          <a:p>
            <a:pPr>
              <a:defRPr sz="900" i="1"/>
            </a:pPr>
            <a:r>
              <a:t>Rows: all-ps · HAND: BDP LOO porch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11 — $\hat{T}_j - \mathrm{poolq}^{\mathrm{LOO}}_i$ (self-inclusion gap)</a:t>
            </a:r>
          </a:p>
          <a:p>
            <a:pPr>
              <a:defRPr sz="1200" i="1"/>
            </a:pPr>
            <a:r>
              <a:t>Team mean minus LOO teammate mean · all-ps · ALLT + purple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Distribution of $\hat{T}_j - \mathrm{poolq}^{\mathrm{LOO}}_i$ — how much self pulls team mean above LOO.</a:t>
            </a:r>
          </a:p>
          <a:p>
            <a:pPr>
              <a:spcAft>
                <a:spcPts val="200"/>
              </a:spcAft>
              <a:defRPr sz="1100"/>
            </a:pPr>
            <a:r>
              <a:t>• Reports $H_{\mathrm{sort}}^{\mathrm{team}}$ vs $H_{\mathrm{sort}}^{\mathrm{LOO}}$ (LOO can go negative).</a:t>
            </a:r>
          </a:p>
          <a:p>
            <a:pPr>
              <a:spcAft>
                <a:spcPts val="200"/>
              </a:spcAft>
              <a:defRPr sz="1100"/>
            </a:pPr>
            <a:r>
              <a:t>• Tight spike near 0 (σ ≈ 0.09); axis-mismatch diagnostic for SCORE vs HERO readout.</a:t>
            </a:r>
          </a:p>
        </p:txBody>
      </p:sp>
      <p:pic>
        <p:nvPicPr>
          <p:cNvPr id="4" name="Picture 3" descr="REIGNING_BDP_Tj_minus_loo_mg10_min20_09_21_ppm_al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362" y="1545336"/>
            <a:ext cx="6084970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tj_minus_loo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n=54,582 · μ(T̂_j−LOO)=+0.0002 · σ=0.089 · H_sort^team=0.0644 · H_sort^LOO=-0.1085 · +DFT σ=0.091</a:t>
            </a:r>
          </a:p>
          <a:p>
            <a:pPr>
              <a:defRPr sz="900" i="1"/>
            </a:pPr>
            <a:r>
              <a:t>Rows: all-ps · HAND: BDP LOO porch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12 — Player poolq_LOO distribution</a:t>
            </a:r>
          </a:p>
          <a:p>
            <a:pPr>
              <a:defRPr sz="1200" i="1"/>
            </a:pPr>
            <a:r>
              <a:t>Alex Aug 2026 · last-ps · winsor 1–99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Standalone distribution of player LOO teammate quality (poolq_LOO).</a:t>
            </a:r>
          </a:p>
          <a:p>
            <a:pPr>
              <a:spcAft>
                <a:spcPts val="200"/>
              </a:spcAft>
              <a:defRPr sz="1100"/>
            </a:pPr>
            <a:r>
              <a:t>• Histogram + ECDF on reigning last-ps aperture — not paired with Â_i.</a:t>
            </a:r>
          </a:p>
          <a:p>
            <a:pPr>
              <a:spcAft>
                <a:spcPts val="200"/>
              </a:spcAft>
              <a:defRPr sz="1100"/>
            </a:pPr>
            <a:r>
              <a:t>• Orange = +DFT overlay (draft-ever teams).</a:t>
            </a:r>
          </a:p>
        </p:txBody>
      </p:sp>
      <p:pic>
        <p:nvPicPr>
          <p:cNvPr id="4" name="Picture 3" descr="REIGNING_BDP_poolq_loo_dist_mg10_min20_09_21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956" y="1545336"/>
            <a:ext cx="8211783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loo_dist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last-ps n=22,795 · med=-0.015 · μ=-0.008 · winsor 1%–99% · +DFT med=-0.003</a:t>
            </a:r>
          </a:p>
          <a:p>
            <a:pPr>
              <a:defRPr sz="900" i="1"/>
            </a:pPr>
            <a:r>
              <a:t>Rows: last-ps · HAND: (new · Alex request)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13 — Player poolq_LOO distribution (no winsor)</a:t>
            </a:r>
          </a:p>
          <a:p>
            <a:pPr>
              <a:defRPr sz="1200" i="1"/>
            </a:pPr>
            <a:r>
              <a:t>Mirror of LOO dist · last-ps · raw poolq_LOO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Same hist + ECDF pair as prior slide — poolq_LOO winsor 1–99 removed.</a:t>
            </a:r>
          </a:p>
          <a:p>
            <a:pPr>
              <a:spcAft>
                <a:spcPts val="200"/>
              </a:spcAft>
              <a:defRPr sz="1100"/>
            </a:pPr>
            <a:r>
              <a:t>• Shows natural LOO tails without clip spikes at ±0.6.</a:t>
            </a:r>
          </a:p>
          <a:p>
            <a:pPr>
              <a:spcAft>
                <a:spcPts val="200"/>
              </a:spcAft>
              <a:defRPr sz="1100"/>
            </a:pPr>
            <a:r>
              <a:t>• Reigning HERO lock still uses winsor; this is porch diagnostic only.</a:t>
            </a:r>
          </a:p>
        </p:txBody>
      </p:sp>
      <p:pic>
        <p:nvPicPr>
          <p:cNvPr id="4" name="Picture 3" descr="REIGNING_BDP_poolq_loo_dist_mg10_min20_09_21_ppm_lastps_nowi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956" y="1545336"/>
            <a:ext cx="8211783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loo_dist_nowinsor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last-ps n=22,795 · med=-0.015 · μ=-0.008 · no poolq_LOO winsor · +DFT med=-0.003</a:t>
            </a:r>
          </a:p>
          <a:p>
            <a:pPr>
              <a:defRPr sz="900" i="1"/>
            </a:pPr>
            <a:r>
              <a:t>Rows: last-ps · HAND: (new · Alex request)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14 — P(Y=1) vs player poolq_LOO</a:t>
            </a:r>
          </a:p>
          <a:p>
            <a:pPr>
              <a:defRPr sz="1200" i="1"/>
            </a:pPr>
            <a:r>
              <a:t>Reigning lock EW16 · ever-Y · last-ps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Mean Y_draft by equal-width poolq_LOO bins (16) — same binning as reigning HERO.</a:t>
            </a:r>
          </a:p>
          <a:p>
            <a:pPr>
              <a:spcAft>
                <a:spcPts val="200"/>
              </a:spcAft>
              <a:defRPr sz="1100"/>
            </a:pPr>
            <a:r>
              <a:t>• Bar height = empirical draft rate; labels = bin n; LPM β₂ annotation.</a:t>
            </a:r>
          </a:p>
          <a:p>
            <a:pPr>
              <a:spcAft>
                <a:spcPts val="200"/>
              </a:spcAft>
              <a:defRPr sz="1100"/>
            </a:pPr>
            <a:r>
              <a:t>• Complements HERO PNG in ../hero/ — porch copy for slide 12 deck.</a:t>
            </a:r>
          </a:p>
        </p:txBody>
      </p:sp>
      <p:pic>
        <p:nvPicPr>
          <p:cNvPr id="4" name="Picture 3" descr="REIGNING_BDP_draft_rate_poolq_loo_mg10_min20_09_21_ew16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371" y="1545336"/>
            <a:ext cx="6540952" cy="3877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3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draft_rate_loo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39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EW16 · n=22,795 · LPM β₂=+0.00172 · ever-Y · last-ps</a:t>
            </a:r>
          </a:p>
          <a:p>
            <a:pPr>
              <a:defRPr sz="900" i="1"/>
            </a:pPr>
            <a:r>
              <a:t>Rows: last-ps · HAND: HERO / Pass A roster panel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15 — P(Y=1) — player LOO vs T̂_j (side-by-side)</a:t>
            </a:r>
          </a:p>
          <a:p>
            <a:pPr>
              <a:defRPr sz="1200" i="1"/>
            </a:pPr>
            <a:r>
              <a:t>Reigning lock EW16 · ever-Y · last-ps · same panel both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2×2: top row EW16 equal-width; bottom row quantile 16 (same n per bin).</a:t>
            </a:r>
          </a:p>
          <a:p>
            <a:pPr>
              <a:spcAft>
                <a:spcPts val="200"/>
              </a:spcAft>
              <a:defRPr sz="1100"/>
            </a:pPr>
            <a:r>
              <a:t>• Left: HERO poolq_LOO · Right: team T̂_j — same panel, both binning schemes.</a:t>
            </a:r>
          </a:p>
          <a:p>
            <a:pPr>
              <a:spcAft>
                <a:spcPts val="200"/>
              </a:spcAft>
              <a:defRPr sz="1100"/>
            </a:pPr>
            <a:r>
              <a:t>• LPM β₂ on continuous x (not binned); compare shape sensitivity to binning.</a:t>
            </a:r>
          </a:p>
        </p:txBody>
      </p:sp>
      <p:pic>
        <p:nvPicPr>
          <p:cNvPr id="4" name="Picture 3" descr="REIGNING_BDP_draft_rate_poolq_loo_vs_Tj_mg10_min20_09_21_ew16_ppm_las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908" y="1545336"/>
            <a:ext cx="5427878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draft_rate_loo_tj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EW16 · n=22,795 · LOO β₂=+0.00172 · T̂_j β₂=+0.05537</a:t>
            </a:r>
          </a:p>
          <a:p>
            <a:pPr>
              <a:defRPr sz="900" i="1"/>
            </a:pPr>
            <a:r>
              <a:t>Rows: last-ps · HAND: HERO vs F-HERO team axis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16 — Draft rate vs APGMS ventiles</a:t>
            </a:r>
          </a:p>
          <a:p>
            <a:pPr>
              <a:defRPr sz="1200" i="1"/>
            </a:pPr>
            <a:r>
              <a:t>Fixed_Ai slides 11–14 analog · all-ps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Exposure diagnostic: average player-games per season (APGMS) vs draft rate.</a:t>
            </a:r>
          </a:p>
          <a:p>
            <a:pPr>
              <a:spcAft>
                <a:spcPts val="200"/>
              </a:spcAft>
              <a:defRPr sz="1100"/>
            </a:pPr>
            <a:r>
              <a:t>• All-ps panel (full minutes exposure) — not last-ps HERO aperture.</a:t>
            </a:r>
          </a:p>
          <a:p>
            <a:pPr>
              <a:spcAft>
                <a:spcPts val="200"/>
              </a:spcAft>
              <a:defRPr sz="1100"/>
            </a:pPr>
            <a:r>
              <a:t>• Quantile ventiles on APGMS; independent of HERO poolq_LOO binning.</a:t>
            </a:r>
          </a:p>
        </p:txBody>
      </p:sp>
      <p:pic>
        <p:nvPicPr>
          <p:cNvPr id="4" name="Picture 3" descr="REIGNING_BDP_draft_rate_APGMS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97" y="1545336"/>
            <a:ext cx="6651701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APGMS · all-ps n=54,582 · draft rate vent1=0.09% · vent16=9.59% · orange=+DFT overlay</a:t>
            </a:r>
          </a:p>
          <a:p>
            <a:pPr>
              <a:defRPr sz="900" i="1"/>
            </a:pPr>
            <a:r>
              <a:t>Rows: all-ps · HAND: Fixed_Ai 11–14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17 — Draft rate vs ARGMS ventiles</a:t>
            </a:r>
          </a:p>
          <a:p>
            <a:pPr>
              <a:defRPr sz="1200" i="1"/>
            </a:pPr>
            <a:r>
              <a:t>Fixed_Ai slides 11–14 analog · all-ps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Exposure diagnostic: average roster-games per season (ARGMS) vs draft rate.</a:t>
            </a:r>
          </a:p>
          <a:p>
            <a:pPr>
              <a:spcAft>
                <a:spcPts val="200"/>
              </a:spcAft>
              <a:defRPr sz="1100"/>
            </a:pPr>
            <a:r>
              <a:t>• Team-level minutes exposure complement to APGMS player ventiles.</a:t>
            </a:r>
          </a:p>
          <a:p>
            <a:pPr>
              <a:spcAft>
                <a:spcPts val="200"/>
              </a:spcAft>
              <a:defRPr sz="1100"/>
            </a:pPr>
            <a:r>
              <a:t>• Same 09–21 lock filters; orange +DFT overlay on draft-ever teams.</a:t>
            </a:r>
          </a:p>
        </p:txBody>
      </p:sp>
      <p:pic>
        <p:nvPicPr>
          <p:cNvPr id="4" name="Picture 3" descr="REIGNING_BDP_draft_rate_ARGMS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97" y="1545336"/>
            <a:ext cx="6651701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draft_rate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ARGMS · all-ps n=54,582 · draft rate vent1=0.15% · vent16=9.53% · orange=+DFT overlay</a:t>
            </a:r>
          </a:p>
          <a:p>
            <a:pPr>
              <a:defRPr sz="900" i="1"/>
            </a:pPr>
            <a:r>
              <a:t>Rows: all-ps · HAND: Fixed_Ai 11–14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18 — Team games per season</a:t>
            </a:r>
          </a:p>
          <a:p>
            <a:pPr>
              <a:defRPr sz="1200" i="1"/>
            </a:pPr>
            <a:r>
              <a:t>PD22 memo slide 27 analog · after box QC (mg10)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Distinct game_id counts per (team_id, season) in ESPN box — after dash-QC and mg10.</a:t>
            </a:r>
          </a:p>
          <a:p>
            <a:pPr>
              <a:spcAft>
                <a:spcPts val="200"/>
              </a:spcAft>
              <a:defRPr sz="1100"/>
            </a:pPr>
            <a:r>
              <a:t>• Dual panel: linear counts + log-y share (same layout as PD22 backup slide).</a:t>
            </a:r>
          </a:p>
          <a:p>
            <a:pPr>
              <a:spcAft>
                <a:spcPts val="200"/>
              </a:spcAft>
              <a:defRPr sz="1100"/>
            </a:pPr>
            <a:r>
              <a:t>• Sparse one-game team-seasons dropped by mg10; mass clusters near full-season ~30 games.</a:t>
            </a:r>
          </a:p>
        </p:txBody>
      </p:sp>
      <p:pic>
        <p:nvPicPr>
          <p:cNvPr id="4" name="Picture 3" descr="REIGNING_BDP_team_games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44" y="1545336"/>
            <a:ext cx="920800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team_games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n=4,534 team-seasons · median=32 games · mean=31.5 · after box QC</a:t>
            </a:r>
          </a:p>
          <a:p>
            <a:pPr>
              <a:defRPr sz="900" i="1"/>
            </a:pPr>
            <a:r>
              <a:t>Rows: team-season (box) · HAND: PD22 memo slide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19 — Season minutes — player vs team mean</a:t>
            </a:r>
          </a:p>
          <a:p>
            <a:pPr>
              <a:defRPr sz="1200" i="1"/>
            </a:pPr>
            <a:r>
              <a:t>Exposure porch · all-ps · min20 floor marked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2×2: player histogram (+ log-y inset) and ECDF; team mean ditto.</a:t>
            </a:r>
          </a:p>
          <a:p>
            <a:pPr>
              <a:spcAft>
                <a:spcPts val="200"/>
              </a:spcAft>
              <a:defRPr sz="1100"/>
            </a:pPr>
            <a:r>
              <a:t>• Blue = full panel; orange line = +DFT (draft-ever teams only).</a:t>
            </a:r>
          </a:p>
          <a:p>
            <a:pPr>
              <a:spcAft>
                <a:spcPts val="200"/>
              </a:spcAft>
              <a:defRPr sz="1100"/>
            </a:pPr>
            <a:r>
              <a:t>• Stats boxes on ECDF panels show w/o DFT and +DFT medians.</a:t>
            </a:r>
          </a:p>
        </p:txBody>
      </p:sp>
      <p:pic>
        <p:nvPicPr>
          <p:cNvPr id="4" name="Picture 3" descr="REIGNING_BDP_minutes_player_team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775" y="1545336"/>
            <a:ext cx="5068145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player PS: n=54,582 · med=515 min · team mean: n=4,534 · med=536 min · all-ps post-min20 · +DFT player med=552 min</a:t>
            </a:r>
          </a:p>
          <a:p>
            <a:pPr>
              <a:defRPr sz="900" i="1"/>
            </a:pPr>
            <a:r>
              <a:t>Rows: all-ps · HAND: PD22 minutes (porch variant)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20 — Team roster size |T_j|</a:t>
            </a:r>
          </a:p>
          <a:p>
            <a:pPr>
              <a:defRPr sz="1200" i="1"/>
            </a:pPr>
            <a:r>
              <a:t>BDP slide 18 analog · all-ps · ALLT + orange +DFT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Roster depth distribution — full panel (all-ps), not last-ps cross-section.</a:t>
            </a:r>
          </a:p>
          <a:p>
            <a:pPr>
              <a:spcAft>
                <a:spcPts val="200"/>
              </a:spcAft>
              <a:defRPr sz="1100"/>
            </a:pPr>
            <a:r>
              <a:t>• Validates team-season cardinality under min20 · mg10 lock filters.</a:t>
            </a:r>
          </a:p>
          <a:p>
            <a:pPr>
              <a:spcAft>
                <a:spcPts val="200"/>
              </a:spcAft>
              <a:defRPr sz="1100"/>
            </a:pPr>
            <a:r>
              <a:t>• Orange +DFT overlay: teams with at least one draftee in sample.</a:t>
            </a:r>
          </a:p>
        </p:txBody>
      </p:sp>
      <p:pic>
        <p:nvPicPr>
          <p:cNvPr id="4" name="Picture 3" descr="REIGNING_BDP_team_size_mg10_min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49" y="1545336"/>
            <a:ext cx="4055997" cy="387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95544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sports/scripts/reigning_hero_basic_plots.py --only team_size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350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|T_j| mean=12.04 · median=12 · n=4,534 team-seasons · all-ps · orange=+DFT</a:t>
            </a:r>
          </a:p>
          <a:p>
            <a:pPr>
              <a:defRPr sz="900" i="1"/>
            </a:pPr>
            <a:r>
              <a:t>Rows: all-ps · HAND: BDP slide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