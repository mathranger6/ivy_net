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1"/>
    <p:restoredTop sz="94626"/>
  </p:normalViewPr>
  <p:slideViewPr>
    <p:cSldViewPr snapToGrid="0" snapToObjects="1">
      <p:cViewPr varScale="1">
        <p:scale>
          <a:sx n="213" d="100"/>
          <a:sy n="213" d="100"/>
        </p:scale>
        <p:origin x="276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44C"/>
                </a:solidFill>
              </a:defRPr>
            </a:pPr>
            <a:r>
              <a:t>ASSIGN Parent Model: Constrained Homophilic Bipartite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5B8C"/>
                </a:solidFill>
              </a:defRPr>
            </a:pPr>
            <a:r>
              <a:t>Two established ideas supply the ingredients; the synthesis is our assignment mechanism.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02" y="1193293"/>
            <a:ext cx="4754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2D5B8C"/>
                </a:solidFill>
              </a:defRPr>
            </a:pPr>
            <a:r>
              <a:rPr dirty="0"/>
              <a:t>Configuration-model logic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dirty="0"/>
              <a:t>Give each team a fixed number of stubs. Rⱼ is our notation for the number of unmatched team stubs remaining.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10420" y="1193293"/>
            <a:ext cx="4754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AA3232"/>
                </a:solidFill>
              </a:defRPr>
            </a:pPr>
            <a:r>
              <a:rPr dirty="0"/>
              <a:t>Quayle-style homophily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dirty="0"/>
              <a:t>Similarity is a generative preference. Closer individual–team states receive greater attachment weight.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22191" y="3410712"/>
            <a:ext cx="749809" cy="0"/>
          </a:xfrm>
          <a:prstGeom prst="line">
            <a:avLst/>
          </a:prstGeom>
          <a:ln w="25400">
            <a:solidFill>
              <a:srgbClr val="5F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543800" y="3410712"/>
            <a:ext cx="758952" cy="0"/>
          </a:xfrm>
          <a:prstGeom prst="line">
            <a:avLst/>
          </a:prstGeom>
          <a:ln w="25400">
            <a:solidFill>
              <a:srgbClr val="5F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/>
              <p:cNvSpPr/>
              <p:nvPr/>
            </p:nvSpPr>
            <p:spPr>
              <a:xfrm>
                <a:off x="3113627" y="2779776"/>
                <a:ext cx="5964746" cy="1828800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>
                      <m:r>
                        <a:rPr 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bSup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9"/>
                                </m:rPr>
                                <a:rPr 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sup>
                              </m:sSubSup>
                              <m:sSup>
                                <m:sSupPr>
                                  <m:ctrlP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sz="24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  <m:r>
                                            <a:rPr lang="en-US" sz="24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p>
                            </m:e>
                          </m:nary>
                          <m:r>
                            <a:rPr 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</a:endParaRPr>
              </a:p>
              <a:p>
                <a:pPr algn="ctr">
                  <a:defRPr sz="2100" b="1">
                    <a:solidFill>
                      <a:srgbClr val="19344C"/>
                    </a:solidFill>
                    <a:latin typeface="Cambria Math"/>
                  </a:defRPr>
                </a:pPr>
                <a:r>
                  <a:rPr sz="1600" dirty="0"/>
                  <a:t>our synthesis: capacity-preserving matching biased by homophily</a:t>
                </a:r>
              </a:p>
            </p:txBody>
          </p:sp>
        </mc:Choice>
        <mc:Fallback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627" y="2779776"/>
                <a:ext cx="5964746" cy="1828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354329" y="4895631"/>
            <a:ext cx="3280121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9344C"/>
                </a:solidFill>
              </a:defRPr>
            </a:pPr>
            <a:r>
              <a:rPr dirty="0"/>
              <a:t>After each assignment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dirty="0"/>
              <a:t>If </a:t>
            </a:r>
            <a:r>
              <a:rPr dirty="0" err="1"/>
              <a:t>i</a:t>
            </a:r>
            <a:r>
              <a:rPr dirty="0"/>
              <a:t> joins team j:</a:t>
            </a:r>
            <a:br>
              <a:rPr dirty="0"/>
            </a:br>
            <a:r>
              <a:rPr dirty="0"/>
              <a:t>Rⱼ,ₜ⁽ˢ⁺¹⁾ = Rⱼ,ₜ⁽</a:t>
            </a:r>
            <a:r>
              <a:rPr dirty="0" err="1"/>
              <a:t>ˢ</a:t>
            </a:r>
            <a:r>
              <a:rPr dirty="0"/>
              <a:t>⁾ − 1</a:t>
            </a:r>
            <a:br>
              <a:rPr dirty="0"/>
            </a:br>
            <a:r>
              <a:rPr lang="en-US" dirty="0"/>
              <a:t>F</a:t>
            </a:r>
            <a:r>
              <a:rPr dirty="0"/>
              <a:t>ull team therefore has </a:t>
            </a:r>
            <a:r>
              <a:rPr lang="en-US" dirty="0"/>
              <a:t>0</a:t>
            </a:r>
            <a:r>
              <a:rPr dirty="0"/>
              <a:t> remaining stubs.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4663" y="4895631"/>
            <a:ext cx="2965601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9344C"/>
                </a:solidFill>
              </a:defRPr>
            </a:pPr>
            <a:r>
              <a:rPr dirty="0"/>
              <a:t>After each period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dirty="0"/>
              <a:t>Recalculate the team centroid </a:t>
            </a:r>
            <a:r>
              <a:rPr dirty="0" err="1"/>
              <a:t>μ</a:t>
            </a:r>
            <a:r>
              <a:rPr dirty="0"/>
              <a:t>ⱼ,ₜ from the new roster. That state can guide the next formation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0477" y="4895631"/>
            <a:ext cx="4484824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9344C"/>
                </a:solidFill>
              </a:defRPr>
            </a:pPr>
            <a:r>
              <a:rPr dirty="0"/>
              <a:t>Dynamic extension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rPr sz="1400" dirty="0" err="1"/>
              <a:t>μ</a:t>
            </a:r>
            <a:r>
              <a:rPr sz="1400" dirty="0"/>
              <a:t>ⱼ,ₜ₋₁ → ASSIGN at t → roster at t → </a:t>
            </a:r>
            <a:r>
              <a:rPr sz="1400" dirty="0" err="1"/>
              <a:t>μ</a:t>
            </a:r>
            <a:r>
              <a:rPr sz="1400" dirty="0"/>
              <a:t>ⱼ,ₜ → ASSIGN at t+1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</a:defRPr>
            </a:pPr>
            <a:r>
              <a:t>Structural lineage: Fosdick et al. (2018), SIAM Review 60(2), 315–355. Homophily lineage: Quayle et al. (2006), EPJ B 50, 617–630.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AD333DA0-A9BD-3849-A743-5747F890EB81}"/>
                  </a:ext>
                </a:extLst>
              </p:cNvPr>
              <p:cNvSpPr/>
              <p:nvPr/>
            </p:nvSpPr>
            <p:spPr>
              <a:xfrm>
                <a:off x="9781535" y="3099816"/>
                <a:ext cx="2194560" cy="1188720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2100" b="1">
                    <a:solidFill>
                      <a:srgbClr val="19344C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algn="ctr">
                  <a:defRPr sz="2100" b="1">
                    <a:solidFill>
                      <a:srgbClr val="19344C"/>
                    </a:solidFill>
                    <a:latin typeface="Cambria Math"/>
                  </a:defRPr>
                </a:pPr>
                <a:r>
                  <a:rPr sz="1600" dirty="0"/>
                  <a:t>non-structural similarity attraction</a:t>
                </a:r>
              </a:p>
            </p:txBody>
          </p:sp>
        </mc:Choice>
        <mc:Fallback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AD333DA0-A9BD-3849-A743-5747F890E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535" y="3099816"/>
                <a:ext cx="2194560" cy="11887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DB0B6C7-278C-59E1-D5DE-A2F8B555C181}"/>
                  </a:ext>
                </a:extLst>
              </p:cNvPr>
              <p:cNvSpPr/>
              <p:nvPr/>
            </p:nvSpPr>
            <p:spPr>
              <a:xfrm>
                <a:off x="141827" y="3099816"/>
                <a:ext cx="2194560" cy="1188720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1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– </m:t>
                      </m:r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1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100" dirty="0"/>
              </a:p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:r>
                  <a:rPr sz="1600" dirty="0"/>
                  <a:t>structural availability / remaining capacity</a:t>
                </a:r>
              </a:p>
            </p:txBody>
          </p:sp>
        </mc:Choice>
        <mc:Fallback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DB0B6C7-278C-59E1-D5DE-A2F8B555C1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27" y="3099816"/>
                <a:ext cx="2194560" cy="11887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2C8581-E979-7147-23E3-924FDAD7A50B}"/>
              </a:ext>
            </a:extLst>
          </p:cNvPr>
          <p:cNvCxnSpPr>
            <a:stCxn id="17" idx="3"/>
            <a:endCxn id="10" idx="1"/>
          </p:cNvCxnSpPr>
          <p:nvPr/>
        </p:nvCxnSpPr>
        <p:spPr>
          <a:xfrm>
            <a:off x="2336387" y="3694176"/>
            <a:ext cx="777240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1240AC-4BC0-2054-7BE5-3290A8337BE2}"/>
              </a:ext>
            </a:extLst>
          </p:cNvPr>
          <p:cNvCxnSpPr>
            <a:cxnSpLocks/>
            <a:stCxn id="16" idx="1"/>
            <a:endCxn id="10" idx="3"/>
          </p:cNvCxnSpPr>
          <p:nvPr/>
        </p:nvCxnSpPr>
        <p:spPr>
          <a:xfrm flipH="1">
            <a:off x="9078373" y="3694176"/>
            <a:ext cx="703162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7464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44C"/>
                </a:solidFill>
              </a:defRPr>
            </a:pPr>
            <a:r>
              <a:rPr lang="en-US" dirty="0"/>
              <a:t>Child Model</a:t>
            </a:r>
            <a:r>
              <a:rPr dirty="0"/>
              <a:t>: One-Shot Homophilic Initial-League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5B8C"/>
                </a:solidFill>
              </a:defRPr>
            </a:pPr>
            <a:r>
              <a:t>We derive the smallest model needed for the paper—no longitudinal updating.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104172" y="1170783"/>
                <a:ext cx="3070434" cy="123444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46304" tIns="91440" rIns="146304" rtlCol="0" anchor="ctr"/>
              <a:lstStyle/>
              <a:p>
                <a:pPr algn="ctr">
                  <a:defRPr sz="1700" b="1">
                    <a:solidFill>
                      <a:srgbClr val="19344C"/>
                    </a:solidFill>
                  </a:defRPr>
                </a:pPr>
                <a:r>
                  <a:rPr dirty="0"/>
                  <a:t>1  Fixed empirical team states</a:t>
                </a:r>
              </a:p>
              <a:p>
                <a:pPr>
                  <a:spcBef>
                    <a:spcPts val="500"/>
                  </a:spcBef>
                  <a:defRPr sz="1300">
                    <a:solidFill>
                      <a:srgbClr val="1E1E1E"/>
                    </a:solidFill>
                  </a:defRPr>
                </a:pPr>
                <a:r>
                  <a:rPr dirty="0"/>
                  <a:t>Initialize each team with an empirical centroid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0" dirty="0" err="1">
                        <a:latin typeface="Cambria Math" panose="02040503050406030204" pitchFamily="18" charset="0"/>
                      </a:rPr>
                      <m:t>ⱼ</m:t>
                    </m:r>
                  </m:oMath>
                </a14:m>
                <a:r>
                  <a:rPr dirty="0"/>
                  <a:t>. These centroids remain fixed for the entire formation round.</a:t>
                </a: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2" y="1170783"/>
                <a:ext cx="3070434" cy="12344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3573624" y="1170783"/>
                <a:ext cx="2514600" cy="123444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46304" tIns="91440" rIns="146304" rtlCol="0" anchor="ctr"/>
              <a:lstStyle/>
              <a:p>
                <a:pPr algn="ctr">
                  <a:defRPr sz="1700" b="1">
                    <a:solidFill>
                      <a:srgbClr val="19344C"/>
                    </a:solidFill>
                  </a:defRPr>
                </a:pPr>
                <a:r>
                  <a:rPr dirty="0"/>
                  <a:t>2  Individual states</a:t>
                </a:r>
              </a:p>
              <a:p>
                <a:pPr>
                  <a:spcBef>
                    <a:spcPts val="500"/>
                  </a:spcBef>
                  <a:defRPr sz="1300">
                    <a:solidFill>
                      <a:srgbClr val="1E1E1E"/>
                    </a:solidFill>
                  </a:defRPr>
                </a:pPr>
                <a:r>
                  <a:rPr dirty="0"/>
                  <a:t>Use the observed / empirically informed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dirty="0"/>
                  <a:t> values for the complete player population.</a:t>
                </a: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624" y="1170783"/>
                <a:ext cx="2514600" cy="1234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6487242" y="1170783"/>
                <a:ext cx="2580246" cy="123444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46304" tIns="91440" rIns="146304" rtlCol="0" anchor="ctr"/>
              <a:lstStyle/>
              <a:p>
                <a:pPr algn="ctr">
                  <a:defRPr sz="1700" b="1">
                    <a:solidFill>
                      <a:srgbClr val="19344C"/>
                    </a:solidFill>
                  </a:defRPr>
                </a:pPr>
                <a:r>
                  <a:rPr dirty="0"/>
                  <a:t>3  All slots initially open</a:t>
                </a:r>
              </a:p>
              <a:p>
                <a:pPr>
                  <a:spcBef>
                    <a:spcPts val="500"/>
                  </a:spcBef>
                  <a:defRPr sz="1300">
                    <a:solidFill>
                      <a:srgbClr val="1E1E1E"/>
                    </a:solidFill>
                  </a:defRPr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ⱼ⁽⁰⁾=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:r>
                  <a:rPr dirty="0"/>
                  <a:t>for every team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dirty="0"/>
                  <a:t>.</a:t>
                </a:r>
                <a:br>
                  <a:rPr dirty="0"/>
                </a:br>
                <a:r>
                  <a:rPr dirty="0"/>
                  <a:t>For NCAA MBB: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242" y="1170783"/>
                <a:ext cx="2580246" cy="1234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9466506" y="1170783"/>
                <a:ext cx="2621322" cy="123444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46304" tIns="91440" rIns="146304" rtlCol="0" anchor="ctr"/>
              <a:lstStyle/>
              <a:p>
                <a:pPr algn="ctr">
                  <a:defRPr sz="1700" b="1">
                    <a:solidFill>
                      <a:srgbClr val="19344C"/>
                    </a:solidFill>
                  </a:defRPr>
                </a:pPr>
                <a:r>
                  <a:rPr dirty="0"/>
                  <a:t>4  Random player queue</a:t>
                </a:r>
              </a:p>
              <a:p>
                <a:pPr>
                  <a:spcBef>
                    <a:spcPts val="500"/>
                  </a:spcBef>
                  <a:defRPr sz="1300">
                    <a:solidFill>
                      <a:srgbClr val="1E1E1E"/>
                    </a:solidFill>
                  </a:defRPr>
                </a:pPr>
                <a:r>
                  <a:rPr dirty="0"/>
                  <a:t>Randomly permute players before sequential assignment; order is not based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6506" y="1170783"/>
                <a:ext cx="2621322" cy="123444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/>
              <p:cNvSpPr/>
              <p:nvPr/>
            </p:nvSpPr>
            <p:spPr>
              <a:xfrm>
                <a:off x="932688" y="2529590"/>
                <a:ext cx="5581938" cy="2157633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ar-AE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ar-AE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r>
                            <m:rPr>
                              <m:sty m:val="p"/>
                            </m:rPr>
                            <a:rPr 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ar-AE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bSup>
                          <m:sSup>
                            <m:sSupPr>
                              <m:ctrlP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ar-AE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ar-AE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9"/>
                                </m:rPr>
                                <a:rPr 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sup>
                              </m:sSubSup>
                              <m:sSup>
                                <m:sSupPr>
                                  <m:ctrlP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ar-AE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ar-AE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ar-AE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p>
                            </m:e>
                          </m:nary>
                          <m:r>
                            <a:rPr lang="ar-AE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ar-AE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800" dirty="0">
                  <a:solidFill>
                    <a:prstClr val="black"/>
                  </a:solidFill>
                </a:endParaRPr>
              </a:p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:r>
                  <a:rPr lang="en-US" sz="1100" i="1" dirty="0"/>
                  <a:t>Rⱼ⁽⁰⁾ = C </a:t>
                </a:r>
                <a:r>
                  <a:rPr lang="en-US" sz="1100" dirty="0"/>
                  <a:t>for all teams; after each assignment, the selected team's </a:t>
                </a:r>
                <a:r>
                  <a:rPr lang="en-US" sz="1100" i="1" dirty="0"/>
                  <a:t>Rⱼ</a:t>
                </a:r>
                <a:r>
                  <a:rPr lang="en-US" sz="1100" dirty="0"/>
                  <a:t> decreases by one</a:t>
                </a:r>
                <a:endParaRPr sz="1100" dirty="0"/>
              </a:p>
            </p:txBody>
          </p:sp>
        </mc:Choice>
        <mc:Fallback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8" y="2529590"/>
                <a:ext cx="5581938" cy="215763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685800" y="4855815"/>
            <a:ext cx="3337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2D5B8C"/>
                </a:solidFill>
              </a:defRPr>
            </a:pPr>
            <a:r>
              <a:t>ρ = 0  → random baseline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t>P(i→j|s) = Rⱼ⁽ˢ⁾ / ΣₗRₗ⁽ˢ⁾</a:t>
            </a:r>
            <a:br/>
            <a:r>
              <a:t>Uniform matching over all remaining team stubs.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4855815"/>
            <a:ext cx="3337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A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AA3232"/>
                </a:solidFill>
              </a:defRPr>
            </a:pPr>
            <a:r>
              <a:t>ρ &gt; 0  → homophilic bias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t>The same capacity-preserving process increasingly favors teams with μⱼ close to Aᵢ.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4855815"/>
            <a:ext cx="3337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46304" rtlCol="0" anchor="ctr"/>
          <a:lstStyle/>
          <a:p>
            <a:pPr algn="ctr">
              <a:defRPr sz="1700" b="1">
                <a:solidFill>
                  <a:srgbClr val="19344C"/>
                </a:solidFill>
              </a:defRPr>
            </a:pPr>
            <a:r>
              <a:t>One run = one realization</a:t>
            </a:r>
          </a:p>
          <a:p>
            <a:pPr>
              <a:spcBef>
                <a:spcPts val="500"/>
              </a:spcBef>
              <a:defRPr sz="1300">
                <a:solidFill>
                  <a:srgbClr val="1E1E1E"/>
                </a:solidFill>
              </a:defRPr>
            </a:pPr>
            <a:r>
              <a:t>Repeat from the same initial conditions to obtain an ensemble of possible leagues—not longitudinal iterations.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</a:defRPr>
            </a:pPr>
            <a:r>
              <a:t>The combined probability rule is our synthesis; Fosdick supports the stub/configuration logic and Quayle supports the similarity-weighted homophily logic.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4656594-EE15-76B3-EAA7-14DE0AF112C8}"/>
                  </a:ext>
                </a:extLst>
              </p:cNvPr>
              <p:cNvSpPr/>
              <p:nvPr/>
            </p:nvSpPr>
            <p:spPr>
              <a:xfrm>
                <a:off x="7300022" y="2529590"/>
                <a:ext cx="4028360" cy="2157633"/>
              </a:xfrm>
              <a:prstGeom prst="roundRect">
                <a:avLst/>
              </a:prstGeom>
              <a:solidFill>
                <a:srgbClr val="F2F6F9"/>
              </a:solidFill>
              <a:ln>
                <a:solidFill>
                  <a:srgbClr val="D7E1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the individual/player currently being assigned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a candidate team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​ = individual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's ability/performance value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​ = fixed empirical centroid for team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strength of homophilic attraction </a:t>
                </a:r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105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5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remaining open roster positions (unmatched team stubs) </a:t>
                </a:r>
              </a:p>
              <a:p>
                <a:pPr lvl="0"/>
                <a:r>
                  <a:rPr lang="en-US" sz="1050" dirty="0">
                    <a:solidFill>
                      <a:srgbClr val="0070C0"/>
                    </a:solidFill>
                  </a:rPr>
                  <a:t>	for team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at assignment step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1050" dirty="0">
                    <a:solidFill>
                      <a:srgbClr val="0070C0"/>
                    </a:solidFill>
                  </a:rPr>
                  <a:t> = index over </a:t>
                </a:r>
                <a:r>
                  <a:rPr lang="en-US" sz="1050" b="1" dirty="0">
                    <a:solidFill>
                      <a:srgbClr val="0070C0"/>
                    </a:solidFill>
                  </a:rPr>
                  <a:t>all teams with remaining capacity</a:t>
                </a:r>
                <a:r>
                  <a:rPr lang="en-US" sz="1050" dirty="0">
                    <a:solidFill>
                      <a:srgbClr val="0070C0"/>
                    </a:solidFill>
                  </a:rPr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05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050" b="1" dirty="0">
                    <a:solidFill>
                      <a:srgbClr val="0070C0"/>
                    </a:solidFill>
                  </a:rPr>
                  <a:t> = the sequential assignment step within this one formation run</a:t>
                </a:r>
                <a:endParaRPr lang="en-US" sz="1050" dirty="0">
                  <a:solidFill>
                    <a:srgbClr val="0070C0"/>
                  </a:solidFill>
                </a:endParaRPr>
              </a:p>
              <a:p>
                <a:pPr algn="ctr">
                  <a:defRPr sz="1100">
                    <a:solidFill>
                      <a:srgbClr val="5F6970"/>
                    </a:solidFill>
                  </a:defRPr>
                </a:pPr>
                <a:endParaRPr sz="105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4656594-EE15-76B3-EAA7-14DE0AF11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022" y="2529590"/>
                <a:ext cx="4028360" cy="215763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D7E1E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4F23-B3E1-B313-AA6A-F7EAC7810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2F6C1-B44B-6920-B12F-1A2771F88D5E}"/>
              </a:ext>
            </a:extLst>
          </p:cNvPr>
          <p:cNvSpPr txBox="1"/>
          <p:nvPr/>
        </p:nvSpPr>
        <p:spPr>
          <a:xfrm>
            <a:off x="566928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49"/>
                </a:solidFill>
              </a:defRPr>
            </a:pPr>
            <a:r>
              <a:t>ASSIGN Grandchild: Endogenous Team Centroids Within One Formation Run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5F3F6-CDB8-CF4B-2D14-985E0D6078F9}"/>
              </a:ext>
            </a:extLst>
          </p:cNvPr>
          <p:cNvSpPr txBox="1"/>
          <p:nvPr/>
        </p:nvSpPr>
        <p:spPr>
          <a:xfrm>
            <a:off x="594360" y="74980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B8C"/>
                </a:solidFill>
              </a:defRPr>
            </a:pPr>
            <a:r>
              <a:t>Same capacity-constrained homophily rule — but teams begin identical and μⱼ updates after every attachment.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E64E52-4DF5-419E-6771-50AE5FE4CA29}"/>
              </a:ext>
            </a:extLst>
          </p:cNvPr>
          <p:cNvSpPr/>
          <p:nvPr/>
        </p:nvSpPr>
        <p:spPr>
          <a:xfrm>
            <a:off x="594360" y="1234440"/>
            <a:ext cx="33375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D5B8C"/>
                </a:solidFill>
              </a:defRPr>
            </a:pPr>
            <a:r>
              <a:t>1  Identical initial teams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μⱼ⁽⁰⁾ = μ₀ = Ā   for every j</a:t>
            </a:r>
            <a:br/>
            <a:r>
              <a:t>Rⱼ⁽⁰⁾ = C   for every j</a:t>
            </a:r>
            <a:br/>
            <a:br/>
            <a:r>
              <a:t>No initial between-team differentiation.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6C989C-0653-D388-7DD0-B53CD0B682B2}"/>
              </a:ext>
            </a:extLst>
          </p:cNvPr>
          <p:cNvSpPr/>
          <p:nvPr/>
        </p:nvSpPr>
        <p:spPr>
          <a:xfrm>
            <a:off x="4425696" y="1234440"/>
            <a:ext cx="33375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D5B8C"/>
                </a:solidFill>
              </a:defRPr>
            </a:pPr>
            <a:r>
              <a:t>2  Random player entrance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Randomly permute the Aᵢ population.</a:t>
            </a:r>
            <a:br/>
            <a:r>
              <a:t>s = sequential entrance/assignment event.</a:t>
            </a:r>
            <a:br/>
            <a:br/>
            <a:r>
              <a:t>One full queue = one stochastic realization.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D146997-C90D-2538-22CD-D60FBB379D19}"/>
              </a:ext>
            </a:extLst>
          </p:cNvPr>
          <p:cNvSpPr/>
          <p:nvPr/>
        </p:nvSpPr>
        <p:spPr>
          <a:xfrm>
            <a:off x="8257031" y="1234440"/>
            <a:ext cx="33375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5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A53737"/>
                </a:solidFill>
              </a:defRPr>
            </a:pPr>
            <a:r>
              <a:t>3  Homophilic attachment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At each event, open teams compete using remaining capacity × similarity to the team's current centroid.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66EFFDE-287A-3991-33F0-B17D4DF9E79B}"/>
                  </a:ext>
                </a:extLst>
              </p:cNvPr>
              <p:cNvSpPr/>
              <p:nvPr/>
            </p:nvSpPr>
            <p:spPr>
              <a:xfrm>
                <a:off x="960120" y="2596897"/>
                <a:ext cx="10268712" cy="1578496"/>
              </a:xfrm>
              <a:prstGeom prst="roundRect">
                <a:avLst/>
              </a:prstGeom>
              <a:solidFill>
                <a:srgbClr val="F4F7F9"/>
              </a:solidFill>
              <a:ln>
                <a:solidFill>
                  <a:srgbClr val="CDD9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2200" b="1">
                    <a:solidFill>
                      <a:srgbClr val="1C3449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ar-AE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ar-AE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ar-AE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r>
                            <m:rPr>
                              <m:sty m:val="p"/>
                            </m:rPr>
                            <a:rPr lang="en-US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ar-AE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ar-AE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bSup>
                          <m:sSup>
                            <m:sSupPr>
                              <m:ctrlPr>
                                <a:rPr lang="ar-AE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9"/>
                                </m:rPr>
                                <a:rPr lang="en-US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sup>
                              </m:sSubSup>
                              <m:sSup>
                                <m:sSupPr>
                                  <m:ctrlP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ar-AE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ar-AE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ar-AE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ar-AE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  <m:sup>
                                          <m:r>
                                            <a:rPr lang="en-US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d>
                                </m:sup>
                              </m:sSup>
                            </m:e>
                          </m:nary>
                          <m:r>
                            <a:rPr lang="ar-AE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ar-AE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800" dirty="0"/>
              </a:p>
              <a:p>
                <a:pPr algn="ctr">
                  <a:defRPr sz="1100">
                    <a:solidFill>
                      <a:srgbClr val="5A646C"/>
                    </a:solidFill>
                  </a:defRPr>
                </a:pPr>
                <a:r>
                  <a:rPr lang="el-GR" sz="1400" dirty="0" err="1"/>
                  <a:t>ρ</a:t>
                </a:r>
                <a:r>
                  <a:rPr lang="el-GR" sz="1400" dirty="0"/>
                  <a:t> = </a:t>
                </a:r>
                <a:r>
                  <a:rPr lang="en-US" sz="1400" dirty="0"/>
                  <a:t>homophilic preference   •   Rⱼ = remaining team slots   •   </a:t>
                </a:r>
                <a:r>
                  <a:rPr lang="el-GR" sz="1400" dirty="0" err="1"/>
                  <a:t>μ</a:t>
                </a:r>
                <a:r>
                  <a:rPr lang="en-US" sz="1400" dirty="0"/>
                  <a:t>ⱼ⁽</a:t>
                </a:r>
                <a:r>
                  <a:rPr lang="en-US" sz="1400" dirty="0" err="1"/>
                  <a:t>ˢ</a:t>
                </a:r>
                <a:r>
                  <a:rPr lang="en-US" sz="1400" dirty="0"/>
                  <a:t>⁾ = current team centroid</a:t>
                </a:r>
                <a:endParaRPr sz="1400" dirty="0"/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66EFFDE-287A-3991-33F0-B17D4DF9E7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2596897"/>
                <a:ext cx="10268712" cy="157849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DD9E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0A13BC4-710E-ED3B-695B-2C8511C5DD2D}"/>
              </a:ext>
            </a:extLst>
          </p:cNvPr>
          <p:cNvSpPr/>
          <p:nvPr/>
        </p:nvSpPr>
        <p:spPr>
          <a:xfrm>
            <a:off x="658368" y="4261104"/>
            <a:ext cx="34290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D5B8C"/>
                </a:solidFill>
              </a:defRPr>
            </a:pPr>
            <a:r>
              <a:t>4  Attach + consume a slot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If player i joins team j:</a:t>
            </a:r>
            <a:br/>
            <a:r>
              <a:t>Rⱼ⁽ˢ⁺¹⁾ = Rⱼ⁽ˢ⁾ − 1</a:t>
            </a:r>
            <a:br/>
            <a:br/>
            <a:r>
              <a:t>A full team automatically leaves the choice set.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5600B8-661E-DA33-E2B5-CC1798370B2F}"/>
              </a:ext>
            </a:extLst>
          </p:cNvPr>
          <p:cNvSpPr/>
          <p:nvPr/>
        </p:nvSpPr>
        <p:spPr>
          <a:xfrm>
            <a:off x="4379976" y="4261104"/>
            <a:ext cx="34290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5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A53737"/>
                </a:solidFill>
              </a:defRPr>
            </a:pPr>
            <a:r>
              <a:t>5  Immediately update μⱼ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First member:  μⱼ = Aᵢ</a:t>
            </a:r>
            <a:br/>
            <a:r>
              <a:t>Thereafter μⱼ is the mean of actual attached players.</a:t>
            </a:r>
            <a:br/>
            <a:r>
              <a:t>μ₀ is NOT a pseudo-player.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BECF42C-3482-A8AD-513F-488D928057FD}"/>
              </a:ext>
            </a:extLst>
          </p:cNvPr>
          <p:cNvSpPr/>
          <p:nvPr/>
        </p:nvSpPr>
        <p:spPr>
          <a:xfrm>
            <a:off x="8101583" y="4261104"/>
            <a:ext cx="34290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D5B8C"/>
                </a:solidFill>
              </a:defRPr>
            </a:pPr>
            <a:r>
              <a:t>6  Emergent differentiation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Repeat until all C slots are filled.</a:t>
            </a:r>
            <a:br/>
            <a:r>
              <a:t>Teams began identical; final μⱼ differences emerge from stochastic arrivals + homophily + capacity.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6D9B41F-636F-6FA7-FF71-3926FDD53349}"/>
              </a:ext>
            </a:extLst>
          </p:cNvPr>
          <p:cNvSpPr/>
          <p:nvPr/>
        </p:nvSpPr>
        <p:spPr>
          <a:xfrm>
            <a:off x="1115568" y="5760720"/>
            <a:ext cx="9966960" cy="502920"/>
          </a:xfrm>
          <a:prstGeom prst="roundRect">
            <a:avLst/>
          </a:prstGeom>
          <a:solidFill>
            <a:srgbClr val="1C3449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TEST:  ρ ↑  →  within-team dispersion D ↓ ?   •   normalized sorting H ↑ ?   •   what is the functional shape?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A272F-F5A4-56C3-6038-CB05AB4603FB}"/>
              </a:ext>
            </a:extLst>
          </p:cNvPr>
          <p:cNvSpPr txBox="1"/>
          <p:nvPr/>
        </p:nvSpPr>
        <p:spPr>
          <a:xfrm>
            <a:off x="621792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46C"/>
                </a:solidFill>
              </a:defRPr>
            </a:pPr>
            <a:r>
              <a:t>Grandchild preserves the Parent/Child weighted-stub + Quayle-style homophily logic; only the within-run centroid rule changes.</a:t>
            </a:r>
          </a:p>
        </p:txBody>
      </p:sp>
    </p:spTree>
    <p:extLst>
      <p:ext uri="{BB962C8B-B14F-4D97-AF65-F5344CB8AC3E}">
        <p14:creationId xmlns:p14="http://schemas.microsoft.com/office/powerpoint/2010/main" val="4028519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787</Words>
  <Application>Microsoft Macintosh PowerPoint</Application>
  <PresentationFormat>Widescreen</PresentationFormat>
  <Paragraphs>65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10</cp:revision>
  <cp:lastPrinted>2026-08-10T18:18:33Z</cp:lastPrinted>
  <dcterms:created xsi:type="dcterms:W3CDTF">2013-01-27T09:14:16Z</dcterms:created>
  <dcterms:modified xsi:type="dcterms:W3CDTF">2026-08-11T12:51:10Z</dcterms:modified>
  <cp:category/>
</cp:coreProperties>
</file>