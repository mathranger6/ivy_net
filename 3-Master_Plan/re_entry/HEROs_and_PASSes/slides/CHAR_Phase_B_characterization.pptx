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3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6"/>
    <p:restoredTop sz="94718"/>
  </p:normalViewPr>
  <p:slideViewPr>
    <p:cSldViewPr snapToGrid="0" snapToObjects="1">
      <p:cViewPr varScale="1">
        <p:scale>
          <a:sx n="233" d="100"/>
          <a:sy n="233" d="100"/>
        </p:scale>
        <p:origin x="6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84048" y="1024128"/>
              <a:ext cx="5806439" cy="490859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</a:t>
                          </a:r>
                          <a14:m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 talent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i.i.d.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tightly players match team talent targets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LOO peer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viability</a:t>
                          </a:r>
                        </a:p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Smooth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-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mean of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ar-AE" sz="1100" b="0" i="1" baseline="-25000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over teammates</a:t>
                          </a:r>
                        </a:p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Hard option in code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1100" b="0" i="1" dirty="0" smtClean="0">
                                  <a:latin typeface="Cambria Math" panose="02040503050406030204" pitchFamily="18" charset="0"/>
                                </a:rPr>
                                <m:t>&gt; </m:t>
                              </m:r>
                              <m:r>
                                <a:rPr lang="ar-AE" sz="11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>
                              <a:latin typeface="Avenir Next" panose="020B0503020202020204" pitchFamily="34" charset="0"/>
                            </a:rPr>
                            <a:t>Center of the sigmoid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Steepness of viability step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Fraction of league selected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 ÷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84048" y="1024128"/>
              <a:ext cx="5806439" cy="490859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178723" r="-618750" b="-55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 talent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i.i.d.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tightly players match team talent targets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9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346000" r="-752" b="-33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628571" r="-6187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>
                              <a:latin typeface="Avenir Next" panose="020B0503020202020204" pitchFamily="34" charset="0"/>
                            </a:rPr>
                            <a:t>Center of the sigmoid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746341" r="-61875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746341" r="-75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826190" r="-618750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826190" r="-752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Not curve fitting: which rules </a:t>
                </a:r>
                <a:r>
                  <a:rPr lang="en-US" sz="1050" i="1" dirty="0">
                    <a:solidFill>
                      <a:srgbClr val="FF0000"/>
                    </a:solidFill>
                  </a:rPr>
                  <a:t>bend</a:t>
                </a:r>
                <a:r>
                  <a:rPr lang="en-US" sz="1050" dirty="0"/>
                  <a:t> synthetic selection curves — not NCAA fit yet.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Three steps: ASSIGN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𝑆𝐶𝑂𝑅𝐸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 sz="105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𝑆𝐸𝐿𝐸𝐶𝑇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ar-AE" sz="1050" dirty="0"/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then VISUALIZE by pool-mean bin.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in this deck: </a:t>
                </a:r>
                <a:r>
                  <a:rPr lang="en-US" sz="1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crowding_smooth</a:t>
                </a:r>
                <a:r>
                  <a:rPr lang="en-US" sz="1000" dirty="0"/>
                  <a:t> </a:t>
                </a:r>
                <a:r>
                  <a:rPr lang="en-US" sz="1050" dirty="0"/>
                  <a:t>(mean </a:t>
                </a:r>
                <a:r>
                  <a:rPr lang="el-GR" sz="1050" i="1" dirty="0">
                    <a:latin typeface="Cambria Math"/>
                  </a:rPr>
                  <a:t>σ</a:t>
                </a:r>
                <a:r>
                  <a:rPr lang="el-GR" sz="1050" dirty="0"/>
                  <a:t>). </a:t>
                </a:r>
                <a:r>
                  <a:rPr lang="en-US" sz="1050" dirty="0"/>
                  <a:t>Code also builds hard </a:t>
                </a:r>
                <a:r>
                  <a:rPr lang="en-US" sz="1050" i="1" dirty="0">
                    <a:latin typeface="Cambria Math"/>
                  </a:rPr>
                  <a:t>L</a:t>
                </a:r>
                <a:r>
                  <a:rPr lang="en-US" sz="1000" i="1" baseline="-25000" dirty="0">
                    <a:latin typeface="Cambria Math"/>
                  </a:rPr>
                  <a:t>C</a:t>
                </a:r>
                <a:r>
                  <a:rPr lang="en-US" sz="1050" dirty="0"/>
                  <a:t> = LOO share with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— not shown here.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One-at-a-time (OAT): each slide moves one knob; other settings stay at benchmark values.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Seed 42 on stochastic steps: draw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50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050" dirty="0"/>
                  <a:t>soft-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/>
                  <a:t> assignment.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Score, 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dirty="0"/>
                  <a:t>, bins are deterministic.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League: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(539 preset).</a:t>
                </a:r>
                <a:endParaRPr sz="105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blipFill>
                <a:blip r:embed="rId3"/>
                <a:stretch>
                  <a:fillRect b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46520" y="3138121"/>
                <a:ext cx="5361127" cy="1278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b="1"/>
                </a:pPr>
                <a:r>
                  <a:rPr lang="en-US" sz="1050" i="1" dirty="0">
                    <a:latin typeface="Cambria Math" panose="02040503050406030204" pitchFamily="18" charset="0"/>
                  </a:rPr>
                  <a:t>A_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b="1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=0.55 —</m:t>
                    </m:r>
                    <m:r>
                      <a:rPr lang="en-US" sz="105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 </a:t>
                </a:r>
                <a:r>
                  <a:rPr lang="en-US" sz="105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tier1_539_reference_settings.json </a:t>
                </a:r>
                <a:r>
                  <a:rPr lang="en-US" sz="1050" dirty="0"/>
                  <a:t>/ playground default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1050" dirty="0"/>
                  <a:t>— same 539 reference JSON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sz="1050" dirty="0"/>
                  <a:t>— gallery fixed assign for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sz="1050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 slides (moderate-high mixing; not a 539 JSON field)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— characterization default (MBB draft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1% </m:t>
                    </m:r>
                  </m:oMath>
                </a14:m>
                <a:r>
                  <a:rPr lang="en-US" sz="1050" dirty="0"/>
                  <a:t>is a separate calibration point)</a:t>
                </a:r>
                <a:endParaRPr sz="105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3138121"/>
                <a:ext cx="5361127" cy="1278748"/>
              </a:xfrm>
              <a:prstGeom prst="rect">
                <a:avLst/>
              </a:prstGeom>
              <a:blipFill>
                <a:blip r:embed="rId4"/>
                <a:stretch>
                  <a:fillRect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46520" y="4779755"/>
            <a:ext cx="5433092" cy="119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1050" dirty="0"/>
              <a:t>Real hero: draft rate vs </a:t>
            </a:r>
            <a:r>
              <a:rPr sz="1050" dirty="0">
                <a:solidFill>
                  <a:srgbClr val="002060"/>
                </a:solidFill>
              </a:rPr>
              <a:t>poolq_loo</a:t>
            </a:r>
            <a:r>
              <a:rPr sz="1050" dirty="0"/>
              <a:t> (teammate quality, leave-one-out) — a </a:t>
            </a:r>
            <a:r>
              <a:rPr sz="1050" dirty="0">
                <a:solidFill>
                  <a:srgbClr val="002060"/>
                </a:solidFill>
              </a:rPr>
              <a:t>bend</a:t>
            </a:r>
            <a:r>
              <a:rPr sz="1050" dirty="0"/>
              <a:t> at the top bins.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This deck: fraction selected vs </a:t>
            </a:r>
            <a:r>
              <a:rPr sz="1050" b="1" dirty="0"/>
              <a:t>pool mean</a:t>
            </a:r>
            <a:r>
              <a:rPr sz="1050" dirty="0"/>
              <a:t> in a fake league — same </a:t>
            </a:r>
            <a:r>
              <a:rPr sz="1050" i="1" dirty="0"/>
              <a:t>kind</a:t>
            </a:r>
            <a:r>
              <a:rPr sz="1050" dirty="0"/>
              <a:t> of question, different axis and league.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Benchmarks anchor to the Alex 539 playground track so sim slides stay comparable</a:t>
            </a:r>
            <a:endParaRPr lang="en-US" sz="105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W</a:t>
            </a:r>
            <a:r>
              <a:rPr sz="1050" dirty="0"/>
              <a:t>e have </a:t>
            </a:r>
            <a:r>
              <a:rPr sz="1050" b="1" dirty="0"/>
              <a:t>not</a:t>
            </a:r>
            <a:r>
              <a:rPr sz="1050" dirty="0"/>
              <a:t> re-fit those numbers to NCAA data in Phase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9" y="6126480"/>
            <a:ext cx="73491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100" dirty="0"/>
              <a:t>Claim: Phase B maps which generative knobs move</a:t>
            </a:r>
            <a:r>
              <a:rPr lang="en-US" sz="1100" dirty="0"/>
              <a:t> </a:t>
            </a:r>
            <a:r>
              <a:rPr sz="1100" i="1" dirty="0">
                <a:solidFill>
                  <a:srgbClr val="FF0000"/>
                </a:solidFill>
              </a:rPr>
              <a:t>who gets selected</a:t>
            </a:r>
            <a:r>
              <a:rPr sz="1100" dirty="0"/>
              <a:t> — prerequisite before Phase C calibration to the hero.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ρ</a:t>
            </a:r>
            <a:r>
              <a:rPr sz="2000" dirty="0"/>
              <a:t> (assignment assortativity) — sort-and-chop shown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:r>
                  <a:rPr lang="el-GR" sz="1100" i="1" dirty="0">
                    <a:latin typeface="Cambria Math"/>
                  </a:rPr>
                  <a:t>ρ</a:t>
                </a:r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100" dirty="0"/>
                  <a:t> 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:r>
                  <a:rPr lang="el-GR" dirty="0"/>
                  <a:t>ρ)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050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5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05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5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05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50" i="1" dirty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5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arms: </a:t>
                </a: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 ∈ {0.1, 1, 8, 32} </m:t>
                    </m:r>
                  </m:oMath>
                </a14:m>
                <a:r>
                  <a:rPr lang="el-GR" sz="1050" dirty="0"/>
                  <a:t>+ </a:t>
                </a:r>
                <a:r>
                  <a:rPr lang="en-US" sz="1050" dirty="0"/>
                  <a:t>sort-and-chop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by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vs pool mean (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50" dirty="0"/>
                  <a:t> bins)</a:t>
                </a:r>
                <a:endParaRPr sz="105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54" y="768096"/>
            <a:ext cx="5982875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: assortative matching — peer environments concentrate; inverted-</a:t>
                </a:r>
                <a:r>
                  <a:rPr sz="900" i="1" dirty="0">
                    <a:latin typeface="Cambria Math"/>
                  </a:rPr>
                  <a:t>U</a:t>
                </a:r>
                <a:r>
                  <a:rPr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Sort-and-chop benchmark: hard rank match (same score rule as soft arms).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in assignment matters — low-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mixing yields a nearly flat curve; high-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 — sort-and-chop suppressed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blipFill>
                <a:blip r:embed="rId2"/>
                <a:stretch>
                  <a:fillRect l="-72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top-𝐾fixed)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:r>
                  <a:rPr lang="el-GR" dirty="0"/>
                  <a:t>ρ)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1000" b="1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000" b="1" i="1" dirty="0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  <m:t>𝛒</m:t>
                              </m:r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10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𝑨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1000" b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000" b="1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{0.1, 1, 8, 32}</m:t>
                    </m:r>
                  </m:oMath>
                </a14:m>
                <a:endParaRPr lang="el-GR" sz="10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00" dirty="0"/>
                  <a:t> 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800" i="1" baseline="-25000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00" dirty="0"/>
                  <a:t> bins)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994" y="768096"/>
            <a:ext cx="6055395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assortative matching — peer environments concentrate; inverted-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arm omitted from plot (still in CSV bundle; toggle restores it).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in assignment matters — low-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mixing yields a nearly flat curve; high-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λ</a:t>
            </a:r>
            <a:r>
              <a:rPr sz="2000"/>
              <a:t> (congestion in score)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(assign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fixed)</a:t>
                </a: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/>
              </a:p>
              <a:p>
                <a:pPr>
                  <a:spcAft>
                    <a:spcPts val="0"/>
                  </a:spcAft>
                </a:p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 (soft assign; same roster all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{0, 0.25, 0.55, 1}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blipFill>
                <a:blip r:embed="rId2"/>
                <a:stretch>
                  <a:fillRect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032" y="768096"/>
            <a:ext cx="6333319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+ one assignment 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SCORE 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only — selection vs pool mean stays roughly monotone.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900" dirty="0"/>
                  <a:t>: congestion in score —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/ roster-pressure readout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Pairs with Pass C: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900" dirty="0"/>
                  <a:t> bends score;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shapes the sorted roster world.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in score matters —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yields a roughly monotone talent ladder;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sz="1100" dirty="0"/>
                  <a:t>puts roster pressure in the advancement rule and bends the curve.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cutline) — OAT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blipFill>
                <a:blip r:embed="rId2"/>
                <a:stretch>
                  <a:fillRect l="-88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— one-at-a-time at 539 baseline (assign + score + top-𝐾fixed)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>
                  <a:spcAft>
                    <a:spcPts val="0"/>
                  </a:spcAft>
                </a:pPr>
                <a:endParaRPr lang="ar-AE" sz="11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=0.55, 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 =10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</m:oMath>
                </a14:m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 10% (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=5600)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39" y="768096"/>
            <a:ext cx="6859304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soft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=0.55,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900" dirty="0"/>
                  <a:t>fixed;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900" dirty="0"/>
                  <a:t>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=0.50 </m:t>
                    </m:r>
                  </m:oMath>
                </a14:m>
                <a:r>
                  <a:rPr lang="en-US" sz="900" dirty="0"/>
                  <a:t>: mid-pool hump (peak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900" dirty="0"/>
                  <a:t>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=0.72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(539 default): similar hump, slightly higher peak rate.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: top bins dominate — curve becomes monotone-increasing at the elite edge.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blipFill>
                <a:blip r:embed="rId5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0" dirty="0" smtClean="0"/>
                      <m:t>𝐚𝐧𝐝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=10%, </m:t>
                    </m:r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(viability cutline) moves the readout — low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keeps a mid-pool hump; high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top-saturates the curve.</a:t>
                </a:r>
                <a:endParaRPr sz="11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311A-4434-F6F0-8F94-73C67C39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5B8C41-7DF7-E2AC-9273-4A08C9AA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5244" y="1301496"/>
            <a:ext cx="6566437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err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/>
                      <m:t>At</m:t>
                    </m:r>
                    <m:r>
                      <a:rPr lang="en-US" sz="900" i="0" dirty="0" smtClean="0"/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164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68" y="768096"/>
            <a:ext cx="6882846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/>
                      <m:t>At</m:t>
                    </m:r>
                    <m:r>
                      <a:rPr lang="en-US" sz="900" i="0" dirty="0" smtClean="0"/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60" y="1100314"/>
            <a:ext cx="8436855" cy="28797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sharpness) — selection curves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blipFill>
                <a:blip r:embed="rId3"/>
                <a:stretch>
                  <a:fillRect l="-896" t="-9375" r="-71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ar-AE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1000" dirty="0"/>
                  <a:t>fixed; sort-and-chop assign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5, 10, 20</m:t>
                        </m:r>
                      </m:e>
                    </m:d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within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0, 0.25, 0.55, 0.75, 1.0</m:t>
                        </m:r>
                      </m:e>
                    </m:d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:r>
                  <a:rPr lang="en-US" sz="1000" i="1" dirty="0">
                    <a:latin typeface="Cambria Math"/>
                  </a:rPr>
                  <a:t>Y</a:t>
                </a:r>
                <a:r>
                  <a:rPr lang="en-US" sz="800" i="1" baseline="-25000" dirty="0">
                    <a:latin typeface="Cambria Math"/>
                  </a:rPr>
                  <a:t>selected</a:t>
                </a:r>
                <a:r>
                  <a:rPr lang="en-US" sz="1000" dirty="0"/>
                  <a:t> 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blipFill>
                <a:blip r:embed="rId4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Sort-and-chop benchmark: same rosters per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in score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=5: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≈0.8 </m:t>
                    </m:r>
                  </m:oMath>
                </a14:m>
                <a:r>
                  <a:rPr sz="900" dirty="0"/>
                  <a:t>— hump needs larger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539</m:t>
                        </m:r>
                      </m:e>
                    </m:d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≈0.4 </m:t>
                    </m:r>
                  </m:oMath>
                </a14:m>
                <a:r>
                  <a:rPr sz="900" dirty="0"/>
                  <a:t>— curve morph near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=20: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≈0.2 </m:t>
                    </m:r>
                  </m:oMath>
                </a14:m>
                <a:r>
                  <a:rPr sz="900" dirty="0"/>
                  <a:t>— congestion reorders at modest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Below crit: monotone elite-edge shape; above crit: inverted-</a:t>
                </a:r>
                <a:r>
                  <a:rPr sz="900" i="1" dirty="0">
                    <a:latin typeface="Cambria Math"/>
                  </a:rPr>
                  <a:t>U</a:t>
                </a:r>
                <a:r>
                  <a:rPr sz="900" dirty="0"/>
                  <a:t> / hump.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(sigmoid slope in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/>
                  <a:t>) shifts when congestion bites — higher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lowers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≈4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on sort-and-chop; below crit,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arms can look identical.</a:t>
                </a:r>
                <a:endParaRPr sz="11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≈4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 </a:t>
                </a:r>
                <a:r>
                  <a:rPr sz="2000" dirty="0"/>
                  <a:t>(sort-and-chop algebra)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blipFill>
                <a:blip r:embed="rId2"/>
                <a:stretch>
                  <a:fillRect l="-1225" t="-9375" r="-24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Educational: how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dirty="0"/>
                  <a:t> </a:t>
                </a:r>
                <a:r>
                  <a:rPr sz="1000" dirty="0"/>
                  <a:t>shapes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000" dirty="0"/>
                  <a:t> along ability axis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vertical lines: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for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539 defaults: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=10 →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= 0.4</m:t>
                    </m:r>
                  </m:oMath>
                </a14:m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Pairs with sort-and-chop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threshold memo (doc 06)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blipFill>
                <a:blip r:embed="rId3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768096"/>
            <a:ext cx="7007047" cy="31772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Soft viability: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dirty="0"/>
                  <a:t>— not a hard step;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900" dirty="0"/>
                  <a:t> </a:t>
                </a:r>
                <a:r>
                  <a:rPr sz="900" dirty="0"/>
                  <a:t>sets knee steepness.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On sort-and-chop, </a:t>
                </a:r>
                <a:r>
                  <a:rPr sz="900" i="1" dirty="0">
                    <a:latin typeface="Cambria Math"/>
                  </a:rPr>
                  <a:t>A</a:t>
                </a:r>
                <a:r>
                  <a:rPr sz="800" i="1" baseline="-25000" dirty="0">
                    <a:latin typeface="Cambria Math"/>
                  </a:rPr>
                  <a:t>i</a:t>
                </a:r>
                <a:r>
                  <a:rPr sz="9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900" i="1" dirty="0">
                    <a:latin typeface="Cambria Math"/>
                  </a:rPr>
                  <a:t>L</a:t>
                </a:r>
                <a:r>
                  <a:rPr sz="800" i="1" baseline="-25000" dirty="0">
                    <a:latin typeface="Cambria Math"/>
                  </a:rPr>
                  <a:t>C</a:t>
                </a:r>
                <a:r>
                  <a:rPr sz="900" dirty="0"/>
                  <a:t> within teams → small </a:t>
                </a:r>
                <a:r>
                  <a:rPr sz="900" i="1" dirty="0">
                    <a:latin typeface="Cambria Math"/>
                  </a:rPr>
                  <a:t>λ</a:t>
                </a:r>
                <a:r>
                  <a:rPr sz="900" dirty="0"/>
                  <a:t> may not reorder top-</a:t>
                </a:r>
                <a:r>
                  <a:rPr sz="900" i="1" dirty="0">
                    <a:latin typeface="Cambria Math"/>
                  </a:rPr>
                  <a:t>K</a:t>
                </a:r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 :  </a:t>
                </a:r>
                <a:r>
                  <a:rPr sz="900" dirty="0"/>
                  <a:t>first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where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changes who gets selected.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Visual curve departure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900" dirty="0"/>
                  <a:t> bins can lag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— use finer bins or check reorder.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Ties to Alex Q: why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900" dirty="0"/>
                  <a:t> 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sz="900" dirty="0"/>
                  <a:t> match until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&gt;4/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</a:t>
                </a:r>
                <a:r>
                  <a:rPr sz="1100" dirty="0"/>
                  <a:t>is the first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where score reorder beats talent-only on sort-and-chop — not when the curve visually departs from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in coarse bins.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1942</Words>
  <Application>Microsoft Macintosh PowerPoint</Application>
  <PresentationFormat>Widescreen</PresentationFormat>
  <Paragraphs>167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10</cp:revision>
  <cp:lastPrinted>2026-08-04T17:29:11Z</cp:lastPrinted>
  <dcterms:created xsi:type="dcterms:W3CDTF">2013-01-27T09:14:16Z</dcterms:created>
  <dcterms:modified xsi:type="dcterms:W3CDTF">2026-08-04T18:14:05Z</dcterms:modified>
  <cp:category/>
</cp:coreProperties>
</file>