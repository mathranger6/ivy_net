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46"/>
    <p:restoredTop sz="94652"/>
  </p:normalViewPr>
  <p:slideViewPr>
    <p:cSldViewPr snapToGrid="0" snapToObjects="1">
      <p:cViewPr varScale="1">
        <p:scale>
          <a:sx n="335" d="100"/>
          <a:sy n="335" d="100"/>
        </p:scale>
        <p:origin x="19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 dirty="0"/>
              <a:t>Phase B — Characterize </a:t>
            </a:r>
            <a:r>
              <a:rPr sz="2000" i="1" dirty="0">
                <a:latin typeface="Cambria Math"/>
              </a:rPr>
              <a:t>ρ</a:t>
            </a:r>
            <a:r>
              <a:rPr sz="2000" dirty="0"/>
              <a:t> (assignment assortativity) — sort-and-chop shown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897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:r>
                  <a:rPr lang="el-GR" sz="1100" i="1" dirty="0">
                    <a:latin typeface="Cambria Math"/>
                  </a:rPr>
                  <a:t>ρ</a:t>
                </a:r>
                <a:r>
                  <a:rPr lang="el-GR" sz="1100" dirty="0"/>
                  <a:t> — </a:t>
                </a:r>
                <a:r>
                  <a:rPr lang="en-US" sz="1100" dirty="0"/>
                  <a:t>one-at-a-time at 539 baseline (score +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100" dirty="0"/>
                  <a:t> fixed)</a:t>
                </a:r>
              </a:p>
              <a:p>
                <a:pPr>
                  <a:spcAft>
                    <a:spcPts val="0"/>
                  </a:spcAft>
                  <a:defRPr sz="1000" b="1"/>
                </a:pPr>
                <a:r>
                  <a:rPr lang="en-US" dirty="0"/>
                  <a:t>ASSIGN (knob </a:t>
                </a:r>
                <a:r>
                  <a:rPr lang="el-GR" dirty="0"/>
                  <a:t>ρ) — </a:t>
                </a:r>
                <a:r>
                  <a:rPr lang="en-US" dirty="0"/>
                  <a:t>LaTeX:</a:t>
                </a: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000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000" dirty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0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000" dirty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000" dirty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1000" dirty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en-US" sz="1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0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000" dirty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000" dirty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000" dirty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0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000" dirty="0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000" dirty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0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10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en-US" sz="1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000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sz="10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1000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sz="1000" i="1" dirty="0">
                        <a:latin typeface="Cambria Math" panose="02040503050406030204" pitchFamily="18" charset="0"/>
                      </a:rPr>
                      <m:t>=0.65 </m:t>
                    </m:r>
                  </m:oMath>
                </a14:m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 ∈ {0.1, 1, 8, 32} </m:t>
                    </m:r>
                  </m:oMath>
                </a14:m>
                <a:r>
                  <a:rPr lang="el-GR" sz="1000" dirty="0"/>
                  <a:t>+ </a:t>
                </a:r>
                <a:r>
                  <a:rPr lang="en-US" sz="1000" dirty="0"/>
                  <a:t>sort-and-chop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− 0.55 · 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(crowding in score held constant across arms)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top-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by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1000" dirty="0"/>
                  <a:t> bins)</a:t>
                </a:r>
                <a:endParaRPr sz="1000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897507"/>
              </a:xfrm>
              <a:prstGeom prst="rect">
                <a:avLst/>
              </a:prstGeom>
              <a:blipFill>
                <a:blip r:embed="rId2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54" y="768096"/>
            <a:ext cx="5982875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dirty="0"/>
              <a:t>OAT: one draw of </a:t>
            </a:r>
            <a:r>
              <a:rPr sz="900" i="1" dirty="0">
                <a:latin typeface="Cambria Math"/>
              </a:rPr>
              <a:t>A</a:t>
            </a:r>
            <a:r>
              <a:rPr sz="800" i="1" baseline="-25000" dirty="0">
                <a:latin typeface="Cambria Math"/>
              </a:rPr>
              <a:t>i</a:t>
            </a:r>
            <a:r>
              <a:rPr lang="en-US" sz="800" i="1" baseline="-25000" dirty="0">
                <a:latin typeface="Cambria Math"/>
              </a:rPr>
              <a:t> </a:t>
            </a:r>
            <a:r>
              <a:rPr sz="900" dirty="0"/>
              <a:t>, </a:t>
            </a:r>
            <a:r>
              <a:rPr sz="900" i="1" dirty="0" err="1">
                <a:latin typeface="Cambria Math"/>
              </a:rPr>
              <a:t>T</a:t>
            </a:r>
            <a:r>
              <a:rPr sz="800" i="1" baseline="-25000" dirty="0" err="1">
                <a:latin typeface="Cambria Math"/>
              </a:rPr>
              <a:t>j</a:t>
            </a:r>
            <a:r>
              <a:rPr sz="900" dirty="0"/>
              <a:t> (seed </a:t>
            </a:r>
            <a:r>
              <a:rPr sz="900" i="1" dirty="0">
                <a:latin typeface="Cambria Math"/>
              </a:rPr>
              <a:t>42</a:t>
            </a:r>
            <a:r>
              <a:rPr sz="900" dirty="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dirty="0"/>
              <a:t>Low </a:t>
            </a:r>
            <a:r>
              <a:rPr sz="900" i="1" dirty="0">
                <a:latin typeface="Cambria Math"/>
              </a:rPr>
              <a:t>ρ</a:t>
            </a:r>
            <a:r>
              <a:rPr lang="en-US" sz="900" i="1" dirty="0">
                <a:latin typeface="Cambria Math"/>
              </a:rPr>
              <a:t> </a:t>
            </a:r>
            <a:r>
              <a:rPr sz="900" dirty="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dirty="0"/>
              <a:t>High </a:t>
            </a:r>
            <a:r>
              <a:rPr sz="900" i="1" dirty="0">
                <a:latin typeface="Cambria Math"/>
              </a:rPr>
              <a:t>ρ</a:t>
            </a:r>
            <a:r>
              <a:rPr lang="en-US" sz="900" i="1" dirty="0">
                <a:latin typeface="Cambria Math"/>
              </a:rPr>
              <a:t> </a:t>
            </a:r>
            <a:r>
              <a:rPr sz="900" dirty="0"/>
              <a:t>: assortative matching — peer environments concentrate; inverted-</a:t>
            </a:r>
            <a:r>
              <a:rPr sz="900" i="1" dirty="0">
                <a:latin typeface="Cambria Math"/>
              </a:rPr>
              <a:t>U</a:t>
            </a:r>
            <a:r>
              <a:rPr sz="900" dirty="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dirty="0"/>
              <a:t>Sort-and-chop benchmark: hard rank match (same score rule as soft arms).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9847055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at fixed score and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dirty="0"/>
                  <a:t>, </a:t>
                </a:r>
                <a:r>
                  <a:rPr sz="1100" i="1" dirty="0">
                    <a:latin typeface="Cambria Math"/>
                  </a:rPr>
                  <a:t>ρ</a:t>
                </a:r>
                <a:r>
                  <a:rPr sz="1100" dirty="0"/>
                  <a:t> in assignment matters — low-</a:t>
                </a:r>
                <a:r>
                  <a:rPr sz="1100" i="1" dirty="0">
                    <a:latin typeface="Cambria Math"/>
                  </a:rPr>
                  <a:t>ρ</a:t>
                </a:r>
                <a:r>
                  <a:rPr sz="1100" dirty="0"/>
                  <a:t> mixing yields a nearly flat curve; high-</a:t>
                </a:r>
                <a:r>
                  <a:rPr sz="1100" i="1" dirty="0">
                    <a:latin typeface="Cambria Math"/>
                  </a:rPr>
                  <a:t>ρ</a:t>
                </a:r>
                <a:r>
                  <a:rPr sz="1100" dirty="0"/>
                  <a:t> assortativity delivers the peer-pressure inverted-</a:t>
                </a:r>
                <a:r>
                  <a:rPr sz="1100" i="1" dirty="0">
                    <a:latin typeface="Cambria Math"/>
                  </a:rPr>
                  <a:t>U</a:t>
                </a:r>
                <a:r>
                  <a:rPr sz="1100" dirty="0"/>
                  <a:t> readout.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847055" cy="261610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880446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dirty="0"/>
                  <a:t> (assignment assortativity) — sort-and-chop suppressed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8804462" cy="400110"/>
              </a:xfrm>
              <a:prstGeom prst="rect">
                <a:avLst/>
              </a:prstGeom>
              <a:blipFill>
                <a:blip r:embed="rId2"/>
                <a:stretch>
                  <a:fillRect l="-720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897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l-GR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l-GR" sz="1100" dirty="0"/>
                  <a:t> — </a:t>
                </a:r>
                <a:r>
                  <a:rPr lang="en-US" sz="1100" dirty="0"/>
                  <a:t>one-at-a-time at 539 baseline (score + top-𝐾fixed)</a:t>
                </a:r>
              </a:p>
              <a:p>
                <a:pPr>
                  <a:spcAft>
                    <a:spcPts val="0"/>
                  </a:spcAft>
                  <a:defRPr sz="1000" b="1"/>
                </a:pPr>
                <a:r>
                  <a:rPr lang="en-US" dirty="0"/>
                  <a:t>ASSIGN (knob </a:t>
                </a:r>
                <a:r>
                  <a:rPr lang="el-GR" dirty="0"/>
                  <a:t>ρ) — </a:t>
                </a:r>
                <a:r>
                  <a:rPr lang="en-US" dirty="0"/>
                  <a:t>LaTeX:</a:t>
                </a: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000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ar-AE" sz="1000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ar-AE" sz="1000" dirty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ar-AE" sz="10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000" dirty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ar-AE" sz="1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00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1000" dirty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ar-AE" sz="1000" dirty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ar-AE" sz="1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ar-AE" sz="1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ar-AE" sz="1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ar-AE" sz="10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sz="1000" dirty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sz="1000" dirty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ar-AE" sz="1000" dirty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ar-AE" sz="10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sz="1000" dirty="0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sz="1000" dirty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0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ar-AE" sz="10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ar-AE" sz="1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sz="1000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ar-AE" sz="10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ar-AE" sz="1000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sz="1000" i="1" dirty="0">
                        <a:latin typeface="Cambria Math" panose="02040503050406030204" pitchFamily="18" charset="0"/>
                      </a:rPr>
                      <m:t>=0.65</m:t>
                    </m:r>
                  </m:oMath>
                </a14:m>
                <a:r>
                  <a:rPr lang="el-GR" sz="1000" dirty="0"/>
                  <a:t> </a:t>
                </a:r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 ∈ {0.1, 1, 8, 32}</m:t>
                    </m:r>
                  </m:oMath>
                </a14:m>
                <a:endParaRPr lang="el-GR" sz="1000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− 0.55 · 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(crowding in score held constant across arms)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top-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000" dirty="0"/>
                  <a:t> by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800" i="1" baseline="-25000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1000" dirty="0"/>
                  <a:t> bins)</a:t>
                </a:r>
                <a:endParaRPr sz="1000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897507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994" y="768096"/>
            <a:ext cx="6055395" cy="38953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657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OAT: one draw of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(seed </a:t>
                </a:r>
                <a:r>
                  <a:rPr lang="en-US" sz="900" i="1" dirty="0">
                    <a:latin typeface="Cambria Math"/>
                  </a:rPr>
                  <a:t>42</a:t>
                </a:r>
                <a:r>
                  <a:rPr lang="en-US" sz="900" dirty="0"/>
                  <a:t>); only ASSIGN changes across arms.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Low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900" dirty="0"/>
                  <a:t>: players mix across teams — selection vs pool mean stays nearly flat.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High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900" dirty="0"/>
                  <a:t>: assortative matching — peer environments concentrate; inverted-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900" dirty="0"/>
                  <a:t> emerges.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Sort-and-chop arm omitted from plot (still in CSV bundle; toggle restores it).</a:t>
                </a:r>
                <a:endParaRPr sz="90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657424"/>
              </a:xfrm>
              <a:prstGeom prst="rect">
                <a:avLst/>
              </a:prstGeom>
              <a:blipFill>
                <a:blip r:embed="rId5"/>
                <a:stretch>
                  <a:fillRect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9847055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at fixed score and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dirty="0"/>
                  <a:t>,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in assignment matters — low-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dirty="0"/>
                  <a:t> mixing yields a nearly flat curve; high-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assortativity delivers the peer-pressure inverted-</a:t>
                </a:r>
                <a:r>
                  <a:rPr sz="1100" i="1" dirty="0">
                    <a:latin typeface="Cambria Math"/>
                  </a:rPr>
                  <a:t>U</a:t>
                </a:r>
                <a:r>
                  <a:rPr sz="1100" dirty="0"/>
                  <a:t> readout.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847055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λ</a:t>
            </a:r>
            <a:r>
              <a:rPr sz="2000"/>
              <a:t> (congestion in score)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98462" cy="18598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l-GR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l-GR" sz="1100" dirty="0"/>
                  <a:t> — </a:t>
                </a:r>
                <a:r>
                  <a:rPr lang="en-US" sz="1100" dirty="0"/>
                  <a:t>one-at-a-time at 539 baseline (assign +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fixed)</a:t>
                </a:r>
              </a:p>
              <a:p>
                <a:pPr>
                  <a:spcAft>
                    <a:spcPts val="0"/>
                  </a:spcAft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/>
              </a:p>
              <a:p>
                <a:pPr>
                  <a:spcAft>
                    <a:spcPts val="0"/>
                  </a:spcAft>
                </a:p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fixed (soft assign; same roster all arms)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=0.65 </m:t>
                    </m:r>
                  </m:oMath>
                </a14:m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l-GR" sz="1000" i="1" dirty="0" smtClean="0">
                        <a:latin typeface="Cambria Math" panose="02040503050406030204" pitchFamily="18" charset="0"/>
                      </a:rPr>
                      <m:t> ∈ {0, 0.25, 0.55, 1}</m:t>
                    </m:r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top-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by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16 </m:t>
                    </m:r>
                  </m:oMath>
                </a14:m>
                <a:r>
                  <a:rPr lang="en-US" sz="1000" dirty="0"/>
                  <a:t>bins)</a:t>
                </a:r>
                <a:endParaRPr sz="1000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98462" cy="1859868"/>
              </a:xfrm>
              <a:prstGeom prst="rect">
                <a:avLst/>
              </a:prstGeom>
              <a:blipFill>
                <a:blip r:embed="rId2"/>
                <a:stretch>
                  <a:fillRect b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0032" y="768096"/>
            <a:ext cx="6333319" cy="38953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11480" y="4693111"/>
                <a:ext cx="11368735" cy="657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OAT: one draw of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+ one assignment (seed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42</m:t>
                    </m:r>
                  </m:oMath>
                </a14:m>
                <a:r>
                  <a:rPr lang="en-US" sz="900" dirty="0"/>
                  <a:t>); only SCORE changes.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=0: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only — selection vs pool mean stays roughly monotone.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900" dirty="0"/>
                  <a:t>: congestion in score — inverted-</a:t>
                </a:r>
                <a:r>
                  <a:rPr lang="en-US" sz="900" i="1" dirty="0">
                    <a:latin typeface="Cambria Math"/>
                  </a:rPr>
                  <a:t>U</a:t>
                </a:r>
                <a:r>
                  <a:rPr lang="en-US" sz="900" dirty="0"/>
                  <a:t> / roster-pressure readout emerges.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Pairs with Pass C: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900" dirty="0"/>
                  <a:t> bends score;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900" dirty="0"/>
                  <a:t> shapes the sorted roster world.</a:t>
                </a:r>
                <a:endParaRPr sz="90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93111"/>
                <a:ext cx="11368735" cy="657424"/>
              </a:xfrm>
              <a:prstGeom prst="rect">
                <a:avLst/>
              </a:prstGeom>
              <a:blipFill>
                <a:blip r:embed="rId4"/>
                <a:stretch>
                  <a:fillRect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10050637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at fixed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dirty="0"/>
                  <a:t> and top-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dirty="0"/>
                  <a:t>,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dirty="0"/>
                  <a:t> in score matters —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sz="1100" dirty="0"/>
                  <a:t>yields a roughly monotone talent ladder;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sz="1100" dirty="0"/>
                  <a:t>puts roster pressure in the advancement rule and bends the curve.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10050637" cy="261610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714599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 </a:t>
                </a:r>
                <a:r>
                  <a:rPr sz="2000" dirty="0"/>
                  <a:t>(viability cutline) — OAT 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=10%</m:t>
                    </m:r>
                  </m:oMath>
                </a14:m>
                <a:endParaRPr sz="2000" i="1" dirty="0">
                  <a:latin typeface="Cambria Math"/>
                </a:endParaRP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7145995" cy="400110"/>
              </a:xfrm>
              <a:prstGeom prst="rect">
                <a:avLst/>
              </a:prstGeom>
              <a:blipFill>
                <a:blip r:embed="rId2"/>
                <a:stretch>
                  <a:fillRect l="-887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11479" y="768096"/>
                <a:ext cx="4615823" cy="15210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— one-at-a-time at 539 baseline (assign + score + top-𝐾fixed)</a:t>
                </a: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900" i="1" baseline="-25000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1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ar-AE" sz="11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100" i="1" dirty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ctrlPr>
                                <a:rPr lang="ar-AE" sz="11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10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 sz="900" i="1" baseline="-25000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100" i="1" dirty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r>
                                <a:rPr lang="ar-AE" sz="1100" i="1" dirty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>
                  <a:spcAft>
                    <a:spcPts val="0"/>
                  </a:spcAft>
                </a:pPr>
                <a:endParaRPr lang="ar-AE" sz="1100" i="1" dirty="0">
                  <a:latin typeface="Cambria Math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=8, </m:t>
                    </m:r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ar-AE" sz="1000" i="1" dirty="0" smtClean="0">
                        <a:latin typeface="Cambria Math" panose="02040503050406030204" pitchFamily="18" charset="0"/>
                      </a:rPr>
                      <m:t>=0.55, </m:t>
                    </m:r>
                    <m:r>
                      <a:rPr lang="ar-AE" sz="1000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ar-AE" sz="1000" i="1" dirty="0">
                        <a:latin typeface="Cambria Math" panose="02040503050406030204" pitchFamily="18" charset="0"/>
                      </a:rPr>
                      <m:t> =10 </m:t>
                    </m:r>
                  </m:oMath>
                </a14:m>
                <a:r>
                  <a:rPr lang="en-US" sz="1000" dirty="0"/>
                  <a:t>fixed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arms: </a:t>
                </a:r>
                <a14:m>
                  <m:oMath xmlns:m="http://schemas.openxmlformats.org/officeDocument/2006/math">
                    <m:r>
                      <a:rPr lang="en-US" sz="1000" i="1" dirty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ar-AE" sz="1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i="1" dirty="0" smtClean="0">
                            <a:latin typeface="Cambria Math" panose="02040503050406030204" pitchFamily="18" charset="0"/>
                          </a:rPr>
                          <m:t>0.50, 0.72, 0.90</m:t>
                        </m:r>
                      </m:e>
                    </m:d>
                  </m:oMath>
                </a14:m>
                <a:endParaRPr lang="en-US" sz="1000" i="1" dirty="0">
                  <a:latin typeface="Cambria Math" panose="02040503050406030204" pitchFamily="18" charset="0"/>
                </a:endParaRP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10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= 10% (</m:t>
                    </m:r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=560, </m:t>
                    </m:r>
                    <m:r>
                      <m:rPr>
                        <m:sty m:val="p"/>
                      </m:rPr>
                      <a:rPr lang="ar-AE" sz="100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ar-AE" sz="1000" i="0" dirty="0" smtClean="0">
                        <a:latin typeface="Cambria Math" panose="02040503050406030204" pitchFamily="18" charset="0"/>
                      </a:rPr>
                      <m:t>=5600)</m:t>
                    </m:r>
                  </m:oMath>
                </a14:m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000" dirty="0"/>
                  <a:t>VISUALIZE = mean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𝑠𝑒𝑙𝑒𝑐𝑡𝑒𝑑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000" dirty="0"/>
                  <a:t>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16 </m:t>
                    </m:r>
                  </m:oMath>
                </a14:m>
                <a:r>
                  <a:rPr lang="en-US" sz="1000" dirty="0"/>
                  <a:t>bins)</a:t>
                </a:r>
                <a:endParaRPr sz="1000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9" y="768096"/>
                <a:ext cx="4615823" cy="1521057"/>
              </a:xfrm>
              <a:prstGeom prst="rect">
                <a:avLst/>
              </a:prstGeom>
              <a:blipFill>
                <a:blip r:embed="rId3"/>
                <a:stretch>
                  <a:fillRect b="-1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7039" y="768096"/>
            <a:ext cx="6859304" cy="38953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OAT: soft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=8,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=0.55,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sz="900" dirty="0"/>
                  <a:t>fixed; only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900" dirty="0"/>
                  <a:t> 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sz="900" dirty="0"/>
                  <a:t>changes.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=0.50 </m:t>
                    </m:r>
                  </m:oMath>
                </a14:m>
                <a:r>
                  <a:rPr sz="900" dirty="0"/>
                  <a:t>: mid-pool hump (peak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13</m:t>
                    </m:r>
                  </m:oMath>
                </a14:m>
                <a:r>
                  <a:rPr sz="900" dirty="0"/>
                  <a:t>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=0.72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900" dirty="0"/>
                  <a:t>(539 default): similar hump, slightly higher peak rate.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=0.90 </m:t>
                    </m:r>
                  </m:oMath>
                </a14:m>
                <a:r>
                  <a:rPr sz="900" dirty="0"/>
                  <a:t>: top bins dominate — curve becomes monotone-increasing at the elite edge.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646331"/>
              </a:xfrm>
              <a:prstGeom prst="rect">
                <a:avLst/>
              </a:prstGeom>
              <a:blipFill>
                <a:blip r:embed="rId5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8513421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lang="en-US" sz="1100" dirty="0"/>
                  <a:t>Claim: at fixed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100" i="0" dirty="0" smtClean="0"/>
                      <m:t>𝐚𝐧𝐝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=10%, </m:t>
                    </m:r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(viability cutline) moves the readout — low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keeps a mid-pool hump; high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top-saturates the curve.</a:t>
                </a:r>
                <a:endParaRPr sz="1100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8513421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6172780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— panel with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/>
                  <a:t>(selectivity)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6172780" cy="400110"/>
              </a:xfrm>
              <a:prstGeom prst="rect">
                <a:avLst/>
              </a:prstGeom>
              <a:blipFill>
                <a:blip r:embed="rId2"/>
                <a:stretch>
                  <a:fillRect l="-1027" t="-9375" r="-1027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5154598" cy="1406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lang="en-US"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100" dirty="0"/>
                  <a:t> — one-at-a-time at 539 baseline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varies; assign + score rule fixed)</a:t>
                </a:r>
              </a:p>
              <a:p>
                <a:pPr>
                  <a:spcAft>
                    <a:spcPts val="0"/>
                  </a:spcAft>
                </a:pPr>
                <a:endParaRPr lang="en-US" sz="11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900" i="1" baseline="-25000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100" i="1" dirty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sz="1100" b="0" i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100" b="0" i="0" dirty="0" smtClean="0">
                              <a:latin typeface="Cambria Math" panose="02040503050406030204" pitchFamily="18" charset="0"/>
                            </a:rPr>
                            <m:t>mean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100" b="0" i="0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11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sz="11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1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i="1" dirty="0" err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ar-AE" sz="1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100" i="1" dirty="0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ctrlPr>
                                <a:rPr lang="ar-AE" sz="11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1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 sz="900" i="1" baseline="-25000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ar-AE" sz="1100" i="1" dirty="0">
                                  <a:latin typeface="Cambria Math" panose="02040503050406030204" pitchFamily="18" charset="0"/>
                                </a:rPr>
                                <m:t> − </m:t>
                              </m:r>
                              <m:r>
                                <a:rPr lang="ar-AE" sz="110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sz="110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0"/>
                  </a:spcAft>
                </a:pPr>
                <a14:m/>
              </a:p>
              <a:p>
                <a:pPr>
                  <a:spcAft>
                    <a:spcPts val="0"/>
                  </a:spcAft>
                </a:pPr>
                <a:r>
                  <a:rPr lang="en-US" sz="1000" dirty="0"/>
                  <a:t>fixed</a:t>
                </a:r>
              </a:p>
              <a:p>
                <a:pPr>
                  <a:spcAft>
                    <a:spcPts val="0"/>
                  </a:spcAft>
                </a:pPr>
                <a:r>
                  <a:rPr lang="en-US" sz="1000" dirty="0"/>
                  <a:t> </a:t>
                </a:r>
                <a14:m/>
              </a:p>
              <a:p>
                <a:pPr>
                  <a:spcAft>
                    <a:spcPts val="0"/>
                  </a:spcAft>
                </a:pPr>
                <a:r>
                  <a:rPr lang="en-US" sz="1000" dirty="0"/>
                  <a:t>— heatmap = peak pool-mean bin</a:t>
                </a:r>
              </a:p>
              <a:p>
                <a:pPr>
                  <a:spcAft>
                    <a:spcPts val="0"/>
                  </a:spcAft>
                </a:pPr>
                <a:r>
                  <a:rPr lang="en-US" sz="1000" dirty="0"/>
                  <a:t>Readout: where the inverted-</a:t>
                </a:r>
                <a:r>
                  <a:rPr lang="en-US" sz="1000" i="1" dirty="0">
                    <a:latin typeface="Cambria Math"/>
                  </a:rPr>
                  <a:t>U</a:t>
                </a:r>
                <a:r>
                  <a:rPr lang="en-US" sz="1000" dirty="0"/>
                  <a:t> peak sits vs selectivity</a:t>
                </a:r>
                <a:endParaRPr sz="1000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5154598" cy="1406795"/>
              </a:xfrm>
              <a:prstGeom prst="rect">
                <a:avLst/>
              </a:prstGeom>
              <a:blipFill>
                <a:blip r:embed="rId3"/>
                <a:stretch>
                  <a:fillRect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268" y="768096"/>
            <a:ext cx="6882846" cy="38953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Grid: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ar-AE" sz="9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900" i="1" dirty="0">
                            <a:latin typeface="Cambria Math" panose="02040503050406030204" pitchFamily="18" charset="0"/>
                          </a:rPr>
                          <m:t>0.50, 0.72, 0.90</m:t>
                        </m:r>
                      </m:e>
                    </m:d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9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900" i="1" dirty="0">
                        <a:latin typeface="Cambria Math" panose="02040503050406030204" pitchFamily="18" charset="0"/>
                      </a:rPr>
                      <m:t> ∈ {1%, 10%, 4</m:t>
                    </m:r>
                    <m:r>
                      <a:rPr lang="ar-AE" sz="900" i="1" dirty="0" smtClean="0">
                        <a:latin typeface="Cambria Math" panose="02040503050406030204" pitchFamily="18" charset="0"/>
                      </a:rPr>
                      <m:t>0%} </m:t>
                    </m:r>
                  </m:oMath>
                </a14:m>
                <a:r>
                  <a:rPr lang="en-US" sz="900" dirty="0"/>
                  <a:t>on </a:t>
                </a:r>
                <a:r>
                  <a:rPr lang="en-US" sz="900" i="1" dirty="0">
                    <a:latin typeface="Cambria Math"/>
                  </a:rPr>
                  <a:t>N=5600</a:t>
                </a:r>
                <a:r>
                  <a:rPr lang="en-US"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At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=1%: </m:t>
                    </m:r>
                  </m:oMath>
                </a14:m>
                <a:r>
                  <a:rPr lang="en-US" sz="900" dirty="0"/>
                  <a:t>peak bin rises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6 →9 →12 </m:t>
                    </m:r>
                  </m:oMath>
                </a14:m>
                <a:r>
                  <a:rPr lang="en-US" sz="900" dirty="0"/>
                  <a:t>as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increases.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900" i="0" dirty="0" smtClean="0"/>
                      <m:t>At</m:t>
                    </m:r>
                    <m:r>
                      <a:rPr lang="en-US" sz="900" i="0" dirty="0" smtClean="0"/>
                      <m:t>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=10%: 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=0.90 </m:t>
                    </m:r>
                  </m:oMath>
                </a14:m>
                <a:r>
                  <a:rPr lang="en-US" sz="900" dirty="0"/>
                  <a:t>pushes peak to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(top saturation).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At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=40%</m:t>
                    </m:r>
                  </m:oMath>
                </a14:m>
                <a:r>
                  <a:rPr lang="en-US" sz="900" dirty="0"/>
                  <a:t>: all arms peak at bin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sz="900" dirty="0"/>
                  <a:t> — selectivity dominates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900" dirty="0"/>
                  <a:t>Do not fix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900" dirty="0"/>
                  <a:t>without Alex — panel is descriptive.</a:t>
                </a:r>
                <a:endParaRPr sz="90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9676047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and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100" dirty="0"/>
                  <a:t>co-vary — at MBB-like selectivity (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1%</m:t>
                    </m:r>
                  </m:oMath>
                </a14:m>
                <a:r>
                  <a:rPr sz="1100" dirty="0"/>
                  <a:t>) raising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 shifts peak bin up the pool ladder; at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sz="1100" dirty="0"/>
                  <a:t> selectivity curves are top-saturated regardless of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dirty="0"/>
                  <a:t>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676047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360" y="1100314"/>
            <a:ext cx="8436855" cy="287979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411480" y="256032"/>
                <a:ext cx="707238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b="1"/>
                </a:pPr>
                <a:r>
                  <a:rPr sz="2000" dirty="0"/>
                  <a:t>Phase B — Characterize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000" dirty="0"/>
                  <a:t>(viability sharpness) — selection curves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56032"/>
                <a:ext cx="7072385" cy="400110"/>
              </a:xfrm>
              <a:prstGeom prst="rect">
                <a:avLst/>
              </a:prstGeom>
              <a:blipFill>
                <a:blip r:embed="rId3"/>
                <a:stretch>
                  <a:fillRect l="-896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4817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dirty="0"/>
                  <a:t>— one-at-a-time (539 sort-and-chop benchmark)</a:t>
                </a:r>
              </a:p>
              <a:p>
                <a:pPr>
                  <a:spcAft>
                    <a:spcPts val="0"/>
                  </a:spcAft>
                </a:pPr>
                <a14:m/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fixed; sort-and-chop assign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arms: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∈ </m:t>
                    </m:r>
                    <m:d>
                      <m:dPr>
                        <m:begChr m:val="{"/>
                        <m:endChr m:val="}"/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5, 10, 20</m:t>
                        </m:r>
                      </m:e>
                    </m:d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within each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∈ </m:t>
                    </m:r>
                    <m:d>
                      <m:dPr>
                        <m:begChr m:val="{"/>
                        <m:endChr m:val="}"/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0, 0.25, 0.55, 0.75, 1.0</m:t>
                        </m:r>
                      </m:e>
                    </m:d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VISUALIZE = mean </a:t>
                </a:r>
                <a:r>
                  <a:rPr sz="1000" i="1" dirty="0">
                    <a:latin typeface="Cambria Math"/>
                  </a:rPr>
                  <a:t>Y</a:t>
                </a:r>
                <a:r>
                  <a:rPr sz="800" i="1" baseline="-25000" dirty="0">
                    <a:latin typeface="Cambria Math"/>
                  </a:rPr>
                  <a:t>selected</a:t>
                </a:r>
                <a:r>
                  <a:rPr sz="1000" dirty="0"/>
                  <a:t> vs pool mean (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16 </m:t>
                    </m:r>
                  </m:oMath>
                </a14:m>
                <a:r>
                  <a:rPr sz="1000" dirty="0"/>
                  <a:t>bins)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481752"/>
              </a:xfrm>
              <a:prstGeom prst="rect">
                <a:avLst/>
              </a:prstGeom>
              <a:blipFill>
                <a:blip r:embed="rId4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Sort-and-chop benchmark: same rosters per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dirty="0"/>
                  <a:t>; only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dirty="0"/>
                  <a:t>and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 in score change.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=5: </m:t>
                    </m:r>
                    <m:r>
                      <a:rPr lang="en-US" sz="900" i="1" dirty="0" err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≈0.8 </m:t>
                    </m:r>
                  </m:oMath>
                </a14:m>
                <a:r>
                  <a:rPr sz="900" dirty="0"/>
                  <a:t>— hump needs larger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=10 </m:t>
                    </m:r>
                    <m:d>
                      <m:d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539</m:t>
                        </m:r>
                      </m:e>
                    </m:d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sz="900" i="1" dirty="0" err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≈0.4 </m:t>
                    </m:r>
                  </m:oMath>
                </a14:m>
                <a:r>
                  <a:rPr sz="900" dirty="0"/>
                  <a:t>— curve morph near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≳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0.4</m:t>
                    </m:r>
                  </m:oMath>
                </a14:m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=20: </m:t>
                    </m:r>
                    <m:r>
                      <a:rPr lang="en-US" sz="900" i="1" dirty="0" err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≈0.2 </m:t>
                    </m:r>
                  </m:oMath>
                </a14:m>
                <a:r>
                  <a:rPr sz="900" dirty="0"/>
                  <a:t>— congestion reorders at modest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Below crit: monotone elite-edge shape; above crit: inverted-</a:t>
                </a:r>
                <a:r>
                  <a:rPr sz="900" i="1" dirty="0">
                    <a:latin typeface="Cambria Math"/>
                  </a:rPr>
                  <a:t>U</a:t>
                </a:r>
                <a:r>
                  <a:rPr sz="900" dirty="0"/>
                  <a:t> / hump.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784830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8613384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lang="en-US"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(sigmoid slope in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900" i="1" baseline="-25000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100" dirty="0"/>
                  <a:t>) shifts when congestion bites — higher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lowers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 ≈4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on sort-and-chop; below crit,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arms can look identical.</a:t>
                </a:r>
                <a:endParaRPr sz="1100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8613384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</a:t>
            </a:r>
            <a:r>
              <a:rPr sz="2000" i="1">
                <a:latin typeface="Cambria Math"/>
              </a:rPr>
              <a:t>λ</a:t>
            </a:r>
            <a:r>
              <a:rPr sz="1800" i="1" baseline="-25000">
                <a:latin typeface="Cambria Math"/>
              </a:rPr>
              <a:t>crit</a:t>
            </a:r>
            <a:r>
              <a:rPr sz="2000" i="1">
                <a:latin typeface="Cambria Math"/>
              </a:rPr>
              <a:t> \approx 4/\gamma</a:t>
            </a:r>
            <a:r>
              <a:rPr sz="2000"/>
              <a:t> (sort-and-chop algebra)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11480" y="768096"/>
                <a:ext cx="4160520" cy="1482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0"/>
                  </a:spcAft>
                  <a:defRPr b="1"/>
                </a:pPr>
                <a:r>
                  <a:rPr sz="1100" dirty="0"/>
                  <a:t>Characterize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dirty="0"/>
                  <a:t>— one-at-a-time (539 sort-and-chop benchmark)</a:t>
                </a:r>
              </a:p>
              <a:p>
                <a:pPr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900" i="1" baseline="3000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900" i="1" baseline="30000" dirty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11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  <m:d>
                      <m:d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Educational: how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000" dirty="0"/>
                  <a:t> </a:t>
                </a:r>
                <a:r>
                  <a:rPr sz="1000" dirty="0"/>
                  <a:t>shapes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800" i="1" baseline="-2500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sz="1000" dirty="0"/>
                  <a:t> along ability axis</a:t>
                </a:r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vertical lines: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000" dirty="0"/>
                  <a:t>for each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539 defaults: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=0.72,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=10 → 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= 0.4</m:t>
                    </m:r>
                  </m:oMath>
                </a14:m>
              </a:p>
              <a:p>
                <a:pPr marL="171450" indent="-171450">
                  <a:lnSpc>
                    <a:spcPct val="150000"/>
                  </a:lnSpc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dirty="0"/>
                  <a:t>Pairs with sort-and-chop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000" dirty="0"/>
                  <a:t>threshold memo (doc 06)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68096"/>
                <a:ext cx="4160520" cy="1482137"/>
              </a:xfrm>
              <a:prstGeom prst="rect">
                <a:avLst/>
              </a:prstGeom>
              <a:blipFill>
                <a:blip r:embed="rId2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768096"/>
            <a:ext cx="7007047" cy="317724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11480" y="4681728"/>
                <a:ext cx="11368735" cy="802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Soft viability: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90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900" dirty="0"/>
                  <a:t>— not a hard step;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900" dirty="0"/>
                  <a:t> </a:t>
                </a:r>
                <a:r>
                  <a:rPr sz="900" dirty="0"/>
                  <a:t>sets knee steepness.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On sort-and-chop, </a:t>
                </a:r>
                <a:r>
                  <a:rPr sz="900" i="1" dirty="0">
                    <a:latin typeface="Cambria Math"/>
                  </a:rPr>
                  <a:t>A</a:t>
                </a:r>
                <a:r>
                  <a:rPr sz="800" i="1" baseline="-25000" dirty="0">
                    <a:latin typeface="Cambria Math"/>
                  </a:rPr>
                  <a:t>i</a:t>
                </a:r>
                <a:r>
                  <a:rPr sz="900" i="1" dirty="0">
                    <a:latin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sz="900" i="1" dirty="0">
                    <a:latin typeface="Cambria Math"/>
                  </a:rPr>
                  <a:t>L</a:t>
                </a:r>
                <a:r>
                  <a:rPr sz="800" i="1" baseline="-25000" dirty="0">
                    <a:latin typeface="Cambria Math"/>
                  </a:rPr>
                  <a:t>C</a:t>
                </a:r>
                <a:r>
                  <a:rPr sz="900" dirty="0"/>
                  <a:t> within teams → small </a:t>
                </a:r>
                <a:r>
                  <a:rPr sz="900" i="1" dirty="0">
                    <a:latin typeface="Cambria Math"/>
                  </a:rPr>
                  <a:t>λ</a:t>
                </a:r>
                <a:r>
                  <a:rPr sz="900" dirty="0"/>
                  <a:t> may not reorder top-</a:t>
                </a:r>
                <a:r>
                  <a:rPr sz="900" i="1" dirty="0">
                    <a:latin typeface="Cambria Math"/>
                  </a:rPr>
                  <a:t>K</a:t>
                </a:r>
                <a:r>
                  <a:rPr sz="900" dirty="0"/>
                  <a:t>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 smtClean="0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900" dirty="0"/>
                  <a:t> :  </a:t>
                </a:r>
                <a:r>
                  <a:rPr sz="900" dirty="0"/>
                  <a:t>first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900" dirty="0"/>
                  <a:t> where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800" i="1" baseline="-25000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900" dirty="0"/>
                  <a:t>changes who gets selected.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Visual curve departure in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sz="900" dirty="0"/>
                  <a:t> bins can lag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8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900" dirty="0"/>
                  <a:t>— use finer bins or check reorder.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dirty="0"/>
                  <a:t>Ties to Alex Q: why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900" dirty="0"/>
                  <a:t> and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=0.25</m:t>
                    </m:r>
                  </m:oMath>
                </a14:m>
                <a:r>
                  <a:rPr sz="900" dirty="0"/>
                  <a:t> match until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dirty="0" smtClean="0">
                        <a:latin typeface="Cambria Math" panose="02040503050406030204" pitchFamily="18" charset="0"/>
                      </a:rPr>
                      <m:t> &gt;4/</m:t>
                    </m:r>
                    <m:r>
                      <a:rPr lang="en-US" sz="900" i="1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dirty="0"/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681728"/>
                <a:ext cx="11368735" cy="8026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11480" y="5971032"/>
                <a:ext cx="9006312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b="1"/>
                </a:pPr>
                <a:r>
                  <a:rPr sz="1100" dirty="0"/>
                  <a:t>Claim: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900" i="1" baseline="-25000" dirty="0" err="1">
                        <a:latin typeface="Cambria Math" panose="02040503050406030204" pitchFamily="18" charset="0"/>
                      </a:rPr>
                      <m:t>𝑐𝑟𝑖𝑡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</a:t>
                </a:r>
                <a:r>
                  <a:rPr sz="1100" dirty="0"/>
                  <a:t>is the first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dirty="0"/>
                  <a:t> where score reorder beats talent-only on sort-and-chop — not when the curve visually departs from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sz="1100" dirty="0"/>
                  <a:t>in coarse bins.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5971032"/>
                <a:ext cx="9006312" cy="261610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1304</Words>
  <Application>Microsoft Macintosh PowerPoint</Application>
  <PresentationFormat>Widescreen</PresentationFormat>
  <Paragraphs>97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2</cp:revision>
  <dcterms:created xsi:type="dcterms:W3CDTF">2013-01-27T09:14:16Z</dcterms:created>
  <dcterms:modified xsi:type="dcterms:W3CDTF">2026-08-03T23:59:26Z</dcterms:modified>
  <cp:category/>
</cp:coreProperties>
</file>