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2FB63-FA95-0AA3-D62C-6F29B7670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053F0D-809F-8702-773C-5BDC653A74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4D5BC-0E21-5CE6-DF65-E53D4E934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9D71A1-D2B0-B44F-D001-0941F94DB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C46AA-DDA7-7E5A-302D-B79BEBE51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92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D2F5-555C-06A2-CFF5-78652B1BB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B7D34-B426-59BA-6C8C-60D615D53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DD315-EEF0-AA7A-B41B-95132900E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90ABA-CFA0-16D2-1A7A-FC78AEC90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FCC55-D195-56F1-A456-877C2D5E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64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7A815-B30D-E74F-DB36-F49294741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66365-9A1D-8B0A-51F0-3019CAB4C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73F257-F143-6439-E8C7-F8787F39F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29B102-E18D-5BE3-2CB2-77FD23A3A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B4AF0F-95D8-8138-F1BB-BED807530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143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C7932-1415-5AC7-FF1C-E750D1C3B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B0D7F-4815-F245-3568-AE25B6C0DA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9851CE-9BFB-C723-FCBB-53A9D0F79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5622A4-0E4A-288D-A779-29BC958A7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B738D-AB70-6C1E-EC99-78BFF7223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B6E88-79F5-C995-DC48-4FF8D68EA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977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06CF7-C2A8-69F3-EA9C-32250E3D2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B31B2-C4CB-F60F-AF23-39FED2F7E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48DDD-DF3E-8E32-B7CE-7857B53B92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DB7A1A-02BC-4CA2-C38C-A7548884A8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F96289-849F-C834-EB35-FB7148B60F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0E4307-9281-BDA2-5B04-D309C9FD4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BFA752-C6CA-0DF6-076E-4EAEDCE9A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2755B5-A93E-90E6-5E8C-2BDDD9760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035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68E99-D394-C583-074F-23A8988D0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D388A5-62F9-30E9-16C4-D22B2E584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EC14AE-EE1A-364B-F517-472BCB37B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826D3-BE6E-5140-1AE0-515BD797E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48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A42C5B-0255-2F98-39EC-C83FA57FD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D115C2-2404-663C-19F5-FD6CC87D7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34AE7-FF3E-E11A-64EC-CAE9A14D7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491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7AB20-35C8-9B37-C952-A0B9F226A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8D33F-FF4B-86D4-5780-69EBD2884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14A1B5-72D3-B73E-2286-60D557A1D2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7930D-D6E5-3D1C-3964-0F1E9BDCE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8943E8-F3EA-53A9-9A50-1B7383A20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D0AB01-E901-43F6-A6AD-3677D91F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257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9272A-BD04-A5E8-A477-45894FCB0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F9077C-8D32-C850-C161-5F2EEBD9EA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072630-9368-77B7-1094-E49415039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D4D506-AE95-2CE4-781F-1E6F3253D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53C14D-F4BA-7A7C-BD10-ACCC0A935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769231-4450-7885-3F83-131EDD610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484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7D68F-70DC-E59B-9813-96CC695AA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C4C757-3F4C-47BB-E2D0-7C02524FA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111D3-4E98-2314-CBFA-89C7A58BF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F54F2-D597-5681-1000-C046F3B3D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F8381-1998-E778-856D-2E73C3D1B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038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138E0C-3CFD-45DD-843B-0174B4F6C8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86445-191F-BC1A-2ABA-FDD6631B0C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DF54B3-2D76-60ED-7D26-E8FA24B17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0D675-DA66-F59C-6284-EBB952357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CF5D4-9C6D-2C81-BF93-E0A5E4441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17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F2B5C4-D50D-ECDF-CA3C-C8A6FEAA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DA038-595B-BA03-FC41-ED7ED8F1F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AD72FC-D04B-3F43-6749-5A9B73A84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D28C31-378A-4545-9975-0DBAE21975E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99DD-932D-D032-4A88-147C4582B7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3133-DAC6-CAEE-FB13-4B3BADB4B2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15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51B03-E884-98A3-7F67-D94217D4CF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2D061F-19C2-9DAC-6603-536C44D4097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3398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220707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PD20 — Gibbs SELECT (temperature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)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220707" cy="400110"/>
              </a:xfrm>
              <a:prstGeom prst="rect">
                <a:avLst/>
              </a:prstGeom>
              <a:blipFill>
                <a:blip r:embed="rId2"/>
                <a:stretch>
                  <a:fillRect l="-1502" t="-9375" r="-601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981009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inverted-U before MLE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981009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384048" y="1033272"/>
                <a:ext cx="11423599" cy="45404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PD20: replace deterministic top-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with Gibbs rule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∝</m:t>
                    </m:r>
                    <m:func>
                      <m:func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r>
                  <a:rPr sz="2400" b="0" i="0" baseline="0" dirty="0">
                    <a:latin typeface="Calibri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in the denominator (stat-</a:t>
                </a:r>
                <a:r>
                  <a:rPr sz="2400" b="0" i="0" baseline="0" dirty="0" err="1">
                    <a:latin typeface="Calibri"/>
                  </a:rPr>
                  <a:t>phys</a:t>
                </a:r>
                <a:r>
                  <a:rPr sz="24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Sim bridge: rule D = Gibbs weights +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draws without replacement.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SCORE unchanged: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still in ASSIGN only.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Priority: sweep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sz="2400" b="0" i="0" baseline="0" dirty="0">
                    <a:latin typeface="Calibri"/>
                  </a:rPr>
                  <a:t> — prove inverted-U survives </a:t>
                </a:r>
                <a:r>
                  <a:rPr sz="2400" b="1" i="0" baseline="0" dirty="0">
                    <a:latin typeface="Calibri"/>
                  </a:rPr>
                  <a:t>before</a:t>
                </a:r>
                <a:r>
                  <a:rPr sz="2400" b="0" i="0" baseline="0" dirty="0">
                    <a:latin typeface="Calibri"/>
                  </a:rPr>
                  <a:t> MLE.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ASSIGN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SCORE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— score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(binding).</a:t>
                </a: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33272"/>
                <a:ext cx="11423599" cy="4540474"/>
              </a:xfrm>
              <a:prstGeom prst="rect">
                <a:avLst/>
              </a:prstGeom>
              <a:blipFill>
                <a:blip r:embed="rId4"/>
                <a:stretch>
                  <a:fillRect l="-889" b="-2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Goal: soft SELECT must not erase the phenomenological inverted-U on LOO pool quality.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233484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Temperature sweep — rule D (Gibbs +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draws)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233484" cy="400110"/>
              </a:xfrm>
              <a:prstGeom prst="rect">
                <a:avLst/>
              </a:prstGeom>
              <a:blipFill>
                <a:blip r:embed="rId2"/>
                <a:stretch>
                  <a:fillRect l="-1211" t="-9375" r="-24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633239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400" b="0" i="0" baseline="0" dirty="0">
                    <a:latin typeface="Calibri"/>
                  </a:rPr>
                  <a:t>MBB 2011-2021 ·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1.5,2</m:t>
                        </m:r>
                      </m:e>
                    </m:d>
                  </m:oMath>
                </a14:m>
                <a:r>
                  <a:rPr sz="14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en-US" sz="1400" b="0" i="0" baseline="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−3,3</m:t>
                        </m:r>
                      </m:e>
                    </m:d>
                  </m:oMath>
                </a14:m>
                <a:endParaRPr sz="14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633239" cy="307777"/>
              </a:xfrm>
              <a:prstGeom prst="rect">
                <a:avLst/>
              </a:prstGeom>
              <a:blipFill>
                <a:blip r:embed="rId3"/>
                <a:stretch>
                  <a:fillRect l="-697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GRANDCHILD_temperature_select_sweep_2011_20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540541"/>
            <a:ext cx="6671907" cy="547621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384048" y="1639824"/>
                <a:ext cx="3794760" cy="16843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SELECT: draft rate vs LOO (left) and pool mean (right) — Hero axes.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rule D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panels 1.5, 2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LOO: inverted u like.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inverted-U-like on LOO for 9/13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inverted-U-like on LOO for 10/13 $t$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near hard cut; hot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flattens toward uniform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-draws.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Pool mean often stays monotone — same PD17 readout limitation.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639824"/>
                <a:ext cx="3794760" cy="1684307"/>
              </a:xfrm>
              <a:prstGeom prst="rect">
                <a:avLst/>
              </a:prstGeom>
              <a:blipFill>
                <a:blip r:embed="rId5"/>
                <a:stretch>
                  <a:fillRect b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6127640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check LOO panels at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–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— does a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window preserve inverted-U vs empirical?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6127640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Cold limit — rule C vs rule 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453107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· same seeds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453107" cy="307777"/>
              </a:xfrm>
              <a:prstGeom prst="rect">
                <a:avLst/>
              </a:prstGeom>
              <a:blipFill>
                <a:blip r:embed="rId2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GRANDCHILD_temperature_cold_limit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247" y="993753"/>
            <a:ext cx="9311507" cy="38741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1144699" y="5160305"/>
                <a:ext cx="11663172" cy="802901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Same ASSIGN seeds; only SELECT rule differs (C = top-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 = cold Gibbs).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=−3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bin gap C vs D: LOO = 0.00e+00, pool mean = 0.00e+00.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LOO curvature: C = inverted u like; D = inverted u like.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Expect overlay coincidence at cold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(Gibbs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hard ranking).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Numerical match flag: True (gap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−9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on binned curves).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699" y="5160305"/>
                <a:ext cx="11663172" cy="8029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6199389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rule D at cold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reproduces rule C bin-for-bin — Gibbs SELECT nests the old top-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limit.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619938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PD20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308866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 baseline="0" dirty="0">
                <a:latin typeface="Calibri"/>
              </a:rPr>
              <a:t>MBB 2011-2021 · empirical caps · rule 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384048" y="1033272"/>
                <a:ext cx="11423599" cy="44199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PD20 gate (LOO): inverted-U survives Gibbs SELECT at breakpoint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Full panel: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9/13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arms U-like;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10/13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arms U-like.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Cold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≈ top-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(slide 3); mid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still shows hump on LOO.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Hot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uniform-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limit (flattening) — different failure mode.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Open for Alex: K-draw vs literal </a:t>
                </a:r>
                <a:r>
                  <a:rPr sz="2400" b="0" i="0" baseline="0" dirty="0" err="1">
                    <a:latin typeface="Calibri"/>
                  </a:rPr>
                  <a:t>softmax</a:t>
                </a:r>
                <a:r>
                  <a:rPr sz="2400" b="0" i="0" baseline="0" dirty="0">
                    <a:latin typeface="Calibri"/>
                  </a:rPr>
                  <a:t> Bernoulli for MLE.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Next: MLE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2400" b="0" i="0" baseline="0" dirty="0">
                    <a:latin typeface="Calibri"/>
                  </a:rPr>
                  <a:t> (and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);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2400" b="0" i="0" baseline="0" dirty="0">
                    <a:latin typeface="Calibri"/>
                  </a:rPr>
                  <a:t>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 separately.</a:t>
                </a: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33272"/>
                <a:ext cx="11423599" cy="4419928"/>
              </a:xfrm>
              <a:prstGeom prst="rect">
                <a:avLst/>
              </a:prstGeom>
              <a:blipFill>
                <a:blip r:embed="rId2"/>
                <a:stretch>
                  <a:fillRect l="-889" b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PD20 step 4 cleared on LOO: proceed to MLE design once K-draw semantics are confirmed with Alex.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534</Words>
  <Application>Microsoft Macintosh PowerPoint</Application>
  <PresentationFormat>Widescreen</PresentationFormat>
  <Paragraphs>37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Levine, Charles R CTR</dc:creator>
  <cp:lastModifiedBy>Levine, Charles R CTR</cp:lastModifiedBy>
  <cp:revision>3</cp:revision>
  <dcterms:created xsi:type="dcterms:W3CDTF">2026-08-13T17:32:16Z</dcterms:created>
  <dcterms:modified xsi:type="dcterms:W3CDTF">2026-08-13T21:11:03Z</dcterms:modified>
</cp:coreProperties>
</file>