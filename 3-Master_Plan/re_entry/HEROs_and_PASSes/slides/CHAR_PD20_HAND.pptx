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66" r:id="rId7"/>
    <p:sldId id="270" r:id="rId8"/>
    <p:sldId id="269" r:id="rId9"/>
    <p:sldId id="274" r:id="rId10"/>
    <p:sldId id="263" r:id="rId11"/>
    <p:sldId id="264" r:id="rId12"/>
    <p:sldId id="265" r:id="rId13"/>
    <p:sldId id="267" r:id="rId14"/>
    <p:sldId id="272" r:id="rId15"/>
    <p:sldId id="273" r:id="rId16"/>
    <p:sldId id="262" r:id="rId17"/>
    <p:sldId id="275" r:id="rId18"/>
    <p:sldId id="276" r:id="rId19"/>
    <p:sldId id="277" r:id="rId20"/>
    <p:sldId id="278" r:id="rId21"/>
    <p:sldId id="27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53"/>
    <p:restoredTop sz="94663"/>
  </p:normalViewPr>
  <p:slideViewPr>
    <p:cSldViewPr snapToGrid="0">
      <p:cViewPr varScale="1">
        <p:scale>
          <a:sx n="173" d="100"/>
          <a:sy n="173" d="100"/>
        </p:scale>
        <p:origin x="216" y="1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FB63-FA95-0AA3-D62C-6F29B7670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053F0D-809F-8702-773C-5BDC653A74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4D5BC-0E21-5CE6-DF65-E53D4E934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D71A1-D2B0-B44F-D001-0941F94DB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C46AA-DDA7-7E5A-302D-B79BEBE51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92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D2F5-555C-06A2-CFF5-78652B1BB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B7D34-B426-59BA-6C8C-60D615D53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D315-EEF0-AA7A-B41B-95132900E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0ABA-CFA0-16D2-1A7A-FC78AEC90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FCC55-D195-56F1-A456-877C2D5E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4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7A815-B30D-E74F-DB36-F49294741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66365-9A1D-8B0A-51F0-3019CAB4C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3F257-F143-6439-E8C7-F8787F39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29B102-E18D-5BE3-2CB2-77FD23A3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4AF0F-95D8-8138-F1BB-BED80753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143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C7932-1415-5AC7-FF1C-E750D1C3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0D7F-4815-F245-3568-AE25B6C0D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9851CE-9BFB-C723-FCBB-53A9D0F79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5622A4-0E4A-288D-A779-29BC958A7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B738D-AB70-6C1E-EC99-78BFF722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B6E88-79F5-C995-DC48-4FF8D68EA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977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06CF7-C2A8-69F3-EA9C-32250E3D2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B31B2-C4CB-F60F-AF23-39FED2F7E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48DDD-DF3E-8E32-B7CE-7857B53B9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DB7A1A-02BC-4CA2-C38C-A7548884A8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96289-849F-C834-EB35-FB7148B60F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0E4307-9281-BDA2-5B04-D309C9FD4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BFA752-C6CA-0DF6-076E-4EAEDCE9A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2755B5-A93E-90E6-5E8C-2BDDD9760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035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68E99-D394-C583-074F-23A8988D0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D388A5-62F9-30E9-16C4-D22B2E584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14AE-EE1A-364B-F517-472BCB37B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826D3-BE6E-5140-1AE0-515BD797E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8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A42C5B-0255-2F98-39EC-C83FA57FD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D115C2-2404-663C-19F5-FD6CC87D7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34AE7-FF3E-E11A-64EC-CAE9A14D7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9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7AB20-35C8-9B37-C952-A0B9F226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8D33F-FF4B-86D4-5780-69EBD2884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4A1B5-72D3-B73E-2286-60D557A1D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7930D-D6E5-3D1C-3964-0F1E9BDCE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943E8-F3EA-53A9-9A50-1B7383A20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0AB01-E901-43F6-A6AD-3677D91F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25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9272A-BD04-A5E8-A477-45894FCB0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F9077C-8D32-C850-C161-5F2EEBD9EA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72630-9368-77B7-1094-E49415039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D4D506-AE95-2CE4-781F-1E6F3253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3C14D-F4BA-7A7C-BD10-ACCC0A935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69231-4450-7885-3F83-131EDD610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84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7D68F-70DC-E59B-9813-96CC695AA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C4C757-3F4C-47BB-E2D0-7C02524FA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11D3-4E98-2314-CBFA-89C7A58BF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F54F2-D597-5681-1000-C046F3B3D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F8381-1998-E778-856D-2E73C3D1B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038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138E0C-3CFD-45DD-843B-0174B4F6C8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86445-191F-BC1A-2ABA-FDD6631B0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F54B3-2D76-60ED-7D26-E8FA24B1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0D675-DA66-F59C-6284-EBB952357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CF5D4-9C6D-2C81-BF93-E0A5E4441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17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F2B5C4-D50D-ECDF-CA3C-C8A6FEAA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DA038-595B-BA03-FC41-ED7ED8F1F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D72FC-D04B-3F43-6749-5A9B73A84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99DD-932D-D032-4A88-147C4582B7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3133-DAC6-CAEE-FB13-4B3BADB4B2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5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0.png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0.png"/><Relationship Id="rId5" Type="http://schemas.openxmlformats.org/officeDocument/2006/relationships/image" Target="../media/image261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0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PD20 — Gibbs SELECT (temperature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blipFill>
                <a:blip r:embed="rId2"/>
                <a:stretch>
                  <a:fillRect l="-1502" t="-9375" r="-60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inverted-U before MLE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PD20: replace deterministic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with Gibbs rule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24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in the denominator (stat-</a:t>
                </a:r>
                <a:r>
                  <a:rPr sz="2400" b="0" i="0" baseline="0" dirty="0" err="1">
                    <a:latin typeface="Calibri"/>
                  </a:rPr>
                  <a:t>phys</a:t>
                </a:r>
                <a:r>
                  <a:rPr sz="24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Sim bridge: rule D = Gibbs weights +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draws without replacement.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SCORE unchanged: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in ASSIGN only.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Priority: sweep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— prove inverted-U survives </a:t>
                </a:r>
                <a:r>
                  <a:rPr sz="2400" b="1" i="0" baseline="0" dirty="0">
                    <a:latin typeface="Calibri"/>
                  </a:rPr>
                  <a:t>before</a:t>
                </a:r>
                <a:r>
                  <a:rPr sz="2400" b="0" i="0" baseline="0" dirty="0">
                    <a:latin typeface="Calibri"/>
                  </a:rPr>
                  <a:t>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ASSIGN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—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(binding).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blipFill>
                <a:blip r:embed="rId4"/>
                <a:stretch>
                  <a:fillRect l="-889" b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Goal: soft SELECT must not erase the phenomenological inverted-U on LOO pool quality.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Temperature sweep — rule D (Gibbs +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draws)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1.5,2</m:t>
                        </m:r>
                      </m:e>
                    </m:d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sz="14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blipFill>
                <a:blip r:embed="rId3"/>
                <a:stretch>
                  <a:fillRect l="-697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57930" y="540541"/>
            <a:ext cx="6671446" cy="54762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(left) and pool mean (right) — Hero axes.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rule D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panels 1.5, 2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9/13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10/13 $t$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near hard cut; hot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flattens toward uniform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-draws.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Pool mean often stays monotone — same PD17 readout limitation.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blipFill>
                <a:blip r:embed="rId5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check LOO panels at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–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does a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window preserve inverted-U vs empirical?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Cold limit — rule C vs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same seeds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17482" y="993753"/>
            <a:ext cx="9157036" cy="38741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ASSIGN seeds; only SELECT rule differs (C = top-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 = cold Gibbs).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bin gap C vs D: LOO = 0.00e+00, pool mean = 0.00e+00.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 curvature: C = inverted u like; D =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Expect overlay coincidence at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(Gibbs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hard ranking).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Numerical match flag: True (gap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−9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on binned curves).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rule D at cold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reproduces rule C bin-for-bin — Gibbs SELECT nests the old top-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limit.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308866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 baseline="0" dirty="0">
                <a:latin typeface="Calibri"/>
              </a:rPr>
              <a:t>MBB 2011-2021 · empirical caps ·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 gate (LOO): inverted-U survives Gibbs SELECT at breakpoint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Full panel: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9/13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10/13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≈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(slide 3); mid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shows hump on LOO.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Hot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uniform-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limit (flattening) — different failure mode.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Open for Alex: K-draw vs literal </a:t>
                </a:r>
                <a:r>
                  <a:rPr sz="2400" b="0" i="0" baseline="0" dirty="0" err="1">
                    <a:latin typeface="Calibri"/>
                  </a:rPr>
                  <a:t>softmax</a:t>
                </a:r>
                <a:r>
                  <a:rPr sz="2400" b="0" i="0" baseline="0" dirty="0">
                    <a:latin typeface="Calibri"/>
                  </a:rPr>
                  <a:t> Bernoulli for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Next: MLE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(and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 separately.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blipFill>
                <a:blip r:embed="rId2"/>
                <a:stretch>
                  <a:fillRect l="-889" b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PD20 step 4 cleared on LOO: proceed to MLE design once K-draw semantics are confirmed with Alex.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574080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Roster size: </a:t>
            </a:r>
            <a:r>
              <a:rPr lang="en-US" sz="2000" b="1" i="0" baseline="0" dirty="0">
                <a:latin typeface="Calibri"/>
              </a:rPr>
              <a:t>raw </a:t>
            </a:r>
            <a:r>
              <a:rPr sz="2000" b="1" i="0" baseline="0" dirty="0">
                <a:latin typeface="Calibri"/>
              </a:rPr>
              <a:t>box</a:t>
            </a:r>
            <a:r>
              <a:rPr lang="en-US" sz="2000" b="1" i="0" dirty="0">
                <a:latin typeface="Calibri"/>
              </a:rPr>
              <a:t> (No </a:t>
            </a:r>
            <a:r>
              <a:rPr sz="2000" b="1" i="0" baseline="0" dirty="0">
                <a:latin typeface="Calibri"/>
              </a:rPr>
              <a:t>QC</a:t>
            </a:r>
            <a:r>
              <a:rPr lang="en-US" sz="2000" b="1" i="0" baseline="0" dirty="0">
                <a:latin typeface="Calibri"/>
              </a:rPr>
              <a:t>) </a:t>
            </a:r>
            <a:r>
              <a:rPr sz="2000" b="1" i="0" baseline="0" dirty="0">
                <a:latin typeface="Calibri"/>
              </a:rPr>
              <a:t>vs min-20 drop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</a:t>
                </a:r>
                <a:r>
                  <a:rPr lang="en-US" sz="1000" b="0" i="0" baseline="0" dirty="0">
                    <a:latin typeface="Calibri"/>
                  </a:rPr>
                  <a:t>(before QC) </a:t>
                </a:r>
                <a:r>
                  <a:rPr sz="1000" b="0" i="0" baseline="0" dirty="0">
                    <a:latin typeface="Calibri"/>
                  </a:rPr>
                  <a:t>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max </a:t>
                </a:r>
                <a14:m>
                  <m:oMath xmlns:m="http://schemas.openxmlformats.org/officeDocument/2006/math">
                    <m:r>
                      <a:rPr lang="en-US" sz="1000" b="0" i="0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baseline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04975" y="1052409"/>
            <a:ext cx="9381744" cy="39485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325874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alibri"/>
              </a:rPr>
              <a:t>Claim (PD22 backup): Raw ESPN box rows inflate team-season roster counts — dash placeholders and sparse junk games before panel QC at build.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/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legacy raw box (no QC)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box QC: dash-name placeholders and sparse team-seasons still in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6,557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104,790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raw box (blue):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=16.0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16.3%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64.5%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48.1%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(BYU 2018);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from ESPN dash rows in one game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Motivation for box QC at panel build — next slide shows after dash + min-games filters.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long tail from junk box rows.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blipFill>
                <a:blip r:embed="rId4"/>
                <a:stretch>
                  <a:fillRect t="-962" b="-2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66457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>
                <a:latin typeface="Calibri"/>
              </a:rPr>
              <a:t>PD22 — Games per team-season in raw box data (before QC)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team-season games · 2011–2021 · 1,883 with 1 game · median = 29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4528" y="1056344"/>
            <a:ext cx="10742638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in raw box (2011–2021).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6,557 team-seasons · median = 29 games · mean = 19.1 · max = 41.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Bimodal: 1,883 team-seasons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28.7%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with only 1 game (red line) vs cluster near 30–32 (full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715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41.1%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 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sparse tail is partial coverage / small-school noise.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Default box 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𝑝𝑎𝑛𝑒𝑙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𝑟𝑒𝑏𝑢𝑖𝑙𝑑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</a:t>
                </a:r>
                <a:r>
                  <a:rPr lang="en-US" sz="1000" b="0" i="0" baseline="0" dirty="0">
                    <a:latin typeface="Calibri"/>
                  </a:rPr>
                  <a:t>(keep</a:t>
                </a:r>
                <a:r>
                  <a:rPr lang="en-US" sz="1000" b="0" i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gap between spikes is low-frequency partial seasons, not hero-panel mass.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Pairs with roster-size backup: low-game team-seasons often inflate per-game roster anomalies (SCOUT ESPN dash rows).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blipFill>
                <a:blip r:embed="rId3"/>
                <a:stretch>
                  <a:fillRect t="-1075" b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Box panel mixes full D-I seasons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with sparse one-game team-seasons — default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100" b="1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 (keep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) before player-season aggregation.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008B9-3BDB-ADEB-7B28-E2661A08A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365AD2-EEAF-F00F-B681-4EA530201C2F}"/>
              </a:ext>
            </a:extLst>
          </p:cNvPr>
          <p:cNvSpPr txBox="1"/>
          <p:nvPr/>
        </p:nvSpPr>
        <p:spPr>
          <a:xfrm>
            <a:off x="384048" y="219456"/>
            <a:ext cx="504984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Games per team-season </a:t>
            </a:r>
            <a:r>
              <a:rPr lang="en-US" sz="2000" b="1" dirty="0">
                <a:latin typeface="Calibri"/>
              </a:rPr>
              <a:t>after box QC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games </a:t>
                </a:r>
                <a:r>
                  <a:rPr lang="en-US" sz="1000" b="0" i="0" baseline="0" dirty="0">
                    <a:latin typeface="Calibri"/>
                  </a:rPr>
                  <a:t>after box QC </a:t>
                </a:r>
                <a:r>
                  <a:rPr sz="1000" b="0" i="0" baseline="0" dirty="0">
                    <a:latin typeface="Calibri"/>
                  </a:rPr>
                  <a:t>· 2011–2021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team seasons</a:t>
                </a:r>
                <a:r>
                  <a:rPr sz="1000" b="0" i="0" baseline="0" dirty="0">
                    <a:latin typeface="Calibri"/>
                  </a:rPr>
                  <a:t>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en-US" sz="1000" dirty="0">
                    <a:latin typeface="Calibri"/>
                  </a:rPr>
                  <a:t> · min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7AD5F87-7D3E-42D6-3075-F0BAFEACFD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14324" y="1056344"/>
            <a:ext cx="9363046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/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After box QC, team-season game counts are full-season D-I coverage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— low-game tail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removed before panel build.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(after filter):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surviving box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kept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·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=31.6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(all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Removed by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2,715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(see raw games-count slide).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Dropped dash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 rows before game-count tally.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one-game spike — bulk mass sits near 28–32 games (normal D-I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post-QC panel is what roster-size and minutes diagnostics use.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blipFill>
                <a:blip r:embed="rId5"/>
                <a:stretch>
                  <a:fillRect t="-1087" b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468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BF-870A-D3AF-53DA-5014BF4D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PD22 — Roster size: box-QC panel (min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 vs min-20 drop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blipFill>
                <a:blip r:embed="rId2"/>
                <a:stretch>
                  <a:fillRect l="-982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raw_roster_size_distribution_2011_2021.png">
            <a:extLst>
              <a:ext uri="{FF2B5EF4-FFF2-40B4-BE49-F238E27FC236}">
                <a16:creationId xmlns:a16="http://schemas.microsoft.com/office/drawing/2014/main" id="{2A7F4F52-0C88-604E-2D21-EC68AB51B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QC (blue): median = 15,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=15.4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15,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=12.1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survivors, not dress cap.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2655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2019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gone — dash rows dropped at panel build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Red dashed =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empirical caps in PD21 use min-20 multiset.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bulk mass sits 14–17 after box QC.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blipFill>
                <a:blip r:embed="rId5"/>
                <a:stretch>
                  <a:fillRect t="-943"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/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After box QC, team-season roster counts cluster near NCAA dress cap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empirical hero caps (min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count rotation-minute contributors — not game-day dress lists.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462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ESPN box coverage by season (2013→2014 depth break)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ESPN box coverage · 2011–2021 · 2013→2014 raw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min-20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espn_coverage_by_season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(SCOUT Aug 2026): frozen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𝚖𝚋𝚋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𝚍𝚏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𝚙𝚕𝚊𝚢𝚎𝚛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𝚋𝚘𝚡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𝚌𝚜𝚟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— season coverage for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timeseries jump.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Source: distinct player-season rows aggregated from ESPN box (2011–2021); CSV not rewritten on disk.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2013→2014 raw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5,801→10,633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games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Roster depth: median players/team-season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23.1%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box rows/game/team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ESPN lists more bench lines from 2014.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Overlap teams only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schools): player-seasons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5,388→7,783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+44%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same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panel (box QC + 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4,135→4,248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raw aggregate jumps at 2014; orange min-20 line flat — use for PD21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calibration, not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median roster size and rows/game/team — SCOUT verify against ESPN API sample games 2013 vs 2014.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blipFill>
                <a:blip r:embed="rId4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2013→2014 jump in raw player-season counts is ESPN box </a:t>
                </a:r>
                <a:r>
                  <a:rPr sz="1100" b="1" i="1" baseline="0" dirty="0">
                    <a:latin typeface="Calibri"/>
                  </a:rPr>
                  <a:t>depth</a:t>
                </a:r>
                <a:r>
                  <a:rPr lang="en-US" sz="1100" b="1" i="0" baseline="0" dirty="0">
                    <a:latin typeface="Calibri"/>
                  </a:rPr>
                  <a:t> </a:t>
                </a:r>
                <a:r>
                  <a:rPr sz="1100" b="1" i="0" baseline="0" dirty="0">
                    <a:latin typeface="Calibri"/>
                  </a:rPr>
                  <a:t>(more players listed per game), not doubled games — hero min-20 panel is longitudinal-safe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Drafted-player retention vs playing-time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537839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PD22 · drafted retention audit · 2011-2021 · at min 20 drop: 113</a:t>
            </a:r>
            <a:r>
              <a:rPr lang="en-US" sz="1000" b="0" i="0" baseline="0" dirty="0">
                <a:latin typeface="Calibri"/>
              </a:rPr>
              <a:t>3</a:t>
            </a:r>
            <a:r>
              <a:rPr sz="1000" b="0" i="0" baseline="0" dirty="0">
                <a:latin typeface="Calibri"/>
              </a:rPr>
              <a:t>/117</a:t>
            </a:r>
            <a:r>
              <a:rPr lang="en-US" sz="1000" b="0" i="0" baseline="0" dirty="0">
                <a:latin typeface="Calibri"/>
              </a:rPr>
              <a:t>7</a:t>
            </a:r>
            <a:r>
              <a:rPr sz="1000" b="0" i="0" baseline="0" dirty="0">
                <a:latin typeface="Calibri"/>
              </a:rPr>
              <a:t> drafted player-seasons kept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2242" y="1074293"/>
            <a:ext cx="9535176" cy="376300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/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1: audit minutes floor before defending min 20 min or PPM-zero bench policy.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rebuild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box QC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= ever-draft flag (not season-specific).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Drafted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unique athletes).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Minutes among drafted: min = 0; draft-safe max floor (drop)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lock min = 20: retain 1,133 / 1,177; lose 44 player-seasons (42 unique athletes; 42 at 0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 panel: red labels = drafted player-seasons lost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floor at each threshold.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PPM-zero policy: all drafted rows retained; sub-floor players get raw PPM = 0 before z-score.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Lost at min 20 drop (44): id 51323 (2013): 0.0 min; id 56359 (2013): 0.0 min; id 56965 (2014): 0.0 min (+41 more — see CSV)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of drafted minutes (10 min teal, 20 min red). Right: retained count vs floor.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blipFill>
                <a:blip r:embed="rId3"/>
                <a:stretch>
                  <a:fillRect t="-775" b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/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Playing-time floor must be draft-safe — retain every ever-draft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player-season before we justify min 20 min or PPM-zero bench policy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calibration.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5664E-0604-5F5D-240A-FF8D03D1C0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31183" y="996029"/>
            <a:ext cx="9823260" cy="543686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Raw panel season-minutes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raw panel minutes · 2011-2021 · median = 3</a:t>
                </a:r>
                <a:r>
                  <a:rPr lang="en-US" sz="1000" dirty="0">
                    <a:latin typeface="Calibri"/>
                  </a:rPr>
                  <a:t>44</a:t>
                </a:r>
                <a:r>
                  <a:rPr sz="1000" b="0" i="0" baseline="0" dirty="0">
                    <a:latin typeface="Calibri"/>
                  </a:rPr>
                  <a:t> min · </a:t>
                </a:r>
                <a14:m>
                  <m:oMath xmlns:m="http://schemas.openxmlformats.org/officeDocument/2006/math">
                    <m:r>
                      <a:rPr lang="en-US" sz="1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1.9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20 min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/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Minutes floor must be grounded in the raw roster distribution — not an arbitrary cut — before we defend min 20 min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/ ASSIGN panels.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/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2: season-minutes on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rebuild).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ever-draft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Median minutes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90th percentile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963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Zero-minute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panel).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Below 10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(hero lock).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Ever-draft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(median drafted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— all vs ever-draft; teal = 10 min, red = 20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histogram zoom 0–150 min — low-minute mass driving floor choice.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blipFill>
                <a:blip r:embed="rId6"/>
                <a:stretch>
                  <a:fillRect t="-813" b="-6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40738" y="839677"/>
            <a:ext cx="9249621" cy="501185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PPM distribution: filtered-out tail vs hero ASSIGN input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tails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sub-20-min rows with PPM &gt; 1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392516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Minutes floor guards against noisy PPM tails — sub-20-min rows include extreme points-per-minute spikes; hero ASSIGN uses PPM z-scored within season on the min-20 panel.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/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items 3–4: points-per-minute (PPM) — filtered-out tail vs hero ASSIGN input.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hero lock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3 (left):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with 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excluded from PPM hist).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Sub-20-min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raw PPM in tail: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4 (right):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raw PPM then PPM z within season (PD21 ASSIGN ability; empirical roster caps are separate).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standardized ability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=−0.039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Left: why minutes matter (garbage-time PPM spikes). Right: what enters homophily calibration after the floor.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panel + PPM z within season (PD21 ASSIGN input)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blipFill>
                <a:blip r:embed="rId4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Raw PPM: full panel vs sub-20-min filtered tail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overlay · 2011-2021 · 103 sub-20-min rows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54795" y="714256"/>
            <a:ext cx="6733505" cy="39481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overlay: gray = box-QC panel raw PPM (minutes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blue = sub-20-min tail removed by drop policy.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$\geq$11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gray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52,232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blue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5,926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zero-min rows excluded (PPM undefined).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sub-20 median PPM (positive min)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=0.125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After min-20 drop: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(p99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Minutes context (box-QC panel):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min;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(all)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(ever-draft).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caps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panel):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players per team-season (p25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p75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count, not who dressed for a game.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game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our cap multiset — box panel counts season rows passing the minutes rule.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blipFill>
                <a:blip r:embed="rId4"/>
                <a:stretch>
                  <a:fillRect b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Sub-20-min rows add PPM noise (</a:t>
                </a:r>
                <a:r>
                  <a:rPr lang="en-US" sz="1100" b="1" dirty="0">
                    <a:latin typeface="Calibri"/>
                  </a:rPr>
                  <a:t>103</a:t>
                </a:r>
                <a:r>
                  <a:rPr sz="1100" b="1" i="0" baseline="0" dirty="0">
                    <a:latin typeface="Calibri"/>
                  </a:rPr>
                  <a:t> with PPM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, max 6) on top of a rotation-player cloud — minutes floor cleans ability before hero / ASSIGN; empirical roster caps count season contributors, not NCAA dress-out 15.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(hero panel — locked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blipFill>
                <a:blip r:embed="rId2"/>
                <a:stretch>
                  <a:fillRect l="-6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 · bracket 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hero panel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1_rho_hsort_calibrate_2011_2021_bra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1160349"/>
            <a:ext cx="7653840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PD21 locked calibration (Aug 2026): bracket search on hero panel for Alex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>
                    <a:latin typeface="Calibri"/>
                  </a:rPr>
                  <a:t>C</a:t>
                </a:r>
                <a:r>
                  <a:rPr sz="1000" b="0" i="0" baseline="0" dirty="0">
                    <a:latin typeface="Calibri"/>
                  </a:rPr>
                  <a:t>alibrate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2011–2021 MBB ·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player-season drop · box QC at panel build · empirical roster caps · PPM z-scored within season.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Search: bracket + bisect (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Per-season: 11/11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all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≈0.112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≈0.018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— flat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all seasons on hero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the locked hero panel, the LG ASSIGN homophily knob calibrates to zero (11/11 seasons);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ar-AE" sz="1000" b="0" i="0" baseline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ar-AE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≈0.0642059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scale); sim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slightly high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≈0.0821529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); turning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up overshoots (see legacy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bullet).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NOT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NCAA has no team formation; Duke and a weak D-I school draw from the same talent pool; real-world assortativity is absent; Hero inverted-U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 / SELECT story is dead.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on a fixed roster partition (VECTOR lock) — not the generative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knob. Box QC lowered measured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vs pre-QC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∼0.10→∼0.06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modest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zero. Contrast: slide</a:t>
                </a:r>
                <a:r>
                  <a:rPr lang="en-US" sz="1000" b="0" i="0" baseline="0" dirty="0">
                    <a:latin typeface="Calibri"/>
                  </a:rPr>
                  <a:t> 15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(x-axis zoomed to evaluated bracket).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(Alex): Hero panel — LG ASSIGN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matches modest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legacy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overshoots (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0.11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). Model–measurement fit on this panel — not a claim that NCAA rosters are random.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53A7B-5CEF-8C7D-478B-773E9B38A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blipFill>
                <a:blip r:embed="rId2"/>
                <a:stretch>
                  <a:fillRect l="-560" t="-9375" r="-22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634148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 · bracket 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lang="en-US" sz="1000" dirty="0">
                    <a:latin typeface="Calibri"/>
                  </a:rPr>
                  <a:t>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34148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1A2C5D9-4665-1CCD-DFAB-99BDDD694E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82923" y="1160349"/>
            <a:ext cx="7647946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Calibrate ASSIGN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minutes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Search: bracket + bisect (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≈0.5695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0.169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0.171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Per-season: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/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000" dirty="0">
                    <a:latin typeface="Calibri"/>
                  </a:rPr>
                  <a:t>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000" dirty="0">
                    <a:latin typeface="Calibri"/>
                  </a:rPr>
                  <a:t>; nonzero — 2011: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≈0.0184</m:t>
                    </m:r>
                  </m:oMath>
                </a14:m>
                <a:r>
                  <a:rPr lang="en-US" sz="1000" dirty="0">
                    <a:latin typeface="Calibri"/>
                  </a:rPr>
                  <a:t>, 2012: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≈0.0184</m:t>
                    </m:r>
                  </m:oMath>
                </a14:m>
                <a:r>
                  <a:rPr lang="en-US" sz="1000" dirty="0">
                    <a:latin typeface="Calibri"/>
                  </a:rPr>
                  <a:t>, 2013: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≈0.103</m:t>
                    </m:r>
                  </m:oMath>
                </a14:m>
                <a:r>
                  <a:rPr lang="en-US" sz="1000" dirty="0">
                    <a:latin typeface="Calibri"/>
                  </a:rPr>
                  <a:t>, 2014: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≈0.569</m:t>
                    </m:r>
                  </m:oMath>
                </a14:m>
                <a:r>
                  <a:rPr lang="en-US" sz="1000" dirty="0">
                    <a:latin typeface="Calibri"/>
                  </a:rPr>
                  <a:t>, 2015: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≈0.594</m:t>
                    </m:r>
                  </m:oMath>
                </a14:m>
                <a:r>
                  <a:rPr lang="en-US" sz="1000" dirty="0">
                    <a:latin typeface="Calibri"/>
                  </a:rPr>
                  <a:t>, …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i="0" dirty="0">
                        <a:latin typeface="Cambria Math" panose="02040503050406030204" pitchFamily="18" charset="0"/>
                      </a:rPr>
                      <m:t>≈0.061</m:t>
                    </m:r>
                  </m:oMath>
                </a14:m>
                <a:r>
                  <a:rPr lang="en-US" sz="100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4.6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−06</m:t>
                    </m:r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— red dots jump at 2014; dotted line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across seasons.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0.103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→0.569</m:t>
                    </m:r>
                  </m:oMath>
                </a14:m>
                <a:r>
                  <a:rPr lang="en-US" sz="1000" dirty="0">
                    <a:latin typeface="Calibri"/>
                  </a:rPr>
                  <a:t> — coincides with raw ESPN player-season count jump; not used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Contrast slide only: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(all roster rows,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, no caps) inflates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and the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per-season jump — do not use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Footer claim on this slide is about contrast failure mode — not the hero-panel near-zero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story on slide 14.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(x-axis zoomed to evaluated bracket).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 r="-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/>
              <p:nvPr/>
            </p:nvSpPr>
            <p:spPr>
              <a:xfrm>
                <a:off x="384048" y="616678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(PD21 contrast):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100" b="1" dirty="0">
                    <a:latin typeface="Calibri"/>
                  </a:rPr>
                  <a:t> inflates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lang="en-US" sz="1100" b="1" dirty="0">
                    <a:latin typeface="Calibri"/>
                  </a:rPr>
                  <a:t> — not the hero estimand; 2013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100" b="1" dirty="0">
                    <a:latin typeface="Calibri"/>
                  </a:rPr>
                  <a:t>2014 per-season jump traces ESPN box-depth break (PD22 ESPN coverage backup slide).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409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1_rho_hsort_calibrate_2011_2021_ppm0lt20_bracket_rho_hsort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318" y="1014045"/>
            <a:ext cx="8355682" cy="44867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0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b="1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blipFill>
                <a:blip r:embed="rId3"/>
                <a:stretch>
                  <a:fillRect l="-692" t="-9375" r="-69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vs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· 2011-2021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35366" y="1149319"/>
                <a:ext cx="3702454" cy="3409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Red (left): per-season calibrated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; dotted red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0.477</m:t>
                    </m:r>
                  </m:oMath>
                </a14:m>
                <a:r>
                  <a:rPr lang="en-US" sz="1000" dirty="0">
                    <a:latin typeface="Calibri"/>
                  </a:rPr>
                  <a:t>). Open circles = hit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cap.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Blue (right):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by season; dotted blue = longitudinal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0.171</m:t>
                    </m:r>
                  </m:oMath>
                </a14:m>
                <a:r>
                  <a:rPr lang="en-US" sz="100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$2014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0.103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→0.569</m:t>
                    </m:r>
                  </m:oMath>
                </a14:m>
                <a:r>
                  <a:rPr lang="en-US" sz="1000" dirty="0">
                    <a:latin typeface="Calibri"/>
                  </a:rPr>
                  <a:t> — coincides with raw ESPN player-season count jump; not used for locked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Pair with PD22 ESPN coverage backup slide —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raw player-season jump explains this timeseries, not doubled games.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366" y="1149319"/>
                <a:ext cx="3702454" cy="3409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(PD21 contrast): 2013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2014 jump in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 on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ESPN roster-depth artifact — hero min-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panel gives flat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; see PD22 ESPN coverage backup.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pm_zero_ability_distributi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191" y="885661"/>
            <a:ext cx="8027767" cy="484240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ability under PPM-zero vs drop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6 · PPM-zero vs drop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bench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6: PPM-zero vs drop — raw PPM and ASSIGN ability (PPM z within season).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Drop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sub-20 rows removed at rebuild.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PPM-zero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forced to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Raw PPM spike: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13,180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under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7,356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14,028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zeroed cohort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−1.39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column = drop (PD21 default). Right column = PPM-zero alternative Alex flagged for induced homophily.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blipFill>
                <a:blip r:embed="rId4"/>
                <a:stretch>
                  <a:fillRect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89904"/>
            <a:ext cx="114235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 (PD22): PPM-zero keeps bench players on roster at forced PPM = 0 — expect a zero-heavy ability distribution vs the min-20 drop panel; may inflate homophily if identical zeros cluster on teams.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bench-zero clustering vs empirical sorting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8 · bench zeros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2011-2021 ·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0.0010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ppm_zero_hsort_mechanism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096" y="1051560"/>
            <a:ext cx="9063502" cy="395020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8: bench-zero share vs within-team dispersion;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drop vs PPM-zero.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PPM-zero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Team-season scatter: </a:t>
                </a:r>
                <a:r>
                  <a:rPr sz="1000" b="0" i="0" baseline="0" dirty="0" err="1">
                    <a:latin typeface="Calibri"/>
                  </a:rPr>
                  <a:t>corr</a:t>
                </a:r>
                <a:r>
                  <a:rPr sz="1000" b="0" i="0" baseline="0" dirty="0">
                    <a:latin typeface="Calibri"/>
                  </a:rPr>
                  <a:t>(zero fraction, within-team perf std)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Mean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= $0.0653$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half roster zeroed: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more bench zeros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lower within-team dispersion (identical zeroed cohort). Right: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under both panel policies.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blipFill>
                <a:blip r:embed="rId4"/>
                <a:stretch>
                  <a:fillRect t="-1087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PPM-zero piles identical bench abilities on rosters — check whether that mechanically inflates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vs drop-at-20.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anel_policy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924" y="1023477"/>
            <a:ext cx="7307627" cy="471960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panel policy: drop vs PPM-zero at min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9 · policy compare · 2011-2021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0.570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9: panel policy compare at min 20 — drop (PD21 default) vs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Longitudinal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=0.570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(legacy JSON — pre-box-QC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target).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mean (current panel, item 8):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=0.0653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Seasons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Recommendation: </a:t>
                </a:r>
                <a:r>
                  <a:rPr sz="1000" b="1" i="0" baseline="0" dirty="0">
                    <a:latin typeface="Calibri"/>
                  </a:rPr>
                  <a:t>drop</a:t>
                </a:r>
                <a:r>
                  <a:rPr sz="1000" b="0" i="0" baseline="0" dirty="0">
                    <a:latin typeface="Calibri"/>
                  </a:rPr>
                  <a:t> — PPM-zero inflates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without proportional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gain;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partial shrinkage not pursued.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 Bottom: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(items 6–8 context).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At min 20, drop vs PPM-zero —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decide which panel policy enters PD21 calibration.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50394" y="996628"/>
            <a:ext cx="7059602" cy="54724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team interval overlap · season 2012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10 · season 2012 · min 20 min drop panel · 345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=0.071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10: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=0.0709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9FC5A-2080-BF20-FF7B-A0385C4B3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interval_overlap_season_2012.png">
            <a:extLst>
              <a:ext uri="{FF2B5EF4-FFF2-40B4-BE49-F238E27FC236}">
                <a16:creationId xmlns:a16="http://schemas.microsoft.com/office/drawing/2014/main" id="{3A8F88F1-7495-DC90-5624-735D86798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394" y="996029"/>
            <a:ext cx="7059602" cy="54736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933943-C113-50EC-2EBB-F0861DB220CA}"/>
              </a:ext>
            </a:extLst>
          </p:cNvPr>
          <p:cNvSpPr txBox="1"/>
          <p:nvPr/>
        </p:nvSpPr>
        <p:spPr>
          <a:xfrm>
            <a:off x="384048" y="219456"/>
            <a:ext cx="487293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team interval overlap · season 201</a:t>
            </a:r>
            <a:r>
              <a:rPr lang="en-US" sz="2000" b="1" i="0" baseline="0" dirty="0">
                <a:latin typeface="Calibri"/>
              </a:rPr>
              <a:t>3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 · season 201</a:t>
                </a:r>
                <a:r>
                  <a:rPr lang="en-US" sz="1000" b="0" i="0" baseline="0" dirty="0">
                    <a:latin typeface="Calibri"/>
                  </a:rPr>
                  <a:t>3</a:t>
                </a:r>
                <a:r>
                  <a:rPr sz="1000" b="0" i="0" baseline="0" dirty="0">
                    <a:latin typeface="Calibri"/>
                  </a:rPr>
                  <a:t> · min 20 min drop panel · 34</a:t>
                </a:r>
                <a:r>
                  <a:rPr lang="en-US" sz="1000" b="0" i="0" baseline="0" dirty="0">
                    <a:latin typeface="Calibri"/>
                  </a:rPr>
                  <a:t>7</a:t>
                </a:r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664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6304</TotalTime>
  <Words>4766</Words>
  <Application>Microsoft Macintosh PowerPoint</Application>
  <PresentationFormat>Widescreen</PresentationFormat>
  <Paragraphs>250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Levine, Charles R CTR</dc:creator>
  <cp:lastModifiedBy>Levine, Charles R CTR</cp:lastModifiedBy>
  <cp:revision>50</cp:revision>
  <cp:lastPrinted>2026-08-17T17:48:22Z</cp:lastPrinted>
  <dcterms:created xsi:type="dcterms:W3CDTF">2026-08-13T17:32:16Z</dcterms:created>
  <dcterms:modified xsi:type="dcterms:W3CDTF">2026-08-18T14:31:28Z</dcterms:modified>
</cp:coreProperties>
</file>