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18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317" r:id="rId15"/>
    <p:sldId id="268" r:id="rId16"/>
    <p:sldId id="316" r:id="rId17"/>
    <p:sldId id="269" r:id="rId18"/>
    <p:sldId id="315" r:id="rId19"/>
    <p:sldId id="270" r:id="rId20"/>
    <p:sldId id="314" r:id="rId21"/>
    <p:sldId id="271" r:id="rId22"/>
    <p:sldId id="272" r:id="rId23"/>
    <p:sldId id="313" r:id="rId24"/>
    <p:sldId id="273" r:id="rId25"/>
    <p:sldId id="312" r:id="rId26"/>
    <p:sldId id="274" r:id="rId27"/>
    <p:sldId id="311" r:id="rId28"/>
    <p:sldId id="275" r:id="rId29"/>
    <p:sldId id="310" r:id="rId30"/>
    <p:sldId id="276" r:id="rId31"/>
    <p:sldId id="309" r:id="rId32"/>
    <p:sldId id="277" r:id="rId33"/>
    <p:sldId id="308" r:id="rId34"/>
    <p:sldId id="278" r:id="rId35"/>
    <p:sldId id="307" r:id="rId36"/>
    <p:sldId id="279" r:id="rId37"/>
    <p:sldId id="306" r:id="rId38"/>
    <p:sldId id="280" r:id="rId39"/>
    <p:sldId id="305" r:id="rId40"/>
    <p:sldId id="281" r:id="rId41"/>
    <p:sldId id="282" r:id="rId42"/>
    <p:sldId id="304" r:id="rId43"/>
    <p:sldId id="283" r:id="rId44"/>
    <p:sldId id="303" r:id="rId45"/>
    <p:sldId id="284" r:id="rId46"/>
    <p:sldId id="302" r:id="rId47"/>
    <p:sldId id="285" r:id="rId48"/>
    <p:sldId id="286" r:id="rId49"/>
    <p:sldId id="301" r:id="rId50"/>
    <p:sldId id="287" r:id="rId51"/>
    <p:sldId id="300" r:id="rId52"/>
    <p:sldId id="288" r:id="rId53"/>
    <p:sldId id="289" r:id="rId54"/>
    <p:sldId id="299" r:id="rId55"/>
    <p:sldId id="298" r:id="rId56"/>
    <p:sldId id="290" r:id="rId57"/>
    <p:sldId id="297" r:id="rId58"/>
    <p:sldId id="291" r:id="rId59"/>
    <p:sldId id="292" r:id="rId60"/>
    <p:sldId id="293" r:id="rId61"/>
    <p:sldId id="294" r:id="rId62"/>
    <p:sldId id="295" r:id="rId63"/>
    <p:sldId id="296" r:id="rId6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62"/>
    <p:restoredTop sz="94623"/>
  </p:normalViewPr>
  <p:slideViewPr>
    <p:cSldViewPr snapToGrid="0" snapToObjects="1">
      <p:cViewPr varScale="1">
        <p:scale>
          <a:sx n="102" d="100"/>
          <a:sy n="102" d="100"/>
        </p:scale>
        <p:origin x="192" y="4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0.png"/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0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0.png"/><Relationship Id="rId4" Type="http://schemas.openxmlformats.org/officeDocument/2006/relationships/image" Target="../media/image112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24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0.png"/><Relationship Id="rId4" Type="http://schemas.openxmlformats.org/officeDocument/2006/relationships/image" Target="../media/image31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1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4" Type="http://schemas.openxmlformats.org/officeDocument/2006/relationships/image" Target="../media/image231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0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0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0.png"/><Relationship Id="rId4" Type="http://schemas.openxmlformats.org/officeDocument/2006/relationships/image" Target="../media/image5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1.png"/><Relationship Id="rId5" Type="http://schemas.openxmlformats.org/officeDocument/2006/relationships/image" Target="../media/image261.png"/><Relationship Id="rId4" Type="http://schemas.openxmlformats.org/officeDocument/2006/relationships/image" Target="../media/image3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9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1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9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2.png"/><Relationship Id="rId5" Type="http://schemas.openxmlformats.org/officeDocument/2006/relationships/image" Target="../media/image580.png"/><Relationship Id="rId4" Type="http://schemas.openxmlformats.org/officeDocument/2006/relationships/image" Target="../media/image260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1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1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1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1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36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90.png"/><Relationship Id="rId4" Type="http://schemas.openxmlformats.org/officeDocument/2006/relationships/image" Target="../media/image440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1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4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0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70.png"/><Relationship Id="rId4" Type="http://schemas.openxmlformats.org/officeDocument/2006/relationships/image" Target="../media/image560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0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10.png"/><Relationship Id="rId4" Type="http://schemas.openxmlformats.org/officeDocument/2006/relationships/image" Target="../media/image600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9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0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10.png"/><Relationship Id="rId4" Type="http://schemas.openxmlformats.org/officeDocument/2006/relationships/image" Target="../media/image640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B9E7DCF-1A3D-1CEE-5EBF-9B07041D6A72}"/>
              </a:ext>
            </a:extLst>
          </p:cNvPr>
          <p:cNvSpPr txBox="1"/>
          <p:nvPr/>
        </p:nvSpPr>
        <p:spPr>
          <a:xfrm>
            <a:off x="169762" y="2967335"/>
            <a:ext cx="118524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i="1" dirty="0">
                <a:latin typeface="Futura Medium" panose="020B0602020204020303" pitchFamily="34" charset="-79"/>
                <a:cs typeface="Futura Medium" panose="020B0602020204020303" pitchFamily="34" charset="-79"/>
              </a:rPr>
              <a:t>TAKEAWAYS MEMO HAND</a:t>
            </a:r>
          </a:p>
        </p:txBody>
      </p:sp>
    </p:spTree>
    <p:extLst>
      <p:ext uri="{BB962C8B-B14F-4D97-AF65-F5344CB8AC3E}">
        <p14:creationId xmlns:p14="http://schemas.microsoft.com/office/powerpoint/2010/main" val="30070397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37744"/>
            <a:ext cx="11313871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 baseline="0">
                <a:latin typeface="Calibri"/>
              </a:rPr>
              <a:t>How to use this companion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804672"/>
            <a:ext cx="1131387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 baseline="0" dirty="0">
                <a:latin typeface="Calibri"/>
              </a:rPr>
              <a:t>Read each narrative slide out loud, then paste the matching \</a:t>
            </a:r>
            <a:r>
              <a:rPr sz="1500" b="0" i="0" baseline="0" dirty="0" err="1">
                <a:latin typeface="Calibri"/>
              </a:rPr>
              <a:t>texttt</a:t>
            </a:r>
            <a:r>
              <a:rPr sz="1500" b="0" i="0" baseline="0" dirty="0">
                <a:latin typeface="Calibri"/>
              </a:rPr>
              <a:t>{CHAR\_PD20\_HAND} slide immediately after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316736"/>
            <a:ext cx="11313871" cy="35365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 dirty="0">
                <a:latin typeface="Calibri"/>
              </a:rPr>
              <a:t>Structure: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 dirty="0">
                <a:latin typeface="Calibri"/>
              </a:rPr>
              <a:t>Slides 2–5 = wavetops (dissertation → Wang arc → LG pipeline → HAND preview). Slides 6–9 = the snag and three PD22 questions with answer summaries. Then Act bridges + 21 HAND companions (footer shows which slide to paste). End = where we stand + what lies ahead (main line, predictions, parked, manuscript).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 dirty="0">
                <a:latin typeface="Calibri"/>
              </a:rPr>
              <a:t>Format: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 dirty="0">
                <a:latin typeface="Calibri"/>
              </a:rPr>
              <a:t>Every substantive slide uses the same beats: why we cared, what we ran, </a:t>
            </a:r>
            <a:r>
              <a:rPr lang="en-US" sz="1700" b="0" i="0" baseline="0" dirty="0">
                <a:latin typeface="Calibri"/>
              </a:rPr>
              <a:t>What showed up</a:t>
            </a:r>
            <a:r>
              <a:rPr sz="1700" b="0" i="0" baseline="0" dirty="0">
                <a:latin typeface="Calibri"/>
              </a:rPr>
              <a:t>, </a:t>
            </a:r>
            <a:r>
              <a:rPr lang="en-US" sz="1700" b="0" i="0" baseline="0" dirty="0">
                <a:latin typeface="Calibri"/>
              </a:rPr>
              <a:t>What you can say</a:t>
            </a:r>
            <a:r>
              <a:rPr sz="1700" b="0" i="0" baseline="0" dirty="0">
                <a:latin typeface="Calibri"/>
              </a:rPr>
              <a:t>. Numbers come from locked JSON on disk.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 dirty="0">
                <a:latin typeface="Calibri"/>
              </a:rPr>
              <a:t>Optional read-aloud order: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 dirty="0">
                <a:latin typeface="Calibri"/>
              </a:rPr>
              <a:t>After slide 9 you can jump Acts I → II → IV (17–19) → III (14–16) → IV (20–21) if you want policy evidence before </a:t>
            </a:r>
            <a:r>
              <a:rPr lang="en-US" sz="1700" b="0" i="0" baseline="0" dirty="0">
                <a:latin typeface="Calibri"/>
              </a:rPr>
              <a:t>𝜌</a:t>
            </a:r>
            <a:r>
              <a:rPr sz="1700" b="0" i="0" baseline="0" dirty="0">
                <a:latin typeface="Calibri"/>
              </a:rPr>
              <a:t> and overlap.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37744"/>
            <a:ext cx="11313871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 baseline="0">
                <a:latin typeface="Calibri"/>
              </a:rPr>
              <a:t>Part 0 — Big picture: where the dissertation started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804672"/>
            <a:ext cx="1131387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 baseline="0">
                <a:latin typeface="Calibri"/>
              </a:rPr>
              <a:t>Army inverted-U → cross-domain test → MBB hero (Layer A).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316736"/>
            <a:ext cx="11313871" cy="5102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Army: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Officer careers: advancement rate vs peer-group quality often rises through the middle and dips in the very best peer environments — the inverted-U tail.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Cross-domain: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We asked whether that pattern is Army-only. MBB (NBA draft vs teammate quality) became the main working example; tenure is the parallel third leg (parked).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Hero (Layer A):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Bin real player-seasons by leave-one-out teammate pool quality; plot draft rate. Rate rises, plateaus, dips in the top bin. That is a stylized fact about outcomes — not yet a proof of why.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37744"/>
            <a:ext cx="692587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800" b="1" dirty="0"/>
              <a:t>Part 1 — The Wang-style arc (smaller picture)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804672"/>
            <a:ext cx="1131387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 baseline="0">
                <a:latin typeface="Calibri"/>
              </a:rPr>
              <a:t>Phenomenon → simplest mechanism story → wind-tunnel sim → predictions.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38912" y="1316736"/>
                <a:ext cx="11313871" cy="36624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r>
                  <a:rPr sz="1400" b="1" i="0" baseline="0" dirty="0">
                    <a:latin typeface="Calibri"/>
                  </a:rPr>
                  <a:t>Rung 1:</a:t>
                </a: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1400"/>
                  </a:spcAft>
                </a:pPr>
                <a:r>
                  <a:rPr sz="1700" b="0" i="0" baseline="0" dirty="0">
                    <a:latin typeface="Calibri"/>
                  </a:rPr>
                  <a:t>Hero + talent baseline on real NCAA data — what the curves look like.</a:t>
                </a:r>
              </a:p>
              <a:p>
                <a:pPr>
                  <a:lnSpc>
                    <a:spcPct val="115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r>
                  <a:rPr sz="1400" b="1" i="0" baseline="0" dirty="0">
                    <a:latin typeface="Calibri"/>
                  </a:rPr>
                  <a:t>Rung 2 (Layer B):</a:t>
                </a: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1400"/>
                  </a:spcAft>
                </a:pPr>
                <a:r>
                  <a:rPr sz="1700" b="0" i="0" baseline="0" dirty="0">
                    <a:latin typeface="Calibri"/>
                  </a:rPr>
                  <a:t>Peers help (B) and hurt (D); advancement = score </a:t>
                </a:r>
                <a14:m>
                  <m:oMath xmlns:m="http://schemas.openxmlformats.org/officeDocument/2006/math">
                    <m:r>
                      <a:rPr lang="en-US" sz="1700" b="0" i="0" baseline="0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700" b="0" i="0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b="0" i="0" baseline="0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700" b="0" i="0" baseline="0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700" b="0" i="0" baseline="0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700" b="0" i="0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b="0" i="0" baseline="0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700" b="0" i="0" baseline="0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700" b="0" i="0" baseline="0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700" b="0" i="0" baseline="0" dirty="0" smtClean="0">
                        <a:latin typeface="Cambria Math" panose="02040503050406030204" pitchFamily="18" charset="0"/>
                      </a:rPr>
                      <m:t>𝜆</m:t>
                    </m:r>
                    <m:sSub>
                      <m:sSubPr>
                        <m:ctrlPr>
                          <a:rPr lang="en-US" sz="1700" b="0" i="0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b="0" i="0" baseline="0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700" b="0" i="0" baseline="0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sz="1700" b="0" i="0" baseline="0" dirty="0">
                    <a:latin typeface="Calibri"/>
                  </a:rPr>
                  <a:t>) then select (top K, later Gibbs). Environment $\</a:t>
                </a:r>
                <a:r>
                  <a:rPr sz="1700" b="0" i="0" baseline="0" dirty="0" err="1">
                    <a:latin typeface="Calibri"/>
                  </a:rPr>
                  <a:t>neq</a:t>
                </a:r>
                <a:r>
                  <a:rPr sz="1700" b="0" i="0" baseline="0" dirty="0">
                    <a:latin typeface="Calibri"/>
                  </a:rPr>
                  <a:t>$ advancement; score </a:t>
                </a:r>
                <a14:m>
                  <m:oMath xmlns:m="http://schemas.openxmlformats.org/officeDocument/2006/math">
                    <m:r>
                      <a:rPr lang="en-US" sz="1700" b="0" i="0" baseline="0" dirty="0" smtClean="0">
                        <a:latin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sz="1700" b="0" i="0" baseline="0" dirty="0">
                    <a:latin typeface="Calibri"/>
                  </a:rPr>
                  <a:t>select.</a:t>
                </a:r>
              </a:p>
              <a:p>
                <a:pPr>
                  <a:lnSpc>
                    <a:spcPct val="115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r>
                  <a:rPr sz="1400" b="1" i="0" baseline="0" dirty="0">
                    <a:latin typeface="Calibri"/>
                  </a:rPr>
                  <a:t>Rung 2 (Layer C):</a:t>
                </a: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1400"/>
                  </a:spcAft>
                </a:pPr>
                <a:r>
                  <a:rPr sz="1700" b="0" i="0" baseline="0" dirty="0">
                    <a:latin typeface="Calibri"/>
                  </a:rPr>
                  <a:t>Fake league (LG): assign → score → select. Knockout: talent-only score vs congestion in score — same winner rule. Phase B (PD16) sweeps knobs; Alex accepted.</a:t>
                </a:r>
              </a:p>
              <a:p>
                <a:pPr>
                  <a:lnSpc>
                    <a:spcPct val="115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r>
                  <a:rPr sz="1400" b="1" i="0" baseline="0" dirty="0">
                    <a:latin typeface="Calibri"/>
                  </a:rPr>
                  <a:t>Rung 3:</a:t>
                </a: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1400"/>
                  </a:spcAft>
                </a:pPr>
                <a:r>
                  <a:rPr sz="1700" b="0" i="0" baseline="0" dirty="0">
                    <a:latin typeface="Calibri"/>
                  </a:rPr>
                  <a:t>Predictions beyond the curve: cross-domain replication, sim knockout, later PD14 predictive gain (parked).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912" y="1316736"/>
                <a:ext cx="11313871" cy="3662477"/>
              </a:xfrm>
              <a:prstGeom prst="rect">
                <a:avLst/>
              </a:prstGeom>
              <a:blipFill>
                <a:blip r:embed="rId2"/>
                <a:stretch>
                  <a:fillRect l="-336" b="-10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37744"/>
            <a:ext cx="11313871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 baseline="0">
                <a:latin typeface="Calibri"/>
              </a:rPr>
              <a:t>Part 2 — LG pipeline (one mechanism, three steps)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804672"/>
            <a:ext cx="1131387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 baseline="0">
                <a:latin typeface="Calibri"/>
              </a:rPr>
              <a:t>ASSIGN → SCORE → SELECT — how the fake league is wired.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38912" y="1316736"/>
                <a:ext cx="11313871" cy="30084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r>
                  <a:rPr sz="1400" b="1" i="0" baseline="0" dirty="0">
                    <a:latin typeface="Calibri"/>
                  </a:rPr>
                  <a:t>ASSIGN:</a:t>
                </a: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1400"/>
                  </a:spcAft>
                </a:pPr>
                <a:r>
                  <a:rPr sz="1700" b="0" i="0" baseline="0" dirty="0">
                    <a:latin typeface="Calibri"/>
                  </a:rPr>
                  <a:t>Who sits on which team? Homophily knob </a:t>
                </a:r>
                <a14:m>
                  <m:oMath xmlns:m="http://schemas.openxmlformats.org/officeDocument/2006/math">
                    <m:r>
                      <a:rPr lang="en-US" sz="17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700" b="0" i="0" baseline="0" dirty="0">
                    <a:latin typeface="Calibri"/>
                  </a:rPr>
                  <a:t>— do similar players cluster?</a:t>
                </a:r>
              </a:p>
              <a:p>
                <a:pPr>
                  <a:lnSpc>
                    <a:spcPct val="115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r>
                  <a:rPr sz="1400" b="1" i="0" baseline="0" dirty="0">
                    <a:latin typeface="Calibri"/>
                  </a:rPr>
                  <a:t>SCORE:</a:t>
                </a: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1400"/>
                  </a:spcAft>
                </a:pPr>
                <a:r>
                  <a:rPr sz="1700" b="0" i="0" baseline="0" dirty="0">
                    <a:latin typeface="Calibri"/>
                  </a:rPr>
                  <a:t>How do we rank? </a:t>
                </a:r>
                <a14:m>
                  <m:oMath xmlns:m="http://schemas.openxmlformats.org/officeDocument/2006/math">
                    <m:r>
                      <a:rPr lang="en-US" sz="1700" b="0" i="0" baseline="0" dirty="0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sz="1700" b="0" i="0" baseline="0" dirty="0">
                    <a:latin typeface="Calibri"/>
                  </a:rPr>
                  <a:t>weights viable-peer congestion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b="0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700" b="0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sz="1700" b="0" i="0" baseline="0" dirty="0">
                    <a:latin typeface="Calibri"/>
                  </a:rPr>
                  <a:t>in the score.</a:t>
                </a:r>
              </a:p>
              <a:p>
                <a:pPr>
                  <a:lnSpc>
                    <a:spcPct val="115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r>
                  <a:rPr sz="1400" b="1" i="0" baseline="0" dirty="0">
                    <a:latin typeface="Calibri"/>
                  </a:rPr>
                  <a:t>SELECT:</a:t>
                </a: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1400"/>
                  </a:spcAft>
                </a:pPr>
                <a:r>
                  <a:rPr sz="1700" b="0" i="0" baseline="0" dirty="0">
                    <a:latin typeface="Calibri"/>
                  </a:rPr>
                  <a:t>Who wins scarce slots? Top K in v1; PD20 tests soft Gibbs / temperature.</a:t>
                </a:r>
              </a:p>
              <a:p>
                <a:pPr>
                  <a:lnSpc>
                    <a:spcPct val="115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r>
                  <a:rPr sz="1400" b="1" i="0" baseline="0" dirty="0">
                    <a:latin typeface="Calibri"/>
                  </a:rPr>
                  <a:t>PD17 empirical:</a:t>
                </a: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1400"/>
                  </a:spcAft>
                </a:pPr>
                <a:r>
                  <a:rPr sz="1700" b="0" i="0" baseline="0" dirty="0">
                    <a:latin typeface="Calibri"/>
                  </a:rPr>
                  <a:t>Real rosters, interval overlap,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700" b="0" i="0" baseline="0" dirty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</m:sSub>
                  </m:oMath>
                </a14:m>
                <a:r>
                  <a:rPr sz="1700" b="0" i="0" baseline="0" dirty="0">
                    <a:latin typeface="Calibri"/>
                  </a:rPr>
                  <a:t>sorting index, </a:t>
                </a:r>
                <a14:m>
                  <m:oMath xmlns:m="http://schemas.openxmlformats.org/officeDocument/2006/math">
                    <m:r>
                      <a:rPr lang="en-US" sz="1700" b="0" i="0" baseline="0" dirty="0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sz="1700" b="0" i="0" baseline="0" dirty="0">
                    <a:latin typeface="Calibri"/>
                  </a:rPr>
                  <a:t>sweeps — same panel as the hero.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912" y="1316736"/>
                <a:ext cx="11313871" cy="3008452"/>
              </a:xfrm>
              <a:prstGeom prst="rect">
                <a:avLst/>
              </a:prstGeom>
              <a:blipFill>
                <a:blip r:embed="rId2"/>
                <a:stretch>
                  <a:fillRect l="-336" b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37744"/>
            <a:ext cx="11313871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 baseline="0">
                <a:latin typeface="Calibri"/>
              </a:rPr>
              <a:t>Part 3 preview — CHAR\_PD20\_HAND in four 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804672"/>
            <a:ext cx="1131387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 baseline="0" dirty="0">
                <a:latin typeface="Calibri"/>
              </a:rPr>
              <a:t>21 slides: PD20 gate → panel backup → </a:t>
            </a:r>
            <a:r>
              <a:rPr lang="en-US" sz="1500" b="0" i="0" baseline="0" dirty="0">
                <a:latin typeface="Calibri"/>
              </a:rPr>
              <a:t>𝜌</a:t>
            </a:r>
            <a:r>
              <a:rPr sz="1500" b="0" i="0" baseline="0" dirty="0">
                <a:latin typeface="Calibri"/>
              </a:rPr>
              <a:t> calibration → policy/overlap.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38912" y="1316736"/>
                <a:ext cx="11313871" cy="30084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r>
                  <a:rPr sz="1400" b="1" i="0" baseline="0" dirty="0">
                    <a:latin typeface="Calibri"/>
                  </a:rPr>
                  <a:t>Act I (slides 1–4):</a:t>
                </a: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1400"/>
                  </a:spcAft>
                </a:pPr>
                <a:r>
                  <a:rPr sz="1700" b="0" i="0" baseline="0" dirty="0">
                    <a:latin typeface="Calibri"/>
                  </a:rPr>
                  <a:t>PD20: Does soft SELECT kill the inverted-U?</a:t>
                </a:r>
              </a:p>
              <a:p>
                <a:pPr>
                  <a:lnSpc>
                    <a:spcPct val="115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r>
                  <a:rPr sz="1400" b="1" i="0" baseline="0" dirty="0">
                    <a:latin typeface="Calibri"/>
                  </a:rPr>
                  <a:t>Act II (slides 5–13):</a:t>
                </a: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1400"/>
                  </a:spcAft>
                </a:pPr>
                <a:r>
                  <a:rPr sz="1700" b="0" i="0" baseline="0" dirty="0">
                    <a:latin typeface="Calibri"/>
                  </a:rPr>
                  <a:t>PD22: Why do we trust the hero panel? Box QC + minutes/PPM.</a:t>
                </a:r>
              </a:p>
              <a:p>
                <a:pPr>
                  <a:lnSpc>
                    <a:spcPct val="115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r>
                  <a:rPr sz="1400" b="1" i="0" baseline="0" dirty="0">
                    <a:latin typeface="Calibri"/>
                  </a:rPr>
                  <a:t>Act III (slides 14–16):</a:t>
                </a: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1400"/>
                  </a:spcAft>
                </a:pPr>
                <a:r>
                  <a:rPr sz="1700" b="0" i="0" baseline="0" dirty="0">
                    <a:latin typeface="Calibri"/>
                  </a:rPr>
                  <a:t>PD21: What </a:t>
                </a:r>
                <a14:m>
                  <m:oMath xmlns:m="http://schemas.openxmlformats.org/officeDocument/2006/math">
                    <m:r>
                      <a:rPr lang="en-US" sz="17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700" b="0" i="0" baseline="0" dirty="0">
                    <a:latin typeface="Calibri"/>
                  </a:rPr>
                  <a:t> for ASSIGN? Hero panel vs ppm0lt20 contrast.</a:t>
                </a:r>
              </a:p>
              <a:p>
                <a:pPr>
                  <a:lnSpc>
                    <a:spcPct val="115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r>
                  <a:rPr sz="1400" b="1" i="0" baseline="0" dirty="0">
                    <a:latin typeface="Calibri"/>
                  </a:rPr>
                  <a:t>Act IV (slides 17–21):</a:t>
                </a: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1400"/>
                  </a:spcAft>
                </a:pPr>
                <a:r>
                  <a:rPr sz="1700" b="0" i="0" baseline="0" dirty="0">
                    <a:latin typeface="Calibri"/>
                  </a:rPr>
                  <a:t>PD22: Drop vs PPM-zero decision + overlap reconciliation.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912" y="1316736"/>
                <a:ext cx="11313871" cy="3008452"/>
              </a:xfrm>
              <a:prstGeom prst="rect">
                <a:avLst/>
              </a:prstGeom>
              <a:blipFill>
                <a:blip r:embed="rId2"/>
                <a:stretch>
                  <a:fillRect l="-336" b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37744"/>
            <a:ext cx="11313871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 baseline="0" dirty="0">
                <a:latin typeface="Calibri"/>
              </a:rPr>
              <a:t>The snag — Act II was supposed to be quick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86384"/>
            <a:ext cx="1131387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 baseline="0">
                <a:latin typeface="Calibri"/>
              </a:rPr>
              <a:t>What went wrong while we were building panel-backup slides?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38912" y="1316736"/>
                <a:ext cx="11313871" cy="43165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r>
                  <a:rPr lang="en-US" sz="1400" b="1" dirty="0"/>
                  <a:t>Why this came up:</a:t>
                </a: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1400"/>
                  </a:spcAft>
                </a:pPr>
                <a:r>
                  <a:rPr lang="en-US" sz="1700" dirty="0"/>
                  <a:t>Before we cite a </a:t>
                </a:r>
                <a14:m>
                  <m:oMath xmlns:m="http://schemas.openxmlformats.org/officeDocument/2006/math">
                    <m:r>
                      <a:rPr lang="en-US" sz="17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700" b="0" i="0" baseline="0" dirty="0">
                    <a:latin typeface="Calibri"/>
                  </a:rPr>
                  <a:t> number, we need to defend the real player table that feeds ASSIGN and </a:t>
                </a:r>
                <a:r>
                  <a:rPr lang="en-US" sz="1700" b="0" i="0" baseline="0" dirty="0">
                    <a:latin typeface="Calibri"/>
                  </a:rPr>
                  <a:t>𝐻_sort</a:t>
                </a:r>
                <a:r>
                  <a:rPr sz="1700" b="0" i="0" baseline="0" dirty="0">
                    <a:latin typeface="Calibri"/>
                  </a:rPr>
                  <a:t>. That should have been straightforward backup.</a:t>
                </a:r>
              </a:p>
              <a:p>
                <a:pPr>
                  <a:lnSpc>
                    <a:spcPct val="115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r>
                  <a:rPr lang="en-US" sz="1400" b="1" i="0" baseline="0" dirty="0">
                    <a:latin typeface="Calibri"/>
                  </a:rPr>
                  <a:t>What we ran</a:t>
                </a:r>
                <a:r>
                  <a:rPr sz="1400" b="1" i="0" baseline="0" dirty="0">
                    <a:latin typeface="Calibri"/>
                  </a:rPr>
                  <a:t>:</a:t>
                </a: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1400"/>
                  </a:spcAft>
                </a:pPr>
                <a:r>
                  <a:rPr sz="1700" b="0" i="0" baseline="0" dirty="0">
                    <a:latin typeface="Calibri"/>
                  </a:rPr>
                  <a:t>We opened the ESPN box-score feed for roster-size and minutes slides — and found contamination (dash placeholders, one-game team-seasons). Alex also asked why we drop sub-20-minute players instead of keeping them with PPM </a:t>
                </a:r>
                <a14:m>
                  <m:oMath xmlns:m="http://schemas.openxmlformats.org/officeDocument/2006/math">
                    <m:r>
                      <a:rPr lang="en-US" sz="1700" b="0" i="0" baseline="0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sz="1700" b="0" i="0" baseline="0" dirty="0">
                    <a:latin typeface="Calibri"/>
                  </a:rPr>
                  <a:t>.</a:t>
                </a:r>
              </a:p>
              <a:p>
                <a:pPr>
                  <a:lnSpc>
                    <a:spcPct val="115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r>
                  <a:rPr lang="en-US" sz="1400" b="1" i="0" baseline="0" dirty="0">
                    <a:latin typeface="Calibri"/>
                  </a:rPr>
                  <a:t>What showed up</a:t>
                </a:r>
                <a:r>
                  <a:rPr sz="1400" b="1" i="0" baseline="0" dirty="0">
                    <a:latin typeface="Calibri"/>
                  </a:rPr>
                  <a:t>:</a:t>
                </a: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1400"/>
                  </a:spcAft>
                </a:pPr>
                <a:r>
                  <a:rPr sz="1700" b="0" i="0" baseline="0" dirty="0">
                    <a:latin typeface="Calibri"/>
                  </a:rPr>
                  <a:t>Box QC changed measured sorting (</a:t>
                </a:r>
                <a:r>
                  <a:rPr lang="en-US" sz="1700" b="0" i="0" baseline="0" dirty="0">
                    <a:latin typeface="Calibri"/>
                  </a:rPr>
                  <a:t>𝐻_sort</a:t>
                </a:r>
                <a:r>
                  <a:rPr sz="1700" b="0" i="0" baseline="0" dirty="0">
                    <a:latin typeface="Calibri"/>
                  </a:rPr>
                  <a:t>~0.10→~0.06) and therefore </a:t>
                </a:r>
                <a:r>
                  <a:rPr lang="en-US" sz="1700" b="0" i="0" baseline="0" dirty="0">
                    <a:latin typeface="Calibri"/>
                  </a:rPr>
                  <a:t>$\rho^*$ </a:t>
                </a:r>
                <a:r>
                  <a:rPr sz="1700" b="0" i="0" baseline="0" dirty="0">
                    <a:latin typeface="Calibri"/>
                  </a:rPr>
                  <a:t>(mixed non-zero seasons → all zero on locked panel). An old pre-QC slide showed 2013 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700" b="0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700" b="0" i="0" baseline="0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700" b="0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700" b="0" i="0" baseline="0" dirty="0">
                        <a:latin typeface="Cambria Math" panose="02040503050406030204" pitchFamily="18" charset="0"/>
                      </a:rPr>
                      <m:t>≈0.07</m:t>
                    </m:r>
                  </m:oMath>
                </a14:m>
                <a:r>
                  <a:rPr sz="1700" b="0" i="0" baseline="0" dirty="0">
                    <a:latin typeface="Calibri"/>
                  </a:rPr>
                  <a:t> — that sent us on a 2012 vs 2013 side quest.</a:t>
                </a:r>
              </a:p>
              <a:p>
                <a:pPr>
                  <a:lnSpc>
                    <a:spcPct val="115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r>
                  <a:rPr lang="en-US" sz="1400" b="1" i="0" baseline="0" dirty="0">
                    <a:latin typeface="Calibri"/>
                  </a:rPr>
                  <a:t>What you can say</a:t>
                </a:r>
                <a:r>
                  <a:rPr sz="1400" b="1" i="0" baseline="0" dirty="0">
                    <a:latin typeface="Calibri"/>
                  </a:rPr>
                  <a:t>:</a:t>
                </a: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1400"/>
                  </a:spcAft>
                </a:pPr>
                <a:r>
                  <a:rPr sz="1700" b="1" i="0" baseline="0" dirty="0">
                    <a:latin typeface="Calibri"/>
                  </a:rPr>
                  <a:t>We split the fix: A = box QC, B = PD22 minutes/policy investigation, C = lock </a:t>
                </a:r>
                <a:r>
                  <a:rPr lang="en-US" sz="1700" b="1" i="0" baseline="0" dirty="0">
                    <a:latin typeface="Calibri"/>
                  </a:rPr>
                  <a:t>𝜌</a:t>
                </a:r>
                <a:r>
                  <a:rPr sz="1700" b="1" i="0" baseline="0" dirty="0">
                    <a:latin typeface="Calibri"/>
                  </a:rPr>
                  <a:t> and reconcile overlap. Three questions drove B.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912" y="1316736"/>
                <a:ext cx="11313871" cy="4316503"/>
              </a:xfrm>
              <a:prstGeom prst="rect">
                <a:avLst/>
              </a:prstGeom>
              <a:blipFill>
                <a:blip r:embed="rId2"/>
                <a:stretch>
                  <a:fillRect l="-336" r="-673" b="-8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37744"/>
            <a:ext cx="11313871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 baseline="0">
                <a:latin typeface="Calibri"/>
              </a:rPr>
              <a:t>Three questions the snag generated (PD22)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804672"/>
            <a:ext cx="1131387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 baseline="0" dirty="0">
                <a:latin typeface="Calibri"/>
              </a:rPr>
              <a:t>Alex's Aug 17 scope — answer each before locking panel and </a:t>
            </a:r>
            <a:r>
              <a:rPr lang="en-US" sz="1500" b="0" i="0" baseline="0" dirty="0">
                <a:latin typeface="Calibri"/>
              </a:rPr>
              <a:t>𝜌</a:t>
            </a:r>
            <a:r>
              <a:rPr sz="1500" b="0" i="0" baseline="0" dirty="0">
                <a:latin typeface="Calibri"/>
              </a:rPr>
              <a:t> in front of him.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38912" y="1316736"/>
                <a:ext cx="11313871" cy="22808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r>
                  <a:rPr sz="1400" b="1" i="0" baseline="0" dirty="0">
                    <a:latin typeface="Calibri"/>
                  </a:rPr>
                  <a:t>Q1 — The 20-minute floor:</a:t>
                </a: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1400"/>
                  </a:spcAft>
                </a:pPr>
                <a:r>
                  <a:rPr sz="1700" b="0" i="0" baseline="0" dirty="0">
                    <a:latin typeface="Calibri"/>
                  </a:rPr>
                  <a:t>Is 20 arbitrary? What PPM are we throwing away when we drop players below the floor?</a:t>
                </a:r>
              </a:p>
              <a:p>
                <a:pPr>
                  <a:lnSpc>
                    <a:spcPct val="115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r>
                  <a:rPr sz="1400" b="1" i="0" baseline="0" dirty="0">
                    <a:latin typeface="Calibri"/>
                  </a:rPr>
                  <a:t>Q2 — Drop vs PPM-zero:</a:t>
                </a: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1400"/>
                  </a:spcAft>
                </a:pPr>
                <a:r>
                  <a:rPr sz="1700" b="0" i="0" baseline="0" dirty="0">
                    <a:latin typeface="Calibri"/>
                  </a:rPr>
                  <a:t>If we keep sub-20 players and set PPM </a:t>
                </a:r>
                <a14:m>
                  <m:oMath xmlns:m="http://schemas.openxmlformats.org/officeDocument/2006/math">
                    <m:r>
                      <a:rPr lang="en-US" sz="1700" b="0" i="0" baseline="0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sz="1700" b="0" i="0" baseline="0" dirty="0">
                    <a:latin typeface="Calibri"/>
                  </a:rPr>
                  <a:t>, do bench zeros fake homophily and inflate </a:t>
                </a:r>
                <a:r>
                  <a:rPr lang="en-US" sz="1700" b="0" i="0" baseline="0" dirty="0">
                    <a:latin typeface="Calibri"/>
                  </a:rPr>
                  <a:t>𝜌^∗</a:t>
                </a:r>
                <a:r>
                  <a:rPr sz="1700" b="0" i="0" baseline="0" dirty="0">
                    <a:latin typeface="Calibri"/>
                  </a:rPr>
                  <a:t>?</a:t>
                </a:r>
              </a:p>
              <a:p>
                <a:pPr>
                  <a:lnSpc>
                    <a:spcPct val="115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r>
                  <a:rPr sz="1400" b="1" i="0" baseline="0" dirty="0">
                    <a:latin typeface="Calibri"/>
                  </a:rPr>
                  <a:t>Q3 —</a:t>
                </a:r>
                <a:r>
                  <a:rPr lang="en-US" sz="1400" b="1" i="0" baseline="0" dirty="0">
                    <a:latin typeface="Calibri"/>
                  </a:rPr>
                  <a:t> </a:t>
                </a:r>
                <a:r>
                  <a:rPr lang="ar-AE" sz="1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140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400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ar-AE" sz="140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4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sz="1400" b="1" i="0" baseline="0" dirty="0">
                    <a:latin typeface="Calibri"/>
                  </a:rPr>
                  <a:t>vs overlap plots:</a:t>
                </a: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1400"/>
                  </a:spcAft>
                </a:pPr>
                <a:r>
                  <a:rPr sz="1700" b="0" i="0" baseline="0" dirty="0">
                    <a:latin typeface="Calibri"/>
                  </a:rPr>
                  <a:t>You got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700" b="0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700" b="0" i="0" baseline="0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700" b="0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700" b="0" i="0" baseline="0" dirty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sz="1700" b="0" i="0" baseline="0" dirty="0">
                    <a:latin typeface="Calibri"/>
                  </a:rPr>
                  <a:t> — but interval-overlap pictures still look heavily sorted. </a:t>
                </a:r>
                <a:r>
                  <a:rPr lang="en-US" sz="1700" dirty="0"/>
                  <a:t>And an older slide had 2013 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7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700" i="1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700" i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700" i="0" dirty="0">
                        <a:latin typeface="Cambria Math" panose="02040503050406030204" pitchFamily="18" charset="0"/>
                      </a:rPr>
                      <m:t>≈0.07</m:t>
                    </m:r>
                  </m:oMath>
                </a14:m>
                <a:r>
                  <a:rPr lang="en-US" sz="1700" dirty="0"/>
                  <a:t>.</a:t>
                </a:r>
                <a:endParaRPr sz="1700" b="0" i="0" baseline="0" dirty="0">
                  <a:latin typeface="Calibri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912" y="1316736"/>
                <a:ext cx="11313871" cy="2280881"/>
              </a:xfrm>
              <a:prstGeom prst="rect">
                <a:avLst/>
              </a:prstGeom>
              <a:blipFill>
                <a:blip r:embed="rId2"/>
                <a:stretch>
                  <a:fillRect l="-3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37744"/>
            <a:ext cx="11313871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 baseline="0">
                <a:latin typeface="Calibri"/>
              </a:rPr>
              <a:t>Q1 answered — Keep the 20-minute floor (drop sub-20)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86384"/>
            <a:ext cx="1131387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 baseline="0">
                <a:latin typeface="Calibri"/>
              </a:rPr>
              <a:t>Is 20 minutes arbitrary? What PPM are we throwing away?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316736"/>
            <a:ext cx="11313871" cy="4316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400" b="1" dirty="0"/>
              <a:t>Why this came up: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lang="en-US" sz="1700" dirty="0"/>
              <a:t>Alex asked whether we can defend the hero panel with more than "we always used 20." </a:t>
            </a:r>
            <a:r>
              <a:rPr sz="1700" b="0" i="0" baseline="0" dirty="0">
                <a:latin typeface="Calibri"/>
              </a:rPr>
              <a:t>We need to see where playing-time mass sits and how noisy sub-20-minute PPM is.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400" b="1" i="0" baseline="0" dirty="0">
                <a:latin typeface="Calibri"/>
              </a:rPr>
              <a:t>What we ran</a:t>
            </a:r>
            <a:r>
              <a:rPr sz="1400" b="1" i="0" baseline="0" dirty="0">
                <a:latin typeface="Calibri"/>
              </a:rPr>
              <a:t>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 dirty="0">
                <a:latin typeface="Calibri"/>
              </a:rPr>
              <a:t>Minutes ECDF/histogram, PPM of filtered-out players, drafted-player audit (1,177 drafted player-seasons), overlay plots — HAND slides 10–13.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400" b="1" i="0" baseline="0" dirty="0">
                <a:latin typeface="Calibri"/>
              </a:rPr>
              <a:t>What showed up</a:t>
            </a:r>
            <a:r>
              <a:rPr sz="1400" b="1" i="0" baseline="0" dirty="0">
                <a:latin typeface="Calibri"/>
              </a:rPr>
              <a:t>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 dirty="0">
                <a:latin typeface="Calibri"/>
              </a:rPr>
              <a:t>Most mass above 20 minutes; below 20 is bench noise and zero-minute rows. At 20 we drop 44 drafted player-seasons — 42 were 0-minute. One ever-draft career fully lost (Ricky Ledo); everyone else keeps rotation years.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400" b="1" i="0" baseline="0" dirty="0">
                <a:latin typeface="Calibri"/>
              </a:rPr>
              <a:t>What you can say</a:t>
            </a:r>
            <a:r>
              <a:rPr sz="1400" b="1" i="0" baseline="0" dirty="0">
                <a:latin typeface="Calibri"/>
              </a:rPr>
              <a:t>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lang="en-US" sz="1700" b="1" dirty="0"/>
              <a:t>"We keep the floor at 20 and drop sub-20 players — not because every row is draft-safe, but because PPM below 20 is too noisy for ASSIGN." Evidence: HAND slides 5–13.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37744"/>
            <a:ext cx="11313871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 baseline="0" dirty="0">
                <a:latin typeface="Calibri"/>
              </a:rPr>
              <a:t>Q2 answered — Drop beats PPM-zero on the locked panel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438912" y="786384"/>
                <a:ext cx="11313871" cy="3231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sz="1500" b="0" i="0" baseline="0" dirty="0">
                    <a:latin typeface="Calibri"/>
                  </a:rPr>
                  <a:t>Does PPM-zero inflate sorting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500" b="0" i="0" baseline="0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500" b="0" i="0" baseline="0" dirty="0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500" b="0" i="0" baseline="0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sz="1500" b="0" i="0" baseline="0" dirty="0">
                    <a:latin typeface="Calibri"/>
                  </a:rPr>
                  <a:t>?</a:t>
                </a:r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912" y="786384"/>
                <a:ext cx="11313871" cy="323165"/>
              </a:xfrm>
              <a:prstGeom prst="rect">
                <a:avLst/>
              </a:prstGeom>
              <a:blipFill>
                <a:blip r:embed="rId2"/>
                <a:stretch>
                  <a:fillRect l="-224" t="-3704" b="-18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438912" y="1316736"/>
                <a:ext cx="11313871" cy="39894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r>
                  <a:rPr lang="en-US" sz="1400" b="1" dirty="0"/>
                  <a:t>Why this came up:</a:t>
                </a: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1400"/>
                  </a:spcAft>
                </a:pPr>
                <a:r>
                  <a:rPr sz="1700" b="0" i="0" baseline="0" dirty="0">
                    <a:latin typeface="Calibri"/>
                  </a:rPr>
                  <a:t>PD21 compared drop vs keep-with-PPM-zero at the same floor. </a:t>
                </a:r>
                <a:r>
                  <a:rPr lang="en-US" sz="1700" dirty="0"/>
                  <a:t>The concern was that identical zeros would pile on benches </a:t>
                </a:r>
                <a:r>
                  <a:rPr sz="1700" b="0" i="0" baseline="0" dirty="0">
                    <a:latin typeface="Calibri"/>
                  </a:rPr>
                  <a:t>and push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700" b="0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700" b="0" i="0" baseline="0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700" b="0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700" b="0" i="0" baseline="0" dirty="0">
                    <a:latin typeface="Calibri"/>
                  </a:rPr>
                  <a:t> </a:t>
                </a:r>
                <a:r>
                  <a:rPr sz="1700" b="0" i="0" baseline="0" dirty="0">
                    <a:latin typeface="Calibri"/>
                  </a:rPr>
                  <a:t>toward 0.5–0.8.</a:t>
                </a:r>
              </a:p>
              <a:p>
                <a:pPr>
                  <a:lnSpc>
                    <a:spcPct val="115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r>
                  <a:rPr lang="en-US" sz="1400" b="1" i="0" baseline="0" dirty="0">
                    <a:latin typeface="Calibri"/>
                  </a:rPr>
                  <a:t>What we ran</a:t>
                </a:r>
                <a:r>
                  <a:rPr sz="1400" b="1" i="0" baseline="0" dirty="0">
                    <a:latin typeface="Calibri"/>
                  </a:rPr>
                  <a:t>:</a:t>
                </a: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1400"/>
                  </a:spcAft>
                </a:pPr>
                <a:r>
                  <a:rPr sz="1700" b="0" i="0" baseline="0" dirty="0">
                    <a:latin typeface="Calibri"/>
                  </a:rPr>
                  <a:t>Ability histograms, all-zero team check, bench-zero vs </a:t>
                </a:r>
                <a:r>
                  <a:rPr lang="en-US" sz="1700" b="0" i="0" baseline="0" dirty="0">
                    <a:latin typeface="Calibri"/>
                  </a:rPr>
                  <a:t>𝐻_sort</a:t>
                </a:r>
                <a:r>
                  <a:rPr sz="1700" b="0" i="0" baseline="0" dirty="0">
                    <a:latin typeface="Calibri"/>
                  </a:rPr>
                  <a:t>, side-by-side bracket compare — HAND slides 17–19.</a:t>
                </a:r>
              </a:p>
              <a:p>
                <a:pPr>
                  <a:lnSpc>
                    <a:spcPct val="115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r>
                  <a:rPr lang="en-US" sz="1400" b="1" i="0" baseline="0" dirty="0">
                    <a:latin typeface="Calibri"/>
                  </a:rPr>
                  <a:t>What showed up</a:t>
                </a:r>
                <a:r>
                  <a:rPr sz="1400" b="1" i="0" baseline="0" dirty="0">
                    <a:latin typeface="Calibri"/>
                  </a:rPr>
                  <a:t>:</a:t>
                </a: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1400"/>
                  </a:spcAft>
                </a:pPr>
                <a:r>
                  <a:rPr sz="1700" b="0" i="0" baseline="0" dirty="0">
                    <a:latin typeface="Calibri"/>
                  </a:rPr>
                  <a:t>PPM-zero adds ~13k bench rows and a big zero/low-</a:t>
                </a:r>
                <a:r>
                  <a:rPr lang="en-US" sz="1700" b="0" i="0" baseline="0" dirty="0">
                    <a:latin typeface="Calibri"/>
                  </a:rPr>
                  <a:t>z</a:t>
                </a:r>
                <a:r>
                  <a:rPr sz="1700" b="0" i="0" baseline="0" dirty="0">
                    <a:latin typeface="Calibri"/>
                  </a:rPr>
                  <a:t> tail. League mean </a:t>
                </a:r>
                <a:r>
                  <a:rPr lang="en-US" sz="1700" b="0" i="0" baseline="0" dirty="0">
                    <a:latin typeface="Calibri"/>
                  </a:rPr>
                  <a:t>𝐻_sort</a:t>
                </a:r>
                <a:r>
                  <a:rPr sz="1700" b="0" i="0" baseline="0" dirty="0">
                    <a:latin typeface="Calibri"/>
                  </a:rPr>
                  <a:t>: 0.064 (drop) vs 0.065 (PPM-zero),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700" b="0" i="0" baseline="0" dirty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1700" b="0" i="0" baseline="0" dirty="0" smtClean="0">
                        <a:latin typeface="Cambria Math" panose="02040503050406030204" pitchFamily="18" charset="0"/>
                      </a:rPr>
                      <m:t>≈0.001</m:t>
                    </m:r>
                  </m:oMath>
                </a14:m>
                <a:r>
                  <a:rPr sz="1700" b="0" i="0" baseline="0" dirty="0">
                    <a:latin typeface="Calibri"/>
                  </a:rPr>
                  <a:t>. Old PPM-zero bracket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700" b="0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700" b="0" i="0" baseline="0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700" b="0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700" b="0" i="0" baseline="0" dirty="0">
                        <a:latin typeface="Cambria Math" panose="02040503050406030204" pitchFamily="18" charset="0"/>
                      </a:rPr>
                      <m:t>≈0.57</m:t>
                    </m:r>
                  </m:oMath>
                </a14:m>
                <a:r>
                  <a:rPr sz="1700" b="0" i="0" baseline="0" dirty="0">
                    <a:latin typeface="Calibri"/>
                  </a:rPr>
                  <a:t>) was pre-box-QC — wrong panel epoch.</a:t>
                </a:r>
              </a:p>
              <a:p>
                <a:pPr>
                  <a:lnSpc>
                    <a:spcPct val="115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r>
                  <a:rPr lang="en-US" sz="1400" b="1" i="0" baseline="0" dirty="0">
                    <a:latin typeface="Calibri"/>
                  </a:rPr>
                  <a:t>What you can say</a:t>
                </a:r>
                <a:r>
                  <a:rPr sz="1400" b="1" i="0" baseline="0" dirty="0">
                    <a:latin typeface="Calibri"/>
                  </a:rPr>
                  <a:t>:</a:t>
                </a: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1400"/>
                  </a:spcAft>
                </a:pPr>
                <a:r>
                  <a:rPr lang="en-US" sz="1700" b="1" dirty="0"/>
                  <a:t>"Drop at 20 is the locked policy — PPM-zero barely moves sorting and targets the wrong panel epoch. Slide 14 already used drop; no </a:t>
                </a:r>
                <a14:m>
                  <m:oMath xmlns:m="http://schemas.openxmlformats.org/officeDocument/2006/math">
                    <m:r>
                      <a:rPr lang="en-US" sz="1700" b="1" i="1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sz="1700" b="1" dirty="0"/>
                  <a:t> re-run needed for that choice."</a:t>
                </a:r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912" y="1316736"/>
                <a:ext cx="11313871" cy="3989490"/>
              </a:xfrm>
              <a:prstGeom prst="rect">
                <a:avLst/>
              </a:prstGeom>
              <a:blipFill>
                <a:blip r:embed="rId3"/>
                <a:stretch>
                  <a:fillRect l="-336" b="-9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438912" y="237744"/>
                <a:ext cx="10121169" cy="52322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2800" b="1" i="0" baseline="0" dirty="0">
                    <a:latin typeface="Calibri"/>
                  </a:rPr>
                  <a:t>Q3 answered — Bracket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1" i="0" baseline="0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0" baseline="0" dirty="0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2800" b="1" i="0" baseline="0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800" b="1" i="0" baseline="0" dirty="0">
                    <a:latin typeface="Calibri"/>
                  </a:rPr>
                  <a:t> </a:t>
                </a:r>
                <a:r>
                  <a:rPr sz="2800" b="1" i="0" baseline="0" dirty="0">
                    <a:latin typeface="Calibri"/>
                  </a:rPr>
                  <a:t>and overlap answer different questions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912" y="237744"/>
                <a:ext cx="10121169" cy="523220"/>
              </a:xfrm>
              <a:prstGeom prst="rect">
                <a:avLst/>
              </a:prstGeom>
              <a:blipFill>
                <a:blip r:embed="rId2"/>
                <a:stretch>
                  <a:fillRect l="-1253" t="-11628" r="-251" b="-279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438912" y="786384"/>
            <a:ext cx="1131387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 baseline="0" dirty="0">
                <a:latin typeface="Calibri"/>
              </a:rPr>
              <a:t>Why </a:t>
            </a:r>
            <a:r>
              <a:rPr lang="en-US" sz="1500" b="0" i="0" baseline="0" dirty="0">
                <a:latin typeface="Calibri"/>
              </a:rPr>
              <a:t>𝜌^∗=0</a:t>
            </a:r>
            <a:r>
              <a:rPr sz="1500" b="0" i="0" baseline="0" dirty="0">
                <a:latin typeface="Calibri"/>
              </a:rPr>
              <a:t> when overlap plots look sorted? What about 2013?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38912" y="1316736"/>
                <a:ext cx="11313871" cy="41690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r>
                  <a:rPr lang="en-US" sz="1400" b="1" i="0" baseline="0" dirty="0">
                    <a:latin typeface="Calibri"/>
                  </a:rPr>
                  <a:t>Why this came up</a:t>
                </a:r>
                <a:r>
                  <a:rPr sz="1400" b="1" i="0" baseline="0" dirty="0">
                    <a:latin typeface="Calibri"/>
                  </a:rPr>
                  <a:t>:</a:t>
                </a: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1400"/>
                  </a:spcAft>
                </a:pPr>
                <a:r>
                  <a:rPr sz="1700" b="0" i="0" baseline="0" dirty="0">
                    <a:latin typeface="Calibri"/>
                  </a:rPr>
                  <a:t>That felt like a contradiction: near-zero homophily in calibration vs heavy stacking in talent-window overlap figures.</a:t>
                </a:r>
              </a:p>
              <a:p>
                <a:pPr>
                  <a:lnSpc>
                    <a:spcPct val="115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r>
                  <a:rPr lang="en-US" sz="1400" b="1" i="0" baseline="0" dirty="0">
                    <a:latin typeface="Calibri"/>
                  </a:rPr>
                  <a:t>What we ran</a:t>
                </a:r>
                <a:r>
                  <a:rPr sz="1400" b="1" i="0" baseline="0" dirty="0">
                    <a:latin typeface="Calibri"/>
                  </a:rPr>
                  <a:t>:</a:t>
                </a: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1400"/>
                  </a:spcAft>
                </a:pPr>
                <a:r>
                  <a:rPr sz="1700" b="0" i="0" baseline="0" dirty="0">
                    <a:latin typeface="Calibri"/>
                  </a:rPr>
                  <a:t>Single-season interval overlap for 2012 and 2013 on the locked panel — HAND slides 20–21.</a:t>
                </a:r>
              </a:p>
              <a:p>
                <a:pPr>
                  <a:lnSpc>
                    <a:spcPct val="115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r>
                  <a:rPr lang="en-US" sz="1400" b="1" i="0" baseline="0" dirty="0">
                    <a:latin typeface="Calibri"/>
                  </a:rPr>
                  <a:t>What showed up</a:t>
                </a:r>
                <a:r>
                  <a:rPr sz="1400" b="1" i="0" baseline="0" dirty="0">
                    <a:latin typeface="Calibri"/>
                  </a:rPr>
                  <a:t>:</a:t>
                </a:r>
              </a:p>
              <a:p>
                <a:pPr>
                  <a:lnSpc>
                    <a:spcPct val="125000"/>
                  </a:lnSpc>
                  <a:spcAft>
                    <a:spcPts val="1400"/>
                  </a:spcAft>
                </a:pPr>
                <a:r>
                  <a:rPr sz="1700" b="0" i="0" baseline="0" dirty="0">
                    <a:latin typeface="Calibri"/>
                  </a:rPr>
                  <a:t>Massive stacking persists: 89\% of talent grid has </a:t>
                </a:r>
                <a:r>
                  <a:rPr lang="en-US" sz="1700" b="0" i="0" baseline="0" dirty="0">
                    <a:latin typeface="Calibri"/>
                  </a:rPr>
                  <a:t>&gt;1</a:t>
                </a:r>
                <a:r>
                  <a:rPr sz="1700" b="0" i="0" baseline="0" dirty="0">
                    <a:latin typeface="Calibri"/>
                  </a:rPr>
                  <a:t>team in 2012, 95\% in 2013 — both at </a:t>
                </a:r>
                <a:r>
                  <a:rPr lang="en-US" sz="1700" b="0" i="0" baseline="0" dirty="0">
                    <a:latin typeface="Calibri"/>
                  </a:rPr>
                  <a:t>𝜌^∗=0</a:t>
                </a:r>
                <a:r>
                  <a:rPr sz="1700" b="0" i="0" baseline="0" dirty="0">
                    <a:latin typeface="Calibri"/>
                  </a:rPr>
                  <a:t> on locked panel. </a:t>
                </a:r>
                <a:r>
                  <a:rPr lang="en-US" sz="1700" dirty="0"/>
                  <a:t>The remembered 2013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7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700" i="1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700" i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700" i="0" dirty="0">
                        <a:latin typeface="Cambria Math" panose="02040503050406030204" pitchFamily="18" charset="0"/>
                      </a:rPr>
                      <m:t>≈0.07</m:t>
                    </m:r>
                  </m:oMath>
                </a14:m>
                <a:r>
                  <a:rPr lang="en-US" sz="1700" dirty="0"/>
                  <a:t> came from a pre-box-QC roster-caps slide.</a:t>
                </a: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1400"/>
                  </a:spcAft>
                </a:pPr>
                <a:endParaRPr sz="1700" b="0" i="0" baseline="0" dirty="0">
                  <a:latin typeface="Calibri"/>
                </a:endParaRPr>
              </a:p>
              <a:p>
                <a:pPr>
                  <a:lnSpc>
                    <a:spcPct val="115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r>
                  <a:rPr lang="en-US" sz="1400" b="1" i="0" baseline="0" dirty="0">
                    <a:latin typeface="Calibri"/>
                  </a:rPr>
                  <a:t>What you can say</a:t>
                </a:r>
                <a:r>
                  <a:rPr sz="1400" b="1" i="0" baseline="0" dirty="0">
                    <a:latin typeface="Calibri"/>
                  </a:rPr>
                  <a:t>:</a:t>
                </a: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1400"/>
                  </a:spcAft>
                </a:pPr>
                <a:r>
                  <a:rPr lang="en-US" sz="1700" b="1" dirty="0"/>
                  <a:t>"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700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700" b="1" i="1" dirty="0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700" b="1" i="0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700" b="1" i="0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700" b="1" dirty="0"/>
                  <a:t> is a modest calibration fit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b="1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700" b="1" i="0" dirty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</m:sSub>
                    <m:r>
                      <a:rPr lang="en-US" sz="1700" b="1" i="0" dirty="0">
                        <a:latin typeface="Cambria Math" panose="02040503050406030204" pitchFamily="18" charset="0"/>
                      </a:rPr>
                      <m:t>≈0.06</m:t>
                    </m:r>
                  </m:oMath>
                </a14:m>
                <a:r>
                  <a:rPr lang="en-US" sz="1700" b="1" dirty="0"/>
                  <a:t> — not a claim that rosters look disjoint in the overlap figures. Bracket fit and geometry answer different questions."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912" y="1316736"/>
                <a:ext cx="11313871" cy="4169026"/>
              </a:xfrm>
              <a:prstGeom prst="rect">
                <a:avLst/>
              </a:prstGeom>
              <a:blipFill>
                <a:blip r:embed="rId3"/>
                <a:stretch>
                  <a:fillRect l="-336" b="-6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37744"/>
            <a:ext cx="11313871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 baseline="0">
                <a:latin typeface="Calibri"/>
              </a:rPr>
              <a:t>Act I — PD20: Gibbs SELECT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804672"/>
            <a:ext cx="1131387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 baseline="0">
                <a:latin typeface="Calibri"/>
              </a:rPr>
              <a:t>Before MLE for SELECT — does soft selection kill the inverted-U?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38912" y="1316736"/>
                <a:ext cx="11313871" cy="14485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r>
                  <a:rPr sz="1400" b="1" i="0" baseline="0" dirty="0">
                    <a:latin typeface="Calibri"/>
                  </a:rPr>
                  <a:t>Problem:</a:t>
                </a: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1400"/>
                  </a:spcAft>
                </a:pPr>
                <a:r>
                  <a:rPr sz="1700" b="0" i="0" baseline="0" dirty="0">
                    <a:latin typeface="Calibri"/>
                  </a:rPr>
                  <a:t>Replace rigid top-</a:t>
                </a:r>
                <a14:m>
                  <m:oMath xmlns:m="http://schemas.openxmlformats.org/officeDocument/2006/math">
                    <m:r>
                      <a:rPr lang="en-US" sz="1700" b="0" i="0" baseline="0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1700" dirty="0"/>
                  <a:t> </a:t>
                </a:r>
                <a:r>
                  <a:rPr sz="1700" b="0" i="0" baseline="0" dirty="0">
                    <a:latin typeface="Calibri"/>
                  </a:rPr>
                  <a:t>with Gibbs (temperature dial). If the hump disappears, stop before expensive fitting.</a:t>
                </a:r>
              </a:p>
              <a:p>
                <a:pPr>
                  <a:lnSpc>
                    <a:spcPct val="115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r>
                  <a:rPr sz="1400" b="1" i="0" baseline="0" dirty="0">
                    <a:latin typeface="Calibri"/>
                  </a:rPr>
                  <a:t>Next slides:</a:t>
                </a: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1400"/>
                  </a:spcAft>
                </a:pPr>
                <a:r>
                  <a:rPr sz="1700" b="0" i="0" baseline="0" dirty="0">
                    <a:latin typeface="Calibri"/>
                  </a:rPr>
                  <a:t>Four narrative companions (HAND 1–4) — paste each HAND slide after its narrative.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912" y="1316736"/>
                <a:ext cx="11313871" cy="1448538"/>
              </a:xfrm>
              <a:prstGeom prst="rect">
                <a:avLst/>
              </a:prstGeom>
              <a:blipFill>
                <a:blip r:embed="rId2"/>
                <a:stretch>
                  <a:fillRect l="-336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01168"/>
            <a:ext cx="11313871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 baseline="0">
                <a:latin typeface="Calibri"/>
              </a:rPr>
              <a:t>Gibbs SELECT intro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438912" y="676656"/>
                <a:ext cx="3294043" cy="292388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1300" b="0" i="0" baseline="0" dirty="0">
                    <a:latin typeface="Calibri"/>
                  </a:rPr>
                  <a:t>Act I — PD20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300" b="0" i="0" baseline="0" dirty="0" smtClean="0">
                        <a:latin typeface="Cambria Math" panose="02040503050406030204" pitchFamily="18" charset="0"/>
                      </a:rPr>
                      <m:t>−−−</m:t>
                    </m:r>
                  </m:oMath>
                </a14:m>
                <a:r>
                  <a:rPr sz="1300" b="0" i="0" baseline="0" dirty="0">
                    <a:latin typeface="Calibri"/>
                  </a:rPr>
                  <a:t> narrative for HAND slide 1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912" y="676656"/>
                <a:ext cx="3294043" cy="292388"/>
              </a:xfrm>
              <a:prstGeom prst="rect">
                <a:avLst/>
              </a:prstGeom>
              <a:blipFill>
                <a:blip r:embed="rId2"/>
                <a:stretch>
                  <a:fillRect l="-385" t="-4167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438912" y="950976"/>
            <a:ext cx="11313871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 baseline="0">
                <a:latin typeface="Calibri"/>
              </a:rPr>
              <a:t>What are we testing and why does temperature matter?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38912" y="1389888"/>
                <a:ext cx="11313871" cy="30088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r>
                  <a:rPr lang="en-US" sz="1400" b="1" i="0" baseline="0" dirty="0">
                    <a:latin typeface="Calibri"/>
                  </a:rPr>
                  <a:t>Why this came up</a:t>
                </a:r>
                <a:r>
                  <a:rPr sz="1400" b="1" i="0" baseline="0" dirty="0">
                    <a:latin typeface="Calibri"/>
                  </a:rPr>
                  <a:t>:</a:t>
                </a: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1400"/>
                  </a:spcAft>
                </a:pPr>
                <a:r>
                  <a:rPr sz="1700" b="0" i="0" baseline="0" dirty="0">
                    <a:latin typeface="Calibri"/>
                  </a:rPr>
                  <a:t>SELECT is moving from deterministic </a:t>
                </a:r>
                <a:r>
                  <a:rPr lang="en-US" sz="1700" b="0" i="0" baseline="0" dirty="0">
                    <a:latin typeface="Calibri"/>
                  </a:rPr>
                  <a:t>top-𝐾</a:t>
                </a:r>
                <a:r>
                  <a:rPr sz="1700" b="0" i="0" baseline="0" dirty="0">
                    <a:latin typeface="Calibri"/>
                  </a:rPr>
                  <a:t> to a soft weighted draw. </a:t>
                </a:r>
                <a:r>
                  <a:rPr lang="en-US" sz="1700" dirty="0"/>
                  <a:t>need a clear gate before investing in MLE</a:t>
                </a:r>
                <a:r>
                  <a:rPr sz="1700" b="0" i="0" baseline="0" dirty="0">
                    <a:latin typeface="Calibri"/>
                  </a:rPr>
                  <a:t>.</a:t>
                </a:r>
              </a:p>
              <a:p>
                <a:pPr>
                  <a:lnSpc>
                    <a:spcPct val="115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r>
                  <a:rPr lang="en-US" sz="1400" b="1" i="0" baseline="0" dirty="0">
                    <a:latin typeface="Calibri"/>
                  </a:rPr>
                  <a:t>What we ran</a:t>
                </a:r>
                <a:r>
                  <a:rPr sz="1400" b="1" i="0" baseline="0" dirty="0">
                    <a:latin typeface="Calibri"/>
                  </a:rPr>
                  <a:t>:</a:t>
                </a: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1400"/>
                  </a:spcAft>
                </a:pPr>
                <a:r>
                  <a:rPr sz="1700" b="0" i="0" baseline="0" dirty="0">
                    <a:latin typeface="Calibri"/>
                  </a:rPr>
                  <a:t>Introduce rule D (Gibbs weights + </a:t>
                </a:r>
                <a:r>
                  <a:rPr lang="en-US" sz="1700" b="0" i="0" baseline="0" dirty="0">
                    <a:latin typeface="Calibri"/>
                  </a:rPr>
                  <a:t>𝐾</a:t>
                </a:r>
                <a:r>
                  <a:rPr sz="1700" b="0" i="0" baseline="0" dirty="0">
                    <a:latin typeface="Calibri"/>
                  </a:rPr>
                  <a:t> draws), temperature </a:t>
                </a:r>
                <a:r>
                  <a:rPr lang="en-US" sz="1700" b="0" i="0" baseline="0" dirty="0">
                    <a:latin typeface="Calibri"/>
                  </a:rPr>
                  <a:t>𝑡</a:t>
                </a:r>
                <a:r>
                  <a:rPr sz="1700" b="0" i="0" baseline="0" dirty="0">
                    <a:latin typeface="Calibri"/>
                  </a:rPr>
                  <a:t>, and the LOO outcome curve we will watch.</a:t>
                </a:r>
              </a:p>
              <a:p>
                <a:pPr>
                  <a:lnSpc>
                    <a:spcPct val="115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r>
                  <a:rPr lang="en-US" sz="1400" b="1" i="0" baseline="0" dirty="0">
                    <a:latin typeface="Calibri"/>
                  </a:rPr>
                  <a:t>What showed up</a:t>
                </a:r>
                <a:r>
                  <a:rPr sz="1400" b="1" i="0" baseline="0" dirty="0">
                    <a:latin typeface="Calibri"/>
                  </a:rPr>
                  <a:t>:</a:t>
                </a: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1400"/>
                  </a:spcAft>
                </a:pPr>
                <a:r>
                  <a:rPr sz="1700" b="0" i="0" baseline="0" dirty="0">
                    <a:latin typeface="Calibri"/>
                  </a:rPr>
                  <a:t>The deck sets up: cold </a:t>
                </a:r>
                <a:r>
                  <a:rPr lang="en-US" sz="1700" b="0" i="0" baseline="0" dirty="0">
                    <a:latin typeface="Calibri"/>
                  </a:rPr>
                  <a:t>𝑡</a:t>
                </a:r>
                <a:r>
                  <a:rPr sz="1700" b="0" i="0" baseline="0" dirty="0">
                    <a:latin typeface="Calibri"/>
                  </a:rPr>
                  <a:t> should nest </a:t>
                </a:r>
                <a:r>
                  <a:rPr lang="en-US" sz="1700" b="0" i="0" baseline="0" dirty="0">
                    <a:latin typeface="Calibri"/>
                  </a:rPr>
                  <a:t>top-𝐾</a:t>
                </a:r>
                <a:r>
                  <a:rPr sz="1700" b="0" i="0" baseline="0" dirty="0">
                    <a:latin typeface="Calibri"/>
                  </a:rPr>
                  <a:t>; hot </a:t>
                </a:r>
                <a14:m>
                  <m:oMath xmlns:m="http://schemas.openxmlformats.org/officeDocument/2006/math">
                    <m:r>
                      <a:rPr lang="en-US" sz="1700" b="0" i="0" baseline="0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1700" b="0" i="0" baseline="0" dirty="0">
                    <a:latin typeface="Calibri"/>
                  </a:rPr>
                  <a:t> spreads probability — different failure mode than </a:t>
                </a:r>
                <a:r>
                  <a:rPr lang="en-US" sz="1700" b="0" i="0" baseline="0" dirty="0">
                    <a:latin typeface="Calibri"/>
                  </a:rPr>
                  <a:t>"</a:t>
                </a:r>
                <a:r>
                  <a:rPr sz="1700" b="0" i="0" baseline="0" dirty="0">
                    <a:latin typeface="Calibri"/>
                  </a:rPr>
                  <a:t>hump gone.</a:t>
                </a:r>
                <a:r>
                  <a:rPr lang="en-US" sz="1700" b="0" i="0" baseline="0" dirty="0">
                    <a:latin typeface="Calibri"/>
                  </a:rPr>
                  <a:t>"</a:t>
                </a:r>
                <a:endParaRPr sz="1700" b="0" i="0" baseline="0" dirty="0">
                  <a:latin typeface="Calibri"/>
                </a:endParaRPr>
              </a:p>
              <a:p>
                <a:pPr>
                  <a:lnSpc>
                    <a:spcPct val="115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r>
                  <a:rPr lang="en-US" sz="1400" b="1" i="0" baseline="0" dirty="0">
                    <a:latin typeface="Calibri"/>
                  </a:rPr>
                  <a:t>What you can say</a:t>
                </a:r>
                <a:r>
                  <a:rPr sz="1400" b="1" i="0" baseline="0" dirty="0">
                    <a:latin typeface="Calibri"/>
                  </a:rPr>
                  <a:t>:</a:t>
                </a: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1400"/>
                  </a:spcAft>
                </a:pPr>
                <a:r>
                  <a:rPr lang="en-US" sz="1700" b="1" dirty="0"/>
                  <a:t>"PD20 is a phenomenology gate, not a full fit — and </a:t>
                </a:r>
                <a14:m>
                  <m:oMath xmlns:m="http://schemas.openxmlformats.org/officeDocument/2006/math">
                    <m:r>
                      <a:rPr lang="en-US" sz="1700" b="1" i="1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sz="1700" b="1" dirty="0"/>
                  <a:t> calibration stays a separate step."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912" y="1389888"/>
                <a:ext cx="11313871" cy="3008837"/>
              </a:xfrm>
              <a:prstGeom prst="rect">
                <a:avLst/>
              </a:prstGeom>
              <a:blipFill>
                <a:blip r:embed="rId3"/>
                <a:stretch>
                  <a:fillRect l="-336" b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3809452" y="6071616"/>
            <a:ext cx="4572790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1300" b="1" i="0" baseline="0" dirty="0">
                <a:latin typeface="Calibri"/>
              </a:rPr>
              <a:t>↓ Paste 𝙲𝙷𝙰𝚁_𝙿𝙳𝟸𝟶_𝙷𝙰𝙽𝙳</a:t>
            </a:r>
            <a:r>
              <a:rPr sz="1300" b="1" i="0" baseline="0" dirty="0">
                <a:latin typeface="Calibri"/>
              </a:rPr>
              <a:t> slide 1 immediately after this slide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84048" y="219456"/>
                <a:ext cx="4220707" cy="4001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2000" b="1" i="0" baseline="0" dirty="0">
                    <a:latin typeface="Calibri"/>
                  </a:rPr>
                  <a:t>PD20 — Gibbs SELECT (temperature </a:t>
                </a:r>
                <a14:m>
                  <m:oMath xmlns:m="http://schemas.openxmlformats.org/officeDocument/2006/math">
                    <m:r>
                      <a:rPr lang="en-US" sz="2000" b="1" i="0" baseline="0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000" b="1" i="0" baseline="0" dirty="0">
                    <a:latin typeface="Calibri"/>
                  </a:rPr>
                  <a:t>)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219456"/>
                <a:ext cx="4220707" cy="400110"/>
              </a:xfrm>
              <a:prstGeom prst="rect">
                <a:avLst/>
              </a:prstGeom>
              <a:blipFill>
                <a:blip r:embed="rId2"/>
                <a:stretch>
                  <a:fillRect l="-1502" t="-9375" r="-601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84048" y="713232"/>
                <a:ext cx="2981009" cy="24622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1000" b="0" i="0" baseline="0" dirty="0">
                    <a:latin typeface="Calibri"/>
                  </a:rPr>
                  <a:t>MBB empirical caps ·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· inverted-U before MLE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713232"/>
                <a:ext cx="2981009" cy="246221"/>
              </a:xfrm>
              <a:prstGeom prst="rect">
                <a:avLst/>
              </a:prstGeom>
              <a:blipFill>
                <a:blip r:embed="rId3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84048" y="1033272"/>
                <a:ext cx="11423599" cy="45404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  <a:buChar char="•"/>
                </a:pPr>
                <a:r>
                  <a:rPr sz="2400" b="0" i="0" baseline="0" dirty="0">
                    <a:latin typeface="Calibri"/>
                  </a:rPr>
                  <a:t>  PD20: replace deterministic top-</a:t>
                </a:r>
                <a14:m>
                  <m:oMath xmlns:m="http://schemas.openxmlformats.org/officeDocument/2006/math">
                    <m:r>
                      <a:rPr lang="en-US" sz="2400" b="0" i="0" baseline="0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2400" b="0" i="0" baseline="0" dirty="0">
                    <a:latin typeface="Calibri"/>
                  </a:rPr>
                  <a:t> SELECT with Gibbs rule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0" baseline="0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b="0" i="0" baseline="0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 i="0" baseline="0" dirty="0">
                    <a:latin typeface="Calibri"/>
                  </a:rPr>
                  <a:t>.</a:t>
                </a:r>
              </a:p>
              <a:p>
                <a:pPr>
                  <a:lnSpc>
                    <a:spcPct val="200000"/>
                  </a:lnSpc>
                  <a:buChar char="•"/>
                </a:pPr>
                <a:r>
                  <a:rPr sz="2400" b="0" i="0" baseline="0" dirty="0">
                    <a:latin typeface="Calibri"/>
                  </a:rPr>
                  <a:t>  Lock: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0" baseline="0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400" b="0" i="0" baseline="0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0" baseline="0" dirty="0">
                        <a:latin typeface="Cambria Math" panose="02040503050406030204" pitchFamily="18" charset="0"/>
                      </a:rPr>
                      <m:t>∝</m:t>
                    </m:r>
                    <m:func>
                      <m:funcPr>
                        <m:ctrlPr>
                          <a:rPr lang="en-US" sz="2400" b="0" i="0" baseline="0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baseline="0" dirty="0"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sz="2400" b="0" i="1" baseline="0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b="0" i="0" baseline="0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0" baseline="0" dirty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sz="2400" b="0" i="0" baseline="0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400" b="0" i="0" baseline="0" dirty="0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US" sz="2400" b="0" i="0" baseline="0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func>
                  </m:oMath>
                </a14:m>
                <a:r>
                  <a:rPr sz="2400" b="0" i="0" baseline="0" dirty="0">
                    <a:latin typeface="Calibri"/>
                  </a:rPr>
                  <a:t> with </a:t>
                </a:r>
                <a14:m>
                  <m:oMath xmlns:m="http://schemas.openxmlformats.org/officeDocument/2006/math">
                    <m:r>
                      <a:rPr lang="en-US" sz="2400" b="0" i="0" baseline="0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 i="0" baseline="0" dirty="0">
                    <a:latin typeface="Calibri"/>
                  </a:rPr>
                  <a:t> in the denominator (stat-</a:t>
                </a:r>
                <a:r>
                  <a:rPr sz="2400" b="0" i="0" baseline="0" dirty="0" err="1">
                    <a:latin typeface="Calibri"/>
                  </a:rPr>
                  <a:t>phys</a:t>
                </a:r>
                <a:r>
                  <a:rPr sz="2400" b="0" i="0" baseline="0" dirty="0">
                    <a:latin typeface="Calibri"/>
                  </a:rPr>
                  <a:t>).</a:t>
                </a:r>
              </a:p>
              <a:p>
                <a:pPr>
                  <a:lnSpc>
                    <a:spcPct val="200000"/>
                  </a:lnSpc>
                  <a:buChar char="•"/>
                </a:pPr>
                <a:r>
                  <a:rPr sz="2400" b="0" i="0" baseline="0" dirty="0">
                    <a:latin typeface="Calibri"/>
                  </a:rPr>
                  <a:t>  Sim bridge: rule D = Gibbs weights + </a:t>
                </a:r>
                <a14:m>
                  <m:oMath xmlns:m="http://schemas.openxmlformats.org/officeDocument/2006/math">
                    <m:r>
                      <a:rPr lang="en-US" sz="2400" b="0" i="0" baseline="0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2400" b="0" i="0" baseline="0" dirty="0">
                    <a:latin typeface="Calibri"/>
                  </a:rPr>
                  <a:t> draws without replacement.</a:t>
                </a:r>
              </a:p>
              <a:p>
                <a:pPr>
                  <a:lnSpc>
                    <a:spcPct val="200000"/>
                  </a:lnSpc>
                  <a:buChar char="•"/>
                </a:pPr>
                <a:r>
                  <a:rPr sz="2400" b="0" i="0" baseline="0" dirty="0">
                    <a:latin typeface="Calibri"/>
                  </a:rPr>
                  <a:t>  SCORE unchanged: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0" baseline="0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b="0" i="0" baseline="0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0" baseline="0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2400" b="0" i="0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0" i="0" baseline="0" dirty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sz="2400" b="0" i="0" baseline="0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0" baseline="0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0" i="0" baseline="0" dirty="0">
                        <a:latin typeface="Cambria Math" panose="02040503050406030204" pitchFamily="18" charset="0"/>
                      </a:rPr>
                      <m:t>𝜆</m:t>
                    </m:r>
                    <m:sSub>
                      <m:sSubPr>
                        <m:ctrlPr>
                          <a:rPr lang="en-US" sz="24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400" b="0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sz="2400" b="0" i="0" baseline="0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0" baseline="0" dirty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sz="2400" b="0" i="0" baseline="0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0" baseline="0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b>
                    </m:sSub>
                  </m:oMath>
                </a14:m>
                <a:r>
                  <a:rPr sz="2400" b="0" i="0" baseline="0" dirty="0"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en-US" sz="24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2400" b="0" i="0" baseline="0" dirty="0">
                    <a:latin typeface="Calibri"/>
                  </a:rPr>
                  <a:t> still in ASSIGN only.</a:t>
                </a:r>
              </a:p>
              <a:p>
                <a:pPr>
                  <a:lnSpc>
                    <a:spcPct val="200000"/>
                  </a:lnSpc>
                  <a:buChar char="•"/>
                </a:pPr>
                <a:r>
                  <a:rPr sz="2400" b="0" i="0" baseline="0" dirty="0">
                    <a:latin typeface="Calibri"/>
                  </a:rPr>
                  <a:t>  Priority: sweep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b="0" i="1" baseline="0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2400" b="0" i="0" baseline="0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400" b="0" i="0" baseline="0" dirty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sz="2400" b="0" i="0" baseline="0" dirty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fName>
                      <m:e>
                        <m:r>
                          <a:rPr lang="en-US" sz="2400" b="0" i="0" baseline="0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func>
                  </m:oMath>
                </a14:m>
                <a:r>
                  <a:rPr sz="2400" b="0" i="0" baseline="0" dirty="0">
                    <a:latin typeface="Calibri"/>
                  </a:rPr>
                  <a:t> — prove inverted-U survives </a:t>
                </a:r>
                <a:r>
                  <a:rPr sz="2400" b="1" i="0" baseline="0" dirty="0">
                    <a:latin typeface="Calibri"/>
                  </a:rPr>
                  <a:t>before</a:t>
                </a:r>
                <a:r>
                  <a:rPr sz="2400" b="0" i="0" baseline="0" dirty="0">
                    <a:latin typeface="Calibri"/>
                  </a:rPr>
                  <a:t> MLE.</a:t>
                </a:r>
              </a:p>
              <a:p>
                <a:pPr>
                  <a:lnSpc>
                    <a:spcPct val="200000"/>
                  </a:lnSpc>
                  <a:buChar char="•"/>
                </a:pPr>
                <a:r>
                  <a:rPr sz="2400" b="0" i="0" baseline="0" dirty="0">
                    <a:latin typeface="Calibri"/>
                  </a:rPr>
                  <a:t>  ASSIGN </a:t>
                </a:r>
                <a14:m>
                  <m:oMath xmlns:m="http://schemas.openxmlformats.org/officeDocument/2006/math">
                    <m:r>
                      <a:rPr lang="en-US" sz="2400" b="0" i="0" baseline="0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 i="0" baseline="0" dirty="0">
                    <a:latin typeface="Calibri"/>
                  </a:rPr>
                  <a:t> SCORE </a:t>
                </a:r>
                <a14:m>
                  <m:oMath xmlns:m="http://schemas.openxmlformats.org/officeDocument/2006/math">
                    <m:r>
                      <a:rPr lang="en-US" sz="2400" b="0" i="0" baseline="0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 i="0" baseline="0" dirty="0">
                    <a:latin typeface="Calibri"/>
                  </a:rPr>
                  <a:t> SELECT — score </a:t>
                </a:r>
                <a14:m>
                  <m:oMath xmlns:m="http://schemas.openxmlformats.org/officeDocument/2006/math">
                    <m:r>
                      <a:rPr lang="en-US" sz="2400" b="0" i="0" baseline="0" dirty="0" smtClean="0">
                        <a:latin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sz="2400" b="0" i="0" baseline="0" dirty="0">
                    <a:latin typeface="Calibri"/>
                  </a:rPr>
                  <a:t> select (binding).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1033272"/>
                <a:ext cx="11423599" cy="4540474"/>
              </a:xfrm>
              <a:prstGeom prst="rect">
                <a:avLst/>
              </a:prstGeom>
              <a:blipFill>
                <a:blip r:embed="rId4"/>
                <a:stretch>
                  <a:fillRect l="-889" b="-2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384048" y="6053328"/>
            <a:ext cx="11423599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 baseline="0">
                <a:latin typeface="Calibri"/>
              </a:rPr>
              <a:t>Goal: soft SELECT must not erase the phenomenological inverted-U on LOO pool quality.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01168"/>
            <a:ext cx="11313871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 baseline="0">
                <a:latin typeface="Calibri"/>
              </a:rPr>
              <a:t>Temperature sweep (rule 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76656"/>
            <a:ext cx="1131387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 baseline="0">
                <a:latin typeface="Calibri"/>
              </a:rPr>
              <a:t>Act I — PD20 \text{---} narrative for HAND slide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50976"/>
            <a:ext cx="11313871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 baseline="0">
                <a:latin typeface="Calibri"/>
              </a:rPr>
              <a:t>Across $\log_{10} t$ from $-3$ to $+3$, does the inverted-U survive?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38912" y="1389888"/>
                <a:ext cx="11313871" cy="30077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r>
                  <a:rPr lang="en-US" sz="1400" b="1" i="0" baseline="0" dirty="0">
                    <a:latin typeface="Calibri"/>
                  </a:rPr>
                  <a:t>Why this came up</a:t>
                </a:r>
                <a:r>
                  <a:rPr sz="1400" b="1" i="0" baseline="0" dirty="0">
                    <a:latin typeface="Calibri"/>
                  </a:rPr>
                  <a:t>:</a:t>
                </a: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1400"/>
                  </a:spcAft>
                </a:pPr>
                <a:r>
                  <a:rPr sz="1700" b="0" i="0" baseline="0" dirty="0">
                    <a:latin typeface="Calibri"/>
                  </a:rPr>
                  <a:t>If soft SELECT erases the hero-shaped outcome, there is no point fitting $t^*$ yet.</a:t>
                </a:r>
              </a:p>
              <a:p>
                <a:pPr>
                  <a:lnSpc>
                    <a:spcPct val="115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r>
                  <a:rPr lang="en-US" sz="1400" b="1" i="0" baseline="0" dirty="0">
                    <a:latin typeface="Calibri"/>
                  </a:rPr>
                  <a:t>What we ran</a:t>
                </a:r>
                <a:r>
                  <a:rPr sz="1400" b="1" i="0" baseline="0" dirty="0">
                    <a:latin typeface="Calibri"/>
                  </a:rPr>
                  <a:t>:</a:t>
                </a: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1400"/>
                  </a:spcAft>
                </a:pPr>
                <a:r>
                  <a:rPr sz="1700" b="0" i="0" baseline="0" dirty="0">
                    <a:latin typeface="Calibri"/>
                  </a:rPr>
                  <a:t>Grandchild temperature sweep on MBB 2011-2021, real roster sizes, rule D, $\lambda \in \{1.5, 2.0\}$.</a:t>
                </a:r>
              </a:p>
              <a:p>
                <a:pPr>
                  <a:lnSpc>
                    <a:spcPct val="115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r>
                  <a:rPr lang="en-US" sz="1400" b="1" i="0" baseline="0" dirty="0">
                    <a:latin typeface="Calibri"/>
                  </a:rPr>
                  <a:t>What showed up</a:t>
                </a:r>
                <a:r>
                  <a:rPr sz="1400" b="1" i="0" baseline="0" dirty="0">
                    <a:latin typeface="Calibri"/>
                  </a:rPr>
                  <a:t>:</a:t>
                </a: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1400"/>
                  </a:spcAft>
                </a:pPr>
                <a:r>
                  <a:rPr sz="1700" b="0" i="0" baseline="0" dirty="0">
                    <a:latin typeface="Calibri"/>
                  </a:rPr>
                  <a:t>Inverted-U-like shape survives: at </a:t>
                </a:r>
                <a14:m>
                  <m:oMath xmlns:m="http://schemas.openxmlformats.org/officeDocument/2006/math">
                    <m:r>
                      <a:rPr lang="en-US" sz="1700" b="0" i="0" baseline="0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1700" b="0" i="0" baseline="0" dirty="0" smtClean="0">
                        <a:latin typeface="Cambria Math" panose="02040503050406030204" pitchFamily="18" charset="0"/>
                      </a:rPr>
                      <m:t>=1.5</m:t>
                    </m:r>
                  </m:oMath>
                </a14:m>
                <a:r>
                  <a:rPr sz="1700" b="0" i="0" baseline="0" dirty="0">
                    <a:latin typeface="Calibri"/>
                  </a:rPr>
                  <a:t>, 9/13 arms still U-like; at </a:t>
                </a:r>
                <a14:m>
                  <m:oMath xmlns:m="http://schemas.openxmlformats.org/officeDocument/2006/math">
                    <m:r>
                      <a:rPr lang="en-US" sz="1700" b="0" i="0" baseline="0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1700" b="0" i="0" baseline="0" dirty="0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sz="1700" b="0" i="0" baseline="0" dirty="0">
                    <a:latin typeface="Calibri"/>
                  </a:rPr>
                  <a:t>, 10/13. Hot </a:t>
                </a:r>
                <a:r>
                  <a:rPr lang="en-US" sz="1700" b="0" i="0" baseline="0" dirty="0">
                    <a:latin typeface="Calibri"/>
                  </a:rPr>
                  <a:t>𝑡</a:t>
                </a:r>
                <a:r>
                  <a:rPr sz="1700" b="0" i="0" baseline="0" dirty="0">
                    <a:latin typeface="Calibri"/>
                  </a:rPr>
                  <a:t> flattens — not the worry we had.</a:t>
                </a:r>
              </a:p>
              <a:p>
                <a:pPr>
                  <a:lnSpc>
                    <a:spcPct val="115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r>
                  <a:rPr lang="en-US" sz="1400" b="1" i="0" baseline="0" dirty="0">
                    <a:latin typeface="Calibri"/>
                  </a:rPr>
                  <a:t>What you can say</a:t>
                </a:r>
                <a:r>
                  <a:rPr sz="1400" b="1" i="0" baseline="0" dirty="0">
                    <a:latin typeface="Calibri"/>
                  </a:rPr>
                  <a:t>:</a:t>
                </a: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1400"/>
                  </a:spcAft>
                </a:pPr>
                <a:r>
                  <a:rPr lang="en-US" sz="1700" b="1" dirty="0"/>
                  <a:t>"The inverted-U survives soft SELECT — PD20 gate cleared; we can proceed toward MLE once </a:t>
                </a:r>
                <a14:m>
                  <m:oMath xmlns:m="http://schemas.openxmlformats.org/officeDocument/2006/math">
                    <m:r>
                      <a:rPr lang="en-US" sz="1700" b="1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1700" b="1" dirty="0"/>
                  <a:t>-draw semantics are locked."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912" y="1389888"/>
                <a:ext cx="11313871" cy="3007746"/>
              </a:xfrm>
              <a:prstGeom prst="rect">
                <a:avLst/>
              </a:prstGeom>
              <a:blipFill>
                <a:blip r:embed="rId2"/>
                <a:stretch>
                  <a:fillRect l="-336" b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3809452" y="6071616"/>
            <a:ext cx="4572790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1300" b="1" i="0" baseline="0" dirty="0">
                <a:latin typeface="Calibri"/>
              </a:rPr>
              <a:t>↓ Paste 𝙲𝙷𝙰𝚁_𝙿𝙳𝟸𝟶_𝙷𝙰𝙽𝙳</a:t>
            </a:r>
            <a:r>
              <a:rPr sz="1300" b="1" i="0" baseline="0" dirty="0">
                <a:latin typeface="Calibri"/>
              </a:rPr>
              <a:t> slide 2 immediately after this slide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84048" y="219456"/>
                <a:ext cx="5233484" cy="4001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2000" b="1" i="0" baseline="0" dirty="0">
                    <a:latin typeface="Calibri"/>
                  </a:rPr>
                  <a:t>Temperature sweep — rule D (Gibbs + </a:t>
                </a:r>
                <a14:m>
                  <m:oMath xmlns:m="http://schemas.openxmlformats.org/officeDocument/2006/math">
                    <m:r>
                      <a:rPr lang="en-US" sz="2000" b="1" i="0" baseline="0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2000" b="1" i="0" baseline="0" dirty="0">
                    <a:latin typeface="Calibri"/>
                  </a:rPr>
                  <a:t> draws)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219456"/>
                <a:ext cx="5233484" cy="400110"/>
              </a:xfrm>
              <a:prstGeom prst="rect">
                <a:avLst/>
              </a:prstGeom>
              <a:blipFill>
                <a:blip r:embed="rId2"/>
                <a:stretch>
                  <a:fillRect l="-1211" t="-9375" r="-242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84048" y="713232"/>
                <a:ext cx="3633239" cy="307777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1400" b="0" i="0" baseline="0" dirty="0">
                    <a:latin typeface="Calibri"/>
                  </a:rPr>
                  <a:t>MBB 2011-2021 · </a:t>
                </a:r>
                <a14:m>
                  <m:oMath xmlns:m="http://schemas.openxmlformats.org/officeDocument/2006/math">
                    <m:r>
                      <a:rPr lang="en-US" sz="1400" b="0" i="0" baseline="0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1400" b="0" i="0" baseline="0" dirty="0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sz="1400" b="0" i="0" baseline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0" baseline="0" dirty="0">
                            <a:latin typeface="Cambria Math" panose="02040503050406030204" pitchFamily="18" charset="0"/>
                          </a:rPr>
                          <m:t>1.5,2</m:t>
                        </m:r>
                      </m:e>
                    </m:d>
                  </m:oMath>
                </a14:m>
                <a:r>
                  <a:rPr sz="1400" b="0" i="0" baseline="0" dirty="0">
                    <a:latin typeface="Calibri"/>
                  </a:rPr>
                  <a:t> ·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1400" b="0" i="1" baseline="0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1400" b="0" i="0" baseline="0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400" b="0" i="0" baseline="0" dirty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sz="1400" b="0" i="0" baseline="0" dirty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fName>
                      <m:e>
                        <m:r>
                          <a:rPr lang="en-US" sz="1400" b="0" i="0" baseline="0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func>
                    <m:r>
                      <a:rPr lang="en-US" sz="1400" b="0" i="0" baseline="0" dirty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sz="1400" b="0" i="0" baseline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0" baseline="0" dirty="0">
                            <a:latin typeface="Cambria Math" panose="02040503050406030204" pitchFamily="18" charset="0"/>
                          </a:rPr>
                          <m:t>−3,3</m:t>
                        </m:r>
                      </m:e>
                    </m:d>
                  </m:oMath>
                </a14:m>
                <a:endParaRPr sz="1400" b="0" i="0" baseline="0" dirty="0">
                  <a:latin typeface="Calibri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713232"/>
                <a:ext cx="3633239" cy="307777"/>
              </a:xfrm>
              <a:prstGeom prst="rect">
                <a:avLst/>
              </a:prstGeom>
              <a:blipFill>
                <a:blip r:embed="rId3"/>
                <a:stretch>
                  <a:fillRect l="-697" t="-40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457930" y="540541"/>
            <a:ext cx="6671446" cy="547621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84048" y="1639824"/>
                <a:ext cx="3794760" cy="16843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SELECT: draft rate vs LOO (left) and pool mean (right) — Hero axes.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MBB 2011-2021 · empirical caps ·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· rule D ·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panels 1.5, 2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Empirical LOO: inverted u like.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=1.5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: inverted-U-like on LOO for 9/13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arms.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: inverted-U-like on LOO for 10/13 </a:t>
                </a:r>
                <a:r>
                  <a:rPr lang="en-US" sz="1000" b="0" i="0" baseline="0" dirty="0">
                    <a:latin typeface="Calibri"/>
                  </a:rPr>
                  <a:t>𝑡</a:t>
                </a:r>
                <a:r>
                  <a:rPr sz="1000" b="0" i="0" baseline="0" dirty="0">
                    <a:latin typeface="Calibri"/>
                  </a:rPr>
                  <a:t> arms.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Cold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: near hard cut; hot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: flattens toward uniform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-draws.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Pool mean often stays monotone — same PD17 readout limitation.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1639824"/>
                <a:ext cx="3794760" cy="1684307"/>
              </a:xfrm>
              <a:prstGeom prst="rect">
                <a:avLst/>
              </a:prstGeom>
              <a:blipFill>
                <a:blip r:embed="rId5"/>
                <a:stretch>
                  <a:fillRect b="-15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84048" y="6053328"/>
                <a:ext cx="6127640" cy="2616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l"/>
                <a:r>
                  <a:rPr sz="1100" b="1" i="0" baseline="0" dirty="0">
                    <a:latin typeface="Calibri"/>
                  </a:rPr>
                  <a:t>Talking point: check LOO panels at </a:t>
                </a:r>
                <a14:m>
                  <m:oMath xmlns:m="http://schemas.openxmlformats.org/officeDocument/2006/math"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=1.5</m:t>
                    </m:r>
                  </m:oMath>
                </a14:m>
                <a:r>
                  <a:rPr sz="1100" b="1" i="0" baseline="0" dirty="0">
                    <a:latin typeface="Calibri"/>
                  </a:rPr>
                  <a:t>–</a:t>
                </a:r>
                <a14:m>
                  <m:oMath xmlns:m="http://schemas.openxmlformats.org/officeDocument/2006/math"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1100" b="1" i="0" baseline="0" dirty="0">
                    <a:latin typeface="Calibri"/>
                  </a:rPr>
                  <a:t> — does a </a:t>
                </a:r>
                <a14:m>
                  <m:oMath xmlns:m="http://schemas.openxmlformats.org/officeDocument/2006/math"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1100" b="1" i="0" baseline="0" dirty="0">
                    <a:latin typeface="Calibri"/>
                  </a:rPr>
                  <a:t> window preserve inverted-U vs empirical?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6053328"/>
                <a:ext cx="6127640" cy="261610"/>
              </a:xfrm>
              <a:prstGeom prst="rect">
                <a:avLst/>
              </a:prstGeom>
              <a:blipFill>
                <a:blip r:embed="rId6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01168"/>
            <a:ext cx="11313871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 baseline="0">
                <a:latin typeface="Calibri"/>
              </a:rPr>
              <a:t>Cold limit — rule C vs rule 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76656"/>
            <a:ext cx="1131387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 baseline="0">
                <a:latin typeface="Calibri"/>
              </a:rPr>
              <a:t>Act I — PD20 \text{---} narrative for HAND slide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50976"/>
            <a:ext cx="1131387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 baseline="0" dirty="0">
                <a:latin typeface="Calibri"/>
              </a:rPr>
              <a:t>At small </a:t>
            </a:r>
            <a:r>
              <a:rPr lang="en-US" sz="1400" b="0" i="0" baseline="0" dirty="0">
                <a:latin typeface="Calibri"/>
              </a:rPr>
              <a:t>𝑡</a:t>
            </a:r>
            <a:r>
              <a:rPr sz="1400" b="0" i="0" baseline="0" dirty="0">
                <a:latin typeface="Calibri"/>
              </a:rPr>
              <a:t>, does Gibbs nest the old </a:t>
            </a:r>
            <a:r>
              <a:rPr lang="en-US" sz="1400" b="0" i="0" baseline="0" dirty="0">
                <a:latin typeface="Calibri"/>
              </a:rPr>
              <a:t>top-𝐾</a:t>
            </a:r>
            <a:r>
              <a:rPr sz="1400" b="0" i="0" baseline="0" dirty="0">
                <a:latin typeface="Calibri"/>
              </a:rPr>
              <a:t> rule?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38912" y="1389888"/>
                <a:ext cx="11313871" cy="30084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r>
                  <a:rPr lang="en-US" sz="1400" b="1" i="0" baseline="0" dirty="0">
                    <a:latin typeface="Calibri"/>
                  </a:rPr>
                  <a:t>Why this came up</a:t>
                </a:r>
                <a:r>
                  <a:rPr sz="1400" b="1" i="0" baseline="0" dirty="0">
                    <a:latin typeface="Calibri"/>
                  </a:rPr>
                  <a:t>:</a:t>
                </a: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1400"/>
                  </a:spcAft>
                </a:pPr>
                <a:r>
                  <a:rPr sz="1700" b="0" i="0" baseline="0" dirty="0">
                    <a:latin typeface="Calibri"/>
                  </a:rPr>
                  <a:t>Alex needs to see that the new SELECT layer is an extension, not a unrelated rewrite.</a:t>
                </a:r>
              </a:p>
              <a:p>
                <a:pPr>
                  <a:lnSpc>
                    <a:spcPct val="115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r>
                  <a:rPr lang="en-US" sz="1400" b="1" i="0" baseline="0" dirty="0">
                    <a:latin typeface="Calibri"/>
                  </a:rPr>
                  <a:t>What we ran</a:t>
                </a:r>
                <a:r>
                  <a:rPr sz="1400" b="1" i="0" baseline="0" dirty="0">
                    <a:latin typeface="Calibri"/>
                  </a:rPr>
                  <a:t>:</a:t>
                </a: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1400"/>
                  </a:spcAft>
                </a:pPr>
                <a:r>
                  <a:rPr sz="1700" b="0" i="0" baseline="0" dirty="0">
                    <a:latin typeface="Calibri"/>
                  </a:rPr>
                  <a:t>Compare rule C (deterministic </a:t>
                </a:r>
                <a:r>
                  <a:rPr lang="en-US" sz="1700" b="0" i="0" baseline="0" dirty="0">
                    <a:latin typeface="Calibri"/>
                  </a:rPr>
                  <a:t>top-𝐾</a:t>
                </a:r>
                <a:r>
                  <a:rPr sz="1700" b="0" i="0" baseline="0" dirty="0">
                    <a:latin typeface="Calibri"/>
                  </a:rPr>
                  <a:t>) vs rule D at cold temperature on the same league.</a:t>
                </a:r>
              </a:p>
              <a:p>
                <a:pPr>
                  <a:lnSpc>
                    <a:spcPct val="115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r>
                  <a:rPr lang="en-US" sz="1400" b="1" i="0" baseline="0" dirty="0">
                    <a:latin typeface="Calibri"/>
                  </a:rPr>
                  <a:t>What showed up</a:t>
                </a:r>
                <a:r>
                  <a:rPr sz="1400" b="1" i="0" baseline="0" dirty="0">
                    <a:latin typeface="Calibri"/>
                  </a:rPr>
                  <a:t>:</a:t>
                </a: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1400"/>
                  </a:spcAft>
                </a:pPr>
                <a:r>
                  <a:rPr sz="1700" b="0" i="0" baseline="0" dirty="0">
                    <a:latin typeface="Calibri"/>
                  </a:rPr>
                  <a:t>Cold </a:t>
                </a:r>
                <a:r>
                  <a:rPr lang="en-US" sz="1700" b="0" i="0" baseline="0" dirty="0">
                    <a:latin typeface="Calibri"/>
                  </a:rPr>
                  <a:t>𝑡</a:t>
                </a:r>
                <a:r>
                  <a:rPr sz="1700" b="0" i="0" baseline="0" dirty="0">
                    <a:latin typeface="Calibri"/>
                  </a:rPr>
                  <a:t> arms track the legacy </a:t>
                </a:r>
                <a:r>
                  <a:rPr lang="en-US" sz="1700" b="0" i="0" baseline="0" dirty="0">
                    <a:latin typeface="Calibri"/>
                  </a:rPr>
                  <a:t>top-𝐾</a:t>
                </a:r>
                <a:r>
                  <a:rPr sz="1700" b="0" i="0" baseline="0" dirty="0">
                    <a:latin typeface="Calibri"/>
                  </a:rPr>
                  <a:t> curve — the temperature dial connects smoothly.</a:t>
                </a:r>
              </a:p>
              <a:p>
                <a:pPr>
                  <a:lnSpc>
                    <a:spcPct val="115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r>
                  <a:rPr lang="en-US" sz="1400" b="1" i="0" baseline="0" dirty="0">
                    <a:latin typeface="Calibri"/>
                  </a:rPr>
                  <a:t>What you can say</a:t>
                </a:r>
                <a:r>
                  <a:rPr sz="1400" b="1" i="0" baseline="0" dirty="0">
                    <a:latin typeface="Calibri"/>
                  </a:rPr>
                  <a:t>:</a:t>
                </a: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1400"/>
                  </a:spcAft>
                </a:pPr>
                <a:r>
                  <a:rPr lang="en-US" sz="1700" b="1" dirty="0"/>
                  <a:t>"At cold temperature, Gibbs nests top-</a:t>
                </a:r>
                <a14:m>
                  <m:oMath xmlns:m="http://schemas.openxmlformats.org/officeDocument/2006/math">
                    <m:r>
                      <a:rPr lang="en-US" sz="1700" b="1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1700" b="1" dirty="0"/>
                  <a:t> — the dial connects smoothly to what we had."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912" y="1389888"/>
                <a:ext cx="11313871" cy="3008452"/>
              </a:xfrm>
              <a:prstGeom prst="rect">
                <a:avLst/>
              </a:prstGeom>
              <a:blipFill>
                <a:blip r:embed="rId2"/>
                <a:stretch>
                  <a:fillRect l="-336" b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3809452" y="6071616"/>
            <a:ext cx="4572790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1300" b="1" i="0" baseline="0" dirty="0">
                <a:latin typeface="Calibri"/>
              </a:rPr>
              <a:t>↓ Paste 𝙲𝙷𝙰𝚁_𝙿𝙳𝟸𝟶_𝙷𝙰𝙽𝙳</a:t>
            </a:r>
            <a:r>
              <a:rPr sz="1300" b="1" i="0" baseline="0" dirty="0">
                <a:latin typeface="Calibri"/>
              </a:rPr>
              <a:t> slide 3 immediately after this slide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219456"/>
            <a:ext cx="11423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 baseline="0">
                <a:latin typeface="Calibri"/>
              </a:rPr>
              <a:t>Cold limit — rule C vs rule 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84048" y="713232"/>
                <a:ext cx="2453107" cy="307777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400" b="0" i="0" baseline="0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1400" b="0" i="0" baseline="0" dirty="0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sz="1400" b="0" i="0" baseline="0" dirty="0">
                    <a:latin typeface="Calibri"/>
                  </a:rPr>
                  <a:t> · </a:t>
                </a:r>
                <a14:m>
                  <m:oMath xmlns:m="http://schemas.openxmlformats.org/officeDocument/2006/math">
                    <m:r>
                      <a:rPr lang="en-US" sz="1400" b="0" i="0" baseline="0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400" b="0" i="0" baseline="0" dirty="0" smtClean="0">
                        <a:latin typeface="Cambria Math" panose="02040503050406030204" pitchFamily="18" charset="0"/>
                      </a:rPr>
                      <m:t>=0.001</m:t>
                    </m:r>
                  </m:oMath>
                </a14:m>
                <a:r>
                  <a:rPr sz="1400" b="0" i="0" baseline="0" dirty="0">
                    <a:latin typeface="Calibri"/>
                  </a:rPr>
                  <a:t> · same seeds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713232"/>
                <a:ext cx="2453107" cy="307777"/>
              </a:xfrm>
              <a:prstGeom prst="rect">
                <a:avLst/>
              </a:prstGeom>
              <a:blipFill>
                <a:blip r:embed="rId2"/>
                <a:stretch>
                  <a:fillRect t="-40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17482" y="993753"/>
            <a:ext cx="9157036" cy="387413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144699" y="5160305"/>
                <a:ext cx="11663172" cy="802901"/>
              </a:xfrm>
              <a:prstGeom prst="rect">
                <a:avLst/>
              </a:prstGeom>
              <a:noFill/>
            </p:spPr>
            <p:txBody>
              <a:bodyPr wrap="square" numCol="2">
                <a:noAutofit/>
              </a:bodyPr>
              <a:lstStyle/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Same ASSIGN seeds; only SELECT rule differs (C = top-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, D = cold Gibbs).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Fixed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=0.001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(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1000" b="0" i="1" baseline="0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fName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func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=−3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Max bin gap C vs D: LOO = 0.00e+00, pool mean = 0.00e+00.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LOO curvature: C = inverted u like; D = inverted u like.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Expect overlay coincidence at cold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(Gibbs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hard ranking).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Numerical match flag: True (gap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−9</m:t>
                        </m:r>
                      </m:sup>
                    </m:sSup>
                  </m:oMath>
                </a14:m>
                <a:r>
                  <a:rPr sz="1000" b="0" i="0" baseline="0" dirty="0">
                    <a:latin typeface="Calibri"/>
                  </a:rPr>
                  <a:t> on binned curves).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4699" y="5160305"/>
                <a:ext cx="11663172" cy="80290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84048" y="6053328"/>
                <a:ext cx="6199389" cy="2616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l"/>
                <a:r>
                  <a:rPr sz="1100" b="1" i="0" baseline="0" dirty="0">
                    <a:latin typeface="Calibri"/>
                  </a:rPr>
                  <a:t>Talking point: rule D at cold </a:t>
                </a:r>
                <a14:m>
                  <m:oMath xmlns:m="http://schemas.openxmlformats.org/officeDocument/2006/math"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1100" b="1" i="0" baseline="0" dirty="0">
                    <a:latin typeface="Calibri"/>
                  </a:rPr>
                  <a:t> reproduces rule C bin-for-bin — Gibbs SELECT nests the old top-</a:t>
                </a:r>
                <a14:m>
                  <m:oMath xmlns:m="http://schemas.openxmlformats.org/officeDocument/2006/math"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1100" b="1" i="0" baseline="0" dirty="0">
                    <a:latin typeface="Calibri"/>
                  </a:rPr>
                  <a:t> limit.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6053328"/>
                <a:ext cx="6199389" cy="261610"/>
              </a:xfrm>
              <a:prstGeom prst="rect">
                <a:avLst/>
              </a:prstGeom>
              <a:blipFill>
                <a:blip r:embed="rId5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01168"/>
            <a:ext cx="11313871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 baseline="0">
                <a:latin typeface="Calibri"/>
              </a:rPr>
              <a:t>PD20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76656"/>
            <a:ext cx="1131387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 baseline="0">
                <a:latin typeface="Calibri"/>
              </a:rPr>
              <a:t>Act I — PD20 \text{---} narrative for HAND slide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50976"/>
            <a:ext cx="11313871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 baseline="0">
                <a:latin typeface="Calibri"/>
              </a:rPr>
              <a:t>What do we lock from Act I?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389888"/>
            <a:ext cx="11313871" cy="3008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400" b="1" i="0" baseline="0" dirty="0">
                <a:latin typeface="Calibri"/>
              </a:rPr>
              <a:t>Why this came up</a:t>
            </a:r>
            <a:r>
              <a:rPr sz="1400" b="1" i="0" baseline="0" dirty="0">
                <a:latin typeface="Calibri"/>
              </a:rPr>
              <a:t>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 dirty="0">
                <a:latin typeface="Calibri"/>
              </a:rPr>
              <a:t>Close the PD20 thread before panel and </a:t>
            </a:r>
            <a:r>
              <a:rPr lang="en-US" sz="1700" b="0" i="0" baseline="0" dirty="0">
                <a:latin typeface="Calibri"/>
              </a:rPr>
              <a:t>𝜌</a:t>
            </a:r>
            <a:r>
              <a:rPr sz="1700" b="0" i="0" baseline="0" dirty="0">
                <a:latin typeface="Calibri"/>
              </a:rPr>
              <a:t> work so Alex knows SELECT is unblocked.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400" b="1" i="0" baseline="0" dirty="0">
                <a:latin typeface="Calibri"/>
              </a:rPr>
              <a:t>What we ran</a:t>
            </a:r>
            <a:r>
              <a:rPr sz="1400" b="1" i="0" baseline="0" dirty="0">
                <a:latin typeface="Calibri"/>
              </a:rPr>
              <a:t>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 dirty="0">
                <a:latin typeface="Calibri"/>
              </a:rPr>
              <a:t>Summarize sweep + cold-limit evidence in plain bullets on the HAND slide.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400" b="1" i="0" baseline="0" dirty="0">
                <a:latin typeface="Calibri"/>
              </a:rPr>
              <a:t>What showed up</a:t>
            </a:r>
            <a:r>
              <a:rPr sz="1400" b="1" i="0" baseline="0" dirty="0">
                <a:latin typeface="Calibri"/>
              </a:rPr>
              <a:t>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 dirty="0">
                <a:latin typeface="Calibri"/>
              </a:rPr>
              <a:t>Inverted-U survives Gibbs SELECT; proceed to MLE; </a:t>
            </a:r>
            <a:r>
              <a:rPr lang="en-US" sz="1700" b="0" i="0" baseline="0" dirty="0">
                <a:latin typeface="Calibri"/>
              </a:rPr>
              <a:t>𝜌</a:t>
            </a:r>
            <a:r>
              <a:rPr sz="1700" b="0" i="0" baseline="0" dirty="0">
                <a:latin typeface="Calibri"/>
              </a:rPr>
              <a:t> is a separate calibration step.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400" b="1" i="0" baseline="0" dirty="0">
                <a:latin typeface="Calibri"/>
              </a:rPr>
              <a:t>What you can say</a:t>
            </a:r>
            <a:r>
              <a:rPr sz="1400" b="1" i="0" baseline="0" dirty="0">
                <a:latin typeface="Calibri"/>
              </a:rPr>
              <a:t>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lang="en-US" sz="1700" b="1" dirty="0"/>
              <a:t>"Act I is done: inverted-U survives Gibbs SELECT; next we defend the real panel."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09452" y="6071616"/>
            <a:ext cx="4572790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1300" b="1" i="0" baseline="0" dirty="0">
                <a:latin typeface="Calibri"/>
              </a:rPr>
              <a:t>↓ Paste 𝙲𝙷𝙰𝚁_𝙿𝙳𝟸𝟶_𝙷𝙰𝙽𝙳</a:t>
            </a:r>
            <a:r>
              <a:rPr sz="1300" b="1" i="0" baseline="0" dirty="0">
                <a:latin typeface="Calibri"/>
              </a:rPr>
              <a:t> slide 4 immediately after this slide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219456"/>
            <a:ext cx="11423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 baseline="0">
                <a:latin typeface="Calibri"/>
              </a:rPr>
              <a:t>PD20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713232"/>
            <a:ext cx="308866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0" baseline="0" dirty="0">
                <a:latin typeface="Calibri"/>
              </a:rPr>
              <a:t>MBB 2011-2021 · empirical caps · rule 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84048" y="1033272"/>
                <a:ext cx="11423599" cy="44199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  <a:buChar char="•"/>
                </a:pPr>
                <a:r>
                  <a:rPr sz="2400" b="0" i="0" baseline="0" dirty="0">
                    <a:latin typeface="Calibri"/>
                  </a:rPr>
                  <a:t>  PD20 gate (LOO): inverted-U survives Gibbs SELECT at breakpoint </a:t>
                </a:r>
                <a14:m>
                  <m:oMath xmlns:m="http://schemas.openxmlformats.org/officeDocument/2006/math">
                    <m:r>
                      <a:rPr lang="en-US" sz="2400" b="0" i="0" baseline="0" dirty="0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sz="2400" b="0" i="0" baseline="0" dirty="0">
                    <a:latin typeface="Calibri"/>
                  </a:rPr>
                  <a:t>.</a:t>
                </a:r>
              </a:p>
              <a:p>
                <a:pPr>
                  <a:lnSpc>
                    <a:spcPct val="200000"/>
                  </a:lnSpc>
                  <a:buChar char="•"/>
                </a:pPr>
                <a:r>
                  <a:rPr sz="2400" b="0" i="0" baseline="0" dirty="0">
                    <a:latin typeface="Calibri"/>
                  </a:rPr>
                  <a:t>  Full panel: </a:t>
                </a:r>
                <a14:m>
                  <m:oMath xmlns:m="http://schemas.openxmlformats.org/officeDocument/2006/math">
                    <m:r>
                      <a:rPr lang="en-US" sz="2400" b="0" i="0" baseline="0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400" b="0" i="0" baseline="0" dirty="0" smtClean="0">
                        <a:latin typeface="Cambria Math" panose="02040503050406030204" pitchFamily="18" charset="0"/>
                      </a:rPr>
                      <m:t>=1.5</m:t>
                    </m:r>
                  </m:oMath>
                </a14:m>
                <a:r>
                  <a:rPr sz="2400" b="0" i="0" baseline="0" dirty="0">
                    <a:latin typeface="Calibri"/>
                  </a:rPr>
                  <a:t> → 9/13 </a:t>
                </a:r>
                <a14:m>
                  <m:oMath xmlns:m="http://schemas.openxmlformats.org/officeDocument/2006/math">
                    <m:r>
                      <a:rPr lang="en-US" sz="2400" b="0" i="0" baseline="0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 i="0" baseline="0" dirty="0">
                    <a:latin typeface="Calibri"/>
                  </a:rPr>
                  <a:t> arms U-like; </a:t>
                </a:r>
                <a14:m>
                  <m:oMath xmlns:m="http://schemas.openxmlformats.org/officeDocument/2006/math">
                    <m:r>
                      <a:rPr lang="en-US" sz="2400" b="0" i="0" baseline="0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400" b="0" i="0" baseline="0" dirty="0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sz="2400" b="0" i="0" baseline="0" dirty="0">
                    <a:latin typeface="Calibri"/>
                  </a:rPr>
                  <a:t> → 10/13 </a:t>
                </a:r>
                <a14:m>
                  <m:oMath xmlns:m="http://schemas.openxmlformats.org/officeDocument/2006/math">
                    <m:r>
                      <a:rPr lang="en-US" sz="2400" b="0" i="0" baseline="0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 i="0" baseline="0" dirty="0">
                    <a:latin typeface="Calibri"/>
                  </a:rPr>
                  <a:t> arms U-like.</a:t>
                </a:r>
              </a:p>
              <a:p>
                <a:pPr>
                  <a:lnSpc>
                    <a:spcPct val="200000"/>
                  </a:lnSpc>
                  <a:buChar char="•"/>
                </a:pPr>
                <a:r>
                  <a:rPr sz="2400" b="0" i="0" baseline="0" dirty="0">
                    <a:latin typeface="Calibri"/>
                  </a:rPr>
                  <a:t>  Cold </a:t>
                </a:r>
                <a14:m>
                  <m:oMath xmlns:m="http://schemas.openxmlformats.org/officeDocument/2006/math">
                    <m:r>
                      <a:rPr lang="en-US" sz="2400" b="0" i="0" baseline="0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 i="0" baseline="0" dirty="0">
                    <a:latin typeface="Calibri"/>
                  </a:rPr>
                  <a:t> ≈ top-</a:t>
                </a:r>
                <a14:m>
                  <m:oMath xmlns:m="http://schemas.openxmlformats.org/officeDocument/2006/math">
                    <m:r>
                      <a:rPr lang="en-US" sz="2400" b="0" i="0" baseline="0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2400" b="0" i="0" baseline="0" dirty="0">
                    <a:latin typeface="Calibri"/>
                  </a:rPr>
                  <a:t> (slide 3); mid </a:t>
                </a:r>
                <a14:m>
                  <m:oMath xmlns:m="http://schemas.openxmlformats.org/officeDocument/2006/math">
                    <m:r>
                      <a:rPr lang="en-US" sz="2400" b="0" i="0" baseline="0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 i="0" baseline="0" dirty="0">
                    <a:latin typeface="Calibri"/>
                  </a:rPr>
                  <a:t> still shows hump on LOO.</a:t>
                </a:r>
              </a:p>
              <a:p>
                <a:pPr>
                  <a:lnSpc>
                    <a:spcPct val="200000"/>
                  </a:lnSpc>
                  <a:buChar char="•"/>
                </a:pPr>
                <a:r>
                  <a:rPr sz="2400" b="0" i="0" baseline="0" dirty="0">
                    <a:latin typeface="Calibri"/>
                  </a:rPr>
                  <a:t>  Hot </a:t>
                </a:r>
                <a14:m>
                  <m:oMath xmlns:m="http://schemas.openxmlformats.org/officeDocument/2006/math">
                    <m:r>
                      <a:rPr lang="en-US" sz="2400" b="0" i="0" baseline="0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 i="0" baseline="0" dirty="0">
                    <a:latin typeface="Calibri"/>
                  </a:rPr>
                  <a:t> → uniform-</a:t>
                </a:r>
                <a14:m>
                  <m:oMath xmlns:m="http://schemas.openxmlformats.org/officeDocument/2006/math">
                    <m:r>
                      <a:rPr lang="en-US" sz="2400" b="0" i="0" baseline="0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2400" b="0" i="0" baseline="0" dirty="0">
                    <a:latin typeface="Calibri"/>
                  </a:rPr>
                  <a:t> limit (flattening) — different failure mode.</a:t>
                </a:r>
              </a:p>
              <a:p>
                <a:pPr>
                  <a:lnSpc>
                    <a:spcPct val="200000"/>
                  </a:lnSpc>
                  <a:buChar char="•"/>
                </a:pPr>
                <a:r>
                  <a:rPr sz="2400" b="0" i="0" baseline="0" dirty="0">
                    <a:latin typeface="Calibri"/>
                  </a:rPr>
                  <a:t>  Open for Alex: K-draw vs literal </a:t>
                </a:r>
                <a:r>
                  <a:rPr sz="2400" b="0" i="0" baseline="0" dirty="0" err="1">
                    <a:latin typeface="Calibri"/>
                  </a:rPr>
                  <a:t>softmax</a:t>
                </a:r>
                <a:r>
                  <a:rPr sz="2400" b="0" i="0" baseline="0" dirty="0">
                    <a:latin typeface="Calibri"/>
                  </a:rPr>
                  <a:t> Bernoulli for MLE.</a:t>
                </a:r>
              </a:p>
              <a:p>
                <a:pPr>
                  <a:lnSpc>
                    <a:spcPct val="200000"/>
                  </a:lnSpc>
                  <a:buChar char="•"/>
                </a:pPr>
                <a:r>
                  <a:rPr sz="2400" b="0" i="0" baseline="0" dirty="0">
                    <a:latin typeface="Calibri"/>
                  </a:rPr>
                  <a:t>  Next: MLE 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0" baseline="0" dirty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r>
                          <a:rPr lang="en-US" sz="2400" b="0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400" b="0" i="0" baseline="0" dirty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b="0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0" baseline="0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sz="2400" b="0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sz="2400" b="0" i="0" baseline="0" dirty="0">
                    <a:latin typeface="Calibri"/>
                  </a:rPr>
                  <a:t> (and </a:t>
                </a:r>
                <a14:m>
                  <m:oMath xmlns:m="http://schemas.openxmlformats.org/officeDocument/2006/math">
                    <m:r>
                      <a:rPr lang="en-US" sz="2400" b="0" i="0" baseline="0" dirty="0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sz="2400" b="0" i="0" baseline="0" dirty="0">
                    <a:latin typeface="Calibri"/>
                  </a:rPr>
                  <a:t>);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0" baseline="0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2400" b="0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sz="2400" b="0" i="0" baseline="0" dirty="0">
                    <a:latin typeface="Calibri"/>
                  </a:rPr>
                  <a:t> via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b="0" i="0" baseline="0" dirty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</m:sSub>
                  </m:oMath>
                </a14:m>
                <a:r>
                  <a:rPr sz="2400" b="0" i="0" baseline="0" dirty="0">
                    <a:latin typeface="Calibri"/>
                  </a:rPr>
                  <a:t> separately.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1033272"/>
                <a:ext cx="11423599" cy="4419928"/>
              </a:xfrm>
              <a:prstGeom prst="rect">
                <a:avLst/>
              </a:prstGeom>
              <a:blipFill>
                <a:blip r:embed="rId2"/>
                <a:stretch>
                  <a:fillRect l="-889" b="-20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384048" y="6053328"/>
            <a:ext cx="11423599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 baseline="0" dirty="0">
                <a:latin typeface="Calibri"/>
              </a:rPr>
              <a:t>PD20 step 4 cleared on LOO: proceed to MLE design once K-draw semantics are confirmed with Alex.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37744"/>
            <a:ext cx="11313871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 baseline="0">
                <a:latin typeface="Calibri"/>
              </a:rPr>
              <a:t>Act II — PD22: Why we trust the hero panel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804672"/>
            <a:ext cx="1131387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 baseline="0" dirty="0">
                <a:latin typeface="Calibri"/>
              </a:rPr>
              <a:t>Box QC + minutes/PPM backup — the table that feeds ASSIGN and </a:t>
            </a:r>
            <a:r>
              <a:rPr lang="en-US" sz="1500" b="0" i="0" baseline="0" dirty="0">
                <a:latin typeface="Calibri"/>
              </a:rPr>
              <a:t>𝐻_sort</a:t>
            </a:r>
            <a:r>
              <a:rPr sz="1500" b="0" i="0" baseline="0" dirty="0">
                <a:latin typeface="Calibri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38912" y="1316736"/>
                <a:ext cx="11313871" cy="25555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r>
                  <a:rPr sz="1400" b="1" i="0" baseline="0" dirty="0">
                    <a:latin typeface="Calibri"/>
                  </a:rPr>
                  <a:t>Panel:</a:t>
                </a: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1400"/>
                  </a:spcAft>
                </a:pPr>
                <a:r>
                  <a:rPr sz="1700" b="0" i="0" baseline="0" dirty="0">
                    <a:latin typeface="Calibri"/>
                  </a:rPr>
                  <a:t>One row per player-season: minutes, PPM, draft flag, team, season. Raw ESPN box data needed hygiene before we could defend roster slides.</a:t>
                </a:r>
              </a:p>
              <a:p>
                <a:pPr>
                  <a:lnSpc>
                    <a:spcPct val="115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r>
                  <a:rPr sz="1400" b="1" i="0" baseline="0" dirty="0">
                    <a:latin typeface="Calibri"/>
                  </a:rPr>
                  <a:t>Box QC:</a:t>
                </a: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1400"/>
                  </a:spcAft>
                </a:pPr>
                <a:r>
                  <a:rPr sz="1700" b="0" i="0" baseline="0" dirty="0">
                    <a:latin typeface="Calibri"/>
                  </a:rPr>
                  <a:t>Drop dash-name placeholders; drop team-seasons with </a:t>
                </a:r>
                <a14:m>
                  <m:oMath xmlns:m="http://schemas.openxmlformats.org/officeDocument/2006/math">
                    <m:r>
                      <a:rPr lang="en-US" sz="1700" b="0" i="0" baseline="0" dirty="0" smtClean="0">
                        <a:latin typeface="Cambria Math" panose="02040503050406030204" pitchFamily="18" charset="0"/>
                      </a:rPr>
                      <m:t>&lt;11</m:t>
                    </m:r>
                  </m:oMath>
                </a14:m>
                <a:r>
                  <a:rPr sz="1700" b="0" i="0" baseline="0" dirty="0">
                    <a:latin typeface="Calibri"/>
                  </a:rPr>
                  <a:t> games. Changed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700" b="0" i="0" baseline="0" dirty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</m:sSub>
                  </m:oMath>
                </a14:m>
                <a:r>
                  <a:rPr sz="1700" b="0" i="0" baseline="0" dirty="0">
                    <a:latin typeface="Calibri"/>
                  </a:rPr>
                  <a:t>targets and </a:t>
                </a:r>
                <a:r>
                  <a:rPr lang="en-US" sz="1700" b="0" i="0" baseline="0" dirty="0">
                    <a:latin typeface="Calibri"/>
                  </a:rPr>
                  <a:t>$\rho^*$ </a:t>
                </a:r>
                <a:r>
                  <a:rPr sz="1700" b="0" i="0" baseline="0" dirty="0">
                    <a:latin typeface="Calibri"/>
                  </a:rPr>
                  <a:t>— not optional.</a:t>
                </a:r>
              </a:p>
              <a:p>
                <a:pPr>
                  <a:lnSpc>
                    <a:spcPct val="115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r>
                  <a:rPr sz="1400" b="1" i="0" baseline="0" dirty="0">
                    <a:latin typeface="Calibri"/>
                  </a:rPr>
                  <a:t>Next slides:</a:t>
                </a: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1400"/>
                  </a:spcAft>
                </a:pPr>
                <a:r>
                  <a:rPr sz="1700" b="0" i="0" baseline="0" dirty="0">
                    <a:latin typeface="Calibri"/>
                  </a:rPr>
                  <a:t>Nine narrative companions (HAND 5–13) — Q1 evidence lives here.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912" y="1316736"/>
                <a:ext cx="11313871" cy="2555508"/>
              </a:xfrm>
              <a:prstGeom prst="rect">
                <a:avLst/>
              </a:prstGeom>
              <a:blipFill>
                <a:blip r:embed="rId2"/>
                <a:stretch>
                  <a:fillRect l="-336" b="-2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01168"/>
            <a:ext cx="11313871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 baseline="0">
                <a:latin typeface="Calibri"/>
              </a:rPr>
              <a:t>Roster size — raw box (before QC)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76656"/>
            <a:ext cx="1131387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 baseline="0">
                <a:latin typeface="Calibri"/>
              </a:rPr>
              <a:t>Act II — PD22 panel \text{---} narrative for HAND slide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50976"/>
            <a:ext cx="11313871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 baseline="0">
                <a:latin typeface="Calibri"/>
              </a:rPr>
              <a:t>Why do roster-count slides show absurd tails before we clean the feed?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389888"/>
            <a:ext cx="11313871" cy="3008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400" b="1" i="0" baseline="0" dirty="0">
                <a:latin typeface="Calibri"/>
              </a:rPr>
              <a:t>Why this came up</a:t>
            </a:r>
            <a:r>
              <a:rPr sz="1400" b="1" i="0" baseline="0" dirty="0">
                <a:latin typeface="Calibri"/>
              </a:rPr>
              <a:t>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lang="en-US" sz="1700" dirty="0"/>
              <a:t>Start with the raw ESPN mess — before claiming the panel is obvious.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400" b="1" i="0" baseline="0" dirty="0">
                <a:latin typeface="Calibri"/>
              </a:rPr>
              <a:t>What we ran</a:t>
            </a:r>
            <a:r>
              <a:rPr sz="1400" b="1" i="0" baseline="0" dirty="0">
                <a:latin typeface="Calibri"/>
              </a:rPr>
              <a:t>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 dirty="0">
                <a:latin typeface="Calibri"/>
              </a:rPr>
              <a:t>Histogram of players per team-season from the box file before dash/QC filters.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400" b="1" i="0" baseline="0" dirty="0">
                <a:latin typeface="Calibri"/>
              </a:rPr>
              <a:t>What showed up</a:t>
            </a:r>
            <a:r>
              <a:rPr sz="1400" b="1" i="0" baseline="0" dirty="0">
                <a:latin typeface="Calibri"/>
              </a:rPr>
              <a:t>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 dirty="0">
                <a:latin typeface="Calibri"/>
              </a:rPr>
              <a:t>Long tails (e.g. 100+ names) from placeholder rows — not real NCAA dress lists.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400" b="1" i="0" baseline="0" dirty="0">
                <a:latin typeface="Calibri"/>
              </a:rPr>
              <a:t>What you can say</a:t>
            </a:r>
            <a:r>
              <a:rPr sz="1400" b="1" i="0" baseline="0" dirty="0">
                <a:latin typeface="Calibri"/>
              </a:rPr>
              <a:t>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lang="en-US" sz="1700" b="1" dirty="0"/>
              <a:t>"These tails are placeholder rows — that is why we added box QC at panel build."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09452" y="6071616"/>
            <a:ext cx="4572790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1300" b="1" i="0" baseline="0" dirty="0">
                <a:latin typeface="Calibri"/>
              </a:rPr>
              <a:t>↓ Paste 𝙲𝙷𝙰𝚁_𝙿𝙳𝟸𝟶_𝙷𝙰𝙽𝙳</a:t>
            </a:r>
            <a:r>
              <a:rPr sz="1300" b="1" i="0" baseline="0" dirty="0">
                <a:latin typeface="Calibri"/>
              </a:rPr>
              <a:t> slide 5 immediately after this slide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219456"/>
            <a:ext cx="5740802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 baseline="0" dirty="0">
                <a:latin typeface="Calibri"/>
              </a:rPr>
              <a:t>PD22 — Roster size: </a:t>
            </a:r>
            <a:r>
              <a:rPr lang="en-US" sz="2000" b="1" i="0" baseline="0" dirty="0">
                <a:latin typeface="Calibri"/>
              </a:rPr>
              <a:t>raw </a:t>
            </a:r>
            <a:r>
              <a:rPr sz="2000" b="1" i="0" baseline="0" dirty="0">
                <a:latin typeface="Calibri"/>
              </a:rPr>
              <a:t>box</a:t>
            </a:r>
            <a:r>
              <a:rPr lang="en-US" sz="2000" b="1" i="0" dirty="0">
                <a:latin typeface="Calibri"/>
              </a:rPr>
              <a:t> (No </a:t>
            </a:r>
            <a:r>
              <a:rPr sz="2000" b="1" i="0" baseline="0" dirty="0">
                <a:latin typeface="Calibri"/>
              </a:rPr>
              <a:t>QC</a:t>
            </a:r>
            <a:r>
              <a:rPr lang="en-US" sz="2000" b="1" i="0" baseline="0" dirty="0">
                <a:latin typeface="Calibri"/>
              </a:rPr>
              <a:t>) </a:t>
            </a:r>
            <a:r>
              <a:rPr sz="2000" b="1" i="0" baseline="0" dirty="0">
                <a:latin typeface="Calibri"/>
              </a:rPr>
              <a:t>vs min-20 drop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84048" y="713232"/>
                <a:ext cx="4029052" cy="24622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1000" b="0" i="0" baseline="0" dirty="0">
                    <a:latin typeface="Calibri"/>
                  </a:rPr>
                  <a:t>PD22 · roster size </a:t>
                </a:r>
                <a:r>
                  <a:rPr lang="en-US" sz="1000" b="0" i="0" baseline="0" dirty="0">
                    <a:latin typeface="Calibri"/>
                  </a:rPr>
                  <a:t>(before QC) </a:t>
                </a:r>
                <a:r>
                  <a:rPr sz="1000" b="0" i="0" baseline="0" dirty="0">
                    <a:latin typeface="Calibri"/>
                  </a:rPr>
                  <a:t>· 2011-2021 · raw median =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· </a:t>
                </a:r>
                <a:r>
                  <a:rPr lang="en-US" sz="1000" b="0" i="0" baseline="0" dirty="0">
                    <a:latin typeface="Calibri"/>
                  </a:rPr>
                  <a:t>max </a:t>
                </a:r>
                <a14:m>
                  <m:oMath xmlns:m="http://schemas.openxmlformats.org/officeDocument/2006/math">
                    <m:r>
                      <a:rPr lang="en-US" sz="1000" b="0" i="0" baseline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000" b="0" i="1" baseline="0" smtClean="0">
                        <a:latin typeface="Cambria Math" panose="02040503050406030204" pitchFamily="18" charset="0"/>
                      </a:rPr>
                      <m:t>115</m:t>
                    </m:r>
                  </m:oMath>
                </a14:m>
                <a:endParaRPr sz="1000" b="0" i="0" baseline="0" dirty="0">
                  <a:latin typeface="Calibri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713232"/>
                <a:ext cx="4029052" cy="246221"/>
              </a:xfrm>
              <a:prstGeom prst="rect">
                <a:avLst/>
              </a:prstGeom>
              <a:blipFill>
                <a:blip r:embed="rId2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404975" y="1052409"/>
            <a:ext cx="9381744" cy="394850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4048" y="6325874"/>
            <a:ext cx="1142359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>
                <a:latin typeface="Calibri"/>
              </a:rPr>
              <a:t>Claim (PD22 backup): Raw ESPN box rows inflate team-season roster counts — dash placeholders and sparse junk games before panel QC at build.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A9CD9C7-D024-78B9-948E-5E004EF89B3D}"/>
                  </a:ext>
                </a:extLst>
              </p:cNvPr>
              <p:cNvSpPr txBox="1"/>
              <p:nvPr/>
            </p:nvSpPr>
            <p:spPr>
              <a:xfrm>
                <a:off x="384048" y="5074919"/>
                <a:ext cx="11423599" cy="1301299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PD22 backup: players per team-season — legacy raw box (no QC) vs min-20 drop.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No box QC: dash-name placeholders and sparse team-seasons still in panel.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Panel: 2011-2021 MBB ·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6,557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team-seasons ·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104,790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player-season rows.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Min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raw box (blue): median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=15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, mean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=16.0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16.3%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exactly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64.5%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48.1%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Min-20 drop (orange): median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=11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, mean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=9.5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; only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2.3%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exactly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Tail: max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=115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(BYU 2018);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115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BYU spike from ESPN dash rows in one game (SCOUT Aug 2026).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Motivation for box QC at panel build — next slide shows after dash + min-games filters.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Left: team-season counts; right: normalized — long tail from junk box rows.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A9CD9C7-D024-78B9-948E-5E004EF89B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5074919"/>
                <a:ext cx="11423599" cy="1301299"/>
              </a:xfrm>
              <a:prstGeom prst="rect">
                <a:avLst/>
              </a:prstGeom>
              <a:blipFill>
                <a:blip r:embed="rId4"/>
                <a:stretch>
                  <a:fillRect t="-962" b="-28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01168"/>
            <a:ext cx="11313871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 baseline="0">
                <a:latin typeface="Calibri"/>
              </a:rPr>
              <a:t>Games per team-season — before QC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76656"/>
            <a:ext cx="1131387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 baseline="0">
                <a:latin typeface="Calibri"/>
              </a:rPr>
              <a:t>Act II — PD22 panel \text{---} narrative for HAND slide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50976"/>
            <a:ext cx="1131387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 baseline="0" dirty="0">
                <a:latin typeface="Calibri"/>
              </a:rPr>
              <a:t>Are one-game </a:t>
            </a:r>
            <a:r>
              <a:rPr lang="en-US" sz="1400" b="0" i="0" baseline="0" dirty="0">
                <a:latin typeface="Calibri"/>
              </a:rPr>
              <a:t>"</a:t>
            </a:r>
            <a:r>
              <a:rPr sz="1400" b="0" i="0" baseline="0" dirty="0">
                <a:latin typeface="Calibri"/>
              </a:rPr>
              <a:t>seasons</a:t>
            </a:r>
            <a:r>
              <a:rPr lang="en-US" sz="1400" b="0" i="0" baseline="0" dirty="0">
                <a:latin typeface="Calibri"/>
              </a:rPr>
              <a:t>"</a:t>
            </a:r>
            <a:r>
              <a:rPr sz="1400" b="0" i="0" baseline="0" dirty="0">
                <a:latin typeface="Calibri"/>
              </a:rPr>
              <a:t> polluting roster structure?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389888"/>
            <a:ext cx="11313871" cy="3008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400" b="1" i="0" baseline="0" dirty="0">
                <a:latin typeface="Calibri"/>
              </a:rPr>
              <a:t>Why this came up</a:t>
            </a:r>
            <a:r>
              <a:rPr sz="1400" b="1" i="0" baseline="0" dirty="0">
                <a:latin typeface="Calibri"/>
              </a:rPr>
              <a:t>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 dirty="0">
                <a:latin typeface="Calibri"/>
              </a:rPr>
              <a:t>Fragmentary team-seasons inflate noise in ASSIGN inputs.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400" b="1" i="0" baseline="0" dirty="0">
                <a:latin typeface="Calibri"/>
              </a:rPr>
              <a:t>What we ran</a:t>
            </a:r>
            <a:r>
              <a:rPr sz="1400" b="1" i="0" baseline="0" dirty="0">
                <a:latin typeface="Calibri"/>
              </a:rPr>
              <a:t>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 dirty="0">
                <a:latin typeface="Calibri"/>
              </a:rPr>
              <a:t>Count games listed per team-season in raw box feed, pre-QC.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400" b="1" i="0" baseline="0" dirty="0">
                <a:latin typeface="Calibri"/>
              </a:rPr>
              <a:t>What showed up</a:t>
            </a:r>
            <a:r>
              <a:rPr sz="1400" b="1" i="0" baseline="0" dirty="0">
                <a:latin typeface="Calibri"/>
              </a:rPr>
              <a:t>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 dirty="0">
                <a:latin typeface="Calibri"/>
              </a:rPr>
              <a:t>Many schools with only one game — not a season for our purposes.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400" b="1" i="0" baseline="0" dirty="0">
                <a:latin typeface="Calibri"/>
              </a:rPr>
              <a:t>What you can say</a:t>
            </a:r>
            <a:r>
              <a:rPr sz="1400" b="1" i="0" baseline="0" dirty="0">
                <a:latin typeface="Calibri"/>
              </a:rPr>
              <a:t>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lang="en-US" sz="1700" b="1" dirty="0"/>
              <a:t>"One-game team-seasons are not real seasons for our purposes — we drop them at build."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09452" y="6071616"/>
            <a:ext cx="4572790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1300" b="1" i="0" baseline="0" dirty="0">
                <a:latin typeface="Calibri"/>
              </a:rPr>
              <a:t>↓ Paste 𝙲𝙷𝙰𝚁_𝙿𝙳𝟸𝟶_𝙷𝙰𝙽𝙳</a:t>
            </a:r>
            <a:r>
              <a:rPr sz="1300" b="1" i="0" baseline="0" dirty="0">
                <a:latin typeface="Calibri"/>
              </a:rPr>
              <a:t> slide 6 immediately after this slide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219456"/>
            <a:ext cx="664579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000" b="1" dirty="0">
                <a:latin typeface="Calibri"/>
              </a:rPr>
              <a:t>PD22 — Games per team-season in raw box data (before QC)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713232"/>
            <a:ext cx="11423599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 baseline="0">
                <a:latin typeface="Calibri"/>
              </a:rPr>
              <a:t>PD22 · team-season games · 2011–2021 · 1,883 with 1 game · median = 29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24528" y="1056344"/>
            <a:ext cx="10742638" cy="394064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84048" y="5074920"/>
                <a:ext cx="11423599" cy="11695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PD22 backup: distinct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𝑔𝑎𝑚𝑒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𝑖𝑑𝑠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per (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𝑡𝑒𝑎𝑚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𝑖𝑑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𝑠𝑒𝑎𝑠𝑜𝑛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) in raw box (2011–2021).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Panel: 6,557 team-seasons · median = 29 games · mean = 19.1 · max = 41.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Bimodal: 1,883 team-seasons (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28.7%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) with only 1 game (red line) vs cluster near 30–32 (full seasons).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≤10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games: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2,</m:t>
                    </m:r>
                    <m:r>
                      <a:rPr lang="en-US" sz="1000" b="0" i="1" baseline="0" dirty="0" smtClean="0">
                        <a:latin typeface="Cambria Math" panose="02040503050406030204" pitchFamily="18" charset="0"/>
                      </a:rPr>
                      <m:t>715</m:t>
                    </m:r>
                    <m:d>
                      <m:d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41.1%</m:t>
                        </m:r>
                      </m:e>
                    </m:d>
                  </m:oMath>
                </a14:m>
                <a:r>
                  <a:rPr sz="1000" b="0" i="0" baseline="0" dirty="0"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&gt; 10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games: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3,842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— sparse tail is partial coverage / small-school noise.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Default box QC (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𝑝𝑎𝑛𝑒𝑙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𝑟𝑒𝑏𝑢𝑖𝑙𝑑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):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𝑚𝑖𝑛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𝑡𝑒𝑎𝑚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𝑠𝑒𝑎𝑠𝑜𝑛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𝑔𝑎𝑚𝑒𝑠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drops team-seasons with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games</a:t>
                </a:r>
                <a:r>
                  <a:rPr lang="en-US" sz="1000" b="0" i="0" baseline="0" dirty="0">
                    <a:latin typeface="Calibri"/>
                  </a:rPr>
                  <a:t>(keep</a:t>
                </a:r>
                <a:r>
                  <a:rPr lang="en-US" sz="1000" b="0" i="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b="0" i="0" dirty="0" smtClean="0">
                        <a:latin typeface="Cambria Math" panose="02040503050406030204" pitchFamily="18" charset="0"/>
                      </a:rPr>
                      <m:t>≥11</m:t>
                    </m:r>
                  </m:oMath>
                </a14:m>
                <a:r>
                  <a:rPr lang="en-US" sz="1000" b="0" i="0" dirty="0">
                    <a:latin typeface="Calibri"/>
                  </a:rPr>
                  <a:t>)</a:t>
                </a:r>
                <a:r>
                  <a:rPr sz="1000" b="0" i="0" baseline="0" dirty="0">
                    <a:latin typeface="Calibri"/>
                  </a:rPr>
                  <a:t>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Left: linear counts; right: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𝑙𝑜𝑔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— gap between spikes is low-frequency partial seasons, not hero-panel mass.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Pairs with roster-size backup: low-game team-seasons often inflate per-game roster anomalies (SCOUT ESPN dash rows).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5074920"/>
                <a:ext cx="11423599" cy="1169551"/>
              </a:xfrm>
              <a:prstGeom prst="rect">
                <a:avLst/>
              </a:prstGeom>
              <a:blipFill>
                <a:blip r:embed="rId3"/>
                <a:stretch>
                  <a:fillRect t="-1075" b="-2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84048" y="6230576"/>
                <a:ext cx="11423599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100" b="1" dirty="0">
                    <a:latin typeface="Calibri"/>
                  </a:rPr>
                  <a:t>Claim (PD22 backup): Box panel mixes full D-I seasons (</a:t>
                </a:r>
                <a14:m>
                  <m:oMath xmlns:m="http://schemas.openxmlformats.org/officeDocument/2006/math">
                    <m:r>
                      <a:rPr lang="en-US" sz="1100" b="1" dirty="0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sz="1100" b="1" i="0" dirty="0"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lang="en-US" sz="1100" b="1" dirty="0">
                    <a:latin typeface="Calibri"/>
                  </a:rPr>
                  <a:t> games) with sparse one-game team-seasons — default </a:t>
                </a:r>
                <a14:m>
                  <m:oMath xmlns:m="http://schemas.openxmlformats.org/officeDocument/2006/math">
                    <m:r>
                      <a:rPr lang="en-US" sz="1100" b="1" i="1" dirty="0" smtClean="0">
                        <a:latin typeface="Cambria Math" panose="02040503050406030204" pitchFamily="18" charset="0"/>
                      </a:rPr>
                      <m:t>𝑚𝑖𝑛</m:t>
                    </m:r>
                    <m:r>
                      <a:rPr lang="en-US" sz="1100" b="1" i="0" dirty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100" b="1" i="1" dirty="0">
                        <a:latin typeface="Cambria Math" panose="02040503050406030204" pitchFamily="18" charset="0"/>
                      </a:rPr>
                      <m:t>𝑡𝑒𝑎𝑚</m:t>
                    </m:r>
                    <m:r>
                      <a:rPr lang="en-US" sz="1100" b="1" i="0" dirty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100" b="1" i="1" dirty="0">
                        <a:latin typeface="Cambria Math" panose="02040503050406030204" pitchFamily="18" charset="0"/>
                      </a:rPr>
                      <m:t>𝑠𝑒𝑎𝑠𝑜𝑛</m:t>
                    </m:r>
                    <m:r>
                      <a:rPr lang="en-US" sz="1100" b="1" i="0" dirty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100" b="1" i="1" dirty="0">
                        <a:latin typeface="Cambria Math" panose="02040503050406030204" pitchFamily="18" charset="0"/>
                      </a:rPr>
                      <m:t>𝑔𝑎𝑚𝑒𝑠</m:t>
                    </m:r>
                    <m:r>
                      <a:rPr lang="en-US" sz="1100" b="1" i="0" dirty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en-US" sz="1100" b="1" dirty="0">
                    <a:latin typeface="Calibri"/>
                  </a:rPr>
                  <a:t> drops team-seasons with </a:t>
                </a:r>
                <a14:m>
                  <m:oMath xmlns:m="http://schemas.openxmlformats.org/officeDocument/2006/math">
                    <m:r>
                      <a:rPr lang="en-US" sz="1100" b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1100" b="1" i="0" dirty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en-US" sz="1100" b="1" dirty="0">
                    <a:latin typeface="Calibri"/>
                  </a:rPr>
                  <a:t> games (keep </a:t>
                </a:r>
                <a14:m>
                  <m:oMath xmlns:m="http://schemas.openxmlformats.org/officeDocument/2006/math">
                    <m:r>
                      <a:rPr lang="en-US" sz="1100" b="1" dirty="0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1100" b="1" i="0" dirty="0"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lang="en-US" sz="1100" b="1" dirty="0">
                    <a:latin typeface="Calibri"/>
                  </a:rPr>
                  <a:t>) before player-season aggregation.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6230576"/>
                <a:ext cx="11423599" cy="430887"/>
              </a:xfrm>
              <a:prstGeom prst="rect">
                <a:avLst/>
              </a:prstGeom>
              <a:blipFill>
                <a:blip r:embed="rId4"/>
                <a:stretch>
                  <a:fillRect b="-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01168"/>
            <a:ext cx="11313871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 baseline="0">
                <a:latin typeface="Calibri"/>
              </a:rPr>
              <a:t>Games per team-season — after QC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76656"/>
            <a:ext cx="1131387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 baseline="0">
                <a:latin typeface="Calibri"/>
              </a:rPr>
              <a:t>Act II — PD22 panel \text{---} narrative for HAND slide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50976"/>
            <a:ext cx="11313871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 baseline="0">
                <a:latin typeface="Calibri"/>
              </a:rPr>
              <a:t>What does the feed look like once we require real seasons?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38912" y="1389888"/>
                <a:ext cx="11313871" cy="30084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r>
                  <a:rPr lang="en-US" sz="1400" b="1" i="0" baseline="0" dirty="0">
                    <a:latin typeface="Calibri"/>
                  </a:rPr>
                  <a:t>Why this came up</a:t>
                </a:r>
                <a:r>
                  <a:rPr sz="1400" b="1" i="0" baseline="0" dirty="0">
                    <a:latin typeface="Calibri"/>
                  </a:rPr>
                  <a:t>:</a:t>
                </a: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1400"/>
                  </a:spcAft>
                </a:pPr>
                <a:r>
                  <a:rPr sz="1700" b="0" i="0" baseline="0" dirty="0">
                    <a:latin typeface="Calibri"/>
                  </a:rPr>
                  <a:t>Pair with slide 6 — before/after is the punchline.</a:t>
                </a:r>
              </a:p>
              <a:p>
                <a:pPr>
                  <a:lnSpc>
                    <a:spcPct val="115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r>
                  <a:rPr lang="en-US" sz="1400" b="1" i="0" baseline="0" dirty="0">
                    <a:latin typeface="Calibri"/>
                  </a:rPr>
                  <a:t>What we ran</a:t>
                </a:r>
                <a:r>
                  <a:rPr sz="1400" b="1" i="0" baseline="0" dirty="0">
                    <a:latin typeface="Calibri"/>
                  </a:rPr>
                  <a:t>:</a:t>
                </a: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1400"/>
                  </a:spcAft>
                </a:pPr>
                <a:r>
                  <a:rPr sz="1700" b="0" i="0" baseline="0" dirty="0">
                    <a:latin typeface="Calibri"/>
                  </a:rPr>
                  <a:t>Same plot after QC: keep teams with </a:t>
                </a:r>
                <a14:m>
                  <m:oMath xmlns:m="http://schemas.openxmlformats.org/officeDocument/2006/math">
                    <m:r>
                      <a:rPr lang="en-US" sz="1700" b="0" i="0" baseline="0" dirty="0" smtClean="0">
                        <a:latin typeface="Cambria Math" panose="02040503050406030204" pitchFamily="18" charset="0"/>
                      </a:rPr>
                      <m:t>≥11</m:t>
                    </m:r>
                  </m:oMath>
                </a14:m>
                <a:r>
                  <a:rPr sz="1700" b="0" i="0" baseline="0" dirty="0">
                    <a:latin typeface="Calibri"/>
                  </a:rPr>
                  <a:t> games.</a:t>
                </a:r>
              </a:p>
              <a:p>
                <a:pPr>
                  <a:lnSpc>
                    <a:spcPct val="115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r>
                  <a:rPr lang="en-US" sz="1400" b="1" i="0" baseline="0" dirty="0">
                    <a:latin typeface="Calibri"/>
                  </a:rPr>
                  <a:t>What showed up</a:t>
                </a:r>
                <a:r>
                  <a:rPr sz="1400" b="1" i="0" baseline="0" dirty="0">
                    <a:latin typeface="Calibri"/>
                  </a:rPr>
                  <a:t>:</a:t>
                </a: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1400"/>
                  </a:spcAft>
                </a:pPr>
                <a:r>
                  <a:rPr sz="1700" b="0" i="0" baseline="0" dirty="0">
                    <a:latin typeface="Calibri"/>
                  </a:rPr>
                  <a:t>Distribution tightens; one-game artifacts gone.</a:t>
                </a:r>
              </a:p>
              <a:p>
                <a:pPr>
                  <a:lnSpc>
                    <a:spcPct val="115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r>
                  <a:rPr lang="en-US" sz="1400" b="1" i="0" baseline="0" dirty="0">
                    <a:latin typeface="Calibri"/>
                  </a:rPr>
                  <a:t>What you can say</a:t>
                </a:r>
                <a:r>
                  <a:rPr sz="1400" b="1" i="0" baseline="0" dirty="0">
                    <a:latin typeface="Calibri"/>
                  </a:rPr>
                  <a:t>:</a:t>
                </a: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1400"/>
                  </a:spcAft>
                </a:pPr>
                <a:r>
                  <a:rPr lang="en-US" sz="1700" b="1" dirty="0"/>
                  <a:t>"After QC the feed looks like actual NCAA seasons — pair with the before slide."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912" y="1389888"/>
                <a:ext cx="11313871" cy="3008452"/>
              </a:xfrm>
              <a:prstGeom prst="rect">
                <a:avLst/>
              </a:prstGeom>
              <a:blipFill>
                <a:blip r:embed="rId2"/>
                <a:stretch>
                  <a:fillRect l="-336" b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3809452" y="6071616"/>
            <a:ext cx="4572790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1300" b="1" i="0" baseline="0" dirty="0">
                <a:latin typeface="Calibri"/>
              </a:rPr>
              <a:t>↓ Paste 𝙲𝙷𝙰𝚁_𝙿𝙳𝟸𝟶_𝙷𝙰𝙽𝙳</a:t>
            </a:r>
            <a:r>
              <a:rPr sz="1300" b="1" i="0" baseline="0" dirty="0">
                <a:latin typeface="Calibri"/>
              </a:rPr>
              <a:t> slide 7 immediately after this slide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008B9-3BDB-ADEB-7B28-E2661A08A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B365AD2-EEAF-F00F-B681-4EA530201C2F}"/>
              </a:ext>
            </a:extLst>
          </p:cNvPr>
          <p:cNvSpPr txBox="1"/>
          <p:nvPr/>
        </p:nvSpPr>
        <p:spPr>
          <a:xfrm>
            <a:off x="384048" y="219456"/>
            <a:ext cx="504984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 baseline="0" dirty="0">
                <a:latin typeface="Calibri"/>
              </a:rPr>
              <a:t>PD22 — Games per team-season </a:t>
            </a:r>
            <a:r>
              <a:rPr lang="en-US" sz="2000" b="1" dirty="0">
                <a:latin typeface="Calibri"/>
              </a:rPr>
              <a:t>after box QC</a:t>
            </a:r>
            <a:endParaRPr sz="2000" b="1" i="0" baseline="0" dirty="0">
              <a:latin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94BCC7A-2D0E-BB14-8AF2-1FC754AB7407}"/>
                  </a:ext>
                </a:extLst>
              </p:cNvPr>
              <p:cNvSpPr txBox="1"/>
              <p:nvPr/>
            </p:nvSpPr>
            <p:spPr>
              <a:xfrm>
                <a:off x="384048" y="713232"/>
                <a:ext cx="4747582" cy="24622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1000" b="0" i="0" baseline="0" dirty="0">
                    <a:latin typeface="Calibri"/>
                  </a:rPr>
                  <a:t>PD22 · games </a:t>
                </a:r>
                <a:r>
                  <a:rPr lang="en-US" sz="1000" b="0" i="0" baseline="0" dirty="0">
                    <a:latin typeface="Calibri"/>
                  </a:rPr>
                  <a:t>after box QC </a:t>
                </a:r>
                <a:r>
                  <a:rPr sz="1000" b="0" i="0" baseline="0" dirty="0">
                    <a:latin typeface="Calibri"/>
                  </a:rPr>
                  <a:t>· 2011–2021 ·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3,842</m:t>
                    </m:r>
                  </m:oMath>
                </a14:m>
                <a:r>
                  <a:rPr lang="en-US" sz="1000" b="0" i="0" baseline="0" dirty="0">
                    <a:latin typeface="Calibri"/>
                  </a:rPr>
                  <a:t> team seasons</a:t>
                </a:r>
                <a:r>
                  <a:rPr sz="1000" b="0" i="0" baseline="0" dirty="0">
                    <a:latin typeface="Calibri"/>
                  </a:rPr>
                  <a:t> · median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=32</m:t>
                    </m:r>
                  </m:oMath>
                </a14:m>
                <a:r>
                  <a:rPr lang="en-US" sz="1000" dirty="0">
                    <a:latin typeface="Calibri"/>
                  </a:rPr>
                  <a:t> · min </a:t>
                </a:r>
                <a14:m>
                  <m:oMath xmlns:m="http://schemas.openxmlformats.org/officeDocument/2006/math">
                    <m:r>
                      <a:rPr lang="en-US" sz="1000" dirty="0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1000" i="0" dirty="0" smtClean="0"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endParaRPr sz="1000" b="0" i="0" baseline="0" dirty="0">
                  <a:latin typeface="Calibri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94BCC7A-2D0E-BB14-8AF2-1FC754AB74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713232"/>
                <a:ext cx="4747582" cy="246221"/>
              </a:xfrm>
              <a:prstGeom prst="rect">
                <a:avLst/>
              </a:prstGeom>
              <a:blipFill>
                <a:blip r:embed="rId2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67AD5F87-7D3E-42D6-3075-F0BAFEACFD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414324" y="1056344"/>
            <a:ext cx="9363046" cy="394064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C3F7FC1-2B42-1E77-B84F-0038568DB09A}"/>
                  </a:ext>
                </a:extLst>
              </p:cNvPr>
              <p:cNvSpPr txBox="1"/>
              <p:nvPr/>
            </p:nvSpPr>
            <p:spPr>
              <a:xfrm>
                <a:off x="384048" y="6230576"/>
                <a:ext cx="1142359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100" b="1" dirty="0">
                    <a:latin typeface="Calibri"/>
                  </a:rPr>
                  <a:t>Claim (PD22 backup): After box QC, team-season game counts are full-season D-I coverage (</a:t>
                </a:r>
                <a14:m>
                  <m:oMath xmlns:m="http://schemas.openxmlformats.org/officeDocument/2006/math">
                    <m:r>
                      <a:rPr lang="en-US" sz="1100" b="1" dirty="0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1100" b="1" i="0" dirty="0"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lang="en-US" sz="1100" b="1" dirty="0">
                    <a:latin typeface="Calibri"/>
                  </a:rPr>
                  <a:t> games) — low-game tail (</a:t>
                </a:r>
                <a14:m>
                  <m:oMath xmlns:m="http://schemas.openxmlformats.org/officeDocument/2006/math">
                    <m:r>
                      <a:rPr lang="en-US" sz="1100" b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1100" b="1" i="0" dirty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en-US" sz="1100" b="1" dirty="0">
                    <a:latin typeface="Calibri"/>
                  </a:rPr>
                  <a:t> games) removed before panel build.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C3F7FC1-2B42-1E77-B84F-0038568DB0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6230576"/>
                <a:ext cx="11423599" cy="261610"/>
              </a:xfrm>
              <a:prstGeom prst="rect">
                <a:avLst/>
              </a:prstGeom>
              <a:blipFill>
                <a:blip r:embed="rId4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16DA0B8-AB63-E6A3-54AD-1A87FE9F16C0}"/>
                  </a:ext>
                </a:extLst>
              </p:cNvPr>
              <p:cNvSpPr txBox="1"/>
              <p:nvPr/>
            </p:nvSpPr>
            <p:spPr>
              <a:xfrm>
                <a:off x="384048" y="5074920"/>
                <a:ext cx="11423599" cy="1155656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PD22 backup (after filter): distinct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𝑔𝑎𝑚𝑒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𝑖𝑑𝑠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per (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𝑡𝑒𝑎𝑚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𝑖𝑑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𝑠𝑒𝑎𝑠𝑜𝑛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) surviving box QC.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Box QC at panel build: drop dash-name placeholders; keep team-seasons with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≥11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distinct games in box (frozen CSV untouched).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Panel: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3,842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team-seasons kept · median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=32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games · mean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=31.6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· min =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(all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≥11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).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Removed by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𝑚𝑖𝑛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𝑡𝑒𝑎𝑚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𝑠𝑒𝑎𝑠𝑜𝑛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𝑔𝑎𝑚𝑒𝑠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: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2,715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team-seasons with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≤10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games (see raw games-count slide).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Dropped dash rows: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175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game rows before game-count tally.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No one-game spike — bulk mass sits near 28–32 games (normal D-I seasons).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Left: linear counts; right: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𝑙𝑜𝑔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— post-QC panel is what roster-size and minutes diagnostics use.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16DA0B8-AB63-E6A3-54AD-1A87FE9F16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5074920"/>
                <a:ext cx="11423599" cy="1155656"/>
              </a:xfrm>
              <a:prstGeom prst="rect">
                <a:avLst/>
              </a:prstGeom>
              <a:blipFill>
                <a:blip r:embed="rId5"/>
                <a:stretch>
                  <a:fillRect t="-1087" b="-32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64684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01168"/>
            <a:ext cx="11313871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 baseline="0">
                <a:latin typeface="Calibri"/>
              </a:rPr>
              <a:t>Roster size — box-QC panel vs min-20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76656"/>
            <a:ext cx="1131387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 baseline="0">
                <a:latin typeface="Calibri"/>
              </a:rPr>
              <a:t>Act II — PD22 panel \text{---} narrative for HAND slide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50976"/>
            <a:ext cx="11313871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 baseline="0">
                <a:latin typeface="Calibri"/>
              </a:rPr>
              <a:t>After QC, do roster sizes look like NCAA?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38912" y="1389888"/>
                <a:ext cx="11313871" cy="30088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r>
                  <a:rPr lang="en-US" sz="1400" b="1" i="0" baseline="0" dirty="0">
                    <a:latin typeface="Calibri"/>
                  </a:rPr>
                  <a:t>Why this came up</a:t>
                </a:r>
                <a:r>
                  <a:rPr sz="1400" b="1" i="0" baseline="0" dirty="0">
                    <a:latin typeface="Calibri"/>
                  </a:rPr>
                  <a:t>:</a:t>
                </a: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1400"/>
                  </a:spcAft>
                </a:pPr>
                <a:r>
                  <a:rPr sz="1700" b="0" i="0" baseline="0" dirty="0">
                    <a:latin typeface="Calibri"/>
                  </a:rPr>
                  <a:t>Post-QC roster counts should cluster near dress cap (~15).</a:t>
                </a:r>
              </a:p>
              <a:p>
                <a:pPr>
                  <a:lnSpc>
                    <a:spcPct val="115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r>
                  <a:rPr lang="en-US" sz="1400" b="1" i="0" baseline="0" dirty="0">
                    <a:latin typeface="Calibri"/>
                  </a:rPr>
                  <a:t>What we ran</a:t>
                </a:r>
                <a:r>
                  <a:rPr sz="1400" b="1" i="0" baseline="0" dirty="0">
                    <a:latin typeface="Calibri"/>
                  </a:rPr>
                  <a:t>:</a:t>
                </a: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1400"/>
                  </a:spcAft>
                </a:pPr>
                <a:r>
                  <a:rPr sz="1700" b="0" i="0" baseline="0" dirty="0">
                    <a:latin typeface="Calibri"/>
                  </a:rPr>
                  <a:t>Roster size on locked panel (QC + min 20 minutes).</a:t>
                </a:r>
              </a:p>
              <a:p>
                <a:pPr>
                  <a:lnSpc>
                    <a:spcPct val="115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r>
                  <a:rPr lang="en-US" sz="1400" b="1" i="0" baseline="0" dirty="0">
                    <a:latin typeface="Calibri"/>
                  </a:rPr>
                  <a:t>What showed up</a:t>
                </a:r>
                <a:r>
                  <a:rPr sz="1400" b="1" i="0" baseline="0" dirty="0">
                    <a:latin typeface="Calibri"/>
                  </a:rPr>
                  <a:t>:</a:t>
                </a: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1400"/>
                  </a:spcAft>
                </a:pPr>
                <a:r>
                  <a:rPr sz="1700" b="0" i="0" baseline="0" dirty="0">
                    <a:latin typeface="Calibri"/>
                  </a:rPr>
                  <a:t>Tails gone; sensible roster counts for ASSIGN caps.</a:t>
                </a:r>
              </a:p>
              <a:p>
                <a:pPr>
                  <a:lnSpc>
                    <a:spcPct val="115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r>
                  <a:rPr lang="en-US" sz="1400" b="1" i="0" baseline="0" dirty="0">
                    <a:latin typeface="Calibri"/>
                  </a:rPr>
                  <a:t>What you can say</a:t>
                </a:r>
                <a:r>
                  <a:rPr sz="1400" b="1" i="0" baseline="0" dirty="0">
                    <a:latin typeface="Calibri"/>
                  </a:rPr>
                  <a:t>:</a:t>
                </a: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1400"/>
                  </a:spcAft>
                </a:pPr>
                <a:r>
                  <a:rPr lang="en-US" sz="1700" b="1" dirty="0"/>
                  <a:t>"Post-QC roster counts cluster near dress cap — this is the panel epoch 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700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700" b="1" i="1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700" b="1" i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700" b="1" dirty="0"/>
                  <a:t>."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912" y="1389888"/>
                <a:ext cx="11313871" cy="3008837"/>
              </a:xfrm>
              <a:prstGeom prst="rect">
                <a:avLst/>
              </a:prstGeom>
              <a:blipFill>
                <a:blip r:embed="rId2"/>
                <a:stretch>
                  <a:fillRect l="-336" b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866069" y="6071616"/>
                <a:ext cx="4459555" cy="292388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1300" b="1" i="1" baseline="0" dirty="0" smtClean="0">
                        <a:latin typeface="Cambria Math" panose="02040503050406030204" pitchFamily="18" charset="0"/>
                      </a:rPr>
                      <m:t>↓ </m:t>
                    </m:r>
                    <m:r>
                      <m:rPr>
                        <m:sty m:val="p"/>
                      </m:rPr>
                      <a:rPr lang="en-US" sz="1300" b="1" i="1" baseline="0" dirty="0" smtClean="0">
                        <a:latin typeface="Cambria Math" panose="02040503050406030204" pitchFamily="18" charset="0"/>
                      </a:rPr>
                      <m:t>Paste</m:t>
                    </m:r>
                    <m:r>
                      <a:rPr lang="en-US" sz="1300" b="1" i="1" baseline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300" b="1" i="1" baseline="0" dirty="0" smtClean="0">
                        <a:latin typeface="Cambria Math" panose="02040503050406030204" pitchFamily="18" charset="0"/>
                      </a:rPr>
                      <m:t>𝙲𝙷𝙰𝚁</m:t>
                    </m:r>
                    <m:r>
                      <a:rPr lang="en-US" sz="1300" b="1" i="1" baseline="0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300" b="1" i="1" baseline="0" dirty="0" smtClean="0">
                        <a:latin typeface="Cambria Math" panose="02040503050406030204" pitchFamily="18" charset="0"/>
                      </a:rPr>
                      <m:t>𝙿𝙳𝟸𝟶</m:t>
                    </m:r>
                    <m:r>
                      <a:rPr lang="en-US" sz="1300" b="1" i="1" baseline="0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300" b="1" i="1" baseline="0" dirty="0" smtClean="0">
                        <a:latin typeface="Cambria Math" panose="02040503050406030204" pitchFamily="18" charset="0"/>
                      </a:rPr>
                      <m:t>𝙷𝙰𝙽𝙳</m:t>
                    </m:r>
                  </m:oMath>
                </a14:m>
                <a:r>
                  <a:rPr sz="1300" b="1" i="0" baseline="0" dirty="0">
                    <a:latin typeface="Calibri"/>
                  </a:rPr>
                  <a:t> </a:t>
                </a:r>
                <a:r>
                  <a:rPr lang="en-US" sz="1300" b="1" i="0" baseline="0" dirty="0">
                    <a:latin typeface="Calibri"/>
                  </a:rPr>
                  <a:t>slide 8 </a:t>
                </a:r>
                <a:r>
                  <a:rPr sz="1300" b="1" i="0" baseline="0" dirty="0">
                    <a:latin typeface="Calibri"/>
                  </a:rPr>
                  <a:t>immediately after this slide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6069" y="6071616"/>
                <a:ext cx="4459555" cy="292388"/>
              </a:xfrm>
              <a:prstGeom prst="rect">
                <a:avLst/>
              </a:prstGeom>
              <a:blipFill>
                <a:blip r:embed="rId3"/>
                <a:stretch>
                  <a:fillRect t="-4167" r="-284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9C2BF-870A-D3AF-53DA-5014BF4D9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546D56C-3961-AC6A-C9A1-F2D11B943DDB}"/>
                  </a:ext>
                </a:extLst>
              </p:cNvPr>
              <p:cNvSpPr txBox="1"/>
              <p:nvPr/>
            </p:nvSpPr>
            <p:spPr>
              <a:xfrm>
                <a:off x="384048" y="219456"/>
                <a:ext cx="6455935" cy="4001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2000" b="1" i="0" baseline="0" dirty="0">
                    <a:latin typeface="Calibri"/>
                  </a:rPr>
                  <a:t>PD22 — Roster size: box-QC panel (min</a:t>
                </a:r>
                <a14:m>
                  <m:oMath xmlns:m="http://schemas.openxmlformats.org/officeDocument/2006/math">
                    <m:r>
                      <a:rPr lang="en-US" sz="2000" b="1" i="0" baseline="0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sz="2000" b="1" i="0" baseline="0" dirty="0">
                    <a:latin typeface="Calibri"/>
                  </a:rPr>
                  <a:t>) vs min-20 drop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546D56C-3961-AC6A-C9A1-F2D11B943D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219456"/>
                <a:ext cx="6455935" cy="400110"/>
              </a:xfrm>
              <a:prstGeom prst="rect">
                <a:avLst/>
              </a:prstGeom>
              <a:blipFill>
                <a:blip r:embed="rId2"/>
                <a:stretch>
                  <a:fillRect l="-982" t="-9375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7B7386B-2FD0-AC0C-D5BF-5446FB902376}"/>
                  </a:ext>
                </a:extLst>
              </p:cNvPr>
              <p:cNvSpPr txBox="1"/>
              <p:nvPr/>
            </p:nvSpPr>
            <p:spPr>
              <a:xfrm>
                <a:off x="384048" y="713232"/>
                <a:ext cx="3725700" cy="24622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1000" b="0" i="0" baseline="0" dirty="0">
                    <a:latin typeface="Calibri"/>
                  </a:rPr>
                  <a:t>PD22 · roster size · 2011-2021 · raw median =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·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21.2%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exactly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endParaRPr sz="1000" b="0" i="0" baseline="0" dirty="0">
                  <a:latin typeface="Calibri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7B7386B-2FD0-AC0C-D5BF-5446FB9023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713232"/>
                <a:ext cx="3725700" cy="246221"/>
              </a:xfrm>
              <a:prstGeom prst="rect">
                <a:avLst/>
              </a:prstGeom>
              <a:blipFill>
                <a:blip r:embed="rId3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PD22_raw_roster_size_distribution_2011_2021.png">
            <a:extLst>
              <a:ext uri="{FF2B5EF4-FFF2-40B4-BE49-F238E27FC236}">
                <a16:creationId xmlns:a16="http://schemas.microsoft.com/office/drawing/2014/main" id="{2A7F4F52-0C88-604E-2D21-EC68AB51B4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4975" y="1051560"/>
            <a:ext cx="9381744" cy="395020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D692699-FB0C-9EB7-81C8-E0771E9FE555}"/>
                  </a:ext>
                </a:extLst>
              </p:cNvPr>
              <p:cNvSpPr txBox="1"/>
              <p:nvPr/>
            </p:nvSpPr>
            <p:spPr>
              <a:xfrm>
                <a:off x="384048" y="5074920"/>
                <a:ext cx="11423599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PD22 backup: players per team-season — box-QC panel (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𝑚𝑖𝑛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𝑚𝑖𝑛𝑢𝑡𝑒𝑠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) vs min-20 drop.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Box QC at panel build: drop dash-name placeholders; keep team-seasons with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≥11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distinct games in box (frozen CSV untouched).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Panel: 2011-2021 MBB ·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3,842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team-seasons ·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59,283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player-season rows.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Min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after QC (blue): median = 15, mean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=15.4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21.2%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exactly 15,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62.4%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41.2%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Min-20 drop (orange): median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=12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, mean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=12.1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; only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3.7%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exactly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— rotation-minute survivors, not dress cap.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Tail: max =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43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(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𝑡𝑒𝑎𝑚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𝑖𝑑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2655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2019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);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115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BYU spike gone — dash rows dropped at panel build (SCOUT Aug 2026).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Red dashed = NCAA dress cap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; empirical caps in PD21 use min-20 multiset.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Left: team-season counts; right: normalized — bulk mass sits 14–17 after box QC.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D692699-FB0C-9EB7-81C8-E0771E9FE5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5074920"/>
                <a:ext cx="11423599" cy="1323439"/>
              </a:xfrm>
              <a:prstGeom prst="rect">
                <a:avLst/>
              </a:prstGeom>
              <a:blipFill>
                <a:blip r:embed="rId5"/>
                <a:stretch>
                  <a:fillRect t="-943" b="-9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7158326-68B8-E546-73DE-62378EDED828}"/>
                  </a:ext>
                </a:extLst>
              </p:cNvPr>
              <p:cNvSpPr txBox="1"/>
              <p:nvPr/>
            </p:nvSpPr>
            <p:spPr>
              <a:xfrm>
                <a:off x="384048" y="6325874"/>
                <a:ext cx="1142359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100" b="1" i="0" baseline="0" dirty="0">
                    <a:latin typeface="Calibri"/>
                  </a:rPr>
                  <a:t>Claim (PD22 backup): After box QC, team-season roster counts cluster near NCAA dress cap </a:t>
                </a:r>
                <a14:m>
                  <m:oMath xmlns:m="http://schemas.openxmlformats.org/officeDocument/2006/math"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1100" b="1" i="0" baseline="0" dirty="0">
                    <a:latin typeface="Calibri"/>
                  </a:rPr>
                  <a:t>; empirical hero caps (min </a:t>
                </a:r>
                <a14:m>
                  <m:oMath xmlns:m="http://schemas.openxmlformats.org/officeDocument/2006/math"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sz="1100" b="1" i="0" baseline="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1100" b="1" i="0" baseline="0" dirty="0">
                    <a:latin typeface="Calibri"/>
                  </a:rPr>
                  <a:t>) count rotation-minute contributors — not game-day dress lists.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7158326-68B8-E546-73DE-62378EDED8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6325874"/>
                <a:ext cx="11423599" cy="261610"/>
              </a:xfrm>
              <a:prstGeom prst="rect">
                <a:avLst/>
              </a:prstGeom>
              <a:blipFill>
                <a:blip r:embed="rId6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44626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01168"/>
            <a:ext cx="11313871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 baseline="0">
                <a:latin typeface="Calibri"/>
              </a:rPr>
              <a:t>ESPN coverage 2013→2014 depth break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76656"/>
            <a:ext cx="1131387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 baseline="0">
                <a:latin typeface="Calibri"/>
              </a:rPr>
              <a:t>Act II — PD22 panel \text{---} narrative for HAND slide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50976"/>
            <a:ext cx="11313871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 baseline="0">
                <a:latin typeface="Calibri"/>
              </a:rPr>
              <a:t>Why does ppm0lt20 contrast jump in 2014?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389888"/>
            <a:ext cx="11313871" cy="3008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400" b="1" i="0" baseline="0" dirty="0">
                <a:latin typeface="Calibri"/>
              </a:rPr>
              <a:t>Why this came up</a:t>
            </a:r>
            <a:r>
              <a:rPr sz="1400" b="1" i="0" baseline="0" dirty="0">
                <a:latin typeface="Calibri"/>
              </a:rPr>
              <a:t>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 dirty="0">
                <a:latin typeface="Calibri"/>
              </a:rPr>
              <a:t>ESPN lists more bench rows after 2013 — policy contrasts must account for this.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400" b="1" i="0" baseline="0" dirty="0">
                <a:latin typeface="Calibri"/>
              </a:rPr>
              <a:t>What we ran</a:t>
            </a:r>
            <a:r>
              <a:rPr sz="1400" b="1" i="0" baseline="0" dirty="0">
                <a:latin typeface="Calibri"/>
              </a:rPr>
              <a:t>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 dirty="0">
                <a:latin typeface="Calibri"/>
              </a:rPr>
              <a:t>Players listed per team by season in raw feed.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400" b="1" i="0" baseline="0" dirty="0">
                <a:latin typeface="Calibri"/>
              </a:rPr>
              <a:t>What showed up</a:t>
            </a:r>
            <a:r>
              <a:rPr sz="1400" b="1" i="0" baseline="0" dirty="0">
                <a:latin typeface="Calibri"/>
              </a:rPr>
              <a:t>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 dirty="0">
                <a:latin typeface="Calibri"/>
              </a:rPr>
              <a:t>Step up at 2013→2014; hero min-20 panel is flat — contrast policy is sensitive.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400" b="1" i="0" baseline="0" dirty="0">
                <a:latin typeface="Calibri"/>
              </a:rPr>
              <a:t>What you can say</a:t>
            </a:r>
            <a:r>
              <a:rPr sz="1400" b="1" i="0" baseline="0" dirty="0">
                <a:latin typeface="Calibri"/>
              </a:rPr>
              <a:t>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lang="en-US" sz="1700" b="1" dirty="0"/>
              <a:t>"ESPN lists more bench rows after 2013 — that is why ppm0lt20 jumps in 2014 (contrast only)."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09452" y="6071616"/>
            <a:ext cx="4572790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1300" b="1" i="0" baseline="0" dirty="0">
                <a:latin typeface="Calibri"/>
              </a:rPr>
              <a:t>↓ Paste 𝙲𝙷𝙰𝚁_𝙿𝙳𝟸𝟶_𝙷𝙰𝙽𝙳</a:t>
            </a:r>
            <a:r>
              <a:rPr sz="1300" b="1" i="0" baseline="0" dirty="0">
                <a:latin typeface="Calibri"/>
              </a:rPr>
              <a:t> slide 9 immediately after this slide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219456"/>
            <a:ext cx="11423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 baseline="0">
                <a:latin typeface="Calibri"/>
              </a:rPr>
              <a:t>PD22 — ESPN box coverage by season (2013→2014 depth break)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84048" y="713232"/>
                <a:ext cx="4607352" cy="24622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1000" b="0" i="0" baseline="0" dirty="0">
                    <a:latin typeface="Calibri"/>
                  </a:rPr>
                  <a:t>PD22 · ESPN box coverage · 2011–2021 · 2013→2014 raw +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83.3%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· min-20 +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2.7%</m:t>
                    </m:r>
                  </m:oMath>
                </a14:m>
                <a:endParaRPr sz="1000" b="0" i="0" baseline="0" dirty="0">
                  <a:latin typeface="Calibri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713232"/>
                <a:ext cx="4607352" cy="246221"/>
              </a:xfrm>
              <a:prstGeom prst="rect">
                <a:avLst/>
              </a:prstGeom>
              <a:blipFill>
                <a:blip r:embed="rId2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PD22_espn_coverage_by_season_2011_20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4975" y="1051560"/>
            <a:ext cx="9381744" cy="395020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84048" y="5080635"/>
                <a:ext cx="11423599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PD22 backup (SCOUT Aug 2026): frozen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𝚖𝚋𝚋</m:t>
                        </m:r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𝚍𝚏</m:t>
                        </m:r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𝚙𝚕𝚊𝚢𝚎𝚛</m:t>
                        </m:r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𝚋𝚘𝚡</m:t>
                        </m:r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𝚌𝚜𝚟</m:t>
                        </m:r>
                      </m:e>
                    </m:box>
                  </m:oMath>
                </a14:m>
                <a:r>
                  <a:rPr sz="1000" b="0" i="0" baseline="0" dirty="0">
                    <a:latin typeface="Calibri"/>
                  </a:rPr>
                  <a:t> — season coverage for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timeseries jump.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Source: distinct player-season rows aggregated from ESPN box (2011–2021); CSV not rewritten on disk.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2013→2014 raw player-seasons: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5,801→10,633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(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83.3%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); games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3.4%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only.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Roster depth: median players/team-season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23.1%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; mean box rows/game/team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15.9%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— ESPN lists more bench lines from 2014.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Overlap teams only (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464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schools): player-seasons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5,388→7,783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(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+44%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on same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𝑡𝑒𝑎𝑚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𝑖𝑑𝑠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).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Hero panel (box QC + min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≥20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):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4,135→4,248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(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2.7%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).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Left: raw aggregate jumps at 2014; orange min-20 line flat — use for PD21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calibration, not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𝑝𝑝𝑚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𝑙𝑡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Right: median roster size and rows/game/team — SCOUT verify against ESPN API sample games 2013 vs 2014.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5080635"/>
                <a:ext cx="11423599" cy="1323439"/>
              </a:xfrm>
              <a:prstGeom prst="rect">
                <a:avLst/>
              </a:prstGeom>
              <a:blipFill>
                <a:blip r:embed="rId4"/>
                <a:stretch>
                  <a:fillRect b="-9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84048" y="6324219"/>
                <a:ext cx="1142359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100" b="1" i="0" baseline="0" dirty="0">
                    <a:latin typeface="Calibri"/>
                  </a:rPr>
                  <a:t>Claim (PD22 backup): 2013→2014 jump in raw player-season counts is ESPN box </a:t>
                </a:r>
                <a:r>
                  <a:rPr sz="1100" b="1" i="1" baseline="0" dirty="0">
                    <a:latin typeface="Calibri"/>
                  </a:rPr>
                  <a:t>depth</a:t>
                </a:r>
                <a:r>
                  <a:rPr lang="en-US" sz="1100" b="1" i="0" baseline="0" dirty="0">
                    <a:latin typeface="Calibri"/>
                  </a:rPr>
                  <a:t> </a:t>
                </a:r>
                <a:r>
                  <a:rPr sz="1100" b="1" i="0" baseline="0" dirty="0">
                    <a:latin typeface="Calibri"/>
                  </a:rPr>
                  <a:t>(more players listed per game), not doubled games — hero min-20 panel is longitudinal-safe for </a:t>
                </a:r>
                <a14:m>
                  <m:oMath xmlns:m="http://schemas.openxmlformats.org/officeDocument/2006/math"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100" b="1" i="0" baseline="0" dirty="0">
                    <a:latin typeface="Calibri"/>
                  </a:rPr>
                  <a:t> /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1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</m:sSub>
                  </m:oMath>
                </a14:m>
                <a:r>
                  <a:rPr sz="1100" b="1" i="0" baseline="0" dirty="0">
                    <a:latin typeface="Calibri"/>
                  </a:rPr>
                  <a:t>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6324219"/>
                <a:ext cx="11423599" cy="261610"/>
              </a:xfrm>
              <a:prstGeom prst="rect">
                <a:avLst/>
              </a:prstGeom>
              <a:blipFill>
                <a:blip r:embed="rId5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01168"/>
            <a:ext cx="11313871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 baseline="0">
                <a:latin typeface="Calibri"/>
              </a:rPr>
              <a:t>Drafted-player retention vs minutes floor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76656"/>
            <a:ext cx="1131387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 baseline="0">
                <a:latin typeface="Calibri"/>
              </a:rPr>
              <a:t>Act II — PD22 panel \text{---} narrative for HAND slide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50976"/>
            <a:ext cx="11313871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 baseline="0">
                <a:latin typeface="Calibri"/>
              </a:rPr>
              <a:t>At min 20 drop, do we lose anyone who mattered for draft?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389888"/>
            <a:ext cx="11313871" cy="3008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400" b="1" i="0" baseline="0" dirty="0">
                <a:latin typeface="Calibri"/>
              </a:rPr>
              <a:t>Why this came up</a:t>
            </a:r>
            <a:r>
              <a:rPr sz="1400" b="1" i="0" baseline="0" dirty="0">
                <a:latin typeface="Calibri"/>
              </a:rPr>
              <a:t>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 dirty="0">
                <a:latin typeface="Calibri"/>
              </a:rPr>
              <a:t>Q1 audit — conservative guardrail on the floor choice.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400" b="1" i="0" baseline="0" dirty="0">
                <a:latin typeface="Calibri"/>
              </a:rPr>
              <a:t>What we ran</a:t>
            </a:r>
            <a:r>
              <a:rPr sz="1400" b="1" i="0" baseline="0" dirty="0">
                <a:latin typeface="Calibri"/>
              </a:rPr>
              <a:t>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 dirty="0">
                <a:latin typeface="Calibri"/>
              </a:rPr>
              <a:t>Audit all drafted player-seasons; who drops at 20? (44 lost, 42 zero-minute).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400" b="1" i="0" baseline="0" dirty="0">
                <a:latin typeface="Calibri"/>
              </a:rPr>
              <a:t>What showed up</a:t>
            </a:r>
            <a:r>
              <a:rPr sz="1400" b="1" i="0" baseline="0" dirty="0">
                <a:latin typeface="Calibri"/>
              </a:rPr>
              <a:t>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 dirty="0">
                <a:latin typeface="Calibri"/>
              </a:rPr>
              <a:t>At 20: drop 44 drafted seasons — 42 were 0-minute. One ever-draft career fully lost; others keep rotation years.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400" b="1" i="0" baseline="0" dirty="0">
                <a:latin typeface="Calibri"/>
              </a:rPr>
              <a:t>What you can say</a:t>
            </a:r>
            <a:r>
              <a:rPr sz="1400" b="1" i="0" baseline="0" dirty="0">
                <a:latin typeface="Calibri"/>
              </a:rPr>
              <a:t>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lang="en-US" sz="1700" b="1" dirty="0"/>
              <a:t>"At 20 we drop mostly zero-minute rows — defend the floor on PPM noise, not draft-safe row-by-row."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66973" y="6071616"/>
            <a:ext cx="4657749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1300" b="1" i="0" baseline="0" dirty="0">
                <a:latin typeface="Calibri"/>
              </a:rPr>
              <a:t>↓ Paste 𝙲𝙷𝙰𝚁_𝙿𝙳𝟸𝟶_𝙷𝙰𝙽𝙳</a:t>
            </a:r>
            <a:r>
              <a:rPr sz="1300" b="1" i="0" baseline="0" dirty="0">
                <a:latin typeface="Calibri"/>
              </a:rPr>
              <a:t> slide 10 immediately after this slide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219456"/>
            <a:ext cx="11423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 baseline="0">
                <a:latin typeface="Calibri"/>
              </a:rPr>
              <a:t>PD22 — Drafted-player retention vs playing-time floor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713232"/>
            <a:ext cx="5378395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 baseline="0" dirty="0">
                <a:latin typeface="Calibri"/>
              </a:rPr>
              <a:t>PD22 · drafted retention audit · 2011-2021 · at min 20 drop: 113</a:t>
            </a:r>
            <a:r>
              <a:rPr lang="en-US" sz="1000" b="0" i="0" baseline="0" dirty="0">
                <a:latin typeface="Calibri"/>
              </a:rPr>
              <a:t>3</a:t>
            </a:r>
            <a:r>
              <a:rPr sz="1000" b="0" i="0" baseline="0" dirty="0">
                <a:latin typeface="Calibri"/>
              </a:rPr>
              <a:t>/117</a:t>
            </a:r>
            <a:r>
              <a:rPr lang="en-US" sz="1000" b="0" i="0" baseline="0" dirty="0">
                <a:latin typeface="Calibri"/>
              </a:rPr>
              <a:t>7</a:t>
            </a:r>
            <a:r>
              <a:rPr sz="1000" b="0" i="0" baseline="0" dirty="0">
                <a:latin typeface="Calibri"/>
              </a:rPr>
              <a:t> drafted player-seasons kept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62242" y="1074293"/>
            <a:ext cx="9535176" cy="376300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F9ADE83-317A-6539-917C-5A0C2F34421C}"/>
                  </a:ext>
                </a:extLst>
              </p:cNvPr>
              <p:cNvSpPr txBox="1"/>
              <p:nvPr/>
            </p:nvSpPr>
            <p:spPr>
              <a:xfrm>
                <a:off x="384048" y="4764674"/>
                <a:ext cx="11423599" cy="16312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PD22 item 1: audit minutes floor before defending min 20 min or PPM-zero bench policy.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Panel: 2011-2021 MBB · rebuild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𝑚𝑖𝑛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𝑚𝑖𝑛𝑢𝑡𝑒𝑠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after box QC ·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draft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= ever-draft flag (not season-specific).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Box QC at panel build: drop dash-name placeholders; keep team-seasons with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1000" b="0" i="0" baseline="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b="0" i="1" baseline="0" dirty="0" smtClean="0"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distinct games in box (frozen CSV untouched).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Drafted player-seasons: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1,177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(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521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unique athletes).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Minutes among drafted: min = 0; draft-safe max floor (drop)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≈0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min.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Hero lock min = 20: retain 1,133 / 1,177; lose 44 player-seasons (42 unique athletes; 42 at 0 min).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Right panel: red labels = drafted player-seasons lost vs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𝑚𝑖𝑛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𝑚𝑖𝑛𝑢𝑡𝑒𝑠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floor at each threshold.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PPM-zero policy: all drafted rows retained; sub-floor players get raw PPM = 0 before z-score.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Lost at min 20 drop (44): id 51323 (2013): 0.0 min; id 56359 (2013): 0.0 min; id 56965 (2014): 0.0 min (+41 more — see CSV)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Left: empirical cumulative distribution function (ECDF) of drafted minutes (10 min teal, 20 min red). Right: retained count vs floor.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F9ADE83-317A-6539-917C-5A0C2F3442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4764674"/>
                <a:ext cx="11423599" cy="1631216"/>
              </a:xfrm>
              <a:prstGeom prst="rect">
                <a:avLst/>
              </a:prstGeom>
              <a:blipFill>
                <a:blip r:embed="rId3"/>
                <a:stretch>
                  <a:fillRect t="-775" b="-7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E690980-59BF-9212-8DD7-EEC9C7877062}"/>
                  </a:ext>
                </a:extLst>
              </p:cNvPr>
              <p:cNvSpPr txBox="1"/>
              <p:nvPr/>
            </p:nvSpPr>
            <p:spPr>
              <a:xfrm>
                <a:off x="384048" y="6372933"/>
                <a:ext cx="1142359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100" b="1" i="0" baseline="0" dirty="0">
                    <a:latin typeface="Calibri"/>
                  </a:rPr>
                  <a:t>Claim (PD22): Playing-time floor must be draft-safe — retain every ever-draft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1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draft</m:t>
                        </m:r>
                      </m:sub>
                    </m:sSub>
                    <m:r>
                      <a:rPr lang="en-US" sz="1100" b="1" i="0" baseline="0" dirty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sz="1100" b="1" i="0" baseline="0" dirty="0">
                    <a:latin typeface="Calibri"/>
                  </a:rPr>
                  <a:t>) player-season before we justify min 20 min or PPM-zero bench policy for </a:t>
                </a:r>
                <a14:m>
                  <m:oMath xmlns:m="http://schemas.openxmlformats.org/officeDocument/2006/math"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100" b="1" i="0" baseline="0" dirty="0">
                    <a:latin typeface="Calibri"/>
                  </a:rPr>
                  <a:t> /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1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</m:sSub>
                  </m:oMath>
                </a14:m>
                <a:r>
                  <a:rPr sz="1100" b="1" i="0" baseline="0" dirty="0">
                    <a:latin typeface="Calibri"/>
                  </a:rPr>
                  <a:t> calibration.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E690980-59BF-9212-8DD7-EEC9C78770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6372933"/>
                <a:ext cx="11423599" cy="261610"/>
              </a:xfrm>
              <a:prstGeom prst="rect">
                <a:avLst/>
              </a:prstGeom>
              <a:blipFill>
                <a:blip r:embed="rId4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01168"/>
            <a:ext cx="11313871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 baseline="0">
                <a:latin typeface="Calibri"/>
              </a:rPr>
              <a:t>Raw panel season-minutes distribution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76656"/>
            <a:ext cx="1131387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 baseline="0">
                <a:latin typeface="Calibri"/>
              </a:rPr>
              <a:t>Act II — PD22 panel \text{---} narrative for HAND slide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50976"/>
            <a:ext cx="11313871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 baseline="0">
                <a:latin typeface="Calibri"/>
              </a:rPr>
              <a:t>Where does playing-time mass sit relative to 20?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389888"/>
            <a:ext cx="11313871" cy="3008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400" b="1" i="0" baseline="0" dirty="0">
                <a:latin typeface="Calibri"/>
              </a:rPr>
              <a:t>Why this came up</a:t>
            </a:r>
            <a:r>
              <a:rPr sz="1400" b="1" i="0" baseline="0" dirty="0">
                <a:latin typeface="Calibri"/>
              </a:rPr>
              <a:t>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 dirty="0">
                <a:latin typeface="Calibri"/>
              </a:rPr>
              <a:t>Q1 — show that sub-20 is a long noisy tail, not core rotation.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400" b="1" i="0" baseline="0" dirty="0">
                <a:latin typeface="Calibri"/>
              </a:rPr>
              <a:t>What we ran</a:t>
            </a:r>
            <a:r>
              <a:rPr sz="1400" b="1" i="0" baseline="0" dirty="0">
                <a:latin typeface="Calibri"/>
              </a:rPr>
              <a:t>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 dirty="0">
                <a:latin typeface="Calibri"/>
              </a:rPr>
              <a:t>ECDF / histogram of total season minutes on raw panel.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400" b="1" i="0" baseline="0" dirty="0">
                <a:latin typeface="Calibri"/>
              </a:rPr>
              <a:t>What showed up</a:t>
            </a:r>
            <a:r>
              <a:rPr sz="1400" b="1" i="0" baseline="0" dirty="0">
                <a:latin typeface="Calibri"/>
              </a:rPr>
              <a:t>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 dirty="0">
                <a:latin typeface="Calibri"/>
              </a:rPr>
              <a:t>Most mass above 20; below 20 is bench and sit-outs.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400" b="1" i="0" baseline="0" dirty="0">
                <a:latin typeface="Calibri"/>
              </a:rPr>
              <a:t>What you can say</a:t>
            </a:r>
            <a:r>
              <a:rPr sz="1400" b="1" i="0" baseline="0" dirty="0">
                <a:latin typeface="Calibri"/>
              </a:rPr>
              <a:t>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lang="en-US" sz="1700" b="1" dirty="0"/>
              <a:t>"Most playing-time mass sits above 20 minutes — below that is bench noise."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66973" y="6071616"/>
            <a:ext cx="4657749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1300" b="1" i="0" baseline="0" dirty="0">
                <a:latin typeface="Calibri"/>
              </a:rPr>
              <a:t>↓ Paste 𝙲𝙷𝙰𝚁_𝙿𝙳𝟸𝟶_𝙷𝙰𝙽𝙳</a:t>
            </a:r>
            <a:r>
              <a:rPr sz="1300" b="1" i="0" baseline="0" dirty="0">
                <a:latin typeface="Calibri"/>
              </a:rPr>
              <a:t> slide 11 immediately after this slide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D95664E-0604-5F5D-240A-FF8D03D1C0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231183" y="996029"/>
            <a:ext cx="9823260" cy="5436862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384048" y="219456"/>
            <a:ext cx="11423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 baseline="0">
                <a:latin typeface="Calibri"/>
              </a:rPr>
              <a:t>PD22 — Raw panel season-minutes distribution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84048" y="713232"/>
                <a:ext cx="4374916" cy="24622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1000" b="0" i="0" baseline="0" dirty="0">
                    <a:latin typeface="Calibri"/>
                  </a:rPr>
                  <a:t>PD22 · raw panel minutes · 2011-2021 · median = 3</a:t>
                </a:r>
                <a:r>
                  <a:rPr lang="en-US" sz="1000" dirty="0">
                    <a:latin typeface="Calibri"/>
                  </a:rPr>
                  <a:t>44</a:t>
                </a:r>
                <a:r>
                  <a:rPr sz="1000" b="0" i="0" baseline="0" dirty="0">
                    <a:latin typeface="Calibri"/>
                  </a:rPr>
                  <a:t> min · </a:t>
                </a:r>
                <a14:m>
                  <m:oMath xmlns:m="http://schemas.openxmlformats.org/officeDocument/2006/math">
                    <m:r>
                      <a:rPr lang="en-US" sz="1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000" b="0" i="0" dirty="0" smtClean="0">
                        <a:latin typeface="Cambria Math" panose="02040503050406030204" pitchFamily="18" charset="0"/>
                      </a:rPr>
                      <m:t>1.9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below 20 min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713232"/>
                <a:ext cx="4374916" cy="246221"/>
              </a:xfrm>
              <a:prstGeom prst="rect">
                <a:avLst/>
              </a:prstGeom>
              <a:blipFill>
                <a:blip r:embed="rId3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485C6CB-14DF-95CB-B996-71119A9424E9}"/>
                  </a:ext>
                </a:extLst>
              </p:cNvPr>
              <p:cNvSpPr txBox="1"/>
              <p:nvPr/>
            </p:nvSpPr>
            <p:spPr>
              <a:xfrm>
                <a:off x="384048" y="6454578"/>
                <a:ext cx="1142359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100" b="1" i="0" baseline="0" dirty="0">
                    <a:latin typeface="Calibri"/>
                  </a:rPr>
                  <a:t>Claim (PD22): Minutes floor must be grounded in the raw roster distribution — not an arbitrary cut — before we defend min 20 min for </a:t>
                </a:r>
                <a14:m>
                  <m:oMath xmlns:m="http://schemas.openxmlformats.org/officeDocument/2006/math"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100" b="1" i="0" baseline="0" dirty="0">
                    <a:latin typeface="Calibri"/>
                  </a:rPr>
                  <a:t>/ ASSIGN panels.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485C6CB-14DF-95CB-B996-71119A9424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6454578"/>
                <a:ext cx="11423599" cy="261610"/>
              </a:xfrm>
              <a:prstGeom prst="rect">
                <a:avLst/>
              </a:prstGeom>
              <a:blipFill>
                <a:blip r:embed="rId4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C0DA0F9-7360-1226-E0F5-218CADDA7987}"/>
                  </a:ext>
                </a:extLst>
              </p:cNvPr>
              <p:cNvSpPr txBox="1"/>
              <p:nvPr/>
            </p:nvSpPr>
            <p:spPr>
              <a:xfrm>
                <a:off x="437211" y="4769742"/>
                <a:ext cx="5872149" cy="1543971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PD22 item 2: season-minutes on box-QC panel (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𝑚𝑖𝑛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𝑚𝑖𝑛𝑢𝑡𝑒𝑠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rebuild).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Box QC at panel build: drop dash-name placeholders; </a:t>
                </a:r>
                <a:endParaRPr lang="en-US" sz="1000" b="0" i="0" baseline="0" dirty="0">
                  <a:latin typeface="Calibri"/>
                </a:endParaRPr>
              </a:p>
              <a:p>
                <a:r>
                  <a:rPr lang="en-US" sz="1000" dirty="0">
                    <a:latin typeface="Calibri"/>
                  </a:rPr>
                  <a:t>      </a:t>
                </a:r>
                <a:r>
                  <a:rPr sz="1000" b="0" i="0" baseline="0" dirty="0">
                    <a:latin typeface="Calibri"/>
                  </a:rPr>
                  <a:t>keep team-seasons with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≥11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distinct games in box (frozen CSV untouched).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Panel: 2011-2021 MBB ·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59,283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player-seasons ·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1,177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ever-draft rows.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Median minutes =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344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; 90th percentile =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963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Zero-minute rows: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7,051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(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11.9%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of panel).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Below 10 min: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17.7%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; below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min: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21.9%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(hero lock).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Ever-draft below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min: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3.7%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(median drafted =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979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min).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Left: empirical cumulative distribution function (ECDF) — all vs ever-draft; teal = 10 min, red = 20 min.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Right: histogram zoom 0–150 min — low-minute mass driving floor choice.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C0DA0F9-7360-1226-E0F5-218CADDA79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211" y="4769742"/>
                <a:ext cx="5872149" cy="1543971"/>
              </a:xfrm>
              <a:prstGeom prst="rect">
                <a:avLst/>
              </a:prstGeom>
              <a:blipFill>
                <a:blip r:embed="rId6"/>
                <a:stretch>
                  <a:fillRect t="-813" b="-65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01168"/>
            <a:ext cx="11313871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 baseline="0">
                <a:latin typeface="Calibri"/>
              </a:rPr>
              <a:t>PPM — filtered tail vs hero ASSIGN input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76656"/>
            <a:ext cx="1131387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 baseline="0">
                <a:latin typeface="Calibri"/>
              </a:rPr>
              <a:t>Act II — PD22 panel \text{---} narrative for HAND slide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50976"/>
            <a:ext cx="11313871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 baseline="0">
                <a:latin typeface="Calibri"/>
              </a:rPr>
              <a:t>How noisy is PPM below the floor?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66973" y="6071616"/>
            <a:ext cx="4657749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1300" b="1" i="0" baseline="0" dirty="0">
                <a:latin typeface="Calibri"/>
              </a:rPr>
              <a:t>↓ Paste 𝙲𝙷𝙰𝚁_𝙿𝙳𝟸𝟶_𝙷𝙰𝙽𝙳</a:t>
            </a:r>
            <a:r>
              <a:rPr sz="1300" b="1" i="0" baseline="0" dirty="0">
                <a:latin typeface="Calibri"/>
              </a:rPr>
              <a:t> slide 12 immediately after this slide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80D7E9-8AD7-2A27-83F3-95E2D5397B2B}"/>
              </a:ext>
            </a:extLst>
          </p:cNvPr>
          <p:cNvSpPr txBox="1"/>
          <p:nvPr/>
        </p:nvSpPr>
        <p:spPr>
          <a:xfrm>
            <a:off x="438912" y="1389888"/>
            <a:ext cx="11313871" cy="3008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 dirty="0">
                <a:latin typeface="Calibri"/>
              </a:rPr>
              <a:t>Why this came up: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 dirty="0">
                <a:latin typeface="Calibri"/>
              </a:rPr>
              <a:t>Sub-20 PPM is unstable — why we drop rather than trust those values.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 dirty="0">
                <a:latin typeface="Calibri"/>
              </a:rPr>
              <a:t>What we ran: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 dirty="0">
                <a:latin typeface="Calibri"/>
              </a:rPr>
              <a:t>PPM distribution for players filtered out at candidate floors.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 dirty="0">
                <a:latin typeface="Calibri"/>
              </a:rPr>
              <a:t>What showed up: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 dirty="0">
                <a:latin typeface="Calibri"/>
              </a:rPr>
              <a:t>Extreme noise below 20; z-scored ASSIGN input needs stable PPM.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 dirty="0">
                <a:latin typeface="Calibri"/>
              </a:rPr>
              <a:t>What you can say: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lang="en-US" sz="1700" b="1" i="0" baseline="0" dirty="0">
                <a:latin typeface="Calibri"/>
              </a:rPr>
              <a:t>"</a:t>
            </a:r>
            <a:r>
              <a:rPr sz="1700" b="1" i="0" baseline="0" dirty="0">
                <a:latin typeface="Calibri"/>
              </a:rPr>
              <a:t>Sub-20 PPM is too unstable to feed ASSIGN — that is the case for drop, not PPM-zero.</a:t>
            </a:r>
            <a:r>
              <a:rPr lang="en-US" sz="1700" b="1" i="0" baseline="0" dirty="0">
                <a:latin typeface="Calibri"/>
              </a:rPr>
              <a:t>"</a:t>
            </a:r>
            <a:endParaRPr sz="1700" b="1" i="0" baseline="0" dirty="0">
              <a:latin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340738" y="839677"/>
            <a:ext cx="9249621" cy="501185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384048" y="219456"/>
            <a:ext cx="11423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 baseline="0">
                <a:latin typeface="Calibri"/>
              </a:rPr>
              <a:t>PD22 — PPM distribution: filtered-out tail vs hero ASSIGN input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84048" y="713232"/>
                <a:ext cx="3591048" cy="24622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1000" b="0" i="0" baseline="0" dirty="0">
                    <a:latin typeface="Calibri"/>
                  </a:rPr>
                  <a:t>PD22 · PPM tails · 2011-2021 ·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103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sub-20-min rows with PPM &gt; 1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713232"/>
                <a:ext cx="3591048" cy="246221"/>
              </a:xfrm>
              <a:prstGeom prst="rect">
                <a:avLst/>
              </a:prstGeom>
              <a:blipFill>
                <a:blip r:embed="rId3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384048" y="6392516"/>
            <a:ext cx="1142359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baseline="0" dirty="0">
                <a:latin typeface="Calibri"/>
              </a:rPr>
              <a:t>Claim: Minutes floor guards against noisy PPM tails — sub-20-min rows include extreme points-per-minute spikes; hero ASSIGN uses PPM z-scored within season on the min-20 panel.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2CE3EDC-6A10-BA67-87EC-0FAF534375C1}"/>
                  </a:ext>
                </a:extLst>
              </p:cNvPr>
              <p:cNvSpPr txBox="1"/>
              <p:nvPr/>
            </p:nvSpPr>
            <p:spPr>
              <a:xfrm>
                <a:off x="64734" y="4008210"/>
                <a:ext cx="7373837" cy="23768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PD22 items 3–4: points-per-minute (PPM) — filtered-out tail vs hero ASSIGN input.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Box QC at panel build: drop dash-name placeholders; </a:t>
                </a:r>
                <a:endParaRPr lang="en-US" sz="1000" b="0" i="0" baseline="0" dirty="0">
                  <a:latin typeface="Calibri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1000" dirty="0">
                    <a:latin typeface="Calibri"/>
                  </a:rPr>
                  <a:t>      </a:t>
                </a:r>
                <a:r>
                  <a:rPr sz="1000" b="0" i="0" baseline="0" dirty="0">
                    <a:latin typeface="Calibri"/>
                  </a:rPr>
                  <a:t>keep team-seasons with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1000" b="0" i="0" baseline="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b="0" i="1" baseline="0" dirty="0" smtClean="0"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distinct games in box (frozen CSV untouched).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Panel: 2011-2021 MBB · hero lock min =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min.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Item 3 (left):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12,977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rows with minutes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&lt;20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(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7,051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at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min excluded from PPM hist).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Sub-20-min with PPM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&gt;1.0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: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103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; max raw PPM in tail: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Item 4 (right): hero panel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=46,306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— raw PPM then PPM z within season (PD21 ASSIGN ability; empirical roster caps are separate).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Hero raw PPM median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=0.308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; standardized ability median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=−0.039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Left: why minutes matter (garbage-time PPM spikes). Right: what enters homophily calibration after the floor.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hero panel + PPM z within season (PD21 ASSIGN input)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2CE3EDC-6A10-BA67-87EC-0FAF534375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34" y="4008210"/>
                <a:ext cx="7373837" cy="2376805"/>
              </a:xfrm>
              <a:prstGeom prst="rect">
                <a:avLst/>
              </a:prstGeom>
              <a:blipFill>
                <a:blip r:embed="rId4"/>
                <a:stretch>
                  <a:fillRect b="-10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01168"/>
            <a:ext cx="11313871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 baseline="0">
                <a:latin typeface="Calibri"/>
              </a:rPr>
              <a:t>PPM overlay — full vs sub-20 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76656"/>
            <a:ext cx="1131387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 baseline="0">
                <a:latin typeface="Calibri"/>
              </a:rPr>
              <a:t>Act II — PD22 panel \text{---} narrative for HAND slide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50976"/>
            <a:ext cx="11313871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 baseline="0">
                <a:latin typeface="Calibri"/>
              </a:rPr>
              <a:t>Optional detail: full distribution vs tail emphasis.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66973" y="6071616"/>
            <a:ext cx="4657749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1300" b="1" i="0" baseline="0" dirty="0">
                <a:latin typeface="Calibri"/>
              </a:rPr>
              <a:t>↓ Paste 𝙲𝙷𝙰𝚁_𝙿𝙳𝟸𝟶_𝙷𝙰𝙽𝙳</a:t>
            </a:r>
            <a:r>
              <a:rPr sz="1300" b="1" i="0" baseline="0" dirty="0">
                <a:latin typeface="Calibri"/>
              </a:rPr>
              <a:t> slide 13 immediately after this slide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96FC08-B40A-891B-49CF-0FF9AEB7E901}"/>
              </a:ext>
            </a:extLst>
          </p:cNvPr>
          <p:cNvSpPr txBox="1"/>
          <p:nvPr/>
        </p:nvSpPr>
        <p:spPr>
          <a:xfrm>
            <a:off x="438912" y="1389888"/>
            <a:ext cx="11313871" cy="3008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 dirty="0">
                <a:latin typeface="Calibri"/>
              </a:rPr>
              <a:t>Why this came up: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 dirty="0">
                <a:latin typeface="Calibri"/>
              </a:rPr>
              <a:t>Slide 12 is the main argument; 13 is overlay for appendix trim.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 dirty="0">
                <a:latin typeface="Calibri"/>
              </a:rPr>
              <a:t>What we ran: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 dirty="0">
                <a:latin typeface="Calibri"/>
              </a:rPr>
              <a:t>Overlay full-panel PPM with sub-20 tail highlighted.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 dirty="0">
                <a:latin typeface="Calibri"/>
              </a:rPr>
              <a:t>What showed up: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 dirty="0">
                <a:latin typeface="Calibri"/>
              </a:rPr>
              <a:t>Same story as 12 with visual emphasis on the tail.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 dirty="0">
                <a:latin typeface="Calibri"/>
              </a:rPr>
              <a:t>What you can say: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lang="en-US" sz="1700" b="1" i="0" baseline="0" dirty="0">
                <a:latin typeface="Calibri"/>
              </a:rPr>
              <a:t>"</a:t>
            </a:r>
            <a:r>
              <a:rPr sz="1700" b="1" i="0" baseline="0" dirty="0">
                <a:latin typeface="Calibri"/>
              </a:rPr>
              <a:t>Same PPM story as the prior slide — optional appendix if someone wants the overlay.</a:t>
            </a:r>
            <a:r>
              <a:rPr lang="en-US" sz="1700" b="1" i="0" baseline="0" dirty="0">
                <a:latin typeface="Calibri"/>
              </a:rPr>
              <a:t>"</a:t>
            </a:r>
            <a:endParaRPr sz="1700" b="1" i="0" baseline="0" dirty="0">
              <a:latin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219456"/>
            <a:ext cx="11423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 baseline="0" dirty="0">
                <a:latin typeface="Calibri"/>
              </a:rPr>
              <a:t>PD22 — Raw PPM: full panel vs sub-20-min filtered tail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84048" y="713232"/>
                <a:ext cx="3804631" cy="24622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1000" b="0" i="0" baseline="0" dirty="0">
                    <a:latin typeface="Calibri"/>
                  </a:rPr>
                  <a:t>PD22 · PPM overlay · 2011-2021 · 103 sub-20-min rows with PPM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endParaRPr sz="1000" b="0" i="0" baseline="0" dirty="0">
                  <a:latin typeface="Calibri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713232"/>
                <a:ext cx="3804631" cy="246221"/>
              </a:xfrm>
              <a:prstGeom prst="rect">
                <a:avLst/>
              </a:prstGeom>
              <a:blipFill>
                <a:blip r:embed="rId2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154795" y="714256"/>
            <a:ext cx="6733505" cy="394815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03700" y="2500531"/>
                <a:ext cx="4731850" cy="35309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PD22 overlay: gray = box-QC panel raw PPM (minutes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); blue = sub-20-min tail removed by drop policy.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Box QC at panel build: drop dash-name placeholders; keep team-seasons with $\geq$11 distinct games in box (frozen CSV untouched).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Panel: 2011-2021 MBB · gray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52,232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· blue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5,926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·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7,051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zero-min rows excluded (PPM undefined).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Sub-20 PPM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&gt;1.0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: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103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; max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; sub-20 median PPM (positive min)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=0.125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After min-20 drop: hero panel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46,306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; raw PPM median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=0.308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(p99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=0.62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Minutes context (box-QC panel):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21.9%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below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min; median =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344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min (all) vs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979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min (ever-draft).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Empirical caps (min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panel): mean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9.6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/ median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players per team-season (p25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, p75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=12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); only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2.3%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exactly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— rotation-minute count, not who dressed for a game.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NCAA dress cap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per game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our cap multiset — box panel counts season rows passing the minutes rule.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700" y="2500531"/>
                <a:ext cx="4731850" cy="3530967"/>
              </a:xfrm>
              <a:prstGeom prst="rect">
                <a:avLst/>
              </a:prstGeom>
              <a:blipFill>
                <a:blip r:embed="rId4"/>
                <a:stretch>
                  <a:fillRect b="-3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84048" y="6401054"/>
                <a:ext cx="11423599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100" b="1" i="0" baseline="0" dirty="0">
                    <a:latin typeface="Calibri"/>
                  </a:rPr>
                  <a:t>Claim (PD22): Sub-20-min rows add PPM noise (</a:t>
                </a:r>
                <a:r>
                  <a:rPr lang="en-US" sz="1100" b="1" dirty="0">
                    <a:latin typeface="Calibri"/>
                  </a:rPr>
                  <a:t>103</a:t>
                </a:r>
                <a:r>
                  <a:rPr sz="1100" b="1" i="0" baseline="0" dirty="0">
                    <a:latin typeface="Calibri"/>
                  </a:rPr>
                  <a:t> with PPM </a:t>
                </a:r>
                <a14:m>
                  <m:oMath xmlns:m="http://schemas.openxmlformats.org/officeDocument/2006/math"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sz="1100" b="1" i="0" baseline="0" dirty="0">
                    <a:latin typeface="Calibri"/>
                  </a:rPr>
                  <a:t>, max 6) on top of a rotation-player cloud — minutes floor cleans ability before hero / ASSIGN; empirical roster caps count season contributors, not NCAA dress-out 15.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6401054"/>
                <a:ext cx="11423599" cy="430887"/>
              </a:xfrm>
              <a:prstGeom prst="rect">
                <a:avLst/>
              </a:prstGeom>
              <a:blipFill>
                <a:blip r:embed="rId5"/>
                <a:stretch>
                  <a:fillRect b="-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438912" y="237744"/>
                <a:ext cx="5325497" cy="52322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2800" b="1" i="0" baseline="0" dirty="0">
                    <a:latin typeface="Calibri"/>
                  </a:rPr>
                  <a:t>Act III — PD21: Calibrate ASSIGN </a:t>
                </a:r>
                <a14:m>
                  <m:oMath xmlns:m="http://schemas.openxmlformats.org/officeDocument/2006/math">
                    <m:r>
                      <a:rPr lang="en-US" sz="2800" b="1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endParaRPr sz="2800" b="1" i="0" baseline="0" dirty="0">
                  <a:latin typeface="Calibri"/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912" y="237744"/>
                <a:ext cx="5325497" cy="523220"/>
              </a:xfrm>
              <a:prstGeom prst="rect">
                <a:avLst/>
              </a:prstGeom>
              <a:blipFill>
                <a:blip r:embed="rId2"/>
                <a:stretch>
                  <a:fillRect l="-2375" t="-11628" b="-279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438912" y="804672"/>
                <a:ext cx="11313871" cy="3231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sz="1500" b="0" i="0" baseline="0" dirty="0">
                    <a:latin typeface="Calibri"/>
                  </a:rPr>
                  <a:t>Bracket search until sim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500" b="0" i="0" baseline="0" dirty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</m:sSub>
                  </m:oMath>
                </a14:m>
                <a:r>
                  <a:rPr sz="1500" b="0" i="0" baseline="0" dirty="0">
                    <a:latin typeface="Calibri"/>
                  </a:rPr>
                  <a:t> matches empirical NCAA sorting.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912" y="804672"/>
                <a:ext cx="11313871" cy="323165"/>
              </a:xfrm>
              <a:prstGeom prst="rect">
                <a:avLst/>
              </a:prstGeom>
              <a:blipFill>
                <a:blip r:embed="rId3"/>
                <a:stretch>
                  <a:fillRect l="-224" t="-3846" b="-2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38912" y="1316736"/>
                <a:ext cx="11313871" cy="22284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r>
                  <a:rPr sz="1400" b="1" i="0" baseline="0" dirty="0">
                    <a:latin typeface="Calibri"/>
                  </a:rPr>
                  <a:t>Locked panel:</a:t>
                </a: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1400"/>
                  </a:spcAft>
                </a:pPr>
                <a:r>
                  <a:rPr sz="1700" b="0" i="0" baseline="0" dirty="0">
                    <a:latin typeface="Calibri"/>
                  </a:rPr>
                  <a:t>Drop sub-20, box QC, empirical roster caps, PPM </a:t>
                </a:r>
                <a14:m>
                  <m:oMath xmlns:m="http://schemas.openxmlformats.org/officeDocument/2006/math">
                    <m:r>
                      <a:rPr lang="en-US" sz="1700" b="0" i="0" baseline="0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1700" b="0" i="0" baseline="0" dirty="0">
                    <a:latin typeface="Calibri"/>
                  </a:rPr>
                  <a:t> within season.</a:t>
                </a:r>
              </a:p>
              <a:p>
                <a:pPr>
                  <a:lnSpc>
                    <a:spcPct val="115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r>
                  <a:rPr sz="1400" b="1" i="0" baseline="0" dirty="0">
                    <a:latin typeface="Calibri"/>
                  </a:rPr>
                  <a:t>Contrast only:</a:t>
                </a: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1400"/>
                  </a:spcAft>
                </a:pPr>
                <a:r>
                  <a:rPr sz="1700" b="0" i="0" baseline="0" dirty="0">
                    <a:latin typeface="Calibri"/>
                  </a:rPr>
                  <a:t>Slides 15–16 (ppm0lt20) — wrong estimand; illustrative inflation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700" b="0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700" b="0" i="0" baseline="0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700" b="0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sz="1700" b="0" i="0" baseline="0" dirty="0">
                    <a:latin typeface="Calibri"/>
                  </a:rPr>
                  <a:t>.</a:t>
                </a:r>
              </a:p>
              <a:p>
                <a:pPr>
                  <a:lnSpc>
                    <a:spcPct val="115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r>
                  <a:rPr sz="1400" b="1" i="0" baseline="0" dirty="0">
                    <a:latin typeface="Calibri"/>
                  </a:rPr>
                  <a:t>Next slides:</a:t>
                </a: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1400"/>
                  </a:spcAft>
                </a:pPr>
                <a:r>
                  <a:rPr sz="1700" b="0" i="0" baseline="0" dirty="0">
                    <a:latin typeface="Calibri"/>
                  </a:rPr>
                  <a:t>Three narrative companions (HAND 14–16).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912" y="1316736"/>
                <a:ext cx="11313871" cy="2228495"/>
              </a:xfrm>
              <a:prstGeom prst="rect">
                <a:avLst/>
              </a:prstGeom>
              <a:blipFill>
                <a:blip r:embed="rId4"/>
                <a:stretch>
                  <a:fillRect l="-336" b="-22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01168"/>
            <a:ext cx="4813818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 baseline="0" dirty="0">
                <a:latin typeface="Calibri"/>
              </a:rPr>
              <a:t>Calibrate </a:t>
            </a:r>
            <a:r>
              <a:rPr lang="en-US" sz="2600" b="1" i="0" baseline="0" dirty="0">
                <a:latin typeface="Calibri"/>
              </a:rPr>
              <a:t>𝜌</a:t>
            </a:r>
            <a:r>
              <a:rPr sz="2600" b="1" i="0" baseline="0" dirty="0">
                <a:latin typeface="Calibri"/>
              </a:rPr>
              <a:t> — hero panel (locked)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76656"/>
            <a:ext cx="1131387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 baseline="0">
                <a:latin typeface="Calibri"/>
              </a:rPr>
              <a:t>Act III — PD21 \text{---} narrative for HAND slide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50976"/>
            <a:ext cx="1131387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 baseline="0" dirty="0">
                <a:latin typeface="Calibri"/>
              </a:rPr>
              <a:t>What homophily </a:t>
            </a:r>
            <a:r>
              <a:rPr lang="en-US" sz="1400" b="0" i="0" baseline="0" dirty="0">
                <a:latin typeface="Calibri"/>
              </a:rPr>
              <a:t>𝜌</a:t>
            </a:r>
            <a:r>
              <a:rPr sz="1400" b="0" i="0" baseline="0" dirty="0">
                <a:latin typeface="Calibri"/>
              </a:rPr>
              <a:t> makes sim sorting match empirical </a:t>
            </a:r>
            <a:r>
              <a:rPr lang="en-US" sz="1400" b="0" i="0" baseline="0" dirty="0">
                <a:latin typeface="Calibri"/>
              </a:rPr>
              <a:t>𝐻_sort</a:t>
            </a:r>
            <a:r>
              <a:rPr sz="1400" b="0" i="0" baseline="0" dirty="0">
                <a:latin typeface="Calibri"/>
              </a:rPr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38912" y="1389888"/>
                <a:ext cx="11313871" cy="33354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r>
                  <a:rPr lang="en-US" sz="1400" b="1" i="0" baseline="0" dirty="0">
                    <a:latin typeface="Calibri"/>
                  </a:rPr>
                  <a:t>Why this came up</a:t>
                </a:r>
                <a:r>
                  <a:rPr sz="1400" b="1" i="0" baseline="0" dirty="0">
                    <a:latin typeface="Calibri"/>
                  </a:rPr>
                  <a:t>:</a:t>
                </a: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1400"/>
                  </a:spcAft>
                </a:pPr>
                <a:r>
                  <a:rPr sz="1700" b="0" i="0" baseline="0" dirty="0">
                    <a:latin typeface="Calibri"/>
                  </a:rPr>
                  <a:t>We need defensible ASSIGN input — not legacy </a:t>
                </a:r>
                <a14:m>
                  <m:oMath xmlns:m="http://schemas.openxmlformats.org/officeDocument/2006/math">
                    <m:r>
                      <a:rPr lang="en-US" sz="17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700" b="0" i="0" baseline="0" dirty="0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sz="1700" b="0" i="0" baseline="0" dirty="0">
                    <a:latin typeface="Calibri"/>
                  </a:rPr>
                  <a:t> which overshoots on this panel.</a:t>
                </a:r>
              </a:p>
              <a:p>
                <a:pPr>
                  <a:lnSpc>
                    <a:spcPct val="115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r>
                  <a:rPr lang="en-US" sz="1400" b="1" i="0" baseline="0" dirty="0">
                    <a:latin typeface="Calibri"/>
                  </a:rPr>
                  <a:t>What we ran</a:t>
                </a:r>
                <a:r>
                  <a:rPr sz="1400" b="1" i="0" baseline="0" dirty="0">
                    <a:latin typeface="Calibri"/>
                  </a:rPr>
                  <a:t>:</a:t>
                </a: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1400"/>
                  </a:spcAft>
                </a:pPr>
                <a:r>
                  <a:rPr sz="1700" b="0" i="0" baseline="0" dirty="0">
                    <a:latin typeface="Calibri"/>
                  </a:rPr>
                  <a:t>Bracket search 2011–2021 on locked hero panel; match sim to empirical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700" b="0" i="0" baseline="0" dirty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</m:sSub>
                  </m:oMath>
                </a14:m>
                <a:r>
                  <a:rPr sz="1700" b="0" i="0" baseline="0" dirty="0">
                    <a:latin typeface="Calibri"/>
                  </a:rPr>
                  <a:t>.</a:t>
                </a:r>
              </a:p>
              <a:p>
                <a:pPr>
                  <a:lnSpc>
                    <a:spcPct val="115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r>
                  <a:rPr lang="en-US" sz="1400" b="1" i="0" baseline="0" dirty="0">
                    <a:latin typeface="Calibri"/>
                  </a:rPr>
                  <a:t>What showed up</a:t>
                </a:r>
                <a:r>
                  <a:rPr sz="1400" b="1" i="0" baseline="0" dirty="0">
                    <a:latin typeface="Calibri"/>
                  </a:rPr>
                  <a:t>:</a:t>
                </a: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1400"/>
                  </a:spcAft>
                </a:pPr>
                <a:r>
                  <a:rPr sz="1700" b="0" i="0" baseline="0" dirty="0">
                    <a:latin typeface="Calibri"/>
                  </a:rPr>
                  <a:t>Longitudinal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700" b="0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700" b="0" i="0" baseline="0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700" b="0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700" b="0" i="0" baseline="0" dirty="0">
                        <a:latin typeface="Cambria Math" panose="02040503050406030204" pitchFamily="18" charset="0"/>
                      </a:rPr>
                      <m:t>≈0</m:t>
                    </m:r>
                  </m:oMath>
                </a14:m>
                <a:r>
                  <a:rPr sz="1700" b="0" i="0" baseline="0" dirty="0">
                    <a:latin typeface="Calibri"/>
                  </a:rPr>
                  <a:t>— all 11 seasons at zero. Empirical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700" b="0" i="0" baseline="0" dirty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</m:sSub>
                    <m:r>
                      <a:rPr lang="en-US" sz="1700" b="0" i="0" baseline="0" dirty="0">
                        <a:latin typeface="Cambria Math" panose="02040503050406030204" pitchFamily="18" charset="0"/>
                      </a:rPr>
                      <m:t>≈0.064</m:t>
                    </m:r>
                  </m:oMath>
                </a14:m>
                <a:r>
                  <a:rPr sz="1700" b="0" i="0" baseline="0" dirty="0">
                    <a:latin typeface="Calibri"/>
                  </a:rPr>
                  <a:t>. Legacy </a:t>
                </a:r>
                <a14:m>
                  <m:oMath xmlns:m="http://schemas.openxmlformats.org/officeDocument/2006/math">
                    <m:r>
                      <a:rPr lang="en-US" sz="17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700" b="0" i="0" baseline="0" dirty="0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sz="1700" b="0" i="0" baseline="0" dirty="0">
                    <a:latin typeface="Calibri"/>
                  </a:rPr>
                  <a:t>: mean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1700" b="0" i="0" baseline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700" b="0" i="0" baseline="0" dirty="0">
                            <a:latin typeface="Cambria Math" panose="02040503050406030204" pitchFamily="18" charset="0"/>
                          </a:rPr>
                          <m:t>𝑒𝑟𝑟𝑜𝑟</m:t>
                        </m:r>
                      </m:e>
                    </m:d>
                    <m:r>
                      <a:rPr lang="en-US" sz="1700" b="0" i="0" baseline="0" dirty="0">
                        <a:latin typeface="Cambria Math" panose="02040503050406030204" pitchFamily="18" charset="0"/>
                      </a:rPr>
                      <m:t>≈0.11</m:t>
                    </m:r>
                  </m:oMath>
                </a14:m>
                <a:r>
                  <a:rPr sz="1700" b="0" i="0" baseline="0" dirty="0">
                    <a:latin typeface="Calibri"/>
                  </a:rPr>
                  <a:t>.</a:t>
                </a:r>
              </a:p>
              <a:p>
                <a:pPr>
                  <a:lnSpc>
                    <a:spcPct val="115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r>
                  <a:rPr lang="en-US" sz="1400" b="1" i="0" baseline="0" dirty="0">
                    <a:latin typeface="Calibri"/>
                  </a:rPr>
                  <a:t>What you can say</a:t>
                </a:r>
                <a:r>
                  <a:rPr sz="1400" b="1" i="0" baseline="0" dirty="0">
                    <a:latin typeface="Calibri"/>
                  </a:rPr>
                  <a:t>:</a:t>
                </a: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1400"/>
                  </a:spcAft>
                </a:pPr>
                <a:r>
                  <a:rPr lang="en-US" sz="1700" b="1" dirty="0"/>
                  <a:t>"Near-zero </a:t>
                </a:r>
                <a14:m>
                  <m:oMath xmlns:m="http://schemas.openxmlformats.org/officeDocument/2006/math">
                    <m:r>
                      <a:rPr lang="en-US" sz="1700" b="1" i="1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sz="1700" b="1" dirty="0"/>
                  <a:t> is model–measurement fit on modest sorting — not a claim that NCAA assignment is random. This is the post-box-QC panel epoch."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912" y="1389888"/>
                <a:ext cx="11313871" cy="3335465"/>
              </a:xfrm>
              <a:prstGeom prst="rect">
                <a:avLst/>
              </a:prstGeom>
              <a:blipFill>
                <a:blip r:embed="rId2"/>
                <a:stretch>
                  <a:fillRect l="-336" b="-1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3766973" y="6071616"/>
            <a:ext cx="4657749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1300" b="1" i="0" baseline="0" dirty="0">
                <a:latin typeface="Calibri"/>
              </a:rPr>
              <a:t>↓ Paste 𝙲𝙷𝙰𝚁_𝙿𝙳𝟸𝟶_𝙷𝙰𝙽𝙳</a:t>
            </a:r>
            <a:r>
              <a:rPr sz="1300" b="1" i="0" baseline="0" dirty="0">
                <a:latin typeface="Calibri"/>
              </a:rPr>
              <a:t> slide 14 immediately after this slide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84048" y="219456"/>
                <a:ext cx="10413492" cy="4001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2000" b="1" i="0" baseline="0" dirty="0">
                    <a:latin typeface="Calibri"/>
                  </a:rPr>
                  <a:t>PD21 — Calibrate homophily </a:t>
                </a:r>
                <a14:m>
                  <m:oMath xmlns:m="http://schemas.openxmlformats.org/officeDocument/2006/math">
                    <m:r>
                      <a:rPr lang="en-US" sz="2000" b="1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2000" b="1" i="0" baseline="0" dirty="0">
                    <a:latin typeface="Calibri"/>
                  </a:rPr>
                  <a:t> to empirical sorting index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1" i="0" baseline="0" dirty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</m:sSub>
                  </m:oMath>
                </a14:m>
                <a:r>
                  <a:rPr sz="2000" b="1" i="0" baseline="0" dirty="0">
                    <a:latin typeface="Calibri"/>
                  </a:rPr>
                  <a:t> (hero panel — locked calibration)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219456"/>
                <a:ext cx="10413492" cy="400110"/>
              </a:xfrm>
              <a:prstGeom prst="rect">
                <a:avLst/>
              </a:prstGeom>
              <a:blipFill>
                <a:blip r:embed="rId2"/>
                <a:stretch>
                  <a:fillRect l="-609" t="-9375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84048" y="713232"/>
                <a:ext cx="5721118" cy="24622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1000" b="0" i="0" baseline="0" dirty="0">
                    <a:latin typeface="Calibri"/>
                  </a:rPr>
                  <a:t>PD21 · LG ASSIGN calibration · 2011-2021 ·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seeds · bracket </a:t>
                </a:r>
                <a:r>
                  <a:rPr sz="1000" b="0" i="0" baseline="0" dirty="0" err="1">
                    <a:latin typeface="Calibri"/>
                  </a:rPr>
                  <a:t>tol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=0.001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· longitudinal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≈0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· hero panel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713232"/>
                <a:ext cx="5721118" cy="246221"/>
              </a:xfrm>
              <a:prstGeom prst="rect">
                <a:avLst/>
              </a:prstGeom>
              <a:blipFill>
                <a:blip r:embed="rId3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PD21_rho_hsort_calibrate_2011_2021_brack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9976" y="1160349"/>
            <a:ext cx="7653840" cy="49825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83932" y="1199867"/>
                <a:ext cx="4147904" cy="44812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PD21 locked calibration (Aug 2026): bracket search on hero panel for Alex ASSIGN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</a:t>
                </a:r>
                <a:r>
                  <a:rPr lang="en-US" sz="1000" dirty="0">
                    <a:latin typeface="Calibri"/>
                  </a:rPr>
                  <a:t>C</a:t>
                </a:r>
                <a:r>
                  <a:rPr sz="1000" b="0" i="0" baseline="0" dirty="0">
                    <a:latin typeface="Calibri"/>
                  </a:rPr>
                  <a:t>alibrate ASSIGN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so LG simulated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matches empirical NCAA; formal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MLE parked.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Panel: 2011–2021 MBB · min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≥20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min player-season drop · box QC at panel build · empirical roster caps · PPM z-scored within season.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Search: bracket + bisect (</a:t>
                </a:r>
                <a:r>
                  <a:rPr sz="1000" b="0" i="0" baseline="0" dirty="0" err="1">
                    <a:latin typeface="Calibri"/>
                  </a:rPr>
                  <a:t>tol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=0.001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),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seeds/arm;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sim</m:t>
                        </m:r>
                      </m:sup>
                    </m:sSubSup>
                  </m:oMath>
                </a14:m>
                <a:r>
                  <a:rPr sz="1000" b="0" i="0" baseline="0" dirty="0">
                    <a:latin typeface="Calibri"/>
                  </a:rPr>
                  <a:t> monotone in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𝑠𝑜𝑟𝑡</m:t>
                        </m:r>
                      </m:sub>
                    </m:sSub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=1−</m:t>
                    </m:r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sz="1000" b="0" i="1" baseline="0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000" b="0" i="1" baseline="0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000" b="0" i="1" baseline="0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ˆ"/>
                                        <m:ctrlPr>
                                          <a:rPr lang="en-US" sz="1000" b="0" i="0" baseline="0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000" b="0" i="0" baseline="0" dirty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000" b="0" i="0" baseline="0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000" b="0" i="1" baseline="0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ˆ"/>
                                        <m:ctrlPr>
                                          <a:rPr lang="en-US" sz="1000" b="0" i="0" baseline="0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000" b="0" i="0" baseline="0" dirty="0">
                                            <a:latin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  <m:d>
                                      <m:dPr>
                                        <m:ctrlPr>
                                          <a:rPr lang="en-US" sz="1000" b="0" i="0" baseline="0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000" b="0" i="0" baseline="0" dirty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/</m:t>
                    </m:r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sz="1000" b="0" i="1" baseline="0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000" b="0" i="1" baseline="0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000" b="0" i="1" baseline="0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ˆ"/>
                                        <m:ctrlPr>
                                          <a:rPr lang="en-US" sz="1000" b="0" i="0" baseline="0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000" b="0" i="0" baseline="0" dirty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000" b="0" i="0" baseline="0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sz="1000" b="0" i="0" baseline="0" dirty="0">
                    <a:latin typeface="Calibri"/>
                  </a:rPr>
                  <a:t> — realized sorting on a fixed partition.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Longitudinal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≈0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; mean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sim</m:t>
                        </m:r>
                      </m:sup>
                    </m:sSubSup>
                  </m:oMath>
                </a14:m>
                <a:r>
                  <a:rPr sz="1000" b="0" i="0" baseline="0" dirty="0">
                    <a:latin typeface="Calibri"/>
                  </a:rPr>
                  <a:t> 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sz="1000" b="0" i="0" baseline="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=0.082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; mean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emp</m:t>
                        </m:r>
                      </m:sup>
                    </m:sSubSup>
                  </m:oMath>
                </a14:m>
                <a:r>
                  <a:rPr sz="1000" b="0" i="0" baseline="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=0.064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Per-season: 11/11 seasons 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; all 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Legacy reference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: mean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𝑒𝑟𝑟𝑜𝑟</m:t>
                        </m:r>
                      </m:e>
                    </m:d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≈0.112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vs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≈0.018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sz="1000" b="0" i="0" baseline="0" dirty="0">
                    <a:latin typeface="Calibri"/>
                  </a:rPr>
                  <a:t>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Figure bottom-right inset: per-season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sz="1000" b="0" i="0" baseline="0" dirty="0">
                    <a:latin typeface="Calibri"/>
                  </a:rPr>
                  <a:t> — flat at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all seasons on hero panel.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— </a:t>
                </a:r>
                <a:r>
                  <a:rPr sz="1000" b="1" i="0" baseline="0" dirty="0">
                    <a:latin typeface="Calibri"/>
                  </a:rPr>
                  <a:t>what we DO say</a:t>
                </a:r>
                <a:r>
                  <a:rPr sz="1000" b="0" i="0" baseline="0" dirty="0">
                    <a:latin typeface="Calibri"/>
                  </a:rPr>
                  <a:t>: </a:t>
                </a:r>
                <a:r>
                  <a:rPr lang="en-US" sz="1000" b="0" i="0" baseline="0" dirty="0">
                    <a:solidFill>
                      <a:schemeClr val="accent6">
                        <a:lumMod val="75000"/>
                      </a:schemeClr>
                    </a:solidFill>
                    <a:latin typeface="Calibri"/>
                  </a:rPr>
                  <a:t>on the locked hero panel, the LG ASSIGN homophily knob calibrates to zero (11/11 seasons); empirical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000" b="0" i="0" baseline="0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000" b="0" i="0" baseline="0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000" b="0" i="0" baseline="0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</m:sSub>
                    <m:r>
                      <a:rPr lang="ar-AE" sz="1000" b="0" i="0" baseline="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≈0.064</m:t>
                    </m:r>
                  </m:oMath>
                </a14:m>
                <a:r>
                  <a:rPr lang="ar-AE" sz="1000" b="0" i="0" baseline="0" dirty="0">
                    <a:solidFill>
                      <a:schemeClr val="accent6">
                        <a:lumMod val="75000"/>
                      </a:schemeClr>
                    </a:solidFill>
                    <a:latin typeface="Calibri"/>
                  </a:rPr>
                  <a:t> (</a:t>
                </a:r>
                <a14:m>
                  <m:oMath xmlns:m="http://schemas.openxmlformats.org/officeDocument/2006/math">
                    <m:r>
                      <a:rPr lang="ar-AE" sz="1000" b="0" i="0" baseline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≈0.0642059</m:t>
                    </m:r>
                  </m:oMath>
                </a14:m>
                <a:r>
                  <a:rPr lang="ar-AE" sz="1000" b="0" i="0" baseline="0" dirty="0">
                    <a:solidFill>
                      <a:schemeClr val="accent6">
                        <a:lumMod val="75000"/>
                      </a:schemeClr>
                    </a:solidFill>
                    <a:latin typeface="Calibri"/>
                  </a:rPr>
                  <a:t> </a:t>
                </a:r>
                <a:r>
                  <a:rPr lang="en-US" sz="1000" b="0" i="0" baseline="0" dirty="0">
                    <a:solidFill>
                      <a:schemeClr val="accent6">
                        <a:lumMod val="75000"/>
                      </a:schemeClr>
                    </a:solidFill>
                    <a:latin typeface="Calibri"/>
                  </a:rPr>
                  <a:t>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ar-AE" sz="1000" b="0" i="0" baseline="0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000" b="0" i="0" baseline="0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ar-AE" sz="1000" b="0" i="0" baseline="0" dirty="0">
                    <a:solidFill>
                      <a:schemeClr val="accent6">
                        <a:lumMod val="75000"/>
                      </a:schemeClr>
                    </a:solidFill>
                    <a:latin typeface="Calibri"/>
                  </a:rPr>
                  <a:t> </a:t>
                </a:r>
                <a:r>
                  <a:rPr lang="en-US" sz="1000" b="0" i="0" baseline="0" dirty="0">
                    <a:solidFill>
                      <a:schemeClr val="accent6">
                        <a:lumMod val="75000"/>
                      </a:schemeClr>
                    </a:solidFill>
                    <a:latin typeface="Calibri"/>
                  </a:rPr>
                  <a:t>scale); sim 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1000" b="0" i="0" baseline="0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000" b="0" i="0" baseline="0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ar-AE" sz="1000" b="0" i="0" baseline="0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ar-AE" sz="1000" b="0" i="0" baseline="0" dirty="0">
                    <a:solidFill>
                      <a:schemeClr val="accent6">
                        <a:lumMod val="75000"/>
                      </a:schemeClr>
                    </a:solidFill>
                    <a:latin typeface="Calibri"/>
                  </a:rPr>
                  <a:t> </a:t>
                </a:r>
                <a:r>
                  <a:rPr lang="en-US" sz="1000" b="0" i="0" baseline="0" dirty="0">
                    <a:solidFill>
                      <a:schemeClr val="accent6">
                        <a:lumMod val="75000"/>
                      </a:schemeClr>
                    </a:solidFill>
                    <a:latin typeface="Calibri"/>
                  </a:rPr>
                  <a:t>slightly high (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≈0.0821529</m:t>
                    </m:r>
                  </m:oMath>
                </a14:m>
                <a:r>
                  <a:rPr lang="en-US" sz="1000" b="0" i="0" baseline="0" dirty="0">
                    <a:solidFill>
                      <a:schemeClr val="accent6">
                        <a:lumMod val="75000"/>
                      </a:schemeClr>
                    </a:solidFill>
                    <a:latin typeface="Calibri"/>
                  </a:rPr>
                  <a:t>); turning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sz="1000" b="0" i="0" baseline="0" dirty="0">
                    <a:solidFill>
                      <a:schemeClr val="accent6">
                        <a:lumMod val="75000"/>
                      </a:schemeClr>
                    </a:solidFill>
                    <a:latin typeface="Calibri"/>
                  </a:rPr>
                  <a:t> up overshoots (see legacy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000" b="0" i="0" baseline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lang="en-US" sz="1000" b="0" i="0" baseline="0" dirty="0">
                    <a:solidFill>
                      <a:schemeClr val="accent6">
                        <a:lumMod val="75000"/>
                      </a:schemeClr>
                    </a:solidFill>
                    <a:latin typeface="Calibri"/>
                  </a:rPr>
                  <a:t> bullet).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— </a:t>
                </a:r>
                <a:r>
                  <a:rPr sz="1000" b="1" i="0" baseline="0" dirty="0">
                    <a:latin typeface="Calibri"/>
                  </a:rPr>
                  <a:t>what we DO NOT say</a:t>
                </a:r>
                <a:r>
                  <a:rPr sz="1000" b="0" i="0" baseline="0" dirty="0">
                    <a:latin typeface="Calibri"/>
                  </a:rPr>
                  <a:t>: </a:t>
                </a:r>
                <a:r>
                  <a:rPr lang="en-US" sz="1000" b="0" i="0" baseline="0" dirty="0">
                    <a:solidFill>
                      <a:schemeClr val="accent2">
                        <a:lumMod val="75000"/>
                      </a:schemeClr>
                    </a:solidFill>
                    <a:latin typeface="Calibri"/>
                  </a:rPr>
                  <a:t>NCAA has no team formation; Duke and a weak D-I school draw from the same talent pool; real-world assortativity is absent; Hero inverted-U /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1000" b="0" i="0" baseline="0" dirty="0">
                    <a:solidFill>
                      <a:schemeClr val="accent2">
                        <a:lumMod val="75000"/>
                      </a:schemeClr>
                    </a:solidFill>
                    <a:latin typeface="Calibri"/>
                  </a:rPr>
                  <a:t> / SELECT story is dead.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is realized sorting on a fixed roster partition (VECTOR lock) — not the generative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knob. Box QC lowered measured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vs pre-QC (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∼0.10→∼0.06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); modest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zero. Contrast: slide</a:t>
                </a:r>
                <a:r>
                  <a:rPr lang="en-US" sz="1000" b="0" i="0" baseline="0" dirty="0">
                    <a:latin typeface="Calibri"/>
                  </a:rPr>
                  <a:t> 15 </a:t>
                </a:r>
                <a:r>
                  <a:rPr sz="1000" b="0" i="0" baseline="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𝑝𝑝𝑚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𝑙𝑡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panel.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VECTOR lock: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𝑠𝑜𝑟𝑡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is realized sorting — not the generative homophily knob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Figure: small multiples — blue sim curve, red empirical line, green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sz="1000" b="0" i="0" baseline="0" dirty="0">
                    <a:latin typeface="Calibri"/>
                  </a:rPr>
                  <a:t> (x-axis zoomed to evaluated bracket).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932" y="1199867"/>
                <a:ext cx="4147904" cy="4481291"/>
              </a:xfrm>
              <a:prstGeom prst="rect">
                <a:avLst/>
              </a:prstGeom>
              <a:blipFill>
                <a:blip r:embed="rId5"/>
                <a:stretch>
                  <a:fillRect t="-2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84048" y="6166786"/>
                <a:ext cx="11423599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100" b="1" i="0" baseline="0" dirty="0">
                    <a:latin typeface="Calibri"/>
                  </a:rPr>
                  <a:t>Claim: Hero panel — LG ASSIGN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100" b="1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100" b="1" i="0" baseline="0" dirty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sz="1100" b="1" i="0" baseline="0" dirty="0">
                    <a:latin typeface="Calibri"/>
                  </a:rPr>
                  <a:t> matches modest empirical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1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</m:sSub>
                    <m:r>
                      <a:rPr lang="en-US" sz="1100" b="1" i="0" baseline="0" dirty="0">
                        <a:latin typeface="Cambria Math" panose="02040503050406030204" pitchFamily="18" charset="0"/>
                      </a:rPr>
                      <m:t>≈0.064</m:t>
                    </m:r>
                  </m:oMath>
                </a14:m>
                <a:r>
                  <a:rPr sz="1100" b="1" i="0" baseline="0" dirty="0">
                    <a:latin typeface="Calibri"/>
                  </a:rPr>
                  <a:t>; legacy </a:t>
                </a:r>
                <a14:m>
                  <m:oMath xmlns:m="http://schemas.openxmlformats.org/officeDocument/2006/math"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sz="1100" b="1" i="0" baseline="0" dirty="0">
                    <a:latin typeface="Calibri"/>
                  </a:rPr>
                  <a:t> overshoots (</a:t>
                </a:r>
                <a14:m>
                  <m:oMath xmlns:m="http://schemas.openxmlformats.org/officeDocument/2006/math"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0.11</m:t>
                    </m:r>
                  </m:oMath>
                </a14:m>
                <a:r>
                  <a:rPr sz="1100" b="1" i="0" baseline="0" dirty="0">
                    <a:latin typeface="Calibri"/>
                  </a:rPr>
                  <a:t> mean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1100" b="1" i="0" baseline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𝑒𝑟𝑟𝑜𝑟</m:t>
                        </m:r>
                      </m:e>
                    </m:d>
                  </m:oMath>
                </a14:m>
                <a:r>
                  <a:rPr sz="1100" b="1" i="0" baseline="0" dirty="0">
                    <a:latin typeface="Calibri"/>
                  </a:rPr>
                  <a:t>). Model–measurement fit on this panel — not a claim that NCAA rosters are random.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6166786"/>
                <a:ext cx="11423599" cy="430887"/>
              </a:xfrm>
              <a:prstGeom prst="rect">
                <a:avLst/>
              </a:prstGeom>
              <a:blipFill>
                <a:blip r:embed="rId6"/>
                <a:stretch>
                  <a:fillRect b="-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01168"/>
            <a:ext cx="4676601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 baseline="0" dirty="0">
                <a:latin typeface="Calibri"/>
              </a:rPr>
              <a:t>Calibrate </a:t>
            </a:r>
            <a:r>
              <a:rPr lang="en-US" sz="2600" b="1" i="0" baseline="0" dirty="0">
                <a:latin typeface="Calibri"/>
              </a:rPr>
              <a:t>𝜌</a:t>
            </a:r>
            <a:r>
              <a:rPr sz="2600" b="1" i="0" baseline="0" dirty="0">
                <a:latin typeface="Calibri"/>
              </a:rPr>
              <a:t> — ppm0lt20 contrast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438912" y="676656"/>
                <a:ext cx="3462358" cy="292388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1300" b="0" i="0" baseline="0" dirty="0">
                    <a:latin typeface="Calibri"/>
                  </a:rPr>
                  <a:t>Act III — PD21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300" b="0" i="0" baseline="0" dirty="0" smtClean="0">
                        <a:latin typeface="Cambria Math" panose="02040503050406030204" pitchFamily="18" charset="0"/>
                      </a:rPr>
                      <m:t>−−−</m:t>
                    </m:r>
                  </m:oMath>
                </a14:m>
                <a:r>
                  <a:rPr sz="1300" b="0" i="0" baseline="0" dirty="0">
                    <a:latin typeface="Calibri"/>
                  </a:rPr>
                  <a:t> narrative for HAND slide 15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912" y="676656"/>
                <a:ext cx="3462358" cy="292388"/>
              </a:xfrm>
              <a:prstGeom prst="rect">
                <a:avLst/>
              </a:prstGeom>
              <a:blipFill>
                <a:blip r:embed="rId2"/>
                <a:stretch>
                  <a:fillRect l="-365" t="-4167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38912" y="950976"/>
                <a:ext cx="11313871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sz="1400" b="0" i="0" baseline="0" dirty="0">
                    <a:latin typeface="Calibri"/>
                  </a:rPr>
                  <a:t>What if we keep sub-20 players with PPM </a:t>
                </a:r>
                <a14:m>
                  <m:oMath xmlns:m="http://schemas.openxmlformats.org/officeDocument/2006/math">
                    <m:r>
                      <a:rPr lang="en-US" sz="1400" b="0" i="0" baseline="0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400" b="0" i="0" baseline="0" dirty="0">
                    <a:latin typeface="Calibri"/>
                  </a:rPr>
                  <a:t> </a:t>
                </a:r>
                <a:r>
                  <a:rPr sz="1400" b="0" i="0" baseline="0" dirty="0">
                    <a:latin typeface="Calibri"/>
                  </a:rPr>
                  <a:t>instead of dropping?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912" y="950976"/>
                <a:ext cx="11313871" cy="307777"/>
              </a:xfrm>
              <a:prstGeom prst="rect">
                <a:avLst/>
              </a:prstGeom>
              <a:blipFill>
                <a:blip r:embed="rId3"/>
                <a:stretch>
                  <a:fillRect l="-112" t="-4000" b="-2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38912" y="1389888"/>
                <a:ext cx="11313871" cy="33347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r>
                  <a:rPr lang="en-US" sz="1400" b="1" i="0" baseline="0" dirty="0">
                    <a:latin typeface="Calibri"/>
                  </a:rPr>
                  <a:t>Why this came up</a:t>
                </a:r>
                <a:r>
                  <a:rPr sz="1400" b="1" i="0" baseline="0" dirty="0">
                    <a:latin typeface="Calibri"/>
                  </a:rPr>
                  <a:t>:</a:t>
                </a: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1400"/>
                  </a:spcAft>
                </a:pPr>
                <a:r>
                  <a:rPr sz="1700" b="0" i="0" baseline="0" dirty="0">
                    <a:latin typeface="Calibri"/>
                  </a:rPr>
                  <a:t>Alex asked about the alternate policy — show why it is not the locked estimand.</a:t>
                </a:r>
              </a:p>
              <a:p>
                <a:pPr>
                  <a:lnSpc>
                    <a:spcPct val="115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r>
                  <a:rPr lang="en-US" sz="1400" b="1" i="0" baseline="0" dirty="0">
                    <a:latin typeface="Calibri"/>
                  </a:rPr>
                  <a:t>What we ran</a:t>
                </a:r>
                <a:r>
                  <a:rPr sz="1400" b="1" i="0" baseline="0" dirty="0">
                    <a:latin typeface="Calibri"/>
                  </a:rPr>
                  <a:t>:</a:t>
                </a: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1400"/>
                  </a:spcAft>
                </a:pPr>
                <a:r>
                  <a:rPr sz="1700" b="0" i="0" baseline="0" dirty="0">
                    <a:latin typeface="Calibri"/>
                  </a:rPr>
                  <a:t>Same bracket machinery on ppm0lt20 policy at min 20 — contrast arm only.</a:t>
                </a:r>
              </a:p>
              <a:p>
                <a:pPr>
                  <a:lnSpc>
                    <a:spcPct val="115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r>
                  <a:rPr lang="en-US" sz="1400" b="1" i="0" baseline="0" dirty="0">
                    <a:latin typeface="Calibri"/>
                  </a:rPr>
                  <a:t>What showed up</a:t>
                </a:r>
                <a:r>
                  <a:rPr sz="1400" b="1" i="0" baseline="0" dirty="0">
                    <a:latin typeface="Calibri"/>
                  </a:rPr>
                  <a:t>:</a:t>
                </a: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1400"/>
                  </a:spcAft>
                </a:pPr>
                <a:r>
                  <a:rPr lang="en-US" sz="1700" dirty="0"/>
                  <a:t>Modest longitudinal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7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700" i="1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700" i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700" i="0" dirty="0">
                        <a:latin typeface="Cambria Math" panose="02040503050406030204" pitchFamily="18" charset="0"/>
                      </a:rPr>
                      <m:t>≈0.0484</m:t>
                    </m:r>
                  </m:oMath>
                </a14:m>
                <a:r>
                  <a:rPr lang="en-US" sz="1700" dirty="0"/>
                  <a:t> (hero </a:t>
                </a:r>
                <a14:m>
                  <m:oMath xmlns:m="http://schemas.openxmlformats.org/officeDocument/2006/math">
                    <m:r>
                      <a:rPr lang="en-US" sz="170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700" i="0" dirty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1700" dirty="0"/>
                  <a:t>). Same mean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700" i="0" dirty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</m:sSub>
                  </m:oMath>
                </a14:m>
                <a:r>
                  <a:rPr lang="en-US" sz="1700" dirty="0"/>
                  <a:t> as drop (</a:t>
                </a:r>
                <a14:m>
                  <m:oMath xmlns:m="http://schemas.openxmlformats.org/officeDocument/2006/math">
                    <m:r>
                      <a:rPr lang="en-US" sz="1700" dirty="0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sz="1700" i="0" dirty="0">
                        <a:latin typeface="Cambria Math" panose="02040503050406030204" pitchFamily="18" charset="0"/>
                      </a:rPr>
                      <m:t>0.065</m:t>
                    </m:r>
                  </m:oMath>
                </a14:m>
                <a:r>
                  <a:rPr lang="en-US" sz="1700" dirty="0"/>
                  <a:t>). Mid-decade per-season spike 2014→2015 — not flat all-zero hero panel.</a:t>
                </a:r>
              </a:p>
              <a:p>
                <a:pPr>
                  <a:lnSpc>
                    <a:spcPct val="115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r>
                  <a:rPr lang="en-US" sz="1400" b="1" i="0" baseline="0" dirty="0">
                    <a:latin typeface="Calibri"/>
                  </a:rPr>
                  <a:t>What you can say</a:t>
                </a:r>
                <a:r>
                  <a:rPr sz="1400" b="1" i="0" baseline="0" dirty="0">
                    <a:latin typeface="Calibri"/>
                  </a:rPr>
                  <a:t>:</a:t>
                </a: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1400"/>
                  </a:spcAft>
                </a:pPr>
                <a:r>
                  <a:rPr lang="en-US" sz="1700" b="1" dirty="0"/>
                  <a:t>"Wrong policy — volatile mid-decade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700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700" b="1" i="1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700" b="1" i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700" b="1" dirty="0"/>
                  <a:t> on uncapped rows. Illustrative contrast only; locked estimand stays drop + slide 14."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912" y="1389888"/>
                <a:ext cx="11313871" cy="3334759"/>
              </a:xfrm>
              <a:prstGeom prst="rect">
                <a:avLst/>
              </a:prstGeom>
              <a:blipFill>
                <a:blip r:embed="rId4"/>
                <a:stretch>
                  <a:fillRect l="-336" r="-224" b="-1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3766973" y="6071616"/>
            <a:ext cx="4657749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1300" b="1" i="0" baseline="0" dirty="0">
                <a:latin typeface="Calibri"/>
              </a:rPr>
              <a:t>↓ Paste 𝙲𝙷𝙰𝚁_𝙿𝙳𝟸𝟶_𝙷𝙰𝙽𝙳</a:t>
            </a:r>
            <a:r>
              <a:rPr sz="1300" b="1" i="0" baseline="0" dirty="0">
                <a:latin typeface="Calibri"/>
              </a:rPr>
              <a:t> slide 15 immediately after this slide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53A7B-5CEF-8C7D-478B-773E9B38A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7A04B81-646E-D343-4FBB-A6016C810F10}"/>
                  </a:ext>
                </a:extLst>
              </p:cNvPr>
              <p:cNvSpPr txBox="1"/>
              <p:nvPr/>
            </p:nvSpPr>
            <p:spPr>
              <a:xfrm>
                <a:off x="384048" y="219456"/>
                <a:ext cx="11324447" cy="4001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en-US" sz="2000" b="1" dirty="0">
                    <a:latin typeface="Calibri"/>
                  </a:rPr>
                  <a:t>PD21 — Calibrate homophily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sz="2000" b="1" dirty="0">
                    <a:latin typeface="Calibri"/>
                  </a:rPr>
                  <a:t> to empirical sorting index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1" i="0" dirty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</m:sSub>
                  </m:oMath>
                </a14:m>
                <a:r>
                  <a:rPr lang="en-US" sz="2000" b="1" dirty="0">
                    <a:latin typeface="Calibri"/>
                  </a:rPr>
                  <a:t> (contrast: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𝑝𝑝𝑚</m:t>
                    </m:r>
                    <m:r>
                      <a:rPr lang="en-US" sz="2000" b="1" i="0" dirty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000" b="1" i="1" dirty="0">
                        <a:latin typeface="Cambria Math" panose="02040503050406030204" pitchFamily="18" charset="0"/>
                      </a:rPr>
                      <m:t>𝑙𝑡</m:t>
                    </m:r>
                    <m:r>
                      <a:rPr lang="en-US" sz="2000" b="1" i="0" dirty="0"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lang="en-US" sz="2000" b="1" dirty="0">
                    <a:latin typeface="Calibri"/>
                  </a:rPr>
                  <a:t> — not for calibration)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7A04B81-646E-D343-4FBB-A6016C810F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219456"/>
                <a:ext cx="11324447" cy="400110"/>
              </a:xfrm>
              <a:prstGeom prst="rect">
                <a:avLst/>
              </a:prstGeom>
              <a:blipFill>
                <a:blip r:embed="rId2"/>
                <a:stretch>
                  <a:fillRect l="-560" t="-9375" r="-224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063BA28-9729-D981-C68F-89411D02D584}"/>
                  </a:ext>
                </a:extLst>
              </p:cNvPr>
              <p:cNvSpPr txBox="1"/>
              <p:nvPr/>
            </p:nvSpPr>
            <p:spPr>
              <a:xfrm>
                <a:off x="384048" y="713232"/>
                <a:ext cx="6434454" cy="24622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en-US" sz="1000" dirty="0"/>
                  <a:t>PD21 · LG ASSIGN calibration · 2011-2021 · 50 seeds · bracket </a:t>
                </a:r>
                <a:r>
                  <a:rPr lang="en-US" sz="1000" dirty="0" err="1"/>
                  <a:t>tol</a:t>
                </a:r>
                <a14:m>
                  <m:oMath xmlns:m="http://schemas.openxmlformats.org/officeDocument/2006/math">
                    <m:r>
                      <a:rPr lang="en-US" sz="100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000" i="0" dirty="0">
                        <a:latin typeface="Cambria Math" panose="02040503050406030204" pitchFamily="18" charset="0"/>
                      </a:rPr>
                      <m:t>0.001</m:t>
                    </m:r>
                  </m:oMath>
                </a14:m>
                <a:r>
                  <a:rPr lang="en-US" sz="1000" dirty="0"/>
                  <a:t> · longitudinal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i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000" i="0" dirty="0">
                        <a:latin typeface="Cambria Math" panose="02040503050406030204" pitchFamily="18" charset="0"/>
                      </a:rPr>
                      <m:t>≈0.0484</m:t>
                    </m:r>
                  </m:oMath>
                </a14:m>
                <a:r>
                  <a:rPr lang="en-US" sz="1000" dirty="0"/>
                  <a:t> · contrast ppm0lt20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063BA28-9729-D981-C68F-89411D02D5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713232"/>
                <a:ext cx="6434454" cy="246221"/>
              </a:xfrm>
              <a:prstGeom prst="rect">
                <a:avLst/>
              </a:prstGeom>
              <a:blipFill>
                <a:blip r:embed="rId3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51A2C5D9-4665-1CCD-DFAB-99BDDD694E8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384712" y="1160349"/>
            <a:ext cx="7644368" cy="49825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FFC5FF9-D481-36F9-4F81-B02AE7EBCB6E}"/>
                  </a:ext>
                </a:extLst>
              </p:cNvPr>
              <p:cNvSpPr txBox="1"/>
              <p:nvPr/>
            </p:nvSpPr>
            <p:spPr>
              <a:xfrm>
                <a:off x="283932" y="1199867"/>
                <a:ext cx="4147904" cy="46351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Char char="•"/>
                </a:pPr>
                <a:r>
                  <a:rPr lang="en-US" sz="1000" dirty="0">
                    <a:latin typeface="Calibri"/>
                  </a:rPr>
                  <a:t> PD21 contrast (Aug 2026):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𝑝𝑝𝑚</m:t>
                    </m:r>
                    <m:r>
                      <a:rPr lang="en-US" sz="1000" i="0" dirty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000" i="1" dirty="0">
                        <a:latin typeface="Cambria Math" panose="02040503050406030204" pitchFamily="18" charset="0"/>
                      </a:rPr>
                      <m:t>𝑙𝑡</m:t>
                    </m:r>
                    <m:r>
                      <a:rPr lang="en-US" sz="1000" i="0" dirty="0"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lang="en-US" sz="1000" dirty="0">
                    <a:latin typeface="Calibri"/>
                  </a:rPr>
                  <a:t> panel — illustrative only; do not use for locked longitudinal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sz="1000" dirty="0">
                    <a:latin typeface="Calibri"/>
                  </a:rPr>
                  <a:t> calibration.</a:t>
                </a:r>
              </a:p>
              <a:p>
                <a:pPr>
                  <a:buChar char="•"/>
                </a:pPr>
                <a:r>
                  <a:rPr lang="en-US" sz="1000" dirty="0">
                    <a:latin typeface="Calibri"/>
                  </a:rPr>
                  <a:t>  Calibrate ASSIGN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sz="1000" dirty="0">
                    <a:latin typeface="Calibri"/>
                  </a:rPr>
                  <a:t> so LG simulated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000" i="0" dirty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</m:sSub>
                  </m:oMath>
                </a14:m>
                <a:r>
                  <a:rPr lang="en-US" sz="1000" dirty="0">
                    <a:latin typeface="Calibri"/>
                  </a:rPr>
                  <a:t> matches empirical NCAA; formal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sz="1000" dirty="0">
                    <a:latin typeface="Calibri"/>
                  </a:rPr>
                  <a:t> MLE parked.</a:t>
                </a:r>
              </a:p>
              <a:p>
                <a:pPr>
                  <a:buChar char="•"/>
                </a:pPr>
                <a:r>
                  <a:rPr lang="en-US" sz="1000" dirty="0">
                    <a:latin typeface="Calibri"/>
                  </a:rPr>
                  <a:t>  Panel: 2011–2021 MBB · all roster rows kept · raw PPM</a:t>
                </a:r>
                <a14:m>
                  <m:oMath xmlns:m="http://schemas.openxmlformats.org/officeDocument/2006/math">
                    <m:r>
                      <a:rPr lang="en-US" sz="100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000" i="0" dirty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1000" dirty="0">
                    <a:latin typeface="Calibri"/>
                  </a:rPr>
                  <a:t> if minutes </a:t>
                </a:r>
                <a14:m>
                  <m:oMath xmlns:m="http://schemas.openxmlformats.org/officeDocument/2006/math">
                    <m:r>
                      <a:rPr lang="en-US" sz="1000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1000" i="0" dirty="0"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lang="en-US" sz="1000" dirty="0">
                    <a:latin typeface="Calibri"/>
                  </a:rPr>
                  <a:t> · no roster caps — contrast / legacy estimand only.</a:t>
                </a:r>
              </a:p>
              <a:p>
                <a:pPr>
                  <a:buChar char="•"/>
                </a:pPr>
                <a:r>
                  <a:rPr lang="en-US" sz="1000" dirty="0">
                    <a:latin typeface="Calibri"/>
                  </a:rPr>
                  <a:t>  Search: bracket + bisect (</a:t>
                </a:r>
                <a:r>
                  <a:rPr lang="en-US" sz="1000" dirty="0" err="1">
                    <a:latin typeface="Calibri"/>
                  </a:rPr>
                  <a:t>tol</a:t>
                </a:r>
                <a14:m>
                  <m:oMath xmlns:m="http://schemas.openxmlformats.org/officeDocument/2006/math">
                    <m:r>
                      <a:rPr lang="en-US" sz="100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000" i="0" dirty="0">
                        <a:latin typeface="Cambria Math" panose="02040503050406030204" pitchFamily="18" charset="0"/>
                      </a:rPr>
                      <m:t>0.001</m:t>
                    </m:r>
                  </m:oMath>
                </a14:m>
                <a:r>
                  <a:rPr lang="en-US" sz="1000" dirty="0">
                    <a:latin typeface="Calibri"/>
                  </a:rPr>
                  <a:t>), </a:t>
                </a:r>
                <a14:m>
                  <m:oMath xmlns:m="http://schemas.openxmlformats.org/officeDocument/2006/math">
                    <m:r>
                      <a:rPr lang="en-US" sz="1000" dirty="0" smtClean="0"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lang="en-US" sz="1000" dirty="0">
                    <a:latin typeface="Calibri"/>
                  </a:rPr>
                  <a:t> seeds/arm;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0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000" i="0" dirty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sz="1000" i="0" dirty="0">
                            <a:latin typeface="Cambria Math" panose="02040503050406030204" pitchFamily="18" charset="0"/>
                          </a:rPr>
                          <m:t>sim</m:t>
                        </m:r>
                      </m:sup>
                    </m:sSubSup>
                  </m:oMath>
                </a14:m>
                <a:r>
                  <a:rPr lang="en-US" sz="1000" dirty="0">
                    <a:latin typeface="Calibri"/>
                  </a:rPr>
                  <a:t> monotone in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sz="1000" dirty="0">
                    <a:latin typeface="Calibri"/>
                  </a:rPr>
                  <a:t>.</a:t>
                </a:r>
              </a:p>
              <a:p>
                <a:pPr>
                  <a:buChar char="•"/>
                </a:pPr>
                <a:r>
                  <a:rPr lang="en-US" sz="1000" dirty="0">
                    <a:latin typeface="Calibri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𝑠𝑜𝑟𝑡</m:t>
                        </m:r>
                      </m:sub>
                    </m:sSub>
                    <m:r>
                      <a:rPr lang="en-US" sz="1000" i="0" dirty="0">
                        <a:latin typeface="Cambria Math" panose="02040503050406030204" pitchFamily="18" charset="0"/>
                      </a:rPr>
                      <m:t>=1−</m:t>
                    </m:r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en-US" sz="10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sz="10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0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ˆ"/>
                                        <m:ctrlPr>
                                          <a:rPr lang="en-US" sz="1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000" i="1" dirty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000" i="1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000" i="0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ˆ"/>
                                        <m:ctrlPr>
                                          <a:rPr lang="en-US" sz="1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000" i="1" dirty="0">
                                            <a:latin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000" i="1" dirty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  <m:d>
                                      <m:dPr>
                                        <m:ctrlPr>
                                          <a:rPr lang="en-US" sz="1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000" i="1" dirty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sz="1000" i="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sz="1000" i="0" dirty="0">
                        <a:latin typeface="Cambria Math" panose="02040503050406030204" pitchFamily="18" charset="0"/>
                      </a:rPr>
                      <m:t>/</m:t>
                    </m:r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en-US" sz="10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sz="10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0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ˆ"/>
                                        <m:ctrlPr>
                                          <a:rPr lang="en-US" sz="1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000" i="1" dirty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000" i="1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000" i="0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sz="1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000" i="1" dirty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sz="1000" i="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sz="1000" dirty="0">
                    <a:latin typeface="Calibri"/>
                  </a:rPr>
                  <a:t> — realized sorting on a fixed partition.</a:t>
                </a:r>
              </a:p>
              <a:p>
                <a:pPr>
                  <a:buChar char="•"/>
                </a:pPr>
                <a:r>
                  <a:rPr lang="en-US" sz="1000" dirty="0">
                    <a:latin typeface="Calibri"/>
                  </a:rPr>
                  <a:t>  Longitudinal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i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000" i="0" dirty="0">
                        <a:latin typeface="Cambria Math" panose="02040503050406030204" pitchFamily="18" charset="0"/>
                      </a:rPr>
                      <m:t>≈0.</m:t>
                    </m:r>
                    <m:r>
                      <a:rPr lang="en-US" sz="1000" b="0" i="0" dirty="0" smtClean="0">
                        <a:latin typeface="Cambria Math" panose="02040503050406030204" pitchFamily="18" charset="0"/>
                      </a:rPr>
                      <m:t>04844</m:t>
                    </m:r>
                  </m:oMath>
                </a14:m>
                <a:r>
                  <a:rPr lang="en-US" sz="1000" dirty="0">
                    <a:latin typeface="Calibri"/>
                  </a:rPr>
                  <a:t>;</a:t>
                </a:r>
              </a:p>
              <a:p>
                <a:r>
                  <a:rPr lang="en-US" sz="1000" dirty="0">
                    <a:latin typeface="Calibri"/>
                  </a:rPr>
                  <a:t>     mean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0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000" i="0" dirty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sz="1000" i="0" dirty="0">
                            <a:latin typeface="Cambria Math" panose="02040503050406030204" pitchFamily="18" charset="0"/>
                          </a:rPr>
                          <m:t>sim</m:t>
                        </m:r>
                      </m:sup>
                    </m:sSubSup>
                  </m:oMath>
                </a14:m>
                <a:r>
                  <a:rPr lang="en-US" sz="1000" dirty="0">
                    <a:latin typeface="Calibri"/>
                  </a:rPr>
                  <a:t> 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i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00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000" i="0" dirty="0">
                        <a:latin typeface="Cambria Math" panose="02040503050406030204" pitchFamily="18" charset="0"/>
                      </a:rPr>
                      <m:t>0.</m:t>
                    </m:r>
                    <m:r>
                      <a:rPr lang="en-US" sz="1000" b="0" i="0" dirty="0" smtClean="0">
                        <a:latin typeface="Cambria Math" panose="02040503050406030204" pitchFamily="18" charset="0"/>
                      </a:rPr>
                      <m:t>067</m:t>
                    </m:r>
                  </m:oMath>
                </a14:m>
                <a:r>
                  <a:rPr lang="en-US" sz="1000" dirty="0">
                    <a:latin typeface="Calibri"/>
                  </a:rPr>
                  <a:t>; mean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0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000" i="0" dirty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sz="1000" i="0" dirty="0">
                            <a:latin typeface="Cambria Math" panose="02040503050406030204" pitchFamily="18" charset="0"/>
                          </a:rPr>
                          <m:t>emp</m:t>
                        </m:r>
                      </m:sup>
                    </m:sSubSup>
                  </m:oMath>
                </a14:m>
                <a:r>
                  <a:rPr lang="en-US" sz="100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000" i="0" dirty="0">
                        <a:latin typeface="Cambria Math" panose="02040503050406030204" pitchFamily="18" charset="0"/>
                      </a:rPr>
                      <m:t>0.</m:t>
                    </m:r>
                    <m:r>
                      <a:rPr lang="en-US" sz="1000" b="0" i="0" dirty="0" smtClean="0">
                        <a:latin typeface="Cambria Math" panose="02040503050406030204" pitchFamily="18" charset="0"/>
                      </a:rPr>
                      <m:t>065</m:t>
                    </m:r>
                  </m:oMath>
                </a14:m>
                <a:r>
                  <a:rPr lang="en-US" sz="1000" dirty="0">
                    <a:latin typeface="Calibri"/>
                  </a:rPr>
                  <a:t>.</a:t>
                </a:r>
              </a:p>
              <a:p>
                <a:pPr>
                  <a:buChar char="•"/>
                </a:pPr>
                <a:r>
                  <a:rPr lang="en-US" sz="1000" dirty="0">
                    <a:latin typeface="Calibri"/>
                  </a:rPr>
                  <a:t> </a:t>
                </a:r>
                <a:r>
                  <a:rPr lang="en-US" sz="1000" dirty="0"/>
                  <a:t>Per-season: 5/11 seasons 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i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000" i="0" dirty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000" dirty="0"/>
                  <a:t>; nonzero — </a:t>
                </a:r>
              </a:p>
              <a:p>
                <a:r>
                  <a:rPr lang="en-US" sz="1000" dirty="0"/>
                  <a:t>      2015: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i="1" dirty="0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i="0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000" i="0" dirty="0" smtClean="0">
                        <a:latin typeface="Cambria Math" panose="02040503050406030204" pitchFamily="18" charset="0"/>
                      </a:rPr>
                      <m:t>≈0.184</m:t>
                    </m:r>
                  </m:oMath>
                </a14:m>
                <a:r>
                  <a:rPr lang="en-US" sz="1000" dirty="0"/>
                  <a:t>, 2016: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i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000" i="0" dirty="0">
                        <a:latin typeface="Cambria Math" panose="02040503050406030204" pitchFamily="18" charset="0"/>
                      </a:rPr>
                      <m:t>≈0.161</m:t>
                    </m:r>
                  </m:oMath>
                </a14:m>
                <a:r>
                  <a:rPr lang="en-US" sz="1000" dirty="0"/>
                  <a:t>, 2017: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i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000" i="0" dirty="0">
                        <a:latin typeface="Cambria Math" panose="02040503050406030204" pitchFamily="18" charset="0"/>
                      </a:rPr>
                      <m:t>≈0.0129</m:t>
                    </m:r>
                  </m:oMath>
                </a14:m>
                <a:r>
                  <a:rPr lang="en-US" sz="1000" dirty="0"/>
                  <a:t>, </a:t>
                </a:r>
              </a:p>
              <a:p>
                <a:r>
                  <a:rPr lang="en-US" sz="1000" dirty="0"/>
                  <a:t>      2018: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i="1" dirty="0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i="0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000" i="0" dirty="0" smtClean="0">
                        <a:latin typeface="Cambria Math" panose="02040503050406030204" pitchFamily="18" charset="0"/>
                      </a:rPr>
                      <m:t>≈0.0457</m:t>
                    </m:r>
                  </m:oMath>
                </a14:m>
                <a:r>
                  <a:rPr lang="en-US" sz="1000" dirty="0"/>
                  <a:t>, 2019: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i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000" i="0" dirty="0">
                        <a:latin typeface="Cambria Math" panose="02040503050406030204" pitchFamily="18" charset="0"/>
                      </a:rPr>
                      <m:t>≈0.0715</m:t>
                    </m:r>
                  </m:oMath>
                </a14:m>
                <a:r>
                  <a:rPr lang="en-US" sz="1000" dirty="0"/>
                  <a:t>, …</a:t>
                </a:r>
                <a:r>
                  <a:rPr lang="en-US" sz="1000" dirty="0">
                    <a:latin typeface="Calibri"/>
                  </a:rPr>
                  <a:t>  </a:t>
                </a:r>
              </a:p>
              <a:p>
                <a:pPr>
                  <a:buFontTx/>
                  <a:buChar char="•"/>
                </a:pPr>
                <a:r>
                  <a:rPr lang="en-US" sz="1000" dirty="0">
                    <a:latin typeface="Calibri"/>
                  </a:rPr>
                  <a:t>  </a:t>
                </a:r>
                <a:r>
                  <a:rPr lang="en-US" sz="1000" dirty="0"/>
                  <a:t>Legacy reference </a:t>
                </a:r>
                <a14:m>
                  <m:oMath xmlns:m="http://schemas.openxmlformats.org/officeDocument/2006/math">
                    <m:r>
                      <a:rPr lang="en-US" sz="1000" i="1" dirty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000" dirty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lang="en-US" sz="1000" dirty="0"/>
                  <a:t>: mean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1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𝑒𝑟𝑟𝑜𝑟</m:t>
                        </m:r>
                      </m:e>
                    </m:d>
                    <m:r>
                      <a:rPr lang="en-US" sz="1000" dirty="0">
                        <a:latin typeface="Cambria Math" panose="02040503050406030204" pitchFamily="18" charset="0"/>
                      </a:rPr>
                      <m:t>≈0.089</m:t>
                    </m:r>
                  </m:oMath>
                </a14:m>
                <a:r>
                  <a:rPr lang="en-US" sz="1000" dirty="0"/>
                  <a:t> vs </a:t>
                </a:r>
                <a14:m>
                  <m:oMath xmlns:m="http://schemas.openxmlformats.org/officeDocument/2006/math">
                    <m:r>
                      <a:rPr lang="en-US" sz="1000" dirty="0">
                        <a:latin typeface="Cambria Math" panose="02040503050406030204" pitchFamily="18" charset="0"/>
                      </a:rPr>
                      <m:t>≈4.</m:t>
                    </m:r>
                    <m:r>
                      <a:rPr lang="en-US" sz="1000" i="1" dirty="0">
                        <a:latin typeface="Cambria Math" panose="02040503050406030204" pitchFamily="18" charset="0"/>
                      </a:rPr>
                      <m:t>9</m:t>
                    </m:r>
                    <m:r>
                      <a:rPr lang="en-US" sz="1000" i="1" dirty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1000" dirty="0">
                        <a:latin typeface="Cambria Math" panose="02040503050406030204" pitchFamily="18" charset="0"/>
                      </a:rPr>
                      <m:t>−06</m:t>
                    </m:r>
                  </m:oMath>
                </a14:m>
                <a:r>
                  <a:rPr lang="en-US" sz="1000" dirty="0"/>
                  <a:t> 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000" dirty="0"/>
                  <a:t>.</a:t>
                </a:r>
              </a:p>
              <a:p>
                <a:pPr>
                  <a:buChar char="•"/>
                </a:pPr>
                <a:r>
                  <a:rPr lang="en-US" sz="1000" dirty="0">
                    <a:latin typeface="Calibri"/>
                  </a:rPr>
                  <a:t>  Figure bottom-right inset: per-season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i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000" dirty="0">
                    <a:latin typeface="Calibri"/>
                  </a:rPr>
                  <a:t> — red dots spiked at 2015-2016; dotted line = mean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i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000" dirty="0">
                    <a:latin typeface="Calibri"/>
                  </a:rPr>
                  <a:t> across seasons.</a:t>
                </a:r>
              </a:p>
              <a:p>
                <a:pPr>
                  <a:buChar char="•"/>
                </a:pPr>
                <a:r>
                  <a:rPr lang="en-US" sz="1000" dirty="0">
                    <a:latin typeface="Calibri"/>
                  </a:rPr>
                  <a:t>  2014</a:t>
                </a:r>
                <a14:m>
                  <m:oMath xmlns:m="http://schemas.openxmlformats.org/officeDocument/2006/math">
                    <m:r>
                      <a:rPr lang="en-US" sz="1000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000" dirty="0">
                    <a:latin typeface="Calibri"/>
                  </a:rPr>
                  <a:t>2015 per-season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i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000" dirty="0">
                    <a:latin typeface="Calibri"/>
                  </a:rPr>
                  <a:t>: </a:t>
                </a:r>
                <a14:m>
                  <m:oMath xmlns:m="http://schemas.openxmlformats.org/officeDocument/2006/math">
                    <m:r>
                      <a:rPr lang="en-US" sz="1000" dirty="0" smtClean="0">
                        <a:latin typeface="Cambria Math" panose="02040503050406030204" pitchFamily="18" charset="0"/>
                      </a:rPr>
                      <m:t>0.</m:t>
                    </m:r>
                    <m:r>
                      <a:rPr lang="en-US" sz="1000" b="0" i="0" dirty="0" smtClean="0">
                        <a:latin typeface="Cambria Math" panose="02040503050406030204" pitchFamily="18" charset="0"/>
                      </a:rPr>
                      <m:t>000</m:t>
                    </m:r>
                    <m:r>
                      <a:rPr lang="en-US" sz="1000" i="0" dirty="0">
                        <a:latin typeface="Cambria Math" panose="02040503050406030204" pitchFamily="18" charset="0"/>
                      </a:rPr>
                      <m:t>→0.</m:t>
                    </m:r>
                    <m:r>
                      <a:rPr lang="en-US" sz="1000" b="0" i="0" dirty="0" smtClean="0">
                        <a:latin typeface="Cambria Math" panose="02040503050406030204" pitchFamily="18" charset="0"/>
                      </a:rPr>
                      <m:t>184</m:t>
                    </m:r>
                  </m:oMath>
                </a14:m>
                <a:r>
                  <a:rPr lang="en-US" sz="1000" dirty="0">
                    <a:latin typeface="Calibri"/>
                  </a:rPr>
                  <a:t> — </a:t>
                </a:r>
                <a:r>
                  <a:rPr lang="en-US" sz="1000" dirty="0"/>
                  <a:t>mid-decade spike co-moves with empirical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000" i="0" dirty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</m:sSub>
                  </m:oMath>
                </a14:m>
                <a:r>
                  <a:rPr lang="en-US" sz="1000" dirty="0"/>
                  <a:t>; not used for locked calibration.</a:t>
                </a:r>
              </a:p>
              <a:p>
                <a:pPr>
                  <a:buChar char="•"/>
                </a:pPr>
                <a:r>
                  <a:rPr lang="en-US" sz="1000" dirty="0">
                    <a:latin typeface="Calibri"/>
                  </a:rPr>
                  <a:t>  </a:t>
                </a:r>
                <a:r>
                  <a:rPr lang="en-US" sz="1000" dirty="0"/>
                  <a:t>Contrast slide only: ppm0lt20 (all roster rows, PPM</a:t>
                </a:r>
                <a14:m>
                  <m:oMath xmlns:m="http://schemas.openxmlformats.org/officeDocument/2006/math">
                    <m:r>
                      <a:rPr lang="en-US" sz="100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000" i="0" dirty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1000" dirty="0"/>
                  <a:t> if min</a:t>
                </a:r>
                <a14:m>
                  <m:oMath xmlns:m="http://schemas.openxmlformats.org/officeDocument/2006/math">
                    <m:r>
                      <a:rPr lang="en-US" sz="1000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1000" i="0" dirty="0"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lang="en-US" sz="1000" dirty="0"/>
                  <a:t>, no caps) can yield positive per-season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i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000" dirty="0"/>
                  <a:t> where hero drop gives </a:t>
                </a:r>
                <a14:m>
                  <m:oMath xmlns:m="http://schemas.openxmlformats.org/officeDocument/2006/math">
                    <m:r>
                      <a:rPr lang="en-US" sz="1000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1000" dirty="0"/>
                  <a:t> — do not use for locked calibration.</a:t>
                </a:r>
              </a:p>
              <a:p>
                <a:pPr>
                  <a:buChar char="•"/>
                </a:pPr>
                <a:r>
                  <a:rPr lang="en-US" sz="1000" dirty="0"/>
                  <a:t>  Footer claim on this slide is about contrast failure mode — not the hero-panel near-zero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i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000" dirty="0"/>
                  <a:t> story on the hero calibration slide (HAND20 slide 14).</a:t>
                </a:r>
              </a:p>
              <a:p>
                <a:pPr>
                  <a:buChar char="•"/>
                </a:pPr>
                <a:r>
                  <a:rPr lang="en-US" sz="1000" dirty="0"/>
                  <a:t>  VECTOR lock: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𝑠𝑜𝑟𝑡</m:t>
                        </m:r>
                      </m:sub>
                    </m:sSub>
                  </m:oMath>
                </a14:m>
                <a:r>
                  <a:rPr lang="en-US" sz="1000" dirty="0"/>
                  <a:t> is realized sorting — not the generative homophily knob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sz="1000" dirty="0"/>
                  <a:t>.</a:t>
                </a:r>
              </a:p>
              <a:p>
                <a:pPr>
                  <a:buChar char="•"/>
                </a:pPr>
                <a:r>
                  <a:rPr lang="en-US" sz="1000" dirty="0"/>
                  <a:t>  Figure: small multiples — blue sim curve, red empirical line, green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i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000" dirty="0"/>
                  <a:t> (x-axis zoomed to evaluated bracket).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FFC5FF9-D481-36F9-4F81-B02AE7EBCB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932" y="1199867"/>
                <a:ext cx="4147904" cy="4635180"/>
              </a:xfrm>
              <a:prstGeom prst="rect">
                <a:avLst/>
              </a:prstGeom>
              <a:blipFill>
                <a:blip r:embed="rId5"/>
                <a:stretch>
                  <a:fillRect t="-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0A765FF-1D96-4DE4-90E9-C91E84AFBBFC}"/>
                  </a:ext>
                </a:extLst>
              </p:cNvPr>
              <p:cNvSpPr txBox="1"/>
              <p:nvPr/>
            </p:nvSpPr>
            <p:spPr>
              <a:xfrm>
                <a:off x="384048" y="6166786"/>
                <a:ext cx="11423599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100" b="1" dirty="0"/>
                  <a:t>Claim (PD21 contrast): ppm0lt20 yields modest longitudinal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100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100" b="1" i="1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100" b="1" i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100" b="1" i="0" dirty="0">
                        <a:latin typeface="Cambria Math" panose="02040503050406030204" pitchFamily="18" charset="0"/>
                      </a:rPr>
                      <m:t>≈0.0484</m:t>
                    </m:r>
                  </m:oMath>
                </a14:m>
                <a:r>
                  <a:rPr lang="en-US" sz="1100" b="1" dirty="0"/>
                  <a:t> (hero panel </a:t>
                </a:r>
                <a14:m>
                  <m:oMath xmlns:m="http://schemas.openxmlformats.org/officeDocument/2006/math">
                    <m:r>
                      <a:rPr lang="en-US" sz="1100" b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100" b="1" i="0" dirty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1100" b="1" dirty="0"/>
                  <a:t>) — not the locked estimand; 2014</a:t>
                </a:r>
                <a14:m>
                  <m:oMath xmlns:m="http://schemas.openxmlformats.org/officeDocument/2006/math">
                    <m:r>
                      <a:rPr lang="en-US" sz="1100" b="1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100" b="1" dirty="0"/>
                  <a:t>2015 per-season spike co-moves with mid-decade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1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100" b="1" i="0" dirty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</m:sSub>
                  </m:oMath>
                </a14:m>
                <a:r>
                  <a:rPr lang="en-US" sz="1100" b="1" dirty="0"/>
                  <a:t> on uncapped roster rows (PD22 ESPN coverage — HAND20 slide 9).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0A765FF-1D96-4DE4-90E9-C91E84AFBB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6166786"/>
                <a:ext cx="11423599" cy="430887"/>
              </a:xfrm>
              <a:prstGeom prst="rect">
                <a:avLst/>
              </a:prstGeom>
              <a:blipFill>
                <a:blip r:embed="rId6"/>
                <a:stretch>
                  <a:fillRect b="-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540976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438912" y="201168"/>
                <a:ext cx="5028877" cy="492443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2600" b="1" i="0" baseline="0" dirty="0">
                    <a:latin typeface="Calibri"/>
                  </a:rPr>
                  <a:t>Per-season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600" b="1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b="1" i="0" baseline="0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2600" b="1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600" b="1" i="0" baseline="0" dirty="0">
                    <a:latin typeface="Calibri"/>
                  </a:rPr>
                  <a:t> </a:t>
                </a:r>
                <a:r>
                  <a:rPr sz="2600" b="1" i="0" baseline="0" dirty="0">
                    <a:latin typeface="Calibri"/>
                  </a:rPr>
                  <a:t>timeseries (contrast)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912" y="201168"/>
                <a:ext cx="5028877" cy="492443"/>
              </a:xfrm>
              <a:prstGeom prst="rect">
                <a:avLst/>
              </a:prstGeom>
              <a:blipFill>
                <a:blip r:embed="rId2"/>
                <a:stretch>
                  <a:fillRect l="-2267" t="-10000" r="-1259" b="-3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438912" y="676656"/>
                <a:ext cx="3462358" cy="292388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1300" b="0" i="0" baseline="0" dirty="0">
                    <a:latin typeface="Calibri"/>
                  </a:rPr>
                  <a:t>Act III — PD21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300" b="0" i="0" baseline="0" dirty="0" smtClean="0">
                        <a:latin typeface="Cambria Math" panose="02040503050406030204" pitchFamily="18" charset="0"/>
                      </a:rPr>
                      <m:t>−−−</m:t>
                    </m:r>
                  </m:oMath>
                </a14:m>
                <a:r>
                  <a:rPr sz="1300" b="0" i="0" baseline="0" dirty="0">
                    <a:latin typeface="Calibri"/>
                  </a:rPr>
                  <a:t> narrative for HAND slide 16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912" y="676656"/>
                <a:ext cx="3462358" cy="292388"/>
              </a:xfrm>
              <a:prstGeom prst="rect">
                <a:avLst/>
              </a:prstGeom>
              <a:blipFill>
                <a:blip r:embed="rId3"/>
                <a:stretch>
                  <a:fillRect l="-365" t="-4167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438912" y="950976"/>
            <a:ext cx="11313871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 baseline="0">
                <a:latin typeface="Calibri"/>
              </a:rPr>
              <a:t>How does the wrong policy look season-by-season?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66973" y="6071616"/>
            <a:ext cx="4657749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1300" b="1" i="0" baseline="0" dirty="0">
                <a:latin typeface="Calibri"/>
              </a:rPr>
              <a:t>↓ Paste 𝙲𝙷𝙰𝚁_𝙿𝙳𝟸𝟶_𝙷𝙰𝙽𝙳</a:t>
            </a:r>
            <a:r>
              <a:rPr sz="1300" b="1" i="0" baseline="0" dirty="0">
                <a:latin typeface="Calibri"/>
              </a:rPr>
              <a:t> slide 16 immediately after this slide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4439766-50DD-733E-2553-B7A54EB03822}"/>
                  </a:ext>
                </a:extLst>
              </p:cNvPr>
              <p:cNvSpPr txBox="1"/>
              <p:nvPr/>
            </p:nvSpPr>
            <p:spPr>
              <a:xfrm>
                <a:off x="438912" y="1389888"/>
                <a:ext cx="11313871" cy="33354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r>
                  <a:rPr sz="1400" b="1" i="0" baseline="0" dirty="0">
                    <a:latin typeface="Calibri"/>
                  </a:rPr>
                  <a:t>Why this came up:</a:t>
                </a: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1400"/>
                  </a:spcAft>
                </a:pPr>
                <a:r>
                  <a:rPr sz="1700" b="0" i="0" baseline="0" dirty="0">
                    <a:latin typeface="Calibri"/>
                  </a:rPr>
                  <a:t>Season-by-season view of the contrast policy — mid-decade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700" b="0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700" b="0" i="0" baseline="0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700" b="0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sz="1700" b="0" i="0" baseline="0" dirty="0">
                    <a:latin typeface="Calibri"/>
                  </a:rPr>
                  <a:t> spike vs flat hero panel.</a:t>
                </a:r>
              </a:p>
              <a:p>
                <a:pPr>
                  <a:lnSpc>
                    <a:spcPct val="115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r>
                  <a:rPr sz="1400" b="1" i="0" baseline="0" dirty="0">
                    <a:latin typeface="Calibri"/>
                  </a:rPr>
                  <a:t>What we ran:</a:t>
                </a: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1400"/>
                  </a:spcAft>
                </a:pPr>
                <a:r>
                  <a:rPr sz="1700" b="0" i="0" baseline="0" dirty="0">
                    <a:latin typeface="Calibri"/>
                  </a:rPr>
                  <a:t>Per-season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700" b="0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700" b="0" i="0" baseline="0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700" b="0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sz="1700" b="0" i="0" baseline="0" dirty="0">
                    <a:latin typeface="Calibri"/>
                  </a:rPr>
                  <a:t> and empirical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700" b="0" i="0" baseline="0" dirty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</m:sSub>
                  </m:oMath>
                </a14:m>
                <a:r>
                  <a:rPr sz="1700" b="0" i="0" baseline="0" dirty="0">
                    <a:latin typeface="Calibri"/>
                  </a:rPr>
                  <a:t> under ppm0lt20 contrast policy.</a:t>
                </a:r>
              </a:p>
              <a:p>
                <a:pPr>
                  <a:lnSpc>
                    <a:spcPct val="115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r>
                  <a:rPr sz="1400" b="1" i="0" baseline="0" dirty="0">
                    <a:latin typeface="Calibri"/>
                  </a:rPr>
                  <a:t>What showed up:</a:t>
                </a: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1400"/>
                  </a:spcAft>
                </a:pPr>
                <a:r>
                  <a:rPr sz="1700" b="0" i="0" baseline="0" dirty="0">
                    <a:latin typeface="Calibri"/>
                  </a:rPr>
                  <a:t>Flat 2011–2014 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700" b="0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700" b="0" i="0" baseline="0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700" b="0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700" b="0" i="0" baseline="0" dirty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sz="1700" b="0" i="0" baseline="0" dirty="0">
                    <a:latin typeface="Calibri"/>
                  </a:rPr>
                  <a:t>, then 2014→2015 spike; co-moves with empirical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700" b="0" i="0" baseline="0" dirty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</m:sSub>
                  </m:oMath>
                </a14:m>
                <a:r>
                  <a:rPr sz="1700" b="0" i="0" baseline="0" dirty="0">
                    <a:latin typeface="Calibri"/>
                  </a:rPr>
                  <a:t>. Mean longitudinal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700" b="0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700" b="0" i="0" baseline="0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700" b="0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700" b="0" i="0" baseline="0" dirty="0">
                        <a:latin typeface="Cambria Math" panose="02040503050406030204" pitchFamily="18" charset="0"/>
                      </a:rPr>
                      <m:t>≈0.0484</m:t>
                    </m:r>
                  </m:oMath>
                </a14:m>
                <a:r>
                  <a:rPr sz="1700" b="0" i="0" baseline="0" dirty="0">
                    <a:latin typeface="Calibri"/>
                  </a:rPr>
                  <a:t> — not the flat all-zero hero panel (slide 14).</a:t>
                </a:r>
              </a:p>
              <a:p>
                <a:pPr>
                  <a:lnSpc>
                    <a:spcPct val="115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r>
                  <a:rPr sz="1400" b="1" i="0" baseline="0" dirty="0">
                    <a:latin typeface="Calibri"/>
                  </a:rPr>
                  <a:t>What you can say:</a:t>
                </a: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1400"/>
                  </a:spcAft>
                </a:pPr>
                <a:r>
                  <a:rPr lang="en-US" sz="1700" b="1" i="0" baseline="0" dirty="0">
                    <a:latin typeface="Calibri"/>
                  </a:rPr>
                  <a:t>"</a:t>
                </a:r>
                <a:r>
                  <a:rPr sz="1700" b="1" i="0" baseline="0" dirty="0">
                    <a:latin typeface="Calibri"/>
                  </a:rPr>
                  <a:t>Wrong policy, volatile season series — compare to the flat all-zero locked panel on slide 14.</a:t>
                </a:r>
                <a:r>
                  <a:rPr lang="en-US" sz="1700" b="1" i="0" baseline="0" dirty="0">
                    <a:latin typeface="Calibri"/>
                  </a:rPr>
                  <a:t>"</a:t>
                </a:r>
                <a:endParaRPr sz="1700" b="1" i="0" baseline="0" dirty="0">
                  <a:latin typeface="Calibri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4439766-50DD-733E-2553-B7A54EB038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912" y="1389888"/>
                <a:ext cx="11313871" cy="3335465"/>
              </a:xfrm>
              <a:prstGeom prst="rect">
                <a:avLst/>
              </a:prstGeom>
              <a:blipFill>
                <a:blip r:embed="rId4"/>
                <a:stretch>
                  <a:fillRect l="-336" b="-1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836318" y="1016250"/>
            <a:ext cx="8355682" cy="448229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84048" y="219456"/>
                <a:ext cx="9177321" cy="4001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en-US" sz="2000" b="1" dirty="0">
                    <a:latin typeface="Calibri"/>
                  </a:rPr>
                  <a:t>PD21 — Per-season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2000" b="1" i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000" b="1" dirty="0">
                    <a:latin typeface="Calibri"/>
                  </a:rPr>
                  <a:t> and empirical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1" i="0" dirty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</m:sSub>
                  </m:oMath>
                </a14:m>
                <a:r>
                  <a:rPr lang="en-US" sz="2000" b="1" dirty="0">
                    <a:latin typeface="Calibri"/>
                  </a:rPr>
                  <a:t> (contrast: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𝑝𝑝𝑚</m:t>
                    </m:r>
                    <m:r>
                      <a:rPr lang="en-US" sz="2000" b="1" i="0" dirty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000" b="1" i="1" dirty="0">
                        <a:latin typeface="Cambria Math" panose="02040503050406030204" pitchFamily="18" charset="0"/>
                      </a:rPr>
                      <m:t>𝑙𝑡</m:t>
                    </m:r>
                    <m:r>
                      <a:rPr lang="en-US" sz="2000" b="1" i="0" dirty="0"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lang="en-US" sz="2000" b="1" dirty="0">
                    <a:latin typeface="Calibri"/>
                  </a:rPr>
                  <a:t> — not for calibration)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219456"/>
                <a:ext cx="9177321" cy="400110"/>
              </a:xfrm>
              <a:prstGeom prst="rect">
                <a:avLst/>
              </a:prstGeom>
              <a:blipFill>
                <a:blip r:embed="rId3"/>
                <a:stretch>
                  <a:fillRect l="-692" t="-9375" r="-692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84048" y="713232"/>
                <a:ext cx="3986541" cy="24622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en-US" sz="1000" dirty="0">
                    <a:latin typeface="Calibri"/>
                  </a:rPr>
                  <a:t>PD21 · per-season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i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000" dirty="0">
                    <a:latin typeface="Calibri"/>
                  </a:rPr>
                  <a:t> vs empirical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000" i="0" dirty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</m:sSub>
                  </m:oMath>
                </a14:m>
                <a:r>
                  <a:rPr lang="en-US" sz="1000" dirty="0">
                    <a:latin typeface="Calibri"/>
                  </a:rPr>
                  <a:t> · 2011-2021 · contrast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𝑝𝑝𝑚</m:t>
                    </m:r>
                    <m:r>
                      <a:rPr lang="en-US" sz="1000" i="0" dirty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000" i="1" dirty="0">
                        <a:latin typeface="Cambria Math" panose="02040503050406030204" pitchFamily="18" charset="0"/>
                      </a:rPr>
                      <m:t>𝑙𝑡</m:t>
                    </m:r>
                    <m:r>
                      <a:rPr lang="en-US" sz="1000" i="0" dirty="0"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endParaRPr lang="en-US" sz="1000" dirty="0">
                  <a:latin typeface="Calibri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713232"/>
                <a:ext cx="3986541" cy="246221"/>
              </a:xfrm>
              <a:prstGeom prst="rect">
                <a:avLst/>
              </a:prstGeom>
              <a:blipFill>
                <a:blip r:embed="rId4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35366" y="1149319"/>
                <a:ext cx="3702454" cy="38709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Char char="•"/>
                </a:pPr>
                <a:r>
                  <a:rPr lang="en-US" sz="1000" dirty="0">
                    <a:latin typeface="Calibri"/>
                  </a:rPr>
                  <a:t> PD21 contrast (Aug 2026):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𝑝𝑝𝑚</m:t>
                    </m:r>
                    <m:r>
                      <a:rPr lang="en-US" sz="1000" i="0" dirty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000" i="1" dirty="0">
                        <a:latin typeface="Cambria Math" panose="02040503050406030204" pitchFamily="18" charset="0"/>
                      </a:rPr>
                      <m:t>𝑙𝑡</m:t>
                    </m:r>
                    <m:r>
                      <a:rPr lang="en-US" sz="1000" i="0" dirty="0"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lang="en-US" sz="1000" dirty="0">
                    <a:latin typeface="Calibri"/>
                  </a:rPr>
                  <a:t> panel — illustrative only; do not use for locked longitudinal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sz="1000" dirty="0">
                    <a:latin typeface="Calibri"/>
                  </a:rPr>
                  <a:t> calibration.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lang="en-US" sz="1000" dirty="0">
                    <a:latin typeface="Calibri"/>
                  </a:rPr>
                  <a:t>  Panel: 2011–2021 MBB · all roster rows kept · raw PPM</a:t>
                </a:r>
                <a14:m>
                  <m:oMath xmlns:m="http://schemas.openxmlformats.org/officeDocument/2006/math">
                    <m:r>
                      <a:rPr lang="en-US" sz="100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000" i="0" dirty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1000" dirty="0">
                    <a:latin typeface="Calibri"/>
                  </a:rPr>
                  <a:t> if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𝑚𝑖𝑛𝑢𝑡𝑒𝑠</m:t>
                    </m:r>
                  </m:oMath>
                </a14:m>
                <a:r>
                  <a:rPr lang="en-US" sz="100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1000" i="0" dirty="0"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lang="en-US" sz="1000" dirty="0">
                    <a:latin typeface="Calibri"/>
                  </a:rPr>
                  <a:t> · no roster caps — contrast / legacy estimand only.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lang="en-US" sz="1000" dirty="0">
                    <a:latin typeface="Calibri"/>
                  </a:rPr>
                  <a:t>  Red (left): per-season calibrated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i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000" dirty="0">
                    <a:latin typeface="Calibri"/>
                  </a:rPr>
                  <a:t>;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000" dirty="0">
                    <a:latin typeface="Calibri"/>
                  </a:rPr>
                  <a:t>      dotted red = mean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i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000" dirty="0">
                    <a:latin typeface="Calibri"/>
                  </a:rPr>
                  <a:t> (</a:t>
                </a:r>
                <a14:m>
                  <m:oMath xmlns:m="http://schemas.openxmlformats.org/officeDocument/2006/math">
                    <m:r>
                      <a:rPr lang="en-US" sz="1000" dirty="0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sz="1000" i="0" dirty="0">
                        <a:latin typeface="Cambria Math" panose="02040503050406030204" pitchFamily="18" charset="0"/>
                      </a:rPr>
                      <m:t>0.</m:t>
                    </m:r>
                    <m:r>
                      <a:rPr lang="en-US" sz="1000" b="0" i="0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000" i="0" dirty="0">
                        <a:latin typeface="Cambria Math" panose="02040503050406030204" pitchFamily="18" charset="0"/>
                      </a:rPr>
                      <m:t>47</m:t>
                    </m:r>
                    <m:r>
                      <a:rPr lang="en-US" sz="1000" b="0" i="0" dirty="0" smtClean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US" sz="1000" dirty="0">
                    <a:latin typeface="Calibri"/>
                  </a:rPr>
                  <a:t>). Open circles = hit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000" i="0" dirty="0"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</m:oMath>
                </a14:m>
                <a:r>
                  <a:rPr lang="en-US" sz="1000" dirty="0">
                    <a:latin typeface="Calibri"/>
                  </a:rPr>
                  <a:t> cap.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lang="en-US" sz="1000" dirty="0">
                    <a:latin typeface="Calibri"/>
                  </a:rPr>
                  <a:t>  Blue (right): empirical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000" i="0" dirty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</m:sSub>
                  </m:oMath>
                </a14:m>
                <a:r>
                  <a:rPr lang="en-US" sz="1000" dirty="0">
                    <a:latin typeface="Calibri"/>
                  </a:rPr>
                  <a:t> by season;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000" dirty="0">
                    <a:latin typeface="Calibri"/>
                  </a:rPr>
                  <a:t>      dotted blue = longitudinal mean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0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000" i="0" dirty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sz="1000" i="0" dirty="0">
                            <a:latin typeface="Cambria Math" panose="02040503050406030204" pitchFamily="18" charset="0"/>
                          </a:rPr>
                          <m:t>emp</m:t>
                        </m:r>
                      </m:sup>
                    </m:sSubSup>
                  </m:oMath>
                </a14:m>
                <a:r>
                  <a:rPr lang="en-US" sz="1000" dirty="0">
                    <a:latin typeface="Calibri"/>
                  </a:rPr>
                  <a:t> (</a:t>
                </a:r>
                <a14:m>
                  <m:oMath xmlns:m="http://schemas.openxmlformats.org/officeDocument/2006/math">
                    <m:r>
                      <a:rPr lang="en-US" sz="1000" dirty="0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sz="1000" i="0" dirty="0">
                        <a:latin typeface="Cambria Math" panose="02040503050406030204" pitchFamily="18" charset="0"/>
                      </a:rPr>
                      <m:t>0.</m:t>
                    </m:r>
                    <m:r>
                      <a:rPr lang="en-US" sz="1000" b="0" i="0" dirty="0" smtClean="0">
                        <a:latin typeface="Cambria Math" panose="02040503050406030204" pitchFamily="18" charset="0"/>
                      </a:rPr>
                      <m:t>065</m:t>
                    </m:r>
                  </m:oMath>
                </a14:m>
                <a:r>
                  <a:rPr lang="en-US" sz="1000" dirty="0">
                    <a:latin typeface="Calibri"/>
                  </a:rPr>
                  <a:t>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lang="en-US" sz="1000" dirty="0">
                    <a:latin typeface="Calibri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𝑠𝑜𝑟𝑡</m:t>
                        </m:r>
                      </m:sub>
                    </m:sSub>
                    <m:r>
                      <a:rPr lang="en-US" sz="1000" i="0" dirty="0">
                        <a:latin typeface="Cambria Math" panose="02040503050406030204" pitchFamily="18" charset="0"/>
                      </a:rPr>
                      <m:t>=1−</m:t>
                    </m:r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en-US" sz="10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sz="10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0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ˆ"/>
                                        <m:ctrlPr>
                                          <a:rPr lang="en-US" sz="1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000" i="1" dirty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000" i="1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000" i="0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ˆ"/>
                                        <m:ctrlPr>
                                          <a:rPr lang="en-US" sz="1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000" i="1" dirty="0">
                                            <a:latin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000" i="1" dirty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  <m:d>
                                      <m:dPr>
                                        <m:ctrlPr>
                                          <a:rPr lang="en-US" sz="1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000" i="1" dirty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sz="1000" i="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sz="1000" i="0" dirty="0">
                        <a:latin typeface="Cambria Math" panose="02040503050406030204" pitchFamily="18" charset="0"/>
                      </a:rPr>
                      <m:t>/</m:t>
                    </m:r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en-US" sz="10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sz="10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0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ˆ"/>
                                        <m:ctrlPr>
                                          <a:rPr lang="en-US" sz="1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000" i="1" dirty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000" i="1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000" i="0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sz="1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000" i="1" dirty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sz="1000" i="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sz="1000" dirty="0">
                    <a:latin typeface="Calibri"/>
                  </a:rPr>
                  <a:t>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000" dirty="0">
                    <a:latin typeface="Calibri"/>
                  </a:rPr>
                  <a:t>      — realized sorting on a fixed partition.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lang="en-US" sz="1000" dirty="0">
                    <a:latin typeface="Calibri"/>
                  </a:rPr>
                  <a:t>  201</a:t>
                </a:r>
                <a14:m>
                  <m:oMath xmlns:m="http://schemas.openxmlformats.org/officeDocument/2006/math">
                    <m:r>
                      <a:rPr lang="en-US" sz="1000" b="0" i="0" dirty="0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1000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000" dirty="0">
                    <a:latin typeface="Calibri"/>
                  </a:rPr>
                  <a:t>2015 per-season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i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000" dirty="0">
                    <a:latin typeface="Calibri"/>
                  </a:rPr>
                  <a:t>: </a:t>
                </a:r>
                <a14:m>
                  <m:oMath xmlns:m="http://schemas.openxmlformats.org/officeDocument/2006/math">
                    <m:r>
                      <a:rPr lang="en-US" sz="1000" dirty="0" smtClean="0">
                        <a:latin typeface="Cambria Math" panose="02040503050406030204" pitchFamily="18" charset="0"/>
                      </a:rPr>
                      <m:t>0.</m:t>
                    </m:r>
                    <m:r>
                      <a:rPr lang="en-US" sz="1000" b="0" i="0" dirty="0" smtClean="0">
                        <a:latin typeface="Cambria Math" panose="02040503050406030204" pitchFamily="18" charset="0"/>
                      </a:rPr>
                      <m:t>000</m:t>
                    </m:r>
                    <m:r>
                      <a:rPr lang="en-US" sz="1000" i="0" dirty="0">
                        <a:latin typeface="Cambria Math" panose="02040503050406030204" pitchFamily="18" charset="0"/>
                      </a:rPr>
                      <m:t>→0.</m:t>
                    </m:r>
                    <m:r>
                      <a:rPr lang="en-US" sz="1000" b="0" i="0" dirty="0" smtClean="0">
                        <a:latin typeface="Cambria Math" panose="02040503050406030204" pitchFamily="18" charset="0"/>
                      </a:rPr>
                      <m:t>184</m:t>
                    </m:r>
                  </m:oMath>
                </a14:m>
                <a:r>
                  <a:rPr lang="en-US" sz="1000" dirty="0">
                    <a:latin typeface="Calibri"/>
                  </a:rPr>
                  <a:t>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000" dirty="0">
                    <a:latin typeface="Calibri"/>
                  </a:rPr>
                  <a:t>      — mid-decade spike co-moves with empirical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𝑠𝑜𝑟𝑡</m:t>
                        </m:r>
                      </m:sub>
                    </m:sSub>
                  </m:oMath>
                </a14:m>
                <a:r>
                  <a:rPr lang="en-US" sz="1000" dirty="0">
                    <a:latin typeface="Calibri"/>
                  </a:rPr>
                  <a:t>;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000" dirty="0">
                    <a:latin typeface="Calibri"/>
                  </a:rPr>
                  <a:t>      not used for locked calibration.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lang="en-US" sz="1000" dirty="0">
                    <a:latin typeface="Calibri"/>
                  </a:rPr>
                  <a:t>  Pair with PD22 ESPN coverage backup slide (HAND20 slide 9) — roster-depth context for ppm0lt20; mid-decade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sz="1000" dirty="0">
                    <a:latin typeface="Calibri"/>
                  </a:rPr>
                  <a:t> spike is not the locked calibration estimand.</a:t>
                </a:r>
                <a:endParaRPr sz="1000" b="0" i="0" baseline="0" dirty="0">
                  <a:latin typeface="Calibri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366" y="1149319"/>
                <a:ext cx="3702454" cy="387099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0C222D3-03B9-E83A-EA0C-EC283EC4576D}"/>
                  </a:ext>
                </a:extLst>
              </p:cNvPr>
              <p:cNvSpPr txBox="1"/>
              <p:nvPr/>
            </p:nvSpPr>
            <p:spPr>
              <a:xfrm>
                <a:off x="384048" y="6089904"/>
                <a:ext cx="1142359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100" b="1" dirty="0"/>
                  <a:t>Claim (PD21 contrast): ppm0lt20 mid-decade per-season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100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100" b="1" i="1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100" b="1" i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100" b="1" dirty="0"/>
                  <a:t> spike (</a:t>
                </a:r>
                <a14:m>
                  <m:oMath xmlns:m="http://schemas.openxmlformats.org/officeDocument/2006/math">
                    <m:r>
                      <a:rPr lang="en-US" sz="1100" b="1" dirty="0" smtClean="0">
                        <a:latin typeface="Cambria Math" panose="02040503050406030204" pitchFamily="18" charset="0"/>
                      </a:rPr>
                      <m:t>2014</m:t>
                    </m:r>
                    <m:r>
                      <a:rPr lang="en-US" sz="1100" b="1" i="0" dirty="0" smtClean="0">
                        <a:latin typeface="Cambria Math" panose="02040503050406030204" pitchFamily="18" charset="0"/>
                      </a:rPr>
                      <m:t>→2015</m:t>
                    </m:r>
                  </m:oMath>
                </a14:m>
                <a:r>
                  <a:rPr lang="en-US" sz="1100" b="1" dirty="0"/>
                  <a:t>) co-moves with empirical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1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100" b="1" i="0" dirty="0" smtClean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</m:sSub>
                  </m:oMath>
                </a14:m>
                <a:r>
                  <a:rPr lang="en-US" sz="1100" b="1" dirty="0"/>
                  <a:t> — hero min-20 panel gives flat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100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100" b="1" i="1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100" b="1" i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100" b="1" dirty="0"/>
                  <a:t>; see PD22 ESPN coverage (HAND20 slide 9).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0C222D3-03B9-E83A-EA0C-EC283EC457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6089904"/>
                <a:ext cx="11423599" cy="261610"/>
              </a:xfrm>
              <a:prstGeom prst="rect">
                <a:avLst/>
              </a:prstGeom>
              <a:blipFill>
                <a:blip r:embed="rId6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37744"/>
            <a:ext cx="11313871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 baseline="0">
                <a:latin typeface="Calibri"/>
              </a:rPr>
              <a:t>Act IV — PD22: Policy deep dive + overlap reconciliation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804672"/>
            <a:ext cx="1131387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 baseline="0">
                <a:latin typeface="Calibri"/>
              </a:rPr>
              <a:t>Back to Q2 and Q3 with evidence slides — then lock the story.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38912" y="1316736"/>
                <a:ext cx="11313871" cy="22284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r>
                  <a:rPr sz="1400" b="1" i="0" baseline="0" dirty="0">
                    <a:latin typeface="Calibri"/>
                  </a:rPr>
                  <a:t>Slides 17–19:</a:t>
                </a: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1400"/>
                  </a:spcAft>
                </a:pPr>
                <a:r>
                  <a:rPr sz="1700" b="0" i="0" baseline="0" dirty="0">
                    <a:latin typeface="Calibri"/>
                  </a:rPr>
                  <a:t>Q2 mechanism: ability tails, bench-zero clustering, drop vs PPM-zero decision.</a:t>
                </a:r>
              </a:p>
              <a:p>
                <a:pPr>
                  <a:lnSpc>
                    <a:spcPct val="115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r>
                  <a:rPr sz="1400" b="1" i="0" baseline="0" dirty="0">
                    <a:latin typeface="Calibri"/>
                  </a:rPr>
                  <a:t>Slides 20–21:</a:t>
                </a: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1400"/>
                  </a:spcAft>
                </a:pPr>
                <a:r>
                  <a:rPr sz="1700" b="0" i="0" baseline="0" dirty="0">
                    <a:latin typeface="Calibri"/>
                  </a:rPr>
                  <a:t>Q3 reconciliation: overlap 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700" b="0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700" b="0" i="0" baseline="0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700" b="0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700" b="0" i="0" baseline="0" dirty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sz="1700" b="0" i="0" baseline="0" dirty="0">
                    <a:latin typeface="Calibri"/>
                  </a:rPr>
                  <a:t> for 2012 and 2013.</a:t>
                </a:r>
              </a:p>
              <a:p>
                <a:pPr>
                  <a:lnSpc>
                    <a:spcPct val="115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r>
                  <a:rPr sz="1400" b="1" i="0" baseline="0" dirty="0">
                    <a:latin typeface="Calibri"/>
                  </a:rPr>
                  <a:t>Next slides:</a:t>
                </a: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1400"/>
                  </a:spcAft>
                </a:pPr>
                <a:r>
                  <a:rPr sz="1700" b="0" i="0" baseline="0" dirty="0">
                    <a:latin typeface="Calibri"/>
                  </a:rPr>
                  <a:t>Five narrative companions (HAND 17–21).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912" y="1316736"/>
                <a:ext cx="11313871" cy="2228495"/>
              </a:xfrm>
              <a:prstGeom prst="rect">
                <a:avLst/>
              </a:prstGeom>
              <a:blipFill>
                <a:blip r:embed="rId2"/>
                <a:stretch>
                  <a:fillRect l="-336" b="-22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01168"/>
            <a:ext cx="11313871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 baseline="0">
                <a:latin typeface="Calibri"/>
              </a:rPr>
              <a:t>PPM-zero vs drop — ability distribution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76656"/>
            <a:ext cx="1131387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 baseline="0">
                <a:latin typeface="Calibri"/>
              </a:rPr>
              <a:t>Act IV — PD22 policy \text{---} narrative for HAND slide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50976"/>
            <a:ext cx="11313871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 baseline="0">
                <a:latin typeface="Calibri"/>
              </a:rPr>
              <a:t>How does the ability picture change under PPM-zero?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38912" y="1389888"/>
                <a:ext cx="11313871" cy="30084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r>
                  <a:rPr lang="en-US" sz="1400" b="1" i="0" baseline="0" dirty="0">
                    <a:latin typeface="Calibri"/>
                  </a:rPr>
                  <a:t>Why this came up</a:t>
                </a:r>
                <a:r>
                  <a:rPr sz="1400" b="1" i="0" baseline="0" dirty="0">
                    <a:latin typeface="Calibri"/>
                  </a:rPr>
                  <a:t>:</a:t>
                </a: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1400"/>
                  </a:spcAft>
                </a:pPr>
                <a:r>
                  <a:rPr sz="1700" b="0" i="0" baseline="0" dirty="0">
                    <a:latin typeface="Calibri"/>
                  </a:rPr>
                  <a:t>Q2 — zeros change ASSIGN inputs even if mean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b="0" i="0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b="0" i="0" baseline="0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700" b="0" i="0" baseline="0" dirty="0" smtClean="0">
                            <a:latin typeface="Cambria Math" panose="02040503050406030204" pitchFamily="18" charset="0"/>
                          </a:rPr>
                          <m:t>𝑠𝑜𝑟𝑡</m:t>
                        </m:r>
                      </m:sub>
                    </m:sSub>
                  </m:oMath>
                </a14:m>
                <a:r>
                  <a:rPr lang="en-US" sz="1700" b="0" i="0" baseline="0" dirty="0">
                    <a:latin typeface="Calibri"/>
                  </a:rPr>
                  <a:t> </a:t>
                </a:r>
                <a:r>
                  <a:rPr sz="1700" b="0" i="0" baseline="0" dirty="0">
                    <a:latin typeface="Calibri"/>
                  </a:rPr>
                  <a:t>barely moves.</a:t>
                </a:r>
              </a:p>
              <a:p>
                <a:pPr>
                  <a:lnSpc>
                    <a:spcPct val="115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r>
                  <a:rPr lang="en-US" sz="1400" b="1" i="0" baseline="0" dirty="0">
                    <a:latin typeface="Calibri"/>
                  </a:rPr>
                  <a:t>What we ran</a:t>
                </a:r>
                <a:r>
                  <a:rPr sz="1400" b="1" i="0" baseline="0" dirty="0">
                    <a:latin typeface="Calibri"/>
                  </a:rPr>
                  <a:t>:</a:t>
                </a: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1400"/>
                  </a:spcAft>
                </a:pPr>
                <a:r>
                  <a:rPr sz="1700" b="0" i="0" baseline="0" dirty="0">
                    <a:latin typeface="Calibri"/>
                  </a:rPr>
                  <a:t>Side-by-side ability histograms: drop sub-20 vs keep with PPM </a:t>
                </a:r>
                <a14:m>
                  <m:oMath xmlns:m="http://schemas.openxmlformats.org/officeDocument/2006/math">
                    <m:r>
                      <a:rPr lang="en-US" sz="1700" b="0" i="0" baseline="0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sz="1700" b="0" i="0" baseline="0" dirty="0">
                    <a:latin typeface="Calibri"/>
                  </a:rPr>
                  <a:t>.</a:t>
                </a:r>
              </a:p>
              <a:p>
                <a:pPr>
                  <a:lnSpc>
                    <a:spcPct val="115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r>
                  <a:rPr lang="en-US" sz="1400" b="1" i="0" baseline="0" dirty="0">
                    <a:latin typeface="Calibri"/>
                  </a:rPr>
                  <a:t>What showed up</a:t>
                </a:r>
                <a:r>
                  <a:rPr sz="1400" b="1" i="0" baseline="0" dirty="0">
                    <a:latin typeface="Calibri"/>
                  </a:rPr>
                  <a:t>:</a:t>
                </a: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1400"/>
                  </a:spcAft>
                </a:pPr>
                <a:r>
                  <a:rPr sz="1700" b="0" i="0" baseline="0" dirty="0">
                    <a:latin typeface="Calibri"/>
                  </a:rPr>
                  <a:t>PPM-zero adds ~13k bench rows and a large zero/low-</a:t>
                </a:r>
                <a14:m>
                  <m:oMath xmlns:m="http://schemas.openxmlformats.org/officeDocument/2006/math">
                    <m:r>
                      <a:rPr lang="en-US" sz="1700" b="0" i="0" baseline="0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1700" b="0" i="0" baseline="0" dirty="0">
                    <a:latin typeface="Calibri"/>
                  </a:rPr>
                  <a:t> tail drop removes entirely.</a:t>
                </a:r>
              </a:p>
              <a:p>
                <a:pPr>
                  <a:lnSpc>
                    <a:spcPct val="115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r>
                  <a:rPr lang="en-US" sz="1400" b="1" i="0" baseline="0" dirty="0">
                    <a:latin typeface="Calibri"/>
                  </a:rPr>
                  <a:t>What you can say</a:t>
                </a:r>
                <a:r>
                  <a:rPr sz="1400" b="1" i="0" baseline="0" dirty="0">
                    <a:latin typeface="Calibri"/>
                  </a:rPr>
                  <a:t>:</a:t>
                </a: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1400"/>
                  </a:spcAft>
                </a:pPr>
                <a:r>
                  <a:rPr lang="en-US" sz="1700" b="1" dirty="0"/>
                  <a:t>"PPM-zero reshapes the ability scale even when mean sorting barely moves — drop is cleaner input."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912" y="1389888"/>
                <a:ext cx="11313871" cy="3008452"/>
              </a:xfrm>
              <a:prstGeom prst="rect">
                <a:avLst/>
              </a:prstGeom>
              <a:blipFill>
                <a:blip r:embed="rId2"/>
                <a:stretch>
                  <a:fillRect l="-336" b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3766973" y="6071616"/>
            <a:ext cx="4657749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1300" b="1" i="0" baseline="0" dirty="0">
                <a:latin typeface="Calibri"/>
              </a:rPr>
              <a:t>↓ Paste 𝙲𝙷𝙰𝚁_𝙿𝙳𝟸𝟶_𝙷𝙰𝙽𝙳</a:t>
            </a:r>
            <a:r>
              <a:rPr sz="1300" b="1" i="0" baseline="0" dirty="0">
                <a:latin typeface="Calibri"/>
              </a:rPr>
              <a:t> slide 17 immediately after this slide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D22_ppm_zero_ability_distribution_2011_2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9191" y="885661"/>
            <a:ext cx="8027767" cy="484240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384048" y="219456"/>
            <a:ext cx="11423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 baseline="0" dirty="0">
                <a:latin typeface="Calibri"/>
              </a:rPr>
              <a:t>PD22 — ability under PPM-zero vs drop policy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84048" y="713232"/>
                <a:ext cx="4305987" cy="24622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1000" b="0" i="0" baseline="0" dirty="0">
                    <a:latin typeface="Calibri"/>
                  </a:rPr>
                  <a:t>PD22 item 6 · PPM-zero vs drop · 2011-2021 ·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12,977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bench rows at PPM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sz="1000" b="0" i="0" baseline="0" dirty="0">
                  <a:latin typeface="Calibri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713232"/>
                <a:ext cx="4305987" cy="246221"/>
              </a:xfrm>
              <a:prstGeom prst="rect">
                <a:avLst/>
              </a:prstGeom>
              <a:blipFill>
                <a:blip r:embed="rId3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65042" y="1449977"/>
                <a:ext cx="3634149" cy="33001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PD22 item 6: PPM-zero vs drop — raw PPM and ASSIGN ability (PPM z within season).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Box QC at panel build: drop dash-name placeholders; keep team-seasons with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≥11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distinct games in box (frozen CSV untouched).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Panel: 2011-2021 MBB · floor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=20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min.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Drop panel (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=46,306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): sub-20 rows removed at rebuild.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PPM-zero panel (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=59,283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):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12,977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rows (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0.2%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) forced to PPM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(min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&lt;20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Raw PPM spike: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13,180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rows at PPM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under PPM-zero.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ASSIGN below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z: drop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7,356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vs PPM-zero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14,028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; zeroed cohort median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−1.39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Left column = drop (PD21 default). Right column = PPM-zero alternative Alex flagged for induced homophily.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042" y="1449977"/>
                <a:ext cx="3634149" cy="3300134"/>
              </a:xfrm>
              <a:prstGeom prst="rect">
                <a:avLst/>
              </a:prstGeom>
              <a:blipFill>
                <a:blip r:embed="rId4"/>
                <a:stretch>
                  <a:fillRect b="-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384048" y="6089904"/>
            <a:ext cx="1142359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baseline="0" dirty="0">
                <a:latin typeface="Calibri"/>
              </a:rPr>
              <a:t>Claim (PD22): PPM-zero keeps bench players on roster at forced PPM = 0 — expect a zero-heavy ability distribution vs the min-20 drop panel; may inflate homophily if identical zeros cluster on teams.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01168"/>
            <a:ext cx="4551567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 baseline="0" dirty="0">
                <a:latin typeface="Calibri"/>
              </a:rPr>
              <a:t>Bench-zero clustering vs </a:t>
            </a:r>
            <a:r>
              <a:rPr lang="en-US" sz="2600" b="1" i="0" baseline="0" dirty="0">
                <a:latin typeface="Calibri"/>
              </a:rPr>
              <a:t>𝐻_sort</a:t>
            </a:r>
            <a:endParaRPr sz="2600" b="1" i="0" baseline="0" dirty="0"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38912" y="676656"/>
            <a:ext cx="1131387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 baseline="0">
                <a:latin typeface="Calibri"/>
              </a:rPr>
              <a:t>Act IV — PD22 policy \text{---} narrative for HAND slide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50976"/>
            <a:ext cx="11313871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 baseline="0">
                <a:latin typeface="Calibri"/>
              </a:rPr>
              <a:t>Do identical bench zeros mechanically inflate sorting?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38912" y="1389888"/>
                <a:ext cx="11313871" cy="33347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r>
                  <a:rPr lang="en-US" sz="1400" b="1" i="0" baseline="0" dirty="0">
                    <a:latin typeface="Calibri"/>
                  </a:rPr>
                  <a:t>Why this came up</a:t>
                </a:r>
                <a:r>
                  <a:rPr sz="1400" b="1" i="0" baseline="0" dirty="0">
                    <a:latin typeface="Calibri"/>
                  </a:rPr>
                  <a:t>:</a:t>
                </a: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1400"/>
                  </a:spcAft>
                </a:pPr>
                <a:r>
                  <a:rPr sz="1700" b="0" i="0" baseline="0" dirty="0">
                    <a:latin typeface="Calibri"/>
                  </a:rPr>
                  <a:t>Alex's worry: zeros pile on deep benches and fake homophily.</a:t>
                </a:r>
              </a:p>
              <a:p>
                <a:pPr>
                  <a:lnSpc>
                    <a:spcPct val="115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r>
                  <a:rPr lang="en-US" sz="1400" b="1" i="0" baseline="0" dirty="0">
                    <a:latin typeface="Calibri"/>
                  </a:rPr>
                  <a:t>What we ran</a:t>
                </a:r>
                <a:r>
                  <a:rPr sz="1400" b="1" i="0" baseline="0" dirty="0">
                    <a:latin typeface="Calibri"/>
                  </a:rPr>
                  <a:t>:</a:t>
                </a: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1400"/>
                  </a:spcAft>
                </a:pPr>
                <a:r>
                  <a:rPr sz="1700" b="0" i="0" baseline="0" dirty="0">
                    <a:latin typeface="Calibri"/>
                  </a:rPr>
                  <a:t>Correlate bench-zero share with empirical </a:t>
                </a:r>
                <a:r>
                  <a:rPr lang="en-US" sz="1700" b="0" i="0" baseline="0" dirty="0">
                    <a:latin typeface="Calibri"/>
                  </a:rPr>
                  <a:t>𝐻_sort</a:t>
                </a:r>
                <a:r>
                  <a:rPr sz="1700" b="0" i="0" baseline="0" dirty="0">
                    <a:latin typeface="Calibri"/>
                  </a:rPr>
                  <a:t>; all-zero team sanity check.</a:t>
                </a:r>
              </a:p>
              <a:p>
                <a:pPr>
                  <a:lnSpc>
                    <a:spcPct val="115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r>
                  <a:rPr lang="en-US" sz="1400" b="1" i="0" baseline="0" dirty="0">
                    <a:latin typeface="Calibri"/>
                  </a:rPr>
                  <a:t>What showed up</a:t>
                </a:r>
                <a:r>
                  <a:rPr sz="1400" b="1" i="0" baseline="0" dirty="0">
                    <a:latin typeface="Calibri"/>
                  </a:rPr>
                  <a:t>:</a:t>
                </a: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1400"/>
                  </a:spcAft>
                </a:pPr>
                <a:r>
                  <a:rPr sz="1700" b="0" i="0" baseline="0" dirty="0">
                    <a:latin typeface="Calibri"/>
                  </a:rPr>
                  <a:t>No all-zero team-seasons; bench zeros do not move league mean </a:t>
                </a:r>
                <a:r>
                  <a:rPr lang="en-US" sz="1700" b="0" i="0" baseline="0" dirty="0">
                    <a:latin typeface="Calibri"/>
                  </a:rPr>
                  <a:t>𝐻_sort </a:t>
                </a:r>
                <a:r>
                  <a:rPr sz="1700" b="0" i="0" baseline="0" dirty="0">
                    <a:latin typeface="Calibri"/>
                  </a:rPr>
                  <a:t>much on locked panel — but ability picture still favors drop.</a:t>
                </a:r>
              </a:p>
              <a:p>
                <a:pPr>
                  <a:lnSpc>
                    <a:spcPct val="115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r>
                  <a:rPr lang="en-US" sz="1400" b="1" i="0" baseline="0" dirty="0">
                    <a:latin typeface="Calibri"/>
                  </a:rPr>
                  <a:t>What you can say</a:t>
                </a:r>
                <a:r>
                  <a:rPr sz="1400" b="1" i="0" baseline="0" dirty="0">
                    <a:latin typeface="Calibri"/>
                  </a:rPr>
                  <a:t>:</a:t>
                </a: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1400"/>
                  </a:spcAft>
                </a:pPr>
                <a:r>
                  <a:rPr lang="en-US" sz="1700" b="1" dirty="0"/>
                  <a:t>"Bench zeros do not blow up league mean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b="1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700" b="1" i="0" dirty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</m:sSub>
                  </m:oMath>
                </a14:m>
                <a:r>
                  <a:rPr lang="en-US" sz="1700" b="1" dirty="0"/>
                  <a:t> here — but the ability picture still favors drop; see the decision slide next."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912" y="1389888"/>
                <a:ext cx="11313871" cy="3334759"/>
              </a:xfrm>
              <a:prstGeom prst="rect">
                <a:avLst/>
              </a:prstGeom>
              <a:blipFill>
                <a:blip r:embed="rId2"/>
                <a:stretch>
                  <a:fillRect l="-336" r="-448" b="-1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3766973" y="6071616"/>
            <a:ext cx="4657749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1300" b="1" i="0" baseline="0" dirty="0">
                <a:latin typeface="Calibri"/>
              </a:rPr>
              <a:t>↓ Paste 𝙲𝙷𝙰𝚁_𝙿𝙳𝟸𝟶_𝙷𝙰𝙽𝙳</a:t>
            </a:r>
            <a:r>
              <a:rPr sz="1300" b="1" i="0" baseline="0" dirty="0">
                <a:latin typeface="Calibri"/>
              </a:rPr>
              <a:t> slide 18 immediately after this slide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219456"/>
            <a:ext cx="11423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 baseline="0">
                <a:latin typeface="Calibri"/>
              </a:rPr>
              <a:t>PD22 — bench-zero clustering vs empirical sorting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84048" y="713232"/>
                <a:ext cx="3737946" cy="24622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1000" b="0" i="0" baseline="0" dirty="0">
                    <a:latin typeface="Calibri"/>
                  </a:rPr>
                  <a:t>PD22 item 8 · bench zeros vs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· 2011-2021 ·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mean =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0.0010</m:t>
                    </m:r>
                  </m:oMath>
                </a14:m>
                <a:endParaRPr sz="1000" b="0" i="0" baseline="0" dirty="0">
                  <a:latin typeface="Calibri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713232"/>
                <a:ext cx="3737946" cy="246221"/>
              </a:xfrm>
              <a:prstGeom prst="rect">
                <a:avLst/>
              </a:prstGeom>
              <a:blipFill>
                <a:blip r:embed="rId2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PD22_ppm_zero_hsort_mechanism_2011_20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4096" y="1051560"/>
            <a:ext cx="9063502" cy="395020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84047" y="5001768"/>
                <a:ext cx="11423599" cy="11695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PD22 item 8: bench-zero share vs within-team dispersion; season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drop vs PPM-zero.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Box QC at panel build: drop dash-name placeholders; keep team-seasons with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≥11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distinct games in box (frozen CSV untouched).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Panel: 2011-2021 MBB · PPM-zero floor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=20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min.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Team-season scatter: </a:t>
                </a:r>
                <a:r>
                  <a:rPr sz="1000" b="0" i="0" baseline="0" dirty="0" err="1">
                    <a:latin typeface="Calibri"/>
                  </a:rPr>
                  <a:t>corr</a:t>
                </a:r>
                <a:r>
                  <a:rPr sz="1000" b="0" i="0" baseline="0" dirty="0">
                    <a:latin typeface="Calibri"/>
                  </a:rPr>
                  <a:t>(zero fraction, within-team perf std)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=0.534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(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3,842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team-seasons).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Mean empirical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: drop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=0.0642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vs PPM-zero = $0.0653$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mean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=0.0010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).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Teams with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half roster zeroed: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74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Left: more bench zeros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lower within-team dispersion (identical zeroed cohort). Right: season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under both panel policies.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7" y="5001768"/>
                <a:ext cx="11423599" cy="1169551"/>
              </a:xfrm>
              <a:prstGeom prst="rect">
                <a:avLst/>
              </a:prstGeom>
              <a:blipFill>
                <a:blip r:embed="rId4"/>
                <a:stretch>
                  <a:fillRect t="-1087" b="-2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84048" y="6208312"/>
                <a:ext cx="1142359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100" b="1" i="0" baseline="0" dirty="0">
                    <a:latin typeface="Calibri"/>
                  </a:rPr>
                  <a:t>Claim (PD22): PPM-zero piles identical bench abilities on rosters — check whether that mechanically inflates empirical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1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</m:sSub>
                  </m:oMath>
                </a14:m>
                <a:r>
                  <a:rPr sz="1100" b="1" i="0" baseline="0" dirty="0">
                    <a:latin typeface="Calibri"/>
                  </a:rPr>
                  <a:t> vs drop-at-20.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6208312"/>
                <a:ext cx="11423599" cy="261610"/>
              </a:xfrm>
              <a:prstGeom prst="rect">
                <a:avLst/>
              </a:prstGeom>
              <a:blipFill>
                <a:blip r:embed="rId5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01168"/>
            <a:ext cx="11313871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 baseline="0">
                <a:latin typeface="Calibri"/>
              </a:rPr>
              <a:t>Panel policy — drop vs PPM-zero at min 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76656"/>
            <a:ext cx="1131387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 baseline="0">
                <a:latin typeface="Calibri"/>
              </a:rPr>
              <a:t>Act IV — PD22 policy \text{---} narrative for HAND slide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50976"/>
            <a:ext cx="1131387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 baseline="0" dirty="0">
                <a:latin typeface="Calibri"/>
              </a:rPr>
              <a:t>Which policy do we lock for the hero panel and </a:t>
            </a:r>
            <a:r>
              <a:rPr lang="en-US" sz="1400" b="0" i="0" baseline="0" dirty="0">
                <a:latin typeface="Calibri"/>
              </a:rPr>
              <a:t>𝜌</a:t>
            </a:r>
            <a:r>
              <a:rPr sz="1400" b="0" i="0" baseline="0" dirty="0">
                <a:latin typeface="Calibri"/>
              </a:rPr>
              <a:t> calibration?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38912" y="1389888"/>
                <a:ext cx="11313871" cy="30088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r>
                  <a:rPr lang="en-US" sz="1400" b="1" i="0" baseline="0" dirty="0">
                    <a:latin typeface="Calibri"/>
                  </a:rPr>
                  <a:t>Why this came up</a:t>
                </a:r>
                <a:r>
                  <a:rPr sz="1400" b="1" i="0" baseline="0" dirty="0">
                    <a:latin typeface="Calibri"/>
                  </a:rPr>
                  <a:t>:</a:t>
                </a: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1400"/>
                  </a:spcAft>
                </a:pPr>
                <a:r>
                  <a:rPr lang="en-US" sz="1700" dirty="0"/>
                  <a:t>Q2 decision slide — one clear policy before citing slide 14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7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700" i="1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700" i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700" dirty="0"/>
                  <a:t>.</a:t>
                </a:r>
              </a:p>
              <a:p>
                <a:pPr>
                  <a:lnSpc>
                    <a:spcPct val="115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r>
                  <a:rPr lang="en-US" sz="1400" b="1" i="0" baseline="0" dirty="0">
                    <a:latin typeface="Calibri"/>
                  </a:rPr>
                  <a:t>What we ran</a:t>
                </a:r>
                <a:r>
                  <a:rPr sz="1400" b="1" i="0" baseline="0" dirty="0">
                    <a:latin typeface="Calibri"/>
                  </a:rPr>
                  <a:t>:</a:t>
                </a: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1400"/>
                  </a:spcAft>
                </a:pPr>
                <a:r>
                  <a:rPr sz="1700" b="0" i="0" baseline="0" dirty="0">
                    <a:latin typeface="Calibri"/>
                  </a:rPr>
                  <a:t>Side-by-side bracket summary: drop vs PPM-zero on post-QC panel at min 20.</a:t>
                </a:r>
              </a:p>
              <a:p>
                <a:pPr>
                  <a:lnSpc>
                    <a:spcPct val="115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r>
                  <a:rPr lang="en-US" sz="1400" b="1" i="0" baseline="0" dirty="0">
                    <a:latin typeface="Calibri"/>
                  </a:rPr>
                  <a:t>What showed up</a:t>
                </a:r>
                <a:r>
                  <a:rPr sz="1400" b="1" i="0" baseline="0" dirty="0">
                    <a:latin typeface="Calibri"/>
                  </a:rPr>
                  <a:t>:</a:t>
                </a: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14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700" i="0" dirty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</m:sSub>
                  </m:oMath>
                </a14:m>
                <a:r>
                  <a:rPr lang="en-US" sz="1700" dirty="0"/>
                  <a:t>: 0.064 vs 0.065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700" dirty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1700" i="0" dirty="0">
                        <a:latin typeface="Cambria Math" panose="02040503050406030204" pitchFamily="18" charset="0"/>
                      </a:rPr>
                      <m:t>≈0.001</m:t>
                    </m:r>
                  </m:oMath>
                </a14:m>
                <a:r>
                  <a:rPr lang="en-US" sz="1700" dirty="0"/>
                  <a:t>). Drop wins — slide 14 already used this policy.</a:t>
                </a:r>
              </a:p>
              <a:p>
                <a:pPr>
                  <a:lnSpc>
                    <a:spcPct val="115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r>
                  <a:rPr lang="en-US" sz="1400" b="1" i="0" baseline="0" dirty="0">
                    <a:latin typeface="Calibri"/>
                  </a:rPr>
                  <a:t>What you can say</a:t>
                </a:r>
                <a:r>
                  <a:rPr sz="1400" b="1" i="0" baseline="0" dirty="0">
                    <a:latin typeface="Calibri"/>
                  </a:rPr>
                  <a:t>:</a:t>
                </a: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1400"/>
                  </a:spcAft>
                </a:pPr>
                <a:r>
                  <a:rPr lang="en-US" sz="1700" b="1" dirty="0"/>
                  <a:t>"Drop at 20 is locked — slide 14 already used it; no </a:t>
                </a:r>
                <a14:m>
                  <m:oMath xmlns:m="http://schemas.openxmlformats.org/officeDocument/2006/math">
                    <m:r>
                      <a:rPr lang="en-US" sz="1700" b="1" i="1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sz="1700" b="1" dirty="0"/>
                  <a:t> re-run for drop-vs-zero."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912" y="1389888"/>
                <a:ext cx="11313871" cy="3008837"/>
              </a:xfrm>
              <a:prstGeom prst="rect">
                <a:avLst/>
              </a:prstGeom>
              <a:blipFill>
                <a:blip r:embed="rId2"/>
                <a:stretch>
                  <a:fillRect l="-336" b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3766973" y="6071616"/>
            <a:ext cx="4657749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1300" b="1" i="0" baseline="0" dirty="0">
                <a:latin typeface="Calibri"/>
              </a:rPr>
              <a:t>↓ Paste 𝙲𝙷𝙰𝚁_𝙿𝙳𝟸𝟶_𝙷𝙰𝙽𝙳</a:t>
            </a:r>
            <a:r>
              <a:rPr sz="1300" b="1" i="0" baseline="0" dirty="0">
                <a:latin typeface="Calibri"/>
              </a:rPr>
              <a:t> slide 19 immediately after this slide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438912" y="201168"/>
                <a:ext cx="5757602" cy="492443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2600" b="1" i="0" baseline="0" dirty="0">
                    <a:latin typeface="Calibri"/>
                  </a:rPr>
                  <a:t>Interval overlap — season 2012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600" b="1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b="1" i="0" baseline="0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2600" b="1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600" b="1" i="0" baseline="0" dirty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sz="2600" b="1" i="0" baseline="0" dirty="0">
                    <a:latin typeface="Calibri"/>
                  </a:rPr>
                  <a:t>)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912" y="201168"/>
                <a:ext cx="5757602" cy="492443"/>
              </a:xfrm>
              <a:prstGeom prst="rect">
                <a:avLst/>
              </a:prstGeom>
              <a:blipFill>
                <a:blip r:embed="rId2"/>
                <a:stretch>
                  <a:fillRect l="-1982" t="-10000" r="-1101" b="-3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438912" y="676656"/>
            <a:ext cx="1131387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 baseline="0">
                <a:latin typeface="Calibri"/>
              </a:rPr>
              <a:t>Act IV — PD22 overlap \text{---} narrative for HAND slide 20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38912" y="950976"/>
                <a:ext cx="11313871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sz="1400" b="0" i="0" baseline="0" dirty="0">
                    <a:latin typeface="Calibri"/>
                  </a:rPr>
                  <a:t>Why do overlap plots look sorted when bracket says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b="0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b="0" i="0" baseline="0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400" b="0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400" b="0" i="0" baseline="0" dirty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sz="1400" b="0" i="0" baseline="0" dirty="0">
                    <a:latin typeface="Calibri"/>
                  </a:rPr>
                  <a:t>?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912" y="950976"/>
                <a:ext cx="11313871" cy="307777"/>
              </a:xfrm>
              <a:prstGeom prst="rect">
                <a:avLst/>
              </a:prstGeom>
              <a:blipFill>
                <a:blip r:embed="rId3"/>
                <a:stretch>
                  <a:fillRect l="-112" t="-4000" b="-2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38912" y="1389888"/>
                <a:ext cx="11313871" cy="30084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r>
                  <a:rPr sz="1400" b="1" i="0" baseline="0" dirty="0">
                    <a:latin typeface="Calibri"/>
                  </a:rPr>
                  <a:t>Why this came up:</a:t>
                </a: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1400"/>
                  </a:spcAft>
                </a:pPr>
                <a:r>
                  <a:rPr sz="1700" b="0" i="0" baseline="0" dirty="0">
                    <a:latin typeface="Calibri"/>
                  </a:rPr>
                  <a:t>Q3 — reconcile the calibration number with what the overlap figures show.</a:t>
                </a:r>
              </a:p>
              <a:p>
                <a:pPr>
                  <a:lnSpc>
                    <a:spcPct val="115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r>
                  <a:rPr sz="1400" b="1" i="0" baseline="0" dirty="0">
                    <a:latin typeface="Calibri"/>
                  </a:rPr>
                  <a:t>What we ran:</a:t>
                </a: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1400"/>
                  </a:spcAft>
                </a:pPr>
                <a:r>
                  <a:rPr sz="1700" b="0" i="0" baseline="0" dirty="0">
                    <a:latin typeface="Calibri"/>
                  </a:rPr>
                  <a:t>Single-season talent-window overlap on locked panel, 2012.</a:t>
                </a:r>
              </a:p>
              <a:p>
                <a:pPr>
                  <a:lnSpc>
                    <a:spcPct val="115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r>
                  <a:rPr sz="1400" b="1" i="0" baseline="0" dirty="0">
                    <a:latin typeface="Calibri"/>
                  </a:rPr>
                  <a:t>What showed up:</a:t>
                </a: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1400"/>
                  </a:spcAft>
                </a:pPr>
                <a14:m>
                  <m:oMath xmlns:m="http://schemas.openxmlformats.org/officeDocument/2006/math">
                    <m:r>
                      <a:rPr lang="en-US" sz="1700" b="0" i="0" baseline="0" dirty="0" smtClean="0">
                        <a:latin typeface="Cambria Math" panose="02040503050406030204" pitchFamily="18" charset="0"/>
                      </a:rPr>
                      <m:t>89%</m:t>
                    </m:r>
                  </m:oMath>
                </a14:m>
                <a:r>
                  <a:rPr sz="1700" b="0" i="0" baseline="0" dirty="0">
                    <a:latin typeface="Calibri"/>
                  </a:rPr>
                  <a:t> of talent grid has </a:t>
                </a:r>
                <a14:m>
                  <m:oMath xmlns:m="http://schemas.openxmlformats.org/officeDocument/2006/math">
                    <m:r>
                      <a:rPr lang="en-US" sz="1700" b="0" i="0" baseline="0" dirty="0" smtClean="0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sz="1700" b="0" i="0" baseline="0" dirty="0">
                    <a:latin typeface="Calibri"/>
                  </a:rPr>
                  <a:t> team covering the same ability bin — massive stacking.</a:t>
                </a:r>
              </a:p>
              <a:p>
                <a:pPr>
                  <a:lnSpc>
                    <a:spcPct val="115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r>
                  <a:rPr sz="1400" b="1" i="0" baseline="0" dirty="0">
                    <a:latin typeface="Calibri"/>
                  </a:rPr>
                  <a:t>What you can say:</a:t>
                </a: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1400"/>
                  </a:spcAft>
                </a:pPr>
                <a:r>
                  <a:rPr lang="en-US" sz="1700" b="1" i="0" baseline="0" dirty="0">
                    <a:latin typeface="Calibri"/>
                  </a:rPr>
                  <a:t>"</a:t>
                </a:r>
                <a:r>
                  <a:rPr sz="1700" b="1" i="0" baseline="0" dirty="0">
                    <a:latin typeface="Calibri"/>
                  </a:rPr>
                  <a:t>Overlap is roster geometry; bracket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700" b="1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700" b="1" i="0" baseline="0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700" b="1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sz="1700" b="1" i="0" baseline="0" dirty="0">
                    <a:latin typeface="Calibri"/>
                  </a:rPr>
                  <a:t> is sim fit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b="1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b="1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700" b="1" i="0" baseline="0" dirty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</m:sSub>
                  </m:oMath>
                </a14:m>
                <a:r>
                  <a:rPr sz="1700" b="1" i="0" baseline="0" dirty="0">
                    <a:latin typeface="Calibri"/>
                  </a:rPr>
                  <a:t> — different questions, both valid.</a:t>
                </a:r>
                <a:r>
                  <a:rPr lang="en-US" sz="1700" b="1" i="0" baseline="0" dirty="0">
                    <a:latin typeface="Calibri"/>
                  </a:rPr>
                  <a:t>"</a:t>
                </a:r>
                <a:endParaRPr sz="1700" b="1" i="0" baseline="0" dirty="0">
                  <a:latin typeface="Calibri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912" y="1389888"/>
                <a:ext cx="11313871" cy="3008452"/>
              </a:xfrm>
              <a:prstGeom prst="rect">
                <a:avLst/>
              </a:prstGeom>
              <a:blipFill>
                <a:blip r:embed="rId4"/>
                <a:stretch>
                  <a:fillRect l="-336" b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3766973" y="6071616"/>
            <a:ext cx="4657749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1300" b="1" i="0" baseline="0" dirty="0">
                <a:latin typeface="Calibri"/>
              </a:rPr>
              <a:t>↓ Paste 𝙲𝙷𝙰𝚁_𝙿𝙳𝟸𝟶_𝙷𝙰𝙽𝙳</a:t>
            </a:r>
            <a:r>
              <a:rPr sz="1300" b="1" i="0" baseline="0" dirty="0">
                <a:latin typeface="Calibri"/>
              </a:rPr>
              <a:t> slide 20 immediately after this slide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D22_panel_policy_compare_2011_2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9924" y="1023477"/>
            <a:ext cx="7307627" cy="4719605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384048" y="219456"/>
            <a:ext cx="11423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 baseline="0">
                <a:latin typeface="Calibri"/>
              </a:rPr>
              <a:t>PD22 — panel policy: drop vs PPM-zero at min 20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84048" y="713232"/>
                <a:ext cx="4197111" cy="24622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1000" b="0" i="0" baseline="0" dirty="0">
                    <a:latin typeface="Calibri"/>
                  </a:rPr>
                  <a:t>PD22 item 9 · policy compare · 2011-2021 ·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sz="1000" b="0" i="0" baseline="0" dirty="0">
                    <a:latin typeface="Calibri"/>
                  </a:rPr>
                  <a:t> drop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0.000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vs PPM-zero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0.570</m:t>
                    </m:r>
                  </m:oMath>
                </a14:m>
                <a:endParaRPr sz="1000" b="0" i="0" baseline="0" dirty="0">
                  <a:latin typeface="Calibri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713232"/>
                <a:ext cx="4197111" cy="246221"/>
              </a:xfrm>
              <a:prstGeom prst="rect">
                <a:avLst/>
              </a:prstGeom>
              <a:blipFill>
                <a:blip r:embed="rId3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58184" y="1461860"/>
                <a:ext cx="4905350" cy="4281222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PD22 item 9: panel policy compare at min 20 — drop (PD21 default) vs PPM-zero.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Box QC at panel build: drop dash-name placeholders; </a:t>
                </a:r>
                <a:endParaRPr lang="en-US" sz="1000" b="0" i="0" baseline="0" dirty="0">
                  <a:latin typeface="Calibri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1000" dirty="0">
                    <a:latin typeface="Calibri"/>
                  </a:rPr>
                  <a:t>      </a:t>
                </a:r>
                <a:r>
                  <a:rPr sz="1000" b="0" i="0" baseline="0" dirty="0">
                    <a:latin typeface="Calibri"/>
                  </a:rPr>
                  <a:t>keep team-seasons with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≥11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distinct games in box (frozen CSV untouched).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Panel: 2011-2021 MBB · floor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=20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min.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Longitudinal bracket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sz="1000" b="0" i="0" baseline="0" dirty="0">
                    <a:latin typeface="Calibri"/>
                  </a:rPr>
                  <a:t>: drop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=0.000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</a:t>
                </a:r>
                <a:endParaRPr lang="en-US" sz="1000" b="0" i="0" baseline="0" dirty="0">
                  <a:latin typeface="Calibri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1000" dirty="0">
                    <a:latin typeface="Calibri"/>
                  </a:rPr>
                  <a:t>      </a:t>
                </a:r>
                <a:r>
                  <a:rPr sz="1000" b="0" i="0" baseline="0" dirty="0">
                    <a:latin typeface="Calibri"/>
                  </a:rPr>
                  <a:t>vs PPM-zero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=0.570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(legacy JSON — pre-box-QC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target).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Empirical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mean (current panel, item 8): drop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=0.0642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</a:t>
                </a:r>
                <a:endParaRPr lang="en-US" sz="1000" b="0" i="0" baseline="0" dirty="0">
                  <a:latin typeface="Calibri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1000" dirty="0">
                    <a:latin typeface="Calibri"/>
                  </a:rPr>
                  <a:t>      </a:t>
                </a:r>
                <a:r>
                  <a:rPr sz="1000" b="0" i="0" baseline="0" dirty="0">
                    <a:latin typeface="Calibri"/>
                  </a:rPr>
                  <a:t>vs PPM-zero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=0.0653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=0.0010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Seasons with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: drop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/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vs PPM-zero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Recommendation: </a:t>
                </a:r>
                <a:r>
                  <a:rPr sz="1000" b="1" i="0" baseline="0" dirty="0">
                    <a:latin typeface="Calibri"/>
                  </a:rPr>
                  <a:t>drop</a:t>
                </a:r>
                <a:r>
                  <a:rPr sz="1000" b="0" i="0" baseline="0" dirty="0">
                    <a:latin typeface="Calibri"/>
                  </a:rPr>
                  <a:t> — PPM-zero inflates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sz="1000" b="0" i="0" baseline="0" dirty="0">
                    <a:latin typeface="Calibri"/>
                  </a:rPr>
                  <a:t> without proportional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gain;</a:t>
                </a:r>
                <a:endParaRPr lang="en-US" sz="1000" b="0" i="0" baseline="0" dirty="0">
                  <a:latin typeface="Calibri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1000" dirty="0">
                    <a:latin typeface="Calibri"/>
                  </a:rPr>
                  <a:t>      </a:t>
                </a:r>
                <a:r>
                  <a:rPr sz="1000" b="0" i="0" baseline="0" dirty="0">
                    <a:latin typeface="Calibri"/>
                  </a:rPr>
                  <a:t>partial shrinkage not pursued.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Top: per-season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sz="1000" b="0" i="0" baseline="0" dirty="0">
                    <a:latin typeface="Calibri"/>
                  </a:rPr>
                  <a:t>. Bottom: empirical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(items 6–8 context).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184" y="1461860"/>
                <a:ext cx="4905350" cy="428122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84048" y="6089904"/>
                <a:ext cx="1142359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100" b="1" i="0" baseline="0" dirty="0">
                    <a:latin typeface="Calibri"/>
                  </a:rPr>
                  <a:t>Claim (PD22): At min 20, drop vs PPM-zero — bracket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100" b="1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sz="1100" b="1" i="0" baseline="0" dirty="0">
                    <a:latin typeface="Calibri"/>
                  </a:rPr>
                  <a:t> and empirical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1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</m:sSub>
                  </m:oMath>
                </a14:m>
                <a:r>
                  <a:rPr sz="1100" b="1" i="0" baseline="0" dirty="0">
                    <a:latin typeface="Calibri"/>
                  </a:rPr>
                  <a:t> decide which panel policy enters PD21 calibration.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6089904"/>
                <a:ext cx="11423599" cy="261610"/>
              </a:xfrm>
              <a:prstGeom prst="rect">
                <a:avLst/>
              </a:prstGeom>
              <a:blipFill>
                <a:blip r:embed="rId5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850394" y="996628"/>
            <a:ext cx="7059602" cy="5472492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384048" y="219456"/>
            <a:ext cx="11423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 baseline="0">
                <a:latin typeface="Calibri"/>
              </a:rPr>
              <a:t>PD22 — team interval overlap · season 2012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84048" y="713232"/>
                <a:ext cx="5225598" cy="24622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1000" b="0" i="0" baseline="0" dirty="0">
                    <a:latin typeface="Calibri"/>
                  </a:rPr>
                  <a:t>PD22 item 10 · season 2012 · min 20 min drop panel · 345 team-seasons ·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</m:sSub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=0.071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·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sz="1000" b="0" i="0" baseline="0" dirty="0">
                  <a:latin typeface="Calibri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713232"/>
                <a:ext cx="5225598" cy="246221"/>
              </a:xfrm>
              <a:prstGeom prst="rect">
                <a:avLst/>
              </a:prstGeom>
              <a:blipFill>
                <a:blip r:embed="rId3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65824" y="1136161"/>
                <a:ext cx="4384570" cy="29061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PD22 item 10: single-season interval overlap — </a:t>
                </a:r>
                <a:endParaRPr lang="en-US" sz="1000" b="0" i="0" baseline="0" dirty="0">
                  <a:latin typeface="Calibri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1000" dirty="0">
                    <a:latin typeface="Calibri"/>
                  </a:rPr>
                  <a:t>      </a:t>
                </a:r>
                <a:r>
                  <a:rPr sz="1000" b="0" i="0" baseline="0" dirty="0">
                    <a:latin typeface="Calibri"/>
                  </a:rPr>
                  <a:t>season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2,012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only (not pooled).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Box QC at panel build: drop dash-name placeholders; </a:t>
                </a:r>
                <a:endParaRPr lang="en-US" sz="1000" b="0" i="0" baseline="0" dirty="0">
                  <a:latin typeface="Calibri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1000" dirty="0">
                    <a:latin typeface="Calibri"/>
                  </a:rPr>
                  <a:t>      </a:t>
                </a:r>
                <a:r>
                  <a:rPr sz="1000" b="0" i="0" baseline="0" dirty="0">
                    <a:latin typeface="Calibri"/>
                  </a:rPr>
                  <a:t>keep team-seasons with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≥11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distinct games in box (frozen CSV untouched).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Bracket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sz="1000" b="0" i="0" baseline="0" dirty="0">
                    <a:latin typeface="Calibri"/>
                  </a:rPr>
                  <a:t> (drop-at-20):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0.000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·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</m:sSub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=0.0709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Each team-season: talent window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1000" b="0" i="1" baseline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sz="1000" b="0" i="1" baseline="0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ˆ"/>
                                    <m:ctrlP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1000" b="0" i="0" baseline="0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func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,</m:t>
                        </m:r>
                        <m:func>
                          <m:funcPr>
                            <m:ctrlP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sz="1000" b="0" i="1" baseline="0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ˆ"/>
                                    <m:ctrlP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1000" b="0" i="0" baseline="0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func>
                      </m:e>
                    </m:d>
                  </m:oMath>
                </a14:m>
                <a:r>
                  <a:rPr sz="1000" b="0" i="0" baseline="0" dirty="0">
                    <a:latin typeface="Calibri"/>
                  </a:rPr>
                  <a:t> on PPM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Top-left: coverage along spectrum; </a:t>
                </a:r>
                <a:endParaRPr lang="en-US" sz="1000" b="0" i="0" baseline="0" dirty="0">
                  <a:latin typeface="Calibri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1000" dirty="0">
                    <a:latin typeface="Calibri"/>
                  </a:rPr>
                  <a:t>      </a:t>
                </a:r>
                <a:r>
                  <a:rPr sz="1000" b="0" i="0" baseline="0" dirty="0">
                    <a:latin typeface="Calibri"/>
                  </a:rPr>
                  <a:t>crimson dashed = disjoint sort-and-chop benchmark.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Bottom: roster intervals sorted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1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— stacking = overlap.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≈0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but overlap structure remains — bracket fit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visual absence of sorting.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Paired compare window — match season span to LG sim slide.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VECTOR lock: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𝑠𝑜𝑟𝑡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is realized sorting — not the generative homophily knob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824" y="1136161"/>
                <a:ext cx="4384570" cy="2906117"/>
              </a:xfrm>
              <a:prstGeom prst="rect">
                <a:avLst/>
              </a:prstGeom>
              <a:blipFill>
                <a:blip r:embed="rId4"/>
                <a:stretch>
                  <a:fillRect b="-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84048" y="6439903"/>
                <a:ext cx="1142359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100" b="1" i="0" baseline="0" dirty="0">
                    <a:latin typeface="Calibri"/>
                  </a:rPr>
                  <a:t>Claim (PD22): Single-season overlap diagnostic — does talent-window stacking persist when bracket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100" b="1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100" b="1" i="0" baseline="0" dirty="0">
                        <a:latin typeface="Cambria Math" panose="02040503050406030204" pitchFamily="18" charset="0"/>
                      </a:rPr>
                      <m:t>≈0</m:t>
                    </m:r>
                  </m:oMath>
                </a14:m>
                <a:r>
                  <a:rPr sz="1100" b="1" i="0" baseline="0" dirty="0">
                    <a:latin typeface="Calibri"/>
                  </a:rPr>
                  <a:t>?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6439903"/>
                <a:ext cx="11423599" cy="261610"/>
              </a:xfrm>
              <a:prstGeom prst="rect">
                <a:avLst/>
              </a:prstGeom>
              <a:blipFill>
                <a:blip r:embed="rId5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438912" y="201168"/>
                <a:ext cx="5757602" cy="492443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2600" b="1" i="0" baseline="0" dirty="0">
                    <a:latin typeface="Calibri"/>
                  </a:rPr>
                  <a:t>Interval overlap — season 2013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600" b="1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b="1" i="0" baseline="0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2600" b="1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600" b="1" i="0" baseline="0" dirty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sz="2600" b="1" i="0" baseline="0" dirty="0">
                    <a:latin typeface="Calibri"/>
                  </a:rPr>
                  <a:t>)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912" y="201168"/>
                <a:ext cx="5757602" cy="492443"/>
              </a:xfrm>
              <a:prstGeom prst="rect">
                <a:avLst/>
              </a:prstGeom>
              <a:blipFill>
                <a:blip r:embed="rId2"/>
                <a:stretch>
                  <a:fillRect l="-1982" t="-10000" r="-1101" b="-3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438912" y="676656"/>
            <a:ext cx="1131387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 baseline="0">
                <a:latin typeface="Calibri"/>
              </a:rPr>
              <a:t>Act IV — PD22 overlap \text{---} narrative for HAND slide 21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38912" y="950976"/>
                <a:ext cx="11313871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sz="1400" b="0" i="0" baseline="0" dirty="0">
                    <a:latin typeface="Calibri"/>
                  </a:rPr>
                  <a:t>What about the remembered 2013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b="0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b="0" i="0" baseline="0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400" b="0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400" b="0" i="0" baseline="0" dirty="0">
                        <a:latin typeface="Cambria Math" panose="02040503050406030204" pitchFamily="18" charset="0"/>
                      </a:rPr>
                      <m:t>≈0.07</m:t>
                    </m:r>
                  </m:oMath>
                </a14:m>
                <a:r>
                  <a:rPr sz="1400" b="0" i="0" baseline="0" dirty="0">
                    <a:latin typeface="Calibri"/>
                  </a:rPr>
                  <a:t>?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912" y="950976"/>
                <a:ext cx="11313871" cy="307777"/>
              </a:xfrm>
              <a:prstGeom prst="rect">
                <a:avLst/>
              </a:prstGeom>
              <a:blipFill>
                <a:blip r:embed="rId3"/>
                <a:stretch>
                  <a:fillRect l="-112" t="-4000" b="-2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38912" y="1389888"/>
                <a:ext cx="11313871" cy="30077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r>
                  <a:rPr sz="1400" b="1" i="0" baseline="0" dirty="0">
                    <a:latin typeface="Calibri"/>
                  </a:rPr>
                  <a:t>Why this came up:</a:t>
                </a: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1400"/>
                  </a:spcAft>
                </a:pPr>
                <a:r>
                  <a:rPr sz="1700" b="0" i="0" baseline="0" dirty="0">
                    <a:latin typeface="Calibri"/>
                  </a:rPr>
                  <a:t>2013 was the season that triggered the side quest — close it on locked panel.</a:t>
                </a:r>
              </a:p>
              <a:p>
                <a:pPr>
                  <a:lnSpc>
                    <a:spcPct val="115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r>
                  <a:rPr sz="1400" b="1" i="0" baseline="0" dirty="0">
                    <a:latin typeface="Calibri"/>
                  </a:rPr>
                  <a:t>What we ran:</a:t>
                </a: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1400"/>
                  </a:spcAft>
                </a:pPr>
                <a:r>
                  <a:rPr sz="1700" b="0" i="0" baseline="0" dirty="0">
                    <a:latin typeface="Calibri"/>
                  </a:rPr>
                  <a:t>Same overlap plot for 2013; compare to pre-box-QC calibration epoch.</a:t>
                </a:r>
              </a:p>
              <a:p>
                <a:pPr>
                  <a:lnSpc>
                    <a:spcPct val="115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r>
                  <a:rPr sz="1400" b="1" i="0" baseline="0" dirty="0">
                    <a:latin typeface="Calibri"/>
                  </a:rPr>
                  <a:t>What showed up:</a:t>
                </a: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1400"/>
                  </a:spcAft>
                </a:pPr>
                <a14:m>
                  <m:oMath xmlns:m="http://schemas.openxmlformats.org/officeDocument/2006/math">
                    <m:r>
                      <a:rPr lang="en-US" sz="1700" b="0" i="0" baseline="0" dirty="0" smtClean="0">
                        <a:latin typeface="Cambria Math" panose="02040503050406030204" pitchFamily="18" charset="0"/>
                      </a:rPr>
                      <m:t>95%</m:t>
                    </m:r>
                  </m:oMath>
                </a14:m>
                <a:r>
                  <a:rPr sz="1700" b="0" i="0" baseline="0" dirty="0">
                    <a:latin typeface="Calibri"/>
                  </a:rPr>
                  <a:t> grid stacking in 2013 — stronger than 2012, still 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700" b="0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700" b="0" i="0" baseline="0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700" b="0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700" b="0" i="0" baseline="0" dirty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sz="1700" b="0" i="0" baseline="0" dirty="0">
                    <a:latin typeface="Calibri"/>
                  </a:rPr>
                  <a:t> locked. Old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700" b="0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700" b="0" i="0" baseline="0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700" b="0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700" b="0" i="0" baseline="0" dirty="0">
                        <a:latin typeface="Cambria Math" panose="02040503050406030204" pitchFamily="18" charset="0"/>
                      </a:rPr>
                      <m:t>≈0.07</m:t>
                    </m:r>
                  </m:oMath>
                </a14:m>
                <a:r>
                  <a:rPr sz="1700" b="0" i="0" baseline="0" dirty="0">
                    <a:latin typeface="Calibri"/>
                  </a:rPr>
                  <a:t> was pre-QC panel, not today's estimand.</a:t>
                </a:r>
              </a:p>
              <a:p>
                <a:pPr>
                  <a:lnSpc>
                    <a:spcPct val="115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r>
                  <a:rPr sz="1400" b="1" i="0" baseline="0" dirty="0">
                    <a:latin typeface="Calibri"/>
                  </a:rPr>
                  <a:t>What you can say:</a:t>
                </a: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1400"/>
                  </a:spcAft>
                </a:pPr>
                <a:r>
                  <a:rPr lang="en-US" sz="1700" b="1" i="0" baseline="0" dirty="0">
                    <a:latin typeface="Calibri"/>
                  </a:rPr>
                  <a:t>"</a:t>
                </a:r>
                <a:r>
                  <a:rPr sz="1700" b="1" i="0" baseline="0" dirty="0">
                    <a:latin typeface="Calibri"/>
                  </a:rPr>
                  <a:t>2013 still stacks heavily 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700" b="1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700" b="1" i="0" baseline="0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700" b="1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700" b="1" i="0" baseline="0" dirty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sz="1700" b="1" i="0" baseline="0" dirty="0">
                    <a:latin typeface="Calibri"/>
                  </a:rPr>
                  <a:t> on the locked panel — the old 0.07 was pre-box-QC. Q3 closed; resume SELECT / MLE.</a:t>
                </a:r>
                <a:r>
                  <a:rPr lang="en-US" sz="1700" b="1" i="0" baseline="0" dirty="0">
                    <a:latin typeface="Calibri"/>
                  </a:rPr>
                  <a:t>"</a:t>
                </a:r>
                <a:endParaRPr sz="1700" b="1" i="0" baseline="0" dirty="0">
                  <a:latin typeface="Calibri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912" y="1389888"/>
                <a:ext cx="11313871" cy="3007746"/>
              </a:xfrm>
              <a:prstGeom prst="rect">
                <a:avLst/>
              </a:prstGeom>
              <a:blipFill>
                <a:blip r:embed="rId4"/>
                <a:stretch>
                  <a:fillRect l="-336" b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3766973" y="6071616"/>
            <a:ext cx="4657749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1300" b="1" i="0" baseline="0" dirty="0">
                <a:latin typeface="Calibri"/>
              </a:rPr>
              <a:t>↓ Paste 𝙲𝙷𝙰𝚁_𝙿𝙳𝟸𝟶_𝙷𝙰𝙽𝙳</a:t>
            </a:r>
            <a:r>
              <a:rPr sz="1300" b="1" i="0" baseline="0" dirty="0">
                <a:latin typeface="Calibri"/>
              </a:rPr>
              <a:t> slide 21 immediately after this slide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9FC5A-2080-BF20-FF7B-A0385C4B3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D22_interval_overlap_season_2012.png">
            <a:extLst>
              <a:ext uri="{FF2B5EF4-FFF2-40B4-BE49-F238E27FC236}">
                <a16:creationId xmlns:a16="http://schemas.microsoft.com/office/drawing/2014/main" id="{3A8F88F1-7495-DC90-5624-735D867982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0394" y="996029"/>
            <a:ext cx="7059602" cy="547369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8933943-C113-50EC-2EBB-F0861DB220CA}"/>
              </a:ext>
            </a:extLst>
          </p:cNvPr>
          <p:cNvSpPr txBox="1"/>
          <p:nvPr/>
        </p:nvSpPr>
        <p:spPr>
          <a:xfrm>
            <a:off x="384048" y="219456"/>
            <a:ext cx="487293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 baseline="0" dirty="0">
                <a:latin typeface="Calibri"/>
              </a:rPr>
              <a:t>PD22 — team interval overlap · season 201</a:t>
            </a:r>
            <a:r>
              <a:rPr lang="en-US" sz="2000" b="1" i="0" baseline="0" dirty="0">
                <a:latin typeface="Calibri"/>
              </a:rPr>
              <a:t>3</a:t>
            </a:r>
            <a:endParaRPr sz="2000" b="1" i="0" baseline="0" dirty="0">
              <a:latin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2DADFAF-DAB7-BABA-FE2E-4259372362B2}"/>
                  </a:ext>
                </a:extLst>
              </p:cNvPr>
              <p:cNvSpPr txBox="1"/>
              <p:nvPr/>
            </p:nvSpPr>
            <p:spPr>
              <a:xfrm>
                <a:off x="384048" y="713232"/>
                <a:ext cx="5366662" cy="24622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1000" b="0" i="0" baseline="0" dirty="0">
                    <a:latin typeface="Calibri"/>
                  </a:rPr>
                  <a:t>PD22 item 1</a:t>
                </a:r>
                <a:r>
                  <a:rPr lang="en-US" sz="1000" b="0" i="0" baseline="0" dirty="0">
                    <a:latin typeface="Calibri"/>
                  </a:rPr>
                  <a:t>1</a:t>
                </a:r>
                <a:r>
                  <a:rPr sz="1000" b="0" i="0" baseline="0" dirty="0">
                    <a:latin typeface="Calibri"/>
                  </a:rPr>
                  <a:t> · season 201</a:t>
                </a:r>
                <a:r>
                  <a:rPr lang="en-US" sz="1000" b="0" i="0" baseline="0" dirty="0">
                    <a:latin typeface="Calibri"/>
                  </a:rPr>
                  <a:t>3</a:t>
                </a:r>
                <a:r>
                  <a:rPr sz="1000" b="0" i="0" baseline="0" dirty="0">
                    <a:latin typeface="Calibri"/>
                  </a:rPr>
                  <a:t> · min 20 min drop panel · 34</a:t>
                </a:r>
                <a:r>
                  <a:rPr lang="en-US" sz="1000" b="0" i="0" baseline="0" dirty="0">
                    <a:latin typeface="Calibri"/>
                  </a:rPr>
                  <a:t>7</a:t>
                </a:r>
                <a:r>
                  <a:rPr sz="1000" b="0" i="0" baseline="0" dirty="0">
                    <a:latin typeface="Calibri"/>
                  </a:rPr>
                  <a:t> team-seasons ·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</m:sSub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=0.0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62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·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sz="1000" b="0" i="0" baseline="0" dirty="0">
                  <a:latin typeface="Calibri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2DADFAF-DAB7-BABA-FE2E-4259372362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713232"/>
                <a:ext cx="5366662" cy="246221"/>
              </a:xfrm>
              <a:prstGeom prst="rect">
                <a:avLst/>
              </a:prstGeom>
              <a:blipFill>
                <a:blip r:embed="rId3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8B822B1-738A-F562-0037-2ED3394B638F}"/>
                  </a:ext>
                </a:extLst>
              </p:cNvPr>
              <p:cNvSpPr txBox="1"/>
              <p:nvPr/>
            </p:nvSpPr>
            <p:spPr>
              <a:xfrm>
                <a:off x="465824" y="1136161"/>
                <a:ext cx="4384570" cy="29061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PD22 item 1</a:t>
                </a:r>
                <a:r>
                  <a:rPr lang="en-US" sz="1000" b="0" i="0" baseline="0" dirty="0">
                    <a:latin typeface="Calibri"/>
                  </a:rPr>
                  <a:t>1</a:t>
                </a:r>
                <a:r>
                  <a:rPr sz="1000" b="0" i="0" baseline="0" dirty="0">
                    <a:latin typeface="Calibri"/>
                  </a:rPr>
                  <a:t>: single-season interval overlap — </a:t>
                </a:r>
                <a:endParaRPr lang="en-US" sz="1000" b="0" i="0" baseline="0" dirty="0">
                  <a:latin typeface="Calibri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1000" dirty="0">
                    <a:latin typeface="Calibri"/>
                  </a:rPr>
                  <a:t>      </a:t>
                </a:r>
                <a:r>
                  <a:rPr sz="1000" b="0" i="0" baseline="0" dirty="0">
                    <a:latin typeface="Calibri"/>
                  </a:rPr>
                  <a:t>season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2,013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only (not pooled).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Box QC at panel build: drop dash-name placeholders; </a:t>
                </a:r>
                <a:endParaRPr lang="en-US" sz="1000" b="0" i="0" baseline="0" dirty="0">
                  <a:latin typeface="Calibri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1000" dirty="0">
                    <a:latin typeface="Calibri"/>
                  </a:rPr>
                  <a:t>      </a:t>
                </a:r>
                <a:r>
                  <a:rPr sz="1000" b="0" i="0" baseline="0" dirty="0">
                    <a:latin typeface="Calibri"/>
                  </a:rPr>
                  <a:t>keep team-seasons with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≥11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distinct games in box (frozen CSV untouched).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Bracket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sz="1000" b="0" i="0" baseline="0" dirty="0">
                    <a:latin typeface="Calibri"/>
                  </a:rPr>
                  <a:t> (drop-at-20):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0.000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·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</m:sSub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=0.0620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Each team-season: talent window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1000" b="0" i="1" baseline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sz="1000" b="0" i="1" baseline="0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ˆ"/>
                                    <m:ctrlP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1000" b="0" i="0" baseline="0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func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,</m:t>
                        </m:r>
                        <m:func>
                          <m:funcPr>
                            <m:ctrlP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sz="1000" b="0" i="1" baseline="0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ˆ"/>
                                    <m:ctrlP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1000" b="0" i="0" baseline="0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func>
                      </m:e>
                    </m:d>
                  </m:oMath>
                </a14:m>
                <a:r>
                  <a:rPr sz="1000" b="0" i="0" baseline="0" dirty="0">
                    <a:latin typeface="Calibri"/>
                  </a:rPr>
                  <a:t> on PPM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Top-left: coverage along spectrum; </a:t>
                </a:r>
                <a:endParaRPr lang="en-US" sz="1000" b="0" i="0" baseline="0" dirty="0">
                  <a:latin typeface="Calibri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1000" dirty="0">
                    <a:latin typeface="Calibri"/>
                  </a:rPr>
                  <a:t>      </a:t>
                </a:r>
                <a:r>
                  <a:rPr sz="1000" b="0" i="0" baseline="0" dirty="0">
                    <a:latin typeface="Calibri"/>
                  </a:rPr>
                  <a:t>crimson dashed = disjoint sort-and-chop benchmark.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Bottom: roster intervals sorted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1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— stacking = overlap.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≈0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but overlap structure remains — bracket fit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visual absence of sorting.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Paired compare window — match season span to LG sim slide.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VECTOR lock: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𝑠𝑜𝑟𝑡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is realized sorting — not the generative homophily knob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8B822B1-738A-F562-0037-2ED3394B63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824" y="1136161"/>
                <a:ext cx="4384570" cy="2906117"/>
              </a:xfrm>
              <a:prstGeom prst="rect">
                <a:avLst/>
              </a:prstGeom>
              <a:blipFill>
                <a:blip r:embed="rId4"/>
                <a:stretch>
                  <a:fillRect b="-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D80B24F-58D2-7A5D-DD58-4DB05B45F662}"/>
                  </a:ext>
                </a:extLst>
              </p:cNvPr>
              <p:cNvSpPr txBox="1"/>
              <p:nvPr/>
            </p:nvSpPr>
            <p:spPr>
              <a:xfrm>
                <a:off x="384048" y="6439903"/>
                <a:ext cx="1142359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100" b="1" i="0" baseline="0" dirty="0">
                    <a:latin typeface="Calibri"/>
                  </a:rPr>
                  <a:t>Claim (PD22): Single-season overlap diagnostic — does talent-window stacking persist when bracket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100" b="1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100" b="1" i="0" baseline="0" dirty="0">
                        <a:latin typeface="Cambria Math" panose="02040503050406030204" pitchFamily="18" charset="0"/>
                      </a:rPr>
                      <m:t>≈0</m:t>
                    </m:r>
                  </m:oMath>
                </a14:m>
                <a:r>
                  <a:rPr sz="1100" b="1" i="0" baseline="0" dirty="0">
                    <a:latin typeface="Calibri"/>
                  </a:rPr>
                  <a:t>?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D80B24F-58D2-7A5D-DD58-4DB05B45F6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6439903"/>
                <a:ext cx="11423599" cy="261610"/>
              </a:xfrm>
              <a:prstGeom prst="rect">
                <a:avLst/>
              </a:prstGeom>
              <a:blipFill>
                <a:blip r:embed="rId5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566416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37744"/>
            <a:ext cx="11313871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 baseline="0">
                <a:latin typeface="Calibri"/>
              </a:rPr>
              <a:t>Where we stand — August 18,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86384"/>
            <a:ext cx="1131387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 baseline="0">
                <a:latin typeface="Calibri"/>
              </a:rPr>
              <a:t>What is locked and what is the exact next beat?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38912" y="1316736"/>
                <a:ext cx="11313871" cy="39894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r>
                  <a:rPr lang="en-US" sz="1400" b="1" i="0" baseline="0" dirty="0">
                    <a:latin typeface="Calibri"/>
                  </a:rPr>
                  <a:t>Why this came up</a:t>
                </a:r>
                <a:r>
                  <a:rPr sz="1400" b="1" i="0" baseline="0" dirty="0">
                    <a:latin typeface="Calibri"/>
                  </a:rPr>
                  <a:t>:</a:t>
                </a: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1400"/>
                  </a:spcAft>
                </a:pPr>
                <a:r>
                  <a:rPr sz="1700" b="0" i="0" baseline="0" dirty="0">
                    <a:latin typeface="Calibri"/>
                  </a:rPr>
                  <a:t>PD20–22 were scoped to justify panel and calibration quickly — not to perfect every sensitivity before returning to SELECT and outcomes.</a:t>
                </a:r>
              </a:p>
              <a:p>
                <a:pPr>
                  <a:lnSpc>
                    <a:spcPct val="115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r>
                  <a:rPr lang="en-US" sz="1400" b="1" i="0" baseline="0" dirty="0">
                    <a:latin typeface="Calibri"/>
                  </a:rPr>
                  <a:t>What we ran</a:t>
                </a:r>
                <a:r>
                  <a:rPr sz="1400" b="1" i="0" baseline="0" dirty="0">
                    <a:latin typeface="Calibri"/>
                  </a:rPr>
                  <a:t>:</a:t>
                </a: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1400"/>
                  </a:spcAft>
                </a:pPr>
                <a:r>
                  <a:rPr sz="1700" b="0" i="0" baseline="0" dirty="0">
                    <a:latin typeface="Calibri"/>
                  </a:rPr>
                  <a:t>Walked minutes data, box QC, drop vs PPM-zero,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700" b="0" i="0" baseline="0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700" b="0" i="0" baseline="0" dirty="0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700" b="0" i="0" baseline="0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700" b="0" i="0" baseline="0" dirty="0">
                    <a:latin typeface="Calibri"/>
                  </a:rPr>
                  <a:t> </a:t>
                </a:r>
                <a:r>
                  <a:rPr sz="1700" b="0" i="0" baseline="0" dirty="0">
                    <a:latin typeface="Calibri"/>
                  </a:rPr>
                  <a:t>on locked panel, overlap reconciliation, PD20 Gibbs gate.</a:t>
                </a:r>
              </a:p>
              <a:p>
                <a:pPr>
                  <a:lnSpc>
                    <a:spcPct val="115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r>
                  <a:rPr lang="en-US" sz="1400" b="1" i="0" baseline="0" dirty="0">
                    <a:latin typeface="Calibri"/>
                  </a:rPr>
                  <a:t>What showed up</a:t>
                </a:r>
                <a:r>
                  <a:rPr sz="1400" b="1" i="0" baseline="0" dirty="0">
                    <a:latin typeface="Calibri"/>
                  </a:rPr>
                  <a:t>:</a:t>
                </a: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1400"/>
                  </a:spcAft>
                </a:pPr>
                <a:r>
                  <a:rPr sz="1700" b="0" i="0" baseline="0" dirty="0">
                    <a:latin typeface="Calibri"/>
                  </a:rPr>
                  <a:t>Drop sub-20 + box QC hero panel;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700" b="0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700" b="0" i="0" baseline="0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700" b="0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700" b="0" i="0" baseline="0" dirty="0">
                        <a:latin typeface="Cambria Math" panose="02040503050406030204" pitchFamily="18" charset="0"/>
                      </a:rPr>
                      <m:t>≈0</m:t>
                    </m:r>
                  </m:oMath>
                </a14:m>
                <a:r>
                  <a:rPr sz="1700" b="0" i="0" baseline="0" dirty="0">
                    <a:latin typeface="Calibri"/>
                  </a:rPr>
                  <a:t> modest fit; overlap still stacked; Gibbs SELECT preserves inverted-U. Not blocked on panel policy or </a:t>
                </a:r>
                <a:r>
                  <a:rPr lang="en-US" sz="1700" b="0" i="0" baseline="0" dirty="0">
                    <a:latin typeface="Calibri"/>
                  </a:rPr>
                  <a:t>𝜌</a:t>
                </a:r>
                <a:r>
                  <a:rPr sz="1700" b="0" i="0" baseline="0" dirty="0">
                    <a:latin typeface="Calibri"/>
                  </a:rPr>
                  <a:t> re-calibration.</a:t>
                </a:r>
              </a:p>
              <a:p>
                <a:pPr>
                  <a:lnSpc>
                    <a:spcPct val="115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r>
                  <a:rPr lang="en-US" sz="1400" b="1" i="0" baseline="0" dirty="0">
                    <a:latin typeface="Calibri"/>
                  </a:rPr>
                  <a:t>What you can say</a:t>
                </a:r>
                <a:r>
                  <a:rPr sz="1400" b="1" i="0" baseline="0" dirty="0">
                    <a:latin typeface="Calibri"/>
                  </a:rPr>
                  <a:t>:</a:t>
                </a: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1400"/>
                  </a:spcAft>
                </a:pPr>
                <a:r>
                  <a:rPr lang="en-US" sz="1700" b="1" dirty="0"/>
                  <a:t>"Campaign checkpoint cleared — panel policy and </a:t>
                </a:r>
                <a14:m>
                  <m:oMath xmlns:m="http://schemas.openxmlformats.org/officeDocument/2006/math">
                    <m:r>
                      <a:rPr lang="en-US" sz="1700" b="1" i="1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sz="1700" b="1" dirty="0"/>
                  <a:t> calibration are not blocking the main line. Next slides map what lies ahead."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912" y="1316736"/>
                <a:ext cx="11313871" cy="3989490"/>
              </a:xfrm>
              <a:prstGeom prst="rect">
                <a:avLst/>
              </a:prstGeom>
              <a:blipFill>
                <a:blip r:embed="rId2"/>
                <a:stretch>
                  <a:fillRect l="-336" r="-112" b="-9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37744"/>
            <a:ext cx="11313871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 baseline="0">
                <a:latin typeface="Calibri"/>
              </a:rPr>
              <a:t>What lies ahead — main line (resume here)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804672"/>
            <a:ext cx="1131387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 baseline="0">
                <a:latin typeface="Calibri"/>
              </a:rPr>
              <a:t>PD20–22 were defensive; the scientific campaign continues on the locked panel.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38912" y="1316736"/>
                <a:ext cx="11313871" cy="28825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r>
                  <a:rPr sz="1400" b="1" i="0" baseline="0" dirty="0">
                    <a:latin typeface="Calibri"/>
                  </a:rPr>
                  <a:t>Beat 1 — SELECT / MLE:</a:t>
                </a: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1400"/>
                  </a:spcAft>
                </a:pPr>
                <a:r>
                  <a:rPr sz="1700" b="0" i="0" baseline="0" dirty="0">
                    <a:latin typeface="Calibri"/>
                  </a:rPr>
                  <a:t>PD20 cleared soft Gibbs SELECT. Next: </a:t>
                </a:r>
                <a:r>
                  <a:rPr lang="en-US" sz="1700" b="0" i="0" baseline="0" dirty="0">
                    <a:latin typeface="Calibri"/>
                  </a:rPr>
                  <a:t>lock</a:t>
                </a:r>
                <a:r>
                  <a:rPr sz="1700" b="0" i="0" baseline="0" dirty="0">
                    <a:latin typeface="Calibri"/>
                  </a:rPr>
                  <a:t> </a:t>
                </a:r>
                <a:r>
                  <a:rPr lang="en-US" sz="1700" b="0" i="0" baseline="0" dirty="0">
                    <a:latin typeface="Calibri"/>
                  </a:rPr>
                  <a:t>𝐾</a:t>
                </a:r>
                <a:r>
                  <a:rPr sz="1700" b="0" i="0" baseline="0" dirty="0">
                    <a:latin typeface="Calibri"/>
                  </a:rPr>
                  <a:t>-draw semantics, then statistical fit for SELECT parameters (MLE) on the locked panel story.</a:t>
                </a:r>
              </a:p>
              <a:p>
                <a:pPr>
                  <a:lnSpc>
                    <a:spcPct val="115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r>
                  <a:rPr sz="1400" b="1" i="0" baseline="0" dirty="0">
                    <a:latin typeface="Calibri"/>
                  </a:rPr>
                  <a:t>Beat 2 — SCORE + SELECT knobs:</a:t>
                </a: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1400"/>
                  </a:spcAft>
                </a:pPr>
                <a:r>
                  <a:rPr sz="1700" b="0" i="0" baseline="0" dirty="0">
                    <a:latin typeface="Calibri"/>
                  </a:rPr>
                  <a:t>Fit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700" b="0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700" b="0" i="0" baseline="0" dirty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r>
                          <a:rPr lang="en-US" sz="1700" b="0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sz="1700" b="0" i="0" baseline="0" dirty="0">
                    <a:latin typeface="Calibri"/>
                  </a:rPr>
                  <a:t> (congestion in score),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700" b="0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700" b="0" i="0" baseline="0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sz="1700" b="0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sz="1700" b="0" i="0" baseline="0" dirty="0">
                    <a:latin typeface="Calibri"/>
                  </a:rPr>
                  <a:t> (temperature), </a:t>
                </a:r>
                <a14:m>
                  <m:oMath xmlns:m="http://schemas.openxmlformats.org/officeDocument/2006/math">
                    <m:r>
                      <a:rPr lang="en-US" sz="1700" b="0" i="0" baseline="0" dirty="0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sz="1700" b="0" i="0" baseline="0" dirty="0">
                    <a:latin typeface="Calibri"/>
                  </a:rPr>
                  <a:t> (viability sharpness) — on the same hero panel, ASSIGN at locked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700" b="0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700" b="0" i="0" baseline="0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700" b="0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700" b="0" i="0" baseline="0" dirty="0">
                        <a:latin typeface="Cambria Math" panose="02040503050406030204" pitchFamily="18" charset="0"/>
                      </a:rPr>
                      <m:t>≈0</m:t>
                    </m:r>
                  </m:oMath>
                </a14:m>
                <a:r>
                  <a:rPr sz="1700" b="0" i="0" baseline="0" dirty="0">
                    <a:latin typeface="Calibri"/>
                  </a:rPr>
                  <a:t>.</a:t>
                </a:r>
              </a:p>
              <a:p>
                <a:pPr>
                  <a:lnSpc>
                    <a:spcPct val="115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r>
                  <a:rPr sz="1400" b="1" i="0" baseline="0" dirty="0">
                    <a:latin typeface="Calibri"/>
                  </a:rPr>
                  <a:t>Beat 3 — Side-by-side deliverable:</a:t>
                </a: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1400"/>
                  </a:spcAft>
                </a:pPr>
                <a:r>
                  <a:rPr sz="1700" b="0" i="0" baseline="0" dirty="0">
                    <a:latin typeface="Calibri"/>
                  </a:rPr>
                  <a:t>Empirical hero + sim curves with honest axes and one limitation sentence — the simplified-model chapter (not bin-for-bin replication yet).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912" y="1316736"/>
                <a:ext cx="11313871" cy="2882520"/>
              </a:xfrm>
              <a:prstGeom prst="rect">
                <a:avLst/>
              </a:prstGeom>
              <a:blipFill>
                <a:blip r:embed="rId2"/>
                <a:stretch>
                  <a:fillRect l="-336" b="-1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37744"/>
            <a:ext cx="11313871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 baseline="0">
                <a:latin typeface="Calibri"/>
              </a:rPr>
              <a:t>What lies ahead — Wang Rung 3 (predictions)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804672"/>
            <a:ext cx="1131387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 baseline="0">
                <a:latin typeface="Calibri"/>
              </a:rPr>
              <a:t>After MBB v1 fit is tight, climb the prediction rung — not blocking the next Alex meeting.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38912" y="1316736"/>
                <a:ext cx="11313871" cy="25548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r>
                  <a:rPr sz="1400" b="1" i="0" baseline="0" dirty="0">
                    <a:latin typeface="Calibri"/>
                  </a:rPr>
                  <a:t>Already partly done:</a:t>
                </a: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1400"/>
                  </a:spcAft>
                </a:pPr>
                <a:r>
                  <a:rPr sz="1700" b="0" i="0" baseline="0" dirty="0">
                    <a:latin typeface="Calibri"/>
                  </a:rPr>
                  <a:t>Cross-domain inverted-U (Army + MBB); sim knockout (talent-only score vs congestion in score).</a:t>
                </a:r>
              </a:p>
              <a:p>
                <a:pPr>
                  <a:lnSpc>
                    <a:spcPct val="115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r>
                  <a:rPr sz="1400" b="1" i="0" baseline="0" dirty="0">
                    <a:latin typeface="Calibri"/>
                  </a:rPr>
                  <a:t>PD14 — predictive gain (parked):</a:t>
                </a: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1400"/>
                  </a:spcAft>
                </a:pPr>
                <a:r>
                  <a:rPr sz="1700" b="0" i="0" baseline="0" dirty="0">
                    <a:latin typeface="Calibri"/>
                  </a:rPr>
                  <a:t>Model A (ability + roster congestion) vs Model B (ability only): does roster pressure improve draft prediction? Largest gain expected for top ability under few slots.</a:t>
                </a:r>
              </a:p>
              <a:p>
                <a:pPr>
                  <a:lnSpc>
                    <a:spcPct val="115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r>
                  <a:rPr sz="1400" b="1" i="0" baseline="0" dirty="0">
                    <a:latin typeface="Calibri"/>
                  </a:rPr>
                  <a:t>Near-threshold / composition:</a:t>
                </a: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1400"/>
                  </a:spcAft>
                </a:pPr>
                <a:r>
                  <a:rPr sz="1700" b="0" i="0" baseline="0" dirty="0">
                    <a:latin typeface="Calibri"/>
                  </a:rPr>
                  <a:t>Candidate tests under small </a:t>
                </a:r>
                <a:r>
                  <a:rPr lang="en-US" sz="1700" b="0" i="0" baseline="0" dirty="0">
                    <a:latin typeface="Calibri"/>
                  </a:rPr>
                  <a:t>𝐾</a:t>
                </a:r>
                <a:r>
                  <a:rPr sz="1700" b="0" i="0" baseline="0" dirty="0">
                    <a:latin typeface="Calibri"/>
                  </a:rPr>
                  <a:t>: does congestion matter most where slots are scarce? Ties to </a:t>
                </a:r>
                <a14:m>
                  <m:oMath xmlns:m="http://schemas.openxmlformats.org/officeDocument/2006/math">
                    <m:r>
                      <a:rPr lang="en-US" sz="1700" b="0" i="0" baseline="0" dirty="0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sz="1700" b="0" i="0" baseline="0" dirty="0">
                    <a:latin typeface="Calibri"/>
                  </a:rPr>
                  <a:t>sweeps and SELECT capacity.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912" y="1316736"/>
                <a:ext cx="11313871" cy="2554802"/>
              </a:xfrm>
              <a:prstGeom prst="rect">
                <a:avLst/>
              </a:prstGeom>
              <a:blipFill>
                <a:blip r:embed="rId2"/>
                <a:stretch>
                  <a:fillRect l="-336" b="-29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37744"/>
            <a:ext cx="11313871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 baseline="0">
                <a:latin typeface="Calibri"/>
              </a:rPr>
              <a:t>What lies ahead — parked (do not block main line)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804672"/>
            <a:ext cx="1131387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/>
              <a:t>Optional sensitivity — run only if asked in meeting or a reviewer forces it.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38912" y="1316736"/>
                <a:ext cx="11313871" cy="22284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r>
                  <a:rPr sz="1400" b="1" i="0" baseline="0" dirty="0">
                    <a:latin typeface="Calibri"/>
                  </a:rPr>
                  <a:t>PD22 item 12:</a:t>
                </a: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1400"/>
                  </a:spcAft>
                </a:pPr>
                <a:r>
                  <a:rPr sz="1700" b="0" i="0" baseline="0" dirty="0">
                    <a:latin typeface="Calibri"/>
                  </a:rPr>
                  <a:t>Team-rank forensics — skipped; pre-box-QC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700" b="0" i="0" baseline="0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700" b="0" i="0" baseline="0" dirty="0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700" b="0" i="0" baseline="0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700" b="0" i="0" baseline="0" dirty="0">
                    <a:latin typeface="Calibri"/>
                  </a:rPr>
                  <a:t> </a:t>
                </a:r>
                <a:r>
                  <a:rPr sz="1700" b="0" i="0" baseline="0" dirty="0">
                    <a:latin typeface="Calibri"/>
                  </a:rPr>
                  <a:t>side quest already closed.</a:t>
                </a:r>
              </a:p>
              <a:p>
                <a:pPr>
                  <a:lnSpc>
                    <a:spcPct val="115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r>
                  <a:rPr sz="1400" b="1" i="0" baseline="0" dirty="0">
                    <a:latin typeface="Calibri"/>
                  </a:rPr>
                  <a:t>PD22 items 13–14:</a:t>
                </a: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1400"/>
                  </a:spcAft>
                </a:pPr>
                <a:r>
                  <a:rPr sz="1700" b="0" i="0" baseline="0" dirty="0">
                    <a:latin typeface="Calibri"/>
                  </a:rPr>
                  <a:t>Caps-off sensitivity; minutes-floor ladder (min 10 / 15 / 20 / 30 overlay). Useful appendix, not gating SELECT / MLE.</a:t>
                </a:r>
              </a:p>
              <a:p>
                <a:pPr>
                  <a:lnSpc>
                    <a:spcPct val="115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r>
                  <a:rPr sz="1400" b="1" i="0" baseline="0" dirty="0">
                    <a:latin typeface="Calibri"/>
                  </a:rPr>
                  <a:t>Tenure third leg:</a:t>
                </a: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1400"/>
                  </a:spcAft>
                </a:pPr>
                <a:r>
                  <a:rPr sz="1700" b="0" i="0" baseline="0" dirty="0">
                    <a:latin typeface="Calibri"/>
                  </a:rPr>
                  <a:t>Preliminary hero on faculty panel — parallel domain, not MBB v1 blocker.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912" y="1316736"/>
                <a:ext cx="11313871" cy="2228495"/>
              </a:xfrm>
              <a:prstGeom prst="rect">
                <a:avLst/>
              </a:prstGeom>
              <a:blipFill>
                <a:blip r:embed="rId2"/>
                <a:stretch>
                  <a:fillRect l="-336" b="-22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37744"/>
            <a:ext cx="11313871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 baseline="0" dirty="0">
                <a:latin typeface="Calibri"/>
              </a:rPr>
              <a:t>What lies ahead — manuscript horizon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804672"/>
            <a:ext cx="1131387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 baseline="0">
                <a:latin typeface="Calibri"/>
              </a:rPr>
              <a:t>Summer–Fall 2026 target: one coherent Wang-style object, not two half-finished models.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316736"/>
            <a:ext cx="11313871" cy="2882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 dirty="0">
                <a:latin typeface="Calibri"/>
              </a:rPr>
              <a:t>MBB v1 chapter: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 dirty="0">
                <a:latin typeface="Calibri"/>
              </a:rPr>
              <a:t>Hero (Layer A) + mechanism story (Layer B) + wind-tunnel sim (Layer C) + honest limits. </a:t>
            </a:r>
            <a:r>
              <a:rPr lang="en-US" sz="1700" b="0" i="0" baseline="0" dirty="0">
                <a:latin typeface="Calibri"/>
              </a:rPr>
              <a:t>S</a:t>
            </a:r>
            <a:r>
              <a:rPr sz="1700" b="0" i="0" baseline="0" dirty="0">
                <a:latin typeface="Calibri"/>
              </a:rPr>
              <a:t>ide-by-side</a:t>
            </a:r>
            <a:r>
              <a:rPr lang="en-US" sz="1700" b="0" i="0" baseline="0" dirty="0">
                <a:latin typeface="Calibri"/>
              </a:rPr>
              <a:t> deliverable</a:t>
            </a:r>
            <a:r>
              <a:rPr sz="1700" b="0" i="0" baseline="0" dirty="0">
                <a:latin typeface="Calibri"/>
              </a:rPr>
              <a:t>: same kind of outcome axis, explicit what we do not claim.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 dirty="0">
                <a:latin typeface="Calibri"/>
              </a:rPr>
              <a:t>Three-setting paper: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 dirty="0">
                <a:latin typeface="Calibri"/>
              </a:rPr>
              <a:t>Army (strong) + MBB (replicated LOO inverted-U) + tenure (preliminary). Mechanism section must read as one ladder, not stitched regressions.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 dirty="0">
                <a:latin typeface="Calibri"/>
              </a:rPr>
              <a:t>After MBB v1 is tight: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 dirty="0">
                <a:latin typeface="Calibri"/>
              </a:rPr>
              <a:t>Tenure Cox pass; PD14 magnitude; richer predictions — sequence per COMPASS, not parallel rabbit holes.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37744"/>
            <a:ext cx="401648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800" b="1" dirty="0"/>
              <a:t>One breath — closing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804672"/>
            <a:ext cx="1131387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 baseline="0">
                <a:latin typeface="Calibri"/>
              </a:rPr>
              <a:t>Closing line before you open the floor to SELECT / MLE planning.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670CE09-5E8C-34BA-C562-4377CF324B9D}"/>
                  </a:ext>
                </a:extLst>
              </p:cNvPr>
              <p:cNvSpPr txBox="1"/>
              <p:nvPr/>
            </p:nvSpPr>
            <p:spPr>
              <a:xfrm>
                <a:off x="438912" y="1316736"/>
                <a:ext cx="11313871" cy="21018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r>
                  <a:rPr sz="1400" b="1" i="0" baseline="0" dirty="0">
                    <a:latin typeface="Calibri"/>
                  </a:rPr>
                  <a:t>What you can say:</a:t>
                </a: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1400"/>
                  </a:spcAft>
                </a:pPr>
                <a:r>
                  <a:rPr sz="1700" b="0" i="0" baseline="0" dirty="0">
                    <a:latin typeface="Calibri"/>
                  </a:rPr>
                  <a:t>We cleared soft SELECT (PD20). We cleaned the ESPN panel (box QC) and defended drop sub-20 over PPM-zero (PD22). On that locked panel,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700" b="0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700" b="0" i="0" baseline="0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700" b="0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700" b="0" i="0" baseline="0" dirty="0">
                        <a:latin typeface="Cambria Math" panose="02040503050406030204" pitchFamily="18" charset="0"/>
                      </a:rPr>
                      <m:t>≈0</m:t>
                    </m:r>
                  </m:oMath>
                </a14:m>
                <a:r>
                  <a:rPr sz="1700" b="0" i="0" baseline="0" dirty="0">
                    <a:latin typeface="Calibri"/>
                  </a:rPr>
                  <a:t> matches modest sorting — not random NCAA rosters — and overlap pictures still look stacked because they measure geometry, not the homophily knob. We can go back to fitting SELECT without redoing </a:t>
                </a:r>
                <a14:m>
                  <m:oMath xmlns:m="http://schemas.openxmlformats.org/officeDocument/2006/math">
                    <m:r>
                      <a:rPr lang="en-US" sz="17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700" b="0" i="0" baseline="0" dirty="0">
                    <a:latin typeface="Calibri"/>
                  </a:rPr>
                  <a:t> for the drop decision.</a:t>
                </a:r>
              </a:p>
              <a:p>
                <a:pPr>
                  <a:lnSpc>
                    <a:spcPct val="115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r>
                  <a:rPr sz="1400" b="1" i="0" baseline="0" dirty="0">
                    <a:latin typeface="Calibri"/>
                  </a:rPr>
                  <a:t>Open next:</a:t>
                </a: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1400"/>
                  </a:spcAft>
                </a:pPr>
                <a:r>
                  <a:rPr sz="1700" b="0" i="0" baseline="0" dirty="0">
                    <a:latin typeface="Calibri"/>
                  </a:rPr>
                  <a:t>Lock </a:t>
                </a:r>
                <a14:m>
                  <m:oMath xmlns:m="http://schemas.openxmlformats.org/officeDocument/2006/math">
                    <m:r>
                      <a:rPr lang="en-US" sz="1700" b="0" i="0" baseline="0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1700" b="0" i="0" baseline="0" dirty="0">
                    <a:latin typeface="Calibri"/>
                  </a:rPr>
                  <a:t>-draw semantics for Gibbs SELECT, then scope MLE 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700" b="0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700" b="0" i="0" baseline="0" dirty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r>
                          <a:rPr lang="en-US" sz="1700" b="0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sz="1700" b="0" i="0" baseline="0" dirty="0">
                    <a:latin typeface="Calibri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700" b="0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700" b="0" i="0" baseline="0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sz="1700" b="0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sz="1700" b="0" i="0" baseline="0" dirty="0">
                    <a:latin typeface="Calibri"/>
                  </a:rPr>
                  <a:t>, and the next fit checkpoint deliverable.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670CE09-5E8C-34BA-C562-4377CF324B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912" y="1316736"/>
                <a:ext cx="11313871" cy="2101857"/>
              </a:xfrm>
              <a:prstGeom prst="rect">
                <a:avLst/>
              </a:prstGeom>
              <a:blipFill>
                <a:blip r:embed="rId2"/>
                <a:stretch>
                  <a:fillRect l="-336" r="-561" b="-2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1309</TotalTime>
  <Words>9950</Words>
  <Application>Microsoft Macintosh PowerPoint</Application>
  <PresentationFormat>Widescreen</PresentationFormat>
  <Paragraphs>684</Paragraphs>
  <Slides>63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68" baseType="lpstr">
      <vt:lpstr>Arial</vt:lpstr>
      <vt:lpstr>Calibri</vt:lpstr>
      <vt:lpstr>Cambria Math</vt:lpstr>
      <vt:lpstr>Futura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Levine, Charles R CTR</cp:lastModifiedBy>
  <cp:revision>20</cp:revision>
  <cp:lastPrinted>2026-08-20T16:36:48Z</cp:lastPrinted>
  <dcterms:created xsi:type="dcterms:W3CDTF">2013-01-27T09:14:16Z</dcterms:created>
  <dcterms:modified xsi:type="dcterms:W3CDTF">2026-08-20T16:55:03Z</dcterms:modified>
  <cp:category/>
</cp:coreProperties>
</file>