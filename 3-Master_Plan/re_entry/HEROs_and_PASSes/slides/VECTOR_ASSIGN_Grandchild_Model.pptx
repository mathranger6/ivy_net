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449"/>
                </a:solidFill>
              </a:defRPr>
            </a:pPr>
            <a:r>
              <a:t>ASSIGN Grandchild: Endogenous Team Centroids Within One Formation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B8C"/>
                </a:solidFill>
              </a:defRPr>
            </a:pPr>
            <a:r>
              <a:t>Same capacity-constrained homophily rule — but teams begin identical and μⱼ updates after every attachment.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33756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2D5B8C"/>
                </a:solidFill>
              </a:defRPr>
            </a:pPr>
            <a:r>
              <a:t>1  Identical initial teams</a:t>
            </a:r>
          </a:p>
          <a:p>
            <a:pPr>
              <a:spcBef>
                <a:spcPts val="500"/>
              </a:spcBef>
              <a:defRPr sz="1250">
                <a:solidFill>
                  <a:srgbClr val="202020"/>
                </a:solidFill>
              </a:defRPr>
            </a:pPr>
            <a:r>
              <a:t>μⱼ⁽⁰⁾ = μ₀ = Ā   for every j</a:t>
            </a:r>
            <a:br/>
            <a:r>
              <a:t>Rⱼ⁽⁰⁾ = C   for every j</a:t>
            </a:r>
            <a:br/>
            <a:br/>
            <a:r>
              <a:t>No initial between-team differentiation.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234440"/>
            <a:ext cx="333756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2D5B8C"/>
                </a:solidFill>
              </a:defRPr>
            </a:pPr>
            <a:r>
              <a:t>2  Random player entrance</a:t>
            </a:r>
          </a:p>
          <a:p>
            <a:pPr>
              <a:spcBef>
                <a:spcPts val="500"/>
              </a:spcBef>
              <a:defRPr sz="1250">
                <a:solidFill>
                  <a:srgbClr val="202020"/>
                </a:solidFill>
              </a:defRPr>
            </a:pPr>
            <a:r>
              <a:t>Randomly permute the Aᵢ population.</a:t>
            </a:r>
            <a:br/>
            <a:r>
              <a:t>s = sequential entrance/assignment event.</a:t>
            </a:r>
            <a:br/>
            <a:br/>
            <a:r>
              <a:t>One full queue = one stochastic realization.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57031" y="1234440"/>
            <a:ext cx="333756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5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A53737"/>
                </a:solidFill>
              </a:defRPr>
            </a:pPr>
            <a:r>
              <a:t>3  Homophilic attachment</a:t>
            </a:r>
          </a:p>
          <a:p>
            <a:pPr>
              <a:spcBef>
                <a:spcPts val="500"/>
              </a:spcBef>
              <a:defRPr sz="1250">
                <a:solidFill>
                  <a:srgbClr val="202020"/>
                </a:solidFill>
              </a:defRPr>
            </a:pPr>
            <a:r>
              <a:t>At each event, open teams compete using remaining capacity × similarity to the team's current centroid.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770632"/>
            <a:ext cx="10268712" cy="1170432"/>
          </a:xfrm>
          <a:prstGeom prst="roundRect">
            <a:avLst/>
          </a:prstGeom>
          <a:solidFill>
            <a:srgbClr val="F4F7F9"/>
          </a:solidFill>
          <a:ln>
            <a:solidFill>
              <a:srgbClr val="CD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C3449"/>
                </a:solidFill>
                <a:latin typeface="Cambria Math"/>
              </a:defRPr>
            </a:pPr>
            <a:r>
              <a:t>P(i→j | s) =  Rⱼ⁽ˢ⁾ e^{−ρ|Aᵢ−μⱼ⁽ˢ⁾|}  /  Σₗ Rₗ⁽ˢ⁾ e^{−ρ|Aᵢ−μₗ⁽ˢ⁾|}</a:t>
            </a:r>
          </a:p>
          <a:p>
            <a:pPr algn="ctr">
              <a:defRPr sz="1100">
                <a:solidFill>
                  <a:srgbClr val="5A646C"/>
                </a:solidFill>
              </a:defRPr>
            </a:pPr>
            <a:r>
              <a:t>ρ = homophilic preference   •   Rⱼ = remaining team slots   •   μⱼ⁽ˢ⁾ = current team centroid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61104"/>
            <a:ext cx="34290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2D5B8C"/>
                </a:solidFill>
              </a:defRPr>
            </a:pPr>
            <a:r>
              <a:t>4  Attach + consume a slot</a:t>
            </a:r>
          </a:p>
          <a:p>
            <a:pPr>
              <a:spcBef>
                <a:spcPts val="500"/>
              </a:spcBef>
              <a:defRPr sz="1250">
                <a:solidFill>
                  <a:srgbClr val="202020"/>
                </a:solidFill>
              </a:defRPr>
            </a:pPr>
            <a:r>
              <a:t>If player i joins team j:</a:t>
            </a:r>
            <a:br/>
            <a:r>
              <a:t>Rⱼ⁽ˢ⁺¹⁾ = Rⱼ⁽ˢ⁾ − 1</a:t>
            </a:r>
            <a:br/>
            <a:br/>
            <a:r>
              <a:t>A full team automatically leaves the choice 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4261104"/>
            <a:ext cx="34290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5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A53737"/>
                </a:solidFill>
              </a:defRPr>
            </a:pPr>
            <a:r>
              <a:t>5  Immediately update μⱼ</a:t>
            </a:r>
          </a:p>
          <a:p>
            <a:pPr>
              <a:spcBef>
                <a:spcPts val="500"/>
              </a:spcBef>
              <a:defRPr sz="1250">
                <a:solidFill>
                  <a:srgbClr val="202020"/>
                </a:solidFill>
              </a:defRPr>
            </a:pPr>
            <a:r>
              <a:t>First member:  μⱼ = Aᵢ</a:t>
            </a:r>
            <a:br/>
            <a:r>
              <a:t>Thereafter μⱼ is the mean of actual attached players.</a:t>
            </a:r>
            <a:br/>
            <a:r>
              <a:t>μ₀ is NOT a pseudo-player.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4261104"/>
            <a:ext cx="34290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2D5B8C"/>
                </a:solidFill>
              </a:defRPr>
            </a:pPr>
            <a:r>
              <a:t>6  Emergent differentiation</a:t>
            </a:r>
          </a:p>
          <a:p>
            <a:pPr>
              <a:spcBef>
                <a:spcPts val="500"/>
              </a:spcBef>
              <a:defRPr sz="1250">
                <a:solidFill>
                  <a:srgbClr val="202020"/>
                </a:solidFill>
              </a:defRPr>
            </a:pPr>
            <a:r>
              <a:t>Repeat until all C slots are filled.</a:t>
            </a:r>
            <a:br/>
            <a:r>
              <a:t>Teams began identical; final μⱼ differences emerge from stochastic arrivals + homophily + capacity.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" y="5760720"/>
            <a:ext cx="9966960" cy="502920"/>
          </a:xfrm>
          <a:prstGeom prst="roundRect">
            <a:avLst/>
          </a:prstGeom>
          <a:solidFill>
            <a:srgbClr val="1C3449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TEST:  ρ ↑  →  within-team dispersion D ↓ ?   •   normalized sorting H ↑ ?   •   what is the functional shape?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46C"/>
                </a:solidFill>
              </a:defRPr>
            </a:pPr>
            <a:r>
              <a:t>Grandchild preserves the Parent/Child weighted-stub + Quayle-style homophily logic; only the within-run centroid rule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