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65" r:id="rId2"/>
    <p:sldId id="256" r:id="rId3"/>
    <p:sldId id="277" r:id="rId4"/>
    <p:sldId id="274" r:id="rId5"/>
    <p:sldId id="257" r:id="rId6"/>
    <p:sldId id="275" r:id="rId7"/>
    <p:sldId id="278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48"/>
  </p:normalViewPr>
  <p:slideViewPr>
    <p:cSldViewPr snapToGrid="0" snapToObjects="1">
      <p:cViewPr varScale="1">
        <p:scale>
          <a:sx n="193" d="100"/>
          <a:sy n="193" d="100"/>
        </p:scale>
        <p:origin x="216" y="7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3984F2-0FE4-904E-B6D8-FBA3A2D4DB33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A65AC5-4B69-CD42-A9CA-DA3CB3FA4F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875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65AC5-4B69-CD42-A9CA-DA3CB3FA4FF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62056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0.png"/><Relationship Id="rId4" Type="http://schemas.openxmlformats.org/officeDocument/2006/relationships/image" Target="../media/image60.png"/><Relationship Id="rId5" Type="http://schemas.openxmlformats.org/officeDocument/2006/relationships/image" Target="../media/image7.png"/><Relationship Id="rId6" Type="http://schemas.openxmlformats.org/officeDocument/2006/relationships/image" Target="../media/image3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3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44119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lang="en-US" sz="2000" dirty="0"/>
              <a:t>PD17 — Empirical MBB characterization</a:t>
            </a:r>
            <a:endParaRPr sz="2000" dirty="0"/>
          </a:p>
        </p:txBody>
      </p:sp>
      <p:sp>
        <p:nvSpPr>
          <p:cNvPr id="3" name="TextBox 2"/>
          <p:cNvSpPr txBox="1"/>
          <p:nvPr/>
        </p:nvSpPr>
        <p:spPr>
          <a:xfrm>
            <a:off x="384048" y="749808"/>
            <a:ext cx="5806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1200"/>
              <a:t>Knobs (mini glossary)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3212608"/>
                  </p:ext>
                </p:extLst>
              </p:nvPr>
            </p:nvGraphicFramePr>
            <p:xfrm>
              <a:off x="384048" y="1024128"/>
              <a:ext cx="6375981" cy="5335114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9263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9758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857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26403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2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200" b="0" i="0" dirty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200" b="0" i="0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sz="1100" b="0" i="0" baseline="-2500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PPM within season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en-US" sz="1200" b="0" i="1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200" b="0" i="1" baseline="0" dirty="0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sz="1200" b="0" baseline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Realized team talent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en-US" sz="11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on roster, not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</m:oMath>
                          </a14:m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b="0" dirty="0"/>
                            <a:t>T</a:t>
                          </a:r>
                          <a:r>
                            <a:rPr lang="en-US" sz="1200" b="0" baseline="-25000" dirty="0"/>
                            <a:t>j *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Sim assignment target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Pass B only – not observed in NCAA data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7805221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Sim soft-match knob; overlay forensics on data</a:t>
                          </a:r>
                          <a:endParaRPr lang="en-US" sz="1100" b="0" baseline="-25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Team</a:t>
                          </a: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congestion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baseline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𝑚𝑒𝑎</m:t>
                              </m:r>
                              <m:sSub>
                                <m:sSubPr>
                                  <m:ctrlPr>
                                    <a:rPr lang="en-US" sz="1100" b="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d>
                                <m:dPr>
                                  <m:ctrlPr>
                                    <a:rPr lang="en-US" sz="1100" b="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d>
                                    <m:dPr>
                                      <m:ctrlPr>
                                        <a:rPr lang="en-US" sz="1100" b="0" i="1" dirty="0" err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100" b="0" i="1" dirty="0" err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ˆ"/>
                                              <m:ctrlPr>
                                                <a:rPr lang="en-US" sz="1100" b="0" i="1" dirty="0" err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100" b="0" i="0" dirty="0" err="1" smtClean="0"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1100" b="0" i="0" dirty="0" err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100" b="0" i="0" dirty="0" err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1100" b="0" i="0" dirty="0" err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d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per roster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Congestion weight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Score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1100" b="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sSub>
                                <m:sSubPr>
                                  <m:ctrlPr>
                                    <a:rPr lang="en-US" sz="1100" b="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 (sim / later on data)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oMath>
                            </m:oMathPara>
                          </a14:m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Viability cutline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acc>
                                    <m:accPr>
                                      <m:chr m:val="ˆ"/>
                                      <m:ctrlPr>
                                        <a:rPr lang="en-US" sz="11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on empirical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en-US" sz="11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1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Reshapes team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– 539 placeholder until lock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Draft rate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Accepted / total in filtered panel (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≈.1.8%</m:t>
                              </m:r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)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3212608"/>
                  </p:ext>
                </p:extLst>
              </p:nvPr>
            </p:nvGraphicFramePr>
            <p:xfrm>
              <a:off x="384048" y="1024128"/>
              <a:ext cx="6375981" cy="5335114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9263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9758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857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26403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104878" r="-621429" b="-8292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PPM within season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190909" r="-621429" b="-67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Realized team talent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190909" r="-707" b="-67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b="0" dirty="0"/>
                            <a:t>T</a:t>
                          </a:r>
                          <a:r>
                            <a:rPr lang="en-US" sz="1200" b="0" baseline="-25000" dirty="0"/>
                            <a:t>j *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Sim assignment target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Pass B only – not observed in NCAA data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7805221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Sim soft-match knob; overlay forensics on data</a:t>
                          </a:r>
                          <a:endParaRPr lang="en-US" sz="1100" b="0" baseline="-25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Team</a:t>
                          </a: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congestion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509524" r="-707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Congestion weight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624390" r="-707" b="-3097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707143" r="-621429" b="-2023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Viability cutline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707143" r="-707" b="-2023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826829" r="-621429" b="-1073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826829" r="-707" b="-1073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904762" r="-621429" b="-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Draft rate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904762" r="-707" b="-47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DB85130-921E-304E-4FF4-9E2C7E1DBD76}"/>
                  </a:ext>
                </a:extLst>
              </p:cNvPr>
              <p:cNvSpPr txBox="1"/>
              <p:nvPr/>
            </p:nvSpPr>
            <p:spPr>
              <a:xfrm>
                <a:off x="6953296" y="1160502"/>
                <a:ext cx="2663999" cy="3693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b="1" i="0" baseline="0" dirty="0">
                    <a:latin typeface="Calibri"/>
                  </a:rPr>
                  <a:t>Deck map (assign </a:t>
                </a:r>
                <a14:m>
                  <m:oMath xmlns:m="http://schemas.openxmlformats.org/officeDocument/2006/math">
                    <m:r>
                      <a:rPr lang="en-US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b="1" i="0" baseline="0" dirty="0">
                    <a:latin typeface="Calibri"/>
                  </a:rPr>
                  <a:t>score)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DB85130-921E-304E-4FF4-9E2C7E1DB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3296" y="1160502"/>
                <a:ext cx="2663999" cy="369332"/>
              </a:xfrm>
              <a:prstGeom prst="rect">
                <a:avLst/>
              </a:prstGeom>
              <a:blipFill>
                <a:blip r:embed="rId3"/>
                <a:stretch>
                  <a:fillRect l="-1896" t="-6667" r="-948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7FE12E-A462-56D0-1668-8FB0FB29E48A}"/>
                  </a:ext>
                </a:extLst>
              </p:cNvPr>
              <p:cNvSpPr txBox="1"/>
              <p:nvPr/>
            </p:nvSpPr>
            <p:spPr>
              <a:xfrm>
                <a:off x="6830873" y="1810402"/>
                <a:ext cx="5361127" cy="20977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400" b="0" i="0" baseline="0" dirty="0">
                    <a:latin typeface="Calibri"/>
                  </a:rPr>
                  <a:t>  Slide 2 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4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4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4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400" b="0" i="0" baseline="0" dirty="0">
                    <a:latin typeface="Calibri"/>
                  </a:rPr>
                  <a:t> inputs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400" b="0" i="0" baseline="0" dirty="0">
                    <a:latin typeface="Calibri"/>
                  </a:rPr>
                  <a:t>  Slide 3 — team interval overlap (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diagnostic, 530 CELL 8)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400" b="0" i="0" baseline="0" dirty="0">
                    <a:latin typeface="Calibri"/>
                  </a:rPr>
                  <a:t>  Slide 4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400" b="0" i="0" baseline="0" dirty="0">
                    <a:latin typeface="Calibri"/>
                  </a:rPr>
                  <a:t> distribution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400" b="0" i="0" baseline="0" dirty="0">
                    <a:latin typeface="Calibri"/>
                  </a:rPr>
                  <a:t>  Slide 5 — Sketch 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4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400" b="0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sz="14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400" b="0" i="0" baseline="0" dirty="0">
                    <a:latin typeface="Calibri"/>
                  </a:rPr>
                  <a:t>  Slide 6 —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sweep on real rosters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400" b="0" i="0" baseline="0" dirty="0">
                    <a:latin typeface="Calibri"/>
                  </a:rPr>
                  <a:t>  Slide 7 — sim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</a:t>
                </a:r>
                <a:r>
                  <a:rPr lang="en-US" sz="1400" dirty="0">
                    <a:latin typeface="Calibri"/>
                  </a:rPr>
                  <a:t>calibration capstone</a:t>
                </a:r>
                <a:endParaRPr sz="14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7FE12E-A462-56D0-1668-8FB0FB29E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0873" y="1810402"/>
                <a:ext cx="5361127" cy="2097754"/>
              </a:xfrm>
              <a:prstGeom prst="rect">
                <a:avLst/>
              </a:prstGeom>
              <a:blipFill>
                <a:blip r:embed="rId4"/>
                <a:stretch>
                  <a:fillRect l="-473"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D6AE3C-2E51-0813-F108-49D66345E4EC}"/>
                  </a:ext>
                </a:extLst>
              </p:cNvPr>
              <p:cNvSpPr txBox="1"/>
              <p:nvPr/>
            </p:nvSpPr>
            <p:spPr>
              <a:xfrm>
                <a:off x="305673" y="646243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Map empirical properties of real rosters — prerequisite for pinning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from data, then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without hero-curve matching.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D6AE3C-2E51-0813-F108-49D66345E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673" y="646243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EMPIRICAL_Ai_Tj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032" y="2102294"/>
            <a:ext cx="9115615" cy="3779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01168"/>
                <a:ext cx="4466159" cy="44800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MBB 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01168"/>
                <a:ext cx="4466159" cy="448008"/>
              </a:xfrm>
              <a:prstGeom prst="rect">
                <a:avLst/>
              </a:prstGeom>
              <a:blipFill>
                <a:blip r:embed="rId3"/>
                <a:stretch>
                  <a:fillRect l="-1416" t="-8333" b="-19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384048" y="676656"/>
            <a:ext cx="417293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ppm z within season · min 20 min · poolq winsor 0.01–0.99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7" y="1005840"/>
                <a:ext cx="3902659" cy="12503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1000" b="0" i="0" baseline="0" dirty="0">
                    <a:latin typeface="Calibri"/>
                  </a:rPr>
                  <a:t>Realized rosters — descriptive inputs, not sim draws.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1000" b="0" i="0" baseline="0" dirty="0">
                    <a:latin typeface="Calibri"/>
                  </a:rPr>
                  <a:t>Left: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player ability (one value per player-season).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1000" b="0" i="0" baseline="0" dirty="0">
                    <a:latin typeface="Calibri"/>
                  </a:rPr>
                  <a:t>Right: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roster (team-season; not LOO).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tighter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(averaging shrinks spread).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1000" b="0" i="0" baseline="0" dirty="0">
                    <a:latin typeface="Calibri"/>
                  </a:rPr>
                  <a:t>This run: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=-0.001,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=0.011 (sd 0.995 / 0.401).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sz="1000" b="1" i="0" baseline="0" dirty="0">
                    <a:latin typeface="Calibri"/>
                  </a:rPr>
                  <a:t>PD17 </a:t>
                </a:r>
                <a14:m>
                  <m:oMath xmlns:m="http://schemas.openxmlformats.org/officeDocument/2006/math"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lang="en-US" sz="1000" b="1" i="0" baseline="0" dirty="0">
                    <a:latin typeface="Calibri"/>
                  </a:rPr>
                  <a:t> </a:t>
                </a:r>
                <a:r>
                  <a:rPr sz="1000" b="1" i="0" baseline="0" dirty="0">
                    <a:latin typeface="Calibri"/>
                  </a:rPr>
                  <a:t>proxy: </a:t>
                </a:r>
                <a14:m>
                  <m:oMath xmlns:m="http://schemas.openxmlformats.org/officeDocument/2006/math"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𝐊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𝐍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𝟎𝟏𝟖𝟐</m:t>
                    </m:r>
                  </m:oMath>
                </a14:m>
                <a:r>
                  <a:rPr lang="en-US" sz="1000" b="1" i="0" baseline="0" dirty="0">
                    <a:latin typeface="Calibri"/>
                  </a:rPr>
                  <a:t>. </a:t>
                </a:r>
              </a:p>
              <a:p>
                <a:pPr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000" b="1" dirty="0">
                    <a:latin typeface="Calibri"/>
                  </a:rPr>
                  <a:t>		</a:t>
                </a:r>
                <a:r>
                  <a:rPr sz="1000" b="1" i="0" baseline="0" dirty="0">
                    <a:latin typeface="Calibri"/>
                  </a:rPr>
                  <a:t>(1,134 drafted / 62,180 player-seasons).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005840"/>
                <a:ext cx="3902659" cy="1250342"/>
              </a:xfrm>
              <a:prstGeom prst="rect">
                <a:avLst/>
              </a:prstGeom>
              <a:blipFill>
                <a:blip r:embed="rId4"/>
                <a:stretch>
                  <a:fillRect b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791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050" b="1" i="0" baseline="0" dirty="0">
                    <a:latin typeface="Calibri"/>
                  </a:rPr>
                  <a:t>Claim (PD17): World-first inputs from the real MBB panel 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50" b="1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 per player-season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50" b="1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 per team-season.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p>
                          <m:sSupPr>
                            <m:ctrlPr>
                              <a:rPr lang="en-US" sz="1050" b="1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(sim assignment targets).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7917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180636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PD17 — Empirical team \hat{A}_{i} interval overlap (\rho diagnostic)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2575438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2011–2021 · PPM z · 6,492 team-seasons · H_{sort}=0.105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4069" y="1033272"/>
            <a:ext cx="6519484" cy="4983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Each team-season: talent window [\min \hat{A}_{i}, \max \hat{A}_{i}] on PPM z.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Coverage = how many windows cover a point on the spectrum (530 CELL 8).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= 1 - \sum_i(\hat{A}_i - \hat{\mu}_{g(i)})^2 / \sum_i(\hat{A}_i - \bar{A})^2 — realized sorting on a fixed partition.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Empirical partition: H_{sort} = 0.105 (0 = none, 1 = full team sorting).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Max coverage=6,305; sort-and-chop max=7.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Roster span: mean=2.98 z (6,492 team-seasons).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VECTOR lock: H_{sort} is realized sorting — not the generative homophily knob \rho.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(PD17): Real NCAA rosters leave massively overlapping team talent windows — compare H_{sort} on this partition to Grandchild sim (slide 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180636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Grandchild sim — team \hat{A}_{i} interval overlap (\rho diagnostic)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2575438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2015 PPM z · Grandchild ASSIGN · \rho=0.5 · H_{sort}=0.157 · 402 teams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7684" y="1033272"/>
            <a:ext cx="6432254" cy="4983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Grandchild one-shot league: 2015 PPM z abilities, C=15, J=402.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ASSIGN: \rho=0.5, endogenous \mu_j — no T_{j^*} draw.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= 1 - \sum_i(\hat{A}_i - \hat{\mu}_{g(i)})^2 / \sum_i(\hat{A}_i - \bar{A})^2 — realized sorting on a fixed partition.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Grandchild partition: H_{sort} = 0.157 (0 = none, 1 = full team sorting).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Max coverage=402; sort-and-chop max=8.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Roster span: mean=3.36 z (402 teams).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VECTOR lock: H_{sort} is realized sorting — not the generative homophily knob \rho.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Claim: Grandchild ASSIGN (_x000D_ho-only, endogenous centroids) on 2015 PPM z — compare interval overlap and H_{sort} to empirical slide 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088363" cy="44800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Sketch 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088363" cy="448008"/>
              </a:xfrm>
              <a:prstGeom prst="rect">
                <a:avLst/>
              </a:prstGeom>
              <a:blipFill>
                <a:blip r:embed="rId2"/>
                <a:stretch>
                  <a:fillRect l="-1548" t="-11111" b="-19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717562" cy="27013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within season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. </m:t>
                    </m:r>
                    <m:d>
                      <m:d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=0.0182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·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placeholder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717562" cy="27013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51560"/>
                <a:ext cx="3526036" cy="1367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cell: count of team-seasons at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Color = count (empirical Sketch A — no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roster (realized talent,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Look for upward co-movement: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with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1560"/>
                <a:ext cx="3526036" cy="1367810"/>
              </a:xfrm>
              <a:prstGeom prst="rect">
                <a:avLst/>
              </a:prstGeom>
              <a:blipFill>
                <a:blip r:embed="rId4"/>
                <a:stretch>
                  <a:fillRect b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EMPIRICAL_L_C_vs_Tj_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9815" y="1051560"/>
            <a:ext cx="6558185" cy="4928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879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On actual team-seasons, stronger realized rosters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100" b="1" i="1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1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) tend to co-occur with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empirical Sketch A.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87964"/>
              </a:xfrm>
              <a:prstGeom prst="rect">
                <a:avLst/>
              </a:prstGeom>
              <a:blipFill>
                <a:blip r:embed="rId6"/>
                <a:stretch>
                  <a:fillRect t="-4167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714834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</a:t>
                </a:r>
                <a:r>
                  <a:rPr lang="en-US" sz="2000" b="1" i="0" baseline="0" dirty="0">
                    <a:latin typeface="Calibri"/>
                  </a:rPr>
                  <a:t>sweep:</a:t>
                </a:r>
                <a:r>
                  <a:rPr sz="2000" b="1" i="0" baseline="0" dirty="0">
                    <a:latin typeface="Calibri"/>
                  </a:rPr>
                  <a:t>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on real rosters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714834" cy="400110"/>
              </a:xfrm>
              <a:prstGeom prst="rect">
                <a:avLst/>
              </a:prstGeom>
              <a:blipFill>
                <a:blip r:embed="rId3"/>
                <a:stretch>
                  <a:fillRect l="-11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601280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z-units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fixed across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6012800" cy="24622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EMPIRICAL_L_C_gamma_sweep_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5816" y="1033272"/>
            <a:ext cx="8560063" cy="4114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202936"/>
                <a:ext cx="3685946" cy="438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OAT on real panel: fixed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cutline on PPM z); only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in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9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9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ˆ"/>
                                <m:ctrlPr>
                                  <a:rPr lang="en-US" sz="9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9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  <m:r>
                              <a:rPr lang="en-US" sz="9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9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900" b="0" i="0" baseline="0" dirty="0">
                    <a:latin typeface="Calibri"/>
                  </a:rPr>
                  <a:t> changes.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202936"/>
                <a:ext cx="3685946" cy="438133"/>
              </a:xfrm>
              <a:prstGeom prst="rect">
                <a:avLst/>
              </a:prstGeom>
              <a:blipFill>
                <a:blip r:embed="rId6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252874" y="5202936"/>
                <a:ext cx="3685946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Arms: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900" b="0" i="1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b="0" i="0" baseline="0" dirty="0" smtClean="0">
                            <a:latin typeface="Cambria Math" panose="02040503050406030204" pitchFamily="18" charset="0"/>
                          </a:rPr>
                          <m:t>10,5,1,0.5,0.001</m:t>
                        </m:r>
                      </m:e>
                    </m:d>
                  </m:oMath>
                </a14:m>
                <a:r>
                  <a:rPr sz="900" b="0" i="0" baseline="0" dirty="0">
                    <a:latin typeface="Calibri"/>
                  </a:rPr>
                  <a:t> — same team-seasons, same rosters.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874" y="5202936"/>
                <a:ext cx="3685946" cy="230832"/>
              </a:xfrm>
              <a:prstGeom prst="rect">
                <a:avLst/>
              </a:prstGeom>
              <a:blipFill>
                <a:blip r:embed="rId7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8121700" y="5202936"/>
                <a:ext cx="3685946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At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=0.029,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84%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teams below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0.05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700" y="5202936"/>
                <a:ext cx="3685946" cy="230832"/>
              </a:xfrm>
              <a:prstGeom prst="rect">
                <a:avLst/>
              </a:prstGeom>
              <a:blipFill>
                <a:blip r:embed="rId8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84048" y="5961888"/>
                <a:ext cx="3622402" cy="2308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At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=0.499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, max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=0.500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— spread opens on z-scale.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961888"/>
                <a:ext cx="3622402" cy="230832"/>
              </a:xfrm>
              <a:prstGeom prst="rect">
                <a:avLst/>
              </a:prstGeom>
              <a:blipFill>
                <a:blip r:embed="rId9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84048" y="615884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On real rosters, γ reshapes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high γ compresses viability near 0 on the PPM-z scale; low γ spreads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into the interior of [0,1].</a:t>
                </a: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58844"/>
                <a:ext cx="11423599" cy="261610"/>
              </a:xfrm>
              <a:prstGeom prst="rect">
                <a:avLst/>
              </a:prstGeom>
              <a:blipFill>
                <a:blip r:embed="rId10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PD17 — Empirical vs sim interval overlap (\rho calibration target)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Assign block capstone · empirical MBB vs 539 sim · same coverage diagnostic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8522" y="960120"/>
            <a:ext cx="11063037" cy="34594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384048" y="4372927"/>
                <a:ext cx="6334804" cy="14720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Three panels: empirical (left) · four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/>
                  <a:t> arms (center) ·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=1→32</m:t>
                    </m:r>
                  </m:oMath>
                </a14:m>
                <a:r>
                  <a:rPr lang="en-US" sz="1000" dirty="0"/>
                  <a:t> sweep (right).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 err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000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000" dirty="0"/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p>
                          <m:sSupPr>
                            <m:ctrlP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1000" i="0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b>
                    </m:sSub>
                  </m:oMath>
                </a14:m>
                <a:r>
                  <a:rPr lang="en-US" sz="1000" dirty="0"/>
                  <a:t> draw across sim panels; seed fixed.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Empirical max coverage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6,305</m:t>
                    </m:r>
                  </m:oMath>
                </a14:m>
                <a:r>
                  <a:rPr lang="en-US" sz="1000" dirty="0"/>
                  <a:t>; sort-and-chop max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Center: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0.001,1,8,32</m:t>
                        </m:r>
                      </m:e>
                    </m:d>
                  </m:oMath>
                </a14:m>
                <a:r>
                  <a:rPr lang="en-US" sz="1000" dirty="0"/>
                  <a:t>; right sweep peaks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=1→1000</m:t>
                    </m:r>
                  </m:oMath>
                </a14:m>
                <a:r>
                  <a:rPr lang="en-US" sz="1000" dirty="0"/>
                  <a:t>,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=32→588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Sim sort-and-chop peak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000" dirty="0"/>
                  <a:t> on both sim panels.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PPM z vs [0,1] ability — compare shape, seed 42.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4372927"/>
                <a:ext cx="6334804" cy="1472070"/>
              </a:xfrm>
              <a:prstGeom prst="rect">
                <a:avLst/>
              </a:prstGeom>
              <a:blipFill>
                <a:blip r:embed="rId3"/>
                <a:stretch>
                  <a:fillRect b="-1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Real rosters sit at high coverage peak — sim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must be tuned so soft assign matches that overlap, not sort-and-chop.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4077</TotalTime>
  <Words>1104</Words>
  <Application>Microsoft Macintosh PowerPoint</Application>
  <PresentationFormat>Widescreen</PresentationFormat>
  <Paragraphs>95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Arial</vt:lpstr>
      <vt:lpstr>Avenir Next</vt:lpstr>
      <vt:lpstr>Avenir Next Medium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49</cp:revision>
  <cp:lastPrinted>2026-08-04T17:29:11Z</cp:lastPrinted>
  <dcterms:created xsi:type="dcterms:W3CDTF">2013-01-27T09:14:16Z</dcterms:created>
  <dcterms:modified xsi:type="dcterms:W3CDTF">2026-08-06T22:33:44Z</dcterms:modified>
  <cp:category/>
</cp:coreProperties>
</file>