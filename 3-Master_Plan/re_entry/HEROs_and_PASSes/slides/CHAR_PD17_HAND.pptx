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65" r:id="rId2"/>
    <p:sldId id="256" r:id="rId3"/>
    <p:sldId id="288" r:id="rId4"/>
    <p:sldId id="283" r:id="rId5"/>
    <p:sldId id="285" r:id="rId6"/>
    <p:sldId id="300" r:id="rId7"/>
    <p:sldId id="279" r:id="rId8"/>
    <p:sldId id="287" r:id="rId9"/>
    <p:sldId id="286" r:id="rId10"/>
    <p:sldId id="289" r:id="rId11"/>
    <p:sldId id="290" r:id="rId12"/>
    <p:sldId id="293" r:id="rId13"/>
    <p:sldId id="292" r:id="rId14"/>
    <p:sldId id="294" r:id="rId15"/>
    <p:sldId id="295" r:id="rId16"/>
    <p:sldId id="296" r:id="rId17"/>
    <p:sldId id="299" r:id="rId18"/>
    <p:sldId id="298" r:id="rId19"/>
    <p:sldId id="297" r:id="rId20"/>
    <p:sldId id="301" r:id="rId21"/>
    <p:sldId id="302" r:id="rId22"/>
    <p:sldId id="257" r:id="rId23"/>
    <p:sldId id="275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969"/>
    <p:restoredTop sz="94648"/>
  </p:normalViewPr>
  <p:slideViewPr>
    <p:cSldViewPr snapToGrid="0" snapToObjects="1">
      <p:cViewPr varScale="1">
        <p:scale>
          <a:sx n="199" d="100"/>
          <a:sy n="199" d="100"/>
        </p:scale>
        <p:origin x="200" y="5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3984F2-0FE4-904E-B6D8-FBA3A2D4DB33}" type="datetimeFigureOut">
              <a:rPr lang="en-US" smtClean="0"/>
              <a:t>8/12/26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A65AC5-4B69-CD42-A9CA-DA3CB3FA4F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8753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A65AC5-4B69-CD42-A9CA-DA3CB3FA4FF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6205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2.png"/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1.png"/><Relationship Id="rId5" Type="http://schemas.openxmlformats.org/officeDocument/2006/relationships/image" Target="../media/image25.png"/><Relationship Id="rId4" Type="http://schemas.openxmlformats.org/officeDocument/2006/relationships/image" Target="../media/image2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0.png"/><Relationship Id="rId5" Type="http://schemas.openxmlformats.org/officeDocument/2006/relationships/image" Target="../media/image26.png"/><Relationship Id="rId4" Type="http://schemas.openxmlformats.org/officeDocument/2006/relationships/image" Target="../media/image3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1.png"/><Relationship Id="rId7" Type="http://schemas.openxmlformats.org/officeDocument/2006/relationships/image" Target="../media/image3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0.png"/><Relationship Id="rId5" Type="http://schemas.openxmlformats.org/officeDocument/2006/relationships/image" Target="../media/image33.png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1.png"/><Relationship Id="rId7" Type="http://schemas.openxmlformats.org/officeDocument/2006/relationships/image" Target="../media/image3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0.png"/><Relationship Id="rId5" Type="http://schemas.openxmlformats.org/officeDocument/2006/relationships/image" Target="../media/image290.png"/><Relationship Id="rId4" Type="http://schemas.openxmlformats.org/officeDocument/2006/relationships/image" Target="../media/image3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0.png"/><Relationship Id="rId5" Type="http://schemas.openxmlformats.org/officeDocument/2006/relationships/image" Target="../media/image64.png"/><Relationship Id="rId4" Type="http://schemas.openxmlformats.org/officeDocument/2006/relationships/image" Target="../media/image18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.png"/><Relationship Id="rId3" Type="http://schemas.openxmlformats.org/officeDocument/2006/relationships/image" Target="../media/image211.png"/><Relationship Id="rId7" Type="http://schemas.openxmlformats.org/officeDocument/2006/relationships/image" Target="../media/image25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0.png"/><Relationship Id="rId5" Type="http://schemas.openxmlformats.org/officeDocument/2006/relationships/image" Target="../media/image65.png"/><Relationship Id="rId10" Type="http://schemas.openxmlformats.org/officeDocument/2006/relationships/image" Target="../media/image280.png"/><Relationship Id="rId4" Type="http://schemas.openxmlformats.org/officeDocument/2006/relationships/image" Target="../media/image220.png"/><Relationship Id="rId9" Type="http://schemas.openxmlformats.org/officeDocument/2006/relationships/image" Target="../media/image27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441191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lang="en-US" sz="2000" dirty="0"/>
              <a:t>PD17 — Empirical MBB characterization</a:t>
            </a:r>
            <a:endParaRPr sz="2000" dirty="0"/>
          </a:p>
        </p:txBody>
      </p:sp>
      <p:sp>
        <p:nvSpPr>
          <p:cNvPr id="3" name="TextBox 2"/>
          <p:cNvSpPr txBox="1"/>
          <p:nvPr/>
        </p:nvSpPr>
        <p:spPr>
          <a:xfrm>
            <a:off x="384048" y="749808"/>
            <a:ext cx="5806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1200"/>
              <a:t>Knobs (mini glossary)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33212608"/>
                  </p:ext>
                </p:extLst>
              </p:nvPr>
            </p:nvGraphicFramePr>
            <p:xfrm>
              <a:off x="384048" y="1024128"/>
              <a:ext cx="6375981" cy="5335114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92637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89758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58575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526403">
                    <a:tc>
                      <a:txBody>
                        <a:bodyPr/>
                        <a:lstStyle/>
                        <a:p>
                          <a:pPr algn="ctr"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Symbol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Plain name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What it controls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2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200" b="0" i="0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200" b="0" i="0" dirty="0" smtClean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200" b="0" i="0" dirty="0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sz="1100" b="0" i="0" baseline="-2500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Player ability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PPM within season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561945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acc>
                                  <m:accPr>
                                    <m:chr m:val="̂"/>
                                    <m:ctrlPr>
                                      <a:rPr lang="en-US" sz="1200" b="0" i="1" baseline="0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200" b="0" i="1" baseline="0" dirty="0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US" sz="1200" b="0" baseline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Realized team talent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Mean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ˆ"/>
                                      <m:ctrlPr>
                                        <a:rPr lang="en-US" sz="1100" b="0" i="0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100" b="0" i="0" dirty="0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on roster, not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b>
                              </m:sSub>
                            </m:oMath>
                          </a14:m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49253264"/>
                      </a:ext>
                    </a:extLst>
                  </a:tr>
                  <a:tr h="5619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b="0" dirty="0"/>
                            <a:t>T</a:t>
                          </a:r>
                          <a:r>
                            <a:rPr lang="en-US" sz="1200" b="0" baseline="-25000" dirty="0"/>
                            <a:t>j *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Sim assignment target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Pass B only – not observed in NCAA data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67805221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ρ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Assignment assortativity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Sim soft-match knob; overlay forensics on data</a:t>
                          </a:r>
                          <a:endParaRPr lang="en-US" sz="1100" b="0" baseline="-25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L</a:t>
                          </a:r>
                          <a:r>
                            <a:rPr sz="1100" b="0" i="0" baseline="-25000" dirty="0">
                              <a:latin typeface="Avenir Next" panose="020B0503020202020204" pitchFamily="34" charset="0"/>
                            </a:rPr>
                            <a:t>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Team</a:t>
                          </a: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 </a:t>
                          </a: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congestion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100" b="0" i="0" baseline="0" dirty="0">
                              <a:latin typeface="Avenir Next" panose="020B0503020202020204" pitchFamily="34" charset="0"/>
                            </a:rPr>
                            <a:t> </a:t>
                          </a: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100" b="0" i="0" dirty="0" smtClean="0">
                                  <a:latin typeface="Cambria Math" panose="02040503050406030204" pitchFamily="18" charset="0"/>
                                </a:rPr>
                                <m:t>𝑚𝑒𝑎</m:t>
                              </m:r>
                              <m:sSub>
                                <m:sSubPr>
                                  <m:ctrlP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1100" b="0" i="0" dirty="0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r>
                                <a:rPr lang="en-US" sz="1100" b="0" i="0" dirty="0" err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d>
                                <m:dPr>
                                  <m:ctrlP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  <m:d>
                                    <m:dPr>
                                      <m:ctrlPr>
                                        <a:rPr lang="en-US" sz="1100" b="0" i="1" dirty="0" err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100" b="0" i="1" dirty="0" err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ˆ"/>
                                              <m:ctrlPr>
                                                <a:rPr lang="en-US" sz="1100" b="0" i="0" dirty="0" err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sz="1100" b="0" i="0" dirty="0" err="1" smtClean="0">
                                                  <a:latin typeface="Cambria Math" panose="02040503050406030204" pitchFamily="18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sz="1100" b="0" i="0" dirty="0" err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1100" b="0" i="0" dirty="0" err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1100" b="0" i="0" dirty="0" err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d>
                            </m:oMath>
                          </a14:m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per roster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λ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Congestion weight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Score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100" b="0" i="0" dirty="0" err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100" b="0" i="0" dirty="0" err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100" b="0" i="0" dirty="0" err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sSub>
                                <m:sSubPr>
                                  <m:ctrlP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 (sim / later on data)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oMath>
                            </m:oMathPara>
                          </a14:m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Viability cutline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800">
                              <a:latin typeface="Calibri"/>
                            </a:defRPr>
                          </a:pPr>
                          <a14:m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acc>
                                    <m:accPr>
                                      <m:chr m:val="ˆ"/>
                                      <m:ctrlPr>
                                        <a:rPr lang="en-US" sz="1100" b="0" i="0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100" b="0" i="0" dirty="0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sub>
                                <m:sup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on empirical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ˆ"/>
                                      <m:ctrlPr>
                                        <a:rPr lang="en-US" sz="11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100" b="0" i="1" dirty="0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Sigmoid sharpness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Reshapes team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– 539 placeholder until lock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Draft rate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Accepted / total in filtered panel (</a:t>
                          </a:r>
                          <a14:m>
                            <m:oMath xmlns:m="http://schemas.openxmlformats.org/officeDocument/2006/math">
                              <m:r>
                                <a:rPr lang="en-US" sz="1100" b="0" i="0" dirty="0" smtClean="0">
                                  <a:latin typeface="Cambria Math" panose="02040503050406030204" pitchFamily="18" charset="0"/>
                                </a:rPr>
                                <m:t>≈.1.8%</m:t>
                              </m:r>
                            </m:oMath>
                          </a14:m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)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33212608"/>
                  </p:ext>
                </p:extLst>
              </p:nvPr>
            </p:nvGraphicFramePr>
            <p:xfrm>
              <a:off x="384048" y="1024128"/>
              <a:ext cx="6375981" cy="5335114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92637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89758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58575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526403">
                    <a:tc>
                      <a:txBody>
                        <a:bodyPr/>
                        <a:lstStyle/>
                        <a:p>
                          <a:pPr algn="ctr"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Symbol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Plain name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What it controls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429" t="-104878" r="-621429" b="-82926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Player ability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PPM within season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56194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429" t="-190909" r="-621429" b="-67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Realized team talent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8092" t="-190909" r="-707" b="-672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9253264"/>
                      </a:ext>
                    </a:extLst>
                  </a:tr>
                  <a:tr h="5619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b="0" dirty="0"/>
                            <a:t>T</a:t>
                          </a:r>
                          <a:r>
                            <a:rPr lang="en-US" sz="1200" b="0" baseline="-25000" dirty="0"/>
                            <a:t>j *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Sim assignment target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Pass B only – not observed in NCAA data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67805221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ρ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Assignment assortativity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Sim soft-match knob; overlay forensics on data</a:t>
                          </a:r>
                          <a:endParaRPr lang="en-US" sz="1100" b="0" baseline="-25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L</a:t>
                          </a:r>
                          <a:r>
                            <a:rPr sz="1100" b="0" i="0" baseline="-25000" dirty="0">
                              <a:latin typeface="Avenir Next" panose="020B0503020202020204" pitchFamily="34" charset="0"/>
                            </a:rPr>
                            <a:t>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Team</a:t>
                          </a: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 </a:t>
                          </a: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congestion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8092" t="-509524" r="-707" b="-4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λ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Congestion weight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8092" t="-624390" r="-707" b="-3097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429" t="-707143" r="-621429" b="-2023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Viability cutline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8092" t="-707143" r="-707" b="-2023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429" t="-826829" r="-621429" b="-1073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Sigmoid sharpness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8092" t="-826829" r="-707" b="-10731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429" t="-904762" r="-621429" b="-47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Draft rate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8092" t="-904762" r="-707" b="-47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DB85130-921E-304E-4FF4-9E2C7E1DBD76}"/>
                  </a:ext>
                </a:extLst>
              </p:cNvPr>
              <p:cNvSpPr txBox="1"/>
              <p:nvPr/>
            </p:nvSpPr>
            <p:spPr>
              <a:xfrm>
                <a:off x="6908535" y="749808"/>
                <a:ext cx="5094728" cy="36933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b="1" i="0" baseline="0" dirty="0">
                    <a:latin typeface="Calibri"/>
                  </a:rPr>
                  <a:t>Deck map (assign </a:t>
                </a:r>
                <a14:m>
                  <m:oMath xmlns:m="http://schemas.openxmlformats.org/officeDocument/2006/math">
                    <m:r>
                      <a:rPr lang="en-US" b="1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b="1" i="0" baseline="0" dirty="0">
                    <a:latin typeface="Calibri"/>
                  </a:rPr>
                  <a:t> </a:t>
                </a:r>
                <a:r>
                  <a:rPr b="1" i="0" baseline="0" dirty="0">
                    <a:latin typeface="Calibri"/>
                  </a:rPr>
                  <a:t>score</a:t>
                </a:r>
                <a:r>
                  <a:rPr lang="en-US" b="1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b="1" i="0" baseline="0" dirty="0">
                    <a:latin typeface="Calibri"/>
                  </a:rPr>
                  <a:t> comparability </a:t>
                </a:r>
                <a14:m>
                  <m:oMath xmlns:m="http://schemas.openxmlformats.org/officeDocument/2006/math">
                    <m:r>
                      <a:rPr lang="en-US" b="1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b="1" i="0" baseline="0" dirty="0">
                    <a:latin typeface="Calibri"/>
                  </a:rPr>
                  <a:t> Hero</a:t>
                </a:r>
                <a:r>
                  <a:rPr b="1" i="0" baseline="0" dirty="0">
                    <a:latin typeface="Calibri"/>
                  </a:rPr>
                  <a:t>)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DB85130-921E-304E-4FF4-9E2C7E1DBD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8535" y="749808"/>
                <a:ext cx="5094728" cy="369332"/>
              </a:xfrm>
              <a:prstGeom prst="rect">
                <a:avLst/>
              </a:prstGeom>
              <a:blipFill>
                <a:blip r:embed="rId3"/>
                <a:stretch>
                  <a:fillRect l="-744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07FE12E-A462-56D0-1668-8FB0FB29E48A}"/>
                  </a:ext>
                </a:extLst>
              </p:cNvPr>
              <p:cNvSpPr txBox="1"/>
              <p:nvPr/>
            </p:nvSpPr>
            <p:spPr>
              <a:xfrm>
                <a:off x="6984337" y="1264044"/>
                <a:ext cx="4411913" cy="51467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1000" b="0" i="0" baseline="0" dirty="0">
                    <a:latin typeface="Calibri"/>
                  </a:rPr>
                  <a:t>Block A — Empirical inputs &amp; overlap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sz="1000" b="0" i="0" baseline="0" dirty="0">
                    <a:latin typeface="Calibri"/>
                  </a:rPr>
                  <a:t>Slide 2 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err="1" smtClean="0">
                            <a:latin typeface="Cambria Math" panose="02040503050406030204" pitchFamily="18" charset="0"/>
                          </a:rPr>
                          <m:t>Â</m:t>
                        </m:r>
                      </m:e>
                      <m:sub>
                        <m:r>
                          <a:rPr lang="en-US" sz="1000" b="0" i="0" baseline="0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𝑇</m:t>
                    </m:r>
                    <m:sSub>
                      <m:sSubPr>
                        <m:ctrlPr>
                          <a:rPr lang="en-US" sz="1000" b="0" i="0" baseline="0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err="1" smtClean="0">
                            <a:latin typeface="Cambria Math" panose="02040503050406030204" pitchFamily="18" charset="0"/>
                          </a:rPr>
                          <m:t>̂</m:t>
                        </m:r>
                      </m:e>
                      <m:sub>
                        <m:r>
                          <a:rPr lang="en-US" sz="1000" b="0" i="0" baseline="0" dirty="0" err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000" b="0" i="0" baseline="0" dirty="0">
                    <a:latin typeface="Calibri"/>
                  </a:rPr>
                  <a:t> inputs (2011–2021 panel)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sz="1000" b="0" i="0" baseline="0" dirty="0">
                    <a:latin typeface="Calibri"/>
                  </a:rPr>
                  <a:t>Slide 3 — NCAA interval overlap, full panel (</a:t>
                </a:r>
                <a:r>
                  <a:rPr lang="el-GR" sz="1000" b="0" i="0" baseline="0" dirty="0">
                    <a:latin typeface="Calibri"/>
                  </a:rPr>
                  <a:t>ρ </a:t>
                </a:r>
                <a:r>
                  <a:rPr lang="en-US" sz="1000" b="0" i="0" baseline="0" dirty="0">
                    <a:latin typeface="Calibri"/>
                  </a:rPr>
                  <a:t>diagnostic)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sz="1000" b="0" i="0" baseline="0" dirty="0">
                    <a:latin typeface="Calibri"/>
                  </a:rPr>
                  <a:t>Slides 4–5 — NCAA vs LG interval pair (2015–2019 window)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000" b="0" i="0" baseline="0" dirty="0">
                    <a:latin typeface="Calibri"/>
                  </a:rPr>
                  <a:t>Block B — LG </a:t>
                </a:r>
                <a:r>
                  <a:rPr lang="el-GR" sz="1000" b="0" i="0" baseline="0" dirty="0">
                    <a:latin typeface="Calibri"/>
                  </a:rPr>
                  <a:t>ρ </a:t>
                </a:r>
                <a:r>
                  <a:rPr lang="en-US" sz="1000" b="0" i="0" baseline="0" dirty="0">
                    <a:latin typeface="Calibri"/>
                  </a:rPr>
                  <a:t>validation (ASSIGN readouts)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sz="1000" b="0" i="0" baseline="0" dirty="0">
                    <a:latin typeface="Calibri"/>
                  </a:rPr>
                  <a:t>Slide 6 — LG ASSIGN: </a:t>
                </a:r>
                <a:r>
                  <a:rPr lang="en-US" sz="1000" b="0" i="0" baseline="0" dirty="0" err="1">
                    <a:latin typeface="Calibri"/>
                  </a:rPr>
                  <a:t>global_wss</a:t>
                </a:r>
                <a:r>
                  <a:rPr lang="en-US" sz="1000" b="0" i="0" baseline="0" dirty="0">
                    <a:latin typeface="Calibri"/>
                  </a:rPr>
                  <a:t> vs </a:t>
                </a:r>
                <a:r>
                  <a:rPr lang="el-GR" sz="1000" b="0" i="0" baseline="0" dirty="0">
                    <a:latin typeface="Calibri"/>
                  </a:rPr>
                  <a:t>ρ (</a:t>
                </a:r>
                <a:r>
                  <a:rPr lang="en-US" sz="1000" b="0" i="0" baseline="0" dirty="0">
                    <a:latin typeface="Calibri"/>
                  </a:rPr>
                  <a:t>primary)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sz="1000" b="0" i="0" baseline="0" dirty="0">
                    <a:latin typeface="Calibri"/>
                  </a:rPr>
                  <a:t>Slide 7 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lang="en-US" sz="1000" b="0" i="0" baseline="0" dirty="0">
                    <a:latin typeface="Calibri"/>
                  </a:rPr>
                  <a:t> glossary + </a:t>
                </a:r>
                <a:r>
                  <a:rPr lang="el-GR" sz="1000" b="0" i="0" baseline="0" dirty="0">
                    <a:latin typeface="Calibri"/>
                  </a:rPr>
                  <a:t>ρ </a:t>
                </a:r>
                <a:r>
                  <a:rPr lang="en-US" sz="1000" b="0" i="0" baseline="0" dirty="0">
                    <a:latin typeface="Calibri"/>
                  </a:rPr>
                  <a:t>inset (companion)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sz="1000" b="0" i="0" baseline="0" dirty="0">
                    <a:latin typeface="Calibri"/>
                  </a:rPr>
                  <a:t>Block C —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sz="1000" b="0" i="0" baseline="0" dirty="0">
                    <a:latin typeface="Calibri"/>
                  </a:rPr>
                  <a:t> (SCORE-side input, pre-SCORE)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sz="1000" b="0" i="0" baseline="0" dirty="0">
                    <a:latin typeface="Calibri"/>
                  </a:rPr>
                  <a:t>Slide 8 — Empirical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sz="1000" b="0" i="0" baseline="0" dirty="0">
                    <a:latin typeface="Calibri"/>
                  </a:rPr>
                  <a:t> distribution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sz="1000" b="0" i="0" baseline="0" dirty="0">
                    <a:latin typeface="Calibri"/>
                  </a:rPr>
                  <a:t>Slides 9–11 — Empirical vs LG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sz="1000" b="0" i="0" baseline="0" dirty="0">
                    <a:latin typeface="Calibri"/>
                  </a:rPr>
                  <a:t> (raw · normalized · overlay)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000" b="0" i="0" baseline="0" dirty="0">
                    <a:latin typeface="Calibri"/>
                  </a:rPr>
                  <a:t>Block D — Alex comparability (inputs → SELECT)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sz="1000" b="0" i="0" baseline="0" dirty="0">
                    <a:latin typeface="Calibri"/>
                  </a:rPr>
                  <a:t>Slide 12 — NCAA roster sizes vs fixed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endParaRPr lang="en-US" sz="1000" b="0" i="0" baseline="0" dirty="0">
                  <a:latin typeface="Calibri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en-US" sz="1000" b="0" i="0" baseline="0" dirty="0">
                    <a:latin typeface="Calibri"/>
                  </a:rPr>
                  <a:t>Slides 13–14 — Hero min_minutes ladder (empirical inverted-U robust)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sz="1000" b="0" i="0" baseline="0" dirty="0">
                    <a:latin typeface="Calibri"/>
                  </a:rPr>
                  <a:t>Slides 15–16 — LG capacity sweep: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sz="1000" b="0" i="0" baseline="0" dirty="0">
                    <a:latin typeface="Calibri"/>
                  </a:rPr>
                  <a:t> vs NCAA · SELECT vs Hero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sz="1000" b="0" i="0" baseline="0" dirty="0">
                    <a:latin typeface="Calibri"/>
                  </a:rPr>
                  <a:t>Slide 17 — Empirical roster-size multiset (Alex caps fix)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sz="1000" b="0" i="0" baseline="0" dirty="0">
                    <a:latin typeface="Calibri"/>
                  </a:rPr>
                  <a:t>Slides 18–19 — Empirical caps: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sz="1000" b="0" i="0" baseline="0" dirty="0">
                    <a:latin typeface="Calibri"/>
                  </a:rPr>
                  <a:t> vs NCAA · SELECT vs Hero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000" b="0" i="0" baseline="0" dirty="0">
                    <a:latin typeface="Calibri"/>
                  </a:rPr>
                  <a:t>Block E — SCORE-side empirical (PD17)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sz="1000" b="0" i="0" baseline="0" dirty="0">
                    <a:latin typeface="Calibri"/>
                  </a:rPr>
                  <a:t>Slide 20 — Sketch A: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𝑇</m:t>
                    </m:r>
                    <m:sSub>
                      <m:sSubPr>
                        <m:ctrlPr>
                          <a:rPr lang="en-US" sz="1000" b="0" i="0" baseline="0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err="1" smtClean="0">
                            <a:latin typeface="Cambria Math" panose="02040503050406030204" pitchFamily="18" charset="0"/>
                          </a:rPr>
                          <m:t>̂</m:t>
                        </m:r>
                      </m:e>
                      <m:sub>
                        <m:r>
                          <a:rPr lang="en-US" sz="1000" b="0" i="0" baseline="0" dirty="0" err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000" b="0" i="0" baseline="0" dirty="0">
                    <a:latin typeface="Calibri"/>
                  </a:rPr>
                  <a:t> vs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endParaRPr lang="en-US" sz="1000" b="0" i="0" baseline="0" dirty="0">
                  <a:latin typeface="Calibri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en-US" sz="1000" b="0" i="0" baseline="0" dirty="0">
                    <a:latin typeface="Calibri"/>
                  </a:rPr>
                  <a:t>Slide 21 — </a:t>
                </a:r>
                <a:r>
                  <a:rPr lang="el-GR" sz="1000" b="0" i="0" baseline="0" dirty="0">
                    <a:latin typeface="Calibri"/>
                  </a:rPr>
                  <a:t>γ </a:t>
                </a:r>
                <a:r>
                  <a:rPr lang="en-US" sz="1000" b="0" i="0" baseline="0" dirty="0">
                    <a:latin typeface="Calibri"/>
                  </a:rPr>
                  <a:t>sweep on real rosters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000" b="0" i="0" baseline="0" dirty="0">
                    <a:latin typeface="Calibri"/>
                  </a:rPr>
                  <a:t>Appendix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sz="1000" b="0" i="0" baseline="0" dirty="0">
                    <a:latin typeface="Calibri"/>
                  </a:rPr>
                  <a:t>Slide 22 — 539 </a:t>
                </a:r>
                <a:r>
                  <a:rPr lang="el-GR" sz="1000" b="0" i="0" baseline="0" dirty="0">
                    <a:latin typeface="Calibri"/>
                  </a:rPr>
                  <a:t>ρ </a:t>
                </a:r>
                <a:r>
                  <a:rPr lang="en-US" sz="1000" b="0" i="0" baseline="0" dirty="0">
                    <a:latin typeface="Calibri"/>
                  </a:rPr>
                  <a:t>calibration capstone (legacy sim axes)</a:t>
                </a:r>
              </a:p>
              <a:p>
                <a:pPr>
                  <a:lnSpc>
                    <a:spcPct val="150000"/>
                  </a:lnSpc>
                </a:pPr>
                <a:endParaRPr sz="1000" b="0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07FE12E-A462-56D0-1668-8FB0FB29E4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4337" y="1264044"/>
                <a:ext cx="4411913" cy="514679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9D6AE3C-2E51-0813-F108-49D66345E4EC}"/>
                  </a:ext>
                </a:extLst>
              </p:cNvPr>
              <p:cNvSpPr txBox="1"/>
              <p:nvPr/>
            </p:nvSpPr>
            <p:spPr>
              <a:xfrm>
                <a:off x="305673" y="6462433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(PD17): Map empirical properties of real rosters — prerequisite for pinning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from data, then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without hero-curve matching.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9D6AE3C-2E51-0813-F108-49D66345E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673" y="6462433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EMPIRICAL_Ai_Tj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2032" y="2102294"/>
            <a:ext cx="9115615" cy="37796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01168"/>
                <a:ext cx="4466159" cy="44800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PD17 — Empirical MBB inputs: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sz="2000" b="1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01168"/>
                <a:ext cx="4466159" cy="448008"/>
              </a:xfrm>
              <a:prstGeom prst="rect">
                <a:avLst/>
              </a:prstGeom>
              <a:blipFill>
                <a:blip r:embed="rId3"/>
                <a:stretch>
                  <a:fillRect l="-1416" t="-8333" b="-19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/>
          <p:cNvSpPr txBox="1"/>
          <p:nvPr/>
        </p:nvSpPr>
        <p:spPr>
          <a:xfrm>
            <a:off x="384048" y="676656"/>
            <a:ext cx="417293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 dirty="0">
                <a:latin typeface="Calibri"/>
              </a:rPr>
              <a:t>MBB 2011-2021 · ppm z within season · min 20 min · poolq winsor 0.01–0.99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384047" y="1005840"/>
                <a:ext cx="3902659" cy="18056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00" b="0" i="0" baseline="0" dirty="0">
                    <a:latin typeface="Calibri"/>
                  </a:rPr>
                  <a:t>Realized rosters — descriptive inputs, not sim draws.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00" b="0" i="0" baseline="0" dirty="0">
                    <a:latin typeface="Calibri"/>
                  </a:rPr>
                  <a:t>Left: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— player ability (one value per player-season).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00" b="0" i="0" baseline="0" dirty="0">
                    <a:latin typeface="Calibri"/>
                  </a:rPr>
                  <a:t>Right: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—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on roster (team-season; not LOO).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tighter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(averaging shrinks spread).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00" b="0" i="0" baseline="0" dirty="0">
                    <a:latin typeface="Calibri"/>
                  </a:rPr>
                  <a:t>This run: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=-0.001,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=0.011 (sd 0.995 / 0.401).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00" b="1" i="0" baseline="0" dirty="0">
                    <a:latin typeface="Calibri"/>
                  </a:rPr>
                  <a:t>PD17 </a:t>
                </a:r>
                <a14:m>
                  <m:oMath xmlns:m="http://schemas.openxmlformats.org/officeDocument/2006/math"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𝛉</m:t>
                    </m:r>
                  </m:oMath>
                </a14:m>
                <a:r>
                  <a:rPr lang="en-US" sz="1000" b="1" i="0" baseline="0" dirty="0">
                    <a:latin typeface="Calibri"/>
                  </a:rPr>
                  <a:t> </a:t>
                </a:r>
                <a:r>
                  <a:rPr sz="1000" b="1" i="0" baseline="0" dirty="0">
                    <a:latin typeface="Calibri"/>
                  </a:rPr>
                  <a:t>proxy: </a:t>
                </a:r>
                <a14:m>
                  <m:oMath xmlns:m="http://schemas.openxmlformats.org/officeDocument/2006/math"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𝐊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𝐍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𝟎𝟏𝟖𝟐</m:t>
                    </m:r>
                  </m:oMath>
                </a14:m>
                <a:r>
                  <a:rPr lang="en-US" sz="1000" b="1" i="0" baseline="0" dirty="0">
                    <a:latin typeface="Calibri"/>
                  </a:rPr>
                  <a:t>.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sz="1000" b="1" i="0" baseline="0" dirty="0">
                    <a:latin typeface="Calibri"/>
                  </a:rPr>
                  <a:t> </a:t>
                </a:r>
                <a:r>
                  <a:rPr sz="1000" b="1" i="0" baseline="0" dirty="0">
                    <a:latin typeface="Calibri"/>
                  </a:rPr>
                  <a:t>(1,134 drafted / 62,180 player-seasons).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7" y="1005840"/>
                <a:ext cx="3902659" cy="1805623"/>
              </a:xfrm>
              <a:prstGeom prst="rect">
                <a:avLst/>
              </a:prstGeom>
              <a:blipFill>
                <a:blip r:embed="rId4"/>
                <a:stretch>
                  <a:fillRect b="-13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791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050" b="1" i="0" baseline="0" dirty="0">
                    <a:latin typeface="Calibri"/>
                  </a:rPr>
                  <a:t>Claim (PD17): World-first inputs from the real MBB panel 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50" b="1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5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50" b="1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50" b="1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50" b="1" i="0" baseline="0" dirty="0">
                    <a:latin typeface="Calibri"/>
                  </a:rPr>
                  <a:t> per player-season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50" b="1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5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50" b="1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50" b="1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50" b="1" i="0" baseline="0" dirty="0">
                    <a:latin typeface="Calibri"/>
                  </a:rPr>
                  <a:t> per team-season. Not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5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50" b="1" i="0" baseline="0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sSup>
                          <m:sSupPr>
                            <m:ctrlPr>
                              <a:rPr lang="en-US" sz="1050" b="1" i="0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050" b="1" i="0" baseline="0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  <m:sup>
                            <m:r>
                              <a:rPr lang="en-US" sz="1050" b="1" i="0" baseline="0" dirty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sub>
                    </m:sSub>
                  </m:oMath>
                </a14:m>
                <a:r>
                  <a:rPr sz="1050" b="1" i="0" baseline="0" dirty="0">
                    <a:latin typeface="Calibri"/>
                  </a:rPr>
                  <a:t>(sim assignment targets).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79179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6222473" cy="41819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PD17 — Empirical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interval overlap (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 diagnostic)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6222473" cy="418191"/>
              </a:xfrm>
              <a:prstGeom prst="rect">
                <a:avLst/>
              </a:prstGeom>
              <a:blipFill>
                <a:blip r:embed="rId2"/>
                <a:stretch>
                  <a:fillRect l="-1018" t="-14706" b="-23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7142212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PPM z within season · min 20 min · poolq winsor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0.01–0.99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(530 CELL 8 port)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=0.105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7142212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Claim (PD17): Real NCAA rosters leave massively overlapping team talent windows — full 2011–2021 panel target for \rho characterization (530 CELL 8).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573CA96-92E5-5E38-04CC-FCAA87134494}"/>
                  </a:ext>
                </a:extLst>
              </p:cNvPr>
              <p:cNvSpPr txBox="1"/>
              <p:nvPr/>
            </p:nvSpPr>
            <p:spPr>
              <a:xfrm>
                <a:off x="384047" y="1202289"/>
                <a:ext cx="4387055" cy="27040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Each team-season: talent window [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sSub>
                          <m:sSub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ˆ"/>
                                <m:ctrlP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func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,</m:t>
                    </m:r>
                    <m:func>
                      <m:func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sSub>
                          <m:sSub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ˆ"/>
                                <m:ctrlP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func>
                  </m:oMath>
                </a14:m>
                <a:r>
                  <a:rPr sz="1000" b="0" i="0" baseline="0" dirty="0">
                    <a:latin typeface="Calibri"/>
                  </a:rPr>
                  <a:t>] on PPM z.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Coverage = how many windows cover a point on the spectrum (530 CELL 8).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Red dashed: disjoint sort-and-chop on same player-seasons (537 B analog).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=1−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/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sz="1000" b="0" i="0" baseline="0" dirty="0">
                    <a:latin typeface="Calibri"/>
                  </a:rPr>
                  <a:t> — realized sorting on a fixed partition.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NCAA partition: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=0.105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(0 = none, 1 = full team sorting).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Max coverage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=6,305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sort-and-chop max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 Normalized peak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=0.97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86%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of grid points have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 covering.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Roster span: mean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=2.98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z, median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=2.87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z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lnSpc>
                    <a:spcPct val="150000"/>
                  </a:lnSpc>
                  <a:buFontTx/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lang="en-US" sz="1000" dirty="0"/>
                  <a:t>Full panel 2011–2021 — pooled team-seasons (not 1:1 with single-season sim)</a:t>
                </a:r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573CA96-92E5-5E38-04CC-FCAA871344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7" y="1202289"/>
                <a:ext cx="4387055" cy="2704074"/>
              </a:xfrm>
              <a:prstGeom prst="rect">
                <a:avLst/>
              </a:prstGeom>
              <a:blipFill>
                <a:blip r:embed="rId4"/>
                <a:stretch>
                  <a:fillRect b="-4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35F5BBA-FE92-EBB2-1A5B-5A8BE08E4EA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037579" y="1034307"/>
            <a:ext cx="6523276" cy="49814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5685082" cy="41819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PD17 — NCAA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000" b="1" i="1" baseline="0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 baseline="0" dirty="0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2000" b="1" i="1" baseline="0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interval overlap (2015-2019)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685082" cy="418191"/>
              </a:xfrm>
              <a:prstGeom prst="rect">
                <a:avLst/>
              </a:prstGeom>
              <a:blipFill>
                <a:blip r:embed="rId2"/>
                <a:stretch>
                  <a:fillRect l="-1114" t="-14706" b="-23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7075463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2015-2019 · PPM z within season · min 20 min · poolq winsor 0.01–0.99 · 3,200 team-seasons (530 CELL 8 port)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=0.105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7075463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7" y="1202289"/>
                <a:ext cx="4387055" cy="27040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Each team-season: talent window [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sSub>
                          <m:sSub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ˆ"/>
                                <m:ctrlP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func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,</m:t>
                    </m:r>
                    <m:func>
                      <m:func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sSub>
                          <m:sSub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ˆ"/>
                                <m:ctrlP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func>
                  </m:oMath>
                </a14:m>
                <a:r>
                  <a:rPr sz="1000" b="0" i="0" baseline="0" dirty="0">
                    <a:latin typeface="Calibri"/>
                  </a:rPr>
                  <a:t>] on PPM z.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Coverage = how many windows cover a point on the spectrum (530 CELL 8).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Red dashed: disjoint sort-and-chop on same player-seasons (537 B analog).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=1−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/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sz="1000" b="0" i="0" baseline="0" dirty="0">
                    <a:latin typeface="Calibri"/>
                  </a:rPr>
                  <a:t> — realized sorting on a fixed partition.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NCAA partition: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=0.105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(0 = none, 1 = full team sorting).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Max coverage=3,117; sort-and-chop max=7. Normalized peak=0.97.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86%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of grid points have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 covering.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Roster span: mea</a:t>
                </a:r>
                <a:r>
                  <a:rPr lang="en-US" sz="1000" b="0" i="0" baseline="0" dirty="0">
                    <a:latin typeface="Calibri"/>
                  </a:rPr>
                  <a:t>n =</a:t>
                </a:r>
                <a:r>
                  <a:rPr sz="1000" b="0" i="0" baseline="0" dirty="0">
                    <a:latin typeface="Calibri"/>
                  </a:rPr>
                  <a:t>2.99 z, media</a:t>
                </a:r>
                <a:r>
                  <a:rPr lang="en-US" sz="1000" b="0" i="0" baseline="0" dirty="0">
                    <a:latin typeface="Calibri"/>
                  </a:rPr>
                  <a:t>n =</a:t>
                </a:r>
                <a:r>
                  <a:rPr sz="1000" b="0" i="0" baseline="0" dirty="0">
                    <a:latin typeface="Calibri"/>
                  </a:rPr>
                  <a:t>2.85 z (3,200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Paired compare window — match season span to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sim slide.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7" y="1202289"/>
                <a:ext cx="4387055" cy="2704074"/>
              </a:xfrm>
              <a:prstGeom prst="rect">
                <a:avLst/>
              </a:prstGeom>
              <a:blipFill>
                <a:blip r:embed="rId4"/>
                <a:stretch>
                  <a:fillRect b="-4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053328"/>
            <a:ext cx="114235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 dirty="0">
                <a:latin typeface="Calibri"/>
              </a:rPr>
              <a:t>Claim: NCAA interval overlap on a fixed season window — paired compare to </a:t>
            </a:r>
            <a:r>
              <a:rPr lang="en-US" sz="1100" b="1" i="0" baseline="0" dirty="0">
                <a:latin typeface="Calibri"/>
              </a:rPr>
              <a:t>LG</a:t>
            </a:r>
            <a:r>
              <a:rPr sz="1100" b="1" i="0" baseline="0" dirty="0">
                <a:latin typeface="Calibri"/>
              </a:rPr>
              <a:t> ASSIGN sim on the same window.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2726C4-13A6-2432-1753-CD7C561EDCB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037579" y="1034307"/>
            <a:ext cx="6523276" cy="49814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5152693" cy="41819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2000" b="1" i="0" baseline="0" dirty="0">
                    <a:latin typeface="Calibri"/>
                  </a:rPr>
                  <a:t>LG</a:t>
                </a:r>
                <a:r>
                  <a:rPr sz="2000" b="1" i="0" baseline="0" dirty="0">
                    <a:latin typeface="Calibri"/>
                  </a:rPr>
                  <a:t> sim —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interval overlap (2015-2019)</a:t>
                </a:r>
              </a:p>
            </p:txBody>
          </p:sp>
        </mc:Choice>
        <mc:Fallback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152693" cy="418191"/>
              </a:xfrm>
              <a:prstGeom prst="rect">
                <a:avLst/>
              </a:prstGeom>
              <a:blipFill>
                <a:blip r:embed="rId2"/>
                <a:stretch>
                  <a:fillRect l="-1232" t="-14706" r="-493" b="-23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5371279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2015-2019 ·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ASSIGN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=30,345</m:t>
                    </m:r>
                  </m:oMath>
                </a14:m>
                <a:r>
                  <a:rPr lang="en-US" sz="1000" b="0" i="0" dirty="0">
                    <a:latin typeface="Calibri"/>
                  </a:rPr>
                  <a:t>  </a:t>
                </a:r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2,023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=0.146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5371279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976548" y="972185"/>
            <a:ext cx="6200117" cy="47346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7" y="1191929"/>
                <a:ext cx="4565639" cy="27040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Each team-season: talent window [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00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dirty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sSub>
                          <m:sSubPr>
                            <m:ctrlPr>
                              <a:rPr lang="ar-AE" sz="1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ˆ"/>
                                <m:ctrlPr>
                                  <a:rPr lang="ar-AE" sz="1000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sz="1000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ar-AE" sz="100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func>
                    <m:r>
                      <a:rPr lang="ar-AE" sz="1000" dirty="0">
                        <a:latin typeface="Cambria Math" panose="02040503050406030204" pitchFamily="18" charset="0"/>
                      </a:rPr>
                      <m:t>,</m:t>
                    </m:r>
                    <m:func>
                      <m:funcPr>
                        <m:ctrlPr>
                          <a:rPr lang="en-US" sz="100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dirty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sSub>
                          <m:sSubPr>
                            <m:ctrlPr>
                              <a:rPr lang="ar-AE" sz="1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ˆ"/>
                                <m:ctrlPr>
                                  <a:rPr lang="ar-AE" sz="1000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sz="1000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ar-AE" sz="100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func>
                  </m:oMath>
                </a14:m>
                <a:r>
                  <a:rPr lang="ar-AE" sz="1000" dirty="0"/>
                  <a:t>] </a:t>
                </a:r>
                <a:r>
                  <a:rPr lang="en-US" sz="1000" dirty="0"/>
                  <a:t>on PPM z.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 Coverage = how many windows cover a point on the spectrum (530 CELL 8).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ASSIGN: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endogenous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— no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sSup>
                          <m:sSup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Red dashed: disjoint sort-and-chop on same player pool (537 B analog).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=1−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/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sz="1000" b="0" i="0" baseline="0" dirty="0">
                    <a:latin typeface="Calibri"/>
                  </a:rPr>
                  <a:t> — realized sorting on a fixed partition.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Assign partition: 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_{</m:t>
                    </m:r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𝑠𝑜𝑟𝑡</m:t>
                    </m:r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} = 0.146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(0 = none, 1 = full team sorting).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Sim max coverage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=2,020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sort-and-chop max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 Normalized peak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=1.00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86%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of grid points have 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 covering.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Roster span: mea</a:t>
                </a:r>
                <a:r>
                  <a:rPr lang="en-US" sz="1000" b="0" i="0" baseline="0" dirty="0">
                    <a:latin typeface="Calibri"/>
                  </a:rPr>
                  <a:t>n =</a:t>
                </a:r>
                <a:r>
                  <a:rPr sz="1000" b="0" i="0" baseline="0" dirty="0">
                    <a:latin typeface="Calibri"/>
                  </a:rPr>
                  <a:t>3.37 z, media</a:t>
                </a:r>
                <a:r>
                  <a:rPr lang="en-US" sz="1000" b="0" i="0" baseline="0" dirty="0">
                    <a:latin typeface="Calibri"/>
                  </a:rPr>
                  <a:t>n =</a:t>
                </a:r>
                <a:r>
                  <a:rPr sz="1000" b="0" i="0" baseline="0" dirty="0">
                    <a:latin typeface="Calibri"/>
                  </a:rPr>
                  <a:t>3.23 z (2,023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NCAA ref max </a:t>
                </a:r>
                <a:r>
                  <a:rPr sz="1000" b="0" i="0" baseline="0" dirty="0" err="1">
                    <a:latin typeface="Calibri"/>
                  </a:rPr>
                  <a:t>cov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=3,117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NCAA overlap grid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=86%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NCAA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=0.105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7" y="1191929"/>
                <a:ext cx="4565639" cy="2704074"/>
              </a:xfrm>
              <a:prstGeom prst="rect">
                <a:avLst/>
              </a:prstGeom>
              <a:blipFill>
                <a:blip r:embed="rId5"/>
                <a:stretch>
                  <a:fillRect b="-14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053328"/>
            <a:ext cx="114235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 dirty="0">
                <a:latin typeface="Calibri"/>
              </a:rPr>
              <a:t>Claim: </a:t>
            </a:r>
            <a:r>
              <a:rPr lang="en-US" sz="1100" b="1" i="0" baseline="0" dirty="0">
                <a:latin typeface="Calibri"/>
              </a:rPr>
              <a:t>LG</a:t>
            </a:r>
            <a:r>
              <a:rPr sz="1100" b="1" i="0" baseline="0" dirty="0">
                <a:latin typeface="Calibri"/>
              </a:rPr>
              <a:t> ASSIGN on the same season window as paired NCAA slide — one realization per season, stacked team-seasons.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8733353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LG ASSIGN —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𝑔𝑙𝑜𝑏𝑎𝑙</m:t>
                    </m:r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𝑤𝑠𝑠</m:t>
                    </m:r>
                  </m:oMath>
                </a14:m>
                <a:r>
                  <a:rPr lang="en-US" sz="2000" b="1" i="0" baseline="0" dirty="0">
                    <a:latin typeface="Calibri"/>
                  </a:rPr>
                  <a:t> </a:t>
                </a:r>
                <a:r>
                  <a:rPr sz="2000" b="1" i="0" baseline="0" dirty="0">
                    <a:latin typeface="Calibri"/>
                  </a:rPr>
                  <a:t>vs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2000" b="1" dirty="0"/>
                  <a:t> — total global within-team sum of squared-errors </a:t>
                </a:r>
                <a:endParaRPr sz="2000" b="1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8733353" cy="400110"/>
              </a:xfrm>
              <a:prstGeom prst="rect">
                <a:avLst/>
              </a:prstGeom>
              <a:blipFill>
                <a:blip r:embed="rId2"/>
                <a:stretch>
                  <a:fillRect l="-726" t="-9375" r="-581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712555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LG ASSIGN · 2015 PPM z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=402,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reps/arm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712555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22241" y="1104894"/>
            <a:ext cx="7427671" cy="490981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96381" y="1121310"/>
                <a:ext cx="7660114" cy="29663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= LG ASSIGN homophily knob in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𝜌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Each point: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±1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SD of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𝑔𝑙𝑜𝑏𝑎𝑙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𝑤𝑠𝑠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over stochastic LG realizations.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𝐠𝐥𝐨𝐛𝐚𝐥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𝐰𝐬𝐬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1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1" i="0" baseline="0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1" i="0" baseline="0" dirty="0" smtClean="0">
                            <a:latin typeface="Cambria Math" panose="02040503050406030204" pitchFamily="18" charset="0"/>
                          </a:rPr>
                          <m:t>𝐣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en-US" sz="1000" b="1" i="0" baseline="0" dirty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1000" b="1" i="0" baseline="0" dirty="0" smtClean="0">
                                <a:latin typeface="Cambria Math" panose="02040503050406030204" pitchFamily="18" charset="0"/>
                              </a:rPr>
                              <m:t>𝐢</m:t>
                            </m:r>
                            <m:r>
                              <a:rPr lang="en-US" sz="1000" b="1" i="0" baseline="0" dirty="0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sz="1000" b="1" i="0" baseline="0" dirty="0" smtClean="0">
                                <a:latin typeface="Cambria Math" panose="02040503050406030204" pitchFamily="18" charset="0"/>
                              </a:rPr>
                              <m:t>𝐣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sz="1000" b="1" i="1" baseline="0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1000" b="1" i="1" baseline="0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000" b="1" i="1" baseline="0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ˆ"/>
                                            <m:ctrlPr>
                                              <a:rPr lang="en-US" sz="1000" b="1" i="0" baseline="0" dirty="0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sz="1000" b="1" i="0" baseline="0" dirty="0" smtClean="0">
                                                <a:latin typeface="Cambria Math" panose="02040503050406030204" pitchFamily="18" charset="0"/>
                                              </a:rPr>
                                              <m:t>𝐀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sz="1000" b="1" i="0" baseline="0" dirty="0" smtClean="0">
                                            <a:latin typeface="Cambria Math" panose="02040503050406030204" pitchFamily="18" charset="0"/>
                                          </a:rPr>
                                          <m:t>𝐢</m:t>
                                        </m:r>
                                      </m:sub>
                                    </m:sSub>
                                    <m:r>
                                      <a:rPr lang="en-US" sz="1000" b="1" i="0" baseline="0" dirty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000" b="1" i="1" baseline="0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ˆ"/>
                                            <m:ctrlPr>
                                              <a:rPr lang="en-US" sz="1000" b="1" i="0" baseline="0" dirty="0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sz="1000" b="1" i="0" baseline="0" dirty="0" smtClean="0">
                                                <a:latin typeface="Cambria Math" panose="02040503050406030204" pitchFamily="18" charset="0"/>
                                              </a:rPr>
                                              <m:t>𝐓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sz="1000" b="1" i="0" baseline="0" dirty="0" smtClean="0">
                                            <a:latin typeface="Cambria Math" panose="02040503050406030204" pitchFamily="18" charset="0"/>
                                          </a:rPr>
                                          <m:t>𝐣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1000" b="1" i="0" baseline="0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</m:e>
                        </m:nary>
                      </m:e>
                    </m:nary>
                  </m:oMath>
                </a14:m>
                <a:r>
                  <a:rPr sz="1000" b="0" i="0" baseline="0" dirty="0">
                    <a:latin typeface="Calibri"/>
                  </a:rPr>
                  <a:t> — global within-team SS;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realized roster mean.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=1−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𝑔𝑙𝑜𝑏𝑎𝑙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𝑤𝑠𝑠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𝑆</m:t>
                    </m:r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on the same partition </a:t>
                </a:r>
                <a:endParaRPr lang="en-US" sz="100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b="0" baseline="0" dirty="0">
                    <a:latin typeface="Calibri"/>
                  </a:rPr>
                  <a:t>	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𝑔𝑙𝑜𝑏𝑎𝑙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𝑤𝑠𝑠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is raw magnitude; </a:t>
                </a:r>
                <a:endParaRPr lang="en-US" sz="1000" b="0" i="0" baseline="0" dirty="0">
                  <a:latin typeface="Calibri"/>
                </a:endParaRPr>
              </a:p>
              <a:p>
                <a:pPr lvl="1"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scale-free explained variance.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=0: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𝑔𝑙𝑜𝑏𝑎𝑙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𝑤𝑠𝑠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≈5627→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=1: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𝑔𝑙𝑜𝑏𝑎𝑙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𝑤𝑠𝑠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≈4085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2015 empirical PPM z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=402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reps ×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21 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arms.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sorting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𝑔𝑙𝑜𝑏𝑎𝑙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𝑤𝑠𝑠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(monotone mirror on a fixed ability pool).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Companion slide: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=1−</m:t>
                    </m:r>
                    <m:r>
                      <m:rPr>
                        <m:sty m:val="p"/>
                      </m:rPr>
                      <a:rPr lang="en-US" sz="1000" b="0" i="0" baseline="0" dirty="0">
                        <a:latin typeface="Cambria Math" panose="02040503050406030204" pitchFamily="18" charset="0"/>
                      </a:rPr>
                      <m:t>global</m:t>
                    </m:r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_</m:t>
                    </m:r>
                    <m:r>
                      <m:rPr>
                        <m:sty m:val="p"/>
                      </m:rPr>
                      <a:rPr lang="en-US" sz="1000" b="0" i="0" baseline="0" dirty="0">
                        <a:latin typeface="Cambria Math" panose="02040503050406030204" pitchFamily="18" charset="0"/>
                      </a:rPr>
                      <m:t>wss</m:t>
                    </m:r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SS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		</a:t>
                </a:r>
                <a:r>
                  <a:rPr sz="1000" b="0" i="0" baseline="0" dirty="0">
                    <a:latin typeface="Calibri"/>
                  </a:rPr>
                  <a:t>(scale-free assortativity on the same sweep).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81" y="1121310"/>
                <a:ext cx="7660114" cy="2966325"/>
              </a:xfrm>
              <a:prstGeom prst="rect">
                <a:avLst/>
              </a:prstGeom>
              <a:blipFill>
                <a:blip r:embed="rId5"/>
                <a:stretch>
                  <a:fillRect b="-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(Alex):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𝑔𝑙𝑜𝑏𝑎𝑙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𝑤𝑠𝑠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is the within-team SS numerator on the assign partition —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lowers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𝑔𝑙𝑜𝑏𝑎𝑙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𝑤𝑠𝑠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on the same 2015 LG league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is the scale-free companion).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5235536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What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lang="en-US" sz="2000" b="1" i="0" baseline="0" dirty="0">
                    <a:latin typeface="Calibri"/>
                  </a:rPr>
                  <a:t> </a:t>
                </a:r>
                <a:r>
                  <a:rPr sz="2000" b="1" i="0" baseline="0" dirty="0">
                    <a:latin typeface="Calibri"/>
                  </a:rPr>
                  <a:t>? Realized assortativity on rosters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235536" cy="400110"/>
              </a:xfrm>
              <a:prstGeom prst="rect">
                <a:avLst/>
              </a:prstGeom>
              <a:blipFill>
                <a:blip r:embed="rId2"/>
                <a:stretch>
                  <a:fillRect l="-1211" t="-9375" r="-242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781805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Realized sorting index ·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/ PD17 · alias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𝚜𝚘𝚛𝚝𝚒𝚗𝚐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𝚒𝚗𝚍𝚎𝚡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𝚑</m:t>
                        </m:r>
                      </m:e>
                    </m:box>
                  </m:oMath>
                </a14:m>
                <a:r>
                  <a:rPr sz="1000" b="0" i="0" baseline="0" dirty="0">
                    <a:latin typeface="Calibri"/>
                  </a:rPr>
                  <a:t> in code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781805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612647" y="1259207"/>
                <a:ext cx="5052032" cy="37671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b="0" i="0" baseline="0" dirty="0">
                        <a:latin typeface="Cambria Math" panose="02040503050406030204" pitchFamily="18" charset="0"/>
                      </a:rPr>
                      <m:t>=1−</m:t>
                    </m:r>
                    <m:f>
                      <m:fPr>
                        <m:ctrlPr>
                          <a:rPr lang="en-US" b="0" i="1" baseline="0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en-US" b="0" i="0" baseline="0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0" i="1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ˆ"/>
                                            <m:ctrlPr>
                                              <a:rPr lang="en-US" b="0" i="0" baseline="0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b="0" i="0" baseline="0" dirty="0"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b="0" i="0" baseline="0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b="0" i="0" baseline="0" dirty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ˆ"/>
                                            <m:ctrlPr>
                                              <a:rPr lang="en-US" b="0" i="0" baseline="0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b="0" i="0" baseline="0" dirty="0">
                                                <a:latin typeface="Cambria Math" panose="02040503050406030204" pitchFamily="18" charset="0"/>
                                              </a:rPr>
                                              <m:t>𝜇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b="0" i="0" baseline="0" dirty="0">
                                            <a:latin typeface="Cambria Math" panose="02040503050406030204" pitchFamily="18" charset="0"/>
                                          </a:rPr>
                                          <m:t>𝑔</m:t>
                                        </m:r>
                                        <m:d>
                                          <m:dPr>
                                            <m:ctrlPr>
                                              <a:rPr lang="en-US" b="0" i="0" baseline="0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b="0" i="0" baseline="0" dirty="0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e>
                                        </m:d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b="0" i="0" baseline="0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en-US" b="0" i="0" baseline="0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0" i="1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ˆ"/>
                                            <m:ctrlPr>
                                              <a:rPr lang="en-US" b="0" i="0" baseline="0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b="0" i="0" baseline="0" dirty="0"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b="0" i="0" baseline="0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b="0" i="0" baseline="0" dirty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̅"/>
                                        <m:ctrlPr>
                                          <a:rPr lang="en-US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</m:d>
                              </m:e>
                              <m:sup>
                                <m:r>
                                  <a:rPr lang="en-US" b="0" i="0" baseline="0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den>
                    </m:f>
                  </m:oMath>
                </a14:m>
                <a:r>
                  <a:rPr sz="1000" b="0" i="0" baseline="0" dirty="0">
                    <a:latin typeface="Calibri"/>
                  </a:rPr>
                  <a:t> — realized sorting on a fixed partition.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  <a:buChar char="•"/>
                </a:pPr>
                <a:endParaRPr lang="en-US" sz="1000" dirty="0">
                  <a:latin typeface="Calibri"/>
                </a:endParaRP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Denominator: total spread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around league mean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Numerator: spread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around own team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=1−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within−team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𝑆𝑆</m:t>
                        </m:r>
                      </m:e>
                    </m:d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/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total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𝑆𝑆</m:t>
                        </m:r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— explained-variance / ANOVA-style.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team label tells you little (random-like partition).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teams are perfectly separated (point-mass rosters).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Alex one-liner: knowing roster explains how much ability deviates from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Not Newman network assortativity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partition statistic on abilities.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Complements interval overlap (geometry) — use both in brief.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↑⇒</m:t>
                    </m:r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in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sweep (see inset plot).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Memo: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𝚐𝚛𝚊𝚗𝚍𝚌𝚑𝚒𝚕𝚍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𝚊𝚜𝚜𝚒𝚐𝚗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𝙶𝚁𝙰𝙽𝙳𝙲𝙷𝙸𝙻𝙳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𝙳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𝚊𝚗𝚍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𝙷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𝚜𝚘𝚛𝚝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𝚒𝚗𝚝𝚎𝚛𝚙𝚛𝚎𝚝𝚊𝚝𝚒𝚘𝚗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𝚖𝚍</m:t>
                        </m:r>
                      </m:e>
                    </m:box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647" y="1259207"/>
                <a:ext cx="5052032" cy="3767185"/>
              </a:xfrm>
              <a:prstGeom prst="rect">
                <a:avLst/>
              </a:prstGeom>
              <a:blipFill>
                <a:blip r:embed="rId4"/>
                <a:stretch>
                  <a:fillRect t="-3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212702" y="1067653"/>
            <a:ext cx="6594944" cy="43635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is realized assortativity on a fixed partition — generative homophily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is the ASSIGN knob; measure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after assign.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4309321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PD17 — Empirical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distribution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4309321" cy="400110"/>
              </a:xfrm>
              <a:prstGeom prst="rect">
                <a:avLst/>
              </a:prstGeom>
              <a:blipFill>
                <a:blip r:embed="rId2"/>
                <a:stretch>
                  <a:fillRect l="-1471" t="-9375" r="-588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7688708" cy="270139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· PPM z within season · min 20 min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sub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=2.295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=0.0182</m:t>
                        </m:r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placeholder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7688708" cy="270139"/>
              </a:xfrm>
              <a:prstGeom prst="rect">
                <a:avLst/>
              </a:prstGeom>
              <a:blipFill>
                <a:blip r:embed="rId3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384048" y="1051560"/>
                <a:ext cx="3300848" cy="20388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𝑚𝑒𝑎</m:t>
                    </m:r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000" b="0" i="1" baseline="0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000" b="0" i="1" baseline="0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000" b="0" i="0" baseline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000" b="0" i="0" baseline="0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on each roster.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Same PD16 team-smooth definition — one value per team-season.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Not LOO; includes every roster member in the mean.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(539 placeholder until PD17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/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calibration).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This run: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=0.254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sd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 =0.039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from draft rate: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=0.0182⇒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=2.295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51560"/>
                <a:ext cx="3300848" cy="2038891"/>
              </a:xfrm>
              <a:prstGeom prst="rect">
                <a:avLst/>
              </a:prstGeom>
              <a:blipFill>
                <a:blip r:embed="rId4"/>
                <a:stretch>
                  <a:fillRect b="-6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636625" y="1117239"/>
            <a:ext cx="8164564" cy="47972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(PD17): Real rosters carry a spread of team congestion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— the descriptive input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was meant to stratify in sim.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5254965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Empirical vs </a:t>
                </a:r>
                <a:r>
                  <a:rPr lang="en-US" sz="2000" b="1" i="0" baseline="0" dirty="0">
                    <a:latin typeface="Calibri"/>
                  </a:rPr>
                  <a:t>LG</a:t>
                </a:r>
                <a:r>
                  <a:rPr sz="2000" b="1" i="0" baseline="0" dirty="0">
                    <a:latin typeface="Calibri"/>
                  </a:rPr>
                  <a:t> —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distribution</a:t>
                </a:r>
                <a:r>
                  <a:rPr lang="en-US" sz="2000" b="1" i="0" baseline="0" dirty="0">
                    <a:latin typeface="Calibri"/>
                  </a:rPr>
                  <a:t> vs NCAA</a:t>
                </a:r>
                <a:endParaRPr sz="2000" b="1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254965" cy="400110"/>
              </a:xfrm>
              <a:prstGeom prst="rect">
                <a:avLst/>
              </a:prstGeom>
              <a:blipFill>
                <a:blip r:embed="rId2"/>
                <a:stretch>
                  <a:fillRect l="-1205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/>
          <p:cNvSpPr txBox="1"/>
          <p:nvPr/>
        </p:nvSpPr>
        <p:spPr>
          <a:xfrm>
            <a:off x="384048" y="713232"/>
            <a:ext cx="3231975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000" dirty="0"/>
              <a:t>MBB 2011-2021 · 6,492 team-seasons · NCAA mean=0.254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446967" y="2512541"/>
            <a:ext cx="9298066" cy="363222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384048" y="1053119"/>
                <a:ext cx="10605228" cy="973908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sz="1000" dirty="0"/>
                  <a:t> after empirical-cap ASSIGN vs real NCAA rosters.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 MBB 2011-2021 ·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000" dirty="0"/>
                  <a:t>,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000" dirty="0"/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 NCAA: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=6,492</m:t>
                    </m:r>
                  </m:oMath>
                </a14:m>
                <a:r>
                  <a:rPr lang="en-US" sz="1000" dirty="0"/>
                  <a:t> · mean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 smtClean="0">
                        <a:latin typeface="Cambria Math" panose="02040503050406030204" pitchFamily="18" charset="0"/>
                      </a:rPr>
                      <m:t>0.254</m:t>
                    </m:r>
                  </m:oMath>
                </a14:m>
                <a:r>
                  <a:rPr lang="en-US" sz="1000" dirty="0"/>
                  <a:t> · sd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 smtClean="0">
                        <a:latin typeface="Cambria Math" panose="02040503050406030204" pitchFamily="18" charset="0"/>
                      </a:rPr>
                      <m:t>0.039</m:t>
                    </m:r>
                  </m:oMath>
                </a14:m>
                <a:r>
                  <a:rPr lang="en-US" sz="1000" dirty="0"/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 LG empirical caps: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=6,492</m:t>
                    </m:r>
                  </m:oMath>
                </a14:m>
                <a:r>
                  <a:rPr lang="en-US" sz="1000" dirty="0"/>
                  <a:t> · mean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 smtClean="0">
                        <a:latin typeface="Cambria Math" panose="02040503050406030204" pitchFamily="18" charset="0"/>
                      </a:rPr>
                      <m:t>0.251</m:t>
                    </m:r>
                  </m:oMath>
                </a14:m>
                <a:r>
                  <a:rPr lang="en-US" sz="1000" dirty="0"/>
                  <a:t> · sd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 smtClean="0">
                        <a:latin typeface="Cambria Math" panose="02040503050406030204" pitchFamily="18" charset="0"/>
                      </a:rPr>
                      <m:t>0.045</m:t>
                    </m:r>
                  </m:oMath>
                </a14:m>
                <a:r>
                  <a:rPr lang="en-US" sz="1000" dirty="0"/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 Team count now aligned (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,492</m:t>
                    </m:r>
                  </m:oMath>
                </a14:m>
                <a:r>
                  <a:rPr lang="en-US" sz="1000" dirty="0"/>
                  <a:t>) — fixed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lang="en-US" sz="1000" dirty="0"/>
                  <a:t> had only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,140</m:t>
                    </m:r>
                  </m:oMath>
                </a14:m>
                <a:r>
                  <a:rPr lang="en-US" sz="1000" dirty="0"/>
                  <a:t> teams.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sz="1000" dirty="0"/>
                  <a:t> first moment still matches; slightly wider LG tail (assign noise).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 Input comparability fixed; SCORE/SELECT shape is a separate question.</a:t>
                </a:r>
              </a:p>
              <a:p>
                <a:pPr>
                  <a:lnSpc>
                    <a:spcPct val="150000"/>
                  </a:lnSpc>
                </a:pPr>
                <a:endParaRPr sz="1000" b="0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53119"/>
                <a:ext cx="10605228" cy="973908"/>
              </a:xfrm>
              <a:prstGeom prst="rect">
                <a:avLst/>
              </a:prstGeom>
              <a:blipFill>
                <a:blip r:embed="rId4"/>
                <a:stretch>
                  <a:fillRect b="-51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142847"/>
            <a:ext cx="114235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/>
              <a:t>Talking point: comparability achieved — same team count and L_C mean; assignment layer is now apples-to-apples on roster geometry.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913D6-7E6D-B7C1-4EAE-999EC6358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FD05749-2603-C9E4-8045-4E8FD874C889}"/>
                  </a:ext>
                </a:extLst>
              </p:cNvPr>
              <p:cNvSpPr txBox="1"/>
              <p:nvPr/>
            </p:nvSpPr>
            <p:spPr>
              <a:xfrm>
                <a:off x="384048" y="219456"/>
                <a:ext cx="5711051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Empirical vs </a:t>
                </a:r>
                <a:r>
                  <a:rPr lang="en-US" sz="2000" b="1" i="0" baseline="0" dirty="0">
                    <a:latin typeface="Calibri"/>
                  </a:rPr>
                  <a:t>LG</a:t>
                </a:r>
                <a:r>
                  <a:rPr sz="2000" b="1" i="0" baseline="0" dirty="0">
                    <a:latin typeface="Calibri"/>
                  </a:rPr>
                  <a:t> —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distribution</a:t>
                </a:r>
                <a:r>
                  <a:rPr lang="en-US" sz="2000" b="1" i="0" baseline="0" dirty="0">
                    <a:latin typeface="Calibri"/>
                  </a:rPr>
                  <a:t> (normalized)</a:t>
                </a:r>
                <a:endParaRPr sz="2000" b="1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FD05749-2603-C9E4-8045-4E8FD874C8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711051" cy="400110"/>
              </a:xfrm>
              <a:prstGeom prst="rect">
                <a:avLst/>
              </a:prstGeom>
              <a:blipFill>
                <a:blip r:embed="rId2"/>
                <a:stretch>
                  <a:fillRect l="-1109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C3BCE47-EBC2-90F7-C334-155A36021C01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4774127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=2.295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=0.0182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C3BCE47-EBC2-90F7-C334-155A36021C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774127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7A2E4362-E823-1DBA-9111-A82417F7187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46968" y="2512541"/>
            <a:ext cx="9298063" cy="36322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5294FED-061D-1875-793A-CC7AC4690DB7}"/>
                  </a:ext>
                </a:extLst>
              </p:cNvPr>
              <p:cNvSpPr txBox="1"/>
              <p:nvPr/>
            </p:nvSpPr>
            <p:spPr>
              <a:xfrm>
                <a:off x="384048" y="1053119"/>
                <a:ext cx="10605228" cy="1289028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𝑚𝑒𝑎</m:t>
                    </m:r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— team-smooth congestion.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Left panel: empirical NCAA (real rosters). Right: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ASSIGN sim.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MBB 2011-2021 · PPM z · min 20 min · poolq winsor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0.01–0.99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Shared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sub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=2.295</m:t>
                    </m:r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=0.0182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(HAND17 slide-4 default; 539 placeholder).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Empirical: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=0.254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sd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=0.039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=0.251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sd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=0.036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4,140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Sim: one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league per season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), stacked team-seasons.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ASSIGN shapes rosters;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score-side input — computed after assign.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5294FED-061D-1875-793A-CC7AC4690D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53119"/>
                <a:ext cx="10605228" cy="128902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47B90F-72AA-241F-9758-1977F0F56E3D}"/>
                  </a:ext>
                </a:extLst>
              </p:cNvPr>
              <p:cNvSpPr txBox="1"/>
              <p:nvPr/>
            </p:nvSpPr>
            <p:spPr>
              <a:xfrm>
                <a:off x="384048" y="6053328"/>
                <a:ext cx="11423599" cy="3456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(PD17 / </a:t>
                </a:r>
                <a:r>
                  <a:rPr lang="en-US" sz="1100" b="1" i="0" baseline="0" dirty="0">
                    <a:latin typeface="Calibri"/>
                  </a:rPr>
                  <a:t>LG</a:t>
                </a:r>
                <a:r>
                  <a:rPr sz="1100" b="1" i="0" baseline="0" dirty="0">
                    <a:latin typeface="Calibri"/>
                  </a:rPr>
                  <a:t>):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on real rosters vs </a:t>
                </a:r>
                <a:r>
                  <a:rPr lang="en-US" sz="1100" b="1" i="0" baseline="0" dirty="0">
                    <a:latin typeface="Calibri"/>
                  </a:rPr>
                  <a:t>LG</a:t>
                </a:r>
                <a:r>
                  <a:rPr sz="1100" b="1" i="0" baseline="0" dirty="0">
                    <a:latin typeface="Calibri"/>
                  </a:rPr>
                  <a:t> sim — same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100" b="1" i="1" baseline="0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100" b="1" i="1" baseline="0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100" b="1" i="0" baseline="0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100" b="1" i="0" baseline="0" dirty="0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100" b="1" i="0" baseline="0" dirty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100" b="1" i="0" baseline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b="1" i="0" baseline="0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1100" b="1" i="0" baseline="0" dirty="0">
                    <a:latin typeface="Calibri"/>
                  </a:rPr>
                  <a:t> formula; compare distribution shape before SCORE.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47B90F-72AA-241F-9758-1977F0F56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34567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559A2B6-0AE9-5FF2-81B1-B32950D9BC13}"/>
                  </a:ext>
                </a:extLst>
              </p:cNvPr>
              <p:cNvSpPr txBox="1"/>
              <p:nvPr/>
            </p:nvSpPr>
            <p:spPr>
              <a:xfrm>
                <a:off x="7194885" y="234845"/>
                <a:ext cx="444366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rgbClr val="FF0000"/>
                    </a:solidFill>
                  </a:rPr>
                  <a:t>Same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i="1" dirty="0">
                    <a:solidFill>
                      <a:srgbClr val="FF0000"/>
                    </a:solidFill>
                  </a:rPr>
                  <a:t> formula; normalized so team-season count differences don’t dominate the visual.</a:t>
                </a:r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559A2B6-0AE9-5FF2-81B1-B32950D9BC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4885" y="234845"/>
                <a:ext cx="4443662" cy="646331"/>
              </a:xfrm>
              <a:prstGeom prst="rect">
                <a:avLst/>
              </a:prstGeom>
              <a:blipFill>
                <a:blip r:embed="rId7"/>
                <a:stretch>
                  <a:fillRect l="-1140" t="-3846" r="-1709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78110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0B372-5859-748F-1EC5-E4169F60E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D3C3C2F-D657-224B-8085-C3920155D7E1}"/>
                  </a:ext>
                </a:extLst>
              </p:cNvPr>
              <p:cNvSpPr txBox="1"/>
              <p:nvPr/>
            </p:nvSpPr>
            <p:spPr>
              <a:xfrm>
                <a:off x="384048" y="219456"/>
                <a:ext cx="5711051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Empirical vs </a:t>
                </a:r>
                <a:r>
                  <a:rPr lang="en-US" sz="2000" b="1" i="0" baseline="0" dirty="0">
                    <a:latin typeface="Calibri"/>
                  </a:rPr>
                  <a:t>LG</a:t>
                </a:r>
                <a:r>
                  <a:rPr sz="2000" b="1" i="0" baseline="0" dirty="0">
                    <a:latin typeface="Calibri"/>
                  </a:rPr>
                  <a:t> —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distribution</a:t>
                </a:r>
                <a:r>
                  <a:rPr lang="en-US" sz="2000" b="1" i="0" baseline="0" dirty="0">
                    <a:latin typeface="Calibri"/>
                  </a:rPr>
                  <a:t> (normalized)</a:t>
                </a:r>
                <a:endParaRPr sz="2000" b="1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D3C3C2F-D657-224B-8085-C3920155D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711051" cy="400110"/>
              </a:xfrm>
              <a:prstGeom prst="rect">
                <a:avLst/>
              </a:prstGeom>
              <a:blipFill>
                <a:blip r:embed="rId2"/>
                <a:stretch>
                  <a:fillRect l="-1109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ECDA663-D4F0-0D29-A670-9836BD3DBECF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4774127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=2.295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=0.0182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ECDA663-D4F0-0D29-A670-9836BD3DBE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774127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75D8A1A4-9D26-CC59-69BF-64A876FFF65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837342" y="2512541"/>
            <a:ext cx="6517316" cy="36322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350DF50-0F8E-A287-90D3-779BD78490C0}"/>
                  </a:ext>
                </a:extLst>
              </p:cNvPr>
              <p:cNvSpPr txBox="1"/>
              <p:nvPr/>
            </p:nvSpPr>
            <p:spPr>
              <a:xfrm>
                <a:off x="384048" y="1053119"/>
                <a:ext cx="10605228" cy="1289028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𝑚𝑒𝑎</m:t>
                    </m:r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— team-smooth congestion.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Left panel: empirical NCAA (real rosters). Right: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ASSIGN sim.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MBB 2011-2021 · PPM z · min 20 min · poolq winsor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0.01–0.99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Shared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sub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=2.295</m:t>
                    </m:r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=0.0182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(HAND17 slide-4 default; 539 placeholder).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Empirical: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=0.254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sd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=0.039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=0.251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sd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=0.036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4,140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Sim: one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league per season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), stacked team-seasons.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ASSIGN shapes rosters;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score-side input — computed after assign.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350DF50-0F8E-A287-90D3-779BD78490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53119"/>
                <a:ext cx="10605228" cy="128902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70A92BE-3EA4-C919-6A4E-C06365DEC09F}"/>
                  </a:ext>
                </a:extLst>
              </p:cNvPr>
              <p:cNvSpPr txBox="1"/>
              <p:nvPr/>
            </p:nvSpPr>
            <p:spPr>
              <a:xfrm>
                <a:off x="384048" y="6053328"/>
                <a:ext cx="11423599" cy="3456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(PD17 / </a:t>
                </a:r>
                <a:r>
                  <a:rPr lang="en-US" sz="1100" b="1" i="0" baseline="0" dirty="0">
                    <a:latin typeface="Calibri"/>
                  </a:rPr>
                  <a:t>LG</a:t>
                </a:r>
                <a:r>
                  <a:rPr sz="1100" b="1" i="0" baseline="0" dirty="0">
                    <a:latin typeface="Calibri"/>
                  </a:rPr>
                  <a:t>):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on real rosters vs </a:t>
                </a:r>
                <a:r>
                  <a:rPr lang="en-US" sz="1100" b="1" i="0" baseline="0" dirty="0">
                    <a:latin typeface="Calibri"/>
                  </a:rPr>
                  <a:t>LG</a:t>
                </a:r>
                <a:r>
                  <a:rPr sz="1100" b="1" i="0" baseline="0" dirty="0">
                    <a:latin typeface="Calibri"/>
                  </a:rPr>
                  <a:t> sim — same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100" b="1" i="1" baseline="0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100" b="1" i="1" baseline="0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100" b="1" i="0" baseline="0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100" b="1" i="0" baseline="0" dirty="0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100" b="1" i="0" baseline="0" dirty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100" b="1" i="0" baseline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b="1" i="0" baseline="0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1100" b="1" i="0" baseline="0" dirty="0">
                    <a:latin typeface="Calibri"/>
                  </a:rPr>
                  <a:t> formula; compare distribution shape before SCORE.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70A92BE-3EA4-C919-6A4E-C06365DEC0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34567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D724212-18AD-8E82-98E9-6048B1218706}"/>
                  </a:ext>
                </a:extLst>
              </p:cNvPr>
              <p:cNvSpPr txBox="1"/>
              <p:nvPr/>
            </p:nvSpPr>
            <p:spPr>
              <a:xfrm>
                <a:off x="7194885" y="234845"/>
                <a:ext cx="444366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rgbClr val="FF0000"/>
                    </a:solidFill>
                  </a:rPr>
                  <a:t>Same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i="1" dirty="0">
                    <a:solidFill>
                      <a:srgbClr val="FF0000"/>
                    </a:solidFill>
                  </a:rPr>
                  <a:t> formula; normalized so team-season count differences don’t dominate the visual.</a:t>
                </a:r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D724212-18AD-8E82-98E9-6048B12187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4885" y="234845"/>
                <a:ext cx="4443662" cy="646331"/>
              </a:xfrm>
              <a:prstGeom prst="rect">
                <a:avLst/>
              </a:prstGeom>
              <a:blipFill>
                <a:blip r:embed="rId7"/>
                <a:stretch>
                  <a:fillRect l="-1140" t="-3846" r="-1709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26160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NCAA roster sizes after the minutes 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140988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min 20 min · mea</a:t>
                </a:r>
                <a:r>
                  <a:rPr lang="en-US" sz="1000" b="0" i="0" baseline="0" dirty="0">
                    <a:latin typeface="Calibri"/>
                  </a:rPr>
                  <a:t>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=9.6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LG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140988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GRANDCHILD_ncaa_roster_size_distribution_2011_2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273" y="916050"/>
            <a:ext cx="10375454" cy="406345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089127" y="5405189"/>
                <a:ext cx="11095528" cy="565952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Qualifying players per real NCAA team-season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ESPN minutes).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· mea</a:t>
                </a:r>
                <a:r>
                  <a:rPr lang="en-US" sz="1000" b="0" i="0" baseline="0" dirty="0">
                    <a:latin typeface="Calibri"/>
                  </a:rPr>
                  <a:t>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=9.6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media</a:t>
                </a:r>
                <a:r>
                  <a:rPr lang="en-US" sz="1000" b="0" i="0" baseline="0" dirty="0">
                    <a:latin typeface="Calibri"/>
                  </a:rPr>
                  <a:t>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sd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=3.6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Red dotted = NCAA mean; orange dashed = LG fixed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Only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of teams have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qualifying players.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Same ability pool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≈62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k; LG repacks into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synthetic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-man leagues.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Minutes floor shapes peer count — state explicitly in methods.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127" y="5405189"/>
                <a:ext cx="11095528" cy="565952"/>
              </a:xfrm>
              <a:prstGeom prst="rect">
                <a:avLst/>
              </a:prstGeom>
              <a:blipFill>
                <a:blip r:embed="rId4"/>
                <a:stretch>
                  <a:fillRect t="-2174" b="-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Talking point: empirical teams are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≈10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rotation players; LG uses fixed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— comparability is distributional, not headcount.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4333366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Hero sensitivity — min_minutes ladder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293702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 dirty="0">
                <a:latin typeface="Calibri"/>
              </a:rPr>
              <a:t>MBB 2011-2021 · poolq_loo ventiles · 0 / 10 / 20 min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68988" y="1299994"/>
            <a:ext cx="11276037" cy="30605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305703" y="4827530"/>
                <a:ext cx="10697609" cy="651613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Hero x-axis: draft rate vs poolq_loo ventiles · MBB 2011-2021 · 16 quantile.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sz="1000" b="0" i="0" baseline="0" dirty="0" err="1">
                    <a:latin typeface="Calibri"/>
                  </a:rPr>
                  <a:t>min_minutes</a:t>
                </a:r>
                <a:r>
                  <a:rPr sz="1000" b="0" i="0" baseline="0" dirty="0">
                    <a:latin typeface="Calibri"/>
                  </a:rPr>
                  <a:t> defines who enters the panel and LOO peer pool — not neutral QC.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lang="en-US" sz="1000" b="0" i="0" baseline="0" dirty="0">
                    <a:latin typeface="Calibri"/>
                  </a:rPr>
                  <a:t>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=82,893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draft</a:t>
                </a:r>
                <a:r>
                  <a:rPr lang="en-US" sz="1000" b="0" i="0" baseline="0" dirty="0">
                    <a:latin typeface="Calibri"/>
                  </a:rPr>
                  <a:t>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=1,136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bin</a:t>
                </a:r>
                <a:r>
                  <a:rPr lang="en-US" sz="1000" b="0" i="0" baseline="0" dirty="0">
                    <a:latin typeface="Calibri"/>
                  </a:rPr>
                  <a:t>16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=1.39%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:r>
                  <a:rPr sz="1000" b="0" i="0" baseline="0" dirty="0" err="1">
                    <a:latin typeface="Calibri"/>
                  </a:rPr>
                  <a:t>inverted_u_like</a:t>
                </a:r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lang="en-US" sz="1000" b="0" i="0" baseline="0" dirty="0">
                    <a:latin typeface="Calibri"/>
                  </a:rPr>
                  <a:t>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=72,687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draft</a:t>
                </a:r>
                <a:r>
                  <a:rPr lang="en-US" sz="1000" b="0" i="0" baseline="0" dirty="0">
                    <a:latin typeface="Calibri"/>
                  </a:rPr>
                  <a:t>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=1,136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bin</a:t>
                </a:r>
                <a:r>
                  <a:rPr lang="en-US" sz="1000" b="0" i="0" baseline="0" dirty="0">
                    <a:latin typeface="Calibri"/>
                  </a:rPr>
                  <a:t>16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=1.08%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:r>
                  <a:rPr sz="1000" b="0" i="0" baseline="0" dirty="0" err="1">
                    <a:latin typeface="Calibri"/>
                  </a:rPr>
                  <a:t>inverted_u_like</a:t>
                </a:r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lang="en-US" sz="1000" b="0" i="0" baseline="0" dirty="0">
                    <a:latin typeface="Calibri"/>
                  </a:rPr>
                  <a:t>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=62,180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draft</a:t>
                </a:r>
                <a:r>
                  <a:rPr lang="en-US" sz="1000" b="0" i="0" baseline="0" dirty="0">
                    <a:latin typeface="Calibri"/>
                  </a:rPr>
                  <a:t>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=1,134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bin</a:t>
                </a:r>
                <a:r>
                  <a:rPr lang="en-US" sz="1000" b="0" i="0" baseline="0" dirty="0">
                    <a:latin typeface="Calibri"/>
                  </a:rPr>
                  <a:t>16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=1.16%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:r>
                  <a:rPr sz="1000" b="0" i="0" baseline="0" dirty="0" err="1">
                    <a:latin typeface="Calibri"/>
                  </a:rPr>
                  <a:t>inverted_u_like</a:t>
                </a:r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Hero lock: </a:t>
                </a:r>
                <a:r>
                  <a:rPr lang="en-US" sz="1000" b="0" i="0" baseline="0" dirty="0">
                    <a:latin typeface="Calibri"/>
                  </a:rPr>
                  <a:t>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cleanest top-</a:t>
                </a:r>
                <a:r>
                  <a:rPr sz="1000" b="0" i="0" baseline="0" dirty="0" err="1">
                    <a:latin typeface="Calibri"/>
                  </a:rPr>
                  <a:t>ventile</a:t>
                </a:r>
                <a:r>
                  <a:rPr sz="1000" b="0" i="0" baseline="0" dirty="0">
                    <a:latin typeface="Calibri"/>
                  </a:rPr>
                  <a:t> cliff; </a:t>
                </a:r>
                <a:r>
                  <a:rPr lang="en-US" sz="1000" b="0" i="0" baseline="0" dirty="0">
                    <a:latin typeface="Calibri"/>
                  </a:rPr>
                  <a:t>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robust appendix.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We are not simulating minutes in LG.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5703" y="4827530"/>
                <a:ext cx="10697609" cy="651613"/>
              </a:xfrm>
              <a:prstGeom prst="rect">
                <a:avLst/>
              </a:prstGeom>
              <a:blipFill>
                <a:blip r:embed="rId3"/>
                <a:stretch>
                  <a:fillRect t="-1923" b="-1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Talking point: inverted-U survives 10- and 20-minute floors; </a:t>
                </a:r>
                <a:r>
                  <a:rPr lang="en-US" sz="1100" b="1" i="0" baseline="0" dirty="0">
                    <a:latin typeface="Calibri"/>
                  </a:rPr>
                  <a:t>min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sharpens the elite </a:t>
                </a:r>
                <a:r>
                  <a:rPr sz="1100" b="1" i="0" baseline="0" dirty="0" err="1">
                    <a:latin typeface="Calibri"/>
                  </a:rPr>
                  <a:t>ventile</a:t>
                </a:r>
                <a:r>
                  <a:rPr sz="1100" b="1" i="0" baseline="0" dirty="0">
                    <a:latin typeface="Calibri"/>
                  </a:rPr>
                  <a:t> dip (+2 drafted vs </a:t>
                </a:r>
                <a:r>
                  <a:rPr lang="en-US" sz="1100" b="1" i="0" baseline="0" dirty="0">
                    <a:latin typeface="Calibri"/>
                  </a:rPr>
                  <a:t>min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).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blipFill>
                <a:blip r:embed="rId4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4431406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Hero sensitivity — </a:t>
            </a:r>
            <a:r>
              <a:rPr sz="2000" b="1" i="0" baseline="0" dirty="0" err="1">
                <a:latin typeface="Calibri"/>
              </a:rPr>
              <a:t>min_minutes</a:t>
            </a:r>
            <a:r>
              <a:rPr sz="2000" b="1" i="0" baseline="0" dirty="0">
                <a:latin typeface="Calibri"/>
              </a:rPr>
              <a:t> overlay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MBB 2011-2021 · same bins, three floors</a:t>
            </a:r>
          </a:p>
        </p:txBody>
      </p:sp>
      <p:pic>
        <p:nvPicPr>
          <p:cNvPr id="4" name="Picture 3" descr="HERO_min_minutes_sensitivity_overlay_2011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0977" y="941832"/>
            <a:ext cx="8150047" cy="42595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784098" y="5205075"/>
                <a:ext cx="11134852" cy="706776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Hero x-axis: draft rate vs poolq_loo ventiles · MBB 2011-2021 · 16 quantile.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sz="1000" b="0" i="0" baseline="0" dirty="0" err="1">
                    <a:latin typeface="Calibri"/>
                  </a:rPr>
                  <a:t>min_minutes</a:t>
                </a:r>
                <a:r>
                  <a:rPr sz="1000" b="0" i="0" baseline="0" dirty="0">
                    <a:latin typeface="Calibri"/>
                  </a:rPr>
                  <a:t> defines who enters the panel and LOO peer pool — not neutral QC.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=82,893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drafted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=1,136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bin16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=1.39%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:r>
                  <a:rPr sz="1000" b="0" i="0" baseline="0" dirty="0" err="1">
                    <a:latin typeface="Calibri"/>
                  </a:rPr>
                  <a:t>inverted_u_like</a:t>
                </a:r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=72,687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drafted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=1,136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bin16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=1.08%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:r>
                  <a:rPr sz="1000" b="0" i="0" baseline="0" dirty="0" err="1">
                    <a:latin typeface="Calibri"/>
                  </a:rPr>
                  <a:t>inverted_u_like</a:t>
                </a:r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=62,180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drafted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=1,134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bin16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=1.16%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:r>
                  <a:rPr sz="1000" b="0" i="0" baseline="0" dirty="0" err="1">
                    <a:latin typeface="Calibri"/>
                  </a:rPr>
                  <a:t>inverted_u_like</a:t>
                </a:r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Overlay: same estimand, different playing-time floors.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We are not simulating minutes in LG.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098" y="5205075"/>
                <a:ext cx="11134852" cy="706776"/>
              </a:xfrm>
              <a:prstGeom prst="rect">
                <a:avLst/>
              </a:prstGeom>
              <a:blipFill>
                <a:blip r:embed="rId3"/>
                <a:stretch>
                  <a:fillRect b="-35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Talking point: pattern is not an artifact of one arbitrary cutoff.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4311180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LG capacity sweep —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vs NCAA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4311180" cy="400110"/>
              </a:xfrm>
              <a:prstGeom prst="rect">
                <a:avLst/>
              </a:prstGeom>
              <a:blipFill>
                <a:blip r:embed="rId2"/>
                <a:stretch>
                  <a:fillRect l="-1471" t="-9375" r="-588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2979085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∈10,11,15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NCAA mea</a:t>
                </a:r>
                <a:r>
                  <a:rPr lang="en-US" sz="1000" b="0" i="0" baseline="0" dirty="0">
                    <a:latin typeface="Calibri"/>
                  </a:rPr>
                  <a:t>n =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0.254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2979085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GRANDCHILD_roster_size_c_sweep_lc_2011_20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688" y="926764"/>
            <a:ext cx="10705960" cy="39782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72183" y="5068430"/>
                <a:ext cx="11018410" cy="821528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after ASSIGN — same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as NCAA.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MBB 2011-2021 · 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 panel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NCAA: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· mean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=0.254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sd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=0.039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=6,215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teams · mean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=0.251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sd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=5,647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teams · mean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=0.251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sd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=0.040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=4,140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teams · mean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=0.251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sd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=0.036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closest to NCAA team count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≈6.2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k vs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k);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gallery default.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first moment stable across capacity — score-side calibration OK.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Capacity is a labeled sensitivity, not a silent swap for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183" y="5068430"/>
                <a:ext cx="11018410" cy="821528"/>
              </a:xfrm>
              <a:prstGeom prst="rect">
                <a:avLst/>
              </a:prstGeom>
              <a:blipFill>
                <a:blip r:embed="rId5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Talking point: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aligns team counts;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mean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≈0.251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at every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— capacity mismatch is interpretive, not a broken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calibration.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LG capacity sweep — SELECT vs empirical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MBB 2011-2021 · LOO + pool mean · all LG curves monotone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861852" y="933981"/>
            <a:ext cx="9945796" cy="413437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670486" y="5195059"/>
                <a:ext cx="11238748" cy="858269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SELECT: draft rate vs LOO peer quality (left) and pool mean (right).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MBB 2011-2021 · fixed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:r>
                  <a:rPr sz="1000" b="0" i="0" baseline="0" dirty="0">
                    <a:latin typeface="Calibri"/>
                  </a:rPr>
                  <a:t>· empirical dashed blue.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Empirical LOO: inverted u like (peak bin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11,2.62%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LG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:r>
                  <a:rPr sz="1000" b="0" i="0" baseline="0" dirty="0">
                    <a:latin typeface="Calibri"/>
                  </a:rPr>
                  <a:t>: monotone increasing on LOO.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LG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=11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:r>
                  <a:rPr sz="1000" b="0" i="0" baseline="0" dirty="0">
                    <a:latin typeface="Calibri"/>
                  </a:rPr>
                  <a:t>: monotone increasing on LOO.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LG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:r>
                  <a:rPr sz="1000" b="0" i="0" baseline="0" dirty="0">
                    <a:latin typeface="Calibri"/>
                  </a:rPr>
                  <a:t>: monotone increasing on LOO.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Lowering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:r>
                  <a:rPr sz="1000" b="0" i="0" baseline="0" dirty="0">
                    <a:latin typeface="Calibri"/>
                  </a:rPr>
                  <a:t>toward rotation-cohort scale does not recover inverted-U.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shapes ASSIGN sorting; selection curvature lives in SCORE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sweep </a:t>
                </a:r>
                <a:r>
                  <a:rPr lang="en-US" sz="1000" b="0" i="0" baseline="0" dirty="0">
                    <a:latin typeface="Calibri"/>
                  </a:rPr>
                  <a:t>results</a:t>
                </a:r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000" b="0" i="0" dirty="0">
                    <a:latin typeface="Calibri"/>
                  </a:rPr>
                  <a:t> slides 20-21</a:t>
                </a:r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486" y="5195059"/>
                <a:ext cx="11238748" cy="858269"/>
              </a:xfrm>
              <a:prstGeom prst="rect">
                <a:avLst/>
              </a:prstGeom>
              <a:blipFill>
                <a:blip r:embed="rId3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Talking point: C fixes headcount, not selection shape — empirical inverted-U survives; λ is the promising SCORE knob.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GRANDCHILD_empirical_roster_caps_roster_compare_2011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910" y="870639"/>
            <a:ext cx="8566180" cy="4504924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LG input — empirical roster-size multiset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2772297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mean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=9.6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old fixed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2772297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39425" y="5386097"/>
                <a:ext cx="10912843" cy="650939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Alex ask: LG stub capacities = exact NCAA filtered roster-size multiset.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MBB 2011-2021 · min 20 min · one capacity per real team-season per year.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NCAA / LG: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· mean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=9.6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median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sd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=3.6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Range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2–19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qualifying players per team.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Replaces fixed C=15 repack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every roster exactly 15).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Same player pool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≈62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k); ASSIGN homophily unchanged — only input geometry.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LG realized roster sizes match NCAA by construction (overlay).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25" y="5386097"/>
                <a:ext cx="10912843" cy="650939"/>
              </a:xfrm>
              <a:prstGeom prst="rect">
                <a:avLst/>
              </a:prstGeom>
              <a:blipFill>
                <a:blip r:embed="rId4"/>
                <a:stretch>
                  <a:fillRect t="-1923" b="-1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Talking point: Alex's fix — LG teams get the exact filtered NCAA roster-size distribution, not a synthetic 15-man league.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3875869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Empirical caps —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vs NCAA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3875869" cy="400110"/>
              </a:xfrm>
              <a:prstGeom prst="rect">
                <a:avLst/>
              </a:prstGeom>
              <a:blipFill>
                <a:blip r:embed="rId2"/>
                <a:stretch>
                  <a:fillRect l="-1634" t="-9375" r="-654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/>
          <p:cNvSpPr txBox="1"/>
          <p:nvPr/>
        </p:nvSpPr>
        <p:spPr>
          <a:xfrm>
            <a:off x="384048" y="713232"/>
            <a:ext cx="326082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 dirty="0">
                <a:latin typeface="Calibri"/>
              </a:rPr>
              <a:t>MBB 2011-2021 · 6,492 team-seasons · NCAA mean</a:t>
            </a:r>
            <a:r>
              <a:rPr lang="en-US" sz="1000" b="0" i="0" baseline="0" dirty="0">
                <a:latin typeface="Calibri"/>
              </a:rPr>
              <a:t> </a:t>
            </a:r>
            <a:r>
              <a:rPr sz="1000" b="0" i="0" baseline="0" dirty="0">
                <a:latin typeface="Calibri"/>
              </a:rPr>
              <a:t>=0.254</a:t>
            </a:r>
          </a:p>
        </p:txBody>
      </p:sp>
      <p:pic>
        <p:nvPicPr>
          <p:cNvPr id="4" name="Picture 3" descr="GRANDCHILD_empirical_roster_caps_lc_2011_2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771" y="1280148"/>
            <a:ext cx="9164459" cy="409400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8" y="5415330"/>
                <a:ext cx="11423598" cy="729438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after empirical-cap ASSIGN vs real NCAA rosters.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MBB 2011-2021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NCAA: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mean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=0.254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sd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=0.039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LG empirical caps: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mean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=0.251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sd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=0.045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Team count now aligned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— fixed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had only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4,140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:r>
                  <a:rPr sz="1000" b="0" i="0" baseline="0" dirty="0">
                    <a:latin typeface="Calibri"/>
                  </a:rPr>
                  <a:t>first moment still matches; slightly wider LG tail (assign noise).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Input comparability fixed; SCORE/SELECT shape is a separate question.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415330"/>
                <a:ext cx="11423598" cy="729438"/>
              </a:xfrm>
              <a:prstGeom prst="rect">
                <a:avLst/>
              </a:prstGeom>
              <a:blipFill>
                <a:blip r:embed="rId4"/>
                <a:stretch>
                  <a:fillRect t="-1724" b="-1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Talking point: comparability achieved — same team count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mean; assignment layer is now apples-to-apples on roster geometry.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Empirical caps — SELECT vs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 dirty="0">
                <a:latin typeface="Calibri"/>
              </a:rPr>
              <a:t>MBB 2011-2021 · LOO still monotone · empirical inverted-U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35127" y="998593"/>
            <a:ext cx="10321747" cy="42906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8" y="5395296"/>
                <a:ext cx="11160252" cy="709216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SELECT: draft rate vs LOO peer quality (left) and pool mean (right).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MBB 2011-2021 · empirical caps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default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Empirical LOO: inverted u like (peak bin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11, 2.62%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LG empirical caps: monotone increasing on LOO.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Roster-size alignment does not recover Hero inverted-U alone.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ASSIGN sorting;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SCORE congestion penalty — next sweep.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C 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:r>
                  <a:rPr sz="1000" b="0" i="0" baseline="0" dirty="0">
                    <a:latin typeface="Calibri"/>
                  </a:rPr>
                  <a:t>sweep and exact caps both monotone — shape gap is not headcount.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395296"/>
                <a:ext cx="11160252" cy="709216"/>
              </a:xfrm>
              <a:prstGeom prst="rect">
                <a:avLst/>
              </a:prstGeom>
              <a:blipFill>
                <a:blip r:embed="rId3"/>
                <a:stretch>
                  <a:fillRect b="-35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 dirty="0">
                <a:latin typeface="Calibri"/>
              </a:rPr>
              <a:t>Talking point: input fix necessary but not sufficient — </a:t>
            </a:r>
            <a:r>
              <a:rPr sz="1100" b="1" i="0" baseline="0" dirty="0" err="1">
                <a:latin typeface="Calibri"/>
              </a:rPr>
              <a:t>λ</a:t>
            </a:r>
            <a:r>
              <a:rPr sz="1100" b="1" i="0" baseline="0" dirty="0">
                <a:latin typeface="Calibri"/>
              </a:rPr>
              <a:t> sweep on SELECT is the next experiment.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D0B08-25AB-28A6-6B02-75E11D8C9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FB3D7A0-2FEA-AECB-A855-14F9CFCF07B2}"/>
                  </a:ext>
                </a:extLst>
              </p:cNvPr>
              <p:cNvSpPr txBox="1"/>
              <p:nvPr/>
            </p:nvSpPr>
            <p:spPr>
              <a:xfrm>
                <a:off x="384048" y="219456"/>
                <a:ext cx="3583032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2000" b="1" i="0" baseline="0" dirty="0">
                    <a:latin typeface="Calibri"/>
                  </a:rPr>
                  <a:t>LG SELECT</a:t>
                </a:r>
                <a:r>
                  <a:rPr sz="2000" b="1" i="0" baseline="0" dirty="0">
                    <a:latin typeface="Calibri"/>
                  </a:rPr>
                  <a:t> —</a:t>
                </a:r>
                <a:r>
                  <a:rPr lang="en-US" sz="2000" b="1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000" b="1" i="0" baseline="0" dirty="0">
                    <a:latin typeface="Calibri"/>
                  </a:rPr>
                  <a:t> sweep (fine grid)</a:t>
                </a:r>
                <a:endParaRPr sz="2000" b="1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FB3D7A0-2FEA-AECB-A855-14F9CFCF07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3583032" cy="400110"/>
              </a:xfrm>
              <a:prstGeom prst="rect">
                <a:avLst/>
              </a:prstGeom>
              <a:blipFill>
                <a:blip r:embed="rId2"/>
                <a:stretch>
                  <a:fillRect l="-1767" t="-9375" r="-707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E7036D-B0DA-5719-C998-F91385FF4F46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4731039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</a:t>
                </a:r>
                <a:r>
                  <a:rPr lang="en-US" sz="1000" b="0" i="0" baseline="0" dirty="0">
                    <a:latin typeface="Calibri"/>
                  </a:rPr>
                  <a:t>empirical roster caps </a:t>
                </a:r>
                <a:r>
                  <a:rPr sz="1000" b="0" i="0" baseline="0" dirty="0">
                    <a:latin typeface="Calibri"/>
                  </a:rPr>
                  <a:t>·</a:t>
                </a:r>
                <a:r>
                  <a:rPr lang="en-US" sz="1000" dirty="0"/>
                  <a:t>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000" dirty="0"/>
                  <a:t> ·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000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000" i="0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1000" dirty="0"/>
                  <a:t>  ·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i="0" dirty="0" smtClean="0">
                        <a:latin typeface="Cambria Math" panose="02040503050406030204" pitchFamily="18" charset="0"/>
                      </a:rPr>
                      <m:t>∈1.25,1.5,1.75,2,3,4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E7036D-B0DA-5719-C998-F91385FF4F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731039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85BDFB24-FF5C-AE7A-51B7-E57D35A6602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41171" y="998593"/>
            <a:ext cx="10309658" cy="429065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818CC3E-9B9F-BB17-98F7-9CE5AC576F40}"/>
              </a:ext>
            </a:extLst>
          </p:cNvPr>
          <p:cNvSpPr txBox="1"/>
          <p:nvPr/>
        </p:nvSpPr>
        <p:spPr>
          <a:xfrm>
            <a:off x="384048" y="5395296"/>
            <a:ext cx="11160252" cy="545107"/>
          </a:xfrm>
          <a:prstGeom prst="rect">
            <a:avLst/>
          </a:prstGeom>
          <a:noFill/>
        </p:spPr>
        <p:txBody>
          <a:bodyPr wrap="square" numCol="2">
            <a:no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0" i="0" baseline="0" dirty="0">
                <a:latin typeface="Calibri"/>
              </a:rPr>
              <a:t>Empirical NCAA (dashed): inverted-U on LOO; peak bin 11 (~2.6% draft rate).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l-GR" sz="1000" b="1" i="0" baseline="0" dirty="0">
                <a:latin typeface="Calibri"/>
              </a:rPr>
              <a:t>λ = 1.25</a:t>
            </a:r>
            <a:r>
              <a:rPr lang="el-GR" sz="1000" b="0" i="0" baseline="0" dirty="0">
                <a:latin typeface="Calibri"/>
              </a:rPr>
              <a:t>: </a:t>
            </a:r>
            <a:r>
              <a:rPr lang="en-US" sz="1000" b="0" i="0" baseline="0" dirty="0">
                <a:latin typeface="Calibri"/>
              </a:rPr>
              <a:t>still monotone ↑ on LOO — last arm before the flip.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l-GR" sz="1000" b="1" i="0" baseline="0" dirty="0">
                <a:latin typeface="Calibri"/>
              </a:rPr>
              <a:t>λ = 1.5</a:t>
            </a:r>
            <a:r>
              <a:rPr lang="el-GR" sz="1000" b="0" i="0" baseline="0" dirty="0">
                <a:latin typeface="Calibri"/>
              </a:rPr>
              <a:t>: </a:t>
            </a:r>
            <a:r>
              <a:rPr lang="en-US" sz="1000" b="0" i="0" baseline="0" dirty="0">
                <a:latin typeface="Calibri"/>
              </a:rPr>
              <a:t>first inverted-U-like LOO curve.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l-GR" sz="1000" b="1" i="0" baseline="0" dirty="0">
                <a:latin typeface="Calibri"/>
              </a:rPr>
              <a:t>λ = 2, 3</a:t>
            </a:r>
            <a:r>
              <a:rPr lang="el-GR" sz="1000" b="0" i="0" baseline="0" dirty="0">
                <a:latin typeface="Calibri"/>
              </a:rPr>
              <a:t>: </a:t>
            </a:r>
            <a:r>
              <a:rPr lang="en-US" sz="1000" b="0" i="0" baseline="0" dirty="0">
                <a:latin typeface="Calibri"/>
              </a:rPr>
              <a:t>inverted-U on LOO; </a:t>
            </a:r>
            <a:r>
              <a:rPr lang="en-US" sz="1000" b="1" i="0" baseline="0" dirty="0">
                <a:latin typeface="Calibri"/>
              </a:rPr>
              <a:t>peak bin 11 matches empirical</a:t>
            </a:r>
            <a:r>
              <a:rPr lang="en-US" sz="1000" b="0" i="0" baseline="0" dirty="0">
                <a:latin typeface="Calibri"/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0" i="0" baseline="0" dirty="0">
                <a:latin typeface="Calibri"/>
              </a:rPr>
              <a:t>Pool mean (right): all arms monotone ↑ at these </a:t>
            </a:r>
            <a:r>
              <a:rPr lang="el-GR" sz="1000" b="0" i="0" baseline="0" dirty="0">
                <a:latin typeface="Calibri"/>
              </a:rPr>
              <a:t>λ — </a:t>
            </a:r>
            <a:r>
              <a:rPr lang="en-US" sz="1000" b="0" i="0" baseline="0" dirty="0">
                <a:latin typeface="Calibri"/>
              </a:rPr>
              <a:t>Hero on LOO axis only here.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1" i="0" baseline="0" dirty="0">
                <a:latin typeface="Calibri"/>
              </a:rPr>
              <a:t>Takeaway</a:t>
            </a:r>
            <a:r>
              <a:rPr lang="en-US" sz="1000" b="0" i="0" baseline="0" dirty="0">
                <a:latin typeface="Calibri"/>
              </a:rPr>
              <a:t>: with inputs fixed, curvature lives in </a:t>
            </a:r>
            <a:r>
              <a:rPr lang="en-US" sz="1000" b="1" i="0" baseline="0" dirty="0">
                <a:latin typeface="Calibri"/>
              </a:rPr>
              <a:t>SCORE (</a:t>
            </a:r>
            <a:r>
              <a:rPr lang="el-GR" sz="1000" b="1" i="0" baseline="0" dirty="0">
                <a:latin typeface="Calibri"/>
              </a:rPr>
              <a:t>λ)</a:t>
            </a:r>
            <a:r>
              <a:rPr lang="el-GR" sz="1000" b="0" i="0" baseline="0" dirty="0">
                <a:latin typeface="Calibri"/>
              </a:rPr>
              <a:t>, </a:t>
            </a:r>
            <a:r>
              <a:rPr lang="en-US" sz="1000" b="0" i="0" baseline="0" dirty="0">
                <a:latin typeface="Calibri"/>
              </a:rPr>
              <a:t>not ASSIGN (</a:t>
            </a:r>
            <a:r>
              <a:rPr lang="el-GR" sz="1000" b="0" i="0" baseline="0" dirty="0">
                <a:latin typeface="Calibri"/>
              </a:rPr>
              <a:t>ρ) </a:t>
            </a:r>
            <a:r>
              <a:rPr lang="en-US" sz="1000" b="0" i="0" baseline="0" dirty="0">
                <a:latin typeface="Calibri"/>
              </a:rPr>
              <a:t>or caps.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BD0231-4A7A-76E8-AEE4-AF568701571A}"/>
              </a:ext>
            </a:extLst>
          </p:cNvPr>
          <p:cNvSpPr txBox="1"/>
          <p:nvPr/>
        </p:nvSpPr>
        <p:spPr>
          <a:xfrm>
            <a:off x="384048" y="6053328"/>
            <a:ext cx="1142359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1" i="0" baseline="0" dirty="0">
                <a:latin typeface="Calibri"/>
              </a:rPr>
              <a:t>Talking point: </a:t>
            </a:r>
            <a:r>
              <a:rPr lang="en-US" sz="1100" i="0" baseline="0" dirty="0">
                <a:latin typeface="Calibri"/>
              </a:rPr>
              <a:t>With NCAA-comparable inputs fixed, LOO SELECT stays monotone at </a:t>
            </a:r>
            <a:r>
              <a:rPr lang="el-GR" sz="1100" b="1" i="0" baseline="0" dirty="0">
                <a:latin typeface="Calibri"/>
              </a:rPr>
              <a:t>λ = 1.25 </a:t>
            </a:r>
            <a:r>
              <a:rPr lang="en-US" sz="1100" i="0" baseline="0" dirty="0">
                <a:latin typeface="Calibri"/>
              </a:rPr>
              <a:t>and flips to inverted-U by </a:t>
            </a:r>
            <a:r>
              <a:rPr lang="el-GR" sz="1100" b="1" i="0" baseline="0" dirty="0">
                <a:latin typeface="Calibri"/>
              </a:rPr>
              <a:t>λ = 1.5; λ = 2–3 </a:t>
            </a:r>
            <a:r>
              <a:rPr lang="en-US" sz="1100" i="0" baseline="0" dirty="0">
                <a:latin typeface="Calibri"/>
              </a:rPr>
              <a:t>matches the </a:t>
            </a:r>
            <a:r>
              <a:rPr lang="en-US" sz="1100" b="1" i="0" baseline="0" dirty="0">
                <a:latin typeface="Calibri"/>
              </a:rPr>
              <a:t>empirical peak bin (11) </a:t>
            </a:r>
            <a:r>
              <a:rPr lang="en-US" sz="1100" i="0" baseline="0" dirty="0">
                <a:latin typeface="Calibri"/>
              </a:rPr>
              <a:t>on LOO — curvature lives in </a:t>
            </a:r>
            <a:r>
              <a:rPr lang="en-US" sz="1100" b="1" i="0" baseline="0" dirty="0">
                <a:latin typeface="Calibri"/>
              </a:rPr>
              <a:t>SCORE</a:t>
            </a:r>
            <a:r>
              <a:rPr lang="en-US" sz="1100" i="0" baseline="0" dirty="0">
                <a:latin typeface="Calibri"/>
              </a:rPr>
              <a:t>, not ASSIGN.</a:t>
            </a:r>
            <a:endParaRPr sz="1100" i="0" baseline="0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491143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948AF-6B50-211A-E7B4-8BEDBC617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56B7CE1-1642-0377-0B90-2D07B9BC0F63}"/>
                  </a:ext>
                </a:extLst>
              </p:cNvPr>
              <p:cNvSpPr txBox="1"/>
              <p:nvPr/>
            </p:nvSpPr>
            <p:spPr>
              <a:xfrm>
                <a:off x="384048" y="219456"/>
                <a:ext cx="4289188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2000" b="1" i="0" baseline="0" dirty="0">
                    <a:latin typeface="Calibri"/>
                  </a:rPr>
                  <a:t>LG SELECT</a:t>
                </a:r>
                <a:r>
                  <a:rPr sz="2000" b="1" i="0" baseline="0" dirty="0">
                    <a:latin typeface="Calibri"/>
                  </a:rPr>
                  <a:t> —</a:t>
                </a:r>
                <a:r>
                  <a:rPr lang="en-US" sz="2000" b="1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000" b="1" i="0" baseline="0" dirty="0">
                    <a:latin typeface="Calibri"/>
                  </a:rPr>
                  <a:t> sweep (extended arms)</a:t>
                </a:r>
                <a:endParaRPr sz="2000" b="1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56B7CE1-1642-0377-0B90-2D07B9BC0F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4289188" cy="400110"/>
              </a:xfrm>
              <a:prstGeom prst="rect">
                <a:avLst/>
              </a:prstGeom>
              <a:blipFill>
                <a:blip r:embed="rId2"/>
                <a:stretch>
                  <a:fillRect l="-1475" t="-9375" r="-29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05778F5-29FD-A98A-7A16-AA23ACA1741F}"/>
              </a:ext>
            </a:extLst>
          </p:cNvPr>
          <p:cNvSpPr txBox="1"/>
          <p:nvPr/>
        </p:nvSpPr>
        <p:spPr>
          <a:xfrm>
            <a:off x="384048" y="713232"/>
            <a:ext cx="2064989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100" dirty="0"/>
              <a:t>Same panel · </a:t>
            </a:r>
            <a:r>
              <a:rPr lang="en-US" sz="1100" dirty="0" err="1"/>
              <a:t>λ</a:t>
            </a:r>
            <a:r>
              <a:rPr lang="en-US" sz="1100" dirty="0"/>
              <a:t> ∈ {1.5, 2, 4, 8, 16}</a:t>
            </a:r>
            <a:endParaRPr sz="700" b="0" i="0" baseline="0" dirty="0">
              <a:latin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B0A31C-9072-675D-D772-493D283EEB6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41171" y="998593"/>
            <a:ext cx="10309658" cy="429065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63828F-BB33-8023-6759-4B4A35782872}"/>
              </a:ext>
            </a:extLst>
          </p:cNvPr>
          <p:cNvSpPr txBox="1"/>
          <p:nvPr/>
        </p:nvSpPr>
        <p:spPr>
          <a:xfrm>
            <a:off x="384048" y="5395296"/>
            <a:ext cx="11160252" cy="545107"/>
          </a:xfrm>
          <a:prstGeom prst="rect">
            <a:avLst/>
          </a:prstGeom>
          <a:noFill/>
        </p:spPr>
        <p:txBody>
          <a:bodyPr wrap="square" numCol="2">
            <a:no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0" i="0" baseline="0" dirty="0">
                <a:latin typeface="Calibri"/>
              </a:rPr>
              <a:t>LOO (left): inverted-U persists for </a:t>
            </a:r>
            <a:r>
              <a:rPr lang="en-US" sz="1000" b="1" i="0" baseline="0" dirty="0">
                <a:latin typeface="Calibri"/>
              </a:rPr>
              <a:t>all</a:t>
            </a:r>
            <a:r>
              <a:rPr lang="en-US" sz="1000" b="0" i="0" baseline="0" dirty="0">
                <a:latin typeface="Calibri"/>
              </a:rPr>
              <a:t> arms ≥ 1.5.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l-GR" sz="1000" b="1" i="0" baseline="0" dirty="0">
                <a:latin typeface="Calibri"/>
              </a:rPr>
              <a:t>λ = 2, 4</a:t>
            </a:r>
            <a:r>
              <a:rPr lang="el-GR" sz="1000" b="0" i="0" baseline="0" dirty="0">
                <a:latin typeface="Calibri"/>
              </a:rPr>
              <a:t>: </a:t>
            </a:r>
            <a:r>
              <a:rPr lang="en-US" sz="1000" b="0" i="0" baseline="0" dirty="0">
                <a:latin typeface="Calibri"/>
              </a:rPr>
              <a:t>peak bins 11–12 — closest to empirical shape on LOO.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l-GR" sz="1000" b="1" i="0" baseline="0" dirty="0">
                <a:latin typeface="Calibri"/>
              </a:rPr>
              <a:t>λ = 8, 16</a:t>
            </a:r>
            <a:r>
              <a:rPr lang="el-GR" sz="1000" b="0" i="0" baseline="0" dirty="0">
                <a:latin typeface="Calibri"/>
              </a:rPr>
              <a:t>: </a:t>
            </a:r>
            <a:r>
              <a:rPr lang="en-US" sz="1000" b="0" i="0" baseline="0" dirty="0">
                <a:latin typeface="Calibri"/>
              </a:rPr>
              <a:t>peak shifts </a:t>
            </a:r>
            <a:r>
              <a:rPr lang="en-US" sz="1000" b="1" i="0" baseline="0" dirty="0">
                <a:latin typeface="Calibri"/>
              </a:rPr>
              <a:t>left</a:t>
            </a:r>
            <a:r>
              <a:rPr lang="en-US" sz="1000" b="0" i="0" baseline="0" dirty="0">
                <a:latin typeface="Calibri"/>
              </a:rPr>
              <a:t> (bins 9–12) — high </a:t>
            </a:r>
            <a:r>
              <a:rPr lang="el-GR" sz="1000" b="0" i="0" baseline="0" dirty="0">
                <a:latin typeface="Calibri"/>
              </a:rPr>
              <a:t>λ </a:t>
            </a:r>
            <a:r>
              <a:rPr lang="en-US" sz="1000" b="0" i="0" baseline="0" dirty="0">
                <a:latin typeface="Calibri"/>
              </a:rPr>
              <a:t>over-penalizes elite pools.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0" i="0" baseline="0" dirty="0">
                <a:latin typeface="Calibri"/>
              </a:rPr>
              <a:t>Pool mean (right): </a:t>
            </a:r>
            <a:r>
              <a:rPr lang="el-GR" sz="1000" b="1" i="0" baseline="0" dirty="0">
                <a:latin typeface="Calibri"/>
              </a:rPr>
              <a:t>λ = 4, 8, 16</a:t>
            </a:r>
            <a:r>
              <a:rPr lang="el-GR" sz="1000" b="0" i="0" baseline="0" dirty="0">
                <a:latin typeface="Calibri"/>
              </a:rPr>
              <a:t> </a:t>
            </a:r>
            <a:r>
              <a:rPr lang="en-US" sz="1000" b="0" i="0" baseline="0" dirty="0">
                <a:latin typeface="Calibri"/>
              </a:rPr>
              <a:t>show inverted-U-like shape; </a:t>
            </a:r>
            <a:r>
              <a:rPr lang="el-GR" sz="1000" b="1" i="0" baseline="0" dirty="0">
                <a:latin typeface="Calibri"/>
              </a:rPr>
              <a:t>λ = 1.5, 2</a:t>
            </a:r>
            <a:r>
              <a:rPr lang="el-GR" sz="1000" b="0" i="0" baseline="0" dirty="0">
                <a:latin typeface="Calibri"/>
              </a:rPr>
              <a:t> </a:t>
            </a:r>
            <a:r>
              <a:rPr lang="en-US" sz="1000" b="0" i="0" baseline="0" dirty="0">
                <a:latin typeface="Calibri"/>
              </a:rPr>
              <a:t>still monotone.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1" i="0" baseline="0" dirty="0">
                <a:latin typeface="Calibri"/>
              </a:rPr>
              <a:t>Takeaway</a:t>
            </a:r>
            <a:r>
              <a:rPr lang="en-US" sz="1000" b="0" i="0" baseline="0" dirty="0">
                <a:latin typeface="Calibri"/>
              </a:rPr>
              <a:t>: </a:t>
            </a:r>
            <a:r>
              <a:rPr lang="el-GR" sz="1000" b="0" i="0" baseline="0" dirty="0">
                <a:latin typeface="Calibri"/>
              </a:rPr>
              <a:t>λ </a:t>
            </a:r>
            <a:r>
              <a:rPr lang="en-US" sz="1000" b="0" i="0" baseline="0" dirty="0">
                <a:latin typeface="Calibri"/>
              </a:rPr>
              <a:t>controls both </a:t>
            </a:r>
            <a:r>
              <a:rPr lang="en-US" sz="1000" b="1" i="0" baseline="0" dirty="0">
                <a:latin typeface="Calibri"/>
              </a:rPr>
              <a:t>whether</a:t>
            </a:r>
            <a:r>
              <a:rPr lang="en-US" sz="1000" b="0" i="0" baseline="0" dirty="0">
                <a:latin typeface="Calibri"/>
              </a:rPr>
              <a:t> and </a:t>
            </a:r>
            <a:r>
              <a:rPr lang="en-US" sz="1000" b="1" i="0" baseline="0" dirty="0">
                <a:latin typeface="Calibri"/>
              </a:rPr>
              <a:t>where</a:t>
            </a:r>
            <a:r>
              <a:rPr lang="en-US" sz="1000" b="0" i="0" baseline="0" dirty="0">
                <a:latin typeface="Calibri"/>
              </a:rPr>
              <a:t> the dip appears; very high </a:t>
            </a:r>
            <a:r>
              <a:rPr lang="el-GR" sz="1000" b="0" i="0" baseline="0" dirty="0">
                <a:latin typeface="Calibri"/>
              </a:rPr>
              <a:t>λ </a:t>
            </a:r>
            <a:r>
              <a:rPr lang="en-US" sz="1000" b="0" i="0" baseline="0" dirty="0">
                <a:latin typeface="Calibri"/>
              </a:rPr>
              <a:t>is not “more empirical.”</a:t>
            </a:r>
          </a:p>
          <a:p>
            <a:endParaRPr lang="en-US" sz="1000" b="0" i="0" baseline="0" dirty="0">
              <a:latin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C1A31-708A-558A-D52C-952586F69249}"/>
              </a:ext>
            </a:extLst>
          </p:cNvPr>
          <p:cNvSpPr txBox="1"/>
          <p:nvPr/>
        </p:nvSpPr>
        <p:spPr>
          <a:xfrm>
            <a:off x="384048" y="6053328"/>
            <a:ext cx="114235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/>
              <a:t>Talking point:</a:t>
            </a:r>
            <a:r>
              <a:rPr lang="en-US" sz="1100" dirty="0"/>
              <a:t> Inverted-U on LOO </a:t>
            </a:r>
            <a:r>
              <a:rPr lang="en-US" sz="1100" b="1" dirty="0"/>
              <a:t>persists</a:t>
            </a:r>
            <a:r>
              <a:rPr lang="en-US" sz="1100" dirty="0"/>
              <a:t> for </a:t>
            </a:r>
            <a:r>
              <a:rPr lang="en-US" sz="1100" b="1" dirty="0" err="1"/>
              <a:t>λ</a:t>
            </a:r>
            <a:r>
              <a:rPr lang="en-US" sz="1100" b="1" dirty="0"/>
              <a:t> ≥ 1.5</a:t>
            </a:r>
            <a:r>
              <a:rPr lang="en-US" sz="1100" dirty="0"/>
              <a:t>, but </a:t>
            </a:r>
            <a:r>
              <a:rPr lang="en-US" sz="1100" b="1" dirty="0" err="1"/>
              <a:t>λ</a:t>
            </a:r>
            <a:r>
              <a:rPr lang="en-US" sz="1100" b="1" dirty="0"/>
              <a:t> = 8–16</a:t>
            </a:r>
            <a:r>
              <a:rPr lang="en-US" sz="1100" dirty="0"/>
              <a:t> shifts the peak </a:t>
            </a:r>
            <a:r>
              <a:rPr lang="en-US" sz="1100" b="1" dirty="0"/>
              <a:t>too far left</a:t>
            </a:r>
            <a:r>
              <a:rPr lang="en-US" sz="1100" dirty="0"/>
              <a:t>; on pool mean, inverted-U appears only at </a:t>
            </a:r>
            <a:r>
              <a:rPr lang="en-US" sz="1100" b="1" dirty="0" err="1"/>
              <a:t>λ</a:t>
            </a:r>
            <a:r>
              <a:rPr lang="en-US" sz="1100" b="1" dirty="0"/>
              <a:t> ≥ 4</a:t>
            </a:r>
            <a:r>
              <a:rPr lang="en-US" sz="1100" dirty="0"/>
              <a:t> — so “more </a:t>
            </a:r>
            <a:r>
              <a:rPr lang="en-US" sz="1100" dirty="0" err="1"/>
              <a:t>λ</a:t>
            </a:r>
            <a:r>
              <a:rPr lang="en-US" sz="1100" dirty="0"/>
              <a:t>” is not uniformly “more empirical.”</a:t>
            </a:r>
            <a:endParaRPr sz="800" i="0" baseline="0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316187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4088363" cy="44800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PD17 — Empirical Sketch A: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vs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endParaRPr sz="2000" b="1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4088363" cy="448008"/>
              </a:xfrm>
              <a:prstGeom prst="rect">
                <a:avLst/>
              </a:prstGeom>
              <a:blipFill>
                <a:blip r:embed="rId2"/>
                <a:stretch>
                  <a:fillRect l="-1548" t="-11111" b="-19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7717562" cy="270139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· PPM z within season · min 20 min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sub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=2.295</m:t>
                    </m:r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. 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=0.0182</m:t>
                        </m:r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·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placeholder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7717562" cy="270139"/>
              </a:xfrm>
              <a:prstGeom prst="rect">
                <a:avLst/>
              </a:prstGeom>
              <a:blipFill>
                <a:blip r:embed="rId3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384048" y="1051560"/>
                <a:ext cx="3526036" cy="13678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Each cell: count of team-seasons at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Color = count (empirical Sketch A — no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arms).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on roster (realized talent, not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Look for upward co-movement: higher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with higher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=0.011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=0.254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51560"/>
                <a:ext cx="3526036" cy="1367810"/>
              </a:xfrm>
              <a:prstGeom prst="rect">
                <a:avLst/>
              </a:prstGeom>
              <a:blipFill>
                <a:blip r:embed="rId4"/>
                <a:stretch>
                  <a:fillRect b="-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EMPIRICAL_L_C_vs_Tj_2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9815" y="1051560"/>
            <a:ext cx="6558185" cy="49286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879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(PD17): On actual team-seasons, stronger realized rosters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10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100" b="1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) tend to co-occur with higher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— empirical Sketch A.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87964"/>
              </a:xfrm>
              <a:prstGeom prst="rect">
                <a:avLst/>
              </a:prstGeom>
              <a:blipFill>
                <a:blip r:embed="rId6"/>
                <a:stretch>
                  <a:fillRect t="-4167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5714834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PD17 — Empirical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 </a:t>
                </a:r>
                <a:r>
                  <a:rPr lang="en-US" sz="2000" b="1" i="0" baseline="0" dirty="0">
                    <a:latin typeface="Calibri"/>
                  </a:rPr>
                  <a:t>sweep:</a:t>
                </a:r>
                <a:r>
                  <a:rPr sz="2000" b="1" i="0" baseline="0" dirty="0">
                    <a:latin typeface="Calibri"/>
                  </a:rPr>
                  <a:t>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on real rosters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714834" cy="400110"/>
              </a:xfrm>
              <a:prstGeom prst="rect">
                <a:avLst/>
              </a:prstGeom>
              <a:blipFill>
                <a:blip r:embed="rId3"/>
                <a:stretch>
                  <a:fillRect l="-1109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6012800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· PPM z · min 20 min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=2.295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z-units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=0.0182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fixed across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arms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6012800" cy="246221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EMPIRICAL_L_C_gamma_sweep_str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15816" y="1033272"/>
            <a:ext cx="8560063" cy="41148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8" y="5202936"/>
                <a:ext cx="3685946" cy="4381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sz="900" b="0" i="0" baseline="0" dirty="0">
                    <a:latin typeface="Calibri"/>
                  </a:rPr>
                  <a:t>OAT on real panel: fixed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 cutline on PPM z); only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 in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9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900" b="0" i="1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ˆ"/>
                                <m:ctrlPr>
                                  <a:rPr lang="en-US" sz="9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900" b="0" i="0" baseline="0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  <m:r>
                              <a:rPr lang="en-US" sz="900" b="0" i="0" baseline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900" b="0" i="0" baseline="0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900" b="0" i="0" baseline="0" dirty="0">
                    <a:latin typeface="Calibri"/>
                  </a:rPr>
                  <a:t> changes.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202936"/>
                <a:ext cx="3685946" cy="438133"/>
              </a:xfrm>
              <a:prstGeom prst="rect">
                <a:avLst/>
              </a:prstGeom>
              <a:blipFill>
                <a:blip r:embed="rId6"/>
                <a:stretch>
                  <a:fillRect b="-2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4252874" y="5202936"/>
                <a:ext cx="3685946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sz="900" b="0" i="0" baseline="0" dirty="0">
                    <a:latin typeface="Calibri"/>
                  </a:rPr>
                  <a:t>Arms: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900" b="0" i="0" baseline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900" b="0" i="0" baseline="0" dirty="0" smtClean="0">
                            <a:latin typeface="Cambria Math" panose="02040503050406030204" pitchFamily="18" charset="0"/>
                          </a:rPr>
                          <m:t>10,5,1,0.5,0.001</m:t>
                        </m:r>
                      </m:e>
                    </m:d>
                  </m:oMath>
                </a14:m>
                <a:r>
                  <a:rPr sz="900" b="0" i="0" baseline="0" dirty="0">
                    <a:latin typeface="Calibri"/>
                  </a:rPr>
                  <a:t> — same team-seasons, same rosters.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2874" y="5202936"/>
                <a:ext cx="3685946" cy="230832"/>
              </a:xfrm>
              <a:prstGeom prst="rect">
                <a:avLst/>
              </a:prstGeom>
              <a:blipFill>
                <a:blip r:embed="rId7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8121700" y="5202936"/>
                <a:ext cx="3685946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sz="900" b="0" i="0" baseline="0" dirty="0">
                    <a:latin typeface="Calibri"/>
                  </a:rPr>
                  <a:t>At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9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900" b="0" i="0" baseline="0" dirty="0">
                        <a:latin typeface="Cambria Math" panose="02040503050406030204" pitchFamily="18" charset="0"/>
                      </a:rPr>
                      <m:t>=0.029,</m:t>
                    </m:r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900" b="0" i="0" baseline="0" dirty="0">
                        <a:latin typeface="Cambria Math" panose="02040503050406030204" pitchFamily="18" charset="0"/>
                      </a:rPr>
                      <m:t>84%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 teams below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0.05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700" y="5202936"/>
                <a:ext cx="3685946" cy="230832"/>
              </a:xfrm>
              <a:prstGeom prst="rect">
                <a:avLst/>
              </a:prstGeom>
              <a:blipFill>
                <a:blip r:embed="rId8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84048" y="5961888"/>
                <a:ext cx="3622402" cy="23083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900" b="0" i="0" baseline="0" dirty="0">
                    <a:latin typeface="Calibri"/>
                  </a:rPr>
                  <a:t>At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9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900" b="0" i="0" baseline="0" dirty="0">
                        <a:latin typeface="Cambria Math" panose="02040503050406030204" pitchFamily="18" charset="0"/>
                      </a:rPr>
                      <m:t>=0.499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, max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9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900" b="0" i="0" baseline="0" dirty="0">
                        <a:latin typeface="Cambria Math" panose="02040503050406030204" pitchFamily="18" charset="0"/>
                      </a:rPr>
                      <m:t>=0.500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 — spread opens on z-scale.</a:t>
                </a: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961888"/>
                <a:ext cx="3622402" cy="230832"/>
              </a:xfrm>
              <a:prstGeom prst="rect">
                <a:avLst/>
              </a:prstGeom>
              <a:blipFill>
                <a:blip r:embed="rId9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384048" y="6158844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(PD17): On real rosters, γ reshapes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— high γ compresses viability near 0 on the PPM-z scale; low γ spreads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into the interior of [0,1].</a:t>
                </a: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158844"/>
                <a:ext cx="11423599" cy="261610"/>
              </a:xfrm>
              <a:prstGeom prst="rect">
                <a:avLst/>
              </a:prstGeom>
              <a:blipFill>
                <a:blip r:embed="rId10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4902</TotalTime>
  <Words>4227</Words>
  <Application>Microsoft Macintosh PowerPoint</Application>
  <PresentationFormat>Widescreen</PresentationFormat>
  <Paragraphs>297</Paragraphs>
  <Slides>23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Aptos</vt:lpstr>
      <vt:lpstr>Arial</vt:lpstr>
      <vt:lpstr>Avenir Next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Levine, Charles R CTR</cp:lastModifiedBy>
  <cp:revision>88</cp:revision>
  <cp:lastPrinted>2026-08-12T17:15:46Z</cp:lastPrinted>
  <dcterms:created xsi:type="dcterms:W3CDTF">2013-01-27T09:14:16Z</dcterms:created>
  <dcterms:modified xsi:type="dcterms:W3CDTF">2026-08-12T23:50:57Z</dcterms:modified>
  <cp:category/>
</cp:coreProperties>
</file>