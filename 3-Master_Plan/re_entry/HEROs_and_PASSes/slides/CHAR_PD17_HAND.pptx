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303" r:id="rId2"/>
    <p:sldId id="265" r:id="rId3"/>
    <p:sldId id="256" r:id="rId4"/>
    <p:sldId id="288" r:id="rId5"/>
    <p:sldId id="283" r:id="rId6"/>
    <p:sldId id="285" r:id="rId7"/>
    <p:sldId id="300" r:id="rId8"/>
    <p:sldId id="279" r:id="rId9"/>
    <p:sldId id="287" r:id="rId10"/>
    <p:sldId id="286" r:id="rId11"/>
    <p:sldId id="289" r:id="rId12"/>
    <p:sldId id="290" r:id="rId13"/>
    <p:sldId id="293" r:id="rId14"/>
    <p:sldId id="292" r:id="rId15"/>
    <p:sldId id="294" r:id="rId16"/>
    <p:sldId id="295" r:id="rId17"/>
    <p:sldId id="296" r:id="rId18"/>
    <p:sldId id="299" r:id="rId19"/>
    <p:sldId id="298" r:id="rId20"/>
    <p:sldId id="297" r:id="rId21"/>
    <p:sldId id="301" r:id="rId22"/>
    <p:sldId id="302" r:id="rId23"/>
    <p:sldId id="257" r:id="rId24"/>
    <p:sldId id="275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86"/>
    <p:restoredTop sz="94677"/>
  </p:normalViewPr>
  <p:slideViewPr>
    <p:cSldViewPr snapToGrid="0" snapToObjects="1">
      <p:cViewPr varScale="1">
        <p:scale>
          <a:sx n="214" d="100"/>
          <a:sy n="214" d="100"/>
        </p:scale>
        <p:origin x="200" y="19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3984F2-0FE4-904E-B6D8-FBA3A2D4DB33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A65AC5-4B69-CD42-A9CA-DA3CB3FA4F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8753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A65AC5-4B69-CD42-A9CA-DA3CB3FA4FF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620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1.png"/><Relationship Id="rId5" Type="http://schemas.openxmlformats.org/officeDocument/2006/relationships/image" Target="../media/image25.png"/><Relationship Id="rId4" Type="http://schemas.openxmlformats.org/officeDocument/2006/relationships/image" Target="../media/image2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0.png"/><Relationship Id="rId5" Type="http://schemas.openxmlformats.org/officeDocument/2006/relationships/image" Target="../media/image26.png"/><Relationship Id="rId4" Type="http://schemas.openxmlformats.org/officeDocument/2006/relationships/image" Target="../media/image3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1.png"/><Relationship Id="rId7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0.png"/><Relationship Id="rId5" Type="http://schemas.openxmlformats.org/officeDocument/2006/relationships/image" Target="../media/image290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0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0.png"/><Relationship Id="rId5" Type="http://schemas.openxmlformats.org/officeDocument/2006/relationships/image" Target="../media/image64.png"/><Relationship Id="rId4" Type="http://schemas.openxmlformats.org/officeDocument/2006/relationships/image" Target="../media/image1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1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0.png"/><Relationship Id="rId5" Type="http://schemas.openxmlformats.org/officeDocument/2006/relationships/image" Target="../media/image65.png"/><Relationship Id="rId10" Type="http://schemas.openxmlformats.org/officeDocument/2006/relationships/image" Target="../media/image280.png"/><Relationship Id="rId4" Type="http://schemas.openxmlformats.org/officeDocument/2006/relationships/image" Target="../media/image220.png"/><Relationship Id="rId9" Type="http://schemas.openxmlformats.org/officeDocument/2006/relationships/image" Target="../media/image2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9E7DCF-1A3D-1CEE-5EBF-9B07041D6A72}"/>
              </a:ext>
            </a:extLst>
          </p:cNvPr>
          <p:cNvSpPr txBox="1"/>
          <p:nvPr/>
        </p:nvSpPr>
        <p:spPr>
          <a:xfrm>
            <a:off x="169762" y="2967335"/>
            <a:ext cx="11852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i="1" dirty="0">
                <a:latin typeface="Futura Medium" panose="020B0602020204020303" pitchFamily="34" charset="-79"/>
                <a:cs typeface="Futura Medium" panose="020B0602020204020303" pitchFamily="34" charset="-79"/>
              </a:rPr>
              <a:t>PD17 HAND</a:t>
            </a:r>
          </a:p>
        </p:txBody>
      </p:sp>
    </p:spTree>
    <p:extLst>
      <p:ext uri="{BB962C8B-B14F-4D97-AF65-F5344CB8AC3E}">
        <p14:creationId xmlns:p14="http://schemas.microsoft.com/office/powerpoint/2010/main" val="3007039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119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lang="en-US" sz="2000" dirty="0"/>
              <a:t>PD17 — Empirical MBB characterization</a:t>
            </a:r>
            <a:endParaRPr sz="2000" dirty="0"/>
          </a:p>
        </p:txBody>
      </p:sp>
      <p:sp>
        <p:nvSpPr>
          <p:cNvPr id="3" name="TextBox 2"/>
          <p:cNvSpPr txBox="1"/>
          <p:nvPr/>
        </p:nvSpPr>
        <p:spPr>
          <a:xfrm>
            <a:off x="384048" y="749808"/>
            <a:ext cx="58064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rPr sz="1200"/>
              <a:t>Knobs (mini glossary)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sz="12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200" b="0" i="0" dirty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200" b="0" i="0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sz="1100" b="0" i="0" baseline="-2500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marL="0" marR="0" lvl="0" indent="0" algn="ctr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acc>
                                  <m:accPr>
                                    <m:chr m:val="̂"/>
                                    <m:ctrlP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200" b="0" i="1" baseline="0" dirty="0" smtClean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1200" b="0" baseline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Mean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roster, not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baseline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𝑚𝑒𝑎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  <m:d>
                                <m:d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  <m:d>
                                    <m:dPr>
                                      <m:ctrlPr>
                                        <a:rPr lang="en-US" sz="1100" b="0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100" b="0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acc>
                                            <m:accPr>
                                              <m:chr m:val="ˆ"/>
                                              <m:ctrlP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en-US" sz="1100" b="0" i="0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𝐴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a:rPr lang="en-US" sz="1100" b="0" i="0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100" b="0" i="0" dirty="0" err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per roster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Score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100" b="0" i="0" dirty="0" err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err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 (sim / later on data)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oMath>
                            </m:oMathPara>
                          </a14:m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acc>
                                    <m:accPr>
                                      <m:chr m:val="ˆ"/>
                                      <m:ctrlP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0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sub>
                                <m:sup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/</m:t>
                                  </m:r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on empirical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100" b="0" i="1" dirty="0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1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Reshapes team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100" b="0" i="0" dirty="0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 – 539 placeholder until lock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Accepted / total in filtered panel (</a:t>
                          </a:r>
                          <a14:m>
                            <m:oMath xmlns:m="http://schemas.openxmlformats.org/officeDocument/2006/math">
                              <m:r>
                                <a:rPr lang="en-US" sz="1100" b="0" i="0" dirty="0" smtClean="0">
                                  <a:latin typeface="Cambria Math" panose="02040503050406030204" pitchFamily="18" charset="0"/>
                                </a:rPr>
                                <m:t>≈.1.8%</m:t>
                              </m:r>
                            </m:oMath>
                          </a14:m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)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33212608"/>
                  </p:ext>
                </p:extLst>
              </p:nvPr>
            </p:nvGraphicFramePr>
            <p:xfrm>
              <a:off x="384048" y="1024128"/>
              <a:ext cx="6375981" cy="5335114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892637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897589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5857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526403">
                    <a:tc>
                      <a:txBody>
                        <a:bodyPr/>
                        <a:lstStyle/>
                        <a:p>
                          <a:pPr algn="ctr"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Symbol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Plain name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 b="1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What it controls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04878" r="-621429" b="-82926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Player ability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PPM within season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190909" r="-621429" b="-67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Realized team talent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190909" r="-707" b="-67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49253264"/>
                      </a:ext>
                    </a:extLst>
                  </a:tr>
                  <a:tr h="5619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b="0" dirty="0"/>
                            <a:t>T</a:t>
                          </a:r>
                          <a:r>
                            <a:rPr lang="en-US" sz="1200" b="0" baseline="-25000" dirty="0"/>
                            <a:t>j *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Sim assignment target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Pass B only – not observed in NCAA data</a:t>
                          </a:r>
                          <a:endParaRPr sz="11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67805221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ρ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Assignment assortativity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4572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 sz="800">
                              <a:latin typeface="Calibri"/>
                            </a:defRPr>
                          </a:pPr>
                          <a:r>
                            <a:rPr lang="en-US" sz="1100" b="0" i="0" dirty="0">
                              <a:latin typeface="Avenir Next" panose="020B0503020202020204" pitchFamily="34" charset="0"/>
                            </a:rPr>
                            <a:t>Sim soft-match knob; overlay forensics on data</a:t>
                          </a:r>
                          <a:endParaRPr lang="en-US" sz="1100" b="0" baseline="-25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L</a:t>
                          </a:r>
                          <a:r>
                            <a:rPr sz="1100" b="0" i="0" baseline="-25000" dirty="0">
                              <a:latin typeface="Avenir Next" panose="020B0503020202020204" pitchFamily="34" charset="0"/>
                            </a:rPr>
                            <a:t>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Team</a:t>
                          </a: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 </a:t>
                          </a: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congestion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509524" r="-707" b="-4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λ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Congestion weight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624390" r="-707" b="-30975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707143" r="-621429" b="-2023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Viability cutline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707143" r="-707" b="-2023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826829" r="-621429" b="-1073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sz="1200" b="0" i="0" dirty="0">
                              <a:latin typeface="Avenir Next" panose="020B0503020202020204" pitchFamily="34" charset="0"/>
                            </a:rPr>
                            <a:t>Sigmoid sharpness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826829" r="-707" b="-1073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52640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429" t="-904762" r="-621429" b="-4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defRPr sz="900">
                              <a:latin typeface="Calibri"/>
                            </a:defRPr>
                          </a:pPr>
                          <a:r>
                            <a:rPr lang="en-US" sz="1200" b="0" i="0" dirty="0">
                              <a:latin typeface="Avenir Next" panose="020B0503020202020204" pitchFamily="34" charset="0"/>
                            </a:rPr>
                            <a:t>Draft rate</a:t>
                          </a:r>
                          <a:endParaRPr sz="1200" b="0" i="0" dirty="0">
                            <a:latin typeface="Avenir Next" panose="020B0503020202020204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78092" t="-904762" r="-707" b="-4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/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b="1" i="0" baseline="0" dirty="0">
                    <a:latin typeface="Calibri"/>
                  </a:rPr>
                  <a:t>Deck map (assign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</a:t>
                </a:r>
                <a:r>
                  <a:rPr b="1" i="0" baseline="0" dirty="0">
                    <a:latin typeface="Calibri"/>
                  </a:rPr>
                  <a:t>score</a:t>
                </a:r>
                <a:r>
                  <a:rPr lang="en-US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comparability </a:t>
                </a:r>
                <a14:m>
                  <m:oMath xmlns:m="http://schemas.openxmlformats.org/officeDocument/2006/math">
                    <m:r>
                      <a:rPr lang="en-US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b="1" i="0" baseline="0" dirty="0">
                    <a:latin typeface="Calibri"/>
                  </a:rPr>
                  <a:t> Hero</a:t>
                </a:r>
                <a:r>
                  <a:rPr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DB85130-921E-304E-4FF4-9E2C7E1DB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535" y="749808"/>
                <a:ext cx="5094728" cy="369332"/>
              </a:xfrm>
              <a:prstGeom prst="rect">
                <a:avLst/>
              </a:prstGeom>
              <a:blipFill>
                <a:blip r:embed="rId3"/>
                <a:stretch>
                  <a:fillRect l="-744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/>
              <p:nvPr/>
            </p:nvSpPr>
            <p:spPr>
              <a:xfrm>
                <a:off x="6908535" y="1393171"/>
                <a:ext cx="4411913" cy="40891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/>
                  <a:t>Block A — Empirical inputs &amp; overlap</a:t>
                </a:r>
                <a:br>
                  <a:rPr lang="en-US" sz="1100" dirty="0"/>
                </a:br>
                <a:r>
                  <a:rPr lang="en-US" sz="1100" dirty="0"/>
                  <a:t>	2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Â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1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1100" i="1" dirty="0" err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i="1" dirty="0" err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i="1" dirty="0" err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100" dirty="0"/>
                  <a:t>inputs (2011–2021)</a:t>
                </a:r>
                <a:br>
                  <a:rPr lang="en-US" sz="1100" dirty="0"/>
                </a:br>
                <a:r>
                  <a:rPr lang="en-US" sz="1100" dirty="0"/>
                  <a:t>	3 · NCAA interval overlap (full panel)</a:t>
                </a:r>
                <a:br>
                  <a:rPr lang="en-US" sz="1100" dirty="0"/>
                </a:br>
                <a:r>
                  <a:rPr lang="en-US" sz="1100" dirty="0"/>
                  <a:t>	4–5 · NCAA vs LG intervals (2015–2019 window)</a:t>
                </a:r>
              </a:p>
              <a:p>
                <a:r>
                  <a:rPr lang="en-US" sz="1100" b="1" dirty="0"/>
                  <a:t>Block B — LG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b="1" dirty="0"/>
                  <a:t> validation (ASSIGN)</a:t>
                </a:r>
                <a:br>
                  <a:rPr lang="en-US" sz="1100" dirty="0"/>
                </a:br>
                <a:r>
                  <a:rPr lang="en-US" sz="1100" dirty="0"/>
                  <a:t>	6 · global_wss vs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(primary)</a:t>
                </a:r>
                <a:br>
                  <a:rPr lang="en-US" sz="1100" dirty="0"/>
                </a:br>
                <a:r>
                  <a:rPr lang="en-US" sz="1100" dirty="0"/>
                  <a:t>	7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100" dirty="0"/>
                  <a:t> glossary +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inset</a:t>
                </a:r>
              </a:p>
              <a:p>
                <a:r>
                  <a:rPr lang="en-US" sz="1100" b="1" dirty="0"/>
                  <a:t>Block C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1100" b="1" i="1" dirty="0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sz="1100" b="1" dirty="0"/>
                  <a:t> on real rosters (SCORE input)</a:t>
                </a:r>
                <a:br>
                  <a:rPr lang="en-US" sz="1100" dirty="0"/>
                </a:br>
                <a:r>
                  <a:rPr lang="en-US" sz="1100" dirty="0"/>
                  <a:t>	8 ·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d>
                      <m:dPr>
                        <m:ctrlPr>
                          <a:rPr lang="en-US" sz="11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sz="1100" i="1" dirty="0" smtClean="0">
                            <a:latin typeface="Cambria Math" panose="02040503050406030204" pitchFamily="18" charset="0"/>
                          </a:rPr>
                          <m:t>=0.5</m:t>
                        </m:r>
                      </m:e>
                    </m:d>
                  </m:oMath>
                </a14:m>
                <a:endParaRPr lang="en-US" sz="1100" b="1" dirty="0"/>
              </a:p>
              <a:p>
                <a:r>
                  <a:rPr lang="en-US" sz="1100" b="1" dirty="0"/>
                  <a:t>Block D — LG input comparability (empirical caps,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dirty="0" err="1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100" b="1" dirty="0"/>
                  <a:t>)</a:t>
                </a:r>
                <a:br>
                  <a:rPr lang="en-US" sz="1100" dirty="0"/>
                </a:br>
                <a:r>
                  <a:rPr lang="en-US" sz="1100" dirty="0"/>
                  <a:t>	9 · Roster-size multiset (Alex caps fix)</a:t>
                </a:r>
                <a:br>
                  <a:rPr lang="en-US" sz="1100" dirty="0"/>
                </a:br>
                <a:r>
                  <a:rPr lang="en-US" sz="1100" dirty="0"/>
                  <a:t>	10 ·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100" dirty="0"/>
                  <a:t> vs NCAA (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,492</m:t>
                    </m:r>
                  </m:oMath>
                </a14:m>
                <a:r>
                  <a:rPr lang="en-US" sz="1100" dirty="0"/>
                  <a:t> team-seasons)</a:t>
                </a:r>
                <a:br>
                  <a:rPr lang="en-US" sz="1100" dirty="0"/>
                </a:br>
                <a:r>
                  <a:rPr lang="en-US" sz="1100" dirty="0"/>
                  <a:t>	11 · SELECT vs Hero — caps alone ≠ inverted-U →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sweep</a:t>
                </a:r>
              </a:p>
              <a:p>
                <a:r>
                  <a:rPr lang="en-US" sz="1100" b="1" dirty="0"/>
                  <a:t>Block E — Hero &amp; sensitivity (empirical)</a:t>
                </a:r>
                <a:br>
                  <a:rPr lang="en-US" sz="1100" dirty="0"/>
                </a:br>
                <a:r>
                  <a:rPr lang="en-US" sz="1100" dirty="0"/>
                  <a:t>	12 · NCAA roster sizes vs fixed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br>
                  <a:rPr lang="en-US" sz="1100" dirty="0"/>
                </a:br>
                <a:r>
                  <a:rPr lang="en-US" sz="1100" dirty="0"/>
                  <a:t>	13–14 · min_minutes ladder (Hero robustness)</a:t>
                </a:r>
                <a:br>
                  <a:rPr lang="en-US" sz="1100" dirty="0"/>
                </a:br>
                <a:r>
                  <a:rPr lang="en-US" sz="1100" dirty="0"/>
                  <a:t>	15–16 · LG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/>
                  <a:t> sweep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100" dirty="0"/>
                  <a:t> + SELECT; monotone)</a:t>
                </a:r>
              </a:p>
              <a:p>
                <a:r>
                  <a:rPr lang="en-US" sz="1100" b="1" dirty="0"/>
                  <a:t>Block F —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b="1" dirty="0"/>
                  <a:t> in SCORE (LG, empirical caps held fixed)</a:t>
                </a:r>
                <a:br>
                  <a:rPr lang="en-US" sz="1100" dirty="0"/>
                </a:br>
                <a:r>
                  <a:rPr lang="en-US" sz="1100" dirty="0"/>
                  <a:t>	20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fine grid (flip 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1.25</m:t>
                    </m:r>
                    <m:r>
                      <a:rPr lang="en-US" sz="1100" i="0" dirty="0">
                        <a:latin typeface="Cambria Math" panose="02040503050406030204" pitchFamily="18" charset="0"/>
                      </a:rPr>
                      <m:t>→1.5</m:t>
                    </m:r>
                  </m:oMath>
                </a14:m>
                <a:r>
                  <a:rPr lang="en-US" sz="1100" dirty="0"/>
                  <a:t>; peak bin </a:t>
                </a:r>
                <a14:m>
                  <m:oMath xmlns:m="http://schemas.openxmlformats.org/officeDocument/2006/math">
                    <m:r>
                      <a:rPr lang="en-US" sz="11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dirty="0"/>
                  <a:t> at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i="0" dirty="0" err="1">
                        <a:latin typeface="Cambria Math" panose="02040503050406030204" pitchFamily="18" charset="0"/>
                      </a:rPr>
                      <m:t>≈2–3</m:t>
                    </m:r>
                  </m:oMath>
                </a14:m>
                <a:r>
                  <a:rPr lang="en-US" sz="1100" dirty="0"/>
                  <a:t>)</a:t>
                </a:r>
                <a:br>
                  <a:rPr lang="en-US" sz="1100" dirty="0"/>
                </a:br>
                <a:r>
                  <a:rPr lang="en-US" sz="1100" dirty="0"/>
                  <a:t>	21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dirty="0"/>
                  <a:t> extended grid</a:t>
                </a:r>
              </a:p>
              <a:p>
                <a:r>
                  <a:rPr lang="en-US" sz="1100" b="1" dirty="0"/>
                  <a:t>Block G — Empirical SCORE diagnostics (PD17)</a:t>
                </a:r>
                <a:br>
                  <a:rPr lang="en-US" sz="1100" dirty="0"/>
                </a:br>
                <a:r>
                  <a:rPr lang="en-US" sz="1100" dirty="0"/>
                  <a:t>	22 · Sketch A: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𝑇</m:t>
                    </m:r>
                    <m:sSub>
                      <m:sSubPr>
                        <m:ctrlPr>
                          <a:rPr lang="en-US" sz="1100" i="0" dirty="0" err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0" dirty="0" err="1">
                            <a:latin typeface="Cambria Math" panose="02040503050406030204" pitchFamily="18" charset="0"/>
                          </a:rPr>
                          <m:t>̂</m:t>
                        </m:r>
                      </m:e>
                      <m:sub>
                        <m:r>
                          <a:rPr lang="en-US" sz="1100" i="1" dirty="0" err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1100" dirty="0"/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br>
                  <a:rPr lang="en-US" sz="1100" dirty="0"/>
                </a:br>
                <a:r>
                  <a:rPr lang="en-US" sz="1100" dirty="0"/>
                  <a:t>	23 ·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100" dirty="0"/>
                  <a:t> sweep on real rosters</a:t>
                </a:r>
              </a:p>
              <a:p>
                <a:pPr>
                  <a:lnSpc>
                    <a:spcPct val="150000"/>
                  </a:lnSpc>
                </a:pPr>
                <a:endParaRPr sz="5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07FE12E-A462-56D0-1668-8FB0FB29E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8535" y="1393171"/>
                <a:ext cx="4411913" cy="408919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/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1100" b="1" i="0" baseline="0" dirty="0">
                    <a:latin typeface="Calibri"/>
                  </a:rPr>
                  <a:t>Claim (PD17): </a:t>
                </a:r>
                <a:r>
                  <a:rPr lang="en-US" sz="1100" dirty="0"/>
                  <a:t>Map empirical roster geometry; validate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on ASSIGN; with caps fixed, </a:t>
                </a:r>
                <a:r>
                  <a:rPr lang="en-US" sz="1100" b="1" dirty="0"/>
                  <a:t>Hero shape on LOO emerges in LG via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100" b="1" dirty="0"/>
                  <a:t> in SCORE</a:t>
                </a:r>
                <a:r>
                  <a:rPr lang="en-US" sz="1100" dirty="0"/>
                  <a:t> (slides 20–21) — not via </a:t>
                </a:r>
                <a14:m>
                  <m:oMath xmlns:m="http://schemas.openxmlformats.org/officeDocument/2006/math">
                    <m:r>
                      <a:rPr lang="en-US" sz="11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100" dirty="0"/>
                  <a:t> or roster alignment alone.</a:t>
                </a:r>
                <a:endParaRPr sz="11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9D6AE3C-2E51-0813-F108-49D66345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673" y="646243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EMPIRICAL_Ai_Tj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032" y="2102294"/>
            <a:ext cx="9115615" cy="37796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MBB inputs: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01168"/>
                <a:ext cx="4466159" cy="448008"/>
              </a:xfrm>
              <a:prstGeom prst="rect">
                <a:avLst/>
              </a:prstGeom>
              <a:blipFill>
                <a:blip r:embed="rId3"/>
                <a:stretch>
                  <a:fillRect l="-1416" t="-8333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676656"/>
            <a:ext cx="4172937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ppm z within season · min 20 min · poolq winsor 0.01–0.99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Realized rosters — descriptive inputs, not sim draws.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Left: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player ability (one value per player-season).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Right: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(team-season; not LOO).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tighter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(averaging shrinks spread).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0" i="0" baseline="0" dirty="0">
                    <a:latin typeface="Calibri"/>
                  </a:rPr>
                  <a:t>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=-0.001,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=0.011 (sd 0.995 / 0.401).</a:t>
                </a:r>
              </a:p>
              <a:p>
                <a:pPr marL="171450" indent="-17145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sz="1000" b="1" i="0" baseline="0" dirty="0">
                    <a:latin typeface="Calibri"/>
                  </a:rPr>
                  <a:t>PD17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𝛉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proxy: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𝐊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𝐍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𝟎𝟏𝟖𝟐</m:t>
                    </m:r>
                  </m:oMath>
                </a14:m>
                <a:r>
                  <a:rPr lang="en-US" sz="1000" b="1" i="0" baseline="0" dirty="0">
                    <a:latin typeface="Calibri"/>
                  </a:rPr>
                  <a:t>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sz="1000" b="1" i="0" baseline="0" dirty="0">
                    <a:latin typeface="Calibri"/>
                  </a:rPr>
                  <a:t> </a:t>
                </a:r>
                <a:r>
                  <a:rPr sz="1000" b="1" i="0" baseline="0" dirty="0">
                    <a:latin typeface="Calibri"/>
                  </a:rPr>
                  <a:t>(1,134 drafted / 62,180 player-seasons).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005840"/>
                <a:ext cx="3902659" cy="1805623"/>
              </a:xfrm>
              <a:prstGeom prst="rect">
                <a:avLst/>
              </a:prstGeom>
              <a:blipFill>
                <a:blip r:embed="rId4"/>
                <a:stretch>
                  <a:fillRect b="-13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050" b="1" i="0" baseline="0" dirty="0">
                    <a:latin typeface="Calibri"/>
                  </a:rPr>
                  <a:t>Claim (PD17): World-first inputs from the real MBB panel —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player-season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 per team-season.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5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50" b="1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50" b="1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50" b="1" i="0" baseline="0" dirty="0">
                    <a:latin typeface="Calibri"/>
                  </a:rPr>
                  <a:t>(sim assignment targets).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7917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diagnostic)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222473" cy="418191"/>
              </a:xfrm>
              <a:prstGeom prst="rect">
                <a:avLst/>
              </a:prstGeom>
              <a:blipFill>
                <a:blip r:embed="rId2"/>
                <a:stretch>
                  <a:fillRect l="-1018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PPM z within season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14221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 (PD17): Real NCAA rosters leave massively overlapping team talent windows — full 2011–2021 panel target for \rho characterization (530 CELL 8).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=6,305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=0.97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=2.98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z,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FontTx/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/>
                  <a:t>Full panel 2011–2021 — pooled team-seasons (not 1:1 with single-season sim)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73CA96-92E5-5E38-04CC-FCAA871344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35F5BBA-FE92-EBB2-1A5B-5A8BE08E4EA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NCAA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baseline="0" dirty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1" baseline="0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685082" cy="418191"/>
              </a:xfrm>
              <a:prstGeom prst="rect">
                <a:avLst/>
              </a:prstGeom>
              <a:blipFill>
                <a:blip r:embed="rId2"/>
                <a:stretch>
                  <a:fillRect l="-1114" t="-14706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PPM z within season · min 20 min · poolq winsor 0.01–0.99 · 3,200 team-seasons (530 CELL 8 port)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075463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] 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player-seasons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partition: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coverage=3,117; sort-and-chop max=7. Normalized peak=0.97.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2.99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2.85 z (3,200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202289"/>
                <a:ext cx="4387055" cy="2704074"/>
              </a:xfrm>
              <a:prstGeom prst="rect">
                <a:avLst/>
              </a:prstGeom>
              <a:blipFill>
                <a:blip r:embed="rId4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NCAA interval overlap on a fixed season window — paired compare to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sim on the same window.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2726C4-13A6-2432-1753-CD7C561EDC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037579" y="1034307"/>
            <a:ext cx="6523276" cy="49814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sim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interval overlap (2015-2019)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152693" cy="418191"/>
              </a:xfrm>
              <a:prstGeom prst="rect">
                <a:avLst/>
              </a:prstGeom>
              <a:blipFill>
                <a:blip r:embed="rId2"/>
                <a:stretch>
                  <a:fillRect l="-1232" t="-14706" r="-493" b="-23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2015-2019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=30,345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2,023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=0.146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7127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76548" y="972185"/>
            <a:ext cx="6200117" cy="47346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Each team-season: talent window [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  <m:r>
                      <a:rPr lang="ar-AE" sz="1000" dirty="0">
                        <a:latin typeface="Cambria Math" panose="02040503050406030204" pitchFamily="18" charset="0"/>
                      </a:rPr>
                      <m:t>,</m:t>
                    </m:r>
                    <m:func>
                      <m:funcPr>
                        <m:ctrlPr>
                          <a:rPr lang="en-US" sz="100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dirty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sSub>
                          <m:sSubPr>
                            <m:ctrlPr>
                              <a:rPr lang="ar-AE" sz="1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ˆ"/>
                                <m:ctrlP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ar-AE" sz="100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</m:e>
                          <m:sub>
                            <m:r>
                              <a:rPr lang="ar-AE" sz="100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func>
                  </m:oMath>
                </a14:m>
                <a:r>
                  <a:rPr lang="ar-AE" sz="1000" dirty="0"/>
                  <a:t>] </a:t>
                </a:r>
                <a:r>
                  <a:rPr lang="en-US" sz="1000" dirty="0"/>
                  <a:t>on PPM z.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Coverage = how many windows cover a point on the spectrum (530 CELL 8).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endogenous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no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sSup>
                          <m:sSup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Red dashed: disjoint sort-and-chop on same player pool (537 B analog).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partition: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_{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𝑠𝑜𝑟𝑡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} = 0.146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(0 = none, 1 = full team sorting).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 max coverage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=2,020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sort-and-chop max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 Normalized peak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=1.00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grid points have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 covering.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Roster span: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3.37 z, media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:r>
                  <a:rPr sz="1000" b="0" i="0" baseline="0" dirty="0">
                    <a:latin typeface="Calibri"/>
                  </a:rPr>
                  <a:t>3.23 z (2,023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ref max </a:t>
                </a:r>
                <a:r>
                  <a:rPr sz="1000" b="0" i="0" baseline="0" dirty="0" err="1">
                    <a:latin typeface="Calibri"/>
                  </a:rPr>
                  <a:t>cov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=3,117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overlap grid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NCAA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=0.105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1191929"/>
                <a:ext cx="4565639" cy="2704074"/>
              </a:xfrm>
              <a:prstGeom prst="rect">
                <a:avLst/>
              </a:prstGeom>
              <a:blipFill>
                <a:blip r:embed="rId5"/>
                <a:stretch>
                  <a:fillRect b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</a:t>
            </a:r>
            <a:r>
              <a:rPr lang="en-US" sz="1100" b="1" i="0" baseline="0" dirty="0">
                <a:latin typeface="Calibri"/>
              </a:rPr>
              <a:t>LG</a:t>
            </a:r>
            <a:r>
              <a:rPr sz="1100" b="1" i="0" baseline="0" dirty="0">
                <a:latin typeface="Calibri"/>
              </a:rPr>
              <a:t> ASSIGN on the same season window as paired NCAA slide — one realization per season, stacked team-seasons.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ASSIGN —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vs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/>
                  <a:t> — total global within-team sum of squared-errors 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8733353" cy="400110"/>
              </a:xfrm>
              <a:prstGeom prst="rect">
                <a:avLst/>
              </a:prstGeom>
              <a:blipFill>
                <a:blip r:embed="rId2"/>
                <a:stretch>
                  <a:fillRect l="-726" t="-9375" r="-58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LG ASSIGN · 2015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=402,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reps/arm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1255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22241" y="1104894"/>
            <a:ext cx="7427671" cy="49098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= LG ASSIGN homophily knob 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𝜌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point: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±1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SD of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over stochastic LG realizations.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𝐠𝐥𝐨𝐛𝐚𝐥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𝐰𝐬𝐬</m:t>
                    </m:r>
                    <m:r>
                      <a:rPr lang="en-US" sz="1000" b="1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1" i="0" baseline="0" dirty="0" smtClean="0">
                            <a:latin typeface="Cambria Math" panose="02040503050406030204" pitchFamily="18" charset="0"/>
                          </a:rPr>
                          <m:t>𝐣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𝐢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000" b="1" i="0" baseline="0" dirty="0" smtClean="0">
                                <a:latin typeface="Cambria Math" panose="02040503050406030204" pitchFamily="18" charset="0"/>
                              </a:rPr>
                              <m:t>𝐣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sz="10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000" b="1" i="1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𝐀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𝐢</m:t>
                                        </m:r>
                                      </m:sub>
                                    </m:sSub>
                                    <m:r>
                                      <a:rPr lang="en-US" sz="1000" b="1" i="0" baseline="0" dirty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000" b="1" i="1" baseline="0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sz="1000" b="1" i="0" baseline="0" dirty="0" smtClean="0">
                                                <a:latin typeface="Cambria Math" panose="02040503050406030204" pitchFamily="18" charset="0"/>
                                              </a:rPr>
                                              <m:t>𝐓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sz="1000" b="1" i="0" baseline="0" dirty="0" smtClean="0">
                                            <a:latin typeface="Cambria Math" panose="02040503050406030204" pitchFamily="18" charset="0"/>
                                          </a:rPr>
                                          <m:t>𝐣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000" b="1" i="0" baseline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</m:e>
                        </m:nary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global within-team SS;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realized roster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=1−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𝑆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the same partition </a:t>
                </a: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b="0" baseline="0" dirty="0">
                    <a:latin typeface="Calibri"/>
                  </a:rPr>
                  <a:t>	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is raw magnitude; </a:t>
                </a:r>
                <a:endParaRPr lang="en-US" sz="1000" b="0" i="0" baseline="0" dirty="0">
                  <a:latin typeface="Calibri"/>
                </a:endParaRPr>
              </a:p>
              <a:p>
                <a:pPr lvl="1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scale-free explained variance.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≈5627→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=1: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≈4085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2015 empirical PPM z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=402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reps ×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sorting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(monotone mirror on a fixed ability pool).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Companion slide: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global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1000" b="0" i="0" baseline="0" dirty="0">
                        <a:latin typeface="Cambria Math" panose="02040503050406030204" pitchFamily="18" charset="0"/>
                      </a:rPr>
                      <m:t>wss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SS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		</a:t>
                </a:r>
                <a:r>
                  <a:rPr sz="1000" b="0" i="0" baseline="0" dirty="0">
                    <a:latin typeface="Calibri"/>
                  </a:rPr>
                  <a:t>(scale-free assortativity on the same sweep).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81" y="1121310"/>
                <a:ext cx="7660114" cy="2966325"/>
              </a:xfrm>
              <a:prstGeom prst="rect">
                <a:avLst/>
              </a:prstGeom>
              <a:blipFill>
                <a:blip r:embed="rId5"/>
                <a:stretch>
                  <a:fillRect b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(Alex):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within-team SS numerator on the assign partition —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lowers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𝑔𝑙𝑜𝑏𝑎𝑙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𝑤𝑠𝑠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on the same 2015 LG league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the scale-free companion).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What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2000" b="1" i="0" baseline="0" dirty="0">
                    <a:latin typeface="Calibri"/>
                  </a:rPr>
                  <a:t> </a:t>
                </a:r>
                <a:r>
                  <a:rPr sz="2000" b="1" i="0" baseline="0" dirty="0">
                    <a:latin typeface="Calibri"/>
                  </a:rPr>
                  <a:t>? Realized assortativity on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5536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Realized sorting index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/ PD17 · alias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𝚜𝚘𝚛𝚝𝚒𝚗𝚐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𝚒𝚗𝚍𝚎𝚡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𝚑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in code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8180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b="0" i="0" baseline="0" dirty="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en-US" b="0" i="1" baseline="0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𝜇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𝑔</m:t>
                                        </m:r>
                                        <m:d>
                                          <m:dPr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e>
                                        </m:d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en-US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acc>
                                          <m:accPr>
                                            <m:chr m:val="ˆ"/>
                                            <m:ctrlP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en-US" b="0" i="0" baseline="0" dirty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b="0" i="0" baseline="0" dirty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̅"/>
                                        <m:ctrlP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</m:d>
                              </m:e>
                              <m:sup>
                                <m:r>
                                  <a:rPr lang="en-US" b="0" i="0" baseline="0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endParaRPr lang="en-US" sz="1000" dirty="0">
                  <a:latin typeface="Calibri"/>
                </a:endParaRP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Denominator: total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league mean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Numerator: spread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around own team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within−team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total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𝑆𝑆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explained-variance / ANOVA-style.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 label tells you little (random-like partition).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teams are perfectly separated (point-mass rosters).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Alex one-liner: knowing roster explains how much ability deviates from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Newman network assortativity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partition statistic on abilities.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Complements interval overlap (geometry) — use both in brief.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↑⇒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in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sweep (see inset plot).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Memo: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𝚐𝚛𝚊𝚗𝚍𝚌𝚑𝚒𝚕𝚍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𝚊𝚜𝚜𝚒𝚐𝚗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𝙶𝚁𝙰𝙽𝙳𝙲𝙷𝙸𝙻𝙳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𝙳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𝚊𝚗𝚍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𝙷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𝚜𝚘𝚛𝚝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𝚒𝚗𝚝𝚎𝚛𝚙𝚛𝚎𝚝𝚊𝚝𝚒𝚘𝚗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𝚖𝚍</m:t>
                        </m:r>
                      </m:e>
                    </m:box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7" y="1259207"/>
                <a:ext cx="5052032" cy="3767185"/>
              </a:xfrm>
              <a:prstGeom prst="rect">
                <a:avLst/>
              </a:prstGeom>
              <a:blipFill>
                <a:blip r:embed="rId4"/>
                <a:stretch>
                  <a:fillRect t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12702" y="1067653"/>
            <a:ext cx="6594944" cy="43635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is realized assortativity on a fixed partition — generative homophily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the ASSIGN knob;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after assign.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09321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688708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each roster.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PD16 team-smooth definition — one value per team-season.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Not LOO; includes every roster member in the mean.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(539 placeholder until PD17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This run: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from draft rate: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300848" cy="2038891"/>
              </a:xfrm>
              <a:prstGeom prst="rect">
                <a:avLst/>
              </a:prstGeom>
              <a:blipFill>
                <a:blip r:embed="rId4"/>
                <a:stretch>
                  <a:fillRect b="-6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6625" y="1117239"/>
            <a:ext cx="8164564" cy="47972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Real rosters carry a spread of team congestion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the descriptive input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was meant to stratify in sim.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vs NCAA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54965" cy="400110"/>
              </a:xfrm>
              <a:prstGeom prst="rect">
                <a:avLst/>
              </a:prstGeom>
              <a:blipFill>
                <a:blip r:embed="rId2"/>
                <a:stretch>
                  <a:fillRect l="-1205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3197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000" dirty="0"/>
              <a:t>MBB 2011-2021 · 6,492 team-seasons · NCAA mean=0.254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46967" y="2512541"/>
            <a:ext cx="9298066" cy="36322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after empirical-cap ASSIGN vs real NCAA rosters.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MBB 2011-2021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,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NCAA: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0.039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LG empirical caps: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lang="en-US" sz="1000" dirty="0"/>
                  <a:t> · mean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0.251</m:t>
                    </m:r>
                  </m:oMath>
                </a14:m>
                <a:r>
                  <a:rPr lang="en-US" sz="1000" dirty="0"/>
                  <a:t> · sd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0.045</m:t>
                    </m:r>
                  </m:oMath>
                </a14:m>
                <a:r>
                  <a:rPr lang="en-US" sz="1000" dirty="0"/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,492</m:t>
                    </m:r>
                  </m:oMath>
                </a14:m>
                <a:r>
                  <a:rPr lang="en-US" sz="1000" dirty="0"/>
                  <a:t>) — fixed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dirty="0"/>
                  <a:t> had only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,140</m:t>
                    </m:r>
                  </m:oMath>
                </a14:m>
                <a:r>
                  <a:rPr lang="en-US" sz="1000" dirty="0"/>
                  <a:t> teams.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/>
                  <a:t> first moment still matches; slightly wider LG tail (assign noise).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/>
                  <a:t>  Input comparability fixed; SCORE/SELECT shape is a separate question.</a:t>
                </a:r>
              </a:p>
              <a:p>
                <a:pPr>
                  <a:lnSpc>
                    <a:spcPct val="150000"/>
                  </a:lnSpc>
                </a:pP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973908"/>
              </a:xfrm>
              <a:prstGeom prst="rect">
                <a:avLst/>
              </a:prstGeom>
              <a:blipFill>
                <a:blip r:embed="rId4"/>
                <a:stretch>
                  <a:fillRect b="-5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142847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 comparability achieved — same team count and L_C mean; assignment layer is now apples-to-apples on roster geometry.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913D6-7E6D-B7C1-4EAE-999EC635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FD05749-2603-C9E4-8045-4E8FD874C8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C3BCE47-EBC2-90F7-C334-155A36021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A2E4362-E823-1DBA-9111-A82417F718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46968" y="2512541"/>
            <a:ext cx="9298063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5294FED-061D-1875-793A-CC7AC4690D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47B90F-72AA-241F-9758-1977F0F5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A2B6-0AE9-5FF2-81B1-B32950D9BC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811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0B372-5859-748F-1EC5-E4169F60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vs </a:t>
                </a:r>
                <a:r>
                  <a:rPr lang="en-US" sz="2000" b="1" i="0" baseline="0" dirty="0">
                    <a:latin typeface="Calibri"/>
                  </a:rPr>
                  <a:t>LG</a:t>
                </a:r>
                <a:r>
                  <a:rPr sz="2000" b="1" i="0" baseline="0" dirty="0">
                    <a:latin typeface="Calibri"/>
                  </a:rPr>
                  <a:t>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distribution</a:t>
                </a:r>
                <a:r>
                  <a:rPr lang="en-US" sz="2000" b="1" i="0" baseline="0" dirty="0">
                    <a:latin typeface="Calibri"/>
                  </a:rPr>
                  <a:t> (normalized)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3C3C2F-D657-224B-8085-C3920155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1051" cy="400110"/>
              </a:xfrm>
              <a:prstGeom prst="rect">
                <a:avLst/>
              </a:prstGeom>
              <a:blipFill>
                <a:blip r:embed="rId2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ECDA663-D4F0-0D29-A670-9836BD3DB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7412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5D8A1A4-9D26-CC59-69BF-64A876FFF6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837342" y="2512541"/>
            <a:ext cx="6517316" cy="36322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/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𝑚𝑒𝑎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— team-smooth congestion.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panel: empirical NCAA (real rosters). Right: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ASSIGN sim.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MBB 2011-2021 · PPM z · min 20 min · poolq winsor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0.01–0.99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Shared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(HAND17 slide-4 default; 539 placeholder).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sd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Sim: one </a:t>
                </a:r>
                <a:r>
                  <a:rPr lang="en-US" sz="1000" b="0" i="0" baseline="0" dirty="0">
                    <a:latin typeface="Calibri"/>
                  </a:rPr>
                  <a:t>LG</a:t>
                </a:r>
                <a:r>
                  <a:rPr sz="1000" b="0" i="0" baseline="0" dirty="0">
                    <a:latin typeface="Calibri"/>
                  </a:rPr>
                  <a:t> league per 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stacked team-seasons.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shapes rosters;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score-side input — computed after assign.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350DF50-0F8E-A287-90D3-779BD7849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3119"/>
                <a:ext cx="10605228" cy="128902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/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 /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):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on real rosters vs </a:t>
                </a:r>
                <a:r>
                  <a:rPr lang="en-US" sz="1100" b="1" i="0" baseline="0" dirty="0">
                    <a:latin typeface="Calibri"/>
                  </a:rPr>
                  <a:t>LG</a:t>
                </a:r>
                <a:r>
                  <a:rPr sz="1100" b="1" i="0" baseline="0" dirty="0">
                    <a:latin typeface="Calibri"/>
                  </a:rPr>
                  <a:t> sim — same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100" b="1" i="1" baseline="0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1" i="1" baseline="0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100" b="1" i="0" baseline="0" dirty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100" b="1" i="0" baseline="0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100" b="1" i="0" baseline="0" dirty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 formula; compare distribution shape before SCORE.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70A92BE-3EA4-C919-6A4E-C06365DEC0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345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/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rgbClr val="FF0000"/>
                    </a:solidFill>
                  </a:rPr>
                  <a:t>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FF0000"/>
                    </a:solidFill>
                  </a:rPr>
                  <a:t> formula; normalized so team-season count differences don’t dominate the visual.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D724212-18AD-8E82-98E9-6048B1218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4885" y="234845"/>
                <a:ext cx="4443662" cy="646331"/>
              </a:xfrm>
              <a:prstGeom prst="rect">
                <a:avLst/>
              </a:prstGeom>
              <a:blipFill>
                <a:blip r:embed="rId7"/>
                <a:stretch>
                  <a:fillRect l="-1140" t="-3846" r="-1709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32616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NCAA roster sizes after the minutes filter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min 20 min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140988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ncaa_roster_size_distributi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273" y="916050"/>
            <a:ext cx="10375454" cy="406345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Qualifying players per real NCAA team-season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ESPN minutes).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</a:t>
                </a:r>
                <a:r>
                  <a:rPr lang="en-US" sz="1000" b="0" i="0" baseline="0" dirty="0">
                    <a:latin typeface="Calibri"/>
                  </a:rPr>
                  <a:t>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dotted = NCAA mean; orange dashed = LG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teams have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ability pool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k; LG repacks into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synthetic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-man leagues.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floor shapes peer count — state explicitly in methods.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127" y="5405189"/>
                <a:ext cx="11095528" cy="565952"/>
              </a:xfrm>
              <a:prstGeom prst="rect">
                <a:avLst/>
              </a:prstGeom>
              <a:blipFill>
                <a:blip r:embed="rId4"/>
                <a:stretch>
                  <a:fillRect t="-2174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empirical teams are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rotation players; LG uses fixed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comparability is distributional, not headcount.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33336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min_minutes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2937022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poolq_loo ventiles · 0 / 10 / 20 min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68988" y="1299994"/>
            <a:ext cx="11276037" cy="30605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</a:t>
                </a:r>
                <a:r>
                  <a:rPr lang="en-US" sz="1000" b="0" i="0" baseline="0" dirty="0">
                    <a:latin typeface="Calibri"/>
                  </a:rPr>
                  <a:t>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</a:t>
                </a:r>
                <a:r>
                  <a:rPr lang="en-US" sz="1000" b="0" i="0" baseline="0" dirty="0">
                    <a:latin typeface="Calibri"/>
                  </a:rPr>
                  <a:t>16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lock: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cleanest top-</a:t>
                </a:r>
                <a:r>
                  <a:rPr sz="1000" b="0" i="0" baseline="0" dirty="0" err="1">
                    <a:latin typeface="Calibri"/>
                  </a:rPr>
                  <a:t>ventile</a:t>
                </a:r>
                <a:r>
                  <a:rPr sz="1000" b="0" i="0" baseline="0" dirty="0">
                    <a:latin typeface="Calibri"/>
                  </a:rPr>
                  <a:t> cliff; </a:t>
                </a:r>
                <a:r>
                  <a:rPr lang="en-US" sz="1000" b="0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robust appendix.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5703" y="4827530"/>
                <a:ext cx="10697609" cy="651613"/>
              </a:xfrm>
              <a:prstGeom prst="rect">
                <a:avLst/>
              </a:prstGeom>
              <a:blipFill>
                <a:blip r:embed="rId3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inverted-U survives 10- and 20-minute floors;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sharpens the elite </a:t>
                </a:r>
                <a:r>
                  <a:rPr sz="1100" b="1" i="0" baseline="0" dirty="0" err="1">
                    <a:latin typeface="Calibri"/>
                  </a:rPr>
                  <a:t>ventile</a:t>
                </a:r>
                <a:r>
                  <a:rPr sz="1100" b="1" i="0" baseline="0" dirty="0">
                    <a:latin typeface="Calibri"/>
                  </a:rPr>
                  <a:t> dip (+2 drafted vs </a:t>
                </a:r>
                <a:r>
                  <a:rPr lang="en-US" sz="1100" b="1" i="0" baseline="0" dirty="0">
                    <a:latin typeface="Calibri"/>
                  </a:rPr>
                  <a:t>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443140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Hero sensitivity — </a:t>
            </a:r>
            <a:r>
              <a:rPr sz="2000" b="1" i="0" baseline="0" dirty="0" err="1">
                <a:latin typeface="Calibri"/>
              </a:rPr>
              <a:t>min_minutes</a:t>
            </a:r>
            <a:r>
              <a:rPr sz="2000" b="1" i="0" baseline="0" dirty="0">
                <a:latin typeface="Calibri"/>
              </a:rPr>
              <a:t>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same bins, three floors</a:t>
            </a:r>
          </a:p>
        </p:txBody>
      </p:sp>
      <p:pic>
        <p:nvPicPr>
          <p:cNvPr id="4" name="Picture 3" descr="HERO_min_minutes_sensitivity_overlay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77" y="941832"/>
            <a:ext cx="8150047" cy="42595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x-axis: draft rate vs poolq_loo ventiles · MBB 2011-2021 · 16 quantile.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sz="1000" b="0" i="0" baseline="0" dirty="0" err="1">
                    <a:latin typeface="Calibri"/>
                  </a:rPr>
                  <a:t>min_minutes</a:t>
                </a:r>
                <a:r>
                  <a:rPr sz="1000" b="0" i="0" baseline="0" dirty="0">
                    <a:latin typeface="Calibri"/>
                  </a:rPr>
                  <a:t> defines who enters the panel and LOO peer pool — not neutral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=82,893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=1.39%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=72,687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=1.08%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=62,180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drafted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=1,134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bin16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=1.16%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:r>
                  <a:rPr sz="1000" b="0" i="0" baseline="0" dirty="0" err="1">
                    <a:latin typeface="Calibri"/>
                  </a:rPr>
                  <a:t>inverted_u_like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Overlay: same estimand, different playing-time floors.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We are not simulating minutes in LG.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098" y="5205075"/>
                <a:ext cx="11134852" cy="70677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pattern is not an artifact of one arbitrary cutoff.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LG capacity sweep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311180" cy="400110"/>
              </a:xfrm>
              <a:prstGeom prst="rect">
                <a:avLst/>
              </a:prstGeom>
              <a:blipFill>
                <a:blip r:embed="rId2"/>
                <a:stretch>
                  <a:fillRect l="-1471" t="-9375" r="-588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∈10,11,15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NCAA mea</a:t>
                </a:r>
                <a:r>
                  <a:rPr lang="en-US" sz="1000" b="0" i="0" baseline="0" dirty="0">
                    <a:latin typeface="Calibri"/>
                  </a:rPr>
                  <a:t>n =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0.254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79085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GRANDCHILD_roster_size_c_sweep_lc_2011_2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688" y="926764"/>
            <a:ext cx="10705960" cy="39782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ASSIGN —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as NCAA.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panel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=6,215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=5,647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closest to NCAA team count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≈6.2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gallery default.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first moment stable across capacity — score-side calibration OK.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Capacity is a labeled sensitivity, not a silent swap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83" y="5068430"/>
                <a:ext cx="11018410" cy="821528"/>
              </a:xfrm>
              <a:prstGeom prst="rect">
                <a:avLst/>
              </a:prstGeom>
              <a:blipFill>
                <a:blip r:embed="rId5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aligns team counts;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≈0.251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at every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capacity mismatch is interpretive, not a broken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capacity sweep — SELECT vs empirical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LOO + pool mean · all LG curves monotone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861852" y="933981"/>
            <a:ext cx="9945796" cy="413437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· empirical dashed blue.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Lowering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toward rotation-cohort scale does not recover inverted-U.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shapes ASSIGN sorting; selection curvature lives in SCORE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sweep </a:t>
                </a:r>
                <a:r>
                  <a:rPr lang="en-US" sz="1000" b="0" i="0" baseline="0" dirty="0">
                    <a:latin typeface="Calibri"/>
                  </a:rPr>
                  <a:t>results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 slides 20-21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86" y="5195059"/>
                <a:ext cx="11238748" cy="858269"/>
              </a:xfrm>
              <a:prstGeom prst="rect">
                <a:avLst/>
              </a:prstGeom>
              <a:blipFill>
                <a:blip r:embed="rId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C fixes headcount, not selection shape — empirical inverted-U survives; λ is the promising SCORE knob.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GRANDCHILD_empirical_roster_caps_roster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910" y="870639"/>
            <a:ext cx="8566180" cy="450492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input — empirical roster-size multiset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old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77229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Alex ask: LG stub capacities = exact NCAA filtered roster-size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min 20 min · one capacity per real team-season per year.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 / LG: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median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Range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2–19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qualifying players per team.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Replaces fixed C=15 repack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every roster exactly 15).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Same player pool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k); ASSIGN homophily unchanged — only input geometry.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realized roster sizes match NCAA by construction (overlay).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5" y="5386097"/>
                <a:ext cx="10912843" cy="650939"/>
              </a:xfrm>
              <a:prstGeom prst="rect">
                <a:avLst/>
              </a:prstGeom>
              <a:blipFill>
                <a:blip r:embed="rId4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Alex's fix — LG teams get the exact filtered NCAA roster-size distribution, not a synthetic 15-man league.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Empirical caps —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NCAA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875869" cy="400110"/>
              </a:xfrm>
              <a:prstGeom prst="rect">
                <a:avLst/>
              </a:prstGeom>
              <a:blipFill>
                <a:blip r:embed="rId2"/>
                <a:stretch>
                  <a:fillRect l="-1634" t="-9375" r="-65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/>
          <p:cNvSpPr txBox="1"/>
          <p:nvPr/>
        </p:nvSpPr>
        <p:spPr>
          <a:xfrm>
            <a:off x="384048" y="713232"/>
            <a:ext cx="326082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6,492 team-seasons · NCAA mean</a:t>
            </a:r>
            <a:r>
              <a:rPr lang="en-US" sz="1000" b="0" i="0" baseline="0" dirty="0">
                <a:latin typeface="Calibri"/>
              </a:rPr>
              <a:t> </a:t>
            </a:r>
            <a:r>
              <a:rPr sz="1000" b="0" i="0" baseline="0" dirty="0">
                <a:latin typeface="Calibri"/>
              </a:rPr>
              <a:t>=0.254</a:t>
            </a:r>
          </a:p>
        </p:txBody>
      </p:sp>
      <p:pic>
        <p:nvPicPr>
          <p:cNvPr id="4" name="Picture 3" descr="GRANDCHILD_empirical_roster_caps_lc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3771" y="1280148"/>
            <a:ext cx="9164459" cy="40940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after empirical-cap ASSIGN vs real NCAA rosters.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NCAA: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mean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=0.251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sd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=0.045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 count now aligned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6,492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—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had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4,140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first moment still matches; slightly wider LG tail (assign noise).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Input comparability fixed; SCORE/SELECT shape is a separate question.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415330"/>
                <a:ext cx="11423598" cy="729438"/>
              </a:xfrm>
              <a:prstGeom prst="rect">
                <a:avLst/>
              </a:prstGeom>
              <a:blipFill>
                <a:blip r:embed="rId4"/>
                <a:stretch>
                  <a:fillRect t="-1724" b="-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comparability achieved — same team count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mean; assignment layer is now apples-to-apples on roster geometry.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Empirical caps — SELECT vs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MBB 2011-2021 · LOO still monotone · empirical inverted-U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35127" y="998593"/>
            <a:ext cx="10321747" cy="42906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peer quality (left) and pool mean (right).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default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 (peak bin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11, 2.62%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LG empirical caps: monotone increasing on LOO.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Roster-size alignment does not recover Hero inverted-U alone.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ASSIGN sorting;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SCORE congestion penalty — next sweep.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C </a:t>
                </a:r>
                <a:r>
                  <a:rPr lang="en-US" sz="1000" b="0" i="0" baseline="0" dirty="0">
                    <a:latin typeface="Calibri"/>
                  </a:rPr>
                  <a:t> </a:t>
                </a:r>
                <a:r>
                  <a:rPr sz="1000" b="0" i="0" baseline="0" dirty="0">
                    <a:latin typeface="Calibri"/>
                  </a:rPr>
                  <a:t>sweep and exact caps both monotone — shape gap is not headcount.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395296"/>
                <a:ext cx="11160252" cy="709216"/>
              </a:xfrm>
              <a:prstGeom prst="rect">
                <a:avLst/>
              </a:prstGeom>
              <a:blipFill>
                <a:blip r:embed="rId3"/>
                <a:stretch>
                  <a:fillRect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Talking point: input fix necessary but not sufficient — </a:t>
            </a:r>
            <a:r>
              <a:rPr sz="1100" b="1" i="0" baseline="0" dirty="0" err="1">
                <a:latin typeface="Calibri"/>
              </a:rPr>
              <a:t>λ</a:t>
            </a:r>
            <a:r>
              <a:rPr sz="1100" b="1" i="0" baseline="0" dirty="0">
                <a:latin typeface="Calibri"/>
              </a:rPr>
              <a:t> sweep on SELECT is the next experiment.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D0B08-25AB-28A6-6B02-75E11D8C9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(fine grid)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FB3D7A0-2FEA-AECB-A855-14F9CFCF0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3583032" cy="400110"/>
              </a:xfrm>
              <a:prstGeom prst="rect">
                <a:avLst/>
              </a:prstGeom>
              <a:blipFill>
                <a:blip r:embed="rId2"/>
                <a:stretch>
                  <a:fillRect l="-1767" t="-9375" r="-707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</a:t>
                </a:r>
                <a:r>
                  <a:rPr lang="en-US" sz="1000" b="0" i="0" baseline="0" dirty="0">
                    <a:latin typeface="Calibri"/>
                  </a:rPr>
                  <a:t>empirical roster caps </a:t>
                </a:r>
                <a:r>
                  <a:rPr sz="1000" b="0" i="0" baseline="0" dirty="0">
                    <a:latin typeface="Calibri"/>
                  </a:rPr>
                  <a:t>·</a:t>
                </a:r>
                <a:r>
                  <a:rPr lang="en-US" sz="1000" dirty="0"/>
                  <a:t>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/>
                  <a:t>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/>
                  <a:t>  ·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∈1.25,1.5,1.75,2,3,4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6E7036D-B0DA-5719-C998-F91385FF4F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3103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5BDFB24-FF5C-AE7A-51B7-E57D35A6602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1171" y="998593"/>
            <a:ext cx="10309658" cy="429065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18CC3E-9B9F-BB17-98F7-9CE5AC576F40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Empirical NCAA (dashed): inverted-U on LOO; peak bin 11 (~2.6% draft rate).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1.25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still monotone ↑ on LOO — last arm before the flip.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1.5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first inverted-U-like LOO curve.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3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inverted-U on LOO; </a:t>
            </a:r>
            <a:r>
              <a:rPr lang="en-US" sz="1000" b="1" i="0" baseline="0" dirty="0">
                <a:latin typeface="Calibri"/>
              </a:rPr>
              <a:t>peak bin 11 matches empirical</a:t>
            </a:r>
            <a:r>
              <a:rPr lang="en-US" sz="1000" b="0" i="0" baseline="0" dirty="0">
                <a:latin typeface="Calibri"/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 all arms monotone ↑ at these </a:t>
            </a:r>
            <a:r>
              <a:rPr lang="el-GR" sz="1000" b="0" i="0" baseline="0" dirty="0">
                <a:latin typeface="Calibri"/>
              </a:rPr>
              <a:t>λ — </a:t>
            </a:r>
            <a:r>
              <a:rPr lang="en-US" sz="1000" b="0" i="0" baseline="0" dirty="0">
                <a:latin typeface="Calibri"/>
              </a:rPr>
              <a:t>Hero on LOO axis only here.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with inputs fixed, curvature lives in </a:t>
            </a:r>
            <a:r>
              <a:rPr lang="en-US" sz="1000" b="1" i="0" baseline="0" dirty="0">
                <a:latin typeface="Calibri"/>
              </a:rPr>
              <a:t>SCORE (</a:t>
            </a:r>
            <a:r>
              <a:rPr lang="el-GR" sz="1000" b="1" i="0" baseline="0" dirty="0">
                <a:latin typeface="Calibri"/>
              </a:rPr>
              <a:t>λ)</a:t>
            </a:r>
            <a:r>
              <a:rPr lang="el-GR" sz="1000" b="0" i="0" baseline="0" dirty="0">
                <a:latin typeface="Calibri"/>
              </a:rPr>
              <a:t>, </a:t>
            </a:r>
            <a:r>
              <a:rPr lang="en-US" sz="1000" b="0" i="0" baseline="0" dirty="0">
                <a:latin typeface="Calibri"/>
              </a:rPr>
              <a:t>not ASSIGN (</a:t>
            </a:r>
            <a:r>
              <a:rPr lang="el-GR" sz="1000" b="0" i="0" baseline="0" dirty="0">
                <a:latin typeface="Calibri"/>
              </a:rPr>
              <a:t>ρ) </a:t>
            </a:r>
            <a:r>
              <a:rPr lang="en-US" sz="1000" b="0" i="0" baseline="0" dirty="0">
                <a:latin typeface="Calibri"/>
              </a:rPr>
              <a:t>or caps.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BD0231-4A7A-76E8-AEE4-AF568701571A}"/>
              </a:ext>
            </a:extLst>
          </p:cNvPr>
          <p:cNvSpPr txBox="1"/>
          <p:nvPr/>
        </p:nvSpPr>
        <p:spPr>
          <a:xfrm>
            <a:off x="384048" y="6053328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1" i="0" baseline="0" dirty="0">
                <a:latin typeface="Calibri"/>
              </a:rPr>
              <a:t>Talking point: </a:t>
            </a:r>
            <a:r>
              <a:rPr lang="en-US" sz="1100" i="0" baseline="0" dirty="0">
                <a:latin typeface="Calibri"/>
              </a:rPr>
              <a:t>With NCAA-comparable inputs fixed, LOO SELECT stays monotone at </a:t>
            </a:r>
            <a:r>
              <a:rPr lang="el-GR" sz="1100" b="1" i="0" baseline="0" dirty="0">
                <a:latin typeface="Calibri"/>
              </a:rPr>
              <a:t>λ = 1.25 </a:t>
            </a:r>
            <a:r>
              <a:rPr lang="en-US" sz="1100" i="0" baseline="0" dirty="0">
                <a:latin typeface="Calibri"/>
              </a:rPr>
              <a:t>and flips to inverted-U by </a:t>
            </a:r>
            <a:r>
              <a:rPr lang="el-GR" sz="1100" b="1" i="0" baseline="0" dirty="0">
                <a:latin typeface="Calibri"/>
              </a:rPr>
              <a:t>λ = 1.5; λ = 2–3 </a:t>
            </a:r>
            <a:r>
              <a:rPr lang="en-US" sz="1100" i="0" baseline="0" dirty="0">
                <a:latin typeface="Calibri"/>
              </a:rPr>
              <a:t>matches the </a:t>
            </a:r>
            <a:r>
              <a:rPr lang="en-US" sz="1100" b="1" i="0" baseline="0" dirty="0">
                <a:latin typeface="Calibri"/>
              </a:rPr>
              <a:t>empirical peak bin (11) </a:t>
            </a:r>
            <a:r>
              <a:rPr lang="en-US" sz="1100" i="0" baseline="0" dirty="0">
                <a:latin typeface="Calibri"/>
              </a:rPr>
              <a:t>on LOO — curvature lives in </a:t>
            </a:r>
            <a:r>
              <a:rPr lang="en-US" sz="1100" b="1" i="0" baseline="0" dirty="0">
                <a:latin typeface="Calibri"/>
              </a:rPr>
              <a:t>SCORE</a:t>
            </a:r>
            <a:r>
              <a:rPr lang="en-US" sz="1100" i="0" baseline="0" dirty="0">
                <a:latin typeface="Calibri"/>
              </a:rPr>
              <a:t>, not ASSIGN.</a:t>
            </a:r>
            <a:endParaRPr sz="11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49114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948AF-6B50-211A-E7B4-8BEDBC617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i="0" baseline="0" dirty="0">
                    <a:latin typeface="Calibri"/>
                  </a:rPr>
                  <a:t>LG SELECT</a:t>
                </a:r>
                <a:r>
                  <a:rPr sz="2000" b="1" i="0" baseline="0" dirty="0">
                    <a:latin typeface="Calibri"/>
                  </a:rPr>
                  <a:t> —</a:t>
                </a:r>
                <a:r>
                  <a:rPr lang="en-US" sz="20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000" b="1" i="0" baseline="0" dirty="0">
                    <a:latin typeface="Calibri"/>
                  </a:rPr>
                  <a:t> sweep (extended arms)</a:t>
                </a:r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6B7CE1-1642-0377-0B90-2D07B9BC0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89188" cy="400110"/>
              </a:xfrm>
              <a:prstGeom prst="rect">
                <a:avLst/>
              </a:prstGeom>
              <a:blipFill>
                <a:blip r:embed="rId2"/>
                <a:stretch>
                  <a:fillRect l="-1475" t="-9375" r="-29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05778F5-29FD-A98A-7A16-AA23ACA1741F}"/>
              </a:ext>
            </a:extLst>
          </p:cNvPr>
          <p:cNvSpPr txBox="1"/>
          <p:nvPr/>
        </p:nvSpPr>
        <p:spPr>
          <a:xfrm>
            <a:off x="384048" y="713232"/>
            <a:ext cx="206498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Same panel · </a:t>
            </a:r>
            <a:r>
              <a:rPr lang="en-US" sz="1100" dirty="0" err="1"/>
              <a:t>λ</a:t>
            </a:r>
            <a:r>
              <a:rPr lang="en-US" sz="1100" dirty="0"/>
              <a:t> ∈ {1.5, 2, 4, 8, 16}</a:t>
            </a:r>
            <a:endParaRPr sz="700" b="0" i="0" baseline="0" dirty="0">
              <a:latin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B0A31C-9072-675D-D772-493D283EEB6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41171" y="998593"/>
            <a:ext cx="10309658" cy="429065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63828F-BB33-8023-6759-4B4A35782872}"/>
              </a:ext>
            </a:extLst>
          </p:cNvPr>
          <p:cNvSpPr txBox="1"/>
          <p:nvPr/>
        </p:nvSpPr>
        <p:spPr>
          <a:xfrm>
            <a:off x="384048" y="5395296"/>
            <a:ext cx="11160252" cy="545107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LOO (left): inverted-U persists for </a:t>
            </a:r>
            <a:r>
              <a:rPr lang="en-US" sz="1000" b="1" i="0" baseline="0" dirty="0">
                <a:latin typeface="Calibri"/>
              </a:rPr>
              <a:t>all</a:t>
            </a:r>
            <a:r>
              <a:rPr lang="en-US" sz="1000" b="0" i="0" baseline="0" dirty="0">
                <a:latin typeface="Calibri"/>
              </a:rPr>
              <a:t> arms ≥ 1.5.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2, 4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bins 11–12 — closest to empirical shape on LOO.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l-GR" sz="1000" b="1" i="0" baseline="0" dirty="0">
                <a:latin typeface="Calibri"/>
              </a:rPr>
              <a:t>λ = 8, 16</a:t>
            </a:r>
            <a:r>
              <a:rPr lang="el-GR" sz="1000" b="0" i="0" baseline="0" dirty="0">
                <a:latin typeface="Calibri"/>
              </a:rPr>
              <a:t>: </a:t>
            </a:r>
            <a:r>
              <a:rPr lang="en-US" sz="1000" b="0" i="0" baseline="0" dirty="0">
                <a:latin typeface="Calibri"/>
              </a:rPr>
              <a:t>peak shifts </a:t>
            </a:r>
            <a:r>
              <a:rPr lang="en-US" sz="1000" b="1" i="0" baseline="0" dirty="0">
                <a:latin typeface="Calibri"/>
              </a:rPr>
              <a:t>left</a:t>
            </a:r>
            <a:r>
              <a:rPr lang="en-US" sz="1000" b="0" i="0" baseline="0" dirty="0">
                <a:latin typeface="Calibri"/>
              </a:rPr>
              <a:t> (bins 9–12) —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over-penalizes elite pools.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0" i="0" baseline="0" dirty="0">
                <a:latin typeface="Calibri"/>
              </a:rPr>
              <a:t>Pool mean (right): </a:t>
            </a:r>
            <a:r>
              <a:rPr lang="el-GR" sz="1000" b="1" i="0" baseline="0" dirty="0">
                <a:latin typeface="Calibri"/>
              </a:rPr>
              <a:t>λ = 4, 8, 16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show inverted-U-like shape; </a:t>
            </a:r>
            <a:r>
              <a:rPr lang="el-GR" sz="1000" b="1" i="0" baseline="0" dirty="0">
                <a:latin typeface="Calibri"/>
              </a:rPr>
              <a:t>λ = 1.5, 2</a:t>
            </a:r>
            <a:r>
              <a:rPr lang="el-GR" sz="1000" b="0" i="0" baseline="0" dirty="0">
                <a:latin typeface="Calibri"/>
              </a:rPr>
              <a:t> </a:t>
            </a:r>
            <a:r>
              <a:rPr lang="en-US" sz="1000" b="0" i="0" baseline="0" dirty="0">
                <a:latin typeface="Calibri"/>
              </a:rPr>
              <a:t>still monotone.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00" b="1" i="0" baseline="0" dirty="0">
                <a:latin typeface="Calibri"/>
              </a:rPr>
              <a:t>Takeaway</a:t>
            </a:r>
            <a:r>
              <a:rPr lang="en-US" sz="1000" b="0" i="0" baseline="0" dirty="0">
                <a:latin typeface="Calibri"/>
              </a:rPr>
              <a:t>: 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controls both </a:t>
            </a:r>
            <a:r>
              <a:rPr lang="en-US" sz="1000" b="1" i="0" baseline="0" dirty="0">
                <a:latin typeface="Calibri"/>
              </a:rPr>
              <a:t>whether</a:t>
            </a:r>
            <a:r>
              <a:rPr lang="en-US" sz="1000" b="0" i="0" baseline="0" dirty="0">
                <a:latin typeface="Calibri"/>
              </a:rPr>
              <a:t> and </a:t>
            </a:r>
            <a:r>
              <a:rPr lang="en-US" sz="1000" b="1" i="0" baseline="0" dirty="0">
                <a:latin typeface="Calibri"/>
              </a:rPr>
              <a:t>where</a:t>
            </a:r>
            <a:r>
              <a:rPr lang="en-US" sz="1000" b="0" i="0" baseline="0" dirty="0">
                <a:latin typeface="Calibri"/>
              </a:rPr>
              <a:t> the dip appears; very high </a:t>
            </a:r>
            <a:r>
              <a:rPr lang="el-GR" sz="1000" b="0" i="0" baseline="0" dirty="0">
                <a:latin typeface="Calibri"/>
              </a:rPr>
              <a:t>λ </a:t>
            </a:r>
            <a:r>
              <a:rPr lang="en-US" sz="1000" b="0" i="0" baseline="0" dirty="0">
                <a:latin typeface="Calibri"/>
              </a:rPr>
              <a:t>is not “more empirical.”</a:t>
            </a:r>
          </a:p>
          <a:p>
            <a:endParaRPr lang="en-US" sz="1000" b="0" i="0" baseline="0" dirty="0"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C1A31-708A-558A-D52C-952586F69249}"/>
              </a:ext>
            </a:extLst>
          </p:cNvPr>
          <p:cNvSpPr txBox="1"/>
          <p:nvPr/>
        </p:nvSpPr>
        <p:spPr>
          <a:xfrm>
            <a:off x="384048" y="6053328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/>
              <a:t>Talking point:</a:t>
            </a:r>
            <a:r>
              <a:rPr lang="en-US" sz="1100" dirty="0"/>
              <a:t> Inverted-U on LOO </a:t>
            </a:r>
            <a:r>
              <a:rPr lang="en-US" sz="1100" b="1" dirty="0"/>
              <a:t>persists</a:t>
            </a:r>
            <a:r>
              <a:rPr lang="en-US" sz="1100" dirty="0"/>
              <a:t> for </a:t>
            </a:r>
            <a:r>
              <a:rPr lang="en-US" sz="1100" b="1" dirty="0" err="1"/>
              <a:t>λ</a:t>
            </a:r>
            <a:r>
              <a:rPr lang="en-US" sz="1100" b="1" dirty="0"/>
              <a:t> ≥ 1.5</a:t>
            </a:r>
            <a:r>
              <a:rPr lang="en-US" sz="1100" dirty="0"/>
              <a:t>, but </a:t>
            </a:r>
            <a:r>
              <a:rPr lang="en-US" sz="1100" b="1" dirty="0" err="1"/>
              <a:t>λ</a:t>
            </a:r>
            <a:r>
              <a:rPr lang="en-US" sz="1100" b="1" dirty="0"/>
              <a:t> = 8–16</a:t>
            </a:r>
            <a:r>
              <a:rPr lang="en-US" sz="1100" dirty="0"/>
              <a:t> shifts the peak </a:t>
            </a:r>
            <a:r>
              <a:rPr lang="en-US" sz="1100" b="1" dirty="0"/>
              <a:t>too far left</a:t>
            </a:r>
            <a:r>
              <a:rPr lang="en-US" sz="1100" dirty="0"/>
              <a:t>; on pool mean, inverted-U appears only at </a:t>
            </a:r>
            <a:r>
              <a:rPr lang="en-US" sz="1100" b="1" dirty="0" err="1"/>
              <a:t>λ</a:t>
            </a:r>
            <a:r>
              <a:rPr lang="en-US" sz="1100" b="1" dirty="0"/>
              <a:t> ≥ 4</a:t>
            </a:r>
            <a:r>
              <a:rPr lang="en-US" sz="1100" dirty="0"/>
              <a:t> — so “more </a:t>
            </a:r>
            <a:r>
              <a:rPr lang="en-US" sz="1100" dirty="0" err="1"/>
              <a:t>λ</a:t>
            </a:r>
            <a:r>
              <a:rPr lang="en-US" sz="1100" dirty="0"/>
              <a:t>” is not uniformly “more empirical.”</a:t>
            </a:r>
            <a:endParaRPr sz="800" i="0" baseline="0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316187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Sketch 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endParaRPr sz="2000" b="1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088363" cy="448008"/>
              </a:xfrm>
              <a:prstGeom prst="rect">
                <a:avLst/>
              </a:prstGeom>
              <a:blipFill>
                <a:blip r:embed="rId2"/>
                <a:stretch>
                  <a:fillRect l="-1548" t="-11111" b="-19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within season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sub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=2.295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. 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=0.0182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·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placeholder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7717562" cy="270139"/>
              </a:xfrm>
              <a:prstGeom prst="rect">
                <a:avLst/>
              </a:prstGeom>
              <a:blipFill>
                <a:blip r:embed="rId3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cell: count of team-seasons at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Color = count (empirical Sketch A — no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on roster (realized talent,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000" b="0" i="0" baseline="0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Look for upward co-movement: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=0.254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51560"/>
                <a:ext cx="3526036" cy="1367810"/>
              </a:xfrm>
              <a:prstGeom prst="rect">
                <a:avLst/>
              </a:prstGeom>
              <a:blipFill>
                <a:blip r:embed="rId4"/>
                <a:stretch>
                  <a:fillRect b="-9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EMPIRICAL_L_C_vs_Tj_2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815" y="1051560"/>
            <a:ext cx="6558185" cy="49286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actual team-seasons, stronger realized rosters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100" b="1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) tend to co-occur with higher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empirical Sketch A.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11423599" cy="287964"/>
              </a:xfrm>
              <a:prstGeom prst="rect">
                <a:avLst/>
              </a:prstGeom>
              <a:blipFill>
                <a:blip r:embed="rId6"/>
                <a:stretch>
                  <a:fillRect t="-4167"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PD17 — Empirical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</a:t>
                </a:r>
                <a:r>
                  <a:rPr lang="en-US" sz="2000" b="1" i="0" baseline="0" dirty="0">
                    <a:latin typeface="Calibri"/>
                  </a:rPr>
                  <a:t>sweep:</a:t>
                </a:r>
                <a:r>
                  <a:rPr sz="2000" b="1" i="0" baseline="0" dirty="0">
                    <a:latin typeface="Calibri"/>
                  </a:rPr>
                  <a:t>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on real rosters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714834" cy="400110"/>
              </a:xfrm>
              <a:prstGeom prst="rect">
                <a:avLst/>
              </a:prstGeom>
              <a:blipFill>
                <a:blip r:embed="rId3"/>
                <a:stretch>
                  <a:fillRect l="-11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2011-2021 · team smooth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PPM z · min 20 min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=2.295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z-units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=0.0182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fixed across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012800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EMPIRICAL_L_C_gamma_sweep_stri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5816" y="1033272"/>
            <a:ext cx="8560063" cy="41148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OAT on real panel: fixed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cutline on PPM z); only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in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9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900" b="0" i="0" baseline="0" dirty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acc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900" b="0" i="0" baseline="0" dirty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changes.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202936"/>
                <a:ext cx="3685946" cy="438133"/>
              </a:xfrm>
              <a:prstGeom prst="rect">
                <a:avLst/>
              </a:prstGeom>
              <a:blipFill>
                <a:blip r:embed="rId6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Arms: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00" b="0" i="0" baseline="0" dirty="0" smtClean="0">
                            <a:latin typeface="Cambria Math" panose="02040503050406030204" pitchFamily="18" charset="0"/>
                          </a:rPr>
                          <m:t>10,5,1,0.5,0.001</m:t>
                        </m:r>
                      </m:e>
                    </m:d>
                  </m:oMath>
                </a14:m>
                <a:r>
                  <a:rPr sz="900" b="0" i="0" baseline="0" dirty="0">
                    <a:latin typeface="Calibri"/>
                  </a:rPr>
                  <a:t> — same team-seasons, same rosters.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874" y="5202936"/>
                <a:ext cx="3685946" cy="230832"/>
              </a:xfrm>
              <a:prstGeom prst="rect">
                <a:avLst/>
              </a:prstGeom>
              <a:blipFill>
                <a:blip r:embed="rId7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=0.029,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84%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teams below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0.05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700" y="5202936"/>
                <a:ext cx="3685946" cy="230832"/>
              </a:xfrm>
              <a:prstGeom prst="rect">
                <a:avLst/>
              </a:prstGeom>
              <a:blipFill>
                <a:blip r:embed="rId8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/>
              <p:cNvSpPr txBox="1"/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900" b="0" i="0" baseline="0" dirty="0">
                    <a:latin typeface="Calibri"/>
                  </a:rPr>
                  <a:t>At </a:t>
                </a:r>
                <a14:m>
                  <m:oMath xmlns:m="http://schemas.openxmlformats.org/officeDocument/2006/math"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9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=0.499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, max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9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sz="900" b="0" i="0" baseline="0" dirty="0">
                        <a:latin typeface="Cambria Math" panose="02040503050406030204" pitchFamily="18" charset="0"/>
                      </a:rPr>
                      <m:t>=0.500</m:t>
                    </m:r>
                  </m:oMath>
                </a14:m>
                <a:r>
                  <a:rPr sz="900" b="0" i="0" baseline="0" dirty="0">
                    <a:latin typeface="Calibri"/>
                  </a:rPr>
                  <a:t> — spread opens on z-scale.</a:t>
                </a:r>
              </a:p>
            </p:txBody>
          </p:sp>
        </mc:Choice>
        <mc:Fallback xmlns=""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961888"/>
                <a:ext cx="3622402" cy="230832"/>
              </a:xfrm>
              <a:prstGeom prst="rect">
                <a:avLst/>
              </a:prstGeom>
              <a:blipFill>
                <a:blip r:embed="rId9"/>
                <a:stretch>
                  <a:fillRect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(PD17): On real rosters, γ reshapes team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— high γ compresses viability near 0 on the PPM-z scale; low γ spreads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into the interior of [0,1].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58844"/>
                <a:ext cx="11423599" cy="2616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5734</TotalTime>
  <Words>4282</Words>
  <Application>Microsoft Macintosh PowerPoint</Application>
  <PresentationFormat>Widescreen</PresentationFormat>
  <Paragraphs>284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Avenir Next</vt:lpstr>
      <vt:lpstr>Calibri</vt:lpstr>
      <vt:lpstr>Cambria Math</vt:lpstr>
      <vt:lpstr>Futura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90</cp:revision>
  <cp:lastPrinted>2026-08-20T16:18:50Z</cp:lastPrinted>
  <dcterms:created xsi:type="dcterms:W3CDTF">2013-01-27T09:14:16Z</dcterms:created>
  <dcterms:modified xsi:type="dcterms:W3CDTF">2026-08-20T19:17:09Z</dcterms:modified>
  <cp:category/>
</cp:coreProperties>
</file>