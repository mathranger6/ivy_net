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72" r:id="rId3"/>
    <p:sldId id="256" r:id="rId4"/>
    <p:sldId id="257" r:id="rId5"/>
    <p:sldId id="267" r:id="rId6"/>
    <p:sldId id="258" r:id="rId7"/>
    <p:sldId id="266" r:id="rId8"/>
    <p:sldId id="259" r:id="rId9"/>
    <p:sldId id="268" r:id="rId10"/>
    <p:sldId id="263" r:id="rId11"/>
    <p:sldId id="269" r:id="rId12"/>
    <p:sldId id="260" r:id="rId13"/>
    <p:sldId id="261" r:id="rId14"/>
    <p:sldId id="262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75"/>
    <p:restoredTop sz="94637"/>
  </p:normalViewPr>
  <p:slideViewPr>
    <p:cSldViewPr snapToGrid="0" snapToObjects="1">
      <p:cViewPr>
        <p:scale>
          <a:sx n="250" d="100"/>
          <a:sy n="250" d="100"/>
        </p:scale>
        <p:origin x="144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 dirty="0"/>
              <a:t>Phase B — Fake-league characterization (not curve fitting)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49808"/>
            <a:ext cx="5806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1200"/>
              <a:t>Knobs (mini glossary)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5971785"/>
                  </p:ext>
                </p:extLst>
              </p:nvPr>
            </p:nvGraphicFramePr>
            <p:xfrm>
              <a:off x="384049" y="1024128"/>
              <a:ext cx="5666233" cy="4939796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63652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788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15088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87398">
                    <a:tc>
                      <a:txBody>
                        <a:bodyPr/>
                        <a:lstStyle/>
                        <a:p>
                          <a:pPr algn="ctr">
                            <a:defRPr sz="900" b="1">
                              <a:latin typeface="Calibri"/>
                            </a:defRPr>
                          </a:pPr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Plain name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What it controls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73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A</a:t>
                          </a:r>
                          <a:r>
                            <a:rPr sz="900" b="0" i="0" baseline="-25000" dirty="0">
                              <a:latin typeface="Avenir Next" panose="020B0503020202020204" pitchFamily="34" charset="0"/>
                            </a:rPr>
                            <a:t>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Player ability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sz="900" b="0" i="0" dirty="0">
                              <a:latin typeface="Avenir Next" panose="020B0503020202020204" pitchFamily="34" charset="0"/>
                            </a:rPr>
                            <a:t>Innate talent draw (Beta(2,2) on [0,1])</a:t>
                          </a:r>
                          <a:r>
                            <a:rPr lang="en-US" sz="900" b="0" i="0" dirty="0">
                              <a:latin typeface="Avenir Next" panose="020B0503020202020204" pitchFamily="34" charset="0"/>
                            </a:rPr>
                            <a:t> (539 Preset)</a:t>
                          </a:r>
                          <a:endParaRPr sz="9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203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0" dirty="0"/>
                            <a:t>T</a:t>
                          </a:r>
                          <a:r>
                            <a:rPr lang="en-US" sz="1000" b="0" baseline="-25000" dirty="0"/>
                            <a:t>j *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000" b="0" i="0" dirty="0">
                              <a:latin typeface="Avenir Next" panose="020B0503020202020204" pitchFamily="34" charset="0"/>
                            </a:rPr>
                            <a:t>Sim assignment target</a:t>
                          </a:r>
                          <a:endParaRPr sz="10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900" b="0" i="0" dirty="0">
                              <a:latin typeface="Avenir Next" panose="020B0503020202020204" pitchFamily="34" charset="0"/>
                            </a:rPr>
                            <a:t>Synthetic </a:t>
                          </a:r>
                          <a:r>
                            <a:rPr lang="en-US" sz="900" b="0" i="0" dirty="0" err="1">
                              <a:latin typeface="Avenir Next" panose="020B0503020202020204" pitchFamily="34" charset="0"/>
                            </a:rPr>
                            <a:t>iid</a:t>
                          </a:r>
                          <a:r>
                            <a:rPr lang="en-US" sz="900" b="0" i="0" dirty="0">
                              <a:latin typeface="Avenir Next" panose="020B0503020202020204" pitchFamily="34" charset="0"/>
                            </a:rPr>
                            <a:t> Uniform[0,1] per team— soft-assign attractor -  not realized roster talent</a:t>
                          </a:r>
                          <a:endParaRPr sz="9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9253264"/>
                      </a:ext>
                    </a:extLst>
                  </a:tr>
                  <a:tr h="5203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0" dirty="0" err="1"/>
                            <a:t>T</a:t>
                          </a:r>
                          <a:r>
                            <a:rPr lang="en-US" sz="1000" b="0" baseline="-25000" dirty="0" err="1"/>
                            <a:t>j</a:t>
                          </a:r>
                          <a:r>
                            <a:rPr lang="en-US" sz="1000" b="0" baseline="-25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000" b="0" i="0" dirty="0">
                              <a:latin typeface="Avenir Next" panose="020B0503020202020204" pitchFamily="34" charset="0"/>
                            </a:rPr>
                            <a:t>Realized team talent</a:t>
                          </a:r>
                          <a:endParaRPr sz="10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900" b="0" i="0" dirty="0">
                              <a:latin typeface="Avenir Next" panose="020B0503020202020204" pitchFamily="34" charset="0"/>
                            </a:rPr>
                            <a:t>Mean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sz="9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ar-AE" sz="9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sz="900" b="0" i="0" dirty="0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sz="900" b="0" i="0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ar-AE" sz="900" b="0" i="0" dirty="0">
                              <a:latin typeface="Avenir Next" panose="020B0503020202020204" pitchFamily="34" charset="0"/>
                            </a:rPr>
                            <a:t> </a:t>
                          </a:r>
                          <a:r>
                            <a:rPr lang="en-US" sz="900" b="0" i="0" dirty="0">
                              <a:latin typeface="Avenir Next" panose="020B0503020202020204" pitchFamily="34" charset="0"/>
                            </a:rPr>
                            <a:t>on team </a:t>
                          </a:r>
                          <a14:m>
                            <m:oMath xmlns:m="http://schemas.openxmlformats.org/officeDocument/2006/math">
                              <m:r>
                                <a:rPr lang="en-US" sz="900" b="0" i="0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oMath>
                          </a14:m>
                          <a:r>
                            <a:rPr lang="en-US" sz="900" b="0" i="0" dirty="0">
                              <a:latin typeface="Avenir Next" panose="020B0503020202020204" pitchFamily="34" charset="0"/>
                            </a:rPr>
                            <a:t> roster after ASSIGN, not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sz="9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900" b="0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ar-AE" sz="9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ar-AE" sz="900" b="0" i="1" dirty="0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</m:oMath>
                          </a14:m>
                          <a:endParaRPr lang="ar-AE" sz="9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72339605"/>
                      </a:ext>
                    </a:extLst>
                  </a:tr>
                  <a:tr h="4873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Assignment assortativity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b="0" i="0" baseline="0" dirty="0">
                              <a:latin typeface="Avenir Next" panose="020B0503020202020204" pitchFamily="34" charset="0"/>
                            </a:rPr>
                            <a:t>Soft match strength: players </a:t>
                          </a:r>
                          <a14:m>
                            <m:oMath xmlns:m="http://schemas.openxmlformats.org/officeDocument/2006/math">
                              <m:r>
                                <a:rPr lang="en-US" sz="900" b="0" i="0" baseline="0" dirty="0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sz="900" b="0" i="0" baseline="0" dirty="0">
                              <a:latin typeface="Avenir Next" panose="020B0503020202020204" pitchFamily="34" charset="0"/>
                            </a:rPr>
                            <a:t> teams with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900" b="0" i="0" baseline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900" b="0" i="0" baseline="0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sz="900" b="0" i="0" baseline="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900" b="0" i="0" baseline="0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  <m:sup>
                                      <m:r>
                                        <a:rPr lang="en-US" sz="900" b="0" i="0" baseline="0" dirty="0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a:rPr lang="en-US" sz="900" b="0" i="0" baseline="0" dirty="0" smtClean="0"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sSub>
                                <m:sSubPr>
                                  <m:ctrlPr>
                                    <a:rPr lang="en-US" sz="900" b="0" i="0" baseline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900" b="0" i="0" baseline="0" dirty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900" b="0" i="0" baseline="0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US" sz="900" b="0" i="0" baseline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873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L</a:t>
                          </a:r>
                          <a:r>
                            <a:rPr sz="900" b="0" i="0" baseline="-25000" dirty="0">
                              <a:latin typeface="Avenir Next" panose="020B0503020202020204" pitchFamily="34" charset="0"/>
                            </a:rPr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000" b="0" i="0" dirty="0">
                              <a:latin typeface="Avenir Next" panose="020B0503020202020204" pitchFamily="34" charset="0"/>
                            </a:rPr>
                            <a:t>Team c</a:t>
                          </a:r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ongestio</a:t>
                          </a:r>
                          <a:r>
                            <a:rPr lang="en-US" sz="1000" b="0" i="0" dirty="0">
                              <a:latin typeface="Avenir Next" panose="020B0503020202020204" pitchFamily="34" charset="0"/>
                            </a:rPr>
                            <a:t>n</a:t>
                          </a:r>
                          <a:endParaRPr sz="10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900" b="0" i="0" baseline="0" dirty="0">
                              <a:latin typeface="Avenir Next" panose="020B0503020202020204" pitchFamily="34" charset="0"/>
                            </a:rPr>
                            <a:t>Team-level mean </a:t>
                          </a:r>
                          <a14:m>
                            <m:oMath xmlns:m="http://schemas.openxmlformats.org/officeDocument/2006/math">
                              <m:r>
                                <a:rPr lang="en-US" sz="900" b="0" i="0" baseline="0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en-US" sz="900" b="0" i="0" baseline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900" b="0" i="0" baseline="0" dirty="0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d>
                                    <m:dPr>
                                      <m:ctrlPr>
                                        <a:rPr lang="en-US" sz="900" b="0" i="0" baseline="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900" b="0" i="0" baseline="0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900" b="0" i="0" baseline="0" dirty="0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sz="900" b="0" i="0" baseline="0" dirty="0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sz="900" b="0" i="0" baseline="0" dirty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900" b="0" i="0" baseline="0" dirty="0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oMath>
                          </a14:m>
                          <a:r>
                            <a:rPr lang="en-US" sz="900" b="0" i="0" baseline="0" dirty="0">
                              <a:latin typeface="Avenir Next" panose="020B0503020202020204" pitchFamily="34" charset="0"/>
                            </a:rPr>
                            <a:t> on roster — same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900" b="0" i="0" baseline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900" b="0" i="0" baseline="0" dirty="0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900" b="0" i="0" baseline="0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900" b="0" i="0" baseline="0" dirty="0">
                              <a:latin typeface="Avenir Next" panose="020B0503020202020204" pitchFamily="34" charset="0"/>
                            </a:rPr>
                            <a:t> for all players on team </a:t>
                          </a:r>
                          <a14:m>
                            <m:oMath xmlns:m="http://schemas.openxmlformats.org/officeDocument/2006/math">
                              <m:r>
                                <a:rPr lang="en-US" sz="900" b="0" i="0" baseline="0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oMath>
                          </a14:m>
                          <a:endParaRPr lang="en-US" sz="900" b="0" i="0" baseline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873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Congestion weight in score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sz="900" b="0" i="0" dirty="0">
                              <a:latin typeface="Avenir Next" panose="020B0503020202020204" pitchFamily="34" charset="0"/>
                            </a:rPr>
                            <a:t>How hard L</a:t>
                          </a:r>
                          <a:r>
                            <a:rPr sz="900" b="0" i="0" baseline="-25000" dirty="0">
                              <a:latin typeface="Avenir Next" panose="020B0503020202020204" pitchFamily="34" charset="0"/>
                            </a:rPr>
                            <a:t>C</a:t>
                          </a:r>
                          <a:r>
                            <a:rPr sz="900" b="0" i="0" dirty="0">
                              <a:latin typeface="Avenir Next" panose="020B0503020202020204" pitchFamily="34" charset="0"/>
                            </a:rPr>
                            <a:t> penalizes ranking — not congestion itself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8739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dirty="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sz="10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000" b="0" i="0" dirty="0">
                              <a:latin typeface="Avenir Next" panose="020B0503020202020204" pitchFamily="34" charset="0"/>
                            </a:rPr>
                            <a:t>Naïve draft cutoff</a:t>
                          </a:r>
                          <a:endParaRPr sz="10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lang="en-US" sz="900" b="0" i="0" dirty="0">
                              <a:latin typeface="Avenir Next" panose="020B0503020202020204" pitchFamily="34" charset="0"/>
                            </a:rPr>
                            <a:t>Center of the sigmoid (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900" b="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900" b="0" i="0" dirty="0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900" b="0" i="0" dirty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US" sz="900" b="0" i="0" dirty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900" b="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900" b="0" i="0" dirty="0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900" b="0" i="0" dirty="0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sz="900" b="0" i="0" dirty="0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sz="900" b="0" i="0" dirty="0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900" b="0" i="0" dirty="0">
                              <a:latin typeface="Avenir Next" panose="020B0503020202020204" pitchFamily="34" charset="0"/>
                            </a:rPr>
                            <a:t> in </a:t>
                          </a:r>
                          <a:r>
                            <a:rPr lang="en-US" sz="900" b="0" i="0" dirty="0" err="1">
                              <a:latin typeface="Avenir Next" panose="020B0503020202020204" pitchFamily="34" charset="0"/>
                            </a:rPr>
                            <a:t>k_over_n</a:t>
                          </a:r>
                          <a:r>
                            <a:rPr lang="en-US" sz="900" b="0" i="0" dirty="0">
                              <a:latin typeface="Avenir Next" panose="020B0503020202020204" pitchFamily="34" charset="0"/>
                            </a:rPr>
                            <a:t> mode)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8739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dirty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000" b="0" i="0">
                              <a:latin typeface="Avenir Next" panose="020B0503020202020204" pitchFamily="34" charset="0"/>
                            </a:rPr>
                            <a:t>Sigmoid sharpness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sz="900" b="0" i="0" dirty="0">
                              <a:latin typeface="Avenir Next" panose="020B0503020202020204" pitchFamily="34" charset="0"/>
                            </a:rPr>
                            <a:t>Steepness of viability step around </a:t>
                          </a:r>
                          <a14:m>
                            <m:oMath xmlns:m="http://schemas.openxmlformats.org/officeDocument/2006/math">
                              <m:r>
                                <a:rPr lang="en-US" sz="900" b="0" i="1" dirty="0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oMath>
                          </a14:m>
                          <a:endParaRPr sz="9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8739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dirty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1000" b="0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000" b="0" i="1" dirty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sz="11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000" b="0" i="0">
                              <a:latin typeface="Avenir Next" panose="020B0503020202020204" pitchFamily="34" charset="0"/>
                            </a:rPr>
                            <a:t>Selectivity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sz="900" b="0" i="0" dirty="0">
                              <a:latin typeface="Avenir Next" panose="020B0503020202020204" pitchFamily="34" charset="0"/>
                            </a:rPr>
                            <a:t>Fraction of league selected (</a:t>
                          </a:r>
                          <a14:m>
                            <m:oMath xmlns:m="http://schemas.openxmlformats.org/officeDocument/2006/math">
                              <m:r>
                                <a:rPr lang="en-US" sz="900" b="0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900" b="0" i="1" dirty="0" smtClean="0">
                                  <a:latin typeface="Cambria Math" panose="02040503050406030204" pitchFamily="18" charset="0"/>
                                </a:rPr>
                                <m:t> ÷</m:t>
                              </m:r>
                              <m:r>
                                <a:rPr lang="en-US" sz="900" b="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r>
                            <a:rPr sz="900" b="0" i="0" dirty="0">
                              <a:latin typeface="Avenir Next" panose="020B0503020202020204" pitchFamily="34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5971785"/>
                  </p:ext>
                </p:extLst>
              </p:nvPr>
            </p:nvGraphicFramePr>
            <p:xfrm>
              <a:off x="384049" y="1024128"/>
              <a:ext cx="5666233" cy="4939796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63652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788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15088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87398">
                    <a:tc>
                      <a:txBody>
                        <a:bodyPr/>
                        <a:lstStyle/>
                        <a:p>
                          <a:pPr algn="ctr">
                            <a:defRPr sz="900" b="1">
                              <a:latin typeface="Calibri"/>
                            </a:defRPr>
                          </a:pPr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Plain name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What it controls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873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A</a:t>
                          </a:r>
                          <a:r>
                            <a:rPr sz="900" b="0" i="0" baseline="-25000" dirty="0">
                              <a:latin typeface="Avenir Next" panose="020B0503020202020204" pitchFamily="34" charset="0"/>
                            </a:rPr>
                            <a:t>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Player ability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sz="900" b="0" i="0" dirty="0">
                              <a:latin typeface="Avenir Next" panose="020B0503020202020204" pitchFamily="34" charset="0"/>
                            </a:rPr>
                            <a:t>Innate talent draw (Beta(2,2) on [0,1])</a:t>
                          </a:r>
                          <a:r>
                            <a:rPr lang="en-US" sz="900" b="0" i="0" dirty="0">
                              <a:latin typeface="Avenir Next" panose="020B0503020202020204" pitchFamily="34" charset="0"/>
                            </a:rPr>
                            <a:t> (539 Preset)</a:t>
                          </a:r>
                          <a:endParaRPr sz="9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203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0" dirty="0"/>
                            <a:t>T</a:t>
                          </a:r>
                          <a:r>
                            <a:rPr lang="en-US" sz="1000" b="0" baseline="-25000" dirty="0"/>
                            <a:t>j *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000" b="0" i="0" dirty="0">
                              <a:latin typeface="Avenir Next" panose="020B0503020202020204" pitchFamily="34" charset="0"/>
                            </a:rPr>
                            <a:t>Sim assignment target</a:t>
                          </a:r>
                          <a:endParaRPr sz="10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900" b="0" i="0" dirty="0">
                              <a:latin typeface="Avenir Next" panose="020B0503020202020204" pitchFamily="34" charset="0"/>
                            </a:rPr>
                            <a:t>Synthetic </a:t>
                          </a:r>
                          <a:r>
                            <a:rPr lang="en-US" sz="900" b="0" i="0" dirty="0" err="1">
                              <a:latin typeface="Avenir Next" panose="020B0503020202020204" pitchFamily="34" charset="0"/>
                            </a:rPr>
                            <a:t>iid</a:t>
                          </a:r>
                          <a:r>
                            <a:rPr lang="en-US" sz="900" b="0" i="0" dirty="0">
                              <a:latin typeface="Avenir Next" panose="020B0503020202020204" pitchFamily="34" charset="0"/>
                            </a:rPr>
                            <a:t> Uniform[0,1] per team— soft-assign attractor -  not realized roster talent</a:t>
                          </a:r>
                          <a:endParaRPr sz="9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9253264"/>
                      </a:ext>
                    </a:extLst>
                  </a:tr>
                  <a:tr h="5203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000" b="0" dirty="0" err="1"/>
                            <a:t>T</a:t>
                          </a:r>
                          <a:r>
                            <a:rPr lang="en-US" sz="1000" b="0" baseline="-25000" dirty="0" err="1"/>
                            <a:t>j</a:t>
                          </a:r>
                          <a:r>
                            <a:rPr lang="en-US" sz="1000" b="0" baseline="-250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000" b="0" i="0" dirty="0">
                              <a:latin typeface="Avenir Next" panose="020B0503020202020204" pitchFamily="34" charset="0"/>
                            </a:rPr>
                            <a:t>Realized team talent</a:t>
                          </a:r>
                          <a:endParaRPr sz="10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9920" t="-290244" r="-803" b="-5658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2339605"/>
                      </a:ext>
                    </a:extLst>
                  </a:tr>
                  <a:tr h="4873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Assignment assortativity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9920" t="-410256" r="-803" b="-4948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873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L</a:t>
                          </a:r>
                          <a:r>
                            <a:rPr sz="900" b="0" i="0" baseline="-25000" dirty="0">
                              <a:latin typeface="Avenir Next" panose="020B0503020202020204" pitchFamily="34" charset="0"/>
                            </a:rPr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000" b="0" i="0" dirty="0">
                              <a:latin typeface="Avenir Next" panose="020B0503020202020204" pitchFamily="34" charset="0"/>
                            </a:rPr>
                            <a:t>Team c</a:t>
                          </a:r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ongestio</a:t>
                          </a:r>
                          <a:r>
                            <a:rPr lang="en-US" sz="1000" b="0" i="0" dirty="0">
                              <a:latin typeface="Avenir Next" panose="020B0503020202020204" pitchFamily="34" charset="0"/>
                            </a:rPr>
                            <a:t>n</a:t>
                          </a:r>
                          <a:endParaRPr sz="10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9920" t="-523684" r="-803" b="-407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873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000" b="0" i="0" dirty="0">
                              <a:latin typeface="Avenir Next" panose="020B0503020202020204" pitchFamily="34" charset="0"/>
                            </a:rPr>
                            <a:t>Congestion weight in score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sz="900" b="0" i="0" dirty="0">
                              <a:latin typeface="Avenir Next" panose="020B0503020202020204" pitchFamily="34" charset="0"/>
                            </a:rPr>
                            <a:t>How hard L</a:t>
                          </a:r>
                          <a:r>
                            <a:rPr sz="900" b="0" i="0" baseline="-25000" dirty="0">
                              <a:latin typeface="Avenir Next" panose="020B0503020202020204" pitchFamily="34" charset="0"/>
                            </a:rPr>
                            <a:t>C</a:t>
                          </a:r>
                          <a:r>
                            <a:rPr sz="900" b="0" i="0" dirty="0">
                              <a:latin typeface="Avenir Next" panose="020B0503020202020204" pitchFamily="34" charset="0"/>
                            </a:rPr>
                            <a:t> penalizes ranking — not congestion itself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8739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" t="-726316" r="-798000" b="-2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000" b="0" i="0" dirty="0">
                              <a:latin typeface="Avenir Next" panose="020B0503020202020204" pitchFamily="34" charset="0"/>
                            </a:rPr>
                            <a:t>Naïve draft cutoff</a:t>
                          </a:r>
                          <a:endParaRPr sz="10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9920" t="-726316" r="-803" b="-205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8739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" t="-805128" r="-798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000" b="0" i="0">
                              <a:latin typeface="Avenir Next" panose="020B0503020202020204" pitchFamily="34" charset="0"/>
                            </a:rPr>
                            <a:t>Sigmoid sharpness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9920" t="-805128" r="-803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8739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" t="-928947" r="-798000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000" b="0" i="0">
                              <a:latin typeface="Avenir Next" panose="020B0503020202020204" pitchFamily="34" charset="0"/>
                            </a:rPr>
                            <a:t>Selectivity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9920" t="-928947" r="-803" b="-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6190487" y="909294"/>
                <a:ext cx="6001513" cy="2187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defRPr b="1"/>
                </a:pPr>
                <a:r>
                  <a:rPr lang="en-US" sz="1050" dirty="0"/>
                  <a:t>Not curve fitting: which rules </a:t>
                </a:r>
                <a:r>
                  <a:rPr lang="en-US" sz="1050" i="1" dirty="0">
                    <a:solidFill>
                      <a:srgbClr val="FF0000"/>
                    </a:solidFill>
                  </a:rPr>
                  <a:t>bend</a:t>
                </a:r>
                <a:r>
                  <a:rPr lang="en-US" sz="1050" dirty="0"/>
                  <a:t> synthetic selection curves — not NCAA fit yet.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Three steps: 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50" dirty="0"/>
                  <a:t>ASSIGN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05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50" i="1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ar-AE" sz="105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sz="1050" i="1" dirty="0" smtClean="0">
                        <a:latin typeface="Cambria Math" panose="02040503050406030204" pitchFamily="18" charset="0"/>
                      </a:rPr>
                      <m:t>𝑆𝐶𝑂𝑅𝐸</m:t>
                    </m:r>
                    <m:r>
                      <a:rPr lang="ar-AE" sz="105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ar-AE" sz="105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5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ar-AE" sz="1000" i="1" baseline="-25000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 sz="1000" i="1" baseline="-25000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ar-AE" sz="1000" i="1" baseline="-25000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ar-AE" sz="105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sz="1050" i="1" dirty="0">
                        <a:latin typeface="Cambria Math" panose="02040503050406030204" pitchFamily="18" charset="0"/>
                      </a:rPr>
                      <m:t>𝑆𝐸𝐿𝐸𝐶𝑇</m:t>
                    </m:r>
                    <m:r>
                      <a:rPr lang="ar-AE" sz="1050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ar-AE" sz="105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𝑡𝑜𝑝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050" i="1" dirty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n-US" sz="1050" dirty="0"/>
                  <a:t> 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50" dirty="0"/>
                  <a:t>	… then VISUALIZE by pool-mean bin.</a:t>
                </a:r>
              </a:p>
              <a:p>
                <a:pPr marL="171450" indent="-17145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i="1" dirty="0">
                    <a:latin typeface="Cambria Math"/>
                  </a:rPr>
                  <a:t>L</a:t>
                </a:r>
                <a:r>
                  <a:rPr lang="en-US" sz="1000" i="1" baseline="-25000" dirty="0">
                    <a:latin typeface="Cambria Math"/>
                  </a:rPr>
                  <a:t>C</a:t>
                </a:r>
                <a:r>
                  <a:rPr lang="en-US" sz="1050" dirty="0"/>
                  <a:t> in this deck: team smooth (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sz="900" dirty="0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900" dirty="0">
                            <a:latin typeface="Cambria Math" panose="02040503050406030204" pitchFamily="18" charset="0"/>
                          </a:rPr>
                          <m:t>𝚌𝚛𝚘𝚠𝚍𝚒𝚗𝚐</m:t>
                        </m:r>
                        <m:r>
                          <a:rPr lang="en-US" sz="900" i="0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900" i="0" dirty="0">
                            <a:latin typeface="Cambria Math" panose="02040503050406030204" pitchFamily="18" charset="0"/>
                          </a:rPr>
                          <m:t>𝚜𝚖𝚘𝚘𝚝𝚑</m:t>
                        </m:r>
                        <m:r>
                          <a:rPr lang="en-US" sz="900" i="0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900" i="0" dirty="0">
                            <a:latin typeface="Cambria Math" panose="02040503050406030204" pitchFamily="18" charset="0"/>
                          </a:rPr>
                          <m:t>𝚝𝚎𝚊𝚖</m:t>
                        </m:r>
                      </m:e>
                    </m:box>
                  </m:oMath>
                </a14:m>
                <a:r>
                  <a:rPr lang="en-US" sz="1050" dirty="0"/>
                  <a:t>) — mean peer viability over the full roster.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One-at-a-time (OAT): each slide moves one knob; other settings stay at benchmark values.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Seed 42 on stochastic steps: draw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0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05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05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05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1050" i="1" dirty="0"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r>
                  <a:rPr lang="en-US" sz="1050" dirty="0"/>
                  <a:t>soft-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50" dirty="0"/>
                  <a:t> assignment. 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Score, top-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050" dirty="0"/>
                  <a:t>, bins are deterministic.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League: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=5600, 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=560, 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=10% </m:t>
                    </m:r>
                  </m:oMath>
                </a14:m>
                <a:r>
                  <a:rPr lang="en-US" sz="1050" dirty="0"/>
                  <a:t>(539 preset).</a:t>
                </a:r>
                <a:endParaRPr sz="105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487" y="909294"/>
                <a:ext cx="6001513" cy="2187009"/>
              </a:xfrm>
              <a:prstGeom prst="rect">
                <a:avLst/>
              </a:prstGeom>
              <a:blipFill>
                <a:blip r:embed="rId3"/>
                <a:stretch>
                  <a:fillRect b="-1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6190488" y="3138121"/>
                <a:ext cx="6001512" cy="1627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 b="1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05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050" dirty="0"/>
                  <a:t>Beta (2,2) on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[0,1] </m:t>
                    </m:r>
                  </m:oMath>
                </a14:m>
                <a:r>
                  <a:rPr lang="en-US" sz="1050" dirty="0"/>
                  <a:t>– SELECTION_539_ABILITY_DRAW</a:t>
                </a:r>
              </a:p>
              <a:p>
                <a:pPr marL="171450" indent="-17145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05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05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sz="1050" dirty="0"/>
                  <a:t>: Uniform[0,1] </a:t>
                </a:r>
                <a:r>
                  <a:rPr lang="en-US" sz="1050" dirty="0" err="1"/>
                  <a:t>iid</a:t>
                </a:r>
                <a:r>
                  <a:rPr lang="en-US" sz="1050" dirty="0"/>
                  <a:t> per team —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sz="900" dirty="0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900" dirty="0">
                            <a:latin typeface="Cambria Math" panose="02040503050406030204" pitchFamily="18" charset="0"/>
                          </a:rPr>
                          <m:t>𝚍𝚛𝚊𝚠</m:t>
                        </m:r>
                        <m:r>
                          <a:rPr lang="en-US" sz="900" i="0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900" i="0" dirty="0">
                            <a:latin typeface="Cambria Math" panose="02040503050406030204" pitchFamily="18" charset="0"/>
                          </a:rPr>
                          <m:t>𝚝𝚊𝚛𝚐𝚎𝚝</m:t>
                        </m:r>
                        <m:r>
                          <a:rPr lang="en-US" sz="900" i="0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900" i="0" dirty="0">
                            <a:latin typeface="Cambria Math" panose="02040503050406030204" pitchFamily="18" charset="0"/>
                          </a:rPr>
                          <m:t>𝚖𝚎𝚊𝚗𝚜</m:t>
                        </m:r>
                      </m:e>
                    </m:box>
                  </m:oMath>
                </a14:m>
                <a:r>
                  <a:rPr lang="en-US" sz="1050" dirty="0"/>
                  <a:t>; synthetic assignment targets, not NCAA roster data</a:t>
                </a:r>
              </a:p>
              <a:p>
                <a:pPr marL="171450" indent="-17145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050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050" i="1" dirty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sz="1050" dirty="0"/>
                  <a:t>: realized roster mean after ASSIGN — not drawn; Sketch A 2D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050" dirty="0"/>
                  <a:t>-axis</a:t>
                </a:r>
              </a:p>
              <a:p>
                <a:pPr marL="171450" indent="-17145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l-GR" sz="105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l-GR" sz="1050" i="1" dirty="0" smtClean="0">
                        <a:latin typeface="Cambria Math" panose="02040503050406030204" pitchFamily="18" charset="0"/>
                      </a:rPr>
                      <m:t>=0.55</m:t>
                    </m:r>
                  </m:oMath>
                </a14:m>
                <a:r>
                  <a:rPr lang="el-GR" sz="1050" dirty="0"/>
                  <a:t> —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l-GR" sz="900" dirty="0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l-GR" sz="900" dirty="0">
                            <a:latin typeface="Cambria Math" panose="02040503050406030204" pitchFamily="18" charset="0"/>
                          </a:rPr>
                          <m:t>𝚝𝚒𝚎𝚛𝟷</m:t>
                        </m:r>
                        <m:r>
                          <a:rPr lang="el-GR" sz="900" i="0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l-GR" sz="900" i="0" dirty="0">
                            <a:latin typeface="Cambria Math" panose="02040503050406030204" pitchFamily="18" charset="0"/>
                          </a:rPr>
                          <m:t>𝟻𝟹𝟿</m:t>
                        </m:r>
                        <m:r>
                          <a:rPr lang="el-GR" sz="900" i="0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l-GR" sz="900" i="0" dirty="0">
                            <a:latin typeface="Cambria Math" panose="02040503050406030204" pitchFamily="18" charset="0"/>
                          </a:rPr>
                          <m:t>𝚛𝚎𝚏𝚎𝚛𝚎𝚗𝚌𝚎</m:t>
                        </m:r>
                        <m:r>
                          <a:rPr lang="el-GR" sz="900" i="0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l-GR" sz="900" i="0" dirty="0">
                            <a:latin typeface="Cambria Math" panose="02040503050406030204" pitchFamily="18" charset="0"/>
                          </a:rPr>
                          <m:t>𝚜𝚎𝚝𝚝𝚒𝚗𝚐𝚜</m:t>
                        </m:r>
                        <m:r>
                          <a:rPr lang="el-GR" sz="900" i="0" dirty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l-GR" sz="900" i="0" dirty="0">
                            <a:latin typeface="Cambria Math" panose="02040503050406030204" pitchFamily="18" charset="0"/>
                          </a:rPr>
                          <m:t>𝚓𝚜𝚘𝚗</m:t>
                        </m:r>
                      </m:e>
                    </m:box>
                  </m:oMath>
                </a14:m>
                <a:r>
                  <a:rPr lang="en-US" sz="1050" dirty="0"/>
                  <a:t> / playground default</a:t>
                </a:r>
              </a:p>
              <a:p>
                <a:pPr marL="171450" indent="-17145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=0.72</m:t>
                    </m:r>
                  </m:oMath>
                </a14:m>
                <a:r>
                  <a:rPr lang="en-US" sz="1050" dirty="0"/>
                  <a:t>,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sz="1050" dirty="0"/>
                  <a:t> — same 539 reference JSON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50" i="1" dirty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=8 </m:t>
                    </m:r>
                  </m:oMath>
                </a14:m>
                <a:r>
                  <a:rPr lang="en-US" sz="1050" dirty="0"/>
                  <a:t>— gallery fixed assign for </a:t>
                </a:r>
                <a14:m>
                  <m:oMath xmlns:m="http://schemas.openxmlformats.org/officeDocument/2006/math">
                    <m:r>
                      <a:rPr lang="en-US" sz="1050" i="1" dirty="0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nor/>
                      </m:rPr>
                      <a:rPr lang="en-US" sz="1050" i="0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050" dirty="0"/>
                  <a:t> slides (moderate-high mixing; not a 539 JSON field)</a:t>
                </a:r>
                <a:endParaRPr lang="en-US" sz="1050" i="1" dirty="0">
                  <a:latin typeface="Cambria Math" panose="02040503050406030204" pitchFamily="18" charset="0"/>
                </a:endParaRP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=10% </m:t>
                    </m:r>
                  </m:oMath>
                </a14:m>
                <a:r>
                  <a:rPr lang="en-US" sz="1050" dirty="0"/>
                  <a:t>— characterization default (MBB draft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1% </m:t>
                    </m:r>
                  </m:oMath>
                </a14:m>
                <a:r>
                  <a:rPr lang="en-US" sz="1050" dirty="0"/>
                  <a:t>is a separate calibration point)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488" y="3138121"/>
                <a:ext cx="6001512" cy="1627946"/>
              </a:xfrm>
              <a:prstGeom prst="rect">
                <a:avLst/>
              </a:prstGeom>
              <a:blipFill>
                <a:blip r:embed="rId4"/>
                <a:stretch>
                  <a:fillRect b="-1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6190487" y="4987089"/>
                <a:ext cx="6001512" cy="900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  <a:defRPr b="1"/>
                </a:pPr>
                <a:r>
                  <a:rPr lang="en-US" sz="1050" dirty="0"/>
                  <a:t>Real hero (Layer A): draft rate vs teammate-quality </a:t>
                </a:r>
                <a:r>
                  <a:rPr lang="en-US" sz="1050" dirty="0" err="1"/>
                  <a:t>ventiles</a:t>
                </a:r>
                <a:r>
                  <a:rPr lang="en-US" sz="1050" dirty="0"/>
                  <a:t> — a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sz="1050" b="1" dirty="0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1050" b="1" dirty="0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𝐛𝐞𝐧𝐝</m:t>
                        </m:r>
                      </m:e>
                    </m:box>
                  </m:oMath>
                </a14:m>
                <a:r>
                  <a:rPr lang="en-US" sz="1050" dirty="0"/>
                  <a:t> at the top bins (Pass A /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sz="1000" dirty="0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1000" dirty="0">
                            <a:latin typeface="Cambria Math" panose="02040503050406030204" pitchFamily="18" charset="0"/>
                          </a:rPr>
                          <m:t>𝚂𝚘</m:t>
                        </m:r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𝙵𝚊𝚛</m:t>
                        </m:r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_</m:t>
                        </m:r>
                      </m:e>
                    </m:box>
                  </m:oMath>
                </a14:m>
                <a:r>
                  <a:rPr lang="en-US" sz="1050" dirty="0"/>
                  <a:t>).</a:t>
                </a:r>
              </a:p>
              <a:p>
                <a:pPr marL="171450" indent="-17145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sz="1050" dirty="0"/>
                  <a:t>This deck: fraction selected vs </a:t>
                </a:r>
                <a:r>
                  <a:rPr sz="1050" b="1" dirty="0"/>
                  <a:t>pool mean</a:t>
                </a:r>
                <a:r>
                  <a:rPr sz="1050" dirty="0"/>
                  <a:t> in a fake league — same </a:t>
                </a:r>
                <a:r>
                  <a:rPr sz="1050" i="1" dirty="0"/>
                  <a:t>kind</a:t>
                </a:r>
                <a:r>
                  <a:rPr sz="1050" dirty="0"/>
                  <a:t> of question, different axis and league.</a:t>
                </a:r>
              </a:p>
              <a:p>
                <a:pPr marL="171450" indent="-17145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sz="1050" dirty="0"/>
                  <a:t>Benchmarks anchor to the Alex 539 playground track so sim slides stay comparable</a:t>
                </a:r>
                <a:endParaRPr lang="en-US" sz="1050" dirty="0"/>
              </a:p>
              <a:p>
                <a:pPr marL="171450" indent="-171450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W</a:t>
                </a:r>
                <a:r>
                  <a:rPr sz="1050" dirty="0"/>
                  <a:t>e have </a:t>
                </a:r>
                <a:r>
                  <a:rPr sz="1050" b="1" dirty="0"/>
                  <a:t>not</a:t>
                </a:r>
                <a:r>
                  <a:rPr sz="1050" dirty="0"/>
                  <a:t> re-fit those numbers to NCAA data in Phase B.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487" y="4987089"/>
                <a:ext cx="6001512" cy="900246"/>
              </a:xfrm>
              <a:prstGeom prst="rect">
                <a:avLst/>
              </a:prstGeom>
              <a:blipFill>
                <a:blip r:embed="rId5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84048" y="6126480"/>
            <a:ext cx="742024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sz="1100" dirty="0"/>
              <a:t>Claim: Phase B maps which generative knobs move</a:t>
            </a:r>
            <a:r>
              <a:rPr lang="en-US" sz="1100" dirty="0"/>
              <a:t> </a:t>
            </a:r>
            <a:r>
              <a:rPr sz="1100" i="1" dirty="0">
                <a:solidFill>
                  <a:srgbClr val="FF0000"/>
                </a:solidFill>
              </a:rPr>
              <a:t>who gets selected</a:t>
            </a:r>
            <a:r>
              <a:rPr sz="1100" dirty="0"/>
              <a:t> — prerequisite before Phase C calibration to the hero.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01168"/>
                <a:ext cx="6639318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lang="en-US" sz="2000" dirty="0"/>
                  <a:t>Phase B — Simulated league inputs: actual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1" i="1" baseline="-25000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 draws</a:t>
                </a:r>
                <a:endParaRPr sz="20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01168"/>
                <a:ext cx="6639318" cy="400110"/>
              </a:xfrm>
              <a:prstGeom prst="rect">
                <a:avLst/>
              </a:prstGeom>
              <a:blipFill>
                <a:blip r:embed="rId2"/>
                <a:stretch>
                  <a:fillRect l="-956"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384048" y="676656"/>
            <a:ext cx="11423599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/>
              <a:t>539 preset · seed 42 · </a:t>
            </a:r>
            <a:r>
              <a:rPr sz="900" i="1">
                <a:latin typeface="Cambria Math"/>
              </a:rPr>
              <a:t>N=5,600</a:t>
            </a:r>
            <a:r>
              <a:rPr sz="900"/>
              <a:t> players · 350 teams × roster 16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4048" y="1005840"/>
                <a:ext cx="428505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One draw reused across all OAT arms — only placement / score rules change.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Left: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∼</m:t>
                    </m:r>
                    <m:r>
                      <m:rPr>
                        <m:nor/>
                      </m:rPr>
                      <a:rPr lang="en-US" sz="900" i="0" dirty="0">
                        <a:latin typeface="Cambria Math" panose="02040503050406030204" pitchFamily="18" charset="0"/>
                      </a:rPr>
                      <m:t>Beta</m:t>
                    </m:r>
                    <m:d>
                      <m:dPr>
                        <m:ctrlPr>
                          <a:rPr lang="ar-AE" sz="9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900" i="1" dirty="0">
                            <a:latin typeface="Cambria Math" panose="02040503050406030204" pitchFamily="18" charset="0"/>
                          </a:rPr>
                          <m:t>2,2</m:t>
                        </m:r>
                      </m:e>
                    </m:d>
                  </m:oMath>
                </a14:m>
                <a:r>
                  <a:rPr lang="en-US" sz="900" dirty="0"/>
                  <a:t>on [0,1] — unimodal, mean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Right: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800" b="0" i="1" baseline="-25000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∼</m:t>
                    </m:r>
                    <m:r>
                      <a:rPr lang="en-US" sz="900" i="1" dirty="0" err="1">
                        <a:latin typeface="Cambria Math" panose="02040503050406030204" pitchFamily="18" charset="0"/>
                      </a:rPr>
                      <m:t>𝑖𝑖𝑑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Uniform[0,1] — sim assignment targets.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Orange curve = theoretical pdf scaled to histogram bin width.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This run: mean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=0.500, </m:t>
                    </m:r>
                  </m:oMath>
                </a14:m>
                <a:r>
                  <a:rPr lang="en-US" sz="900" dirty="0"/>
                  <a:t>mean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800" i="1" baseline="-25000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800" b="0" i="1" baseline="-25000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=0.491 </m:t>
                    </m:r>
                  </m:oMath>
                </a14:m>
                <a:r>
                  <a:rPr lang="en-US" sz="900" dirty="0"/>
                  <a:t>(sd 0.223 / 0.290).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Not NCAA data — fake league inputs for characterization.</a:t>
                </a:r>
                <a:endParaRPr sz="9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005840"/>
                <a:ext cx="4285056" cy="923330"/>
              </a:xfrm>
              <a:prstGeom prst="rect">
                <a:avLst/>
              </a:prstGeom>
              <a:blipFill>
                <a:blip r:embed="rId3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72293" y="2144375"/>
            <a:ext cx="8872120" cy="36937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053328"/>
            <a:ext cx="114235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/>
            </a:pPr>
            <a:r>
              <a:rPr sz="1000" dirty="0"/>
              <a:t>Claim: Phase B fixes one stochastic league draw (seed 42) — </a:t>
            </a:r>
            <a:r>
              <a:rPr sz="1000" i="1" dirty="0">
                <a:latin typeface="Cambria Math"/>
              </a:rPr>
              <a:t>A</a:t>
            </a:r>
            <a:r>
              <a:rPr sz="800" i="1" baseline="-25000" dirty="0">
                <a:latin typeface="Cambria Math"/>
              </a:rPr>
              <a:t>i</a:t>
            </a:r>
            <a:r>
              <a:rPr sz="1000" dirty="0"/>
              <a:t> </a:t>
            </a:r>
            <a:r>
              <a:rPr lang="en-US" sz="1000" dirty="0"/>
              <a:t> </a:t>
            </a:r>
            <a:r>
              <a:rPr sz="1000" dirty="0"/>
              <a:t>and </a:t>
            </a:r>
            <a:r>
              <a:rPr sz="1000" i="1" dirty="0">
                <a:latin typeface="Cambria Math"/>
              </a:rPr>
              <a:t>T</a:t>
            </a:r>
            <a:r>
              <a:rPr sz="800" i="1" baseline="-25000" dirty="0">
                <a:latin typeface="Cambria Math"/>
              </a:rPr>
              <a:t>j</a:t>
            </a:r>
            <a:r>
              <a:rPr lang="en-US" sz="800" i="1" baseline="-25000" dirty="0">
                <a:latin typeface="Cambria Math"/>
              </a:rPr>
              <a:t>*</a:t>
            </a:r>
            <a:r>
              <a:rPr sz="1000" dirty="0"/>
              <a:t> </a:t>
            </a:r>
            <a:r>
              <a:rPr lang="en-US" sz="1000" dirty="0"/>
              <a:t> </a:t>
            </a:r>
            <a:r>
              <a:rPr sz="1000" dirty="0"/>
              <a:t>are the inputs every OAT arm reuses; only ASSIGN / SCORE knobs change across slides.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 dirty="0"/>
              <a:t>Phase B — Characterize </a:t>
            </a:r>
            <a:r>
              <a:rPr sz="2000" i="1" dirty="0">
                <a:latin typeface="Cambria Math"/>
              </a:rPr>
              <a:t>ρ</a:t>
            </a:r>
            <a:r>
              <a:rPr sz="2000" dirty="0"/>
              <a:t> (assignment assortativity) — sort-and-chop shown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80" y="768096"/>
                <a:ext cx="4160520" cy="1971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lang="en-US" sz="1100" dirty="0"/>
                  <a:t>Characterize </a:t>
                </a:r>
                <a14:m>
                  <m:oMath xmlns:m="http://schemas.openxmlformats.org/officeDocument/2006/math">
                    <m:r>
                      <a:rPr lang="el-GR" sz="11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l-GR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sz="1100" dirty="0"/>
                  <a:t>— </a:t>
                </a:r>
                <a:r>
                  <a:rPr lang="en-US" sz="1100" dirty="0"/>
                  <a:t>one-at-a-time at 539 baseline (score + top-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100" dirty="0"/>
                  <a:t> fixed)</a:t>
                </a:r>
              </a:p>
              <a:p>
                <a:pPr>
                  <a:spcAft>
                    <a:spcPts val="0"/>
                  </a:spcAft>
                  <a:defRPr sz="1000" b="1"/>
                </a:pPr>
                <a:r>
                  <a:rPr lang="en-US" dirty="0"/>
                  <a:t>ASSIGN (knob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l-GR" dirty="0"/>
                  <a:t>) — </a:t>
                </a:r>
                <a:r>
                  <a:rPr lang="en-US" dirty="0"/>
                  <a:t>LaTeX:</a:t>
                </a: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dirty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1050" dirty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050" dirty="0">
                          <a:latin typeface="Cambria Math" panose="02040503050406030204" pitchFamily="18" charset="0"/>
                        </a:rPr>
                        <m:t>∝</m:t>
                      </m:r>
                      <m:func>
                        <m:funcPr>
                          <m:ctrlPr>
                            <a:rPr lang="en-US" sz="105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050" dirty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05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50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050" dirty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sz="1050" dirty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f>
                                <m:fPr>
                                  <m:ctrlPr>
                                    <a:rPr lang="en-US" sz="105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05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05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05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050" dirty="0"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050" dirty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050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05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050" dirty="0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050" dirty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n-US" sz="105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050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105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sz="105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050" dirty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1050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050" i="1" dirty="0">
                  <a:latin typeface="Cambria Math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l-GR" sz="105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l-GR" sz="1050" i="1" dirty="0">
                        <a:latin typeface="Cambria Math" panose="02040503050406030204" pitchFamily="18" charset="0"/>
                      </a:rPr>
                      <m:t>=0.65 </m:t>
                    </m:r>
                  </m:oMath>
                </a14:m>
                <a:r>
                  <a:rPr lang="en-US" sz="1050" dirty="0"/>
                  <a:t>fixed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arms: </a:t>
                </a:r>
                <a14:m>
                  <m:oMath xmlns:m="http://schemas.openxmlformats.org/officeDocument/2006/math">
                    <m:r>
                      <a:rPr lang="el-GR" sz="105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l-GR" sz="1050" i="1" dirty="0" smtClean="0">
                        <a:latin typeface="Cambria Math" panose="02040503050406030204" pitchFamily="18" charset="0"/>
                      </a:rPr>
                      <m:t> ∈ {0.001, 1, 8, 32} </m:t>
                    </m:r>
                  </m:oMath>
                </a14:m>
                <a:r>
                  <a:rPr lang="el-GR" sz="1050" dirty="0"/>
                  <a:t>+ </a:t>
                </a:r>
                <a:r>
                  <a:rPr lang="en-US" sz="1050" dirty="0"/>
                  <a:t>sort-and-chop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 − 0.55 · 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50" dirty="0"/>
                  <a:t>(crowding in score held constant across arms)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top-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50" dirty="0"/>
                  <a:t>by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1050" dirty="0"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50" dirty="0"/>
                  <a:t>VISUALIZE = mean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𝑠𝑒𝑙𝑒𝑐𝑡𝑒𝑑</m:t>
                    </m:r>
                    <m:r>
                      <a:rPr lang="en-US" sz="105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50" dirty="0"/>
                  <a:t>vs pool mean (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1050" dirty="0"/>
                  <a:t> bins)</a:t>
                </a:r>
                <a:endParaRPr sz="105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68096"/>
                <a:ext cx="4160520" cy="1971117"/>
              </a:xfrm>
              <a:prstGeom prst="rect">
                <a:avLst/>
              </a:prstGeom>
              <a:blipFill>
                <a:blip r:embed="rId2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73459" y="768096"/>
            <a:ext cx="5806464" cy="38953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1480" y="4681728"/>
                <a:ext cx="11368735" cy="657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OAT: one draw of </a:t>
                </a:r>
                <a14:m>
                  <m:oMath xmlns:m="http://schemas.openxmlformats.org/officeDocument/2006/math">
                    <m:r>
                      <a:rPr lang="en-US" sz="9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ar-AE" sz="9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900" i="1" dirty="0">
                            <a:latin typeface="Cambria Math" panose="02040503050406030204" pitchFamily="18" charset="0"/>
                          </a:rPr>
                          <m:t> ,</m:t>
                        </m:r>
                        <m:r>
                          <a:rPr lang="ar-AE" sz="9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900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ar-AE" sz="9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ar-AE" sz="900" dirty="0"/>
                  <a:t>(</a:t>
                </a:r>
                <a:r>
                  <a:rPr lang="en-US" sz="900" dirty="0"/>
                  <a:t>seed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lang="en-US" sz="900" dirty="0"/>
                  <a:t>); only ASSIGN changes across arms.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Low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: players mix across teams — selection vs pool mean stays nearly flat.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High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: assortative matching — peer environments concentrate; inverted-</a:t>
                </a:r>
                <a:r>
                  <a:rPr lang="en-US" sz="900" i="1" dirty="0">
                    <a:latin typeface="Cambria Math"/>
                  </a:rPr>
                  <a:t>U</a:t>
                </a:r>
                <a:r>
                  <a:rPr lang="en-US" sz="900" dirty="0"/>
                  <a:t> emerges.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Sort-and-chop benchmark: hard rank match (same score rule as soft arms).</a:t>
                </a:r>
                <a:endParaRPr sz="9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81728"/>
                <a:ext cx="11368735" cy="657424"/>
              </a:xfrm>
              <a:prstGeom prst="rect">
                <a:avLst/>
              </a:prstGeom>
              <a:blipFill>
                <a:blip r:embed="rId4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5971032"/>
                <a:ext cx="9847055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sz="1100" dirty="0"/>
                  <a:t>Claim: at fixed score and top-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1100" dirty="0"/>
                  <a:t>, </a:t>
                </a:r>
                <a:r>
                  <a:rPr sz="1100" i="1" dirty="0">
                    <a:latin typeface="Cambria Math"/>
                  </a:rPr>
                  <a:t>ρ</a:t>
                </a:r>
                <a:r>
                  <a:rPr sz="1100" dirty="0"/>
                  <a:t> in assignment matters — low-</a:t>
                </a:r>
                <a:r>
                  <a:rPr sz="1100" i="1" dirty="0">
                    <a:latin typeface="Cambria Math"/>
                  </a:rPr>
                  <a:t>ρ</a:t>
                </a:r>
                <a:r>
                  <a:rPr sz="1100" dirty="0"/>
                  <a:t> mixing yields a nearly flat curve; high-</a:t>
                </a:r>
                <a:r>
                  <a:rPr sz="1100" i="1" dirty="0">
                    <a:latin typeface="Cambria Math"/>
                  </a:rPr>
                  <a:t>ρ</a:t>
                </a:r>
                <a:r>
                  <a:rPr sz="1100" dirty="0"/>
                  <a:t> assortativity delivers the peer-pressure inverted-</a:t>
                </a:r>
                <a:r>
                  <a:rPr sz="1100" i="1" dirty="0">
                    <a:latin typeface="Cambria Math"/>
                  </a:rPr>
                  <a:t>U</a:t>
                </a:r>
                <a:r>
                  <a:rPr sz="1100" dirty="0"/>
                  <a:t> readout.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9847055" cy="261610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1480" y="256032"/>
                <a:ext cx="8804462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Characterize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2000" dirty="0"/>
                  <a:t> (assignment assortativity) — sort-and-chop suppressed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8804462" cy="400110"/>
              </a:xfrm>
              <a:prstGeom prst="rect">
                <a:avLst/>
              </a:prstGeom>
              <a:blipFill>
                <a:blip r:embed="rId2"/>
                <a:stretch>
                  <a:fillRect l="-720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80" y="768096"/>
                <a:ext cx="4160520" cy="18975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lang="en-US" sz="1100" dirty="0"/>
                  <a:t>Characterize </a:t>
                </a:r>
                <a14:m>
                  <m:oMath xmlns:m="http://schemas.openxmlformats.org/officeDocument/2006/math">
                    <m:r>
                      <a:rPr lang="el-GR" sz="11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l-GR" sz="1100" dirty="0"/>
                  <a:t> — </a:t>
                </a:r>
                <a:r>
                  <a:rPr lang="en-US" sz="1100" dirty="0"/>
                  <a:t>one-at-a-time at 539 baseline (score + top-𝐾fixed)</a:t>
                </a:r>
              </a:p>
              <a:p>
                <a:pPr>
                  <a:spcAft>
                    <a:spcPts val="0"/>
                  </a:spcAft>
                  <a:defRPr sz="1000" b="1"/>
                </a:pPr>
                <a:r>
                  <a:rPr lang="en-US" dirty="0"/>
                  <a:t>ASSIGN (knob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l-GR" dirty="0"/>
                  <a:t>) — </a:t>
                </a:r>
                <a:r>
                  <a:rPr lang="en-US" dirty="0"/>
                  <a:t>LaTeX:</a:t>
                </a: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0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000" b="1" i="1" dirty="0"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b>
                          <m:r>
                            <a:rPr lang="ar-AE" sz="1000" b="1" i="1" dirty="0"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ar-AE" sz="1000" b="1" dirty="0">
                          <a:latin typeface="Cambria Math" panose="02040503050406030204" pitchFamily="18" charset="0"/>
                        </a:rPr>
                        <m:t>∝</m:t>
                      </m:r>
                      <m:func>
                        <m:funcPr>
                          <m:ctrlPr>
                            <a:rPr lang="ar-AE" sz="1000" b="1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1000" b="1" i="1" dirty="0">
                              <a:latin typeface="Cambria Math" panose="02040503050406030204" pitchFamily="18" charset="0"/>
                            </a:rPr>
                            <m:t>𝐞𝐱𝐩</m:t>
                          </m:r>
                        </m:fName>
                        <m:e>
                          <m:d>
                            <m:dPr>
                              <m:ctrlPr>
                                <a:rPr lang="ar-AE" sz="1000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000" b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000" b="1" i="1" dirty="0">
                                  <a:latin typeface="Cambria Math" panose="02040503050406030204" pitchFamily="18" charset="0"/>
                                </a:rPr>
                                <m:t>𝛒</m:t>
                              </m:r>
                              <m:r>
                                <a:rPr lang="ar-AE" sz="1000" b="1" dirty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f>
                                <m:fPr>
                                  <m:ctrlPr>
                                    <a:rPr lang="ar-AE" sz="10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ar-AE" sz="10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ar-AE" sz="1000" b="1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ar-AE" sz="1000" b="1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sz="10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𝑨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 sz="10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b>
                                          </m:sSub>
                                          <m:r>
                                            <a:rPr lang="ar-AE" sz="1000" b="1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ar-AE" sz="1000" b="1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sz="10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𝑻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 sz="1000" b="1" i="1" dirty="0">
                                                  <a:latin typeface="Cambria Math" panose="02040503050406030204" pitchFamily="18" charset="0"/>
                                                </a:rPr>
                                                <m:t>𝒋</m:t>
                                              </m:r>
                                              <m:r>
                                                <a:rPr lang="en-US" sz="1000" b="1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 sz="1000" b="1" i="1" dirty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ar-AE" sz="1000" b="1" i="1" dirty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sSup>
                                    <m:sSupPr>
                                      <m:ctrlPr>
                                        <a:rPr lang="ar-AE" sz="10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sz="1000" b="1" i="1" dirty="0">
                                          <a:latin typeface="Cambria Math" panose="02040503050406030204" pitchFamily="18" charset="0"/>
                                        </a:rPr>
                                        <m:t>𝝈</m:t>
                                      </m:r>
                                    </m:e>
                                    <m:sup>
                                      <m:r>
                                        <a:rPr lang="ar-AE" sz="1000" b="1" i="1" dirty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ar-AE" sz="1000" b="1" i="1" dirty="0">
                  <a:latin typeface="Cambria Math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l-GR" sz="1000" i="1" dirty="0">
                        <a:latin typeface="Cambria Math" panose="02040503050406030204" pitchFamily="18" charset="0"/>
                      </a:rPr>
                      <m:t>=0.65</m:t>
                    </m:r>
                  </m:oMath>
                </a14:m>
                <a:r>
                  <a:rPr lang="el-GR" sz="1000" dirty="0"/>
                  <a:t> </a:t>
                </a:r>
                <a:r>
                  <a:rPr lang="en-US" sz="1000" dirty="0"/>
                  <a:t>fixed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arms: </a:t>
                </a:r>
                <a14:m>
                  <m:oMath xmlns:m="http://schemas.openxmlformats.org/officeDocument/2006/math"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 ∈ {0.001, 1, 8, 32}</m:t>
                    </m:r>
                  </m:oMath>
                </a14:m>
                <a:endParaRPr lang="el-GR" sz="1000" i="1" dirty="0">
                  <a:latin typeface="Cambria Math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− 0.55 · 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dirty="0"/>
                  <a:t>(crowding in score held constant across arms)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top-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000" dirty="0"/>
                  <a:t> by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800" i="1" baseline="-25000" dirty="0">
                  <a:latin typeface="Cambria Math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VISUALIZE = mean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𝑠𝑒𝑙𝑒𝑐𝑡𝑒𝑑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dirty="0"/>
                  <a:t>vs pool mean (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1000" dirty="0"/>
                  <a:t> bins)</a:t>
                </a:r>
                <a:endParaRPr sz="1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68096"/>
                <a:ext cx="4160520" cy="1897507"/>
              </a:xfrm>
              <a:prstGeom prst="rect">
                <a:avLst/>
              </a:prstGeom>
              <a:blipFill>
                <a:blip r:embed="rId3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70723" y="790500"/>
            <a:ext cx="5811936" cy="38505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1480" y="4681728"/>
                <a:ext cx="11368735" cy="657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OAT: one draw of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sz="9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 ,</m:t>
                        </m:r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9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(seed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lang="en-US" sz="900" dirty="0"/>
                  <a:t>); only ASSIGN changes across arms.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Low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900" dirty="0"/>
                  <a:t> : players mix across teams — selection vs pool mean stays nearly flat.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High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900" dirty="0"/>
                  <a:t> : assortative matching — peer environments concentrate; inverted-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900" dirty="0"/>
                  <a:t> emerges.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Sort-and-chop arm omitted from plot (still in CSV bundle; toggle restores it).</a:t>
                </a:r>
                <a:endParaRPr sz="9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81728"/>
                <a:ext cx="11368735" cy="657424"/>
              </a:xfrm>
              <a:prstGeom prst="rect">
                <a:avLst/>
              </a:prstGeom>
              <a:blipFill>
                <a:blip r:embed="rId5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5971032"/>
                <a:ext cx="9847055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sz="1100" dirty="0"/>
                  <a:t>Claim: at fixed score and top-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1100" dirty="0"/>
                  <a:t>,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100" dirty="0"/>
                  <a:t>in assignment matters — low-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dirty="0"/>
                  <a:t> mixing yields a nearly flat curve; high-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100" dirty="0"/>
                  <a:t>assortativity delivers the peer-pressure inverted-</a:t>
                </a:r>
                <a:r>
                  <a:rPr sz="1100" i="1" dirty="0">
                    <a:latin typeface="Cambria Math"/>
                  </a:rPr>
                  <a:t>U</a:t>
                </a:r>
                <a:r>
                  <a:rPr sz="1100" dirty="0"/>
                  <a:t> readout.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9847055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263FE3-A774-2557-355E-16843C1907AD}"/>
                  </a:ext>
                </a:extLst>
              </p:cNvPr>
              <p:cNvSpPr txBox="1"/>
              <p:nvPr/>
            </p:nvSpPr>
            <p:spPr>
              <a:xfrm>
                <a:off x="348411" y="2796502"/>
                <a:ext cx="4465300" cy="1754326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800" b="1" i="1" dirty="0">
                    <a:solidFill>
                      <a:srgbClr val="3B3B3B"/>
                    </a:solidFill>
                    <a:effectLst/>
                    <a:latin typeface="-apple-system"/>
                  </a:rPr>
                  <a:t>Why ρ matters here:</a:t>
                </a:r>
                <a:r>
                  <a:rPr lang="en-US" sz="1800" b="0" i="1" dirty="0">
                    <a:solidFill>
                      <a:srgbClr val="3B3B3B"/>
                    </a:solidFill>
                    <a:effectLst/>
                    <a:latin typeface="-apple-system"/>
                  </a:rPr>
                  <a:t> assignment assortativity sets how spread out team L_C is across the league — at ρ ≈ 0 (arm 0.001) rosters mix and peer pressure looks the same everywhere; at high ρ weak teams pile up near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solidFill>
                              <a:srgbClr val="3B3B3B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solidFill>
                              <a:srgbClr val="3B3B3B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800" b="0" i="1" dirty="0" smtClean="0">
                            <a:solidFill>
                              <a:srgbClr val="3B3B3B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800" b="0" i="1" dirty="0" smtClean="0">
                        <a:solidFill>
                          <a:srgbClr val="3B3B3B"/>
                        </a:solidFill>
                        <a:effectLst/>
                        <a:latin typeface="Cambria Math" panose="02040503050406030204" pitchFamily="18" charset="0"/>
                      </a:rPr>
                      <m:t>≈ 0 </m:t>
                    </m:r>
                  </m:oMath>
                </a14:m>
                <a:r>
                  <a:rPr lang="en-US" sz="1800" b="0" i="1" dirty="0">
                    <a:solidFill>
                      <a:srgbClr val="3B3B3B"/>
                    </a:solidFill>
                    <a:effectLst/>
                    <a:latin typeface="-apple-system"/>
                  </a:rPr>
                  <a:t>while elite rosters face real congestion.</a:t>
                </a:r>
                <a:endParaRPr lang="en-US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263FE3-A774-2557-355E-16843C190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11" y="2796502"/>
                <a:ext cx="4465300" cy="1754326"/>
              </a:xfrm>
              <a:prstGeom prst="rect">
                <a:avLst/>
              </a:prstGeom>
              <a:blipFill>
                <a:blip r:embed="rId7"/>
                <a:stretch>
                  <a:fillRect l="-847" t="-1418" r="-1412" b="-354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48B370D-531F-B131-BD46-276B112BD3FF}"/>
                  </a:ext>
                </a:extLst>
              </p:cNvPr>
              <p:cNvSpPr txBox="1"/>
              <p:nvPr/>
            </p:nvSpPr>
            <p:spPr>
              <a:xfrm>
                <a:off x="411480" y="256032"/>
                <a:ext cx="9837117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Characterize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2000" dirty="0"/>
                  <a:t> (assignment assortativity)</a:t>
                </a:r>
                <a:r>
                  <a:rPr lang="en-US" sz="2000" dirty="0"/>
                  <a:t> . BEFORE and AFTER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 Standardization</a:t>
                </a:r>
                <a:endParaRPr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48B370D-531F-B131-BD46-276B112BD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9837117" cy="400110"/>
              </a:xfrm>
              <a:prstGeom prst="rect">
                <a:avLst/>
              </a:prstGeom>
              <a:blipFill>
                <a:blip r:embed="rId2"/>
                <a:stretch>
                  <a:fillRect l="-645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B8E62EE0-9491-67E4-3088-2D311F721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13" y="1969816"/>
            <a:ext cx="5401854" cy="34749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6320B1-9205-C4CB-E062-A1442DFC10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34706" y="1904111"/>
            <a:ext cx="5184670" cy="347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52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 dirty="0"/>
              <a:t>Phase B — Characterize </a:t>
            </a:r>
            <a:r>
              <a:rPr sz="2000" i="1" dirty="0">
                <a:latin typeface="Cambria Math"/>
              </a:rPr>
              <a:t>λ</a:t>
            </a:r>
            <a:r>
              <a:rPr sz="2000" dirty="0"/>
              <a:t> (congestion in score)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80" y="768096"/>
                <a:ext cx="4198462" cy="18598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lang="en-US" sz="1100" dirty="0"/>
                  <a:t>Characterize </a:t>
                </a:r>
                <a14:m>
                  <m:oMath xmlns:m="http://schemas.openxmlformats.org/officeDocument/2006/math">
                    <m:r>
                      <a:rPr lang="el-GR" sz="11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l-GR" sz="1100" dirty="0"/>
                  <a:t> — </a:t>
                </a:r>
                <a:r>
                  <a:rPr lang="en-US" sz="1100" dirty="0"/>
                  <a:t>one-at-a-time at 539 baseline (assign + top-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fixed)</a:t>
                </a:r>
              </a:p>
              <a:p>
                <a:pPr>
                  <a:spcAft>
                    <a:spcPts val="0"/>
                  </a:spcAft>
                </a:pPr>
                <a:endParaRPr lang="en-US" sz="120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:endParaRPr lang="en-US" sz="120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:endParaRPr lang="en-US" sz="1200" i="1" dirty="0">
                  <a:latin typeface="Cambria Math" panose="02040503050406030204" pitchFamily="18" charset="0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fixed (soft assign; same roster all arms)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=0.65 </m:t>
                    </m:r>
                  </m:oMath>
                </a14:m>
                <a:r>
                  <a:rPr lang="en-US" sz="1000" dirty="0"/>
                  <a:t>fixed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arms: </a:t>
                </a:r>
                <a14:m>
                  <m:oMath xmlns:m="http://schemas.openxmlformats.org/officeDocument/2006/math"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 ∈ {0, 0.25, 0.55, 1}</m:t>
                    </m:r>
                  </m:oMath>
                </a14:m>
                <a:endParaRPr lang="en-US" sz="1000" dirty="0"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top-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dirty="0"/>
                  <a:t>by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1000" dirty="0"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VISUALIZE = mean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𝑠𝑒𝑙𝑒𝑐𝑡𝑒𝑑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dirty="0"/>
                  <a:t>vs pool mean (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16 </m:t>
                    </m:r>
                  </m:oMath>
                </a14:m>
                <a:r>
                  <a:rPr lang="en-US" sz="1000" dirty="0"/>
                  <a:t>bins)</a:t>
                </a:r>
                <a:endParaRPr sz="1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68096"/>
                <a:ext cx="4198462" cy="1859868"/>
              </a:xfrm>
              <a:prstGeom prst="rect">
                <a:avLst/>
              </a:prstGeom>
              <a:blipFill>
                <a:blip r:embed="rId2"/>
                <a:stretch>
                  <a:fillRect b="-1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41569" y="768096"/>
            <a:ext cx="6070244" cy="38953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1480" y="4693111"/>
                <a:ext cx="11368735" cy="657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OAT: one draw of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9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9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9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+ one assignment (seed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lang="en-US" sz="900" dirty="0"/>
                  <a:t>); only SCORE changes.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=0: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only — selection vs pool mean stays roughly monotone.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900" dirty="0"/>
                  <a:t>: congestion in score — inverted-</a:t>
                </a:r>
                <a:r>
                  <a:rPr lang="en-US" sz="900" i="1" dirty="0">
                    <a:latin typeface="Cambria Math"/>
                  </a:rPr>
                  <a:t>U</a:t>
                </a:r>
                <a:r>
                  <a:rPr lang="en-US" sz="900" dirty="0"/>
                  <a:t> / roster-pressure readout emerges.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Pairs with Pass C: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900" dirty="0"/>
                  <a:t> bends score;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900" dirty="0"/>
                  <a:t> shapes the sorted roster world.</a:t>
                </a:r>
                <a:endParaRPr sz="9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93111"/>
                <a:ext cx="11368735" cy="657424"/>
              </a:xfrm>
              <a:prstGeom prst="rect">
                <a:avLst/>
              </a:prstGeom>
              <a:blipFill>
                <a:blip r:embed="rId4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5971032"/>
                <a:ext cx="10050637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sz="1100" dirty="0"/>
                  <a:t>Claim: at fixed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dirty="0"/>
                  <a:t> and top-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1100" dirty="0"/>
                  <a:t>,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100" dirty="0"/>
                  <a:t> in score matters —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sz="1100" dirty="0"/>
                  <a:t>yields a roughly monotone talent ladder;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&gt;0 </m:t>
                    </m:r>
                  </m:oMath>
                </a14:m>
                <a:r>
                  <a:rPr sz="1100" dirty="0"/>
                  <a:t>puts roster pressure in the advancement rule and bends the curve.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10050637" cy="261610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83D4B9E0-8FFB-E771-2355-89BF49F5F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68" y="2064243"/>
            <a:ext cx="5730452" cy="35245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95EFA1-41B6-8B53-E3E4-5BBF6F3050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0564" y="2064243"/>
            <a:ext cx="5492419" cy="35245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491E68-DE53-1C63-AC6C-7E678134FCEB}"/>
                  </a:ext>
                </a:extLst>
              </p:cNvPr>
              <p:cNvSpPr txBox="1"/>
              <p:nvPr/>
            </p:nvSpPr>
            <p:spPr>
              <a:xfrm>
                <a:off x="411480" y="256032"/>
                <a:ext cx="9145645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Characterize </a:t>
                </a:r>
                <a:r>
                  <a:rPr sz="2000" i="1" dirty="0">
                    <a:latin typeface="Cambria Math"/>
                  </a:rPr>
                  <a:t>λ</a:t>
                </a:r>
                <a:r>
                  <a:rPr sz="2000" dirty="0"/>
                  <a:t> (congestion in score)</a:t>
                </a:r>
                <a:r>
                  <a:rPr lang="en-US" sz="2000" dirty="0"/>
                  <a:t>. BEFORE and AFTER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 Standardization</a:t>
                </a:r>
                <a:endParaRPr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491E68-DE53-1C63-AC6C-7E678134F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9145645" cy="400110"/>
              </a:xfrm>
              <a:prstGeom prst="rect">
                <a:avLst/>
              </a:prstGeom>
              <a:blipFill>
                <a:blip r:embed="rId4"/>
                <a:stretch>
                  <a:fillRect l="-693" t="-9375" r="-416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6199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1480" y="256032"/>
                <a:ext cx="7145995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Characterize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 </a:t>
                </a:r>
                <a:r>
                  <a:rPr sz="2000" dirty="0"/>
                  <a:t>(viability cutline) — OAT 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=10%</m:t>
                    </m:r>
                  </m:oMath>
                </a14:m>
                <a:endParaRPr sz="20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7145995" cy="400110"/>
              </a:xfrm>
              <a:prstGeom prst="rect">
                <a:avLst/>
              </a:prstGeom>
              <a:blipFill>
                <a:blip r:embed="rId2"/>
                <a:stretch>
                  <a:fillRect l="-887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79" y="768096"/>
                <a:ext cx="4615823" cy="1690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lang="en-US" sz="1100" dirty="0"/>
                  <a:t>Characterize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— one-at-a-time at 539 baseline (assign + score + top-𝐾fixed)</a:t>
                </a:r>
              </a:p>
              <a:p>
                <a:pPr>
                  <a:spcAft>
                    <a:spcPts val="0"/>
                  </a:spcAft>
                </a:pPr>
                <a:endParaRPr lang="en-US" sz="110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900" b="1" i="1" baseline="-25000" dirty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sz="1100" b="1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ar-AE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100" b="1" i="1" dirty="0">
                              <a:latin typeface="Cambria Math" panose="02040503050406030204" pitchFamily="18" charset="0"/>
                            </a:rPr>
                            <m:t>𝜸</m:t>
                          </m:r>
                          <m:d>
                            <m:dPr>
                              <m:ctrlP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ar-AE" sz="900" b="1" i="1" baseline="-25000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ar-AE" sz="1100" b="1" i="1" dirty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ar-AE" sz="11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10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:endParaRPr lang="ar-AE" sz="1100" i="1" dirty="0">
                  <a:latin typeface="Cambria Math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ar-AE" sz="1000" i="1" dirty="0" smtClean="0">
                        <a:latin typeface="Cambria Math" panose="02040503050406030204" pitchFamily="18" charset="0"/>
                      </a:rPr>
                      <m:t>=8,  </m:t>
                    </m:r>
                    <m:r>
                      <a:rPr lang="ar-AE" sz="10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ar-AE" sz="1000" i="1" dirty="0" smtClean="0">
                        <a:latin typeface="Cambria Math" panose="02040503050406030204" pitchFamily="18" charset="0"/>
                      </a:rPr>
                      <m:t>=0.55, </m:t>
                    </m:r>
                    <m:r>
                      <a:rPr lang="ar-AE" sz="1000" i="1" dirty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ar-AE" sz="1000" i="1" dirty="0">
                        <a:latin typeface="Cambria Math" panose="02040503050406030204" pitchFamily="18" charset="0"/>
                      </a:rPr>
                      <m:t> =10 </m:t>
                    </m:r>
                  </m:oMath>
                </a14:m>
                <a:r>
                  <a:rPr lang="en-US" sz="1000" dirty="0"/>
                  <a:t>fixed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arms: </a:t>
                </a:r>
                <a14:m>
                  <m:oMath xmlns:m="http://schemas.openxmlformats.org/officeDocument/2006/math">
                    <m:r>
                      <a:rPr lang="en-US" sz="1000" i="1" dirty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∈ </m:t>
                    </m:r>
                    <m:d>
                      <m:dPr>
                        <m:begChr m:val="{"/>
                        <m:endChr m:val="}"/>
                        <m:ctrlPr>
                          <a:rPr lang="ar-AE" sz="1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i="1" dirty="0" smtClean="0">
                            <a:latin typeface="Cambria Math" panose="02040503050406030204" pitchFamily="18" charset="0"/>
                          </a:rPr>
                          <m:t>0.50, 0.72, 0.90</m:t>
                        </m:r>
                      </m:e>
                    </m:d>
                  </m:oMath>
                </a14:m>
                <a:endParaRPr lang="en-US" sz="1000" i="1" dirty="0">
                  <a:latin typeface="Cambria Math" panose="02040503050406030204" pitchFamily="18" charset="0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ar-AE" sz="1000" i="0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ar-AE" sz="1000" i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ar-AE" sz="1000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ar-AE" sz="1000" i="0" dirty="0" smtClean="0">
                        <a:latin typeface="Cambria Math" panose="02040503050406030204" pitchFamily="18" charset="0"/>
                      </a:rPr>
                      <m:t>= 10% (</m:t>
                    </m:r>
                    <m:r>
                      <m:rPr>
                        <m:sty m:val="p"/>
                      </m:rPr>
                      <a:rPr lang="ar-AE" sz="1000" i="0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ar-AE" sz="1000" i="0" dirty="0" smtClean="0">
                        <a:latin typeface="Cambria Math" panose="02040503050406030204" pitchFamily="18" charset="0"/>
                      </a:rPr>
                      <m:t>=560, </m:t>
                    </m:r>
                    <m:r>
                      <m:rPr>
                        <m:sty m:val="p"/>
                      </m:rPr>
                      <a:rPr lang="ar-AE" sz="1000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ar-AE" sz="1000" i="0" dirty="0" smtClean="0">
                        <a:latin typeface="Cambria Math" panose="02040503050406030204" pitchFamily="18" charset="0"/>
                      </a:rPr>
                      <m:t>=5600)</m:t>
                    </m:r>
                  </m:oMath>
                </a14:m>
                <a:endParaRPr lang="en-US" sz="10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000" dirty="0"/>
                  <a:t>VISUALIZE = mean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𝑠𝑒𝑙𝑒𝑐𝑡𝑒𝑑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dirty="0"/>
                  <a:t>vs pool mean (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16 </m:t>
                    </m:r>
                  </m:oMath>
                </a14:m>
                <a:r>
                  <a:rPr lang="en-US" sz="1000" dirty="0"/>
                  <a:t>bins)</a:t>
                </a:r>
                <a:endParaRPr sz="1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79" y="768096"/>
                <a:ext cx="4615823" cy="1690335"/>
              </a:xfrm>
              <a:prstGeom prst="rect">
                <a:avLst/>
              </a:prstGeom>
              <a:blipFill>
                <a:blip r:embed="rId3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7039" y="768096"/>
            <a:ext cx="6859304" cy="38953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1480" y="4681728"/>
                <a:ext cx="1136873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OAT: soft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=8, 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=0.55, 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=10 </m:t>
                    </m:r>
                  </m:oMath>
                </a14:m>
                <a:r>
                  <a:rPr lang="en-US" sz="900" dirty="0"/>
                  <a:t>fixed; only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900" dirty="0"/>
                  <a:t> in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sz="900" dirty="0"/>
                  <a:t>changes.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=0.50 </m:t>
                    </m:r>
                  </m:oMath>
                </a14:m>
                <a:r>
                  <a:rPr lang="en-US" sz="900" dirty="0"/>
                  <a:t>: mid-pool hump (peak bin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lang="en-US" sz="900" dirty="0"/>
                  <a:t>).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=0.72 </m:t>
                    </m:r>
                  </m:oMath>
                </a14:m>
                <a:r>
                  <a:rPr lang="en-US" sz="900" dirty="0"/>
                  <a:t>(539 default): similar hump, slightly higher peak rate.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=0.90 </m:t>
                    </m:r>
                  </m:oMath>
                </a14:m>
                <a:r>
                  <a:rPr lang="en-US" sz="900" dirty="0"/>
                  <a:t>: top bins dominate — curve becomes monotone-increasing at the elite edge.</a:t>
                </a:r>
                <a:endParaRPr sz="9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81728"/>
                <a:ext cx="11368735" cy="646331"/>
              </a:xfrm>
              <a:prstGeom prst="rect">
                <a:avLst/>
              </a:prstGeom>
              <a:blipFill>
                <a:blip r:embed="rId5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5971032"/>
                <a:ext cx="8513421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lang="en-US" sz="1100" dirty="0"/>
                  <a:t>Claim: at fixed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100" i="0" dirty="0" smtClean="0">
                        <a:latin typeface="Cambria Math" panose="02040503050406030204" pitchFamily="18" charset="0"/>
                      </a:rPr>
                      <m:t>𝐚𝐧𝐝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=10%, </m:t>
                    </m:r>
                    <m:r>
                      <a:rPr lang="en-US" sz="11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(viability cutline) moves the readout — low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 keeps a mid-pool hump; high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 top-saturates the curve.</a:t>
                </a:r>
                <a:endParaRPr sz="11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8513421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95C14B21-1935-8A37-FCA4-D1B360798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94" y="2539696"/>
            <a:ext cx="5695356" cy="32343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D2C586-E985-9F9A-9349-1E59BFFB50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66850" y="2543631"/>
            <a:ext cx="5695356" cy="32264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D25124-0E95-D7D6-E265-0A8ABF3FCF56}"/>
                  </a:ext>
                </a:extLst>
              </p:cNvPr>
              <p:cNvSpPr txBox="1"/>
              <p:nvPr/>
            </p:nvSpPr>
            <p:spPr>
              <a:xfrm>
                <a:off x="411480" y="256032"/>
                <a:ext cx="9983246" cy="52777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lang="en-US" sz="2000" dirty="0"/>
                  <a:t>Phase B — Characterize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 (viability cutline) — OAT 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00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ar-AE" sz="200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ar-AE" sz="2000" i="1" dirty="0" smtClean="0">
                        <a:latin typeface="Cambria Math" panose="02040503050406030204" pitchFamily="18" charset="0"/>
                      </a:rPr>
                      <m:t>=10%</m:t>
                    </m:r>
                  </m:oMath>
                </a14:m>
                <a:r>
                  <a:rPr lang="en-US" sz="2000" i="1" dirty="0">
                    <a:latin typeface="Cambria Math"/>
                  </a:rPr>
                  <a:t> COMPARE with COMPUTED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sz="20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D25124-0E95-D7D6-E265-0A8ABF3FC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9983246" cy="527773"/>
              </a:xfrm>
              <a:prstGeom prst="rect">
                <a:avLst/>
              </a:prstGeom>
              <a:blipFill>
                <a:blip r:embed="rId4"/>
                <a:stretch>
                  <a:fillRect l="-635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4239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E311A-4434-F6F0-8F94-73C67C39A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5B8C41-7DF7-E2AC-9273-4A08C9AA69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15244" y="1301496"/>
            <a:ext cx="6566437" cy="38953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2D3A5A5-7FE9-7D3E-559F-4A64A1350D02}"/>
                  </a:ext>
                </a:extLst>
              </p:cNvPr>
              <p:cNvSpPr txBox="1"/>
              <p:nvPr/>
            </p:nvSpPr>
            <p:spPr>
              <a:xfrm>
                <a:off x="411480" y="256032"/>
                <a:ext cx="6172780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Characterize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000" dirty="0"/>
                  <a:t>— panel with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000" dirty="0"/>
                  <a:t>(selectivity)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2D3A5A5-7FE9-7D3E-559F-4A64A1350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6172780" cy="400110"/>
              </a:xfrm>
              <a:prstGeom prst="rect">
                <a:avLst/>
              </a:prstGeom>
              <a:blipFill>
                <a:blip r:embed="rId3"/>
                <a:stretch>
                  <a:fillRect l="-1027" t="-9375" r="-1027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B2E278-9E3D-FFBF-A763-4CC9CE1D47DF}"/>
                  </a:ext>
                </a:extLst>
              </p:cNvPr>
              <p:cNvSpPr txBox="1"/>
              <p:nvPr/>
            </p:nvSpPr>
            <p:spPr>
              <a:xfrm>
                <a:off x="411480" y="768096"/>
                <a:ext cx="5154598" cy="1697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lang="en-US" sz="1100" dirty="0"/>
                  <a:t>Characterize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 — one-at-a-time at 539 baseline (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varies; assign + score rule fixed)</a:t>
                </a:r>
              </a:p>
              <a:p>
                <a:pPr>
                  <a:spcAft>
                    <a:spcPts val="0"/>
                  </a:spcAft>
                </a:pPr>
                <a:endParaRPr lang="en-US" sz="110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900" b="1" i="1" baseline="-25000" dirty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sz="1100" b="1" i="1" dirty="0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0" dirty="0" smtClean="0">
                              <a:latin typeface="Cambria Math" panose="02040503050406030204" pitchFamily="18" charset="0"/>
                            </a:rPr>
                            <m:t>𝐦𝐞𝐚𝐧</m:t>
                          </m:r>
                        </m:e>
                        <m:sub>
                          <m:r>
                            <a:rPr lang="en-US" sz="1100" b="1" i="0" dirty="0" smtClean="0">
                              <a:latin typeface="Cambria Math" panose="02040503050406030204" pitchFamily="18" charset="0"/>
                            </a:rPr>
                            <m:t>𝐣</m:t>
                          </m:r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1100" b="1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1" i="1" dirty="0" err="1" smtClean="0">
                          <a:latin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𝜸</m:t>
                          </m:r>
                          <m:d>
                            <m:dPr>
                              <m:ctrlP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100" b="1" i="1" dirty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ar-AE" sz="900" b="1" i="1" baseline="-25000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ar-AE" sz="1100" b="1" i="1" dirty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1100" b="1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:endParaRPr lang="ar-AE" sz="1100" b="1" i="1" dirty="0">
                  <a:latin typeface="Cambria Math" panose="02040503050406030204" pitchFamily="18" charset="0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fixed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 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— heatmap = peak pool-mean bin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Readout: where the inverted-</a:t>
                </a:r>
                <a:r>
                  <a:rPr lang="en-US" sz="1000" i="1" dirty="0">
                    <a:latin typeface="Cambria Math"/>
                  </a:rPr>
                  <a:t>U</a:t>
                </a:r>
                <a:r>
                  <a:rPr lang="en-US" sz="1000" dirty="0"/>
                  <a:t> peak sits vs selectivity</a:t>
                </a:r>
                <a:endParaRPr sz="1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B2E278-9E3D-FFBF-A763-4CC9CE1D4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68096"/>
                <a:ext cx="5154598" cy="1697068"/>
              </a:xfrm>
              <a:prstGeom prst="rect">
                <a:avLst/>
              </a:prstGeom>
              <a:blipFill>
                <a:blip r:embed="rId4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5CD7F4-89DE-1758-936C-551CCC8DF70D}"/>
                  </a:ext>
                </a:extLst>
              </p:cNvPr>
              <p:cNvSpPr txBox="1"/>
              <p:nvPr/>
            </p:nvSpPr>
            <p:spPr>
              <a:xfrm>
                <a:off x="411480" y="4681728"/>
                <a:ext cx="11368735" cy="784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Grid: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∈ </m:t>
                    </m:r>
                    <m:d>
                      <m:dPr>
                        <m:begChr m:val="{"/>
                        <m:endChr m:val="}"/>
                        <m:ctrlPr>
                          <a:rPr lang="ar-AE" sz="9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900" i="1" dirty="0">
                            <a:latin typeface="Cambria Math" panose="02040503050406030204" pitchFamily="18" charset="0"/>
                          </a:rPr>
                          <m:t>0.50, 0.72, 0.90</m:t>
                        </m:r>
                      </m:e>
                    </m:d>
                    <m:r>
                      <a:rPr lang="en-US" sz="9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90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9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 ∈ {1%, 10%, 40%} </m:t>
                    </m:r>
                  </m:oMath>
                </a14:m>
                <a:r>
                  <a:rPr lang="en-US" sz="900" dirty="0"/>
                  <a:t>on </a:t>
                </a:r>
                <a:r>
                  <a:rPr lang="en-US" sz="900" i="1" dirty="0">
                    <a:latin typeface="Cambria Math"/>
                  </a:rPr>
                  <a:t>N=5600</a:t>
                </a:r>
                <a:r>
                  <a:rPr lang="en-US"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At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=1%: </m:t>
                    </m:r>
                  </m:oMath>
                </a14:m>
                <a:r>
                  <a:rPr lang="en-US" sz="900" dirty="0"/>
                  <a:t>peak bin rises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6 →9 →12 </m:t>
                    </m:r>
                  </m:oMath>
                </a14:m>
                <a:r>
                  <a:rPr lang="en-US" sz="900" dirty="0"/>
                  <a:t>as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increases.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900" i="0" dirty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a:rPr lang="en-US" sz="90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=10%: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=0.90 </m:t>
                    </m:r>
                  </m:oMath>
                </a14:m>
                <a:r>
                  <a:rPr lang="en-US" sz="900" dirty="0"/>
                  <a:t>pushes peak to bin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900" dirty="0"/>
                  <a:t> (top saturation).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At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=40%</m:t>
                    </m:r>
                  </m:oMath>
                </a14:m>
                <a:r>
                  <a:rPr lang="en-US" sz="900" dirty="0"/>
                  <a:t>: all arms peak at bin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900" dirty="0"/>
                  <a:t> — selectivity dominates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Do not fix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900" dirty="0"/>
                  <a:t>without Alex — panel is descriptive.</a:t>
                </a:r>
                <a:endParaRPr sz="9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5CD7F4-89DE-1758-936C-551CCC8DF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81728"/>
                <a:ext cx="11368735" cy="784830"/>
              </a:xfrm>
              <a:prstGeom prst="rect">
                <a:avLst/>
              </a:prstGeom>
              <a:blipFill>
                <a:blip r:embed="rId5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E2F838-57E1-F3AF-4EEF-DD9761CB242D}"/>
                  </a:ext>
                </a:extLst>
              </p:cNvPr>
              <p:cNvSpPr txBox="1"/>
              <p:nvPr/>
            </p:nvSpPr>
            <p:spPr>
              <a:xfrm>
                <a:off x="411480" y="5971032"/>
                <a:ext cx="9676047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sz="1100" dirty="0"/>
                  <a:t>Claim: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dirty="0"/>
                  <a:t> and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100" dirty="0"/>
                  <a:t>co-vary — at MBB-like selectivity (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1%</m:t>
                    </m:r>
                  </m:oMath>
                </a14:m>
                <a:r>
                  <a:rPr sz="1100" dirty="0"/>
                  <a:t>) raising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dirty="0"/>
                  <a:t> shifts peak bin up the pool ladder; at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40%</m:t>
                    </m:r>
                  </m:oMath>
                </a14:m>
                <a:r>
                  <a:rPr sz="1100" dirty="0"/>
                  <a:t> selectivity curves are top-saturated regardless of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E2F838-57E1-F3AF-4EEF-DD9761CB2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9676047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2164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A2A68C-923B-A757-C233-2B870BFF66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9217" y="2210594"/>
            <a:ext cx="5391314" cy="31982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8D90B7-F2D7-B6E3-DE55-96ADF9AA45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91471" y="2228801"/>
            <a:ext cx="5391314" cy="31618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6F594C-6911-B0BE-B1F6-4932F1F8F18C}"/>
                  </a:ext>
                </a:extLst>
              </p:cNvPr>
              <p:cNvSpPr txBox="1"/>
              <p:nvPr/>
            </p:nvSpPr>
            <p:spPr>
              <a:xfrm>
                <a:off x="411480" y="256032"/>
                <a:ext cx="9603398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Characterize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000" dirty="0"/>
                  <a:t>— panel with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000" dirty="0"/>
                  <a:t>(selectivity)</a:t>
                </a:r>
                <a:r>
                  <a:rPr lang="en-US" sz="2000" dirty="0"/>
                  <a:t> - </a:t>
                </a:r>
                <a:r>
                  <a:rPr lang="en-US" sz="2000" i="1" dirty="0">
                    <a:latin typeface="Cambria Math"/>
                  </a:rPr>
                  <a:t>COMPARE with COMPUTED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6F594C-6911-B0BE-B1F6-4932F1F8F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9603398" cy="400110"/>
              </a:xfrm>
              <a:prstGeom prst="rect">
                <a:avLst/>
              </a:prstGeom>
              <a:blipFill>
                <a:blip r:embed="rId4"/>
                <a:stretch>
                  <a:fillRect l="-661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7026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268" y="768096"/>
            <a:ext cx="6882846" cy="38953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1480" y="256032"/>
                <a:ext cx="6172780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Characterize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000" dirty="0"/>
                  <a:t>— panel with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000" dirty="0"/>
                  <a:t>(selectivity)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6172780" cy="400110"/>
              </a:xfrm>
              <a:prstGeom prst="rect">
                <a:avLst/>
              </a:prstGeom>
              <a:blipFill>
                <a:blip r:embed="rId3"/>
                <a:stretch>
                  <a:fillRect l="-1027" t="-9375" r="-1027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80" y="768096"/>
                <a:ext cx="5154598" cy="1697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lang="en-US" sz="1100" dirty="0"/>
                  <a:t>Characterize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100" dirty="0"/>
                  <a:t> — one-at-a-time at 539 baseline (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varies; assign + score rule fixed)</a:t>
                </a:r>
              </a:p>
              <a:p>
                <a:pPr>
                  <a:spcAft>
                    <a:spcPts val="0"/>
                  </a:spcAft>
                </a:pPr>
                <a:endParaRPr lang="en-US" sz="1100" b="1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sz="900" b="1" i="1" baseline="-25000" dirty="0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1" i="0" dirty="0" smtClean="0">
                              <a:latin typeface="Cambria Math" panose="02040503050406030204" pitchFamily="18" charset="0"/>
                            </a:rPr>
                            <m:t>𝐦𝐞𝐚𝐧</m:t>
                          </m:r>
                        </m:e>
                        <m:sub>
                          <m:r>
                            <a:rPr lang="en-US" sz="1100" b="1" i="0" dirty="0" smtClean="0">
                              <a:latin typeface="Cambria Math" panose="02040503050406030204" pitchFamily="18" charset="0"/>
                            </a:rPr>
                            <m:t>𝐣</m:t>
                          </m:r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1100" b="1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𝜸</m:t>
                          </m:r>
                          <m:d>
                            <m:dPr>
                              <m:ctrlP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ar-AE" sz="900" b="1" i="1" baseline="-25000" dirty="0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ar-AE" sz="1100" b="1" i="1" dirty="0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1100" b="1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:endParaRPr lang="ar-AE" sz="1100" b="1" i="1" dirty="0">
                  <a:latin typeface="Cambria Math" panose="02040503050406030204" pitchFamily="18" charset="0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fixed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 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— heatmap = peak pool-mean bin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Readout: where the inverted-</a:t>
                </a:r>
                <a:r>
                  <a:rPr lang="en-US" sz="1000" i="1" dirty="0">
                    <a:latin typeface="Cambria Math"/>
                  </a:rPr>
                  <a:t>U</a:t>
                </a:r>
                <a:r>
                  <a:rPr lang="en-US" sz="1000" dirty="0"/>
                  <a:t> peak sits vs selectivity</a:t>
                </a:r>
                <a:endParaRPr sz="1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68096"/>
                <a:ext cx="5154598" cy="1697068"/>
              </a:xfrm>
              <a:prstGeom prst="rect">
                <a:avLst/>
              </a:prstGeom>
              <a:blipFill>
                <a:blip r:embed="rId4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1480" y="4681728"/>
                <a:ext cx="11368735" cy="784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Grid: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∈ </m:t>
                    </m:r>
                    <m:d>
                      <m:dPr>
                        <m:begChr m:val="{"/>
                        <m:endChr m:val="}"/>
                        <m:ctrlPr>
                          <a:rPr lang="ar-AE" sz="9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900" i="1" dirty="0">
                            <a:latin typeface="Cambria Math" panose="02040503050406030204" pitchFamily="18" charset="0"/>
                          </a:rPr>
                          <m:t>0.50, 0.72, 0.90</m:t>
                        </m:r>
                      </m:e>
                    </m:d>
                    <m:r>
                      <a:rPr lang="en-US" sz="9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90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9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ar-AE" sz="900" i="1" dirty="0">
                        <a:latin typeface="Cambria Math" panose="02040503050406030204" pitchFamily="18" charset="0"/>
                      </a:rPr>
                      <m:t> ∈ {1%, 10%, 40%} </m:t>
                    </m:r>
                  </m:oMath>
                </a14:m>
                <a:r>
                  <a:rPr lang="en-US" sz="900" dirty="0"/>
                  <a:t>on </a:t>
                </a:r>
                <a:r>
                  <a:rPr lang="en-US" sz="900" i="1" dirty="0">
                    <a:latin typeface="Cambria Math"/>
                  </a:rPr>
                  <a:t>N=5600</a:t>
                </a:r>
                <a:r>
                  <a:rPr lang="en-US"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At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=1%: </m:t>
                    </m:r>
                  </m:oMath>
                </a14:m>
                <a:r>
                  <a:rPr lang="en-US" sz="900" dirty="0"/>
                  <a:t>peak bin rises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6 →9 →12 </m:t>
                    </m:r>
                  </m:oMath>
                </a14:m>
                <a:r>
                  <a:rPr lang="en-US" sz="900" dirty="0"/>
                  <a:t>as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increases.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900" i="0" dirty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a:rPr lang="en-US" sz="90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=10%: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=0.90 </m:t>
                    </m:r>
                  </m:oMath>
                </a14:m>
                <a:r>
                  <a:rPr lang="en-US" sz="900" dirty="0"/>
                  <a:t>pushes peak to bin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900" dirty="0"/>
                  <a:t> (top saturation).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At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=40%</m:t>
                    </m:r>
                  </m:oMath>
                </a14:m>
                <a:r>
                  <a:rPr lang="en-US" sz="900" dirty="0"/>
                  <a:t>: all arms peak at bin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900" dirty="0"/>
                  <a:t> — selectivity dominates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dirty="0"/>
                  <a:t>Do not fix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900" dirty="0"/>
                  <a:t>without Alex — panel is descriptive.</a:t>
                </a:r>
                <a:endParaRPr sz="9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81728"/>
                <a:ext cx="11368735" cy="784830"/>
              </a:xfrm>
              <a:prstGeom prst="rect">
                <a:avLst/>
              </a:prstGeom>
              <a:blipFill>
                <a:blip r:embed="rId5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5971032"/>
                <a:ext cx="9676047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sz="1100" dirty="0"/>
                  <a:t>Claim: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dirty="0"/>
                  <a:t> and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100" dirty="0"/>
                  <a:t>co-vary — at MBB-like selectivity (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1%</m:t>
                    </m:r>
                  </m:oMath>
                </a14:m>
                <a:r>
                  <a:rPr sz="1100" dirty="0"/>
                  <a:t>) raising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dirty="0"/>
                  <a:t> shifts peak bin up the pool ladder; at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40%</m:t>
                    </m:r>
                  </m:oMath>
                </a14:m>
                <a:r>
                  <a:rPr sz="1100" dirty="0"/>
                  <a:t> selectivity curves are top-saturated regardless of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9676047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360" y="1100314"/>
            <a:ext cx="8436855" cy="28797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1480" y="256032"/>
                <a:ext cx="7072385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Characterize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2000" dirty="0"/>
                  <a:t> </a:t>
                </a:r>
                <a:r>
                  <a:rPr sz="2000" dirty="0"/>
                  <a:t>(viability sharpness) — selection curves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7072385" cy="400110"/>
              </a:xfrm>
              <a:prstGeom prst="rect">
                <a:avLst/>
              </a:prstGeom>
              <a:blipFill>
                <a:blip r:embed="rId3"/>
                <a:stretch>
                  <a:fillRect l="-896" t="-9375" r="-717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80" y="768096"/>
                <a:ext cx="4160520" cy="18818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lang="en-US" sz="1100" dirty="0"/>
                  <a:t>Characterize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100" dirty="0"/>
                  <a:t>— one-at-a-time (539 sort-and-chop benchmark)</a:t>
                </a:r>
              </a:p>
              <a:p>
                <a:pPr>
                  <a:spcAft>
                    <a:spcPts val="0"/>
                  </a:spcAft>
                </a:pPr>
                <a:endParaRPr lang="en-US" sz="110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ar-AE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  <m:r>
                            <a:rPr lang="ar-AE" sz="900" b="1" i="1" baseline="300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900" b="1" i="1" baseline="30000" dirty="0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  <m:r>
                        <a:rPr lang="ar-AE" sz="1100" b="1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sz="1100" b="1" i="1" dirty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ar-AE" sz="1100" b="1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ar-AE" sz="1100" b="1" i="1" dirty="0">
                          <a:latin typeface="Cambria Math" panose="02040503050406030204" pitchFamily="18" charset="0"/>
                        </a:rPr>
                        <m:t>𝜸</m:t>
                      </m:r>
                      <m:d>
                        <m:dPr>
                          <m:ctrlPr>
                            <a:rPr lang="ar-AE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1100" b="1" i="1" dirty="0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US" sz="1100" i="1" dirty="0">
                  <a:latin typeface="Cambria Math" panose="02040503050406030204" pitchFamily="18" charset="0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ar-AE" sz="1000" i="1" dirty="0">
                  <a:latin typeface="Cambria Math" panose="02040503050406030204" pitchFamily="18" charset="0"/>
                </a:endParaRP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sz="10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ar-AE" sz="1000" i="1" dirty="0" smtClean="0">
                        <a:latin typeface="Cambria Math" panose="02040503050406030204" pitchFamily="18" charset="0"/>
                      </a:rPr>
                      <m:t>=0.72 </m:t>
                    </m:r>
                  </m:oMath>
                </a14:m>
                <a:r>
                  <a:rPr lang="en-US" sz="1000" dirty="0"/>
                  <a:t>fixed; sort-and-chop assign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arms: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∈ </m:t>
                    </m:r>
                    <m:d>
                      <m:dPr>
                        <m:begChr m:val="{"/>
                        <m:endChr m:val="}"/>
                        <m:ctrlPr>
                          <a:rPr lang="ar-AE" sz="1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i="1" dirty="0" smtClean="0">
                            <a:latin typeface="Cambria Math" panose="02040503050406030204" pitchFamily="18" charset="0"/>
                          </a:rPr>
                          <m:t>5, 10, 20</m:t>
                        </m:r>
                      </m:e>
                    </m:d>
                  </m:oMath>
                </a14:m>
                <a:endParaRPr lang="en-US" sz="1000" dirty="0"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within each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 ∈ </m:t>
                    </m:r>
                    <m:d>
                      <m:dPr>
                        <m:begChr m:val="{"/>
                        <m:endChr m:val="}"/>
                        <m:ctrlPr>
                          <a:rPr lang="ar-AE" sz="1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i="1" dirty="0" smtClean="0">
                            <a:latin typeface="Cambria Math" panose="02040503050406030204" pitchFamily="18" charset="0"/>
                          </a:rPr>
                          <m:t>0, 0.25, 0.55, 0.75, 1.0</m:t>
                        </m:r>
                      </m:e>
                    </m:d>
                  </m:oMath>
                </a14:m>
                <a:endParaRPr lang="en-US" sz="1000" dirty="0"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/>
                  <a:t>VISUALIZE = mean </a:t>
                </a:r>
                <a:r>
                  <a:rPr lang="en-US" sz="1000" i="1" dirty="0">
                    <a:latin typeface="Cambria Math"/>
                  </a:rPr>
                  <a:t>Y</a:t>
                </a:r>
                <a:r>
                  <a:rPr lang="en-US" sz="800" i="1" baseline="-25000" dirty="0">
                    <a:latin typeface="Cambria Math"/>
                  </a:rPr>
                  <a:t>selected</a:t>
                </a:r>
                <a:r>
                  <a:rPr lang="en-US" sz="1000" dirty="0"/>
                  <a:t> vs pool mean (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16 </m:t>
                    </m:r>
                  </m:oMath>
                </a14:m>
                <a:r>
                  <a:rPr lang="en-US" sz="1000" dirty="0"/>
                  <a:t>bins)</a:t>
                </a:r>
                <a:endParaRPr sz="1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68096"/>
                <a:ext cx="4160520" cy="1881862"/>
              </a:xfrm>
              <a:prstGeom prst="rect">
                <a:avLst/>
              </a:prstGeom>
              <a:blipFill>
                <a:blip r:embed="rId4"/>
                <a:stretch>
                  <a:fillRect b="-13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1480" y="4681728"/>
                <a:ext cx="11368735" cy="784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dirty="0"/>
                  <a:t>Sort-and-chop benchmark: same rosters per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900" dirty="0"/>
                  <a:t>; only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900" dirty="0"/>
                  <a:t>and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900" dirty="0"/>
                  <a:t> in score change.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=5: </m:t>
                    </m:r>
                    <m:r>
                      <a:rPr lang="en-US" sz="900" i="1" dirty="0" err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8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≈0.8 </m:t>
                    </m:r>
                  </m:oMath>
                </a14:m>
                <a:r>
                  <a:rPr sz="900" dirty="0"/>
                  <a:t>— hump needs larger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=10 </m:t>
                    </m:r>
                    <m:d>
                      <m:dPr>
                        <m:ctrlPr>
                          <a:rPr lang="en-US" sz="9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900" i="1" dirty="0" smtClean="0">
                            <a:latin typeface="Cambria Math" panose="02040503050406030204" pitchFamily="18" charset="0"/>
                          </a:rPr>
                          <m:t>539</m:t>
                        </m:r>
                      </m:e>
                    </m:d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900" i="1" dirty="0" err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8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≈0.4 </m:t>
                    </m:r>
                  </m:oMath>
                </a14:m>
                <a:r>
                  <a:rPr sz="900" dirty="0"/>
                  <a:t>— curve morph near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≳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0.4</m:t>
                    </m:r>
                  </m:oMath>
                </a14:m>
                <a:r>
                  <a:rPr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=20: </m:t>
                    </m:r>
                    <m:r>
                      <a:rPr lang="en-US" sz="900" i="1" dirty="0" err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8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≈0.2 </m:t>
                    </m:r>
                  </m:oMath>
                </a14:m>
                <a:r>
                  <a:rPr sz="900" dirty="0"/>
                  <a:t>— congestion reorders at modest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dirty="0"/>
                  <a:t>Below crit: monotone elite-edge shape; above crit: inverted-</a:t>
                </a:r>
                <a:r>
                  <a:rPr sz="900" i="1" dirty="0">
                    <a:latin typeface="Cambria Math"/>
                  </a:rPr>
                  <a:t>U</a:t>
                </a:r>
                <a:r>
                  <a:rPr sz="900" dirty="0"/>
                  <a:t> / hump.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81728"/>
                <a:ext cx="11368735" cy="784830"/>
              </a:xfrm>
              <a:prstGeom prst="rect">
                <a:avLst/>
              </a:prstGeom>
              <a:blipFill>
                <a:blip r:embed="rId5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5971032"/>
                <a:ext cx="8613384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lang="en-US" sz="1100" dirty="0"/>
                  <a:t>Claim: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100" dirty="0"/>
                  <a:t> (sigmoid slope in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100" dirty="0"/>
                  <a:t>) shifts when congestion bites — higher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100" dirty="0"/>
                  <a:t> lowers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 ≈4/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100" dirty="0"/>
                  <a:t> on sort-and-chop; below crit,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arms can look identical.</a:t>
                </a:r>
                <a:endParaRPr sz="11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8613384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11480" y="256032"/>
                <a:ext cx="5165966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2000" dirty="0"/>
                  <a:t>Phase B —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8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≈4/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2000" dirty="0"/>
                  <a:t>  </a:t>
                </a:r>
                <a:r>
                  <a:rPr sz="2000" dirty="0"/>
                  <a:t>(sort-and-chop algebra)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56032"/>
                <a:ext cx="5165966" cy="400110"/>
              </a:xfrm>
              <a:prstGeom prst="rect">
                <a:avLst/>
              </a:prstGeom>
              <a:blipFill>
                <a:blip r:embed="rId2"/>
                <a:stretch>
                  <a:fillRect l="-1225" t="-9375" r="-24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1480" y="768096"/>
                <a:ext cx="4160520" cy="18816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defRPr b="1"/>
                </a:pPr>
                <a:r>
                  <a:rPr sz="1100" dirty="0"/>
                  <a:t>Characterize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1100" dirty="0"/>
                  <a:t>— one-at-a-time (539 sort-and-chop benchmark)</a:t>
                </a:r>
              </a:p>
              <a:p>
                <a:pPr>
                  <a:spcAft>
                    <a:spcPts val="0"/>
                  </a:spcAft>
                </a:pPr>
                <a:endParaRPr lang="en-US" sz="1100" b="1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  <m:r>
                            <a:rPr lang="en-US" sz="900" b="1" i="1" baseline="30000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900" b="1" i="1" baseline="30000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100" b="1" i="1" dirty="0" smtClean="0">
                          <a:latin typeface="Cambria Math" panose="02040503050406030204" pitchFamily="18" charset="0"/>
                        </a:rPr>
                        <m:t>𝜸</m:t>
                      </m:r>
                      <m:d>
                        <m:dPr>
                          <m:ctrlP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100" b="1" i="1" dirty="0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en-US" sz="1000" dirty="0"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sz="1000" dirty="0"/>
                  <a:t>Educational: how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000" dirty="0"/>
                  <a:t> </a:t>
                </a:r>
                <a:r>
                  <a:rPr sz="1000" dirty="0"/>
                  <a:t>shapes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800" i="1" baseline="-25000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1000" dirty="0"/>
                  <a:t> along ability axis</a:t>
                </a:r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sz="1000" dirty="0"/>
                  <a:t>vertical lines: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8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4/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000" dirty="0"/>
                  <a:t>for each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sz="1000" dirty="0"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sz="1000" dirty="0"/>
                  <a:t>539 defaults: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=0.72, 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=10 → 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 = 0.4</m:t>
                    </m:r>
                  </m:oMath>
                </a14:m>
                <a:endParaRPr sz="1000" dirty="0"/>
              </a:p>
              <a:p>
                <a:pPr marL="171450" indent="-171450">
                  <a:lnSpc>
                    <a:spcPct val="15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sz="1000" dirty="0"/>
                  <a:t>Pairs with sort-and-chop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000" dirty="0"/>
                  <a:t>threshold memo (doc 06)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768096"/>
                <a:ext cx="4160520" cy="1881605"/>
              </a:xfrm>
              <a:prstGeom prst="rect">
                <a:avLst/>
              </a:prstGeom>
              <a:blipFill>
                <a:blip r:embed="rId3"/>
                <a:stretch>
                  <a:fillRect b="-13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768096"/>
            <a:ext cx="7007047" cy="31772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1480" y="4681728"/>
                <a:ext cx="11368735" cy="802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dirty="0"/>
                  <a:t>Soft viability: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9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900" i="1" dirty="0" smtClean="0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sz="9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90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90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90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sz="900" dirty="0"/>
                  <a:t>— not a hard step;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900" dirty="0"/>
                  <a:t> </a:t>
                </a:r>
                <a:r>
                  <a:rPr sz="900" dirty="0"/>
                  <a:t>sets knee steepness.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dirty="0"/>
                  <a:t>On sort-and-chop, </a:t>
                </a:r>
                <a:r>
                  <a:rPr sz="900" i="1" dirty="0">
                    <a:latin typeface="Cambria Math"/>
                  </a:rPr>
                  <a:t>A</a:t>
                </a:r>
                <a:r>
                  <a:rPr sz="800" i="1" baseline="-25000" dirty="0">
                    <a:latin typeface="Cambria Math"/>
                  </a:rPr>
                  <a:t>i</a:t>
                </a:r>
                <a:r>
                  <a:rPr sz="900" i="1" dirty="0">
                    <a:latin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sz="900" i="1" dirty="0">
                    <a:latin typeface="Cambria Math"/>
                  </a:rPr>
                  <a:t>L</a:t>
                </a:r>
                <a:r>
                  <a:rPr sz="800" i="1" baseline="-25000" dirty="0">
                    <a:latin typeface="Cambria Math"/>
                  </a:rPr>
                  <a:t>C</a:t>
                </a:r>
                <a:r>
                  <a:rPr sz="900" dirty="0"/>
                  <a:t> within teams → small </a:t>
                </a:r>
                <a:r>
                  <a:rPr sz="900" i="1" dirty="0">
                    <a:latin typeface="Cambria Math"/>
                  </a:rPr>
                  <a:t>λ</a:t>
                </a:r>
                <a:r>
                  <a:rPr sz="900" dirty="0"/>
                  <a:t> may not reorder top-</a:t>
                </a:r>
                <a:r>
                  <a:rPr sz="900" i="1" dirty="0">
                    <a:latin typeface="Cambria Math"/>
                  </a:rPr>
                  <a:t>K</a:t>
                </a:r>
                <a:r>
                  <a:rPr sz="900" dirty="0"/>
                  <a:t>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800" i="1" baseline="-25000" dirty="0" err="1" smtClean="0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900" dirty="0"/>
                  <a:t> :  </a:t>
                </a:r>
                <a:r>
                  <a:rPr sz="900" dirty="0"/>
                  <a:t>first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900" dirty="0"/>
                  <a:t> where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80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900" dirty="0"/>
                  <a:t>changes who gets selected.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dirty="0"/>
                  <a:t>Visual curve departure in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900" dirty="0"/>
                  <a:t> bins can lag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8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900" dirty="0"/>
                  <a:t>— use finer bins or check reorder.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dirty="0"/>
                  <a:t>Ties to Alex Q: why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900" dirty="0"/>
                  <a:t> and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sz="900" dirty="0"/>
                  <a:t> match until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 &gt;4/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9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681728"/>
                <a:ext cx="11368735" cy="8026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" y="5971032"/>
                <a:ext cx="9006312" cy="2616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sz="1100" dirty="0"/>
                  <a:t>Claim: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900" i="1" baseline="-25000" dirty="0" err="1">
                        <a:latin typeface="Cambria Math" panose="02040503050406030204" pitchFamily="18" charset="0"/>
                      </a:rPr>
                      <m:t>𝑐𝑟𝑖𝑡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4/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100" dirty="0"/>
                  <a:t> </a:t>
                </a:r>
                <a:r>
                  <a:rPr sz="1100" dirty="0"/>
                  <a:t>is the first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100" dirty="0"/>
                  <a:t> where score reorder beats talent-only on sort-and-chop — not when the curve visually departs from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sz="1100" dirty="0"/>
                  <a:t>in coarse bins.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971032"/>
                <a:ext cx="9006312" cy="26161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20040" y="164592"/>
                <a:ext cx="9605963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sz="1800" dirty="0"/>
                  <a:t>Phase B — Team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60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800" dirty="0"/>
                  <a:t>vs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800" dirty="0"/>
                  <a:t> (PD16 Sketch A)</a:t>
                </a:r>
                <a:r>
                  <a:rPr lang="en-US" sz="1800" dirty="0"/>
                  <a:t> --   How Congestion alone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/>
                  <a:t> varies with change in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endParaRPr sz="18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164592"/>
                <a:ext cx="9605963" cy="369332"/>
              </a:xfrm>
              <a:prstGeom prst="rect">
                <a:avLst/>
              </a:prstGeom>
              <a:blipFill>
                <a:blip r:embed="rId2"/>
                <a:stretch>
                  <a:fillRect l="-528" t="-322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20040" y="512064"/>
                <a:ext cx="4123949" cy="2308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900" dirty="0"/>
                  <a:t>PD16: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9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900" dirty="0"/>
                  <a:t>;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=0.804</m:t>
                    </m:r>
                  </m:oMath>
                </a14:m>
                <a:r>
                  <a:rPr sz="900" dirty="0"/>
                  <a:t> (naive draft); suffix=_pd16 · 48 bins · 350 teams · seed 42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512064"/>
                <a:ext cx="4123949" cy="230832"/>
              </a:xfrm>
              <a:prstGeom prst="rect">
                <a:avLst/>
              </a:prstGeom>
              <a:blipFill>
                <a:blip r:embed="rId3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19242" y="806219"/>
            <a:ext cx="8553515" cy="48435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44859" y="5651322"/>
                <a:ext cx="10726796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dirty="0"/>
                  <a:t>low </a:t>
                </a:r>
                <a14:m>
                  <m:oMath xmlns:m="http://schemas.openxmlformats.org/officeDocument/2006/math"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 = </m:t>
                    </m:r>
                  </m:oMath>
                </a14:m>
                <a:r>
                  <a:rPr lang="en-US" sz="1000" dirty="0"/>
                  <a:t>one narrow spike near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≈0.15.</m:t>
                    </m:r>
                  </m:oMath>
                </a14:m>
                <a:r>
                  <a:rPr lang="en-US" sz="1000" dirty="0"/>
                  <a:t> First 3 panels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dirty="0"/>
                  <a:t>							High </a:t>
                </a:r>
                <a14:m>
                  <m:oMath xmlns:m="http://schemas.openxmlformats.org/officeDocument/2006/math"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l-GR" sz="1000" dirty="0"/>
                  <a:t> </a:t>
                </a:r>
                <a:r>
                  <a:rPr lang="en-US" sz="1000" dirty="0"/>
                  <a:t>mass at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≈0 </m:t>
                    </m:r>
                  </m:oMath>
                </a14:m>
                <a:r>
                  <a:rPr lang="en-US" sz="1000" dirty="0"/>
                  <a:t>(weak rosters) + second hump at elite </a:t>
                </a:r>
                <a:r>
                  <a:rPr lang="en-US" sz="1000" i="1" dirty="0">
                    <a:latin typeface="Cambria Math"/>
                  </a:rPr>
                  <a:t>L</a:t>
                </a:r>
                <a:r>
                  <a:rPr lang="en-US" sz="900" i="1" baseline="-25000" dirty="0">
                    <a:latin typeface="Cambria Math"/>
                  </a:rPr>
                  <a:t>C</a:t>
                </a:r>
                <a:r>
                  <a:rPr lang="en-US" sz="1000" dirty="0"/>
                  <a:t>.</a:t>
                </a:r>
              </a:p>
              <a:p>
                <a:r>
                  <a:rPr lang="en-US" sz="1000" dirty="0"/>
                  <a:t>													At </a:t>
                </a:r>
                <a14:m>
                  <m:oMath xmlns:m="http://schemas.openxmlformats.org/officeDocument/2006/math"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l-GR" sz="1000" i="1" dirty="0" smtClean="0">
                        <a:latin typeface="Cambria Math" panose="02040503050406030204" pitchFamily="18" charset="0"/>
                      </a:rPr>
                      <m:t>=32: 48%</m:t>
                    </m:r>
                  </m:oMath>
                </a14:m>
                <a:r>
                  <a:rPr lang="el-GR" sz="1000" dirty="0"/>
                  <a:t> </a:t>
                </a:r>
                <a:r>
                  <a:rPr lang="en-US" sz="1000" dirty="0"/>
                  <a:t>of teams below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90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n-US" sz="1000" dirty="0"/>
                  <a:t> — weak rosters - almost no peer pressure</a:t>
                </a:r>
                <a:r>
                  <a:rPr lang="el-GR" sz="1000" dirty="0"/>
                  <a:t>.</a:t>
                </a:r>
                <a:endParaRPr lang="en-US" sz="1000" dirty="0"/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dirty="0"/>
                  <a:t>Of Note:  The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sz="1000" dirty="0"/>
                  <a:t> is almost identical for all plots, hovering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≈.15</m:t>
                    </m:r>
                  </m:oMath>
                </a14:m>
                <a:endParaRPr sz="1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859" y="5651322"/>
                <a:ext cx="10726796" cy="707886"/>
              </a:xfrm>
              <a:prstGeom prst="rect">
                <a:avLst/>
              </a:prstGeom>
              <a:blipFill>
                <a:blip r:embed="rId5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0040" y="6463356"/>
                <a:ext cx="11296554" cy="27699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b="1"/>
                </a:pPr>
                <a:r>
                  <a:rPr sz="1200" dirty="0"/>
                  <a:t>Claim: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200" dirty="0"/>
                  <a:t>stratifies team congestion across the league — low-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200" dirty="0"/>
                  <a:t> mixing yields one narrow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05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200" dirty="0"/>
                  <a:t>hump; high-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200" dirty="0"/>
                  <a:t> assortativity piles weak teams at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05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≈0 </m:t>
                    </m:r>
                  </m:oMath>
                </a14:m>
                <a:r>
                  <a:rPr sz="1200" dirty="0"/>
                  <a:t>and elite rosters at higher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050" i="1" baseline="-25000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200" dirty="0"/>
                  <a:t>.</a:t>
                </a:r>
                <a:endParaRPr sz="12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6463356"/>
                <a:ext cx="11296554" cy="276999"/>
              </a:xfrm>
              <a:prstGeom prst="rect">
                <a:avLst/>
              </a:prstGeom>
              <a:blipFill>
                <a:blip r:embed="rId6"/>
                <a:stretch>
                  <a:fillRect l="-112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517838" y="1186331"/>
            <a:ext cx="8283075" cy="49039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20040" y="164592"/>
                <a:ext cx="11084381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lang="en-US" sz="1800" dirty="0"/>
                  <a:t>Phase B — Realized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1" i="0" baseline="-25000" dirty="0" smtClean="0">
                        <a:latin typeface="Cambria Math" panose="02040503050406030204" pitchFamily="18" charset="0"/>
                      </a:rPr>
                      <m:t>𝐣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vs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600" i="1" baseline="-25000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800" dirty="0"/>
                  <a:t> (PD16 Sketch A — co-movement)</a:t>
                </a:r>
                <a:r>
                  <a:rPr lang="en-US" dirty="0"/>
                  <a:t>  -- Realized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1" baseline="-25000" dirty="0">
                        <a:latin typeface="Cambria Math" panose="02040503050406030204" pitchFamily="18" charset="0"/>
                      </a:rPr>
                      <m:t>𝐣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vs Congestion alone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ar-AE" i="1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en-US" dirty="0"/>
                  <a:t>as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varies</a:t>
                </a:r>
                <a:endParaRPr sz="18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164592"/>
                <a:ext cx="11084381" cy="369332"/>
              </a:xfrm>
              <a:prstGeom prst="rect">
                <a:avLst/>
              </a:prstGeom>
              <a:blipFill>
                <a:blip r:embed="rId3"/>
                <a:stretch>
                  <a:fillRect l="-458" t="-9677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20040" y="898639"/>
                <a:ext cx="4143185" cy="2308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900" dirty="0"/>
                  <a:t>PD16: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9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=0.804</m:t>
                    </m:r>
                  </m:oMath>
                </a14:m>
                <a:r>
                  <a:rPr sz="900" dirty="0"/>
                  <a:t> (naive draft); suffix=_pd16 · 48 bins · 350 teams · seed 42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898639"/>
                <a:ext cx="4143185" cy="230832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49055" y="1692358"/>
                <a:ext cx="3203745" cy="26719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/>
                  <a:t>Each cell: # teams at (realized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12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sz="1200" dirty="0"/>
                  <a:t>, </a:t>
                </a:r>
                <a:r>
                  <a:rPr lang="en-US" sz="1200" dirty="0"/>
                  <a:t>team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100" i="1" baseline="-25000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200" dirty="0"/>
                  <a:t>). 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/>
                  <a:t>Color = count.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/>
                  <a:t>Low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200" dirty="0"/>
                  <a:t>: compact blob — 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sz="1200" dirty="0"/>
                  <a:t> </a:t>
                </a:r>
                <a:r>
                  <a:rPr lang="en-US" sz="1200" dirty="0"/>
                  <a:t>and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100" i="1" baseline="-25000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100" i="1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barely co-vary.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/>
                  <a:t>High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200" dirty="0"/>
                  <a:t>: upward tail — 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dirty="0"/>
                  <a:t>	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ar-AE" sz="1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rises, </a:t>
                </a:r>
                <a:r>
                  <a:rPr lang="en-US" sz="1200" i="1" dirty="0">
                    <a:latin typeface="Cambria Math"/>
                  </a:rPr>
                  <a:t>L</a:t>
                </a:r>
                <a14:m>
                  <m:oMath xmlns:m="http://schemas.openxmlformats.org/officeDocument/2006/math">
                    <m:r>
                      <a:rPr lang="en-US" sz="1100" i="1" baseline="-25000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rises.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/>
                  <a:t>Weak rosters at high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200" dirty="0"/>
                  <a:t>: </a:t>
                </a: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dirty="0"/>
                  <a:t>	low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sz="1200" dirty="0"/>
                  <a:t> + </a:t>
                </a:r>
                <a:r>
                  <a:rPr lang="en-US" sz="1200" dirty="0"/>
                  <a:t>low </a:t>
                </a:r>
                <a:r>
                  <a:rPr lang="en-US" sz="1200" i="1" dirty="0">
                    <a:latin typeface="Cambria Math"/>
                  </a:rPr>
                  <a:t>L</a:t>
                </a:r>
                <a:r>
                  <a:rPr lang="en-US" sz="1100" i="1" baseline="-25000" dirty="0">
                    <a:latin typeface="Cambria Math"/>
                  </a:rPr>
                  <a:t>C</a:t>
                </a:r>
                <a:r>
                  <a:rPr lang="en-US" sz="1200" dirty="0"/>
                  <a:t>. 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/>
                  <a:t>Elite rosters: high</a:t>
                </a:r>
                <a14:m>
                  <m:oMath xmlns:m="http://schemas.openxmlformats.org/officeDocument/2006/math">
                    <m:r>
                      <a:rPr lang="en-US" sz="1200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200" dirty="0"/>
                  <a:t> </a:t>
                </a:r>
                <a:r>
                  <a:rPr lang="ar-AE" sz="1200" dirty="0"/>
                  <a:t>+ </a:t>
                </a:r>
                <a:r>
                  <a:rPr lang="en-US" sz="1200" dirty="0"/>
                  <a:t>high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100" i="1" baseline="-25000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200" dirty="0"/>
                  <a:t>.</a:t>
                </a:r>
                <a:endParaRPr sz="1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55" y="1692358"/>
                <a:ext cx="3203745" cy="2671950"/>
              </a:xfrm>
              <a:prstGeom prst="rect">
                <a:avLst/>
              </a:prstGeom>
              <a:blipFill>
                <a:blip r:embed="rId5"/>
                <a:stretch>
                  <a:fillRect b="-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95380" y="6192872"/>
                <a:ext cx="6759286" cy="47654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b="1"/>
                </a:pPr>
                <a:r>
                  <a:rPr lang="en-US" sz="1200" dirty="0"/>
                  <a:t>Claim: at high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200" dirty="0"/>
                  <a:t>, better teams systematically face more peer pressure — the upward cloud in</a:t>
                </a:r>
                <a14:m>
                  <m:oMath xmlns:m="http://schemas.openxmlformats.org/officeDocument/2006/math">
                    <m:r>
                      <a:rPr lang="en-US" sz="1200" b="1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ar-AE" sz="1200" dirty="0"/>
                  <a:t> </a:t>
                </a:r>
                <a:r>
                  <a:rPr lang="en-US" sz="1200" dirty="0"/>
                  <a:t>vs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050" i="1" baseline="-25000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200" dirty="0"/>
                  <a:t>. </a:t>
                </a:r>
              </a:p>
              <a:p>
                <a:pPr algn="l">
                  <a:defRPr b="1"/>
                </a:pPr>
                <a:r>
                  <a:rPr lang="en-US" sz="1200" dirty="0"/>
                  <a:t>That gives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200" dirty="0"/>
                  <a:t> a model-internal read beyond “the Pass C selection plot moved.”</a:t>
                </a:r>
                <a:endParaRPr sz="12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80" y="6192872"/>
                <a:ext cx="6759286" cy="476541"/>
              </a:xfrm>
              <a:prstGeom prst="rect">
                <a:avLst/>
              </a:prstGeom>
              <a:blipFill>
                <a:blip r:embed="rId6"/>
                <a:stretch>
                  <a:fillRect t="-2564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3947</TotalTime>
  <Words>2551</Words>
  <Application>Microsoft Macintosh PowerPoint</Application>
  <PresentationFormat>Widescreen</PresentationFormat>
  <Paragraphs>204</Paragraphs>
  <Slides>16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-apple-system</vt:lpstr>
      <vt:lpstr>Arial</vt:lpstr>
      <vt:lpstr>Avenir Next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32</cp:revision>
  <cp:lastPrinted>2026-08-04T17:29:11Z</cp:lastPrinted>
  <dcterms:created xsi:type="dcterms:W3CDTF">2013-01-27T09:14:16Z</dcterms:created>
  <dcterms:modified xsi:type="dcterms:W3CDTF">2026-08-06T23:21:10Z</dcterms:modified>
  <cp:category/>
</cp:coreProperties>
</file>