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56" r:id="rId3"/>
    <p:sldId id="277" r:id="rId4"/>
    <p:sldId id="274" r:id="rId5"/>
    <p:sldId id="257" r:id="rId6"/>
    <p:sldId id="275" r:id="rId7"/>
    <p:sldId id="27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48"/>
  </p:normalViewPr>
  <p:slideViewPr>
    <p:cSldViewPr snapToGrid="0" snapToObjects="1">
      <p:cViewPr varScale="1">
        <p:scale>
          <a:sx n="193" d="100"/>
          <a:sy n="193" d="100"/>
        </p:scale>
        <p:origin x="216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984F2-0FE4-904E-B6D8-FBA3A2D4DB33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65AC5-4B69-CD42-A9CA-DA3CB3FA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65AC5-4B69-CD42-A9CA-DA3CB3FA4FF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4119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lang="en-US" sz="2000" dirty="0"/>
              <a:t>PD17 — Empirical MBB characterization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b="0" i="0" baseline="-2500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 b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roster,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𝑚𝑒𝑎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1100" b="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b="0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en-US" sz="1100" b="0" i="1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100" b="0" i="0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per roster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1100" b="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 (sim / later on data)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empirical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Reshapes team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– 539 placeholder until lock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Accepted / total in filtered panel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≈.1.8%</m:t>
                              </m:r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04878" r="-621429" b="-8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90909" r="-621429" b="-6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190909" r="-707" b="-6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509524" r="-70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624390" r="-707" b="-3097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707143" r="-621429" b="-2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707143" r="-707" b="-20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826829" r="-621429" b="-107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826829" r="-707" b="-107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904762" r="-621429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904762" r="-707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/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b="1" i="0" baseline="0" dirty="0">
                    <a:latin typeface="Calibri"/>
                  </a:rPr>
                  <a:t>Deck map (assign </a:t>
                </a:r>
                <a14:m>
                  <m:oMath xmlns:m="http://schemas.openxmlformats.org/officeDocument/2006/math">
                    <m:r>
                      <a:rPr lang="en-US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i="0" baseline="0" dirty="0">
                    <a:latin typeface="Calibri"/>
                  </a:rPr>
                  <a:t>score)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blipFill>
                <a:blip r:embed="rId3"/>
                <a:stretch>
                  <a:fillRect l="-1896" t="-6667" r="-9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/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2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inputs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3 — team interval overlap (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diagnostic, 530 CELL 8)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4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distribution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5 —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6 —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sweep on real rosters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7 — sim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</a:t>
                </a:r>
                <a:r>
                  <a:rPr lang="en-US" sz="1400" dirty="0">
                    <a:latin typeface="Calibri"/>
                  </a:rPr>
                  <a:t>calibration capstone</a:t>
                </a:r>
                <a:endParaRPr sz="14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blipFill>
                <a:blip r:embed="rId4"/>
                <a:stretch>
                  <a:fillRect l="-473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/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Map empirical properties of real rosters — prerequisite for pinning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from data, then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without hero-curve matching.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MPIRICAL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32" y="2102294"/>
            <a:ext cx="9115615" cy="3779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MBB 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blipFill>
                <a:blip r:embed="rId3"/>
                <a:stretch>
                  <a:fillRect l="-1416" t="-8333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41729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ppm z within season · min 20 min · poolq winsor 0.01–0.99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7" y="1005840"/>
                <a:ext cx="3902659" cy="1250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Realized rosters — descriptive inputs, not sim draws.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player ability (one value per player-season).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(team-season; not LOO).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tighter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(averaging shrinks spread).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0" i="0" baseline="0" dirty="0">
                    <a:latin typeface="Calibri"/>
                  </a:rPr>
                  <a:t>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=-0.001,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=0.011 (sd 0.995 / 0.401).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1" i="0" baseline="0" dirty="0">
                    <a:latin typeface="Calibri"/>
                  </a:rPr>
                  <a:t>PD17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proxy: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𝟎𝟏𝟖𝟐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. 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b="1" dirty="0">
                    <a:latin typeface="Calibri"/>
                  </a:rPr>
                  <a:t>		</a:t>
                </a:r>
                <a:r>
                  <a:rPr sz="1000" b="1" i="0" baseline="0" dirty="0">
                    <a:latin typeface="Calibri"/>
                  </a:rPr>
                  <a:t>(1,134 drafted / 62,180 player-seasons).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005840"/>
                <a:ext cx="3902659" cy="1250342"/>
              </a:xfrm>
              <a:prstGeom prst="rect">
                <a:avLst/>
              </a:prstGeom>
              <a:blipFill>
                <a:blip r:embed="rId4"/>
                <a:stretch>
                  <a:fillRect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1" i="0" baseline="0" dirty="0">
                    <a:latin typeface="Calibri"/>
                  </a:rPr>
                  <a:t>Claim (PD17): World-first inputs from the real MBB panel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player-season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team-season.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50" b="1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(sim assignment targets).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214CB9-8ABF-657F-41D2-2BE51FF94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51567" y="925973"/>
            <a:ext cx="7077307" cy="5404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diagnostic)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blipFill>
                <a:blip r:embed="rId3"/>
                <a:stretch>
                  <a:fillRect l="-1018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PPM z within season · min 20 min · poolq winsor 0.01–0.99 · 6,492 team-seasons (530 CELL 8 port)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5744" y="1280160"/>
                <a:ext cx="4221664" cy="1697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Actual max coverage=6,305; sort-and-chop max=7.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mean=2.98 z, median=2.87 z (6,492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Pairs with Phase 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slide — sim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dials overlap between these curves.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" y="1280160"/>
                <a:ext cx="4221664" cy="1697516"/>
              </a:xfrm>
              <a:prstGeom prst="rect">
                <a:avLst/>
              </a:prstGeom>
              <a:blipFill>
                <a:blip r:embed="rId4"/>
                <a:stretch>
                  <a:fillRect b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94005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NCAA rosters leave massively overlapping team talent windows — the empirical target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was meant to match in sim (530 CELL 8 / 538 Plot A).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94005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10208757" cy="6771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endParaRPr lang="en-US" sz="2000" b="1" i="0" baseline="0" dirty="0">
                  <a:latin typeface="Calibri"/>
                </a:endParaRPr>
              </a:p>
              <a:p>
                <a:r>
                  <a:rPr lang="en-US" i="1" dirty="0">
                    <a:latin typeface="Avenir Next Medium" panose="020B0503020202020204" pitchFamily="34" charset="0"/>
                  </a:rPr>
                  <a:t>Given overlapping talent windows (prior slide), team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latin typeface="Avenir Next Medium" panose="020B0503020202020204" pitchFamily="34" charset="0"/>
                  </a:rPr>
                  <a:t> summarizes peer viability on each roster.</a:t>
                </a:r>
                <a:endParaRPr sz="2000" i="1" baseline="0" dirty="0">
                  <a:latin typeface="Avenir Next Medium" panose="020B0503020202020204" pitchFamily="34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10208757" cy="677108"/>
              </a:xfrm>
              <a:prstGeom prst="rect">
                <a:avLst/>
              </a:prstGeom>
              <a:blipFill>
                <a:blip r:embed="rId2"/>
                <a:stretch>
                  <a:fillRect l="-621" t="-5556" r="-124"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1158719"/>
                <a:ext cx="7688708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158719"/>
                <a:ext cx="7688708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78989" y="1851773"/>
                <a:ext cx="3949413" cy="1577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each roster.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PD16 team-smooth definition — one value per team-season.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LOO; includes every roster member in the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(539 placeholder until PD17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from draft rate: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9" y="1851773"/>
                <a:ext cx="3949413" cy="1577227"/>
              </a:xfrm>
              <a:prstGeom prst="rect">
                <a:avLst/>
              </a:prstGeom>
              <a:blipFill>
                <a:blip r:embed="rId4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6625" y="1492383"/>
            <a:ext cx="8164564" cy="4797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428472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carry a spread of team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the descriptive input </a:t>
                </a:r>
                <a:r>
                  <a:rPr lang="en-US" sz="1100" b="1" i="0" baseline="0" dirty="0">
                    <a:latin typeface="Calibri"/>
                  </a:rPr>
                  <a:t>before we pin</a:t>
                </a:r>
                <a:r>
                  <a:rPr lang="en-US" sz="1100" b="1" i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</a:t>
                </a:r>
                <a:r>
                  <a:rPr lang="en-US" sz="1100" b="1" dirty="0">
                    <a:latin typeface="Calibri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in sim.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428472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blipFill>
                <a:blip r:embed="rId2"/>
                <a:stretch>
                  <a:fillRect l="-1548" t="-1111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cell: count of team-seasons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Color = count (empirical Sketch A — no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(realized talent,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Look for upward co-movement: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vs_Tj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5" y="1051560"/>
            <a:ext cx="6558185" cy="4928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actual team-seasons, stronger realized rosters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100" b="1" i="1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) tend to co-occur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empirical Sketch A.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blipFill>
                <a:blip r:embed="rId6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</a:t>
                </a:r>
                <a:r>
                  <a:rPr lang="en-US" sz="2000" b="1" i="0" baseline="0" dirty="0">
                    <a:latin typeface="Calibri"/>
                  </a:rPr>
                  <a:t>sweep:</a:t>
                </a:r>
                <a:r>
                  <a:rPr sz="2000" b="1" i="0" baseline="0" dirty="0">
                    <a:latin typeface="Calibri"/>
                  </a:rPr>
                  <a:t>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on real rosters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blipFill>
                <a:blip r:embed="rId3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z-units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fixed across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MPIRICAL_L_C_gamma_sweep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816" y="1033272"/>
            <a:ext cx="8560063" cy="41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OAT on real panel: fixed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cutline on PPM z); only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b="0" i="1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en-US" sz="9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changes.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Arms: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  <m:t>10,5,1,0.5,0.001</m:t>
                        </m:r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— same team-seasons, same rosters.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=0.029,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84%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teams below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=0.499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, 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=0.500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— spread opens on z-scale.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real rosters, γ reshapes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high γ compresses viability near 0 on the PPM-z scale; low γ spreads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into the interior of [0,1].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PD17 — Empirical vs sim interval overlap (\rho calibration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Assign block capstone · empirical MBB vs 539 sim · same coverage diagnostic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522" y="960120"/>
            <a:ext cx="11063037" cy="34594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Three panels: empirical (left) · four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/>
                  <a:t> arms (center) ·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=1→32</m:t>
                    </m:r>
                  </m:oMath>
                </a14:m>
                <a:r>
                  <a:rPr lang="en-US" sz="1000" dirty="0"/>
                  <a:t> sweep (right).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00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00" i="0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000" dirty="0"/>
                  <a:t> draw across sim panels; seed fixed.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Empirical max coverage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6,305</m:t>
                    </m:r>
                  </m:oMath>
                </a14:m>
                <a:r>
                  <a:rPr lang="en-US" sz="1000" dirty="0"/>
                  <a:t>; sort-and-chop max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Center: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0.001,1,8,32</m:t>
                        </m:r>
                      </m:e>
                    </m:d>
                  </m:oMath>
                </a14:m>
                <a:r>
                  <a:rPr lang="en-US" sz="1000" dirty="0"/>
                  <a:t>; right sweep peaks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=1→1000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=32→588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Sim sort-and-chop peak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dirty="0"/>
                  <a:t> on both sim panels.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PPM z vs [0,1] ability — compare shape, seed 42.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sit at high coverage peak — sim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must be tuned so soft assign matches that overlap, not sort-and-chop.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4077</TotalTime>
  <Words>1104</Words>
  <Application>Microsoft Macintosh PowerPoint</Application>
  <PresentationFormat>Widescreen</PresentationFormat>
  <Paragraphs>95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 Next</vt:lpstr>
      <vt:lpstr>Avenir Next Medium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49</cp:revision>
  <cp:lastPrinted>2026-08-04T17:29:11Z</cp:lastPrinted>
  <dcterms:created xsi:type="dcterms:W3CDTF">2013-01-27T09:14:16Z</dcterms:created>
  <dcterms:modified xsi:type="dcterms:W3CDTF">2026-08-06T22:33:44Z</dcterms:modified>
  <cp:category/>
</cp:coreProperties>
</file>