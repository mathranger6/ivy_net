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60" r:id="rId4"/>
    <p:sldId id="258" r:id="rId5"/>
    <p:sldId id="259" r:id="rId6"/>
    <p:sldId id="263" r:id="rId7"/>
    <p:sldId id="267" r:id="rId8"/>
    <p:sldId id="268" r:id="rId9"/>
    <p:sldId id="269" r:id="rId10"/>
    <p:sldId id="270" r:id="rId11"/>
    <p:sldId id="262" r:id="rId12"/>
    <p:sldId id="265" r:id="rId13"/>
    <p:sldId id="266" r:id="rId14"/>
    <p:sldId id="264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8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4"/>
    <p:restoredTop sz="94632"/>
  </p:normalViewPr>
  <p:slideViewPr>
    <p:cSldViewPr snapToGrid="0">
      <p:cViewPr>
        <p:scale>
          <a:sx n="209" d="100"/>
          <a:sy n="209" d="100"/>
        </p:scale>
        <p:origin x="-73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B9615-A935-D0EC-B777-E86FA36CE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E881B4-528B-447C-BD7B-377BACE75E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30F22-078E-AE59-F391-30AD3E2B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B0ED0-A076-FC84-0B33-907303362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EF7F5-1706-7E64-B68E-F8458865C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7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A242-4BFA-73F8-86CB-59CA9D67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F5C68-B992-CB18-C162-399CBC921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9E590-0141-6983-FF90-0AE4388C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8A5F9-EA2D-28BD-A735-B9D872179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83C78-1F75-5B7A-C47C-F461FC7A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98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0344-2D08-874D-CFC8-F5E72E64F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04A09-91CB-D182-755D-527E1F1AB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A82A1-C940-E79F-CC6E-A2EC5259F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2E432-5C86-F9AF-9BC9-58157318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F4714-96D5-CDE3-FB22-C6095EEF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5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EB6F-53EC-91D5-1274-AEC508F5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8C504-C099-2078-4A2B-2176C7D3C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82DE9-9680-5FC3-8FAF-3A6A1E87E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51D888-5B8C-205E-8550-B9FE466F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8AD5C-28E9-D8AD-4F6D-E380B3404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8908F-263B-E505-4D73-B180736BE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2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8D4F-230B-3E7A-30CB-074A32037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31DF4-5C01-3777-70B1-46067C4EA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B39BB-D5E1-FD21-6BDF-14881B4B7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EAD4A-6459-4104-13B9-33600F684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DAF86B-E8C3-371D-156E-31329C796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47AE7B-C340-DDFE-9ED9-328883BA1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403BD-FF0C-FF9D-CF41-41EDA4012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FC1DF-79DE-232A-05B2-039B3C3A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51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8A33-1100-54C2-1203-C6F9F043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7E37E-9A31-74A7-73B2-AAD56764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6A2AF-1C2B-773B-4B6A-C9317112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90084-CE57-F47B-26EC-0711BF64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39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A32F60-A4A0-5923-6F2F-2AAE101B0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CC9410-CD0C-3CD0-C09D-2723100A3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CA1CE-E98A-B3CC-02D3-903BCCE7F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06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94CD-B83C-53DD-D396-250B3D57F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1ABFC-C9F6-3630-858E-09BFF12D7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CB979-3C48-A3D6-10B3-AFBB37487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795E7-971C-6E81-5FE3-97F4EB73C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9A60B-64E9-4CF8-DE60-7A78DC30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A4E0E-F4E2-E0BA-667B-81DA1173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16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21CB-C42C-735C-6F81-CE72D79C6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3B89AC-8024-BE35-87C2-B07A27D7A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0C1D2-4130-7786-29A2-1A77706FA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752B8-2220-AA1D-7A29-F715DAD29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76B5C-9753-6EDE-D24F-6A0A52F8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DCB21-B778-8DD8-F014-569BBDC5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7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8E12-DAF2-8A5A-FA6E-9789B7482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24C8B1-725C-C7C8-F1A9-FF27527EE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4B5F1-B5D1-A031-C953-6919A5AA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477F4-F2A5-4BD3-2B7C-530F598EF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D716E-5069-D280-A74C-73FDA24D9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42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5EA62-85C8-E843-1BA3-49A745AC2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0AFEA-7F90-4E02-6F90-FE4B10C84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5A4A3-D14F-2497-D5CA-7A10A7EB6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9E30F-4A90-F685-378B-9611BDFD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6167D-270D-4488-ADDB-9D73B049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55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E7AB8-7C67-AADD-2364-C39F6D31E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9D7DA-0AAF-40C2-7319-76BEDB73B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65968-B3B0-30A1-5A53-9CB12BEBA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122728-F16C-3446-9EE0-12CCA26C91AC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C789-6C30-80B1-B16B-7C52B5B4B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1EA33-068C-889E-4BCE-7704C02738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58741-083E-3243-B209-2315C21B0B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6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61C5-6D67-B43E-70FE-1897B184C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855E1AE3-7F85-ECAD-4765-FD76F313D422}"/>
              </a:ext>
            </a:extLst>
          </p:cNvPr>
          <p:cNvGrpSpPr/>
          <p:nvPr/>
        </p:nvGrpSpPr>
        <p:grpSpPr>
          <a:xfrm>
            <a:off x="480583" y="301111"/>
            <a:ext cx="4956569" cy="2948899"/>
            <a:chOff x="811090" y="212942"/>
            <a:chExt cx="4956569" cy="294889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238A25B-9524-DAED-A436-6B2198AB7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1090" y="762136"/>
              <a:ext cx="4956569" cy="2399705"/>
            </a:xfrm>
            <a:prstGeom prst="rect">
              <a:avLst/>
            </a:prstGeom>
            <a:ln>
              <a:solidFill>
                <a:srgbClr val="7A81FF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2EC62E-BC2A-7C71-4D52-CF31A70C2D47}"/>
                </a:ext>
              </a:extLst>
            </p:cNvPr>
            <p:cNvSpPr txBox="1"/>
            <p:nvPr/>
          </p:nvSpPr>
          <p:spPr>
            <a:xfrm>
              <a:off x="983832" y="212942"/>
              <a:ext cx="4783827" cy="461665"/>
            </a:xfrm>
            <a:prstGeom prst="rect">
              <a:avLst/>
            </a:prstGeom>
            <a:noFill/>
            <a:ln>
              <a:solidFill>
                <a:srgbClr val="7A81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Min20, Z 2-3, 143 Drafts 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FAD4F09-8C61-60A0-7BE0-48DB722360A9}"/>
              </a:ext>
            </a:extLst>
          </p:cNvPr>
          <p:cNvGrpSpPr/>
          <p:nvPr/>
        </p:nvGrpSpPr>
        <p:grpSpPr>
          <a:xfrm>
            <a:off x="6582107" y="301111"/>
            <a:ext cx="4956567" cy="2948898"/>
            <a:chOff x="831287" y="3516171"/>
            <a:chExt cx="4956567" cy="294889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A04C0DF-2E8E-73F8-EDB3-8C353C94E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831287" y="4065365"/>
              <a:ext cx="4956567" cy="23997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643749C-FAB1-18FD-AC81-0A793DA99109}"/>
                </a:ext>
              </a:extLst>
            </p:cNvPr>
            <p:cNvSpPr txBox="1"/>
            <p:nvPr/>
          </p:nvSpPr>
          <p:spPr>
            <a:xfrm>
              <a:off x="1086312" y="3516171"/>
              <a:ext cx="4655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Min0, Z 2-3, 52 Drafts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B23F348-8CDC-7FB1-AA07-C22227CE0B63}"/>
              </a:ext>
            </a:extLst>
          </p:cNvPr>
          <p:cNvGrpSpPr/>
          <p:nvPr/>
        </p:nvGrpSpPr>
        <p:grpSpPr>
          <a:xfrm>
            <a:off x="480584" y="3576811"/>
            <a:ext cx="4956567" cy="2948898"/>
            <a:chOff x="6527022" y="332291"/>
            <a:chExt cx="4956567" cy="294889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DC9BC17-731F-7712-91B9-13A9B43409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527022" y="881485"/>
              <a:ext cx="4956567" cy="239970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BFF9B8-E150-EC89-B38B-227D985288C6}"/>
                </a:ext>
              </a:extLst>
            </p:cNvPr>
            <p:cNvSpPr txBox="1"/>
            <p:nvPr/>
          </p:nvSpPr>
          <p:spPr>
            <a:xfrm>
              <a:off x="6782514" y="332291"/>
              <a:ext cx="4655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Min5, Z 2-3, 85 Drafts 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9095484-7369-EB71-A815-E71FABB9C032}"/>
              </a:ext>
            </a:extLst>
          </p:cNvPr>
          <p:cNvGrpSpPr/>
          <p:nvPr/>
        </p:nvGrpSpPr>
        <p:grpSpPr>
          <a:xfrm>
            <a:off x="6734507" y="3690487"/>
            <a:ext cx="4956567" cy="2948897"/>
            <a:chOff x="831287" y="3516171"/>
            <a:chExt cx="4956567" cy="294889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857609C-4B1E-7152-0EA3-80A6DABF1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831287" y="4065365"/>
              <a:ext cx="4956567" cy="239970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254F56E-525B-622D-DAE1-FB36EE6EDD23}"/>
                </a:ext>
              </a:extLst>
            </p:cNvPr>
            <p:cNvSpPr txBox="1"/>
            <p:nvPr/>
          </p:nvSpPr>
          <p:spPr>
            <a:xfrm>
              <a:off x="1086312" y="3516171"/>
              <a:ext cx="4655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Min25, Z 2-3, 140 Drafts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1932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D4486-783A-D2DE-7964-6F7D72F6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6966DD0-3673-DC4D-29C8-B7E48D8FAB5F}"/>
              </a:ext>
            </a:extLst>
          </p:cNvPr>
          <p:cNvGrpSpPr/>
          <p:nvPr/>
        </p:nvGrpSpPr>
        <p:grpSpPr>
          <a:xfrm>
            <a:off x="6582107" y="3576811"/>
            <a:ext cx="4956567" cy="2948898"/>
            <a:chOff x="7077866" y="3516171"/>
            <a:chExt cx="4956567" cy="294889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DC10F1B-8DBB-23F2-3F82-66F3CB0D0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7077866" y="4065365"/>
              <a:ext cx="4956567" cy="239970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34F690-4347-6478-5CB8-7E45BDB1DE16}"/>
                </a:ext>
              </a:extLst>
            </p:cNvPr>
            <p:cNvSpPr txBox="1"/>
            <p:nvPr/>
          </p:nvSpPr>
          <p:spPr>
            <a:xfrm>
              <a:off x="7332892" y="3516171"/>
              <a:ext cx="4655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Min30, Z 2-3, 139 Drafts 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F4F063E-AB67-5BCE-E66F-6EB222CAC920}"/>
              </a:ext>
            </a:extLst>
          </p:cNvPr>
          <p:cNvGrpSpPr/>
          <p:nvPr/>
        </p:nvGrpSpPr>
        <p:grpSpPr>
          <a:xfrm>
            <a:off x="480583" y="301111"/>
            <a:ext cx="4956569" cy="2948899"/>
            <a:chOff x="811090" y="212942"/>
            <a:chExt cx="4956569" cy="29488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7C4E432-5116-BB21-10BE-BF168D0B1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1090" y="762136"/>
              <a:ext cx="4956569" cy="2399705"/>
            </a:xfrm>
            <a:prstGeom prst="rect">
              <a:avLst/>
            </a:prstGeom>
            <a:ln>
              <a:solidFill>
                <a:srgbClr val="7A81FF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9FB5C30-9A3F-F92E-AAC5-854DA145D2EE}"/>
                </a:ext>
              </a:extLst>
            </p:cNvPr>
            <p:cNvSpPr txBox="1"/>
            <p:nvPr/>
          </p:nvSpPr>
          <p:spPr>
            <a:xfrm>
              <a:off x="983832" y="212942"/>
              <a:ext cx="4783827" cy="461665"/>
            </a:xfrm>
            <a:prstGeom prst="rect">
              <a:avLst/>
            </a:prstGeom>
            <a:noFill/>
            <a:ln>
              <a:solidFill>
                <a:srgbClr val="7A81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Min20, Z 2-3, 143 Drafts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2756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AA37-4600-56F9-02CD-46DAC150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A6669822-0B39-4F05-FAAB-AF5ADABA45D4}"/>
              </a:ext>
            </a:extLst>
          </p:cNvPr>
          <p:cNvGrpSpPr/>
          <p:nvPr/>
        </p:nvGrpSpPr>
        <p:grpSpPr>
          <a:xfrm>
            <a:off x="6582106" y="301111"/>
            <a:ext cx="4956569" cy="2948898"/>
            <a:chOff x="831286" y="3516171"/>
            <a:chExt cx="4956569" cy="294889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7552118-B6E3-FA68-1BC6-7EECD8A18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831286" y="4065365"/>
              <a:ext cx="4956569" cy="23997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A3B9BFD-97F9-A320-1F99-85638EF60E74}"/>
                </a:ext>
              </a:extLst>
            </p:cNvPr>
            <p:cNvSpPr txBox="1"/>
            <p:nvPr/>
          </p:nvSpPr>
          <p:spPr>
            <a:xfrm>
              <a:off x="1086312" y="3516171"/>
              <a:ext cx="4655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Min20, T20%, 643 Drafts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C3A177-A8F7-CE63-D9A7-252E8453E148}"/>
              </a:ext>
            </a:extLst>
          </p:cNvPr>
          <p:cNvGrpSpPr/>
          <p:nvPr/>
        </p:nvGrpSpPr>
        <p:grpSpPr>
          <a:xfrm>
            <a:off x="480583" y="3576811"/>
            <a:ext cx="4956569" cy="2948898"/>
            <a:chOff x="6527021" y="332291"/>
            <a:chExt cx="4956569" cy="294889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0BB6BE9-8340-7637-3BA3-0351D8606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527021" y="881485"/>
              <a:ext cx="4956569" cy="239970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A1A1B35-0B93-5B2D-D0E5-E651BFF7EA28}"/>
                </a:ext>
              </a:extLst>
            </p:cNvPr>
            <p:cNvSpPr txBox="1"/>
            <p:nvPr/>
          </p:nvSpPr>
          <p:spPr>
            <a:xfrm>
              <a:off x="6782514" y="332291"/>
              <a:ext cx="4655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Min20, T10%, 415 Drafts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405C6C9-E880-C3EF-2E86-492F7D28A7A4}"/>
              </a:ext>
            </a:extLst>
          </p:cNvPr>
          <p:cNvGrpSpPr/>
          <p:nvPr/>
        </p:nvGrpSpPr>
        <p:grpSpPr>
          <a:xfrm>
            <a:off x="6582106" y="3576811"/>
            <a:ext cx="4956569" cy="2948898"/>
            <a:chOff x="7077865" y="3516171"/>
            <a:chExt cx="4956569" cy="294889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978BBBA-A404-7F96-7083-FE44DE6FE6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077865" y="4065365"/>
              <a:ext cx="4956569" cy="239970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7384CC-433B-FF86-6FFF-014FCBC42953}"/>
                </a:ext>
              </a:extLst>
            </p:cNvPr>
            <p:cNvSpPr txBox="1"/>
            <p:nvPr/>
          </p:nvSpPr>
          <p:spPr>
            <a:xfrm>
              <a:off x="7332892" y="3516171"/>
              <a:ext cx="4655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Min20, T5%, 263 Drafts 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DF5409E-4466-DBAE-2A65-3456795EE640}"/>
              </a:ext>
            </a:extLst>
          </p:cNvPr>
          <p:cNvGrpSpPr/>
          <p:nvPr/>
        </p:nvGrpSpPr>
        <p:grpSpPr>
          <a:xfrm>
            <a:off x="480583" y="301111"/>
            <a:ext cx="4956569" cy="2948899"/>
            <a:chOff x="811090" y="212942"/>
            <a:chExt cx="4956569" cy="29488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5486829-7B23-295A-A953-37526D616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1090" y="762136"/>
              <a:ext cx="4956569" cy="2399705"/>
            </a:xfrm>
            <a:prstGeom prst="rect">
              <a:avLst/>
            </a:prstGeom>
            <a:ln>
              <a:solidFill>
                <a:srgbClr val="7A81FF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00C3E79-0C4D-88CC-72D3-12666676F8F3}"/>
                </a:ext>
              </a:extLst>
            </p:cNvPr>
            <p:cNvSpPr txBox="1"/>
            <p:nvPr/>
          </p:nvSpPr>
          <p:spPr>
            <a:xfrm>
              <a:off x="983832" y="212942"/>
              <a:ext cx="4783827" cy="461665"/>
            </a:xfrm>
            <a:prstGeom prst="rect">
              <a:avLst/>
            </a:prstGeom>
            <a:noFill/>
            <a:ln>
              <a:solidFill>
                <a:srgbClr val="7A81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Min20, Z 2-3, 143 Drafts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313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A6538-C280-6EBD-766C-D908F3E1E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BCADD394-F5CE-0286-D017-BD92FA2BEA78}"/>
              </a:ext>
            </a:extLst>
          </p:cNvPr>
          <p:cNvGrpSpPr/>
          <p:nvPr/>
        </p:nvGrpSpPr>
        <p:grpSpPr>
          <a:xfrm>
            <a:off x="6582107" y="301111"/>
            <a:ext cx="4956567" cy="2948898"/>
            <a:chOff x="831287" y="3516171"/>
            <a:chExt cx="4956567" cy="2948898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CA8CBA0-A34F-C515-DA97-1708A246F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831287" y="4065365"/>
              <a:ext cx="4956567" cy="23997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FDBA5F-EBD3-861C-2FA1-F1340875AEB9}"/>
                </a:ext>
              </a:extLst>
            </p:cNvPr>
            <p:cNvSpPr txBox="1"/>
            <p:nvPr/>
          </p:nvSpPr>
          <p:spPr>
            <a:xfrm>
              <a:off x="1086312" y="3516171"/>
              <a:ext cx="4655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Min30, T20%, 636 Drafts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33E62A-8904-A32D-CB3A-4170AD97D631}"/>
              </a:ext>
            </a:extLst>
          </p:cNvPr>
          <p:cNvGrpSpPr/>
          <p:nvPr/>
        </p:nvGrpSpPr>
        <p:grpSpPr>
          <a:xfrm>
            <a:off x="480584" y="3576811"/>
            <a:ext cx="4956567" cy="2948898"/>
            <a:chOff x="6527022" y="332291"/>
            <a:chExt cx="4956567" cy="294889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27B74CE-BB52-7B96-AE2F-2D282238C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527022" y="881485"/>
              <a:ext cx="4956567" cy="239970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CB089F-1F5B-91AB-94A1-B59EC85FBC7E}"/>
                </a:ext>
              </a:extLst>
            </p:cNvPr>
            <p:cNvSpPr txBox="1"/>
            <p:nvPr/>
          </p:nvSpPr>
          <p:spPr>
            <a:xfrm>
              <a:off x="6782514" y="332291"/>
              <a:ext cx="4655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Min30, T10%, 411 Drafts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5E6692B-1608-8E73-E97F-C13828D51E12}"/>
              </a:ext>
            </a:extLst>
          </p:cNvPr>
          <p:cNvGrpSpPr/>
          <p:nvPr/>
        </p:nvGrpSpPr>
        <p:grpSpPr>
          <a:xfrm>
            <a:off x="6582107" y="3576811"/>
            <a:ext cx="4956567" cy="2948898"/>
            <a:chOff x="7077866" y="3516171"/>
            <a:chExt cx="4956567" cy="294889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21B0624-E9C0-BE19-E693-FE5DCE803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077866" y="4065365"/>
              <a:ext cx="4956567" cy="239970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29073C7-7733-EBAC-C961-B66CB166D352}"/>
                </a:ext>
              </a:extLst>
            </p:cNvPr>
            <p:cNvSpPr txBox="1"/>
            <p:nvPr/>
          </p:nvSpPr>
          <p:spPr>
            <a:xfrm>
              <a:off x="7332892" y="3516171"/>
              <a:ext cx="4655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Min30, T5%, 264 Drafts 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7F77197-ACE8-102B-DC0E-49AC53D3D390}"/>
              </a:ext>
            </a:extLst>
          </p:cNvPr>
          <p:cNvGrpSpPr/>
          <p:nvPr/>
        </p:nvGrpSpPr>
        <p:grpSpPr>
          <a:xfrm>
            <a:off x="480583" y="301111"/>
            <a:ext cx="4956569" cy="2948899"/>
            <a:chOff x="811090" y="212942"/>
            <a:chExt cx="4956569" cy="29488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355AAAE-DF8D-98E6-9FEB-922F06919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1090" y="762136"/>
              <a:ext cx="4956569" cy="2399705"/>
            </a:xfrm>
            <a:prstGeom prst="rect">
              <a:avLst/>
            </a:prstGeom>
            <a:ln>
              <a:solidFill>
                <a:srgbClr val="7A81FF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FDDE348-599F-BA78-D253-88BA725CE056}"/>
                </a:ext>
              </a:extLst>
            </p:cNvPr>
            <p:cNvSpPr txBox="1"/>
            <p:nvPr/>
          </p:nvSpPr>
          <p:spPr>
            <a:xfrm>
              <a:off x="983832" y="212942"/>
              <a:ext cx="4783827" cy="461665"/>
            </a:xfrm>
            <a:prstGeom prst="rect">
              <a:avLst/>
            </a:prstGeom>
            <a:noFill/>
            <a:ln>
              <a:solidFill>
                <a:srgbClr val="7A81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Min20, Z 2-3, 143 Drafts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7117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0477-E5C8-71EF-0D9A-F4546048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BDDB287-6E9F-DE10-48F1-9BB3F64A20EF}"/>
              </a:ext>
            </a:extLst>
          </p:cNvPr>
          <p:cNvGrpSpPr/>
          <p:nvPr/>
        </p:nvGrpSpPr>
        <p:grpSpPr>
          <a:xfrm>
            <a:off x="6582107" y="301111"/>
            <a:ext cx="4956567" cy="2948897"/>
            <a:chOff x="831287" y="3516171"/>
            <a:chExt cx="4956567" cy="294889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EBBF8A-2E8B-ED1D-96A8-C5E4BB05B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831287" y="4065365"/>
              <a:ext cx="4956567" cy="239970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A2BB26B-2DEE-8077-527E-B9D5F54956E5}"/>
                </a:ext>
              </a:extLst>
            </p:cNvPr>
            <p:cNvSpPr txBox="1"/>
            <p:nvPr/>
          </p:nvSpPr>
          <p:spPr>
            <a:xfrm>
              <a:off x="1086312" y="3516171"/>
              <a:ext cx="46554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Min5, T20%, 648 Drafts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EA7B058-CA1B-F2CB-95E8-3704994E6186}"/>
              </a:ext>
            </a:extLst>
          </p:cNvPr>
          <p:cNvGrpSpPr/>
          <p:nvPr/>
        </p:nvGrpSpPr>
        <p:grpSpPr>
          <a:xfrm>
            <a:off x="480584" y="3576811"/>
            <a:ext cx="4956567" cy="2948897"/>
            <a:chOff x="6527022" y="332291"/>
            <a:chExt cx="4956567" cy="294889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4FE6CBC-2C9B-DBB4-8B3E-3D15852D8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527022" y="881485"/>
              <a:ext cx="4956567" cy="239970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2DFAB5F-0D9D-1283-C24A-6749079372FF}"/>
                </a:ext>
              </a:extLst>
            </p:cNvPr>
            <p:cNvSpPr txBox="1"/>
            <p:nvPr/>
          </p:nvSpPr>
          <p:spPr>
            <a:xfrm>
              <a:off x="6782514" y="332291"/>
              <a:ext cx="4655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Min5, T10%, 402 Drafts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52BB396-BFAB-DF99-FEDB-AD9C400A5C97}"/>
              </a:ext>
            </a:extLst>
          </p:cNvPr>
          <p:cNvGrpSpPr/>
          <p:nvPr/>
        </p:nvGrpSpPr>
        <p:grpSpPr>
          <a:xfrm>
            <a:off x="6582107" y="3576811"/>
            <a:ext cx="4956567" cy="2948897"/>
            <a:chOff x="7077866" y="3516171"/>
            <a:chExt cx="4956567" cy="294889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E24A75C-0A99-5136-3CE1-95767BAB3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077866" y="4065365"/>
              <a:ext cx="4956567" cy="239970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C0FA7B-F3D6-9EE3-6E9A-0E739B5DD71B}"/>
                </a:ext>
              </a:extLst>
            </p:cNvPr>
            <p:cNvSpPr txBox="1"/>
            <p:nvPr/>
          </p:nvSpPr>
          <p:spPr>
            <a:xfrm>
              <a:off x="7332892" y="3516171"/>
              <a:ext cx="46554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Min5, T5%, 238 Drafts 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3066602-3430-1BFE-8599-54995914126A}"/>
              </a:ext>
            </a:extLst>
          </p:cNvPr>
          <p:cNvGrpSpPr/>
          <p:nvPr/>
        </p:nvGrpSpPr>
        <p:grpSpPr>
          <a:xfrm>
            <a:off x="480583" y="301111"/>
            <a:ext cx="4956569" cy="2948899"/>
            <a:chOff x="811090" y="212942"/>
            <a:chExt cx="4956569" cy="29488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F4ABBDA-9F25-A402-E0D0-A4B3592A5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1090" y="762136"/>
              <a:ext cx="4956569" cy="2399705"/>
            </a:xfrm>
            <a:prstGeom prst="rect">
              <a:avLst/>
            </a:prstGeom>
            <a:ln>
              <a:solidFill>
                <a:srgbClr val="7A81FF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FA5F3DF-54F4-85C7-3306-21F66901035A}"/>
                </a:ext>
              </a:extLst>
            </p:cNvPr>
            <p:cNvSpPr txBox="1"/>
            <p:nvPr/>
          </p:nvSpPr>
          <p:spPr>
            <a:xfrm>
              <a:off x="983832" y="212942"/>
              <a:ext cx="4783827" cy="461665"/>
            </a:xfrm>
            <a:prstGeom prst="rect">
              <a:avLst/>
            </a:prstGeom>
            <a:noFill/>
            <a:ln>
              <a:solidFill>
                <a:srgbClr val="7A81FF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Futura" panose="020B0602020204020303" pitchFamily="34" charset="-79"/>
                  <a:cs typeface="Futura" panose="020B0602020204020303" pitchFamily="34" charset="-79"/>
                </a:rPr>
                <a:t>Min20, Z 2-3, 143 Drafts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2341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90F7-5B72-7473-8513-9B7D2365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FF201D-48D5-C6D3-DAF1-6014AC99D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22470"/>
            <a:ext cx="5668264" cy="2744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1BFF9B-917E-3790-0928-C09234432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2054098"/>
            <a:ext cx="5950712" cy="28810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9DA9CD-CB37-951D-A162-9FBA3BBD5E6A}"/>
              </a:ext>
            </a:extLst>
          </p:cNvPr>
          <p:cNvSpPr txBox="1"/>
          <p:nvPr/>
        </p:nvSpPr>
        <p:spPr>
          <a:xfrm>
            <a:off x="994701" y="1592433"/>
            <a:ext cx="4783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utura" panose="020B0602020204020303" pitchFamily="34" charset="-79"/>
                <a:cs typeface="Futura" panose="020B0602020204020303" pitchFamily="34" charset="-79"/>
              </a:rPr>
              <a:t>Min20, Z 2-3, 143 Drafts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25C03A-744A-0E9D-0D00-B32BC2E9A174}"/>
              </a:ext>
            </a:extLst>
          </p:cNvPr>
          <p:cNvSpPr txBox="1"/>
          <p:nvPr/>
        </p:nvSpPr>
        <p:spPr>
          <a:xfrm>
            <a:off x="6843018" y="1592433"/>
            <a:ext cx="4783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utura" panose="020B0602020204020303" pitchFamily="34" charset="-79"/>
                <a:cs typeface="Futura" panose="020B0602020204020303" pitchFamily="34" charset="-79"/>
              </a:rPr>
              <a:t>Min0, Z 2-3, 52 Drafts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A497F8-889F-833E-38DC-2CD7A149DA6F}"/>
              </a:ext>
            </a:extLst>
          </p:cNvPr>
          <p:cNvSpPr txBox="1"/>
          <p:nvPr/>
        </p:nvSpPr>
        <p:spPr>
          <a:xfrm>
            <a:off x="2250477" y="596908"/>
            <a:ext cx="6887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Why does lowering the min cum playing time </a:t>
            </a:r>
            <a:r>
              <a:rPr lang="en-US" sz="2400" i="1" dirty="0">
                <a:solidFill>
                  <a:srgbClr val="FF000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decrease</a:t>
            </a:r>
            <a:r>
              <a:rPr lang="en-US" sz="2400" dirty="0">
                <a:solidFill>
                  <a:srgbClr val="FF000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 drafts?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F405EA-C7AB-D6D3-A1BE-587A36EA4C9F}"/>
              </a:ext>
            </a:extLst>
          </p:cNvPr>
          <p:cNvSpPr txBox="1"/>
          <p:nvPr/>
        </p:nvSpPr>
        <p:spPr>
          <a:xfrm>
            <a:off x="2524797" y="5123273"/>
            <a:ext cx="6887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Because adding all those other players COMPRESSES the P2-3 band</a:t>
            </a:r>
          </a:p>
        </p:txBody>
      </p:sp>
    </p:spTree>
    <p:extLst>
      <p:ext uri="{BB962C8B-B14F-4D97-AF65-F5344CB8AC3E}">
        <p14:creationId xmlns:p14="http://schemas.microsoft.com/office/powerpoint/2010/main" val="613170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7BDDF-5C5B-97CB-8491-C9FA6BD4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E0114A-4DA4-86B4-1FEF-BA7F00B90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00800" y="3055158"/>
            <a:ext cx="5668263" cy="2744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EEA64C-3503-8FB5-08E9-FA29D12FA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2986786"/>
            <a:ext cx="5950712" cy="28810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6A6C29-157A-1DEB-B761-2609C8BCB610}"/>
              </a:ext>
            </a:extLst>
          </p:cNvPr>
          <p:cNvSpPr txBox="1"/>
          <p:nvPr/>
        </p:nvSpPr>
        <p:spPr>
          <a:xfrm>
            <a:off x="994701" y="2525121"/>
            <a:ext cx="4783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utura" panose="020B0602020204020303" pitchFamily="34" charset="-79"/>
                <a:cs typeface="Futura" panose="020B0602020204020303" pitchFamily="34" charset="-79"/>
              </a:rPr>
              <a:t>Min20, Z 2-3, 143 Drafts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91D2E6-CFA3-22AB-DE37-8DD1CD8F5814}"/>
              </a:ext>
            </a:extLst>
          </p:cNvPr>
          <p:cNvSpPr txBox="1"/>
          <p:nvPr/>
        </p:nvSpPr>
        <p:spPr>
          <a:xfrm>
            <a:off x="6843018" y="2525121"/>
            <a:ext cx="4783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utura" panose="020B0602020204020303" pitchFamily="34" charset="-79"/>
                <a:cs typeface="Futura" panose="020B0602020204020303" pitchFamily="34" charset="-79"/>
              </a:rPr>
              <a:t>Min20, Z 1.5-3, 309 Drafts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AD636E-5A08-C5CF-E0CB-06F08EBB770D}"/>
              </a:ext>
            </a:extLst>
          </p:cNvPr>
          <p:cNvSpPr txBox="1"/>
          <p:nvPr/>
        </p:nvSpPr>
        <p:spPr>
          <a:xfrm>
            <a:off x="2250477" y="596908"/>
            <a:ext cx="688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So, let’s increase the band from Z2-3 to Z1.5-3</a:t>
            </a:r>
          </a:p>
        </p:txBody>
      </p:sp>
    </p:spTree>
    <p:extLst>
      <p:ext uri="{BB962C8B-B14F-4D97-AF65-F5344CB8AC3E}">
        <p14:creationId xmlns:p14="http://schemas.microsoft.com/office/powerpoint/2010/main" val="2716543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B68DE-C398-4384-E5C6-4924BDD2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12085-F820-200D-4289-4FF99C6E8A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00800" y="3055158"/>
            <a:ext cx="5668263" cy="2744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7022B2-B2DD-EF05-9B33-F23CCE338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" y="2986786"/>
            <a:ext cx="5950712" cy="28810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A4B987-F459-854B-AFE8-12EB25A4ECEE}"/>
              </a:ext>
            </a:extLst>
          </p:cNvPr>
          <p:cNvSpPr txBox="1"/>
          <p:nvPr/>
        </p:nvSpPr>
        <p:spPr>
          <a:xfrm>
            <a:off x="994701" y="2525121"/>
            <a:ext cx="4783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utura" panose="020B0602020204020303" pitchFamily="34" charset="-79"/>
                <a:cs typeface="Futura" panose="020B0602020204020303" pitchFamily="34" charset="-79"/>
              </a:rPr>
              <a:t>Min20, Z 2-3, 143 Drafts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0F769-76EA-60FF-26FA-8192EA9A678A}"/>
              </a:ext>
            </a:extLst>
          </p:cNvPr>
          <p:cNvSpPr txBox="1"/>
          <p:nvPr/>
        </p:nvSpPr>
        <p:spPr>
          <a:xfrm>
            <a:off x="6843018" y="2525121"/>
            <a:ext cx="4783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utura" panose="020B0602020204020303" pitchFamily="34" charset="-79"/>
                <a:cs typeface="Futura" panose="020B0602020204020303" pitchFamily="34" charset="-79"/>
              </a:rPr>
              <a:t>Min20, Z 1.5-3, 309 Drafts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32D83B-95F1-35F7-D92C-BABB35BE4FCE}"/>
              </a:ext>
            </a:extLst>
          </p:cNvPr>
          <p:cNvSpPr txBox="1"/>
          <p:nvPr/>
        </p:nvSpPr>
        <p:spPr>
          <a:xfrm>
            <a:off x="2250477" y="596908"/>
            <a:ext cx="6887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And let’s compress the high bins from 10 to 7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That plot on the right is a CANDIDATE!</a:t>
            </a:r>
          </a:p>
        </p:txBody>
      </p:sp>
    </p:spTree>
    <p:extLst>
      <p:ext uri="{BB962C8B-B14F-4D97-AF65-F5344CB8AC3E}">
        <p14:creationId xmlns:p14="http://schemas.microsoft.com/office/powerpoint/2010/main" val="379847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05FD-7ECA-1DDF-3CBD-AF0FCF7D1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9E58D8-4F88-15D5-1A92-E6E211344F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2128" y="2415078"/>
            <a:ext cx="5668263" cy="2744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708DF7-56D4-DF8A-338C-D56E0891D315}"/>
              </a:ext>
            </a:extLst>
          </p:cNvPr>
          <p:cNvSpPr txBox="1"/>
          <p:nvPr/>
        </p:nvSpPr>
        <p:spPr>
          <a:xfrm>
            <a:off x="704346" y="1885041"/>
            <a:ext cx="4783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utura" panose="020B0602020204020303" pitchFamily="34" charset="-79"/>
                <a:cs typeface="Futura" panose="020B0602020204020303" pitchFamily="34" charset="-79"/>
              </a:rPr>
              <a:t>Min20, Z 1.5-3, 309 Drafts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CA57DB-004E-C7CD-5DD5-3BB92601A071}"/>
              </a:ext>
            </a:extLst>
          </p:cNvPr>
          <p:cNvSpPr txBox="1"/>
          <p:nvPr/>
        </p:nvSpPr>
        <p:spPr>
          <a:xfrm>
            <a:off x="2201200" y="596908"/>
            <a:ext cx="7076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OK that CANDIDATE looks great on the left!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But now instead of Z scores, let's look at top X%.</a:t>
            </a: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Based on slide 3, let’s try to 7%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C2F291-A685-15C9-B6B8-273DCC1FE9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59425" y="2415078"/>
            <a:ext cx="5668261" cy="2744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3917A9-1679-B86E-376A-93854D3B98AC}"/>
              </a:ext>
            </a:extLst>
          </p:cNvPr>
          <p:cNvSpPr txBox="1"/>
          <p:nvPr/>
        </p:nvSpPr>
        <p:spPr>
          <a:xfrm>
            <a:off x="6501642" y="1885041"/>
            <a:ext cx="4783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utura" panose="020B0602020204020303" pitchFamily="34" charset="-79"/>
                <a:cs typeface="Futura" panose="020B0602020204020303" pitchFamily="34" charset="-79"/>
              </a:rPr>
              <a:t>Min20, T 7%, 330 Drafts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EB0D8F-DD7F-9DF9-4E45-5D88B67CC6DF}"/>
                  </a:ext>
                </a:extLst>
              </p:cNvPr>
              <p:cNvSpPr txBox="1"/>
              <p:nvPr/>
            </p:nvSpPr>
            <p:spPr>
              <a:xfrm>
                <a:off x="1189773" y="5601724"/>
                <a:ext cx="90992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OK, That plot on the right is our new Fixed-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err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 dirty="0" err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 Hero (F-HERO)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EB0D8F-DD7F-9DF9-4E45-5D88B67CC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9773" y="5601724"/>
                <a:ext cx="9099257" cy="461665"/>
              </a:xfrm>
              <a:prstGeom prst="rect">
                <a:avLst/>
              </a:prstGeom>
              <a:blipFill>
                <a:blip r:embed="rId4"/>
                <a:stretch>
                  <a:fillRect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935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C87EB-55DB-D932-E250-7A7DDA84B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BE3EAE2-6314-2873-78A2-565892BA3576}"/>
              </a:ext>
            </a:extLst>
          </p:cNvPr>
          <p:cNvSpPr txBox="1"/>
          <p:nvPr/>
        </p:nvSpPr>
        <p:spPr>
          <a:xfrm>
            <a:off x="2201200" y="596908"/>
            <a:ext cx="7076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  <a:latin typeface="Futura" panose="020B0602020204020303" pitchFamily="34" charset="-79"/>
                <a:cs typeface="Futura" panose="020B0602020204020303" pitchFamily="34" charset="-79"/>
              </a:rPr>
              <a:t>OK SO there’s our F-HERO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FA1552-2CD2-860E-BDD9-7E1CB5E80D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905271" y="1927398"/>
            <a:ext cx="5668261" cy="2744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8E07D-C030-AF73-A7FE-29652028CE7E}"/>
              </a:ext>
            </a:extLst>
          </p:cNvPr>
          <p:cNvSpPr txBox="1"/>
          <p:nvPr/>
        </p:nvSpPr>
        <p:spPr>
          <a:xfrm>
            <a:off x="3121936" y="1397361"/>
            <a:ext cx="5424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Futura" panose="020B0602020204020303" pitchFamily="34" charset="-79"/>
                <a:cs typeface="Futura" panose="020B0602020204020303" pitchFamily="34" charset="-79"/>
              </a:rPr>
              <a:t>Min20, T 7%, L4-H7, 330 Drafts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404075-8873-2B91-E0A7-79C1CFE7F312}"/>
                  </a:ext>
                </a:extLst>
              </p:cNvPr>
              <p:cNvSpPr txBox="1"/>
              <p:nvPr/>
            </p:nvSpPr>
            <p:spPr>
              <a:xfrm>
                <a:off x="371857" y="4888492"/>
                <a:ext cx="11765280" cy="1706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Now we need to do the following:</a:t>
                </a:r>
              </a:p>
              <a:p>
                <a:pPr marL="457200" indent="-457200">
                  <a:buAutoNum type="arabicPeriod"/>
                </a:pPr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Identify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 –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 knee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400" b="0" i="0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0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400" b="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(93%,∞)</m:t>
                    </m:r>
                  </m:oMath>
                </a14:m>
                <a:endParaRPr lang="en-US" sz="2400" dirty="0">
                  <a:solidFill>
                    <a:srgbClr val="7030A0"/>
                  </a:solidFill>
                  <a:latin typeface="Futura" panose="020B0602020204020303" pitchFamily="34" charset="-79"/>
                </a:endParaRPr>
              </a:p>
              <a:p>
                <a:pPr marL="457200" indent="-457200">
                  <a:buFontTx/>
                  <a:buAutoNum type="arabicPeriod"/>
                </a:pPr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Look at lower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 band intervals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240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85%,93%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sz="240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sz="240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0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75%,85\</m:t>
                        </m:r>
                        <m:r>
                          <a:rPr lang="en-US" sz="2400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d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, etc. </a:t>
                </a:r>
              </a:p>
              <a:p>
                <a:pPr marL="457200" indent="-457200">
                  <a:buFontTx/>
                  <a:buAutoNum type="arabicPeriod"/>
                </a:pPr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See if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4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 knee (and 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) moves left or right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404075-8873-2B91-E0A7-79C1CFE7F3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57" y="4888492"/>
                <a:ext cx="11765280" cy="1706365"/>
              </a:xfrm>
              <a:prstGeom prst="rect">
                <a:avLst/>
              </a:prstGeom>
              <a:blipFill>
                <a:blip r:embed="rId3"/>
                <a:stretch>
                  <a:fillRect l="-971" t="-2206" b="-6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4292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B7A09A-FE65-2B73-C797-0CE6ABB769DD}"/>
              </a:ext>
            </a:extLst>
          </p:cNvPr>
          <p:cNvSpPr txBox="1"/>
          <p:nvPr/>
        </p:nvSpPr>
        <p:spPr>
          <a:xfrm>
            <a:off x="1655064" y="377952"/>
            <a:ext cx="888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Futura" panose="020B0602020204020303" pitchFamily="34" charset="-79"/>
                <a:cs typeface="Futura" panose="020B0602020204020303" pitchFamily="34" charset="-79"/>
              </a:rPr>
              <a:t>Distribution of total season minutes – Drafted Players Only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C6B055-426F-7934-4CB8-F3558677B7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17193" y="1505712"/>
            <a:ext cx="7772398" cy="481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216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414D4-F88C-2AD9-101C-5EBFA3152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49DCE5-8B3A-1832-5F91-AD77A8EE3D09}"/>
              </a:ext>
            </a:extLst>
          </p:cNvPr>
          <p:cNvSpPr txBox="1"/>
          <p:nvPr/>
        </p:nvSpPr>
        <p:spPr>
          <a:xfrm>
            <a:off x="1655064" y="377952"/>
            <a:ext cx="888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Futura" panose="020B0602020204020303" pitchFamily="34" charset="-79"/>
                <a:cs typeface="Futura" panose="020B0602020204020303" pitchFamily="34" charset="-79"/>
              </a:rPr>
              <a:t>Distribution of ARGMS – Drafted Players Only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8F4697-08A2-07BD-4860-D587FBA4D9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17193" y="1505712"/>
            <a:ext cx="7772398" cy="481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685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623E9-5590-2EAA-D46E-111A9BE4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36F271-20E1-6C83-AF2D-A2B7054F9BAC}"/>
              </a:ext>
            </a:extLst>
          </p:cNvPr>
          <p:cNvSpPr txBox="1"/>
          <p:nvPr/>
        </p:nvSpPr>
        <p:spPr>
          <a:xfrm>
            <a:off x="1655064" y="377952"/>
            <a:ext cx="8881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Futura" panose="020B0602020204020303" pitchFamily="34" charset="-79"/>
                <a:cs typeface="Futura" panose="020B0602020204020303" pitchFamily="34" charset="-79"/>
              </a:rPr>
              <a:t>Distribution of APGMS – Drafted Players Only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2B239C-1C83-532B-0271-04B1E6CB23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17193" y="1505712"/>
            <a:ext cx="7772398" cy="481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6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E953E-2752-3387-7C5C-149235B24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A8113C-CBB0-0A9B-40B2-51392174DF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14274" y="1907612"/>
            <a:ext cx="5908430" cy="365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F00987-095C-AFC7-9290-FECCF889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178" y="1907612"/>
            <a:ext cx="5908431" cy="3657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7696FF-492E-8CC3-18A3-432D0F44ECC1}"/>
                  </a:ext>
                </a:extLst>
              </p:cNvPr>
              <p:cNvSpPr txBox="1"/>
              <p:nvPr/>
            </p:nvSpPr>
            <p:spPr>
              <a:xfrm>
                <a:off x="2250477" y="596908"/>
                <a:ext cx="688742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Compare Distribution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err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 dirty="0" err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 (with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sz="240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) of </a:t>
                </a:r>
              </a:p>
              <a:p>
                <a:pPr algn="ctr"/>
                <a:r>
                  <a:rPr lang="en-US" sz="2400" dirty="0">
                    <a:solidFill>
                      <a:srgbClr val="0070C0"/>
                    </a:solidFill>
                    <a:latin typeface="Futura" panose="020B0602020204020303" pitchFamily="34" charset="-79"/>
                    <a:cs typeface="Futura" panose="020B0602020204020303" pitchFamily="34" charset="-79"/>
                  </a:rPr>
                  <a:t>Players on draft teams vs Drafted players only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7696FF-492E-8CC3-18A3-432D0F44E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477" y="596908"/>
                <a:ext cx="6887427" cy="830997"/>
              </a:xfrm>
              <a:prstGeom prst="rect">
                <a:avLst/>
              </a:prstGeom>
              <a:blipFill>
                <a:blip r:embed="rId4"/>
                <a:stretch>
                  <a:fillRect t="-606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6CCBCC-ED4E-DE9F-189D-98B0D162330A}"/>
                  </a:ext>
                </a:extLst>
              </p:cNvPr>
              <p:cNvSpPr txBox="1"/>
              <p:nvPr/>
            </p:nvSpPr>
            <p:spPr>
              <a:xfrm>
                <a:off x="633985" y="5396337"/>
                <a:ext cx="4992144" cy="86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Futura" panose="020B0602020204020303" pitchFamily="34" charset="-79"/>
                    <a:cs typeface="Futura" panose="020B0602020204020303" pitchFamily="34" charset="-79"/>
                  </a:rPr>
                  <a:t>Players on a draft team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=0.087</m:t>
                    </m:r>
                  </m:oMath>
                </a14:m>
                <a:r>
                  <a:rPr lang="en-US" sz="2400" dirty="0">
                    <a:latin typeface="Futura" panose="020B0602020204020303" pitchFamily="34" charset="-79"/>
                    <a:cs typeface="Futura" panose="020B0602020204020303" pitchFamily="34" charset="-79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=0.757</m:t>
                    </m:r>
                  </m:oMath>
                </a14:m>
                <a:r>
                  <a:rPr lang="en-US" sz="2400" dirty="0">
                    <a:latin typeface="Futura" panose="020B0602020204020303" pitchFamily="34" charset="-79"/>
                    <a:cs typeface="Futura" panose="020B0602020204020303" pitchFamily="34" charset="-79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=0.088</m:t>
                    </m:r>
                  </m:oMath>
                </a14:m>
                <a:endParaRPr lang="en-US" sz="2400" dirty="0">
                  <a:latin typeface="Futura" panose="020B0602020204020303" pitchFamily="34" charset="-79"/>
                  <a:cs typeface="Futura" panose="020B0602020204020303" pitchFamily="34" charset="-79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6CCBCC-ED4E-DE9F-189D-98B0D16233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85" y="5396337"/>
                <a:ext cx="4992144" cy="860748"/>
              </a:xfrm>
              <a:prstGeom prst="rect">
                <a:avLst/>
              </a:prstGeom>
              <a:blipFill>
                <a:blip r:embed="rId5"/>
                <a:stretch>
                  <a:fillRect t="-579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DDDA2A-37B2-46F0-764E-D081A6F560D7}"/>
                  </a:ext>
                </a:extLst>
              </p:cNvPr>
              <p:cNvSpPr txBox="1"/>
              <p:nvPr/>
            </p:nvSpPr>
            <p:spPr>
              <a:xfrm>
                <a:off x="6492221" y="5396337"/>
                <a:ext cx="4783827" cy="86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Futura" panose="020B0602020204020303" pitchFamily="34" charset="-79"/>
                    <a:cs typeface="Futura" panose="020B0602020204020303" pitchFamily="34" charset="-79"/>
                  </a:rPr>
                  <a:t>Only drafted players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=1.082</m:t>
                    </m:r>
                  </m:oMath>
                </a14:m>
                <a:r>
                  <a:rPr lang="en-US" sz="2400" dirty="0">
                    <a:latin typeface="Futura" panose="020B0602020204020303" pitchFamily="34" charset="-79"/>
                    <a:cs typeface="Futura" panose="020B0602020204020303" pitchFamily="34" charset="-79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922</m:t>
                    </m:r>
                  </m:oMath>
                </a14:m>
                <a:r>
                  <a:rPr lang="en-US" sz="2400" dirty="0">
                    <a:latin typeface="Futura" panose="020B0602020204020303" pitchFamily="34" charset="-79"/>
                    <a:cs typeface="Futura" panose="020B0602020204020303" pitchFamily="34" charset="-79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0" dirty="0" smtClean="0">
                        <a:latin typeface="Cambria Math" panose="02040503050406030204" pitchFamily="18" charset="0"/>
                      </a:rPr>
                      <m:t>=0.088</m:t>
                    </m:r>
                  </m:oMath>
                </a14:m>
                <a:endParaRPr lang="en-US" sz="2400" dirty="0">
                  <a:latin typeface="Futura" panose="020B0602020204020303" pitchFamily="34" charset="-79"/>
                  <a:cs typeface="Futura" panose="020B0602020204020303" pitchFamily="34" charset="-79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DDDA2A-37B2-46F0-764E-D081A6F56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221" y="5396337"/>
                <a:ext cx="4783827" cy="860748"/>
              </a:xfrm>
              <a:prstGeom prst="rect">
                <a:avLst/>
              </a:prstGeom>
              <a:blipFill>
                <a:blip r:embed="rId6"/>
                <a:stretch>
                  <a:fillRect t="-5797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197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44C11-7013-FCE7-4A43-188825BE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710A6B5-F75E-761D-0D03-AB6329F0B3A2}"/>
              </a:ext>
            </a:extLst>
          </p:cNvPr>
          <p:cNvGrpSpPr/>
          <p:nvPr/>
        </p:nvGrpSpPr>
        <p:grpSpPr>
          <a:xfrm>
            <a:off x="933202" y="822960"/>
            <a:ext cx="10081756" cy="5992368"/>
            <a:chOff x="1151382" y="487680"/>
            <a:chExt cx="10081756" cy="599236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9991A04-F6CA-9780-BD12-0731163C31F4}"/>
                </a:ext>
              </a:extLst>
            </p:cNvPr>
            <p:cNvGrpSpPr/>
            <p:nvPr/>
          </p:nvGrpSpPr>
          <p:grpSpPr>
            <a:xfrm>
              <a:off x="1151382" y="487680"/>
              <a:ext cx="10081756" cy="5992368"/>
              <a:chOff x="1352550" y="609600"/>
              <a:chExt cx="10081756" cy="599236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4A6C6A47-4794-7B60-E282-FA022D2A0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52550" y="609600"/>
                <a:ext cx="10081756" cy="5992368"/>
              </a:xfrm>
              <a:prstGeom prst="rect">
                <a:avLst/>
              </a:prstGeom>
            </p:spPr>
          </p:pic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7B75E5DB-4A77-0EED-9CE8-29BCAD3B72BB}"/>
                  </a:ext>
                </a:extLst>
              </p:cNvPr>
              <p:cNvSpPr/>
              <p:nvPr/>
            </p:nvSpPr>
            <p:spPr>
              <a:xfrm>
                <a:off x="6589776" y="1361349"/>
                <a:ext cx="91440" cy="91440"/>
              </a:xfrm>
              <a:prstGeom prst="ellipse">
                <a:avLst/>
              </a:prstGeom>
              <a:solidFill>
                <a:srgbClr val="7A81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E382644-725F-788F-DA02-3706D360FD2E}"/>
                  </a:ext>
                </a:extLst>
              </p:cNvPr>
              <p:cNvSpPr/>
              <p:nvPr/>
            </p:nvSpPr>
            <p:spPr>
              <a:xfrm>
                <a:off x="5870448" y="2050197"/>
                <a:ext cx="91440" cy="91440"/>
              </a:xfrm>
              <a:prstGeom prst="ellipse">
                <a:avLst/>
              </a:prstGeom>
              <a:solidFill>
                <a:srgbClr val="7A81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BC49869-3DA3-8249-0E3A-E5C27A37A1BF}"/>
                  </a:ext>
                </a:extLst>
              </p:cNvPr>
              <p:cNvSpPr/>
              <p:nvPr/>
            </p:nvSpPr>
            <p:spPr>
              <a:xfrm>
                <a:off x="4992624" y="3519333"/>
                <a:ext cx="91440" cy="91440"/>
              </a:xfrm>
              <a:prstGeom prst="ellipse">
                <a:avLst/>
              </a:prstGeom>
              <a:solidFill>
                <a:srgbClr val="7A81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67DE90-569C-CAFF-D9D2-B64DE05796FE}"/>
                </a:ext>
              </a:extLst>
            </p:cNvPr>
            <p:cNvSpPr txBox="1"/>
            <p:nvPr/>
          </p:nvSpPr>
          <p:spPr>
            <a:xfrm>
              <a:off x="5893556" y="1146649"/>
              <a:ext cx="5407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A81FF"/>
                  </a:solidFill>
                </a:rPr>
                <a:t>93%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A164B7-69DF-863C-E6F9-12D13142092F}"/>
                </a:ext>
              </a:extLst>
            </p:cNvPr>
            <p:cNvSpPr txBox="1"/>
            <p:nvPr/>
          </p:nvSpPr>
          <p:spPr>
            <a:xfrm>
              <a:off x="5193792" y="1835497"/>
              <a:ext cx="490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A81FF"/>
                  </a:solidFill>
                </a:rPr>
                <a:t>78%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FBDAB2F-4095-DA1E-75C2-B6231D34D5D8}"/>
                </a:ext>
              </a:extLst>
            </p:cNvPr>
            <p:cNvSpPr txBox="1"/>
            <p:nvPr/>
          </p:nvSpPr>
          <p:spPr>
            <a:xfrm>
              <a:off x="4230624" y="3258913"/>
              <a:ext cx="502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7A81FF"/>
                  </a:solidFill>
                </a:rPr>
                <a:t>46%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6C2A3A9-5EF6-AB94-6A4C-63F892D79DF4}"/>
              </a:ext>
            </a:extLst>
          </p:cNvPr>
          <p:cNvSpPr txBox="1"/>
          <p:nvPr/>
        </p:nvSpPr>
        <p:spPr>
          <a:xfrm>
            <a:off x="542544" y="377952"/>
            <a:ext cx="1086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Futura" panose="020B0602020204020303" pitchFamily="34" charset="-79"/>
                <a:cs typeface="Futura" panose="020B0602020204020303" pitchFamily="34" charset="-79"/>
              </a:rPr>
              <a:t>Use the CDF’s for both draft teams and drafted players to estimate 30% intervals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19DEED-067E-3B09-3F37-06C70AA86420}"/>
                  </a:ext>
                </a:extLst>
              </p:cNvPr>
              <p:cNvSpPr txBox="1"/>
              <p:nvPr/>
            </p:nvSpPr>
            <p:spPr>
              <a:xfrm>
                <a:off x="6638544" y="2974848"/>
                <a:ext cx="3925824" cy="115416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1200" b="1" dirty="0">
                    <a:latin typeface="Avenir Next" panose="020B0503020202020204" pitchFamily="34" charset="0"/>
                  </a:rPr>
                  <a:t>Top 30% draftee's interval: 97% - </a:t>
                </a:r>
                <a14:m>
                  <m:oMath xmlns:m="http://schemas.openxmlformats.org/officeDocument/2006/math">
                    <m:r>
                      <a:rPr lang="en-US" sz="1200" b="1" dirty="0" smtClean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sz="1200" b="1" dirty="0">
                    <a:latin typeface="Avenir Next" panose="020B0503020202020204" pitchFamily="34" charset="0"/>
                  </a:rPr>
                  <a:t> of players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200" b="1" dirty="0">
                    <a:latin typeface="Avenir Next" panose="020B0503020202020204" pitchFamily="34" charset="0"/>
                  </a:rPr>
                  <a:t>Next 30% interval:  78% - 97% interval of players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1200" b="1" dirty="0">
                    <a:latin typeface="Avenir Next" panose="020B0503020202020204" pitchFamily="34" charset="0"/>
                  </a:rPr>
                  <a:t>Next 30% interval:  46% - 78% interval of players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219DEED-067E-3B09-3F37-06C70AA86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544" y="2974848"/>
                <a:ext cx="3925824" cy="1154162"/>
              </a:xfrm>
              <a:prstGeom prst="rect">
                <a:avLst/>
              </a:prstGeom>
              <a:blipFill>
                <a:blip r:embed="rId3"/>
                <a:stretch>
                  <a:fillRect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0255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3F96EE-01F3-98E6-61FB-0460D1A979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423330" y="987837"/>
            <a:ext cx="9494606" cy="560295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E89F33-4DA6-38B9-A98E-E53FF9F356A5}"/>
                  </a:ext>
                </a:extLst>
              </p:cNvPr>
              <p:cNvSpPr txBox="1"/>
              <p:nvPr/>
            </p:nvSpPr>
            <p:spPr>
              <a:xfrm>
                <a:off x="542544" y="377952"/>
                <a:ext cx="10863072" cy="383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Futura" panose="020B0602020204020303" pitchFamily="34" charset="-79"/>
                    <a:cs typeface="Futura" panose="020B0602020204020303" pitchFamily="34" charset="-79"/>
                  </a:rPr>
                  <a:t>Using the intervals, convert bar charts to line plots and look for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latin typeface="Futura" panose="020B0602020204020303" pitchFamily="34" charset="-79"/>
                    <a:cs typeface="Futura" panose="020B0602020204020303" pitchFamily="34" charset="-79"/>
                  </a:rPr>
                  <a:t> “knees”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E89F33-4DA6-38B9-A98E-E53FF9F35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4" y="377952"/>
                <a:ext cx="10863072" cy="383759"/>
              </a:xfrm>
              <a:prstGeom prst="rect">
                <a:avLst/>
              </a:prstGeom>
              <a:blipFill>
                <a:blip r:embed="rId3"/>
                <a:stretch>
                  <a:fillRect t="-6250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5335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487</Words>
  <Application>Microsoft Macintosh PowerPoint</Application>
  <PresentationFormat>Widescreen</PresentationFormat>
  <Paragraphs>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Avenir Next</vt:lpstr>
      <vt:lpstr>Cambria Math</vt:lpstr>
      <vt:lpstr>Futura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Levine, Charles R CTR</dc:creator>
  <cp:lastModifiedBy>Levine, Charles R CTR</cp:lastModifiedBy>
  <cp:revision>18</cp:revision>
  <cp:lastPrinted>2026-08-24T19:00:14Z</cp:lastPrinted>
  <dcterms:created xsi:type="dcterms:W3CDTF">2026-08-24T17:14:37Z</dcterms:created>
  <dcterms:modified xsi:type="dcterms:W3CDTF">2026-08-25T13:13:46Z</dcterms:modified>
</cp:coreProperties>
</file>