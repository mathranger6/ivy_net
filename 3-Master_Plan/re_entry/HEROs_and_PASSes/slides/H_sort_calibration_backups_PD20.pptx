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61AD4-B570-394D-DF0E-E4CAFBCE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8291A-2F81-E820-C951-FF462AE39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6389D-9978-0E54-6B0F-DC33BCE7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6B0B8-3CA6-3B41-FAE1-DC6AC38D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2519E-4B06-1A3F-5D5B-6E1CFCAF3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897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5336-66BA-D37D-35AD-B0F7F73F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CEC20-85BE-64BD-4047-40CE9A18D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3DB6F-87ED-D319-51BA-509A0CBD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F8CA8-C795-1FB1-ED38-D508F12B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E336B-07AB-26C7-19B0-81F389B5E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9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1B0B-A976-AED2-7975-E7D0A3A11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ED794-3AB0-9B9E-7ABA-C56101BFC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5AB4F-1236-BFF6-7CC3-066E6CF87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6987E-7561-15E4-6162-7FEBEAA85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6629B-6D2B-AA59-5C2A-FB8437CA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1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127D-76C1-95C1-601A-9524E3D1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EF83B-A1DF-4ECA-BD85-FEF861AA45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FDB4A-87A8-BDB5-22F6-EFB829EFB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CD162-803F-9982-5700-0DC864C61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89BD3-FE01-F391-7F06-B8679B0EC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C71A9-287C-60F1-1FAE-8FE24C49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4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79562-339E-5D21-75B9-3E3CB671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47A53-320F-D48A-C93C-DF16BD703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83ED5-A1D5-D019-9CF5-711916BB1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F0535-B5FA-C15C-D1B8-54D3E0DA2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BE9FE-4C47-5A36-3363-F402068C1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789A11-0A23-74D5-35B2-4E73D57F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5F1DD-CC9E-A810-BE74-6FC16A48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EFF08-779B-BADE-EFE0-8A245270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18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C853-0975-860F-3737-13C089FB7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2E07C-803C-2DCA-5483-C69623A5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84637-0747-2356-CC4A-4841E9F4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3E771-10B4-E307-1D65-C91960A5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6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103566-190E-56CF-7BE4-4DF784E3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32A7F-DB2D-DDC7-1C5D-DC725CE8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E9A65-3DB8-2C68-2716-FB6D7354D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4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7618-FBC9-D97F-4713-A8DC14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0A2DD-155B-FB57-FC8B-D7487F30A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30A2B-4860-2ACA-8A67-A84B986F0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188A4-ECA9-1A9B-54C5-79D1807E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8A240-3E51-52FC-B7DC-FEE7183D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AC6A-8BEF-C095-9E18-2602D4FB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0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E39A-218D-1E5B-722F-71BFA9ED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FF0FE-19BC-3B58-04AC-D90B389281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79975-D289-90EC-6A28-72945460E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44ADE-766D-0527-F004-2D391939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B6834-4CBB-499E-43E3-5CEC747E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4A797-F29D-9D16-4B83-6BC61379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1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0CF7-FD68-306F-DFFE-C8AA2FC8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62286-E3AB-B4BB-3DF9-6E54C62BF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B81B1-F73E-2B2B-A711-7081828C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0BE04-B9E5-7A44-666E-6C91B87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6EC2D-8930-0953-FDED-54D21BEF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55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427CB5-8F5F-414D-CF14-812CC9FA97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A67F5-DDB8-2999-5847-ED4425561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EAC15-F4FE-3258-1383-48869337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6F133-3344-7ADF-0EBB-5EEEC19D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4DF04-8254-E0E8-6D27-C2A2237A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855DC-B29E-D50D-D362-B698FADEA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79376-D857-4B3B-8314-98CCD6AC4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9E96F-470C-DD93-B092-E53B649F8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E125A-929C-164E-B3D9-2B011143E11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BE6D9-A731-F9D5-CD22-7C4086898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9831D-1AE6-4A0E-E74B-6B65EEFD6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3C476-64FB-294E-8F8A-18CCC976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6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CCC23D2-3B68-143D-E53E-8E9E3E66C14F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lang="en-US" dirty="0"/>
                  <a:t> Calibration backups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CCC23D2-3B68-143D-E53E-8E9E3E66C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 b="-17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CF5BDBFC-807C-265A-11EA-7E1DD794D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27213" y="971077"/>
            <a:ext cx="8320406" cy="54231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8962966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PD21 — Calibrate homophily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000" b="1" i="0" baseline="0" dirty="0">
                    <a:latin typeface="Calibri"/>
                  </a:rPr>
                  <a:t> </a:t>
                </a:r>
                <a:r>
                  <a:rPr sz="2000" b="1" i="0" baseline="0" dirty="0">
                    <a:latin typeface="Calibri"/>
                  </a:rPr>
                  <a:t>to empirical sorting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2000" b="1" i="0" baseline="0" dirty="0">
                    <a:latin typeface="Calibri"/>
                  </a:rPr>
                  <a:t> </a:t>
                </a:r>
                <a:r>
                  <a:rPr lang="en-US" sz="2000" b="1" i="1" baseline="0" dirty="0">
                    <a:solidFill>
                      <a:srgbClr val="FF0000"/>
                    </a:solidFill>
                    <a:latin typeface="Calibri"/>
                  </a:rPr>
                  <a:t>WITH ROSTER CAPS</a:t>
                </a:r>
                <a:endParaRPr sz="2000" b="1" i="1" baseline="0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8962966" cy="400110"/>
              </a:xfrm>
              <a:prstGeom prst="rect">
                <a:avLst/>
              </a:prstGeom>
              <a:blipFill>
                <a:blip r:embed="rId3"/>
                <a:stretch>
                  <a:fillRect l="-708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647192"/>
                <a:ext cx="7094186" cy="260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PD21 · LG ASSIGN calibration · 2011-2021 · 50 seeds · bracket </a:t>
                </a:r>
                <a:r>
                  <a:rPr sz="1000" b="0" i="0" baseline="0" dirty="0" err="1">
                    <a:latin typeface="Calibri"/>
                  </a:rPr>
                  <a:t>tol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≈0.0703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  <m:sup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𝑠𝑖𝑚</m:t>
                        </m:r>
                      </m:sup>
                    </m:sSubSup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=0.118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  <m:sup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𝑒𝑚𝑝</m:t>
                        </m:r>
                      </m:sup>
                    </m:sSubSup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7192"/>
                <a:ext cx="7094186" cy="260777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880" y="1053120"/>
                <a:ext cx="3535680" cy="5296470"/>
              </a:xfrm>
              <a:prstGeom prst="rect">
                <a:avLst/>
              </a:prstGeom>
              <a:noFill/>
            </p:spPr>
            <p:txBody>
              <a:bodyPr wrap="square" numCol="1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C</a:t>
                </a:r>
                <a:r>
                  <a:rPr sz="1000" b="0" i="0" baseline="0" dirty="0">
                    <a:latin typeface="Calibri"/>
                  </a:rPr>
                  <a:t>alibrate ASSIGN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so LG simulated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matches empirical NCAA; formal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MLE parked.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2011–2021 hero MBB · min 20 min · empirical roster caps · PPM z within season.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Search: bracket + bisect (</a:t>
                </a:r>
                <a:r>
                  <a:rPr sz="1000" b="0" i="0" baseline="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seeds/arm;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monotone 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≈0.07031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=1.5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−05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Per-season: 6/11 seasons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b="0" i="0" baseline="0" dirty="0">
                    <a:latin typeface="Calibri"/>
                  </a:rPr>
                  <a:t>     </a:t>
                </a:r>
                <a:r>
                  <a:rPr sz="1000" b="0" i="0" baseline="0" dirty="0">
                    <a:latin typeface="Calibri"/>
                  </a:rPr>
                  <a:t>nonzero —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b="0" i="0" baseline="0" dirty="0">
                    <a:latin typeface="Calibri"/>
                  </a:rPr>
                  <a:t>     </a:t>
                </a:r>
                <a:r>
                  <a:rPr sz="1000" b="0" i="0" baseline="0" dirty="0">
                    <a:latin typeface="Calibri"/>
                  </a:rPr>
                  <a:t>2013: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≈0.0715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lang="en-US" sz="100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2015: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≈0.0668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lang="en-US" sz="100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2018: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≈0.0168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b="0" i="0" baseline="0" dirty="0">
                    <a:latin typeface="Calibri"/>
                  </a:rPr>
                  <a:t>     </a:t>
                </a:r>
                <a:r>
                  <a:rPr sz="1000" b="0" i="0" baseline="0" dirty="0">
                    <a:latin typeface="Calibri"/>
                  </a:rPr>
                  <a:t>2019: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≈0.0293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2021: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≈0.0652</m:t>
                    </m:r>
                  </m:oMath>
                </a14:m>
                <a:endParaRPr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Legacy reference </a:t>
                </a:r>
                <a:endParaRPr lang="en-US" sz="1000" b="0" i="0" baseline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b="0" baseline="0" dirty="0"/>
                  <a:t>  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≈0.098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≈1.5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−05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Figure: small multiples — blue sim curve, red empirical line, green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(x-axis zoomed to evaluated bracket; reference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excluded from axis).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1053120"/>
                <a:ext cx="3535680" cy="52964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6" y="6349589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(Alex): Near-zero ASSIGN homophily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matches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on the hero panel — legacy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overshoots simulated sorting by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∼0.10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6" y="6349589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2154F-F783-D398-266C-11120BC4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96B91E-1770-55F3-E2C8-4FF1803FC3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31711" y="974009"/>
            <a:ext cx="8311409" cy="54173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F3254F-616A-27B4-F8B0-9FA622D72930}"/>
                  </a:ext>
                </a:extLst>
              </p:cNvPr>
              <p:cNvSpPr txBox="1"/>
              <p:nvPr/>
            </p:nvSpPr>
            <p:spPr>
              <a:xfrm>
                <a:off x="384048" y="219456"/>
                <a:ext cx="1129764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PD21 — Calibrate homophily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000" b="1" i="0" baseline="0" dirty="0">
                    <a:latin typeface="Calibri"/>
                  </a:rPr>
                  <a:t> </a:t>
                </a:r>
                <a:r>
                  <a:rPr sz="2000" b="1" i="0" baseline="0" dirty="0">
                    <a:latin typeface="Calibri"/>
                  </a:rPr>
                  <a:t>to empirical sorting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2000" b="1" i="0" baseline="0" dirty="0">
                    <a:latin typeface="Calibri"/>
                  </a:rPr>
                  <a:t> </a:t>
                </a:r>
                <a:r>
                  <a:rPr lang="en-US" sz="2000" b="1" i="1" baseline="0" dirty="0">
                    <a:solidFill>
                      <a:srgbClr val="FF0000"/>
                    </a:solidFill>
                    <a:latin typeface="Calibri"/>
                  </a:rPr>
                  <a:t>NO</a:t>
                </a:r>
                <a:r>
                  <a:rPr lang="en-US" sz="2000" b="1" i="1" dirty="0">
                    <a:solidFill>
                      <a:srgbClr val="FF0000"/>
                    </a:solidFill>
                    <a:latin typeface="Calibri"/>
                  </a:rPr>
                  <a:t> ROSTER CAPS BUT PPM=0 if min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endParaRPr sz="2000" b="1" i="1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F3254F-616A-27B4-F8B0-9FA622D72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11297645" cy="400110"/>
              </a:xfrm>
              <a:prstGeom prst="rect">
                <a:avLst/>
              </a:prstGeom>
              <a:blipFill>
                <a:blip r:embed="rId3"/>
                <a:stretch>
                  <a:fillRect l="-562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A5F434-3593-C022-CCE4-E65A6492FBEE}"/>
                  </a:ext>
                </a:extLst>
              </p:cNvPr>
              <p:cNvSpPr txBox="1"/>
              <p:nvPr/>
            </p:nvSpPr>
            <p:spPr>
              <a:xfrm>
                <a:off x="384048" y="647192"/>
                <a:ext cx="7709611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1000" b="0" i="0" baseline="0" dirty="0">
                    <a:latin typeface="Calibri"/>
                  </a:rPr>
                  <a:t>PD21 · LG ASSIGN calibration · 2011-2021 · 50 seeds · bracket </a:t>
                </a:r>
                <a:r>
                  <a:rPr lang="en-US" sz="1000" b="0" i="0" baseline="0" dirty="0" err="1">
                    <a:latin typeface="Calibri"/>
                  </a:rPr>
                  <a:t>tol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·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≈0.57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· all roster rows; raw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if minutes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&lt;20</m:t>
                    </m:r>
                  </m:oMath>
                </a14:m>
                <a:endParaRPr lang="en-US"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A5F434-3593-C022-CCE4-E65A6492F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7192"/>
                <a:ext cx="7709611" cy="246221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54CAA-A443-C604-4BAE-9D544A995841}"/>
                  </a:ext>
                </a:extLst>
              </p:cNvPr>
              <p:cNvSpPr txBox="1"/>
              <p:nvPr/>
            </p:nvSpPr>
            <p:spPr>
              <a:xfrm>
                <a:off x="182880" y="1053120"/>
                <a:ext cx="3535680" cy="5296470"/>
              </a:xfrm>
              <a:prstGeom prst="rect">
                <a:avLst/>
              </a:prstGeom>
              <a:noFill/>
            </p:spPr>
            <p:txBody>
              <a:bodyPr wrap="square" numCol="1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C</a:t>
                </a:r>
                <a:r>
                  <a:rPr sz="1000" b="0" i="0" baseline="0" dirty="0">
                    <a:latin typeface="Calibri"/>
                  </a:rPr>
                  <a:t>alibrate ASSIGN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so LG simulated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matches empirical NCAA; formal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MLE parked.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2011–2021 hero MBB · min 20 min · empirical roster caps · PPM z within season.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b="0" i="0" baseline="0" dirty="0">
                    <a:latin typeface="Calibri"/>
                  </a:rPr>
                  <a:t> Search: bracket + bisect (</a:t>
                </a:r>
                <a:r>
                  <a:rPr lang="en-US" sz="1000" b="0" i="0" baseline="0" dirty="0" err="1">
                    <a:latin typeface="Calibri"/>
                  </a:rPr>
                  <a:t>tol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seeds/arm;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lang="en-US" sz="1000" b="0" i="0" baseline="0" dirty="0">
                    <a:latin typeface="Calibri"/>
                  </a:rPr>
                  <a:t> monotone 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 </a:t>
                </a:r>
                <a:r>
                  <a:rPr lang="en-US" sz="1000" b="0" i="0" baseline="0" dirty="0">
                    <a:latin typeface="Calibri"/>
                  </a:rPr>
                  <a:t>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b="0" i="0" baseline="0" dirty="0">
                    <a:latin typeface="Calibri"/>
                  </a:rPr>
                  <a:t> 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≈0.5695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;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 </a:t>
                </a:r>
                <a:r>
                  <a:rPr lang="en-US" sz="1000" b="0" i="0" baseline="0" dirty="0">
                    <a:latin typeface="Calibri"/>
                  </a:rPr>
                  <a:t>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lang="en-US"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=0.169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 </a:t>
                </a:r>
                <a:r>
                  <a:rPr lang="en-US" sz="1000" b="0" i="0" baseline="0" dirty="0">
                    <a:latin typeface="Calibri"/>
                  </a:rPr>
                  <a:t>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emp</m:t>
                        </m:r>
                      </m:sup>
                    </m:sSubSup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=0.171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b="0" i="0" baseline="0" dirty="0">
                    <a:latin typeface="Calibri"/>
                  </a:rPr>
                  <a:t>  Per-season: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0/11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seasons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Legacy reference </a:t>
                </a:r>
                <a:endParaRPr lang="en-US" sz="1000" b="0" i="0" baseline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/>
                  <a:t>    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≈0.061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≈4.6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−06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b="0" i="0" baseline="0" dirty="0">
                    <a:latin typeface="Calibri"/>
                  </a:rPr>
                  <a:t>.</a:t>
                </a:r>
                <a:r>
                  <a:rPr sz="1000" b="0" i="0" baseline="0" dirty="0">
                    <a:latin typeface="Calibri"/>
                  </a:rPr>
                  <a:t> 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</a:t>
                </a:r>
                <a:r>
                  <a:rPr sz="1000" b="0" i="0" baseline="0" dirty="0">
                    <a:latin typeface="Calibri"/>
                  </a:rPr>
                  <a:t>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 </a:t>
                </a:r>
                <a:r>
                  <a:rPr sz="1000" b="0" i="0" baseline="0" dirty="0">
                    <a:latin typeface="Calibri"/>
                  </a:rPr>
                  <a:t>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Figure: small multiples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 </a:t>
                </a:r>
                <a:r>
                  <a:rPr sz="1000" b="0" i="0" baseline="0" dirty="0">
                    <a:latin typeface="Calibri"/>
                  </a:rPr>
                  <a:t>— blue sim curve, red empirical line, green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(x-axis zoomed to evaluated bracket; reference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excluded from axis).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54CAA-A443-C604-4BAE-9D544A995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1053120"/>
                <a:ext cx="3535680" cy="52964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AE0A9B-08B7-BE7E-32A0-0D3E59138E0B}"/>
                  </a:ext>
                </a:extLst>
              </p:cNvPr>
              <p:cNvSpPr txBox="1"/>
              <p:nvPr/>
            </p:nvSpPr>
            <p:spPr>
              <a:xfrm>
                <a:off x="384046" y="6349589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(Alex): Near-zero ASSIGN homophily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matches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on the hero panel — legacy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overshoots simulated sorting by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∼0.10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AE0A9B-08B7-BE7E-32A0-0D3E59138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6" y="6349589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99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D21_rho_hsort_calibrate_2011_2021_ppm0lt20_bracket_rho_hsort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318" y="1658058"/>
            <a:ext cx="8355682" cy="44867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611308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PD21 —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2000" b="1" i="0" baseline="0" dirty="0">
                    <a:latin typeface="Calibri"/>
                  </a:rPr>
                  <a:t> and empirical sorting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6113084" cy="400110"/>
              </a:xfrm>
              <a:prstGeom prst="rect">
                <a:avLst/>
              </a:prstGeom>
              <a:blipFill>
                <a:blip r:embed="rId3"/>
                <a:stretch>
                  <a:fillRect l="-1037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532581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PD21 ·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vs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2011-2021 · all roster rows; raw PPM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if minutes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&lt;20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325817" cy="24622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5365" y="1149319"/>
                <a:ext cx="3884869" cy="2486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2011–2021 hero MBB · all roster rows; raw PPM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if minutes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&lt;20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empirical roster caps.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Red (left): per-season calibrated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; dotted red = mean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≈0.477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 Open circles = hit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cap.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Blue (right):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by season; dotted blue = longitudinal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emp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≈0.171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Use Change Picture for a larger export — layout leaves full slide width for the plot.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65" y="1149319"/>
                <a:ext cx="3884869" cy="2486002"/>
              </a:xfrm>
              <a:prstGeom prst="rect">
                <a:avLst/>
              </a:prstGeom>
              <a:blipFill>
                <a:blip r:embed="rId5"/>
                <a:stretch>
                  <a:fillRect b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661</Words>
  <Application>Microsoft Macintosh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 Math</vt:lpstr>
      <vt:lpstr>Office Theme</vt:lpstr>
      <vt:lpstr>H_sort Calibration backups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2</cp:revision>
  <dcterms:created xsi:type="dcterms:W3CDTF">2026-08-18T01:26:38Z</dcterms:created>
  <dcterms:modified xsi:type="dcterms:W3CDTF">2026-08-18T02:12:25Z</dcterms:modified>
</cp:coreProperties>
</file>