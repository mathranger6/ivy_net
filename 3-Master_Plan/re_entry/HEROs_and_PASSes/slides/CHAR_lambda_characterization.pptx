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λ</a:t>
            </a:r>
            <a:r>
              <a:rPr sz="2000"/>
              <a:t> (congestion in score)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λ</a:t>
            </a:r>
            <a:r>
              <a:rPr sz="1100"/>
              <a:t> — one-at-a-time at 539 baseline (assign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200" i="1">
                <a:latin typeface="Cambria Math"/>
              </a:rPr>
              <a:t>S</a:t>
            </a:r>
            <a:r>
              <a:rPr sz="1000" i="1" baseline="-25000">
                <a:latin typeface="Cambria Math"/>
              </a:rPr>
              <a:t>i</a:t>
            </a:r>
            <a:r>
              <a:rPr sz="1200" i="1">
                <a:latin typeface="Cambria Math"/>
              </a:rPr>
              <a:t> = A</a:t>
            </a:r>
            <a:r>
              <a:rPr sz="1000" i="1" baseline="-25000">
                <a:latin typeface="Cambria Math"/>
              </a:rPr>
              <a:t>i</a:t>
            </a:r>
            <a:r>
              <a:rPr sz="1200" i="1">
                <a:latin typeface="Cambria Math"/>
              </a:rPr>
              <a:t> - λ · L</a:t>
            </a:r>
            <a:r>
              <a:rPr sz="1000" i="1" baseline="-25000">
                <a:latin typeface="Cambria Math"/>
              </a:rPr>
              <a:t>C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 fixed (soft assign; same roster all arms)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λ ∈ {0, 0.25, 0.55, 1}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B_lambda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032" y="768096"/>
            <a:ext cx="6333319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+ one assignment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SCORE changes.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λ=0</a:t>
            </a:r>
            <a:r>
              <a:rPr sz="900"/>
              <a:t>: 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 only — selection vs pool mean stays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λ&gt;0</a:t>
            </a:r>
            <a:r>
              <a:rPr sz="900"/>
              <a:t>: congestion in score —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/ roster-pressure readout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Pairs with Pass C: </a:t>
            </a:r>
            <a:r>
              <a:rPr sz="900" i="1">
                <a:latin typeface="Cambria Math"/>
              </a:rPr>
              <a:t>λ</a:t>
            </a:r>
            <a:r>
              <a:rPr sz="900"/>
              <a:t> bends score; </a:t>
            </a:r>
            <a:r>
              <a:rPr sz="900" i="1">
                <a:latin typeface="Cambria Math"/>
              </a:rPr>
              <a:t>ρ</a:t>
            </a:r>
            <a:r>
              <a:rPr sz="900"/>
              <a:t> shapes the sorted roster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</a:t>
            </a:r>
            <a:r>
              <a:rPr sz="1100" i="1">
                <a:latin typeface="Cambria Math"/>
              </a:rPr>
              <a:t>ρ</a:t>
            </a:r>
            <a:r>
              <a:rPr sz="1100"/>
              <a:t>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λ</a:t>
            </a:r>
            <a:r>
              <a:rPr sz="1100"/>
              <a:t> in score matters — </a:t>
            </a:r>
            <a:r>
              <a:rPr sz="1100" i="1">
                <a:latin typeface="Cambria Math"/>
              </a:rPr>
              <a:t>λ=0</a:t>
            </a:r>
            <a:r>
              <a:rPr sz="1100"/>
              <a:t> yields a roughly monotone talent ladder; </a:t>
            </a:r>
            <a:r>
              <a:rPr sz="1100" i="1">
                <a:latin typeface="Cambria Math"/>
              </a:rPr>
              <a:t>λ&gt;0</a:t>
            </a:r>
            <a:r>
              <a:rPr sz="1100"/>
              <a:t> puts roster pressure in the advancement rule and bends the curve.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