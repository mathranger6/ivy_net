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3" r:id="rId2"/>
    <p:sldId id="265" r:id="rId3"/>
    <p:sldId id="272" r:id="rId4"/>
    <p:sldId id="256" r:id="rId5"/>
    <p:sldId id="257" r:id="rId6"/>
    <p:sldId id="267" r:id="rId7"/>
    <p:sldId id="258" r:id="rId8"/>
    <p:sldId id="266" r:id="rId9"/>
    <p:sldId id="259" r:id="rId10"/>
    <p:sldId id="268" r:id="rId11"/>
    <p:sldId id="263" r:id="rId12"/>
    <p:sldId id="269" r:id="rId13"/>
    <p:sldId id="260" r:id="rId14"/>
    <p:sldId id="261" r:id="rId15"/>
    <p:sldId id="262" r:id="rId16"/>
    <p:sldId id="273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8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0.png"/><Relationship Id="rId5" Type="http://schemas.openxmlformats.org/officeDocument/2006/relationships/image" Target="../media/image490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E7DCF-1A3D-1CEE-5EBF-9B07041D6A72}"/>
              </a:ext>
            </a:extLst>
          </p:cNvPr>
          <p:cNvSpPr txBox="1"/>
          <p:nvPr/>
        </p:nvSpPr>
        <p:spPr>
          <a:xfrm>
            <a:off x="169762" y="2967335"/>
            <a:ext cx="11852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PD16 HAND</a:t>
            </a:r>
          </a:p>
        </p:txBody>
      </p:sp>
    </p:spTree>
    <p:extLst>
      <p:ext uri="{BB962C8B-B14F-4D97-AF65-F5344CB8AC3E}">
        <p14:creationId xmlns:p14="http://schemas.microsoft.com/office/powerpoint/2010/main" val="300703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Fake-league characterization (not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971785"/>
                  </p:ext>
                </p:extLst>
              </p:nvPr>
            </p:nvGraphicFramePr>
            <p:xfrm>
              <a:off x="384049" y="1024128"/>
              <a:ext cx="5666233" cy="493979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365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88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508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7398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(539 Preset)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/>
                            <a:t>T</a:t>
                          </a:r>
                          <a:r>
                            <a:rPr lang="en-US" sz="10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Synthetic iid Uniform[0,1] per team— soft-assign attractor -  not realized roster talent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 err="1"/>
                            <a:t>T</a:t>
                          </a:r>
                          <a:r>
                            <a:rPr lang="en-US" sz="1000" b="0" baseline="-25000" dirty="0" err="1"/>
                            <a:t>j</a:t>
                          </a:r>
                          <a:r>
                            <a:rPr lang="en-US" sz="1000" b="0" baseline="-25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ar-AE" sz="900" b="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9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900" b="0" i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 sz="9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on team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roster after ASSIGN, not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oMath>
                          </a14:m>
                          <a:endParaRPr lang="ar-AE"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23396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Soft match strength: players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 teams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sSub>
                                <m:sSub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900" b="0" i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Team c</a:t>
                          </a: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ongestio</a:t>
                          </a: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Team-level mean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sz="900" b="0" i="1" baseline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900" b="0" i="0" baseline="0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b="0" i="0" baseline="0" dirty="0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0" baseline="0" dirty="0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 on roster — same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 for all players on team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oMath>
                          </a14:m>
                          <a:endParaRPr lang="en-US" sz="900" b="0" i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Naïve draft cutoff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Center of the sigmoid 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in </a:t>
                          </a:r>
                          <a:r>
                            <a:rPr lang="en-US" sz="900" b="0" i="0" dirty="0" err="1">
                              <a:latin typeface="Avenir Next" panose="020B0503020202020204" pitchFamily="34" charset="0"/>
                            </a:rPr>
                            <a:t>k_over_n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mode)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Steepness of viability step around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Fraction of league selected (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 ÷</m:t>
                              </m:r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971785"/>
                  </p:ext>
                </p:extLst>
              </p:nvPr>
            </p:nvGraphicFramePr>
            <p:xfrm>
              <a:off x="384049" y="1024128"/>
              <a:ext cx="5666233" cy="493979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365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88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508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7398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(539 Preset)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/>
                            <a:t>T</a:t>
                          </a:r>
                          <a:r>
                            <a:rPr lang="en-US" sz="10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900" b="0" i="0" dirty="0" err="1">
                              <a:latin typeface="Avenir Next" panose="020B0503020202020204" pitchFamily="34" charset="0"/>
                            </a:rPr>
                            <a:t>iid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Uniform[0,1] per team— soft-assign attractor -  not realized roster talent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 err="1"/>
                            <a:t>T</a:t>
                          </a:r>
                          <a:r>
                            <a:rPr lang="en-US" sz="1000" b="0" baseline="-25000" dirty="0" err="1"/>
                            <a:t>j</a:t>
                          </a:r>
                          <a:r>
                            <a:rPr lang="en-US" sz="1000" b="0" baseline="-25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290244" r="-803" b="-5658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23396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410256" r="-803" b="-494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Team c</a:t>
                          </a: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ongestio</a:t>
                          </a: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523684" r="-803" b="-4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" t="-726316" r="-798000" b="-2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Naïve draft cutoff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726316" r="-803" b="-2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" t="-805128" r="-798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805128" r="-80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" t="-928947" r="-798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928947" r="-803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0" y="909294"/>
                <a:ext cx="6001513" cy="2187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 b="1"/>
                </a:pPr>
                <a:r>
                  <a:rPr lang="en-US" sz="1050" dirty="0"/>
                  <a:t>Not curve fitting: which rules </a:t>
                </a:r>
                <a:r>
                  <a:rPr lang="en-US" sz="1050" i="1" dirty="0">
                    <a:solidFill>
                      <a:srgbClr val="FF0000"/>
                    </a:solidFill>
                  </a:rPr>
                  <a:t>bend</a:t>
                </a:r>
                <a:r>
                  <a:rPr lang="en-US" sz="1050" dirty="0"/>
                  <a:t> synthetic selection curves — not NCAA fit yet.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Three steps: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dirty="0"/>
                  <a:t>ASSIGN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𝑆𝐶𝑂𝑅𝐸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𝐴𝑖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𝐿𝐶</m:t>
                        </m:r>
                      </m:e>
                    </m:d>
                    <m:r>
                      <a:rPr lang="ar-AE" sz="105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𝑆𝐸𝐿𝐸𝐶𝑇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1050" dirty="0"/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dirty="0"/>
                  <a:t>	… then VISUALIZE by pool-mean bin.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i="1" dirty="0">
                    <a:latin typeface="Cambria Math"/>
                  </a:rPr>
                  <a:t>L</a:t>
                </a:r>
                <a:r>
                  <a:rPr lang="en-US" sz="1000" i="1" baseline="-25000" dirty="0">
                    <a:latin typeface="Cambria Math"/>
                  </a:rPr>
                  <a:t>C</a:t>
                </a:r>
                <a:r>
                  <a:rPr lang="en-US" sz="1050" dirty="0"/>
                  <a:t> in this deck: team smooth 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90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900" dirty="0">
                            <a:latin typeface="Cambria Math" panose="02040503050406030204" pitchFamily="18" charset="0"/>
                          </a:rPr>
                          <m:t>𝚌𝚛𝚘𝚠𝚍𝚒𝚗𝚐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𝚜𝚖𝚘𝚘𝚝𝚑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𝚝𝚎𝚊𝚖</m:t>
                        </m:r>
                      </m:e>
                    </m:box>
                  </m:oMath>
                </a14:m>
                <a:r>
                  <a:rPr lang="en-US" sz="1050" dirty="0"/>
                  <a:t>) — mean peer viability over the full roster.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One-at-a-time (OAT): each slide moves one knob; other settings stay at benchmark values.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Seed 42 on stochastic steps: draw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050" i="1" dirty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sz="1050" dirty="0"/>
                  <a:t>soft-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50" dirty="0"/>
                  <a:t> assignment.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Score, 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50" dirty="0"/>
                  <a:t>, bins are deterministic.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League: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(539 preset).</a:t>
                </a:r>
                <a:endParaRPr sz="105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09294"/>
                <a:ext cx="6001513" cy="2187009"/>
              </a:xfrm>
              <a:prstGeom prst="rect">
                <a:avLst/>
              </a:prstGeom>
              <a:blipFill>
                <a:blip r:embed="rId3"/>
                <a:stretch>
                  <a:fillRect b="-1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6000" y="3138121"/>
                <a:ext cx="6154538" cy="1802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 b="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50" dirty="0"/>
                  <a:t>Beta (2,2) on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[0,1] </m:t>
                    </m:r>
                  </m:oMath>
                </a14:m>
                <a:r>
                  <a:rPr lang="en-US" sz="1050" dirty="0"/>
                  <a:t>– SELECTION_539_ABILITY_DRAW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050" dirty="0"/>
                  <a:t>: Uniform[0,1] iid per team —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90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900" dirty="0">
                            <a:latin typeface="Cambria Math" panose="02040503050406030204" pitchFamily="18" charset="0"/>
                          </a:rPr>
                          <m:t>𝚍𝚛𝚊𝚠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𝚝𝚊𝚛𝚐𝚎𝚝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𝚖𝚎𝚊𝚗𝚜</m:t>
                        </m:r>
                      </m:e>
                    </m:box>
                  </m:oMath>
                </a14:m>
                <a:r>
                  <a:rPr lang="en-US" sz="1050" dirty="0"/>
                  <a:t>; synthetic assignment targets, not NCAA roster data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050" dirty="0"/>
                  <a:t>: realized roster mean after ASSIGN — not drawn; Sketch A 2D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050" dirty="0"/>
                  <a:t>-axis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=0.55</m:t>
                    </m:r>
                  </m:oMath>
                </a14:m>
                <a:r>
                  <a:rPr lang="el-GR" sz="1050" dirty="0"/>
                  <a:t> —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l-GR" sz="90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l-GR" sz="900" dirty="0">
                            <a:latin typeface="Cambria Math" panose="02040503050406030204" pitchFamily="18" charset="0"/>
                          </a:rPr>
                          <m:t>𝚝𝚒𝚎𝚛𝟷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𝟻𝟹𝟿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𝚛𝚎𝚏𝚎𝚛𝚎𝚗𝚌𝚎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𝚜𝚎𝚝𝚝𝚒𝚗𝚐𝚜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𝚓𝚜𝚘𝚗</m:t>
                        </m:r>
                      </m:e>
                    </m:box>
                  </m:oMath>
                </a14:m>
                <a:r>
                  <a:rPr lang="en-US" sz="1050" dirty="0"/>
                  <a:t> / playground default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=0.72</m:t>
                    </m:r>
                  </m:oMath>
                </a14:m>
                <a:r>
                  <a:rPr lang="en-US" sz="1050" dirty="0"/>
                  <a:t>,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050" dirty="0"/>
                  <a:t> — same 539 reference JSON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US" sz="1050" dirty="0"/>
                  <a:t>— gallery fixed assign for </a:t>
                </a:r>
                <a14:m>
                  <m:oMath xmlns:m="http://schemas.openxmlformats.org/officeDocument/2006/math">
                    <m:r>
                      <a:rPr lang="en-US" sz="105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nor/>
                      </m:rPr>
                      <a:rPr lang="en-US" sz="105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 slides (moderate-high mixing; not a 539 JSON field)</a:t>
                </a:r>
                <a:endParaRPr lang="en-US" sz="105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— characterization default (MBB draft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1% </m:t>
                    </m:r>
                  </m:oMath>
                </a14:m>
                <a:r>
                  <a:rPr lang="en-US" sz="1050" dirty="0"/>
                  <a:t>is a separate calibration point)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138121"/>
                <a:ext cx="6154538" cy="1802609"/>
              </a:xfrm>
              <a:prstGeom prst="rect">
                <a:avLst/>
              </a:prstGeom>
              <a:blipFill>
                <a:blip r:embed="rId4"/>
                <a:stretch>
                  <a:fillRect b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6000" y="4987089"/>
                <a:ext cx="6001512" cy="90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defRPr b="1"/>
                </a:pPr>
                <a:r>
                  <a:rPr lang="en-US" sz="1050" dirty="0"/>
                  <a:t>Real hero (Layer A): draft rate vs teammate-quality </a:t>
                </a:r>
                <a:r>
                  <a:rPr lang="en-US" sz="1050" dirty="0" err="1"/>
                  <a:t>ventiles</a:t>
                </a:r>
                <a:r>
                  <a:rPr lang="en-US" sz="1050" dirty="0"/>
                  <a:t> — a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50" b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50" b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𝐛𝐞𝐧𝐝</m:t>
                        </m:r>
                      </m:e>
                    </m:box>
                  </m:oMath>
                </a14:m>
                <a:r>
                  <a:rPr lang="en-US" sz="1050" dirty="0"/>
                  <a:t> at the top bins (Pass A /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0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00" dirty="0">
                            <a:latin typeface="Cambria Math" panose="02040503050406030204" pitchFamily="18" charset="0"/>
                          </a:rPr>
                          <m:t>𝚂𝚘</m:t>
                        </m:r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𝙵𝚊𝚛</m:t>
                        </m:r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_</m:t>
                        </m:r>
                      </m:e>
                    </m:box>
                  </m:oMath>
                </a14:m>
                <a:r>
                  <a:rPr lang="en-US" sz="1050" dirty="0"/>
                  <a:t>).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50" dirty="0"/>
                  <a:t>This deck: fraction selected vs </a:t>
                </a:r>
                <a:r>
                  <a:rPr sz="1050" b="1" dirty="0"/>
                  <a:t>pool mean</a:t>
                </a:r>
                <a:r>
                  <a:rPr sz="1050" dirty="0"/>
                  <a:t> in a fake league — same </a:t>
                </a:r>
                <a:r>
                  <a:rPr sz="1050" i="1" dirty="0"/>
                  <a:t>kind</a:t>
                </a:r>
                <a:r>
                  <a:rPr sz="1050" dirty="0"/>
                  <a:t> of question, different axis and league.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50" dirty="0"/>
                  <a:t>Benchmarks anchor to the Alex 539 playground track so sim slides stay comparable</a:t>
                </a:r>
                <a:endParaRPr lang="en-US" sz="1050" dirty="0"/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W</a:t>
                </a:r>
                <a:r>
                  <a:rPr sz="1050" dirty="0"/>
                  <a:t>e have </a:t>
                </a:r>
                <a:r>
                  <a:rPr sz="1050" b="1" dirty="0"/>
                  <a:t>not</a:t>
                </a:r>
                <a:r>
                  <a:rPr sz="1050" dirty="0"/>
                  <a:t> re-fit those numbers to NCAA data in Phase B.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987089"/>
                <a:ext cx="6001512" cy="900246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84048" y="6126480"/>
            <a:ext cx="74202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100" dirty="0"/>
              <a:t>Claim: Phase B maps which generative knobs move</a:t>
            </a:r>
            <a:r>
              <a:rPr lang="en-US" sz="1100" dirty="0"/>
              <a:t> </a:t>
            </a:r>
            <a:r>
              <a:rPr sz="1100" i="1" dirty="0">
                <a:solidFill>
                  <a:srgbClr val="FF0000"/>
                </a:solidFill>
              </a:rPr>
              <a:t>who gets selected</a:t>
            </a:r>
            <a:r>
              <a:rPr sz="1100" dirty="0"/>
              <a:t> — prerequisite before Phase C calibration to the hero.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01168"/>
                <a:ext cx="663931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2000" dirty="0"/>
                  <a:t>Phase B — Simulated league inputs: actual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draws</a:t>
                </a:r>
                <a:endParaRPr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01168"/>
                <a:ext cx="6639318" cy="400110"/>
              </a:xfrm>
              <a:prstGeom prst="rect">
                <a:avLst/>
              </a:prstGeom>
              <a:blipFill>
                <a:blip r:embed="rId2"/>
                <a:stretch>
                  <a:fillRect l="-956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676656"/>
                <a:ext cx="3347391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b="1" dirty="0"/>
                  <a:t>539 preset · seed </a:t>
                </a:r>
                <a14:m>
                  <m:oMath xmlns:m="http://schemas.openxmlformats.org/officeDocument/2006/math"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𝟒𝟐</m:t>
                    </m:r>
                  </m:oMath>
                </a14:m>
                <a:r>
                  <a:rPr sz="900" b="1" dirty="0"/>
                  <a:t> · </a:t>
                </a:r>
                <a14:m>
                  <m:oMath xmlns:m="http://schemas.openxmlformats.org/officeDocument/2006/math"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𝟔𝟎𝟎</m:t>
                    </m:r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b="1" dirty="0"/>
                  <a:t>players · </a:t>
                </a:r>
                <a14:m>
                  <m:oMath xmlns:m="http://schemas.openxmlformats.org/officeDocument/2006/math"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𝟑𝟓𝟎</m:t>
                    </m:r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b="1" dirty="0"/>
                  <a:t>teams × roster </a:t>
                </a:r>
                <a14:m>
                  <m:oMath xmlns:m="http://schemas.openxmlformats.org/officeDocument/2006/math">
                    <m:r>
                      <a:rPr lang="en-US" sz="900" b="1" i="1" dirty="0" smtClean="0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endParaRPr sz="900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76656"/>
                <a:ext cx="3347391" cy="230832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05840"/>
                <a:ext cx="4285056" cy="13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One draw reused across all OAT arms — only placement / score rules change.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Left: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∼</m:t>
                    </m:r>
                    <m:r>
                      <m:rPr>
                        <m:nor/>
                      </m:rPr>
                      <a:rPr lang="en-US" sz="900" i="0" dirty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sz="900" dirty="0"/>
                  <a:t>on [0,1] — unimodal, 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Right: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800" b="0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∼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𝑖𝑖𝑑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Uniform[0,1] — sim assignment targets.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Orange curve = theoretical pdf scaled to histogram bin width.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This run: 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=0.500, </m:t>
                    </m:r>
                  </m:oMath>
                </a14:m>
                <a:r>
                  <a:rPr lang="en-US" sz="900" dirty="0"/>
                  <a:t>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800" i="1" baseline="-25000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800" b="0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=0.491 </m:t>
                    </m:r>
                  </m:oMath>
                </a14:m>
                <a:r>
                  <a:rPr lang="en-US" sz="900" dirty="0"/>
                  <a:t>(sd 0.223 / 0.290).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Not NCAA data — fake league inputs for characterization.</a:t>
                </a:r>
                <a:endParaRPr sz="9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05840"/>
                <a:ext cx="4285056" cy="1317348"/>
              </a:xfrm>
              <a:prstGeom prst="rect">
                <a:avLst/>
              </a:prstGeom>
              <a:blipFill>
                <a:blip r:embed="rId4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72293" y="2144375"/>
            <a:ext cx="8872120" cy="3693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/>
            </a:pPr>
            <a:r>
              <a:rPr sz="1000" dirty="0"/>
              <a:t>Claim: Phase B fixes one stochastic league draw (seed 42) — </a:t>
            </a:r>
            <a:r>
              <a:rPr sz="1000" i="1" dirty="0">
                <a:latin typeface="Cambria Math"/>
              </a:rPr>
              <a:t>A</a:t>
            </a:r>
            <a:r>
              <a:rPr sz="800" i="1" baseline="-25000" dirty="0">
                <a:latin typeface="Cambria Math"/>
              </a:rPr>
              <a:t>i</a:t>
            </a:r>
            <a:r>
              <a:rPr sz="1000" dirty="0"/>
              <a:t> </a:t>
            </a:r>
            <a:r>
              <a:rPr lang="en-US" sz="1000" dirty="0"/>
              <a:t> </a:t>
            </a:r>
            <a:r>
              <a:rPr sz="1000" dirty="0"/>
              <a:t>and </a:t>
            </a:r>
            <a:r>
              <a:rPr sz="1000" i="1" dirty="0">
                <a:latin typeface="Cambria Math"/>
              </a:rPr>
              <a:t>T</a:t>
            </a:r>
            <a:r>
              <a:rPr sz="800" i="1" baseline="-25000" dirty="0">
                <a:latin typeface="Cambria Math"/>
              </a:rPr>
              <a:t>j</a:t>
            </a:r>
            <a:r>
              <a:rPr lang="en-US" sz="800" i="1" baseline="-25000" dirty="0">
                <a:latin typeface="Cambria Math"/>
              </a:rPr>
              <a:t>*</a:t>
            </a:r>
            <a:r>
              <a:rPr sz="1000" dirty="0"/>
              <a:t> </a:t>
            </a:r>
            <a:r>
              <a:rPr lang="en-US" sz="1000" dirty="0"/>
              <a:t> </a:t>
            </a:r>
            <a:r>
              <a:rPr sz="1000" dirty="0"/>
              <a:t>are the inputs every OAT arm reuses; only ASSIGN / SCORE knobs change across slides.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Characterize </a:t>
            </a:r>
            <a:r>
              <a:rPr sz="2000" i="1" dirty="0">
                <a:latin typeface="Cambria Math"/>
              </a:rPr>
              <a:t>ρ</a:t>
            </a:r>
            <a:r>
              <a:rPr sz="2000" dirty="0"/>
              <a:t> (assignment assortativity) — sort-and-chop shown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100" dirty="0"/>
                  <a:t>— </a:t>
                </a:r>
                <a:r>
                  <a:rPr lang="en-US" sz="1100" dirty="0"/>
                  <a:t>one-at-a-time at 539 baseline (score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100" dirty="0"/>
                  <a:t> 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dirty="0"/>
                  <a:t>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050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050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50" dirty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05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05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sz="105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05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05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50" i="1" dirty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5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arms: </a:t>
                </a: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 ∈ {0.001, 1, 8, 32} </m:t>
                    </m:r>
                  </m:oMath>
                </a14:m>
                <a:r>
                  <a:rPr lang="el-GR" sz="1050" dirty="0"/>
                  <a:t>+ </a:t>
                </a:r>
                <a:r>
                  <a:rPr lang="en-US" sz="1050" dirty="0"/>
                  <a:t>sort-and-chop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𝐴𝑖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by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05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vs pool mean (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50" dirty="0"/>
                  <a:t> bins)</a:t>
                </a:r>
                <a:endParaRPr sz="105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blipFill>
                <a:blip r:embed="rId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73459" y="768096"/>
            <a:ext cx="5806464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ar-AE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900" dirty="0"/>
                  <a:t>(</a:t>
                </a:r>
                <a:r>
                  <a:rPr lang="en-US" sz="900" dirty="0"/>
                  <a:t>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: assortative matching — peer environments concentrate; inverted-</a:t>
                </a:r>
                <a:r>
                  <a:rPr lang="en-US" sz="900" i="1" dirty="0">
                    <a:latin typeface="Cambria Math"/>
                  </a:rPr>
                  <a:t>U</a:t>
                </a:r>
                <a:r>
                  <a:rPr lang="en-US"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Sort-and-chop benchmark: hard rank match (same score rule as soft arms).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in assignment matters — low-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mixing yields a nearly flat curve; high-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readout.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dirty="0"/>
                  <a:t> (assignment assortativity) — sort-and-chop suppressed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blipFill>
                <a:blip r:embed="rId2"/>
                <a:stretch>
                  <a:fillRect l="-720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(score + top-𝐾 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dirty="0"/>
                  <a:t>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ar-AE" sz="1000" b="1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000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000" b="1" i="1" dirty="0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1" i="1" dirty="0">
                                  <a:latin typeface="Cambria Math" panose="02040503050406030204" pitchFamily="18" charset="0"/>
                                </a:rPr>
                                <m:t>𝛒</m:t>
                              </m:r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10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𝑨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1000" b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  <m:r>
                                                <a:rPr lang="en-US" sz="1000" b="1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1000" b="1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{0.001, 1, 8, 32}</m:t>
                    </m:r>
                  </m:oMath>
                </a14:m>
                <a:endParaRPr lang="el-GR" sz="10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𝐴𝑖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00" dirty="0"/>
                  <a:t> 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800" i="1" baseline="-25000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00" dirty="0"/>
                  <a:t> 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70723" y="790500"/>
            <a:ext cx="5811936" cy="385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assortative matching — peer environments concentrate; inverted-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Sort-and-chop arm omitted from plot (still in CSV bundle; toggle restores it).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10025373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in assignment matters — low-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mixing yields a </a:t>
                </a:r>
                <a:r>
                  <a:rPr lang="en-US" sz="1100" dirty="0"/>
                  <a:t>weak monotone tilt</a:t>
                </a:r>
                <a:r>
                  <a:rPr sz="1100" dirty="0"/>
                  <a:t>; high-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</a:t>
                </a:r>
                <a:r>
                  <a:rPr lang="en-US" sz="1100" dirty="0"/>
                  <a:t> </a:t>
                </a:r>
                <a:r>
                  <a:rPr sz="1100" dirty="0"/>
                  <a:t>readout.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10025373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63FE3-A774-2557-355E-16843C1907AD}"/>
                  </a:ext>
                </a:extLst>
              </p:cNvPr>
              <p:cNvSpPr txBox="1"/>
              <p:nvPr/>
            </p:nvSpPr>
            <p:spPr>
              <a:xfrm>
                <a:off x="348411" y="2796502"/>
                <a:ext cx="4465300" cy="175432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dirty="0">
                    <a:solidFill>
                      <a:srgbClr val="3B3B3B"/>
                    </a:solidFill>
                    <a:effectLst/>
                    <a:latin typeface="-apple-system"/>
                  </a:rPr>
                  <a:t>Why ρ matters here:</a:t>
                </a:r>
                <a:r>
                  <a:rPr lang="en-US" sz="1800" b="0" i="1" dirty="0">
                    <a:solidFill>
                      <a:srgbClr val="3B3B3B"/>
                    </a:solidFill>
                    <a:effectLst/>
                    <a:latin typeface="-apple-system"/>
                  </a:rPr>
                  <a:t> assignment assortativity sets how spread out team L_C is across the league — at ρ ≈ 0 (arm 0.001) rosters mix and peer pressure looks the same everywhere; at high ρ weak teams pile up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≈ 0 </m:t>
                    </m:r>
                  </m:oMath>
                </a14:m>
                <a:r>
                  <a:rPr lang="en-US" sz="1800" b="0" i="1" dirty="0">
                    <a:solidFill>
                      <a:srgbClr val="3B3B3B"/>
                    </a:solidFill>
                    <a:effectLst/>
                    <a:latin typeface="-apple-system"/>
                  </a:rPr>
                  <a:t>while elite rosters face real congestion.</a:t>
                </a:r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63FE3-A774-2557-355E-16843C19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11" y="2796502"/>
                <a:ext cx="4465300" cy="1754326"/>
              </a:xfrm>
              <a:prstGeom prst="rect">
                <a:avLst/>
              </a:prstGeom>
              <a:blipFill>
                <a:blip r:embed="rId7"/>
                <a:stretch>
                  <a:fillRect l="-847" t="-1418" r="-1412" b="-354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8B370D-531F-B131-BD46-276B112BD3FF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83711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dirty="0"/>
                  <a:t> (assignment assortativity)</a:t>
                </a:r>
                <a:r>
                  <a:rPr lang="en-US" sz="2000" dirty="0"/>
                  <a:t> . BEFORE and AFTER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Standardization</a:t>
                </a:r>
                <a:endParaRPr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8B370D-531F-B131-BD46-276B112BD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837117" cy="400110"/>
              </a:xfrm>
              <a:prstGeom prst="rect">
                <a:avLst/>
              </a:prstGeom>
              <a:blipFill>
                <a:blip r:embed="rId2"/>
                <a:stretch>
                  <a:fillRect l="-645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8E62EE0-9491-67E4-3088-2D311F72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13" y="1969816"/>
            <a:ext cx="5401854" cy="3474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320B1-9205-C4CB-E062-A1442DFC10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34706" y="1904111"/>
            <a:ext cx="5184670" cy="347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Characterize </a:t>
            </a:r>
            <a:r>
              <a:rPr sz="2000" i="1" dirty="0">
                <a:latin typeface="Cambria Math"/>
              </a:rPr>
              <a:t>λ</a:t>
            </a:r>
            <a:r>
              <a:rPr sz="2000" dirty="0"/>
              <a:t> (congestion in score)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(assign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fixed)</a:t>
                </a: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 (soft assign; same roster all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{0, 0.25, 0.55, 1}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blipFill>
                <a:blip r:embed="rId2"/>
                <a:stretch>
                  <a:fillRect b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41569" y="768096"/>
            <a:ext cx="6070244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93111"/>
                <a:ext cx="11368735" cy="918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+ one assignment 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SCORE changes.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only — selection vs pool mean stays roughly monotone.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900" dirty="0"/>
                  <a:t>: congestion in score — inverted-</a:t>
                </a:r>
                <a:r>
                  <a:rPr lang="en-US" sz="900" i="1" dirty="0">
                    <a:latin typeface="Cambria Math"/>
                  </a:rPr>
                  <a:t>U</a:t>
                </a:r>
                <a:r>
                  <a:rPr lang="en-US" sz="900" dirty="0"/>
                  <a:t> / roster-pressure readout emerges.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Pairs with Pass C: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900" dirty="0"/>
                  <a:t> bends score;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shapes the sorted roster world.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93111"/>
                <a:ext cx="11368735" cy="918200"/>
              </a:xfrm>
              <a:prstGeom prst="rect">
                <a:avLst/>
              </a:prstGeom>
              <a:blipFill>
                <a:blip r:embed="rId4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in score matters —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yields a roughly monotone talent ladder;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sz="1100" dirty="0"/>
                  <a:t>puts roster pressure in the advancement rule and bends the curve.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3D4B9E0-8FFB-E771-2355-89BF49F5F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8" y="2064243"/>
            <a:ext cx="5730452" cy="3524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95EFA1-41B6-8B53-E3E4-5BBF6F305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0564" y="2064243"/>
            <a:ext cx="5492419" cy="3524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491E68-DE53-1C63-AC6C-7E678134FCEB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14564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:r>
                  <a:rPr sz="2000" i="1" dirty="0">
                    <a:latin typeface="Cambria Math"/>
                  </a:rPr>
                  <a:t>λ</a:t>
                </a:r>
                <a:r>
                  <a:rPr sz="2000" dirty="0"/>
                  <a:t> (congestion in score)</a:t>
                </a:r>
                <a:r>
                  <a:rPr lang="en-US" sz="2000" dirty="0"/>
                  <a:t>. BEFORE and AFTER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Standardization</a:t>
                </a:r>
                <a:endParaRPr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491E68-DE53-1C63-AC6C-7E678134F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145645" cy="400110"/>
              </a:xfrm>
              <a:prstGeom prst="rect">
                <a:avLst/>
              </a:prstGeom>
              <a:blipFill>
                <a:blip r:embed="rId4"/>
                <a:stretch>
                  <a:fillRect l="-693" t="-9375" r="-41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19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cutline) — OAT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endParaRPr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blipFill>
                <a:blip r:embed="rId2"/>
                <a:stretch>
                  <a:fillRect l="-887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— one-at-a-time at 539 baseline (assign + score + top-𝐾fixed)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=0.55, 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 =10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</m:oMath>
                </a14:m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 10% (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=5600)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039" y="768096"/>
            <a:ext cx="6859304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soft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=0.55,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sz="900" dirty="0"/>
                  <a:t>fixed;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900" dirty="0"/>
                  <a:t>changes.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=0.50 </m:t>
                    </m:r>
                  </m:oMath>
                </a14:m>
                <a:r>
                  <a:rPr lang="en-US" sz="900" dirty="0"/>
                  <a:t>: mid-pool hump (peak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900" dirty="0"/>
                  <a:t>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sz="900" dirty="0"/>
                  <a:t>(539 default): similar hump, slightly higher peak rate.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: top bins dominate — curve becomes monotone-increasing at the elite edge.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blipFill>
                <a:blip r:embed="rId5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=10%, 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(viability cutline) moves the readout — low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keeps a mid-pool hump; high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top-saturates the curve.</a:t>
                </a:r>
                <a:endParaRPr sz="11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5C14B21-1935-8A37-FCA4-D1B36079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94" y="2539696"/>
            <a:ext cx="5695356" cy="32343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D2C586-E985-9F9A-9349-1E59BFFB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6850" y="2543631"/>
            <a:ext cx="5695356" cy="3226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D25124-0E95-D7D6-E265-0A8ABF3FCF56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1038810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(viability cutline) — OAT at </a:t>
                </a:r>
                <a14:m>
                  <m:oMath xmlns:m="http://schemas.openxmlformats.org/officeDocument/2006/math">
                    <m:r>
                      <a:rPr lang="ar-AE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2000" i="1" dirty="0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en-US" sz="2000" i="1" dirty="0">
                    <a:latin typeface="Cambria Math"/>
                  </a:rPr>
                  <a:t> </a:t>
                </a:r>
                <a:r>
                  <a:rPr lang="en-US" sz="2000" dirty="0"/>
                  <a:t>COMPARE with COMPUTED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D25124-0E95-D7D6-E265-0A8ABF3FC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10388100" cy="400110"/>
              </a:xfrm>
              <a:prstGeom prst="rect">
                <a:avLst/>
              </a:prstGeom>
              <a:blipFill>
                <a:blip r:embed="rId4"/>
                <a:stretch>
                  <a:fillRect l="-611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239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311A-4434-F6F0-8F94-73C67C39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5B8C41-7DF7-E2AC-9273-4A08C9AA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15244" y="1301496"/>
            <a:ext cx="6566437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1100" b="1" i="1" dirty="0" smtClean="0"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err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16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A2A68C-923B-A757-C233-2B870BFF6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3251" y="2217016"/>
            <a:ext cx="5195268" cy="30428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8D90B7-F2D7-B6E3-DE55-96ADF9AA4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99825" y="2242730"/>
            <a:ext cx="5228453" cy="30819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6F594C-6911-B0BE-B1F6-4932F1F8F18C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60339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  <a:r>
                  <a:rPr lang="en-US" sz="2000" dirty="0"/>
                  <a:t> - </a:t>
                </a:r>
                <a:r>
                  <a:rPr lang="en-US" sz="2000" i="1" dirty="0">
                    <a:latin typeface="Cambria Math"/>
                  </a:rPr>
                  <a:t>COMPARE with COMPUTED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6F594C-6911-B0BE-B1F6-4932F1F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603398" cy="400110"/>
              </a:xfrm>
              <a:prstGeom prst="rect">
                <a:avLst/>
              </a:prstGeom>
              <a:blipFill>
                <a:blip r:embed="rId4"/>
                <a:stretch>
                  <a:fillRect l="-661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FB1EE-D02D-C397-7D65-8A5DF8BCDBCD}"/>
                  </a:ext>
                </a:extLst>
              </p:cNvPr>
              <p:cNvSpPr txBox="1"/>
              <p:nvPr/>
            </p:nvSpPr>
            <p:spPr>
              <a:xfrm>
                <a:off x="411479" y="768096"/>
                <a:ext cx="9017135" cy="1474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sz="1100" b="1" dirty="0"/>
                  <a:t>					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900" b="1" i="1" baseline="-25000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sz="11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100" b="0" i="0" dirty="0" smtClean="0">
                            <a:latin typeface="Cambria Math" panose="02040503050406030204" pitchFamily="18" charset="0"/>
                          </a:rPr>
                          <m:t>mean</m:t>
                        </m:r>
                      </m:e>
                      <m:sub>
                        <m:r>
                          <a:rPr lang="en-US" sz="11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b="1" i="1" dirty="0" err="1" smtClean="0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ar-AE" sz="11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100" b="1" i="1" dirty="0" smtClean="0">
                            <a:latin typeface="Cambria Math" panose="02040503050406030204" pitchFamily="18" charset="0"/>
                          </a:rPr>
                          <m:t>𝜸</m:t>
                        </m:r>
                        <m:d>
                          <m:dPr>
                            <m:ctrlPr>
                              <a:rPr lang="ar-AE" sz="11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b="1" i="1" dirty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ar-AE" sz="900" b="1" i="1" baseline="-25000" dirty="0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ar-AE" sz="1100" b="1" i="1" dirty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ar-AE" sz="1100" b="1" i="1" dirty="0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d>
                  </m:oMath>
                </a14:m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l-GR" sz="1100" dirty="0"/>
                  <a:t>ρ = 8, λ = 0.55, γ = 10 </a:t>
                </a:r>
                <a:r>
                  <a:rPr lang="en-US" sz="1100" dirty="0"/>
                  <a:t>fixed, </a:t>
                </a:r>
                <a:r>
                  <a:rPr lang="el-GR" sz="1100" dirty="0"/>
                  <a:t>θ ∈ {0.50, 0.72, 0.90}</a:t>
                </a:r>
                <a:r>
                  <a:rPr lang="en-US" sz="1100" dirty="0"/>
                  <a:t>, K/N ∈ {1%, 10%, 40%} on N = 5600</a:t>
                </a:r>
              </a:p>
              <a:p>
                <a:pPr marL="171450" indent="-1714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/>
                  <a:t>Left panel: peak pool-mean bin vs </a:t>
                </a:r>
                <a:r>
                  <a:rPr lang="el-GR" sz="1100" dirty="0"/>
                  <a:t>θ — </a:t>
                </a:r>
                <a:r>
                  <a:rPr lang="en-US" sz="1100" dirty="0"/>
                  <a:t>one line per K/N (green 1%, blue 10%, red 40%)</a:t>
                </a:r>
              </a:p>
              <a:p>
                <a:pPr marL="171450" indent="-1714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/>
                  <a:t>Right panel: peak bin vs K/N at computed </a:t>
                </a:r>
                <a:r>
                  <a:rPr lang="el-GR" sz="1100" dirty="0"/>
                  <a:t>θ = </a:t>
                </a:r>
                <a:r>
                  <a:rPr lang="en-US" sz="1100" dirty="0"/>
                  <a:t>F_A⁻¹(1 − K/N) (naive draft; </a:t>
                </a:r>
                <a:r>
                  <a:rPr lang="el-GR" sz="1100" dirty="0"/>
                  <a:t>θ ≈ 0.804 </a:t>
                </a:r>
                <a:r>
                  <a:rPr lang="en-US" sz="1100" dirty="0"/>
                  <a:t>at 10%)</a:t>
                </a:r>
              </a:p>
              <a:p>
                <a:pPr marL="171450" indent="-171450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/>
                  <a:t>3×3 diagnostic grid — lines join measured </a:t>
                </a:r>
                <a:r>
                  <a:rPr lang="el-GR" sz="1100" dirty="0"/>
                  <a:t>θ </a:t>
                </a:r>
                <a:r>
                  <a:rPr lang="en-US" sz="1100" dirty="0"/>
                  <a:t>only (not interpolated)</a:t>
                </a:r>
                <a:endParaRPr lang="ar-AE" sz="11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FB1EE-D02D-C397-7D65-8A5DF8BCD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" y="768096"/>
                <a:ext cx="9017135" cy="1474634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E3FD60-A1E1-540F-DF77-E77662E42D2C}"/>
                  </a:ext>
                </a:extLst>
              </p:cNvPr>
              <p:cNvSpPr txBox="1"/>
              <p:nvPr/>
            </p:nvSpPr>
            <p:spPr>
              <a:xfrm>
                <a:off x="411480" y="5408409"/>
                <a:ext cx="4705527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/>
                  <a:t>Left: fixed-</a:t>
                </a:r>
                <a:r>
                  <a:rPr lang="el-GR" sz="900" dirty="0"/>
                  <a:t>θ </a:t>
                </a:r>
                <a:r>
                  <a:rPr lang="en-US" sz="900" dirty="0"/>
                  <a:t>grid (descriptive). Right: PD16 naive-draft </a:t>
                </a:r>
                <a:r>
                  <a:rPr lang="el-GR" sz="900" dirty="0"/>
                  <a:t>θ — </a:t>
                </a:r>
                <a:r>
                  <a:rPr lang="en-US" sz="900" dirty="0"/>
                  <a:t>not adopted everywhere yet.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E3FD60-A1E1-540F-DF77-E77662E42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408409"/>
                <a:ext cx="4705527" cy="784830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0CB9F2-DB23-383E-99C0-D18BAC7D1CFE}"/>
                  </a:ext>
                </a:extLst>
              </p:cNvPr>
              <p:cNvSpPr txBox="1"/>
              <p:nvPr/>
            </p:nvSpPr>
            <p:spPr>
              <a:xfrm>
                <a:off x="411480" y="6322263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0CB9F2-DB23-383E-99C0-D18BAC7D1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322263"/>
                <a:ext cx="9676047" cy="2616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026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68" y="768096"/>
            <a:ext cx="6882846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𝐦𝐞𝐚𝐧</m:t>
                          </m:r>
                        </m:e>
                        <m:sub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60" y="1100314"/>
            <a:ext cx="8436855" cy="28797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sharpness) — selection curves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blipFill>
                <a:blip r:embed="rId3"/>
                <a:stretch>
                  <a:fillRect l="-896" t="-9375" r="-71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ar-AE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ar-AE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sz="1000" dirty="0"/>
                  <a:t>fixed; sort-and-chop assign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5, 10, 20</m:t>
                        </m:r>
                      </m:e>
                    </m:d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within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0, 0.25, 0.55, 0.75, 1.0</m:t>
                        </m:r>
                      </m:e>
                    </m:d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:r>
                  <a:rPr lang="en-US" sz="1000" i="1" dirty="0">
                    <a:latin typeface="Cambria Math"/>
                  </a:rPr>
                  <a:t>Y</a:t>
                </a:r>
                <a:r>
                  <a:rPr lang="en-US" sz="800" i="1" baseline="-25000" dirty="0">
                    <a:latin typeface="Cambria Math"/>
                  </a:rPr>
                  <a:t>selected</a:t>
                </a:r>
                <a:r>
                  <a:rPr lang="en-US" sz="1000" dirty="0"/>
                  <a:t> 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blipFill>
                <a:blip r:embed="rId4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Sort-and-chop benchmark: same rosters per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in score change.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=5: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≈0.8 </m:t>
                    </m:r>
                  </m:oMath>
                </a14:m>
                <a:r>
                  <a:rPr sz="900" dirty="0"/>
                  <a:t>— hump needs larger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539</m:t>
                        </m:r>
                      </m:e>
                    </m:d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≈0.4 </m:t>
                    </m:r>
                  </m:oMath>
                </a14:m>
                <a:r>
                  <a:rPr sz="900" dirty="0"/>
                  <a:t>— curve morph near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=20: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≈0.2 </m:t>
                    </m:r>
                  </m:oMath>
                </a14:m>
                <a:r>
                  <a:rPr sz="900" dirty="0"/>
                  <a:t>— congestion reorders at modest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Below crit: monotone elite-edge shape; above crit: inverted-</a:t>
                </a:r>
                <a:r>
                  <a:rPr sz="900" i="1" dirty="0">
                    <a:latin typeface="Cambria Math"/>
                  </a:rPr>
                  <a:t>U</a:t>
                </a:r>
                <a:r>
                  <a:rPr sz="900" dirty="0"/>
                  <a:t> / hump.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(sigmoid slope in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100" dirty="0"/>
                  <a:t>) shifts when congestion bites — higher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lowers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≈4/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on sort-and-chop; below crit,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arms can look identical.</a:t>
                </a:r>
                <a:endParaRPr sz="11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≈4/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 </a:t>
                </a:r>
                <a:r>
                  <a:rPr sz="2000" dirty="0"/>
                  <a:t>(sort-and-chop algebra)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blipFill>
                <a:blip r:embed="rId2"/>
                <a:stretch>
                  <a:fillRect l="-1225" t="-9375" r="-24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Educational: how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000" dirty="0"/>
                  <a:t> </a:t>
                </a:r>
                <a:r>
                  <a:rPr sz="1000" dirty="0"/>
                  <a:t>shapes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1000" dirty="0"/>
                  <a:t> along ability axis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vertical lines: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4/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for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539 defaults: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=0.72,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=10 →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= 0.4</m:t>
                    </m:r>
                  </m:oMath>
                </a14:m>
                <a:endParaRPr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Pairs with sort-and-chop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threshold memo (doc 06)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blipFill>
                <a:blip r:embed="rId3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768096"/>
            <a:ext cx="7007047" cy="3177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Soft viability: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dirty="0"/>
                  <a:t>— not a hard step;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900" dirty="0"/>
                  <a:t> </a:t>
                </a:r>
                <a:r>
                  <a:rPr sz="900" dirty="0"/>
                  <a:t>sets knee steepness.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On sort-and-chop, </a:t>
                </a:r>
                <a:r>
                  <a:rPr sz="900" i="1" dirty="0">
                    <a:latin typeface="Cambria Math"/>
                  </a:rPr>
                  <a:t>A</a:t>
                </a:r>
                <a:r>
                  <a:rPr sz="800" i="1" baseline="-25000" dirty="0">
                    <a:latin typeface="Cambria Math"/>
                  </a:rPr>
                  <a:t>i</a:t>
                </a:r>
                <a:r>
                  <a:rPr sz="9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900" i="1" dirty="0">
                    <a:latin typeface="Cambria Math"/>
                  </a:rPr>
                  <a:t>L</a:t>
                </a:r>
                <a:r>
                  <a:rPr sz="800" i="1" baseline="-25000" dirty="0">
                    <a:latin typeface="Cambria Math"/>
                  </a:rPr>
                  <a:t>C</a:t>
                </a:r>
                <a:r>
                  <a:rPr sz="900" dirty="0"/>
                  <a:t> within teams → small </a:t>
                </a:r>
                <a:r>
                  <a:rPr sz="900" i="1" dirty="0">
                    <a:latin typeface="Cambria Math"/>
                  </a:rPr>
                  <a:t>λ</a:t>
                </a:r>
                <a:r>
                  <a:rPr sz="900" dirty="0"/>
                  <a:t> may not reorder top-</a:t>
                </a:r>
                <a:r>
                  <a:rPr sz="900" i="1" dirty="0">
                    <a:latin typeface="Cambria Math"/>
                  </a:rPr>
                  <a:t>K</a:t>
                </a:r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 :  </a:t>
                </a:r>
                <a:r>
                  <a:rPr sz="900" dirty="0"/>
                  <a:t>first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where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changes who gets selected.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Visual curve departure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900" dirty="0"/>
                  <a:t> bins can lag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— use finer bins or check reorder.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Ties to Alex Q: why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900" dirty="0"/>
                  <a:t> 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sz="900" dirty="0"/>
                  <a:t> match until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&gt;4/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4/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</a:t>
                </a:r>
                <a:r>
                  <a:rPr sz="1100" dirty="0"/>
                  <a:t>is the first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where score reorder beats talent-only on sort-and-chop — not when the curve visually departs from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in coarse bins.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620445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Phase B —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sweep (soft assign, overlapping rosters)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204455" cy="400110"/>
              </a:xfrm>
              <a:prstGeom prst="rect">
                <a:avLst/>
              </a:prstGeom>
              <a:blipFill>
                <a:blip r:embed="rId2"/>
                <a:stretch>
                  <a:fillRect l="-1022" t="-9375" r="-204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GAMMA_sweep_soft_assign_lambda_curves_key_a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25" y="246194"/>
            <a:ext cx="5152043" cy="55744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1480" y="1060704"/>
                <a:ext cx="5152042" cy="145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Soft assign at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— overlapping talent windows (not sort-and-chop).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fixed; same roster per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row;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ar-AE" sz="10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ar-AE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ar-AE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ar-AE" sz="1000" b="0" i="0" baseline="0" dirty="0">
                    <a:latin typeface="Calibri"/>
                  </a:rPr>
                  <a:t> </a:t>
                </a:r>
                <a:r>
                  <a:rPr lang="en-US" sz="1000" b="0" i="0" baseline="0" dirty="0">
                    <a:latin typeface="Calibri"/>
                  </a:rPr>
                  <a:t>on sim draw.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=0.720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z-units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ar-AE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ar-AE" sz="1000" b="0" i="0" baseline="0" dirty="0">
                    <a:latin typeface="Calibri"/>
                  </a:rPr>
                  <a:t> </a:t>
                </a:r>
                <a:r>
                  <a:rPr lang="en-US" sz="1000" b="0" i="0" baseline="0" dirty="0">
                    <a:latin typeface="Calibri"/>
                  </a:rPr>
                  <a:t>on Beta draw).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Arms: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ar-AE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5,10,20</m:t>
                        </m:r>
                      </m:e>
                    </m:d>
                  </m:oMath>
                </a14:m>
                <a:r>
                  <a:rPr lang="ar-AE" sz="1000" b="0" i="0" baseline="0" dirty="0">
                    <a:latin typeface="Calibri"/>
                  </a:rPr>
                  <a:t>; </a:t>
                </a:r>
                <a:r>
                  <a:rPr lang="en-US" sz="1000" b="0" i="0" baseline="0" dirty="0">
                    <a:latin typeface="Calibri"/>
                  </a:rPr>
                  <a:t>within each panel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ar-AE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 baseline="0" dirty="0">
                            <a:latin typeface="Cambria Math" panose="02040503050406030204" pitchFamily="18" charset="0"/>
                          </a:rPr>
                          <m:t>0,0.25,0.55,0.75,1</m:t>
                        </m:r>
                      </m:e>
                    </m:d>
                  </m:oMath>
                </a14:m>
                <a:r>
                  <a:rPr lang="ar-AE"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ar-AE"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Figure: key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arms only; full grid in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𝙶𝙰𝙼𝙼𝙰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𝚜𝚠𝚎𝚎𝚙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𝚜𝚘𝚏𝚝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𝚊𝚜𝚜𝚒𝚐𝚗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𝚕𝚊𝚖𝚋𝚍𝚊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𝚌𝚞𝚛𝚟𝚎𝚜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800" b="0" i="0" baseline="0" dirty="0" smtClean="0">
                            <a:latin typeface="Cambria Math" panose="02040503050406030204" pitchFamily="18" charset="0"/>
                          </a:rPr>
                          <m:t>𝚙𝚗𝚐</m:t>
                        </m:r>
                      </m:e>
                    </m:box>
                  </m:oMath>
                </a14:m>
                <a:r>
                  <a:rPr lang="ar-AE"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ar-AE"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Pairs with sort-and-chop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slides (benchmark) — keep both in HAND deck.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060704"/>
                <a:ext cx="5152042" cy="1456424"/>
              </a:xfrm>
              <a:prstGeom prst="rect">
                <a:avLst/>
              </a:prstGeom>
              <a:blipFill>
                <a:blip r:embed="rId4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1480" y="768096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Overlap regime — same readout as sort-and-chop grid, different ASSIGN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1136873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Claim: under soft assign (overlapping rosters),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reshapes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in score bends selection — the regime where we will pin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on data.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crit</m:t>
                        </m:r>
                      </m:sub>
                    </m:sSub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≈4/</m:t>
                    </m:r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law here (sort-and-chop only).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11368735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0040" y="164592"/>
                <a:ext cx="9605963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1800" dirty="0"/>
                  <a:t>Phase B — Team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800" dirty="0"/>
                  <a:t>vs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800" dirty="0"/>
                  <a:t> (PD16 Sketch A)</a:t>
                </a:r>
                <a:r>
                  <a:rPr lang="en-US" sz="1800" dirty="0"/>
                  <a:t> --   How Congestion alone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varies with change 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sz="1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64592"/>
                <a:ext cx="9605963" cy="369332"/>
              </a:xfrm>
              <a:prstGeom prst="rect">
                <a:avLst/>
              </a:prstGeom>
              <a:blipFill>
                <a:blip r:embed="rId2"/>
                <a:stretch>
                  <a:fillRect l="-528" t="-322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0040" y="512064"/>
                <a:ext cx="4123949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dirty="0"/>
                  <a:t>PD16: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900" dirty="0"/>
                  <a:t>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=0.804</m:t>
                    </m:r>
                  </m:oMath>
                </a14:m>
                <a:r>
                  <a:rPr sz="900" dirty="0"/>
                  <a:t> (naive draft); suffix=_pd16 · 48 bins · 350 teams · seed 42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512064"/>
                <a:ext cx="4123949" cy="230832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19242" y="806219"/>
            <a:ext cx="8553515" cy="48435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4859" y="5651322"/>
                <a:ext cx="107267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low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sz="1000" dirty="0"/>
                  <a:t>one narrow spike near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≈0.15.</m:t>
                    </m:r>
                  </m:oMath>
                </a14:m>
                <a:r>
                  <a:rPr lang="en-US" sz="1000" dirty="0"/>
                  <a:t> First 3 panels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							High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mass at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≈0 </m:t>
                    </m:r>
                  </m:oMath>
                </a14:m>
                <a:r>
                  <a:rPr lang="en-US" sz="1000" dirty="0"/>
                  <a:t>(weak rosters) + second hump at elite </a:t>
                </a:r>
                <a:r>
                  <a:rPr lang="en-US" sz="1000" i="1" dirty="0">
                    <a:latin typeface="Cambria Math"/>
                  </a:rPr>
                  <a:t>L</a:t>
                </a:r>
                <a:r>
                  <a:rPr lang="en-US" sz="900" i="1" baseline="-25000" dirty="0">
                    <a:latin typeface="Cambria Math"/>
                  </a:rPr>
                  <a:t>C</a:t>
                </a:r>
                <a:r>
                  <a:rPr lang="en-US" sz="1000" dirty="0"/>
                  <a:t>.</a:t>
                </a:r>
              </a:p>
              <a:p>
                <a:r>
                  <a:rPr lang="en-US" sz="1000" dirty="0"/>
                  <a:t>													At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=32: 48%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of teams below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sz="1000" dirty="0"/>
                  <a:t> — weak rosters - almost no peer pressure</a:t>
                </a:r>
                <a:r>
                  <a:rPr lang="el-GR" sz="1000" dirty="0"/>
                  <a:t>.</a:t>
                </a:r>
                <a:endParaRPr lang="en-US" sz="1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Of Note:  The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000" dirty="0"/>
                  <a:t> is almost identical for all plots, hovering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≈.15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59" y="5651322"/>
                <a:ext cx="10726796" cy="707886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0040" y="6463356"/>
                <a:ext cx="11296554" cy="27699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200" dirty="0"/>
                  <a:t>Claim: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dirty="0"/>
                  <a:t>stratifies team congestion across the league — low-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200" dirty="0"/>
                  <a:t> mixing yields one narrow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dirty="0"/>
                  <a:t>hump; high-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200" dirty="0"/>
                  <a:t> assortativity piles weak teams at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≈0 </m:t>
                    </m:r>
                  </m:oMath>
                </a14:m>
                <a:r>
                  <a:rPr sz="1200" dirty="0"/>
                  <a:t>and elite rosters at higher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</a:t>
                </a:r>
                <a:endParaRPr sz="1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6463356"/>
                <a:ext cx="11296554" cy="276999"/>
              </a:xfrm>
              <a:prstGeom prst="rect">
                <a:avLst/>
              </a:prstGeom>
              <a:blipFill>
                <a:blip r:embed="rId6"/>
                <a:stretch>
                  <a:fillRect l="-11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17838" y="1186331"/>
            <a:ext cx="8283075" cy="4903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0040" y="164592"/>
                <a:ext cx="11084381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1800" dirty="0"/>
                  <a:t>Phase B — Realized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1" i="0" baseline="-25000" dirty="0" smtClean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vs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dirty="0"/>
                  <a:t> (PD16 Sketch A — co-movement)</a:t>
                </a:r>
                <a:r>
                  <a:rPr lang="en-US" dirty="0"/>
                  <a:t>  -- Realized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1" baseline="-25000" dirty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vs Congestion alone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varies</a:t>
                </a:r>
                <a:endParaRPr sz="1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64592"/>
                <a:ext cx="11084381" cy="369332"/>
              </a:xfrm>
              <a:prstGeom prst="rect">
                <a:avLst/>
              </a:prstGeom>
              <a:blipFill>
                <a:blip r:embed="rId3"/>
                <a:stretch>
                  <a:fillRect l="-458" t="-967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0040" y="898639"/>
                <a:ext cx="4143185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dirty="0"/>
                  <a:t>PD16: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=0.804</m:t>
                    </m:r>
                  </m:oMath>
                </a14:m>
                <a:r>
                  <a:rPr sz="900" dirty="0"/>
                  <a:t> (naive draft); suffix=_pd16 · 48 bins · 350 teams · seed 42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898639"/>
                <a:ext cx="4143185" cy="230832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9055" y="1692358"/>
                <a:ext cx="3203745" cy="2671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Each cell: # teams at (realized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:r>
                  <a:rPr lang="en-US" sz="1200" dirty="0"/>
                  <a:t>team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).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Color = count.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Low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compact blob —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</a:t>
                </a:r>
                <a:r>
                  <a:rPr lang="en-US" sz="1200" dirty="0"/>
                  <a:t>and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barely co-vary.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upward tail —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rises, </a:t>
                </a:r>
                <a:r>
                  <a:rPr lang="en-US" sz="1200" i="1" dirty="0">
                    <a:latin typeface="Cambria Math"/>
                  </a:rPr>
                  <a:t>L</a:t>
                </a:r>
                <a14:m>
                  <m:oMath xmlns:m="http://schemas.openxmlformats.org/officeDocument/2006/math">
                    <m:r>
                      <a:rPr lang="en-US" sz="11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rises.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Weak rosters at 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+ </a:t>
                </a:r>
                <a:r>
                  <a:rPr lang="en-US" sz="1200" dirty="0"/>
                  <a:t>low </a:t>
                </a:r>
                <a:r>
                  <a:rPr lang="en-US" sz="1200" i="1" dirty="0">
                    <a:latin typeface="Cambria Math"/>
                  </a:rPr>
                  <a:t>L</a:t>
                </a:r>
                <a:r>
                  <a:rPr lang="en-US" sz="1100" i="1" baseline="-25000" dirty="0">
                    <a:latin typeface="Cambria Math"/>
                  </a:rPr>
                  <a:t>C</a:t>
                </a:r>
                <a:r>
                  <a:rPr lang="en-US" sz="1200" dirty="0"/>
                  <a:t>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Elite rosters: high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ar-AE" sz="1200" dirty="0"/>
                  <a:t>+ </a:t>
                </a:r>
                <a:r>
                  <a:rPr lang="en-US" sz="1200" dirty="0"/>
                  <a:t>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</a:t>
                </a:r>
                <a:endParaRPr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55" y="1692358"/>
                <a:ext cx="3203745" cy="2671950"/>
              </a:xfrm>
              <a:prstGeom prst="rect">
                <a:avLst/>
              </a:prstGeom>
              <a:blipFill>
                <a:blip r:embed="rId5"/>
                <a:stretch>
                  <a:fillRect b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380" y="6192872"/>
                <a:ext cx="6759286" cy="47654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1200" dirty="0"/>
                  <a:t>Claim: at 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, better teams systematically face more peer pressure — the upward cloud in</a:t>
                </a:r>
                <a14:m>
                  <m:oMath xmlns:m="http://schemas.openxmlformats.org/officeDocument/2006/math">
                    <m:r>
                      <a:rPr lang="en-US" sz="1200" b="1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</a:t>
                </a:r>
                <a:r>
                  <a:rPr lang="en-US" sz="1200" dirty="0"/>
                  <a:t>vs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 </a:t>
                </a:r>
              </a:p>
              <a:p>
                <a:pPr algn="l">
                  <a:defRPr b="1"/>
                </a:pPr>
                <a:r>
                  <a:rPr lang="en-US" sz="1200" dirty="0"/>
                  <a:t>That gives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 a model-internal read beyond “the Pass C selection plot moved.”</a:t>
                </a:r>
                <a:endParaRPr sz="1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80" y="6192872"/>
                <a:ext cx="6759286" cy="476541"/>
              </a:xfrm>
              <a:prstGeom prst="rect">
                <a:avLst/>
              </a:prstGeom>
              <a:blipFill>
                <a:blip r:embed="rId6"/>
                <a:stretch>
                  <a:fillRect t="-256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4905</TotalTime>
  <Words>2987</Words>
  <Application>Microsoft Macintosh PowerPoint</Application>
  <PresentationFormat>Widescreen</PresentationFormat>
  <Paragraphs>228</Paragraphs>
  <Slides>18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-apple-system</vt:lpstr>
      <vt:lpstr>Arial</vt:lpstr>
      <vt:lpstr>Avenir Next</vt:lpstr>
      <vt:lpstr>Calibri</vt:lpstr>
      <vt:lpstr>Cambria Math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40</cp:revision>
  <cp:lastPrinted>2026-08-20T16:27:39Z</cp:lastPrinted>
  <dcterms:created xsi:type="dcterms:W3CDTF">2013-01-27T09:14:16Z</dcterms:created>
  <dcterms:modified xsi:type="dcterms:W3CDTF">2026-08-20T16:55:26Z</dcterms:modified>
  <cp:category/>
</cp:coreProperties>
</file>