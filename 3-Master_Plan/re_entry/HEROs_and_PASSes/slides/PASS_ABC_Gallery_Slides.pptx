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A — Empirical MBB: Roster Pressure in the Data</a:t>
            </a:r>
          </a:p>
        </p:txBody>
      </p:sp>
      <p:pic>
        <p:nvPicPr>
          <p:cNvPr id="3" name="Picture 2" descr="PASS_A_empirical_talent_vs_roster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179" y="841248"/>
            <a:ext cx="9735337" cy="3794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Real NCAA panel (2011–2021): mean NBA draft rate by ventile.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Left — talent alone: ability (ppm </a:t>
            </a:r>
            <a:r>
              <a:rPr sz="1100" i="1">
                <a:latin typeface="Cambria Math"/>
              </a:rPr>
              <a:t>z</a:t>
            </a:r>
            <a:r>
              <a:rPr sz="1100"/>
              <a:t> within season). Monotone up.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Right — roster context: leave-one-out teammate quality (</a:t>
            </a:r>
            <a:r>
              <a:rPr sz="1100" i="1">
                <a:latin typeface="Cambria Math"/>
              </a:rPr>
              <a:t>poolq\</a:t>
            </a:r>
            <a:r>
              <a:rPr sz="900" i="1" baseline="-25000">
                <a:latin typeface="Cambria Math"/>
              </a:rPr>
              <a:t>l</a:t>
            </a:r>
            <a:r>
              <a:rPr sz="1100" i="1">
                <a:latin typeface="Cambria Math"/>
              </a:rPr>
              <a:t>oo</a:t>
            </a:r>
            <a:r>
              <a:rPr sz="1100"/>
              <a:t>). Inverted-U.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No </a:t>
            </a:r>
            <a:r>
              <a:rPr sz="1100" i="1">
                <a:latin typeface="Cambria Math"/>
              </a:rPr>
              <a:t>λ</a:t>
            </a:r>
            <a:r>
              <a:rPr sz="1100"/>
              <a:t> in the empirical story — stylized fact Pass B/C echo.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Pipeline: VISUALIZE only (bin real </a:t>
            </a:r>
            <a:r>
              <a:rPr sz="1100" i="1">
                <a:latin typeface="Cambria Math"/>
              </a:rPr>
              <a:t>Y</a:t>
            </a:r>
            <a:r>
              <a:rPr sz="900" i="1" baseline="-25000">
                <a:latin typeface="Cambria Math"/>
              </a:rPr>
              <a:t>draft</a:t>
            </a:r>
            <a:r>
              <a:rPr sz="1100"/>
              <a:t> on ability | </a:t>
            </a:r>
            <a:r>
              <a:rPr sz="1100" i="1">
                <a:latin typeface="Cambria Math"/>
              </a:rPr>
              <a:t>poolq\</a:t>
            </a:r>
            <a:r>
              <a:rPr sz="900" i="1" baseline="-25000">
                <a:latin typeface="Cambria Math"/>
              </a:rPr>
              <a:t>l</a:t>
            </a:r>
            <a:r>
              <a:rPr sz="1100" i="1">
                <a:latin typeface="Cambria Math"/>
              </a:rPr>
              <a:t>oo</a:t>
            </a:r>
            <a:r>
              <a:rPr sz="1100"/>
              <a:t>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Assign </a:t>
            </a:r>
            <a:r>
              <a:rPr sz="1000" i="1">
                <a:latin typeface="Cambria Math"/>
              </a:rPr>
              <a:t>arrow</a:t>
            </a:r>
            <a:r>
              <a:rPr sz="1000"/>
              <a:t> Score </a:t>
            </a:r>
            <a:r>
              <a:rPr sz="1000" i="1">
                <a:latin typeface="Cambria Math"/>
              </a:rPr>
              <a:t>arrow</a:t>
            </a:r>
            <a:r>
              <a:rPr sz="1000"/>
              <a:t> Select in the real world; we read outcomes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B — Generative: Congestion in Score Bends the Curve</a:t>
            </a:r>
          </a:p>
        </p:txBody>
      </p:sp>
      <p:pic>
        <p:nvPicPr>
          <p:cNvPr id="3" name="Picture 2" descr="PASS_B_generative_lambda_knockout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77" y="841248"/>
            <a:ext cx="9777541" cy="3794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Synthetic league: ASSIGN </a:t>
            </a:r>
            <a:r>
              <a:rPr sz="1100" i="1">
                <a:latin typeface="Cambria Math"/>
              </a:rPr>
              <a:t>arrow</a:t>
            </a:r>
            <a:r>
              <a:rPr sz="1100"/>
              <a:t> SCORE </a:t>
            </a:r>
            <a:r>
              <a:rPr sz="1100" i="1">
                <a:latin typeface="Cambria Math"/>
              </a:rPr>
              <a:t>arrow</a:t>
            </a:r>
            <a:r>
              <a:rPr sz="1100"/>
              <a:t> SELECT </a:t>
            </a:r>
            <a:r>
              <a:rPr sz="1100" i="1">
                <a:latin typeface="Cambria Math"/>
              </a:rPr>
              <a:t>arrow</a:t>
            </a:r>
            <a:r>
              <a:rPr sz="1100"/>
              <a:t> VISUALIZE (</a:t>
            </a:r>
            <a:r>
              <a:rPr sz="1100" i="1">
                <a:latin typeface="Cambria Math"/>
              </a:rPr>
              <a:t>539</a:t>
            </a:r>
            <a:r>
              <a:rPr sz="1100"/>
              <a:t> preset).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Left — </a:t>
            </a:r>
            <a:r>
              <a:rPr sz="1100" i="1">
                <a:latin typeface="Cambria Math"/>
              </a:rPr>
              <a:t>λ = 0</a:t>
            </a:r>
            <a:r>
              <a:rPr sz="1100"/>
              <a:t>: score </a:t>
            </a:r>
            <a:r>
              <a:rPr sz="1100" i="1">
                <a:latin typeface="Cambria Math"/>
              </a:rPr>
              <a:t>S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900" i="1" baseline="-25000">
                <a:latin typeface="Cambria Math"/>
              </a:rPr>
              <a:t>i</a:t>
            </a:r>
            <a:r>
              <a:rPr sz="1100"/>
              <a:t> only (talent-only ranking). Roughly monotone.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Right — </a:t>
            </a:r>
            <a:r>
              <a:rPr sz="1100" i="1">
                <a:latin typeface="Cambria Math"/>
              </a:rPr>
              <a:t>λ &gt; 0</a:t>
            </a:r>
            <a:r>
              <a:rPr sz="1100"/>
              <a:t>: score </a:t>
            </a:r>
            <a:r>
              <a:rPr sz="1100" i="1">
                <a:latin typeface="Cambria Math"/>
              </a:rPr>
              <a:t>S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- w · L</a:t>
            </a:r>
            <a:r>
              <a:rPr sz="900" i="1" baseline="-25000">
                <a:latin typeface="Cambria Math"/>
              </a:rPr>
              <a:t>C</a:t>
            </a:r>
            <a:r>
              <a:rPr sz="1100"/>
              <a:t> (viable-peer congestion in SCORE).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VISUALIZE on pool mean (team ability, includes self) — not </a:t>
            </a:r>
            <a:r>
              <a:rPr sz="1100" i="1">
                <a:latin typeface="Cambria Math"/>
              </a:rPr>
              <a:t>poolq\</a:t>
            </a:r>
            <a:r>
              <a:rPr sz="900" i="1" baseline="-25000">
                <a:latin typeface="Cambria Math"/>
              </a:rPr>
              <a:t>l</a:t>
            </a:r>
            <a:r>
              <a:rPr sz="1100" i="1">
                <a:latin typeface="Cambria Math"/>
              </a:rPr>
              <a:t>oo</a:t>
            </a:r>
            <a:r>
              <a:rPr sz="11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Claim: roster pressure in the advancement rule bends the curve (qualitative POC).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Pass B knob: </a:t>
            </a:r>
            <a:r>
              <a:rPr sz="1000" i="1">
                <a:latin typeface="Cambria Math"/>
              </a:rPr>
              <a:t>λ</a:t>
            </a:r>
            <a:r>
              <a:rPr sz="1000"/>
              <a:t> / </a:t>
            </a:r>
            <a:r>
              <a:rPr sz="1000" i="1">
                <a:latin typeface="Cambria Math"/>
              </a:rPr>
              <a:t>w</a:t>
            </a:r>
            <a:r>
              <a:rPr sz="1000"/>
              <a:t> in SCORE. Does not vary assignment </a:t>
            </a:r>
            <a:r>
              <a:rPr sz="1000" i="1">
                <a:latin typeface="Cambria Math"/>
              </a:rPr>
              <a:t>ρ</a:t>
            </a:r>
            <a:r>
              <a:rPr sz="100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C — Generative: Assortativity Shapes the Sorted World</a:t>
            </a:r>
          </a:p>
        </p:txBody>
      </p:sp>
      <p:pic>
        <p:nvPicPr>
          <p:cNvPr id="3" name="Picture 2" descr="PASS_C_rho_ablation_selection_by_poo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329" y="841248"/>
            <a:ext cx="5899036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4"/>
            <a:ext cx="5570067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Same </a:t>
            </a:r>
            <a:r>
              <a:rPr sz="1100" i="1">
                <a:latin typeface="Cambria Math"/>
              </a:rPr>
              <a:t>539</a:t>
            </a:r>
            <a:r>
              <a:rPr sz="1100"/>
              <a:t> score as Pass B right arm — </a:t>
            </a:r>
            <a:r>
              <a:rPr sz="1100" i="1">
                <a:latin typeface="Cambria Math"/>
              </a:rPr>
              <a:t>S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- w · L</a:t>
            </a:r>
            <a:r>
              <a:rPr sz="900" i="1" baseline="-25000">
                <a:latin typeface="Cambria Math"/>
              </a:rPr>
              <a:t>C</a:t>
            </a:r>
            <a:r>
              <a:rPr sz="1100"/>
              <a:t> held fixed.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One draw of talent; only ASSIGN changes (soft </a:t>
            </a:r>
            <a:r>
              <a:rPr sz="1100" i="1">
                <a:latin typeface="Cambria Math"/>
              </a:rPr>
              <a:t>ρ</a:t>
            </a:r>
            <a:r>
              <a:rPr sz="1100"/>
              <a:t> ladder + sort-and-chop).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latin typeface="Cambria Math"/>
              </a:rPr>
              <a:t>ρ</a:t>
            </a:r>
            <a:r>
              <a:rPr sz="1100"/>
              <a:t> controls how sharply players match team targets — roster sorting.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4"/>
            <a:ext cx="5570067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VISUALIZE on pool mean: assortativity moves the inverted-U readout.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Story: </a:t>
            </a:r>
            <a:r>
              <a:rPr sz="1100" i="1">
                <a:latin typeface="Cambria Math"/>
              </a:rPr>
              <a:t>λ</a:t>
            </a:r>
            <a:r>
              <a:rPr sz="1100"/>
              <a:t> puts roster pressure in score; </a:t>
            </a:r>
            <a:r>
              <a:rPr sz="1100" i="1">
                <a:latin typeface="Cambria Math"/>
              </a:rPr>
              <a:t>ρ</a:t>
            </a:r>
            <a:r>
              <a:rPr sz="1100"/>
              <a:t> delivers pressured environments.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Pass C knob: </a:t>
            </a:r>
            <a:r>
              <a:rPr sz="1000" i="1">
                <a:latin typeface="Cambria Math"/>
              </a:rPr>
              <a:t>ρ</a:t>
            </a:r>
            <a:r>
              <a:rPr sz="1000"/>
              <a:t> in ASSIGN. Score + top-</a:t>
            </a:r>
            <a:r>
              <a:rPr sz="1000" i="1">
                <a:latin typeface="Cambria Math"/>
              </a:rPr>
              <a:t>K</a:t>
            </a:r>
            <a:r>
              <a:rPr sz="1000"/>
              <a:t> fixed across arms.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