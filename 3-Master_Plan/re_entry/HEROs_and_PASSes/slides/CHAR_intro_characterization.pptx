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5"/>
  </p:normalViewPr>
  <p:slideViewPr>
    <p:cSldViewPr snapToGrid="0" snapToObjects="1">
      <p:cViewPr>
        <p:scale>
          <a:sx n="273" d="100"/>
          <a:sy n="273" d="100"/>
        </p:scale>
        <p:origin x="-6344" y="-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84048" y="1024128"/>
              <a:ext cx="5806439" cy="490859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</a:t>
                          </a:r>
                          <a14:m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 talent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i.i.d.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tightly players match team talent targets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LOO peer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viability</a:t>
                          </a:r>
                        </a:p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Smooth</a:t>
                          </a:r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-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mean of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ar-AE" sz="1100" b="0" i="1" baseline="-25000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100" b="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over teammates</a:t>
                          </a:r>
                        </a:p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Hard option in code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1100" b="0" i="1" dirty="0" smtClean="0">
                                  <a:latin typeface="Cambria Math" panose="02040503050406030204" pitchFamily="18" charset="0"/>
                                </a:rPr>
                                <m:t>&gt; </m:t>
                              </m:r>
                              <m:r>
                                <a:rPr lang="ar-AE" sz="11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>
                              <a:latin typeface="Avenir Next" panose="020B0503020202020204" pitchFamily="34" charset="0"/>
                            </a:rPr>
                            <a:t>Center of the sigmoid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Steepness of viability step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Fraction of league selected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 ÷</m:t>
                              </m:r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84048" y="1024128"/>
              <a:ext cx="5806439" cy="490859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129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677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endParaRPr lang="en-US" sz="1100" b="0" i="0" dirty="0">
                            <a:latin typeface="Avenir Next" panose="020B0503020202020204" pitchFamily="34" charset="0"/>
                          </a:endParaRPr>
                        </a:p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539 Preset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178723" r="-618750" b="-55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 talent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1100" b="0" i="0" dirty="0" err="1">
                              <a:latin typeface="Avenir Next" panose="020B0503020202020204" pitchFamily="34" charset="0"/>
                            </a:rPr>
                            <a:t>i.i.d.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Uniform[0,1] per team— ideal “seat” for soft assignment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tightly players match team talent targets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9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measure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346000" r="-752" b="-33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11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628571" r="-6187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1100" b="0" i="0">
                              <a:latin typeface="Avenir Next" panose="020B0503020202020204" pitchFamily="34" charset="0"/>
                            </a:rPr>
                            <a:t>Center of the sigmoid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746341" r="-61875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746341" r="-75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3" t="-826190" r="-618750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556" t="-826190" r="-752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Not curve fitting: which rules </a:t>
                </a:r>
                <a:r>
                  <a:rPr lang="en-US" sz="1050" i="1" dirty="0">
                    <a:solidFill>
                      <a:srgbClr val="FF0000"/>
                    </a:solidFill>
                  </a:rPr>
                  <a:t>bend</a:t>
                </a:r>
                <a:r>
                  <a:rPr lang="en-US" sz="1050" dirty="0"/>
                  <a:t> synthetic selection curves — not NCAA fit yet.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Three steps: ASSIGN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𝑆𝐶𝑂𝑅𝐸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 sz="105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𝑆𝐸𝐿𝐸𝐶𝑇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ar-AE" sz="1050" dirty="0"/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then VISUALIZE by pool-mean bin.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in this deck: </a:t>
                </a:r>
                <a:r>
                  <a:rPr lang="en-US" sz="1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crowding_smooth</a:t>
                </a:r>
                <a:r>
                  <a:rPr lang="en-US" sz="1000" dirty="0"/>
                  <a:t> </a:t>
                </a:r>
                <a:r>
                  <a:rPr lang="en-US" sz="1050" dirty="0"/>
                  <a:t>(mean </a:t>
                </a:r>
                <a:r>
                  <a:rPr lang="el-GR" sz="1050" i="1" dirty="0">
                    <a:latin typeface="Cambria Math"/>
                  </a:rPr>
                  <a:t>σ</a:t>
                </a:r>
                <a:r>
                  <a:rPr lang="el-GR" sz="1050" dirty="0"/>
                  <a:t>). </a:t>
                </a:r>
                <a:endParaRPr lang="en-US" sz="1050" dirty="0"/>
              </a:p>
              <a:p>
                <a:pPr>
                  <a:lnSpc>
                    <a:spcPct val="150000"/>
                  </a:lnSpc>
                </a:pPr>
                <a:r>
                  <a:rPr lang="en-US" sz="1050" dirty="0"/>
                  <a:t>	Code also builds hard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= LOO share with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— not shown here.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One-at-a-time (OAT): each slide moves one knob; other settings stay at benchmark values.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Seed 42 on stochastic steps: draw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50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050" dirty="0"/>
                  <a:t>soft-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/>
                  <a:t> assignment.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Score, 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dirty="0"/>
                  <a:t>, bins are deterministic.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League: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(539 preset).</a:t>
                </a:r>
                <a:endParaRPr sz="105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749808"/>
                <a:ext cx="5361127" cy="2267800"/>
              </a:xfrm>
              <a:prstGeom prst="rect">
                <a:avLst/>
              </a:prstGeom>
              <a:blipFill>
                <a:blip r:embed="rId3"/>
                <a:stretch>
                  <a:fillRect b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446520" y="3138121"/>
                <a:ext cx="5361127" cy="1036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 b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/>
                  <a:t>Beta (2,2) on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[0,1] </m:t>
                    </m:r>
                  </m:oMath>
                </a14:m>
                <a:r>
                  <a:rPr lang="en-US" sz="1050" dirty="0"/>
                  <a:t>– SELECTION_539_ABILITY_DRAW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b="1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=0.55 —</m:t>
                    </m:r>
                    <m:r>
                      <a:rPr lang="en-US" sz="105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1050" dirty="0"/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sz="1050" dirty="0"/>
                  <a:t>— gallery fixed assign for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sz="1050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 slides (moderate-high mixing; not a 539 JSON field)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— characterization default (MBB draft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1% </m:t>
                    </m:r>
                  </m:oMath>
                </a14:m>
                <a:r>
                  <a:rPr lang="en-US" sz="1050" dirty="0"/>
                  <a:t>is a separate calibration point)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3138121"/>
                <a:ext cx="5361127" cy="1036374"/>
              </a:xfrm>
              <a:prstGeom prst="rect">
                <a:avLst/>
              </a:prstGeom>
              <a:blipFill>
                <a:blip r:embed="rId4"/>
                <a:stretch>
                  <a:fillRect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46520" y="4779755"/>
            <a:ext cx="5433092" cy="119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b="1"/>
            </a:pPr>
            <a:r>
              <a:rPr sz="1050" dirty="0"/>
              <a:t>Real hero: draft rate vs </a:t>
            </a:r>
            <a:r>
              <a:rPr sz="1050" dirty="0">
                <a:solidFill>
                  <a:srgbClr val="002060"/>
                </a:solidFill>
              </a:rPr>
              <a:t>poolq_loo</a:t>
            </a:r>
            <a:r>
              <a:rPr sz="1050" dirty="0"/>
              <a:t> (teammate quality, leave-one-out) — a </a:t>
            </a:r>
            <a:r>
              <a:rPr sz="1050" dirty="0">
                <a:solidFill>
                  <a:srgbClr val="002060"/>
                </a:solidFill>
              </a:rPr>
              <a:t>bend</a:t>
            </a:r>
            <a:r>
              <a:rPr sz="1050" dirty="0"/>
              <a:t> at the top bins.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This deck: fraction selected vs </a:t>
            </a:r>
            <a:r>
              <a:rPr sz="1050" b="1" dirty="0"/>
              <a:t>pool mean</a:t>
            </a:r>
            <a:r>
              <a:rPr sz="1050" dirty="0"/>
              <a:t> in a fake league — same </a:t>
            </a:r>
            <a:r>
              <a:rPr sz="1050" i="1" dirty="0"/>
              <a:t>kind</a:t>
            </a:r>
            <a:r>
              <a:rPr sz="1050" dirty="0"/>
              <a:t> of question, different axis and league.</a:t>
            </a: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50" dirty="0"/>
              <a:t>Benchmarks anchor to the Alex 539 playground track so sim slides stay comparable</a:t>
            </a:r>
            <a:endParaRPr lang="en-US" sz="1050" dirty="0"/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W</a:t>
            </a:r>
            <a:r>
              <a:rPr sz="1050" dirty="0"/>
              <a:t>e have </a:t>
            </a:r>
            <a:r>
              <a:rPr sz="1050" b="1" dirty="0"/>
              <a:t>not</a:t>
            </a:r>
            <a:r>
              <a:rPr sz="1050" dirty="0"/>
              <a:t> re-fit those numbers to NCAA data in Phase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9" y="6126480"/>
            <a:ext cx="73491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100" dirty="0"/>
              <a:t>Claim: Phase B maps which generative knobs move</a:t>
            </a:r>
            <a:r>
              <a:rPr lang="en-US" sz="1100" dirty="0"/>
              <a:t> </a:t>
            </a:r>
            <a:r>
              <a:rPr sz="1100" i="1" dirty="0">
                <a:solidFill>
                  <a:srgbClr val="FF0000"/>
                </a:solidFill>
              </a:rPr>
              <a:t>who gets selected</a:t>
            </a:r>
            <a:r>
              <a:rPr sz="1100" dirty="0"/>
              <a:t> — prerequisite before Phase C calibration to the hero.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429</Words>
  <Application>Microsoft Macintosh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Avenir Next</vt:lpstr>
      <vt:lpstr>Calibri</vt:lpstr>
      <vt:lpstr>Cambria Math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7</cp:revision>
  <dcterms:created xsi:type="dcterms:W3CDTF">2013-01-27T09:14:16Z</dcterms:created>
  <dcterms:modified xsi:type="dcterms:W3CDTF">2026-08-05T18:53:05Z</dcterms:modified>
  <cp:category/>
</cp:coreProperties>
</file>