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4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20"/>
    <p:restoredTop sz="94655"/>
  </p:normalViewPr>
  <p:slideViewPr>
    <p:cSldViewPr snapToGrid="0" snapToObjects="1">
      <p:cViewPr>
        <p:scale>
          <a:sx n="273" d="100"/>
          <a:sy n="273" d="100"/>
        </p:scale>
        <p:origin x="-6344" y="-9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/>
              <a:t>Phase B — Fake-league characterization (not curve fitting)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49808"/>
            <a:ext cx="5806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1200"/>
              <a:t>Knobs (mini glossary)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e 3"/>
              <p:cNvGraphicFramePr>
                <a:graphicFrameLocks noGrp="1"/>
              </p:cNvGraphicFramePr>
              <p:nvPr/>
            </p:nvGraphicFramePr>
            <p:xfrm>
              <a:off x="384048" y="1024128"/>
              <a:ext cx="5806439" cy="4908593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1290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62580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36773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526403">
                    <a:tc>
                      <a:txBody>
                        <a:bodyPr/>
                        <a:lstStyle/>
                        <a:p>
                          <a:pPr algn="ctr"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Symbol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Plain name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What it controls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A</a:t>
                          </a:r>
                          <a:r>
                            <a:rPr sz="1100" b="0" i="0" baseline="-25000" dirty="0">
                              <a:latin typeface="Avenir Next" panose="020B0503020202020204" pitchFamily="34" charset="0"/>
                            </a:rPr>
                            <a:t>i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>
                              <a:latin typeface="Avenir Next" panose="020B0503020202020204" pitchFamily="34" charset="0"/>
                            </a:rPr>
                            <a:t>Player ability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800">
                              <a:latin typeface="Calibri"/>
                            </a:defRPr>
                          </a:pPr>
                          <a:r>
                            <a:rPr sz="1100" b="0" i="0" dirty="0">
                              <a:latin typeface="Avenir Next" panose="020B0503020202020204" pitchFamily="34" charset="0"/>
                            </a:rPr>
                            <a:t>Innate talent draw (Beta(2,2) on [0,1])</a:t>
                          </a:r>
                          <a:endParaRPr lang="en-US" sz="1100" b="0" i="0" dirty="0">
                            <a:latin typeface="Avenir Next" panose="020B0503020202020204" pitchFamily="34" charset="0"/>
                          </a:endParaRPr>
                        </a:p>
                        <a:p>
                          <a:pPr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539 Preset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5619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b="0" dirty="0"/>
                            <a:t>T</a:t>
                          </a:r>
                          <a:r>
                            <a:rPr lang="en-US" sz="1200" b="0" baseline="-25000" dirty="0"/>
                            <a:t>j</a:t>
                          </a:r>
                          <a14:m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Team talent target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Synthetic </a:t>
                          </a:r>
                          <a:r>
                            <a:rPr lang="en-US" sz="1100" b="0" i="0" dirty="0" err="1">
                              <a:latin typeface="Avenir Next" panose="020B0503020202020204" pitchFamily="34" charset="0"/>
                            </a:rPr>
                            <a:t>i.i.d.</a:t>
                          </a: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 Uniform[0,1] per team— ideal “seat” for soft assignment</a:t>
                          </a:r>
                        </a:p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 sz="800">
                              <a:latin typeface="Calibri"/>
                            </a:defRPr>
                          </a:pP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49253264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ρ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>
                              <a:latin typeface="Avenir Next" panose="020B0503020202020204" pitchFamily="34" charset="0"/>
                            </a:rPr>
                            <a:t>Assignment assortativity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800">
                              <a:latin typeface="Calibri"/>
                            </a:defRPr>
                          </a:pPr>
                          <a:r>
                            <a:rPr sz="1100" b="0" i="0" dirty="0">
                              <a:latin typeface="Avenir Next" panose="020B0503020202020204" pitchFamily="34" charset="0"/>
                            </a:rPr>
                            <a:t>How tightly players match team talent targets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L</a:t>
                          </a:r>
                          <a:r>
                            <a:rPr sz="1100" b="0" i="0" baseline="-25000" dirty="0">
                              <a:latin typeface="Avenir Next" panose="020B0503020202020204" pitchFamily="34" charset="0"/>
                            </a:rPr>
                            <a:t>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>
                              <a:latin typeface="Avenir Next" panose="020B0503020202020204" pitchFamily="34" charset="0"/>
                            </a:rPr>
                            <a:t>Congestion measure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LOO peer</a:t>
                          </a:r>
                          <a:r>
                            <a:rPr lang="en-US" sz="1100" b="0" i="0" baseline="0" dirty="0">
                              <a:latin typeface="Avenir Next" panose="020B0503020202020204" pitchFamily="34" charset="0"/>
                            </a:rPr>
                            <a:t> viability</a:t>
                          </a:r>
                        </a:p>
                        <a:p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Smooth</a:t>
                          </a:r>
                          <a:r>
                            <a:rPr lang="en-US" sz="1100" b="0" i="0" baseline="0" dirty="0">
                              <a:latin typeface="Avenir Next" panose="020B0503020202020204" pitchFamily="34" charset="0"/>
                            </a:rPr>
                            <a:t> - </a:t>
                          </a: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 mean of </a:t>
                          </a:r>
                          <a14:m>
                            <m:oMath xmlns:m="http://schemas.openxmlformats.org/officeDocument/2006/math">
                              <m:r>
                                <a:rPr lang="en-US" sz="1100" b="0" i="1" dirty="0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d>
                                <m:dPr>
                                  <m:ctrlPr>
                                    <a:rPr lang="ar-AE" sz="11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sz="1100" b="0" i="1" dirty="0" smtClean="0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  <m:d>
                                    <m:dPr>
                                      <m:ctrlPr>
                                        <a:rPr lang="ar-AE" sz="11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 sz="1100" b="0" i="1" dirty="0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  <m:r>
                                        <a:rPr lang="ar-AE" sz="1100" b="0" i="1" baseline="-25000" dirty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ar-AE" sz="1100" b="0" i="1" dirty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ar-AE" sz="1100" b="0" i="1" dirty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d>
                            </m:oMath>
                          </a14:m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over teammates</a:t>
                          </a:r>
                        </a:p>
                        <a:p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Hard option in code 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sz="11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100" b="0" i="1" dirty="0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ar-AE" sz="1100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ar-AE" sz="1100" b="0" i="1" dirty="0" smtClean="0">
                                  <a:latin typeface="Cambria Math" panose="02040503050406030204" pitchFamily="18" charset="0"/>
                                </a:rPr>
                                <m:t>&gt; </m:t>
                              </m:r>
                              <m:r>
                                <a:rPr lang="ar-AE" sz="1100" b="0" i="1" dirty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sz="1100" b="0" i="0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λ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>
                              <a:latin typeface="Avenir Next" panose="020B0503020202020204" pitchFamily="34" charset="0"/>
                            </a:rPr>
                            <a:t>Congestion weight in score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sz="1100" b="0" i="0" dirty="0">
                              <a:latin typeface="Avenir Next" panose="020B0503020202020204" pitchFamily="34" charset="0"/>
                            </a:rPr>
                            <a:t>How hard L</a:t>
                          </a:r>
                          <a:r>
                            <a:rPr sz="1100" b="0" i="0" baseline="-25000" dirty="0">
                              <a:latin typeface="Avenir Next" panose="020B0503020202020204" pitchFamily="34" charset="0"/>
                            </a:rPr>
                            <a:t>C</a:t>
                          </a:r>
                          <a:r>
                            <a:rPr sz="1100" b="0" i="0" dirty="0">
                              <a:latin typeface="Avenir Next" panose="020B0503020202020204" pitchFamily="34" charset="0"/>
                            </a:rPr>
                            <a:t> penalizes ranking — not congestion itself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oMath>
                            </m:oMathPara>
                          </a14:m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>
                              <a:latin typeface="Avenir Next" panose="020B0503020202020204" pitchFamily="34" charset="0"/>
                            </a:rPr>
                            <a:t>Viability cutline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800">
                              <a:latin typeface="Calibri"/>
                            </a:defRPr>
                          </a:pPr>
                          <a:r>
                            <a:rPr sz="1100" b="0" i="0">
                              <a:latin typeface="Avenir Next" panose="020B0503020202020204" pitchFamily="34" charset="0"/>
                            </a:rPr>
                            <a:t>Center of the sigmoid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>
                              <a:latin typeface="Avenir Next" panose="020B0503020202020204" pitchFamily="34" charset="0"/>
                            </a:rPr>
                            <a:t>Sigmoid sharpness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sz="1100" b="0" i="0" dirty="0">
                              <a:latin typeface="Avenir Next" panose="020B0503020202020204" pitchFamily="34" charset="0"/>
                            </a:rPr>
                            <a:t>Steepness of viability step around </a:t>
                          </a:r>
                          <a14:m>
                            <m:oMath xmlns:m="http://schemas.openxmlformats.org/officeDocument/2006/math">
                              <m:r>
                                <a:rPr lang="en-US" sz="1100" b="0" i="1" dirty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oMath>
                          </a14:m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>
                              <a:latin typeface="Avenir Next" panose="020B0503020202020204" pitchFamily="34" charset="0"/>
                            </a:rPr>
                            <a:t>Selectivity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sz="1100" b="0" i="0" dirty="0">
                              <a:latin typeface="Avenir Next" panose="020B0503020202020204" pitchFamily="34" charset="0"/>
                            </a:rPr>
                            <a:t>Fraction of league selected (</a:t>
                          </a:r>
                          <a14:m>
                            <m:oMath xmlns:m="http://schemas.openxmlformats.org/officeDocument/2006/math">
                              <m:r>
                                <a:rPr lang="en-US" sz="1100" b="0" i="1" dirty="0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  <m:r>
                                <a:rPr lang="en-US" sz="1100" b="0" i="1" dirty="0" smtClean="0">
                                  <a:latin typeface="Cambria Math" panose="02040503050406030204" pitchFamily="18" charset="0"/>
                                </a:rPr>
                                <m:t> ÷</m:t>
                              </m:r>
                              <m:r>
                                <a:rPr lang="en-US" sz="1100" b="0" i="1" dirty="0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r>
                            <a:rPr sz="1100" b="0" i="0" dirty="0">
                              <a:latin typeface="Avenir Next" panose="020B0503020202020204" pitchFamily="34" charset="0"/>
                            </a:rPr>
                            <a:t>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e 3"/>
              <p:cNvGraphicFramePr>
                <a:graphicFrameLocks noGrp="1"/>
              </p:cNvGraphicFramePr>
              <p:nvPr/>
            </p:nvGraphicFramePr>
            <p:xfrm>
              <a:off x="384048" y="1024128"/>
              <a:ext cx="5806439" cy="4908593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1290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62580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36773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526403">
                    <a:tc>
                      <a:txBody>
                        <a:bodyPr/>
                        <a:lstStyle/>
                        <a:p>
                          <a:pPr algn="ctr"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Symbol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Plain name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What it controls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A</a:t>
                          </a:r>
                          <a:r>
                            <a:rPr sz="1100" b="0" i="0" baseline="-25000" dirty="0">
                              <a:latin typeface="Avenir Next" panose="020B0503020202020204" pitchFamily="34" charset="0"/>
                            </a:rPr>
                            <a:t>i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>
                              <a:latin typeface="Avenir Next" panose="020B0503020202020204" pitchFamily="34" charset="0"/>
                            </a:rPr>
                            <a:t>Player ability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800">
                              <a:latin typeface="Calibri"/>
                            </a:defRPr>
                          </a:pPr>
                          <a:r>
                            <a:rPr sz="1100" b="0" i="0" dirty="0">
                              <a:latin typeface="Avenir Next" panose="020B0503020202020204" pitchFamily="34" charset="0"/>
                            </a:rPr>
                            <a:t>Innate talent draw (Beta(2,2) on [0,1])</a:t>
                          </a:r>
                          <a:endParaRPr lang="en-US" sz="1100" b="0" i="0" dirty="0">
                            <a:latin typeface="Avenir Next" panose="020B0503020202020204" pitchFamily="34" charset="0"/>
                          </a:endParaRPr>
                        </a:p>
                        <a:p>
                          <a:pPr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539 Preset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5943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563" t="-178723" r="-618750" b="-5510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Team talent target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Synthetic </a:t>
                          </a:r>
                          <a:r>
                            <a:rPr lang="en-US" sz="1100" b="0" i="0" dirty="0" err="1">
                              <a:latin typeface="Avenir Next" panose="020B0503020202020204" pitchFamily="34" charset="0"/>
                            </a:rPr>
                            <a:t>i.i.d.</a:t>
                          </a: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 Uniform[0,1] per team— ideal “seat” for soft assignment</a:t>
                          </a:r>
                        </a:p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 sz="800">
                              <a:latin typeface="Calibri"/>
                            </a:defRPr>
                          </a:pP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49253264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ρ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>
                              <a:latin typeface="Avenir Next" panose="020B0503020202020204" pitchFamily="34" charset="0"/>
                            </a:rPr>
                            <a:t>Assignment assortativity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800">
                              <a:latin typeface="Calibri"/>
                            </a:defRPr>
                          </a:pPr>
                          <a:r>
                            <a:rPr sz="1100" b="0" i="0" dirty="0">
                              <a:latin typeface="Avenir Next" panose="020B0503020202020204" pitchFamily="34" charset="0"/>
                            </a:rPr>
                            <a:t>How tightly players match team talent targets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2941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L</a:t>
                          </a:r>
                          <a:r>
                            <a:rPr sz="1100" b="0" i="0" baseline="-25000" dirty="0">
                              <a:latin typeface="Avenir Next" panose="020B0503020202020204" pitchFamily="34" charset="0"/>
                            </a:rPr>
                            <a:t>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>
                              <a:latin typeface="Avenir Next" panose="020B0503020202020204" pitchFamily="34" charset="0"/>
                            </a:rPr>
                            <a:t>Congestion measure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2556" t="-346000" r="-752" b="-33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λ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>
                              <a:latin typeface="Avenir Next" panose="020B0503020202020204" pitchFamily="34" charset="0"/>
                            </a:rPr>
                            <a:t>Congestion weight in score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sz="1100" b="0" i="0" dirty="0">
                              <a:latin typeface="Avenir Next" panose="020B0503020202020204" pitchFamily="34" charset="0"/>
                            </a:rPr>
                            <a:t>How hard L</a:t>
                          </a:r>
                          <a:r>
                            <a:rPr sz="1100" b="0" i="0" baseline="-25000" dirty="0">
                              <a:latin typeface="Avenir Next" panose="020B0503020202020204" pitchFamily="34" charset="0"/>
                            </a:rPr>
                            <a:t>C</a:t>
                          </a:r>
                          <a:r>
                            <a:rPr sz="1100" b="0" i="0" dirty="0">
                              <a:latin typeface="Avenir Next" panose="020B0503020202020204" pitchFamily="34" charset="0"/>
                            </a:rPr>
                            <a:t> penalizes ranking — not congestion itself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563" t="-628571" r="-6187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>
                              <a:latin typeface="Avenir Next" panose="020B0503020202020204" pitchFamily="34" charset="0"/>
                            </a:rPr>
                            <a:t>Viability cutline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800">
                              <a:latin typeface="Calibri"/>
                            </a:defRPr>
                          </a:pPr>
                          <a:r>
                            <a:rPr sz="1100" b="0" i="0">
                              <a:latin typeface="Avenir Next" panose="020B0503020202020204" pitchFamily="34" charset="0"/>
                            </a:rPr>
                            <a:t>Center of the sigmoid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563" t="-746341" r="-618750" b="-1048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>
                              <a:latin typeface="Avenir Next" panose="020B0503020202020204" pitchFamily="34" charset="0"/>
                            </a:rPr>
                            <a:t>Sigmoid sharpness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2556" t="-746341" r="-752" b="-1048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563" t="-826190" r="-618750" b="-23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>
                              <a:latin typeface="Avenir Next" panose="020B0503020202020204" pitchFamily="34" charset="0"/>
                            </a:rPr>
                            <a:t>Selectivity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2556" t="-826190" r="-752" b="-23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6446520" y="749808"/>
                <a:ext cx="5361127" cy="22678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defRPr b="1"/>
                </a:pPr>
                <a:r>
                  <a:rPr lang="en-US" sz="1050" dirty="0"/>
                  <a:t>Not curve fitting: which rules </a:t>
                </a:r>
                <a:r>
                  <a:rPr lang="en-US" sz="1050" i="1" dirty="0">
                    <a:solidFill>
                      <a:srgbClr val="FF0000"/>
                    </a:solidFill>
                  </a:rPr>
                  <a:t>bend</a:t>
                </a:r>
                <a:r>
                  <a:rPr lang="en-US" sz="1050" dirty="0"/>
                  <a:t> synthetic selection curves — not NCAA fit yet.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50" dirty="0"/>
                  <a:t>Three steps: ASSIGN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ar-AE" sz="105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050" i="1" dirty="0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</m:d>
                    <m:r>
                      <a:rPr lang="ar-AE" sz="1050" i="1" dirty="0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ar-AE" sz="1050" i="1" dirty="0" smtClean="0">
                        <a:latin typeface="Cambria Math" panose="02040503050406030204" pitchFamily="18" charset="0"/>
                      </a:rPr>
                      <m:t>𝑆𝐶𝑂𝑅𝐸</m:t>
                    </m:r>
                    <m:r>
                      <a:rPr lang="ar-AE" sz="1050" i="1" dirty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ar-AE" sz="105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05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ar-AE" sz="1000" i="1" baseline="-25000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 sz="1050" i="1" dirty="0">
                            <a:latin typeface="Cambria Math" panose="02040503050406030204" pitchFamily="18" charset="0"/>
                          </a:rPr>
                          <m:t> = </m:t>
                        </m:r>
                        <m:r>
                          <a:rPr lang="ar-AE" sz="1050" i="1" dirty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 sz="1000" i="1" baseline="-25000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 sz="1050" i="1" dirty="0">
                            <a:latin typeface="Cambria Math" panose="02040503050406030204" pitchFamily="18" charset="0"/>
                          </a:rPr>
                          <m:t> − </m:t>
                        </m:r>
                        <m:r>
                          <a:rPr lang="ar-AE" sz="1050" i="1" dirty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ar-AE" sz="1050" i="1" dirty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sz="1050" i="1" dirty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ar-AE" sz="1000" i="1" baseline="-25000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ar-AE" sz="1050" i="1" dirty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ar-AE" sz="1050" i="1" dirty="0">
                        <a:latin typeface="Cambria Math" panose="02040503050406030204" pitchFamily="18" charset="0"/>
                      </a:rPr>
                      <m:t>𝑆𝐸𝐿𝐸𝐶𝑇</m:t>
                    </m:r>
                    <m:r>
                      <a:rPr lang="ar-AE" sz="1050" i="1" dirty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ar-AE" sz="105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050" i="1" dirty="0">
                            <a:latin typeface="Cambria Math" panose="02040503050406030204" pitchFamily="18" charset="0"/>
                          </a:rPr>
                          <m:t>𝑡𝑜𝑝</m:t>
                        </m:r>
                        <m:r>
                          <a:rPr lang="ar-AE" sz="105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sz="1050" i="1" dirty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endParaRPr lang="ar-AE" sz="1050" dirty="0"/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50" dirty="0"/>
                  <a:t>then VISUALIZE by pool-mean bin.</a:t>
                </a:r>
              </a:p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000" i="1" baseline="-25000" dirty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5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050" dirty="0"/>
                  <a:t>in this deck: </a:t>
                </a:r>
                <a:r>
                  <a:rPr lang="en-US" sz="10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crowding_smooth</a:t>
                </a:r>
                <a:r>
                  <a:rPr lang="en-US" sz="1000" dirty="0"/>
                  <a:t> </a:t>
                </a:r>
                <a:r>
                  <a:rPr lang="en-US" sz="1050" dirty="0"/>
                  <a:t>(mean </a:t>
                </a:r>
                <a:r>
                  <a:rPr lang="el-GR" sz="1050" i="1" dirty="0">
                    <a:latin typeface="Cambria Math"/>
                  </a:rPr>
                  <a:t>σ</a:t>
                </a:r>
                <a:r>
                  <a:rPr lang="el-GR" sz="1050" dirty="0"/>
                  <a:t>). </a:t>
                </a:r>
                <a:endParaRPr lang="en-US" sz="1050" dirty="0"/>
              </a:p>
              <a:p>
                <a:pPr>
                  <a:lnSpc>
                    <a:spcPct val="150000"/>
                  </a:lnSpc>
                </a:pPr>
                <a:r>
                  <a:rPr lang="en-US" sz="1050" dirty="0"/>
                  <a:t>	Code also builds hard </a:t>
                </a:r>
                <a14:m>
                  <m:oMath xmlns:m="http://schemas.openxmlformats.org/officeDocument/2006/math"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000" i="1" baseline="-25000" dirty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5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050" dirty="0"/>
                  <a:t>= LOO share with </a:t>
                </a:r>
                <a14:m>
                  <m:oMath xmlns:m="http://schemas.openxmlformats.org/officeDocument/2006/math"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000" i="1" baseline="-25000" dirty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1050" i="1" dirty="0">
                        <a:latin typeface="Cambria Math" panose="02040503050406030204" pitchFamily="18" charset="0"/>
                      </a:rPr>
                      <m:t> &gt; </m:t>
                    </m:r>
                    <m:r>
                      <a:rPr lang="en-US" sz="1050" i="1" dirty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1050" dirty="0"/>
                  <a:t>— not shown here.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50" dirty="0"/>
                  <a:t>One-at-a-time (OAT): each slide moves one knob; other settings stay at benchmark values.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50" dirty="0"/>
                  <a:t>Seed 42 on stochastic steps: draw </a:t>
                </a:r>
                <a14:m>
                  <m:oMath xmlns:m="http://schemas.openxmlformats.org/officeDocument/2006/math"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000" i="1" baseline="-25000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050" i="1" dirty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05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5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050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50" i="1" dirty="0">
                        <a:latin typeface="Cambria Math" panose="02040503050406030204" pitchFamily="18" charset="0"/>
                      </a:rPr>
                      <m:t>; </m:t>
                    </m:r>
                  </m:oMath>
                </a14:m>
                <a:r>
                  <a:rPr lang="en-US" sz="1050" dirty="0"/>
                  <a:t>soft-</a:t>
                </a:r>
                <a14:m>
                  <m:oMath xmlns:m="http://schemas.openxmlformats.org/officeDocument/2006/math"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50" dirty="0"/>
                  <a:t> assignment. 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50" dirty="0"/>
                  <a:t>Score, top-</a:t>
                </a:r>
                <a14:m>
                  <m:oMath xmlns:m="http://schemas.openxmlformats.org/officeDocument/2006/math"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050" dirty="0"/>
                  <a:t>, bins are deterministic.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50" dirty="0"/>
                  <a:t>League:</a:t>
                </a:r>
                <a14:m>
                  <m:oMath xmlns:m="http://schemas.openxmlformats.org/officeDocument/2006/math"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=5600, </m:t>
                    </m:r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=560, </m:t>
                    </m:r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=10% </m:t>
                    </m:r>
                  </m:oMath>
                </a14:m>
                <a:r>
                  <a:rPr lang="en-US" sz="1050" dirty="0"/>
                  <a:t>(539 preset).</a:t>
                </a:r>
                <a:endParaRPr sz="1050" dirty="0"/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520" y="749808"/>
                <a:ext cx="5361127" cy="2267800"/>
              </a:xfrm>
              <a:prstGeom prst="rect">
                <a:avLst/>
              </a:prstGeom>
              <a:blipFill>
                <a:blip r:embed="rId3"/>
                <a:stretch>
                  <a:fillRect b="-11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6446520" y="3138121"/>
                <a:ext cx="5361127" cy="10363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defRPr b="1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5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5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05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050" dirty="0"/>
                  <a:t>Beta (2,2) on </a:t>
                </a:r>
                <a14:m>
                  <m:oMath xmlns:m="http://schemas.openxmlformats.org/officeDocument/2006/math"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[0,1] </m:t>
                    </m:r>
                  </m:oMath>
                </a14:m>
                <a:r>
                  <a:rPr lang="en-US" sz="1050" dirty="0"/>
                  <a:t>– SELECTION_539_ABILITY_DRAW</a:t>
                </a:r>
              </a:p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  <a:defRPr b="1"/>
                </a:pPr>
                <a14:m>
                  <m:oMath xmlns:m="http://schemas.openxmlformats.org/officeDocument/2006/math">
                    <m:r>
                      <a:rPr lang="el-GR" sz="105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l-GR" sz="1050" i="1" dirty="0" smtClean="0">
                        <a:latin typeface="Cambria Math" panose="02040503050406030204" pitchFamily="18" charset="0"/>
                      </a:rPr>
                      <m:t>=0.55 —</m:t>
                    </m:r>
                    <m:r>
                      <a:rPr lang="en-US" sz="1050" b="1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=0.72, </m:t>
                    </m:r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=10 </m:t>
                    </m:r>
                  </m:oMath>
                </a14:m>
                <a:endParaRPr lang="en-US" sz="1050" dirty="0"/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=8 </m:t>
                    </m:r>
                  </m:oMath>
                </a14:m>
                <a:r>
                  <a:rPr lang="en-US" sz="1050" dirty="0"/>
                  <a:t>— gallery fixed assign for </a:t>
                </a:r>
                <a14:m>
                  <m:oMath xmlns:m="http://schemas.openxmlformats.org/officeDocument/2006/math"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m:rPr>
                        <m:nor/>
                      </m:rPr>
                      <a:rPr lang="en-US" sz="1050" b="0" i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1050" dirty="0"/>
                  <a:t> slides (moderate-high mixing; not a 539 JSON field)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=10% </m:t>
                    </m:r>
                  </m:oMath>
                </a14:m>
                <a:r>
                  <a:rPr lang="en-US" sz="1050" dirty="0"/>
                  <a:t>— characterization default (MBB draft </a:t>
                </a:r>
                <a14:m>
                  <m:oMath xmlns:m="http://schemas.openxmlformats.org/officeDocument/2006/math"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1050" i="1" dirty="0">
                        <a:latin typeface="Cambria Math" panose="02040503050406030204" pitchFamily="18" charset="0"/>
                      </a:rPr>
                      <m:t>1% </m:t>
                    </m:r>
                  </m:oMath>
                </a14:m>
                <a:r>
                  <a:rPr lang="en-US" sz="1050" dirty="0"/>
                  <a:t>is a separate calibration point)</a:t>
                </a: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520" y="3138121"/>
                <a:ext cx="5361127" cy="1036374"/>
              </a:xfrm>
              <a:prstGeom prst="rect">
                <a:avLst/>
              </a:prstGeom>
              <a:blipFill>
                <a:blip r:embed="rId4"/>
                <a:stretch>
                  <a:fillRect b="-3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6446520" y="4779755"/>
            <a:ext cx="5433092" cy="11983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b="1"/>
            </a:pPr>
            <a:r>
              <a:rPr sz="1050" dirty="0"/>
              <a:t>Real hero: draft rate vs </a:t>
            </a:r>
            <a:r>
              <a:rPr sz="1050" dirty="0">
                <a:solidFill>
                  <a:srgbClr val="002060"/>
                </a:solidFill>
              </a:rPr>
              <a:t>poolq_loo</a:t>
            </a:r>
            <a:r>
              <a:rPr sz="1050" dirty="0"/>
              <a:t> (teammate quality, leave-one-out) — a </a:t>
            </a:r>
            <a:r>
              <a:rPr sz="1050" dirty="0">
                <a:solidFill>
                  <a:srgbClr val="002060"/>
                </a:solidFill>
              </a:rPr>
              <a:t>bend</a:t>
            </a:r>
            <a:r>
              <a:rPr sz="1050" dirty="0"/>
              <a:t> at the top bins.</a:t>
            </a:r>
          </a:p>
          <a:p>
            <a:pPr marL="171450" indent="-17145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050" dirty="0"/>
              <a:t>This deck: fraction selected vs </a:t>
            </a:r>
            <a:r>
              <a:rPr sz="1050" b="1" dirty="0"/>
              <a:t>pool mean</a:t>
            </a:r>
            <a:r>
              <a:rPr sz="1050" dirty="0"/>
              <a:t> in a fake league — same </a:t>
            </a:r>
            <a:r>
              <a:rPr sz="1050" i="1" dirty="0"/>
              <a:t>kind</a:t>
            </a:r>
            <a:r>
              <a:rPr sz="1050" dirty="0"/>
              <a:t> of question, different axis and league.</a:t>
            </a:r>
          </a:p>
          <a:p>
            <a:pPr marL="171450" indent="-17145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050" dirty="0"/>
              <a:t>Benchmarks anchor to the Alex 539 playground track so sim slides stay comparable</a:t>
            </a:r>
            <a:endParaRPr lang="en-US" sz="1050" dirty="0"/>
          </a:p>
          <a:p>
            <a:pPr marL="171450" indent="-17145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050" dirty="0"/>
              <a:t>W</a:t>
            </a:r>
            <a:r>
              <a:rPr sz="1050" dirty="0"/>
              <a:t>e have </a:t>
            </a:r>
            <a:r>
              <a:rPr sz="1050" b="1" dirty="0"/>
              <a:t>not</a:t>
            </a:r>
            <a:r>
              <a:rPr sz="1050" dirty="0"/>
              <a:t> re-fit those numbers to NCAA data in Phase B.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9" y="6126480"/>
            <a:ext cx="734916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/>
            </a:pPr>
            <a:r>
              <a:rPr sz="1100" dirty="0"/>
              <a:t>Claim: Phase B maps which generative knobs move</a:t>
            </a:r>
            <a:r>
              <a:rPr lang="en-US" sz="1100" dirty="0"/>
              <a:t> </a:t>
            </a:r>
            <a:r>
              <a:rPr sz="1100" i="1" dirty="0">
                <a:solidFill>
                  <a:srgbClr val="FF0000"/>
                </a:solidFill>
              </a:rPr>
              <a:t>who gets selected</a:t>
            </a:r>
            <a:r>
              <a:rPr sz="1100" dirty="0"/>
              <a:t> — prerequisite before Phase C calibration to the hero.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</TotalTime>
  <Words>429</Words>
  <Application>Microsoft Macintosh PowerPoint</Application>
  <PresentationFormat>Widescreen</PresentationFormat>
  <Paragraphs>50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Avenir Next</vt:lpstr>
      <vt:lpstr>Calibri</vt:lpstr>
      <vt:lpstr>Cambria Math</vt:lpstr>
      <vt:lpstr>Consolas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Levine, Charles R CTR</cp:lastModifiedBy>
  <cp:revision>7</cp:revision>
  <dcterms:created xsi:type="dcterms:W3CDTF">2013-01-27T09:14:16Z</dcterms:created>
  <dcterms:modified xsi:type="dcterms:W3CDTF">2026-08-04T18:30:06Z</dcterms:modified>
  <cp:category/>
</cp:coreProperties>
</file>