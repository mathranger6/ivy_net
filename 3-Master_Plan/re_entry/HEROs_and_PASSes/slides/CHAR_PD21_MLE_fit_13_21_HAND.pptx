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3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4"/>
    <p:restoredTop sz="94722"/>
  </p:normalViewPr>
  <p:slideViewPr>
    <p:cSldViewPr snapToGrid="0" snapToObjects="1">
      <p:cViewPr>
        <p:scale>
          <a:sx n="77" d="100"/>
          <a:sy n="77" d="100"/>
        </p:scale>
        <p:origin x="1256" y="9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9E7DCF-1A3D-1CEE-5EBF-9B07041D6A72}"/>
              </a:ext>
            </a:extLst>
          </p:cNvPr>
          <p:cNvSpPr txBox="1"/>
          <p:nvPr/>
        </p:nvSpPr>
        <p:spPr>
          <a:xfrm>
            <a:off x="169762" y="2967335"/>
            <a:ext cx="118524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i="1">
                <a:latin typeface="Futura Medium" panose="020B0602020204020303" pitchFamily="34" charset="-79"/>
                <a:cs typeface="Futura Medium" panose="020B0602020204020303" pitchFamily="34" charset="-79"/>
              </a:rPr>
              <a:t>MLE </a:t>
            </a:r>
            <a:r>
              <a:rPr lang="en-US" sz="54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fit HAND</a:t>
            </a:r>
          </a:p>
        </p:txBody>
      </p:sp>
    </p:spTree>
    <p:extLst>
      <p:ext uri="{BB962C8B-B14F-4D97-AF65-F5344CB8AC3E}">
        <p14:creationId xmlns:p14="http://schemas.microsoft.com/office/powerpoint/2010/main" val="3007039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5379550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Draft MLE —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on empirical NCAA outcomes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379550" cy="400110"/>
              </a:xfrm>
              <a:prstGeom prst="rect">
                <a:avLst/>
              </a:prstGeom>
              <a:blipFill>
                <a:blip r:embed="rId2"/>
                <a:stretch>
                  <a:fillRect l="-1179" t="-9375" r="-236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2013-2021 · Bernoulli softmax · Alex PD21 board factorization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84048" y="1033272"/>
                <a:ext cx="11423599" cy="4685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SELECT layer: fit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 i="0" baseline="0" dirty="0">
                    <a:latin typeface="Calibri"/>
                  </a:rPr>
                  <a:t> on real NCAA draft outcomes.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Board: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∝</m:t>
                    </m:r>
                    <m:func>
                      <m:func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 </m:t>
                    </m:r>
                    <m:func>
                      <m:func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sSubSup>
                              <m:sSubSupPr>
                                <m:ctrlP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r>
                  <a:rPr sz="2400" b="0" i="0" baseline="0" dirty="0">
                    <a:latin typeface="Calibri"/>
                  </a:rPr>
                  <a:t> — season-wise </a:t>
                </a:r>
                <a:r>
                  <a:rPr sz="2400" b="0" i="0" baseline="0" dirty="0" err="1">
                    <a:latin typeface="Calibri"/>
                  </a:rPr>
                  <a:t>softmax</a:t>
                </a:r>
                <a:r>
                  <a:rPr sz="24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Likelihood (Alex PD21): Bernoulli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pHide m:val="on"/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bSup>
                      </m:e>
                    </m:nary>
                    <m:sSup>
                      <m:sSup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b="0" i="0" baseline="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 i="0" baseline="0" dirty="0"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400" b="1" i="0" baseline="0" dirty="0" smtClean="0">
                        <a:latin typeface="Cambria Math" panose="02040503050406030204" pitchFamily="18" charset="0"/>
                      </a:rPr>
                      <m:t>𝐊</m:t>
                    </m:r>
                  </m:oMath>
                </a14:m>
                <a:r>
                  <a:rPr sz="2400" b="1" i="0" baseline="0" dirty="0">
                    <a:latin typeface="Calibri"/>
                  </a:rPr>
                  <a:t> not in formula</a:t>
                </a:r>
                <a:r>
                  <a:rPr sz="24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Method: coarse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 i="0" baseline="0" dirty="0">
                    <a:latin typeface="Calibri"/>
                  </a:rPr>
                  <a:t> grid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L-BFGS-B maximize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Panel: MBB 2013-2021 · 38,123 player-seasons · 882 drafted (POST-QC, min 20 min).</a:t>
                </a:r>
              </a:p>
              <a:p>
                <a:pPr>
                  <a:lnSpc>
                    <a:spcPct val="20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ASSIGN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is a separate calibration (not in this likelihood).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33272"/>
                <a:ext cx="11423599" cy="4685513"/>
              </a:xfrm>
              <a:prstGeom prst="rect">
                <a:avLst/>
              </a:prstGeom>
              <a:blipFill>
                <a:blip r:embed="rId3"/>
                <a:stretch>
                  <a:fillRect l="-889" b="-1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84048" y="6053328"/>
                <a:ext cx="5818388" cy="3385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600" b="1" i="0" baseline="0" dirty="0">
                    <a:latin typeface="Calibri"/>
                  </a:rPr>
                  <a:t>Score </a:t>
                </a:r>
                <a14:m>
                  <m:oMath xmlns:m="http://schemas.openxmlformats.org/officeDocument/2006/math">
                    <m:r>
                      <a:rPr lang="en-US" sz="1600" b="1" i="0" baseline="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1600" b="1" i="0" baseline="0" dirty="0">
                    <a:latin typeface="Calibri"/>
                  </a:rPr>
                  <a:t> select — we fit the </a:t>
                </a:r>
                <a:r>
                  <a:rPr sz="1600" b="1" i="1" baseline="0" dirty="0">
                    <a:latin typeface="Calibri"/>
                  </a:rPr>
                  <a:t>draft probability model</a:t>
                </a:r>
                <a:r>
                  <a:rPr sz="1600" b="1" i="0" baseline="0" dirty="0">
                    <a:latin typeface="Calibri"/>
                  </a:rPr>
                  <a:t>, not ASSIGN </a:t>
                </a:r>
                <a14:m>
                  <m:oMath xmlns:m="http://schemas.openxmlformats.org/officeDocument/2006/math">
                    <m:r>
                      <a:rPr lang="en-US" sz="16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600" b="1" i="0" baseline="0" dirty="0"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5818388" cy="338554"/>
              </a:xfrm>
              <a:prstGeom prst="rect">
                <a:avLst/>
              </a:prstGeom>
              <a:blipFill>
                <a:blip r:embed="rId4"/>
                <a:stretch>
                  <a:fillRect l="-654" t="-3571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PD20 gate — temperature sweep (generative diagnostic)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Gibbs SELECT survives inverted-U · MBB 2013–2021</a:t>
            </a:r>
          </a:p>
        </p:txBody>
      </p:sp>
      <p:pic>
        <p:nvPicPr>
          <p:cNvPr id="4" name="Picture 3" descr="GRANDCHILD_temperature_select_sweep_2013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683" y="960120"/>
            <a:ext cx="6613964" cy="541951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52694" y="1826156"/>
                <a:ext cx="5234554" cy="3613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PD20 </a:t>
                </a:r>
                <a:r>
                  <a:rPr sz="1400" b="1" i="0" baseline="0" dirty="0">
                    <a:latin typeface="Calibri"/>
                  </a:rPr>
                  <a:t>generative gate</a:t>
                </a:r>
                <a:r>
                  <a:rPr sz="1400" b="0" i="0" baseline="0" dirty="0">
                    <a:latin typeface="Calibri"/>
                  </a:rPr>
                  <a:t> (before MLE): </a:t>
                </a:r>
                <a:endParaRPr lang="en-US" sz="14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latin typeface="Calibri"/>
                  </a:rPr>
                  <a:t>      </a:t>
                </a:r>
                <a:r>
                  <a:rPr sz="1400" b="0" i="0" baseline="0" dirty="0">
                    <a:latin typeface="Calibri"/>
                  </a:rPr>
                  <a:t>Gibbs 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0" baseline="0" dirty="0">
                        <a:latin typeface="Cambria Math" panose="02040503050406030204" pitchFamily="18" charset="0"/>
                      </a:rPr>
                      <m:t>∝</m:t>
                    </m:r>
                    <m:func>
                      <m:funcPr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0" baseline="0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400" b="0" i="0" baseline="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sz="14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Sweep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sz="1400" b="0" i="0" baseline="0" dirty="0">
                    <a:latin typeface="Calibri"/>
                  </a:rPr>
                  <a:t> on sim bridge (rule D); fixed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1.5,2.0</m:t>
                        </m:r>
                      </m:e>
                    </m:d>
                  </m:oMath>
                </a14:m>
                <a:r>
                  <a:rPr sz="14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Question: </a:t>
                </a:r>
                <a:endParaRPr lang="en-US" sz="14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latin typeface="Calibri"/>
                  </a:rPr>
                  <a:t>      </a:t>
                </a:r>
                <a:r>
                  <a:rPr sz="1400" b="0" i="0" baseline="0" dirty="0">
                    <a:latin typeface="Calibri"/>
                  </a:rPr>
                  <a:t>does inverted-U in draft rate vs LOO </a:t>
                </a:r>
                <a:r>
                  <a:rPr lang="en-US" sz="1400" dirty="0">
                    <a:latin typeface="Calibri"/>
                  </a:rPr>
                  <a:t> </a:t>
                </a:r>
                <a:r>
                  <a:rPr sz="1400" b="1" i="0" baseline="0" dirty="0">
                    <a:latin typeface="Calibri"/>
                  </a:rPr>
                  <a:t>survive</a:t>
                </a:r>
                <a:r>
                  <a:rPr sz="1400" b="0" i="0" baseline="0" dirty="0">
                    <a:latin typeface="Calibri"/>
                  </a:rPr>
                  <a:t> soft SELECT?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Answer: </a:t>
                </a:r>
                <a:r>
                  <a:rPr sz="1400" b="1" i="0" baseline="0" dirty="0">
                    <a:latin typeface="Calibri"/>
                  </a:rPr>
                  <a:t>yes</a:t>
                </a:r>
                <a:r>
                  <a:rPr sz="1400" b="0" i="0" baseline="0" dirty="0">
                    <a:latin typeface="Calibri"/>
                  </a:rPr>
                  <a:t> — </a:t>
                </a:r>
                <a:endParaRPr lang="en-US" sz="14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latin typeface="Calibri"/>
                  </a:rPr>
                  <a:t>      </a:t>
                </a:r>
                <a:r>
                  <a:rPr sz="1400" b="0" i="0" baseline="0" dirty="0">
                    <a:latin typeface="Calibri"/>
                  </a:rPr>
                  <a:t>inverted-U-like curvature across most of the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grid.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This is a </a:t>
                </a:r>
                <a:r>
                  <a:rPr sz="1400" b="1" i="0" baseline="0" dirty="0">
                    <a:latin typeface="Calibri"/>
                  </a:rPr>
                  <a:t>diagnostic sweep</a:t>
                </a:r>
                <a:r>
                  <a:rPr sz="1400" b="0" i="0" baseline="0" dirty="0">
                    <a:latin typeface="Calibri"/>
                  </a:rPr>
                  <a:t>, not the MLE fit </a:t>
                </a:r>
                <a:endParaRPr lang="en-US" sz="14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latin typeface="Calibri"/>
                  </a:rPr>
                  <a:t>      </a:t>
                </a:r>
                <a:r>
                  <a:rPr sz="1400" b="0" i="0" baseline="0" dirty="0">
                    <a:latin typeface="Calibri"/>
                  </a:rPr>
                  <a:t>(MLE uses empirical</a:t>
                </a:r>
                <a:r>
                  <a:rPr lang="en-US" sz="14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draft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Empirical MLE on same window (2013–2021) </a:t>
                </a:r>
                <a:endParaRPr lang="en-US" sz="14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latin typeface="Calibri"/>
                  </a:rPr>
                  <a:t>      </a:t>
                </a:r>
                <a:r>
                  <a:rPr sz="1400" b="0" i="0" baseline="0" dirty="0">
                    <a:latin typeface="Calibri"/>
                  </a:rPr>
                  <a:t>gives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  <m:r>
                      <a:rPr lang="en-US" sz="1400" b="0" i="0" baseline="0" dirty="0">
                        <a:latin typeface="Cambria Math" panose="02040503050406030204" pitchFamily="18" charset="0"/>
                      </a:rPr>
                      <m:t>≈1.07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(next slides).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94" y="1826156"/>
                <a:ext cx="5234554" cy="3613746"/>
              </a:xfrm>
              <a:prstGeom prst="rect">
                <a:avLst/>
              </a:prstGeom>
              <a:blipFill>
                <a:blip r:embed="rId3"/>
                <a:stretch>
                  <a:fillRect l="-484"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4650184" cy="30777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400" b="1" i="0" baseline="0" dirty="0">
                    <a:latin typeface="Calibri"/>
                  </a:rPr>
                  <a:t>Soft SELECT cleared — MLE on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0" baseline="0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1" i="0" baseline="0" dirty="0">
                            <a:latin typeface="Cambria Math" panose="02040503050406030204" pitchFamily="18" charset="0"/>
                          </a:rPr>
                          <m:t>draft</m:t>
                        </m:r>
                      </m:sub>
                    </m:sSub>
                  </m:oMath>
                </a14:m>
                <a:r>
                  <a:rPr sz="1400" b="1" i="0" baseline="0" dirty="0">
                    <a:latin typeface="Calibri"/>
                  </a:rPr>
                  <a:t> is the fit step.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4650184" cy="307777"/>
              </a:xfrm>
              <a:prstGeom prst="rect">
                <a:avLst/>
              </a:prstGeom>
              <a:blipFill>
                <a:blip r:embed="rId4"/>
                <a:stretch>
                  <a:fillRect l="-545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5115183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Bernoulli MLE —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profile (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re-fit at each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)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115183" cy="400110"/>
              </a:xfrm>
              <a:prstGeom prst="rect">
                <a:avLst/>
              </a:prstGeom>
              <a:blipFill>
                <a:blip r:embed="rId2"/>
                <a:stretch>
                  <a:fillRect l="-1241" t="-9375" r="-248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2207143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Maximize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· panel 2013-2021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2207143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08409" y="1441025"/>
            <a:ext cx="7165691" cy="47897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0" y="2773037"/>
                <a:ext cx="5310489" cy="20489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Fix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; re-fit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1400" b="0" i="0" baseline="0" dirty="0">
                    <a:latin typeface="Calibri"/>
                  </a:rPr>
                  <a:t> by MLE at each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on the profile grid.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Log-likelihood is </a:t>
                </a:r>
                <a:r>
                  <a:rPr sz="1400" b="1" i="0" baseline="0" dirty="0">
                    <a:latin typeface="Calibri"/>
                  </a:rPr>
                  <a:t>flat</a:t>
                </a:r>
                <a:r>
                  <a:rPr sz="1400" b="0" i="0" baseline="0" dirty="0">
                    <a:latin typeface="Calibri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≈18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to 100 — not sharply identified.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Committed run: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(tier-1 sim default);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lang="en-US" sz="1400" b="0" i="0" baseline="0" dirty="0">
                        <a:latin typeface="Cambria Math" panose="02040503050406030204" pitchFamily="18" charset="0"/>
                      </a:rPr>
                      <m:t>=2.57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  <m:r>
                      <a:rPr lang="en-US" sz="1400" b="0" i="0" baseline="0" dirty="0">
                        <a:latin typeface="Cambria Math" panose="02040503050406030204" pitchFamily="18" charset="0"/>
                      </a:rPr>
                      <m:t>=1.07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lang="en-US" sz="1400" b="0" i="0" baseline="0" dirty="0">
                        <a:latin typeface="Cambria Math" panose="02040503050406030204" pitchFamily="18" charset="0"/>
                      </a:rPr>
                      <m:t>≈2.5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–3: congestion in score matters;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  <m:r>
                      <a:rPr lang="en-US" sz="1400" b="0" i="0" baseline="0" dirty="0">
                        <a:latin typeface="Cambria Math" panose="02040503050406030204" pitchFamily="18" charset="0"/>
                      </a:rPr>
                      <m:t>≈1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: moderate </a:t>
                </a:r>
                <a:r>
                  <a:rPr sz="1400" b="0" i="0" baseline="0" dirty="0" err="1">
                    <a:latin typeface="Calibri"/>
                  </a:rPr>
                  <a:t>softmax</a:t>
                </a:r>
                <a:r>
                  <a:rPr sz="14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Joint 3-parameter MLE supported in script; v1 reports fixed-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fit for stability.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73037"/>
                <a:ext cx="5310489" cy="2048959"/>
              </a:xfrm>
              <a:prstGeom prst="rect">
                <a:avLst/>
              </a:prstGeom>
              <a:blipFill>
                <a:blip r:embed="rId5"/>
                <a:stretch>
                  <a:fillRect l="-477"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3318024" cy="35804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/>
                <a:r>
                  <a:rPr sz="1600" b="1" i="0" baseline="0" dirty="0">
                    <a:latin typeface="Calibri"/>
                  </a:rPr>
                  <a:t>Committed: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1600" b="1" i="0" baseline="0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1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lang="en-US" sz="1600" b="1" i="0" baseline="0" dirty="0">
                        <a:latin typeface="Cambria Math" panose="02040503050406030204" pitchFamily="18" charset="0"/>
                      </a:rPr>
                      <m:t>≈2.6,</m:t>
                    </m:r>
                    <m:acc>
                      <m:accPr>
                        <m:chr m:val="ˆ"/>
                        <m:ctrlPr>
                          <a:rPr lang="en-US" sz="1600" b="1" i="0" baseline="0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1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  <m:r>
                      <a:rPr lang="en-US" sz="1600" b="1" i="0" baseline="0" dirty="0">
                        <a:latin typeface="Cambria Math" panose="02040503050406030204" pitchFamily="18" charset="0"/>
                      </a:rPr>
                      <m:t>≈1.1,</m:t>
                    </m:r>
                    <m:r>
                      <a:rPr lang="en-US" sz="1600" b="1" i="0" baseline="0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600" b="1" i="0" baseline="0" dirty="0"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r>
                  <a:rPr sz="1600" b="1" i="0" baseline="0" dirty="0"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3318024" cy="358047"/>
              </a:xfrm>
              <a:prstGeom prst="rect">
                <a:avLst/>
              </a:prstGeom>
              <a:blipFill>
                <a:blip r:embed="rId6"/>
                <a:stretch>
                  <a:fillRect l="-1145" t="-3448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56600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 dirty="0">
                <a:latin typeface="Calibri"/>
              </a:rPr>
              <a:t>Fit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Empirical MLE on real draft labels · 2013-2021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84048" y="1033272"/>
                <a:ext cx="11423599" cy="4509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Bernoulli MLE (empirical draft):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=2.572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  <m:r>
                      <a:rPr lang="en-US" sz="2400" b="0" i="0" baseline="0" dirty="0">
                        <a:latin typeface="Cambria Math" panose="02040503050406030204" pitchFamily="18" charset="0"/>
                      </a:rPr>
                      <m:t>=1.066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fixed.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Max log-likelihood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ℓ</m:t>
                    </m:r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=−6919.11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· L-BFGS-B converged in 11 iterations.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Interpretation: draft odds rise with ability (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) and fall with LOO congestion (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Sanity: mean top-$K$ recall on drafted players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≈0.12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(soft ranking check).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Mean overlap with empirical top-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per se</a:t>
                </a:r>
                <a:r>
                  <a:rPr lang="en-US" sz="2400" dirty="0">
                    <a:latin typeface="Calibri"/>
                  </a:rPr>
                  <a:t>a</a:t>
                </a:r>
                <a:r>
                  <a:rPr sz="2400" b="0" i="0" baseline="0" dirty="0">
                    <a:latin typeface="Calibri"/>
                  </a:rPr>
                  <a:t>son </a:t>
                </a:r>
                <a14:m>
                  <m:oMath xmlns:m="http://schemas.openxmlformats.org/officeDocument/2006/math">
                    <m:r>
                      <a:rPr lang="en-US" sz="2400" b="0" i="0" baseline="0" dirty="0" smtClean="0">
                        <a:latin typeface="Cambria Math" panose="02040503050406030204" pitchFamily="18" charset="0"/>
                      </a:rPr>
                      <m:t>≈12.0</m:t>
                    </m:r>
                  </m:oMath>
                </a14:m>
                <a:r>
                  <a:rPr sz="2400" b="0" i="0" baseline="0" dirty="0">
                    <a:latin typeface="Calibri"/>
                  </a:rPr>
                  <a:t> picks.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Not in this deck: empirical hero ventile shape (Layer A) — separate QC thread; generative Pass B/C unchanged.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2400" b="0" i="0" baseline="0" dirty="0">
                    <a:latin typeface="Calibri"/>
                  </a:rPr>
                  <a:t>  Next: joint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 i="0" baseline="0" dirty="0">
                    <a:latin typeface="Calibri"/>
                  </a:rPr>
                  <a:t> MLE or PD14 predictive gain on same panel.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33272"/>
                <a:ext cx="11423599" cy="4509889"/>
              </a:xfrm>
              <a:prstGeom prst="rect">
                <a:avLst/>
              </a:prstGeom>
              <a:blipFill>
                <a:blip r:embed="rId2"/>
                <a:stretch>
                  <a:fillRect l="-889" b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84048" y="6053328"/>
                <a:ext cx="7828938" cy="3385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600" b="1" i="0" baseline="0" dirty="0">
                    <a:latin typeface="Calibri"/>
                  </a:rPr>
                  <a:t>Yes: MLE on empirical data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1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0" baseline="0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600" b="1" i="0" baseline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1" i="0" baseline="0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1600" b="1" i="0" baseline="0" dirty="0">
                    <a:latin typeface="Calibri"/>
                  </a:rPr>
                  <a:t>; hero ventile read is a separate (parked) Layer A item.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7828938" cy="338554"/>
              </a:xfrm>
              <a:prstGeom prst="rect">
                <a:avLst/>
              </a:prstGeom>
              <a:blipFill>
                <a:blip r:embed="rId3"/>
                <a:stretch>
                  <a:fillRect l="-486" t="-3571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527</Words>
  <Application>Microsoft Macintosh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 Math</vt:lpstr>
      <vt:lpstr>Futura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7</cp:revision>
  <cp:lastPrinted>2026-08-20T16:40:16Z</cp:lastPrinted>
  <dcterms:created xsi:type="dcterms:W3CDTF">2013-01-27T09:14:16Z</dcterms:created>
  <dcterms:modified xsi:type="dcterms:W3CDTF">2026-08-20T16:54:21Z</dcterms:modified>
  <cp:category/>
</cp:coreProperties>
</file>