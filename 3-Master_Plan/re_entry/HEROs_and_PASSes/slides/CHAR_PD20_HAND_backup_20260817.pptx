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6"/>
    <p:sldId id="273" r:id="rId7"/>
    <p:sldId id="262" r:id="rId8"/>
    <p:sldId id="263" r:id="rId9"/>
    <p:sldId id="264" r:id="rId10"/>
    <p:sldId id="265" r:id="rId11"/>
    <p:sldId id="268" r:id="rId12"/>
    <p:sldId id="266" r:id="rId13"/>
    <p:sldId id="270" r:id="rId14"/>
    <p:sldId id="269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578"/>
    <p:restoredTop sz="94663"/>
  </p:normalViewPr>
  <p:slideViewPr>
    <p:cSldViewPr snapToGrid="0">
      <p:cViewPr>
        <p:scale>
          <a:sx n="259" d="100"/>
          <a:sy n="259" d="100"/>
        </p:scale>
        <p:origin x="13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2FB63-FA95-0AA3-D62C-6F29B7670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053F0D-809F-8702-773C-5BDC653A74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4D5BC-0E21-5CE6-DF65-E53D4E934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8C31-378A-4545-9975-0DBAE21975E6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D71A1-D2B0-B44F-D001-0941F94DB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C46AA-DDA7-7E5A-302D-B79BEBE51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E860-6426-DE4E-B167-04E64FF7E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920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2D2F5-555C-06A2-CFF5-78652B1BB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B7D34-B426-59BA-6C8C-60D615D53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DD315-EEF0-AA7A-B41B-95132900E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8C31-378A-4545-9975-0DBAE21975E6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90ABA-CFA0-16D2-1A7A-FC78AEC90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FCC55-D195-56F1-A456-877C2D5E7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E860-6426-DE4E-B167-04E64FF7E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064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7A815-B30D-E74F-DB36-F49294741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66365-9A1D-8B0A-51F0-3019CAB4C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3F257-F143-6439-E8C7-F8787F39F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8C31-378A-4545-9975-0DBAE21975E6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9B102-E18D-5BE3-2CB2-77FD23A3A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4AF0F-95D8-8138-F1BB-BED807530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E860-6426-DE4E-B167-04E64FF7E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143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C7932-1415-5AC7-FF1C-E750D1C3B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B0D7F-4815-F245-3568-AE25B6C0DA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9851CE-9BFB-C723-FCBB-53A9D0F795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622A4-0E4A-288D-A779-29BC958A7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8C31-378A-4545-9975-0DBAE21975E6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B738D-AB70-6C1E-EC99-78BFF7223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CB6E88-79F5-C995-DC48-4FF8D68EA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E860-6426-DE4E-B167-04E64FF7E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977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06CF7-C2A8-69F3-EA9C-32250E3D2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B31B2-C4CB-F60F-AF23-39FED2F7E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48DDD-DF3E-8E32-B7CE-7857B53B9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DB7A1A-02BC-4CA2-C38C-A7548884A8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96289-849F-C834-EB35-FB7148B60F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0E4307-9281-BDA2-5B04-D309C9FD4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8C31-378A-4545-9975-0DBAE21975E6}" type="datetimeFigureOut">
              <a:rPr lang="en-US" smtClean="0"/>
              <a:t>8/17/26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BFA752-C6CA-0DF6-076E-4EAEDCE9A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2755B5-A93E-90E6-5E8C-2BDDD9760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E860-6426-DE4E-B167-04E64FF7E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035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68E99-D394-C583-074F-23A8988D0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D388A5-62F9-30E9-16C4-D22B2E584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8C31-378A-4545-9975-0DBAE21975E6}" type="datetimeFigureOut">
              <a:rPr lang="en-US" smtClean="0"/>
              <a:t>8/17/26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EC14AE-EE1A-364B-F517-472BCB37B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826D3-BE6E-5140-1AE0-515BD797E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E860-6426-DE4E-B167-04E64FF7E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48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A42C5B-0255-2F98-39EC-C83FA57FD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8C31-378A-4545-9975-0DBAE21975E6}" type="datetimeFigureOut">
              <a:rPr lang="en-US" smtClean="0"/>
              <a:t>8/17/26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D115C2-2404-663C-19F5-FD6CC87D7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34AE7-FF3E-E11A-64EC-CAE9A14D7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E860-6426-DE4E-B167-04E64FF7E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491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7AB20-35C8-9B37-C952-A0B9F226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8D33F-FF4B-86D4-5780-69EBD2884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4A1B5-72D3-B73E-2286-60D557A1D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37930D-D6E5-3D1C-3964-0F1E9BDCE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8C31-378A-4545-9975-0DBAE21975E6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943E8-F3EA-53A9-9A50-1B7383A20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0AB01-E901-43F6-A6AD-3677D91FF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E860-6426-DE4E-B167-04E64FF7E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257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9272A-BD04-A5E8-A477-45894FCB0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F9077C-8D32-C850-C161-5F2EEBD9EA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72630-9368-77B7-1094-E49415039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D4D506-AE95-2CE4-781F-1E6F3253D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8C31-378A-4545-9975-0DBAE21975E6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3C14D-F4BA-7A7C-BD10-ACCC0A935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69231-4450-7885-3F83-131EDD610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E860-6426-DE4E-B167-04E64FF7E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484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7D68F-70DC-E59B-9813-96CC695AA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C4C757-3F4C-47BB-E2D0-7C02524FA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111D3-4E98-2314-CBFA-89C7A58BF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8C31-378A-4545-9975-0DBAE21975E6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F54F2-D597-5681-1000-C046F3B3D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F8381-1998-E778-856D-2E73C3D1B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E860-6426-DE4E-B167-04E64FF7E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038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138E0C-3CFD-45DD-843B-0174B4F6C8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E86445-191F-BC1A-2ABA-FDD6631B0C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F54B3-2D76-60ED-7D26-E8FA24B17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8C31-378A-4545-9975-0DBAE21975E6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0D675-DA66-F59C-6284-EBB952357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CF5D4-9C6D-2C81-BF93-E0A5E4441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E860-6426-DE4E-B167-04E64FF7E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17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F2B5C4-D50D-ECDF-CA3C-C8A6FEAAE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DA038-595B-BA03-FC41-ED7ED8F1F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D72FC-D04B-3F43-6749-5A9B73A841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D28C31-378A-4545-9975-0DBAE21975E6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99DD-932D-D032-4A88-147C4582B7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F3133-DAC6-CAEE-FB13-4B3BADB4B2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CE860-6426-DE4E-B167-04E64FF7E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5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4220707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PD20 — Gibbs SELECT (temperature 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000" b="1" i="0" baseline="0" dirty="0">
                    <a:latin typeface="Calibri"/>
                  </a:rPr>
                  <a:t>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4220707" cy="400110"/>
              </a:xfrm>
              <a:prstGeom prst="rect">
                <a:avLst/>
              </a:prstGeom>
              <a:blipFill>
                <a:blip r:embed="rId2"/>
                <a:stretch>
                  <a:fillRect l="-1502" t="-9375" r="-601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2981009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empirical caps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inverted-U before MLE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2981009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4048" y="1033272"/>
                <a:ext cx="11423599" cy="45404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PD20: replace deterministic top-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SELECT with Gibbs rule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Lock: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0" baseline="0" dirty="0">
                        <a:latin typeface="Cambria Math" panose="02040503050406030204" pitchFamily="18" charset="0"/>
                      </a:rPr>
                      <m:t>∝</m:t>
                    </m:r>
                    <m:func>
                      <m:func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sz="2400" b="0" i="1" baseline="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0" baseline="0" dirty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400" b="0" i="0" baseline="0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r>
                  <a:rPr sz="2400" b="0" i="0" baseline="0" dirty="0">
                    <a:latin typeface="Calibri"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in the denominator (stat-</a:t>
                </a:r>
                <a:r>
                  <a:rPr sz="2400" b="0" i="0" baseline="0" dirty="0" err="1">
                    <a:latin typeface="Calibri"/>
                  </a:rPr>
                  <a:t>phys</a:t>
                </a:r>
                <a:r>
                  <a:rPr sz="24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Sim bridge: rule D = Gibbs weights +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draws without replacement.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SCORE unchanged: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0" baseline="0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0" baseline="0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0" baseline="0" dirty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</m:oMath>
                </a14:m>
                <a:r>
                  <a:rPr sz="2400" b="0" i="0" baseline="0" dirty="0"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still in ASSIGN only.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Priority: sweep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</m:oMath>
                </a14:m>
                <a:r>
                  <a:rPr sz="2400" b="0" i="0" baseline="0" dirty="0">
                    <a:latin typeface="Calibri"/>
                  </a:rPr>
                  <a:t> — prove inverted-U survives </a:t>
                </a:r>
                <a:r>
                  <a:rPr sz="2400" b="1" i="0" baseline="0" dirty="0">
                    <a:latin typeface="Calibri"/>
                  </a:rPr>
                  <a:t>before</a:t>
                </a:r>
                <a:r>
                  <a:rPr sz="2400" b="0" i="0" baseline="0" dirty="0">
                    <a:latin typeface="Calibri"/>
                  </a:rPr>
                  <a:t> MLE.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ASSIGN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SCORE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SELECT — score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select (binding).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033272"/>
                <a:ext cx="11423599" cy="4540474"/>
              </a:xfrm>
              <a:prstGeom prst="rect">
                <a:avLst/>
              </a:prstGeom>
              <a:blipFill>
                <a:blip r:embed="rId4"/>
                <a:stretch>
                  <a:fillRect l="-889" b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Goal: soft SELECT must not erase the phenomenological inverted-U on LOO pool quality.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5233484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Temperature sweep — rule D (Gibbs + 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000" b="1" i="0" baseline="0" dirty="0">
                    <a:latin typeface="Calibri"/>
                  </a:rPr>
                  <a:t> draws)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5233484" cy="400110"/>
              </a:xfrm>
              <a:prstGeom prst="rect">
                <a:avLst/>
              </a:prstGeom>
              <a:blipFill>
                <a:blip r:embed="rId2"/>
                <a:stretch>
                  <a:fillRect l="-1211" t="-9375" r="-242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3633239" cy="307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400" b="0" i="0" baseline="0" dirty="0">
                    <a:latin typeface="Calibri"/>
                  </a:rPr>
                  <a:t>MBB 2011-2021 · </a:t>
                </a:r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4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1.5,2</m:t>
                        </m:r>
                      </m:e>
                    </m:d>
                  </m:oMath>
                </a14:m>
                <a:r>
                  <a:rPr sz="14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b="0" i="1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  <m:r>
                      <a:rPr lang="en-US" sz="1400" b="0" i="0" baseline="0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4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−3,3</m:t>
                        </m:r>
                      </m:e>
                    </m:d>
                  </m:oMath>
                </a14:m>
                <a:endParaRPr sz="1400" b="0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3633239" cy="307777"/>
              </a:xfrm>
              <a:prstGeom prst="rect">
                <a:avLst/>
              </a:prstGeom>
              <a:blipFill>
                <a:blip r:embed="rId3"/>
                <a:stretch>
                  <a:fillRect l="-697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57930" y="540541"/>
            <a:ext cx="6671446" cy="54762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4048" y="1639824"/>
                <a:ext cx="3794760" cy="16843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SELECT: draft rate vs LOO (left) and pool mean (right) — Hero axes.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MBB 2011-2021 · empirical caps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rule D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panels 1.5, 2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Empirical LOO: inverted u like.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inverted-U-like on LOO for 9/13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arms.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inverted-U-like on LOO for 10/13 $t$ arms.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Cold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near hard cut; hot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flattens toward uniform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-draws.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Pool mean often stays monotone — same PD17 readout limitation.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639824"/>
                <a:ext cx="3794760" cy="1684307"/>
              </a:xfrm>
              <a:prstGeom prst="rect">
                <a:avLst/>
              </a:prstGeom>
              <a:blipFill>
                <a:blip r:embed="rId5"/>
                <a:stretch>
                  <a:fillRect b="-1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6127640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Talking point: check LOO panels at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–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— does a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window preserve inverted-U vs empirical?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6127640" cy="261610"/>
              </a:xfrm>
              <a:prstGeom prst="rect">
                <a:avLst/>
              </a:prstGeom>
              <a:blipFill>
                <a:blip r:embed="rId6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Cold limit — rule C vs rule 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2453107" cy="307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=0.001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 · same seeds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2453107" cy="307777"/>
              </a:xfrm>
              <a:prstGeom prst="rect">
                <a:avLst/>
              </a:prstGeom>
              <a:blipFill>
                <a:blip r:embed="rId2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17482" y="993753"/>
            <a:ext cx="9157036" cy="38741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44699" y="5160305"/>
                <a:ext cx="11663172" cy="802901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Same ASSIGN seeds; only SELECT rule differs (C = top-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D = cold Gibbs).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Fixed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=0.001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=−3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Max bin gap C vs D: LOO = 0.00e+00, pool mean = 0.00e+00.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LOO curvature: C = inverted u like; D = inverted u like.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Expect overlay coincidence at cold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(Gibbs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hard ranking).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Numerical match flag: True (gap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−9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 on binned curves).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699" y="5160305"/>
                <a:ext cx="11663172" cy="8029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6199389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Talking point: rule D at cold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reproduces rule C bin-for-bin — Gibbs SELECT nests the old top-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limit.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6199389" cy="2616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PD20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308866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 baseline="0" dirty="0">
                <a:latin typeface="Calibri"/>
              </a:rPr>
              <a:t>MBB 2011-2021 · empirical caps · rule 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4048" y="1033272"/>
                <a:ext cx="11423599" cy="44199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PD20 gate (LOO): inverted-U survives Gibbs SELECT at breakpoint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Full panel: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→ 9/13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arms U-like;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→ 10/13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arms U-like.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Cold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≈ top-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(slide 3); mid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still shows hump on LOO.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Hot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→ uniform-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limit (flattening) — different failure mode.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Open for Alex: K-draw vs literal </a:t>
                </a:r>
                <a:r>
                  <a:rPr sz="2400" b="0" i="0" baseline="0" dirty="0" err="1">
                    <a:latin typeface="Calibri"/>
                  </a:rPr>
                  <a:t>softmax</a:t>
                </a:r>
                <a:r>
                  <a:rPr sz="2400" b="0" i="0" baseline="0" dirty="0">
                    <a:latin typeface="Calibri"/>
                  </a:rPr>
                  <a:t> Bernoulli for MLE.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Next: MLE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0" baseline="0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2400" b="0" i="0" baseline="0" dirty="0">
                    <a:latin typeface="Calibri"/>
                  </a:rPr>
                  <a:t> (and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);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2400" b="0" i="0" baseline="0" dirty="0">
                    <a:latin typeface="Calibri"/>
                  </a:rPr>
                  <a:t> via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2400" b="0" i="0" baseline="0" dirty="0">
                    <a:latin typeface="Calibri"/>
                  </a:rPr>
                  <a:t> separately.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033272"/>
                <a:ext cx="11423599" cy="4419928"/>
              </a:xfrm>
              <a:prstGeom prst="rect">
                <a:avLst/>
              </a:prstGeom>
              <a:blipFill>
                <a:blip r:embed="rId2"/>
                <a:stretch>
                  <a:fillRect l="-889" b="-20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PD20 step 4 cleared on LOO: proceed to MLE design once K-draw semantics are confirmed with Alex.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10413492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PD21 — Calibrate homophily 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2000" b="1" i="0" baseline="0" dirty="0">
                    <a:latin typeface="Calibri"/>
                  </a:rPr>
                  <a:t> to empirical sorting index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(hero panel — locked calibration)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10413492" cy="400110"/>
              </a:xfrm>
              <a:prstGeom prst="rect">
                <a:avLst/>
              </a:prstGeom>
              <a:blipFill>
                <a:blip r:embed="rId2"/>
                <a:stretch>
                  <a:fillRect l="-609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5721118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PD21 · LG ASSIGN calibration · 2011-2021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seeds · bracket </a:t>
                </a:r>
                <a:r>
                  <a:rPr sz="1000" b="0" i="0" baseline="0" dirty="0" err="1">
                    <a:latin typeface="Calibri"/>
                  </a:rPr>
                  <a:t>tol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=0.001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longitudinal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hero panel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5721118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PD21_rho_hsort_calibrate_2011_2021_bra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976" y="1160349"/>
            <a:ext cx="7653840" cy="49825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83932" y="1199867"/>
                <a:ext cx="4147904" cy="44812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PD21 locked calibration (Aug 2026): bracket search on hero panel for Alex ASSIGN $\rho$.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Alex (Aug 2026): calibrate ASSIGN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so LG simulated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matches empirical NCAA; formal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MLE parked.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Panel: 2011–2021 MBB · min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min player-season drop · box QC at panel build · empirical roster caps · PPM z-scored within season.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Search: bracket + bisect (</a:t>
                </a:r>
                <a:r>
                  <a:rPr sz="1000" b="0" i="0" baseline="0" dirty="0" err="1">
                    <a:latin typeface="Calibri"/>
                  </a:rPr>
                  <a:t>tol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=0.001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),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seeds/arm;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sim</m:t>
                        </m:r>
                      </m:sup>
                    </m:sSubSup>
                  </m:oMath>
                </a14:m>
                <a:r>
                  <a:rPr sz="1000" b="0" i="0" baseline="0" dirty="0">
                    <a:latin typeface="Calibri"/>
                  </a:rPr>
                  <a:t> monotone in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=1−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/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sz="1000" b="0" i="0" baseline="0" dirty="0">
                    <a:latin typeface="Calibri"/>
                  </a:rPr>
                  <a:t> — realized sorting on a fixed partition.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Longitudinal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mean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sim</m:t>
                        </m:r>
                      </m:sup>
                    </m:sSubSup>
                  </m:oMath>
                </a14:m>
                <a:r>
                  <a:rPr sz="1000" b="0" i="0" baseline="0" dirty="0">
                    <a:latin typeface="Calibri"/>
                  </a:rPr>
                  <a:t>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=0.082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mean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emp</m:t>
                        </m:r>
                      </m:sup>
                    </m:sSubSup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=0.064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Per-season: 11/11 seasons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all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Legacy reference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mean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𝑒𝑟𝑟𝑜𝑟</m:t>
                        </m:r>
                      </m:e>
                    </m:d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≈0.112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vs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≈0.018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Figure bottom-right inset: per-season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 — flat at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all seasons on hero panel.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— what we DO say: on the locked hero panel, the LG ASSIGN homophily knob calibrates to zero (11/11 seasons);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≈0.064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≈0.0642059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 scale); sim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 slightly high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≈0.0821529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); turning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up overshoots (see legacy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bullet).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— what we DO NOT say: NCAA has no team formation; Duke and a weak D-I school draw from the same talent pool; real-world assortativity is absent; Hero inverted-U /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/ SELECT story is dead.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realized sorting on a fixed roster partition (VECTOR lock) — not the generative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knob. Box QC lowered measured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vs pre-QC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∼0.10→∼0.06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); modest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zero. Contrast: slide</a:t>
                </a:r>
                <a:r>
                  <a:rPr lang="en-US" sz="1000" b="0" i="0" baseline="0" dirty="0">
                    <a:latin typeface="Calibri"/>
                  </a:rPr>
                  <a:t> 6 </a:t>
                </a:r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𝑝𝑝𝑚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𝑙𝑡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panel.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VECTOR lock: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realized sorting — not the generative homophily knob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Figure: small multiples — blue sim curve, red empirical line, green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000" b="0" i="0" baseline="0" dirty="0">
                    <a:latin typeface="Calibri"/>
                  </a:rPr>
                  <a:t> (x-axis zoomed to evaluated bracket).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932" y="1199867"/>
                <a:ext cx="4147904" cy="4481291"/>
              </a:xfrm>
              <a:prstGeom prst="rect">
                <a:avLst/>
              </a:prstGeom>
              <a:blipFill>
                <a:blip r:embed="rId5"/>
                <a:stretch>
                  <a:fillRect t="-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84048" y="6166786"/>
                <a:ext cx="11423599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(Alex): Hero panel — LG ASSIGN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100" b="1" i="0" baseline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matches modest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  <m:r>
                      <a:rPr lang="en-US" sz="1100" b="1" i="0" baseline="0" dirty="0">
                        <a:latin typeface="Cambria Math" panose="02040503050406030204" pitchFamily="18" charset="0"/>
                      </a:rPr>
                      <m:t>≈0.064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; legacy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overshoots (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0.11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mean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𝑒𝑟𝑟𝑜𝑟</m:t>
                        </m:r>
                      </m:e>
                    </m:d>
                  </m:oMath>
                </a14:m>
                <a:r>
                  <a:rPr sz="1100" b="1" i="0" baseline="0" dirty="0">
                    <a:latin typeface="Calibri"/>
                  </a:rPr>
                  <a:t>). Model–measurement fit on this panel — not a claim that NCAA rosters are random.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166786"/>
                <a:ext cx="11423599" cy="430887"/>
              </a:xfrm>
              <a:prstGeom prst="rect">
                <a:avLst/>
              </a:prstGeom>
              <a:blipFill>
                <a:blip r:embed="rId6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53A7B-5CEF-8C7D-478B-773E9B38A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7A04B81-646E-D343-4FBB-A6016C810F10}"/>
                  </a:ext>
                </a:extLst>
              </p:cNvPr>
              <p:cNvSpPr txBox="1"/>
              <p:nvPr/>
            </p:nvSpPr>
            <p:spPr>
              <a:xfrm>
                <a:off x="384048" y="219456"/>
                <a:ext cx="11324447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2000" b="1" dirty="0">
                    <a:latin typeface="Calibri"/>
                  </a:rPr>
                  <a:t>PD21 — Calibrate homophily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2000" b="1" dirty="0">
                    <a:latin typeface="Calibri"/>
                  </a:rPr>
                  <a:t> to empirical sorting index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1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lang="en-US" sz="2000" b="1" dirty="0">
                    <a:latin typeface="Calibri"/>
                  </a:rPr>
                  <a:t> (contrast: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𝑝𝑝𝑚</m:t>
                    </m:r>
                    <m:r>
                      <a:rPr lang="en-US" sz="2000" b="1" i="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𝑙𝑡</m:t>
                    </m:r>
                    <m:r>
                      <a:rPr lang="en-US" sz="2000" b="1" i="0" dirty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2000" b="1" dirty="0">
                    <a:latin typeface="Calibri"/>
                  </a:rPr>
                  <a:t> — not for calibration)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7A04B81-646E-D343-4FBB-A6016C810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11324447" cy="400110"/>
              </a:xfrm>
              <a:prstGeom prst="rect">
                <a:avLst/>
              </a:prstGeom>
              <a:blipFill>
                <a:blip r:embed="rId2"/>
                <a:stretch>
                  <a:fillRect l="-560" t="-9375" r="-224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63BA28-9729-D981-C68F-89411D02D584}"/>
                  </a:ext>
                </a:extLst>
              </p:cNvPr>
              <p:cNvSpPr txBox="1"/>
              <p:nvPr/>
            </p:nvSpPr>
            <p:spPr>
              <a:xfrm>
                <a:off x="384048" y="713232"/>
                <a:ext cx="6341480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1000" dirty="0">
                    <a:latin typeface="Calibri"/>
                  </a:rPr>
                  <a:t>PD21 · LG ASSIGN calibration · 2011-2021 ·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1000" dirty="0">
                    <a:latin typeface="Calibri"/>
                  </a:rPr>
                  <a:t> seeds · bracket </a:t>
                </a:r>
                <a:r>
                  <a:rPr lang="en-US" sz="1000" dirty="0" err="1">
                    <a:latin typeface="Calibri"/>
                  </a:rPr>
                  <a:t>tol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0.001</m:t>
                    </m:r>
                  </m:oMath>
                </a14:m>
                <a:r>
                  <a:rPr lang="en-US" sz="1000" dirty="0">
                    <a:latin typeface="Calibri"/>
                  </a:rPr>
                  <a:t> · longitudinal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i="0" dirty="0">
                        <a:latin typeface="Cambria Math" panose="02040503050406030204" pitchFamily="18" charset="0"/>
                      </a:rPr>
                      <m:t>≈0.57</m:t>
                    </m:r>
                  </m:oMath>
                </a14:m>
                <a:r>
                  <a:rPr lang="en-US" sz="1000" dirty="0">
                    <a:latin typeface="Calibri"/>
                  </a:rPr>
                  <a:t> · contrast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𝑝𝑝𝑚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𝑙𝑡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lang="en-US" sz="1000" dirty="0">
                  <a:latin typeface="Calibri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63BA28-9729-D981-C68F-89411D02D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6341480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1A2C5D9-4665-1CCD-DFAB-99BDDD694E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82923" y="1160349"/>
            <a:ext cx="7647946" cy="49825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FC5FF9-D481-36F9-4F81-B02AE7EBCB6E}"/>
                  </a:ext>
                </a:extLst>
              </p:cNvPr>
              <p:cNvSpPr txBox="1"/>
              <p:nvPr/>
            </p:nvSpPr>
            <p:spPr>
              <a:xfrm>
                <a:off x="283932" y="1199867"/>
                <a:ext cx="4147904" cy="44812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PD21 contrast (Aug 2026):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𝑝𝑝𝑚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𝑙𝑡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000" dirty="0">
                    <a:latin typeface="Calibri"/>
                  </a:rPr>
                  <a:t> panel — illustrative only; do not use for locked longitudinal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00" dirty="0">
                    <a:latin typeface="Calibri"/>
                  </a:rPr>
                  <a:t> calibration.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Alex (Aug 2026): calibrate ASSIGN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00" dirty="0">
                    <a:latin typeface="Calibri"/>
                  </a:rPr>
                  <a:t> so LG simulated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lang="en-US" sz="1000" dirty="0">
                    <a:latin typeface="Calibri"/>
                  </a:rPr>
                  <a:t> matches empirical NCAA; formal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00" dirty="0">
                    <a:latin typeface="Calibri"/>
                  </a:rPr>
                  <a:t> MLE parked.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Panel: 2011–2021 MBB · all roster rows kept · raw PPM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000" dirty="0">
                    <a:latin typeface="Calibri"/>
                  </a:rPr>
                  <a:t> if minutes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000" dirty="0">
                    <a:latin typeface="Calibri"/>
                  </a:rPr>
                  <a:t> · no roster caps — contrast / legacy estimand only.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Search: bracket + bisect (</a:t>
                </a:r>
                <a:r>
                  <a:rPr lang="en-US" sz="1000" dirty="0" err="1">
                    <a:latin typeface="Calibri"/>
                  </a:rPr>
                  <a:t>tol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0.001</m:t>
                    </m:r>
                  </m:oMath>
                </a14:m>
                <a:r>
                  <a:rPr lang="en-US" sz="1000" dirty="0">
                    <a:latin typeface="Calibri"/>
                  </a:rPr>
                  <a:t>),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1000" dirty="0">
                    <a:latin typeface="Calibri"/>
                  </a:rPr>
                  <a:t> seeds/arm;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sim</m:t>
                        </m:r>
                      </m:sup>
                    </m:sSubSup>
                  </m:oMath>
                </a14:m>
                <a:r>
                  <a:rPr lang="en-US" sz="1000" dirty="0">
                    <a:latin typeface="Calibri"/>
                  </a:rPr>
                  <a:t> monotone in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0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i="0" dirty="0">
                        <a:latin typeface="Cambria Math" panose="02040503050406030204" pitchFamily="18" charset="0"/>
                      </a:rPr>
                      <m:t>=1−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i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0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1000" i="0" dirty="0">
                        <a:latin typeface="Cambria Math" panose="02040503050406030204" pitchFamily="18" charset="0"/>
                      </a:rPr>
                      <m:t>/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i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10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1000" dirty="0">
                    <a:latin typeface="Calibri"/>
                  </a:rPr>
                  <a:t> — realized sorting on a fixed partition.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Longitudinal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i="0" dirty="0">
                        <a:latin typeface="Cambria Math" panose="02040503050406030204" pitchFamily="18" charset="0"/>
                      </a:rPr>
                      <m:t>≈0.5695</m:t>
                    </m:r>
                  </m:oMath>
                </a14:m>
                <a:r>
                  <a:rPr lang="en-US" sz="1000" dirty="0">
                    <a:latin typeface="Calibri"/>
                  </a:rPr>
                  <a:t>; mean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sim</m:t>
                        </m:r>
                      </m:sup>
                    </m:sSubSup>
                  </m:oMath>
                </a14:m>
                <a:r>
                  <a:rPr lang="en-US" sz="1000" dirty="0">
                    <a:latin typeface="Calibri"/>
                  </a:rPr>
                  <a:t>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0.169</m:t>
                    </m:r>
                  </m:oMath>
                </a14:m>
                <a:r>
                  <a:rPr lang="en-US" sz="1000" dirty="0">
                    <a:latin typeface="Calibri"/>
                  </a:rPr>
                  <a:t>; mean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emp</m:t>
                        </m:r>
                      </m:sup>
                    </m:sSubSup>
                  </m:oMath>
                </a14:m>
                <a:r>
                  <a:rPr lang="en-US" sz="100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0.171</m:t>
                    </m:r>
                  </m:oMath>
                </a14:m>
                <a:r>
                  <a:rPr lang="en-US" sz="100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Per-season: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000" dirty="0">
                    <a:latin typeface="Calibri"/>
                  </a:rPr>
                  <a:t>/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US" sz="1000" dirty="0">
                    <a:latin typeface="Calibri"/>
                  </a:rPr>
                  <a:t> seasons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i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000" dirty="0">
                    <a:latin typeface="Calibri"/>
                  </a:rPr>
                  <a:t>; nonzero — 2011: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i="0" dirty="0">
                        <a:latin typeface="Cambria Math" panose="02040503050406030204" pitchFamily="18" charset="0"/>
                      </a:rPr>
                      <m:t>≈0.0184</m:t>
                    </m:r>
                  </m:oMath>
                </a14:m>
                <a:r>
                  <a:rPr lang="en-US" sz="1000" dirty="0">
                    <a:latin typeface="Calibri"/>
                  </a:rPr>
                  <a:t>, 2012: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i="0" dirty="0">
                        <a:latin typeface="Cambria Math" panose="02040503050406030204" pitchFamily="18" charset="0"/>
                      </a:rPr>
                      <m:t>≈0.0184</m:t>
                    </m:r>
                  </m:oMath>
                </a14:m>
                <a:r>
                  <a:rPr lang="en-US" sz="1000" dirty="0">
                    <a:latin typeface="Calibri"/>
                  </a:rPr>
                  <a:t>, 2013: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i="0" dirty="0">
                        <a:latin typeface="Cambria Math" panose="02040503050406030204" pitchFamily="18" charset="0"/>
                      </a:rPr>
                      <m:t>≈0.103</m:t>
                    </m:r>
                  </m:oMath>
                </a14:m>
                <a:r>
                  <a:rPr lang="en-US" sz="1000" dirty="0">
                    <a:latin typeface="Calibri"/>
                  </a:rPr>
                  <a:t>, 2014: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i="0" dirty="0">
                        <a:latin typeface="Cambria Math" panose="02040503050406030204" pitchFamily="18" charset="0"/>
                      </a:rPr>
                      <m:t>≈0.569</m:t>
                    </m:r>
                  </m:oMath>
                </a14:m>
                <a:r>
                  <a:rPr lang="en-US" sz="1000" dirty="0">
                    <a:latin typeface="Calibri"/>
                  </a:rPr>
                  <a:t>, 2015: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i="0" dirty="0">
                        <a:latin typeface="Cambria Math" panose="02040503050406030204" pitchFamily="18" charset="0"/>
                      </a:rPr>
                      <m:t>≈0.594</m:t>
                    </m:r>
                  </m:oMath>
                </a14:m>
                <a:r>
                  <a:rPr lang="en-US" sz="1000" dirty="0">
                    <a:latin typeface="Calibri"/>
                  </a:rPr>
                  <a:t>, …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Legacy reference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sz="1000" dirty="0">
                    <a:latin typeface="Calibri"/>
                  </a:rPr>
                  <a:t>: mean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𝑒𝑟𝑟𝑜𝑟</m:t>
                        </m:r>
                      </m:e>
                    </m:d>
                    <m:r>
                      <a:rPr lang="en-US" sz="1000" i="0" dirty="0">
                        <a:latin typeface="Cambria Math" panose="02040503050406030204" pitchFamily="18" charset="0"/>
                      </a:rPr>
                      <m:t>≈0.061</m:t>
                    </m:r>
                  </m:oMath>
                </a14:m>
                <a:r>
                  <a:rPr lang="en-US" sz="1000" dirty="0">
                    <a:latin typeface="Calibri"/>
                  </a:rPr>
                  <a:t> vs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4.6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−06</m:t>
                    </m:r>
                  </m:oMath>
                </a14:m>
                <a:r>
                  <a:rPr lang="en-US" sz="1000" dirty="0">
                    <a:latin typeface="Calibri"/>
                  </a:rPr>
                  <a:t>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Figure bottom-right inset: per-season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 — red dots jump at 2014; dotted line = mean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 across seasons.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2013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000" dirty="0">
                    <a:latin typeface="Calibri"/>
                  </a:rPr>
                  <a:t>2014 per-season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0.103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→0.569</m:t>
                    </m:r>
                  </m:oMath>
                </a14:m>
                <a:r>
                  <a:rPr lang="en-US" sz="1000" dirty="0">
                    <a:latin typeface="Calibri"/>
                  </a:rPr>
                  <a:t> — coincides with raw ESPN player-season count jump; not used for locked calibration.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Contrast slide only: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𝑝𝑝𝑚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𝑙𝑡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000" dirty="0">
                    <a:latin typeface="Calibri"/>
                  </a:rPr>
                  <a:t> (all roster rows, PPM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000" dirty="0">
                    <a:latin typeface="Calibri"/>
                  </a:rPr>
                  <a:t> if min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000" dirty="0">
                    <a:latin typeface="Calibri"/>
                  </a:rPr>
                  <a:t>, no caps) inflates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 and the 2013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000" dirty="0">
                    <a:latin typeface="Calibri"/>
                  </a:rPr>
                  <a:t>2014 per-season jump — do not use for locked calibration.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Footer claim on this slide is about contrast failure mode — not the hero-panel near-zero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 story on slide 5.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VECTOR lock: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lang="en-US" sz="1000" dirty="0">
                    <a:latin typeface="Calibri"/>
                  </a:rPr>
                  <a:t> is realized sorting — not the generative homophily knob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0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lang="en-US" sz="1000" dirty="0">
                    <a:latin typeface="Calibri"/>
                  </a:rPr>
                  <a:t>  Figure: small multiples — blue sim curve, red empirical line, green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 (x-axis zoomed to evaluated bracket).</a:t>
                </a:r>
                <a:endParaRPr sz="1000" b="0" i="0" baseline="0" dirty="0">
                  <a:latin typeface="Calibri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FC5FF9-D481-36F9-4F81-B02AE7EBC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932" y="1199867"/>
                <a:ext cx="4147904" cy="4481291"/>
              </a:xfrm>
              <a:prstGeom prst="rect">
                <a:avLst/>
              </a:prstGeom>
              <a:blipFill>
                <a:blip r:embed="rId5"/>
                <a:stretch>
                  <a:fillRect t="-282" r="-3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A765FF-1D96-4DE4-90E9-C91E84AFBBFC}"/>
                  </a:ext>
                </a:extLst>
              </p:cNvPr>
              <p:cNvSpPr txBox="1"/>
              <p:nvPr/>
            </p:nvSpPr>
            <p:spPr>
              <a:xfrm>
                <a:off x="384048" y="6166786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b="1" dirty="0">
                    <a:latin typeface="Calibri"/>
                  </a:rPr>
                  <a:t>Claim (PD21 contrast): </a:t>
                </a:r>
                <a14:m>
                  <m:oMath xmlns:m="http://schemas.openxmlformats.org/officeDocument/2006/math">
                    <m:r>
                      <a:rPr lang="en-US" sz="1100" b="1" i="1" dirty="0" smtClean="0">
                        <a:latin typeface="Cambria Math" panose="02040503050406030204" pitchFamily="18" charset="0"/>
                      </a:rPr>
                      <m:t>𝑝𝑝𝑚</m:t>
                    </m:r>
                    <m:r>
                      <a:rPr lang="en-US" sz="1100" b="1" i="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100" b="1" i="1" dirty="0">
                        <a:latin typeface="Cambria Math" panose="02040503050406030204" pitchFamily="18" charset="0"/>
                      </a:rPr>
                      <m:t>𝑙𝑡</m:t>
                    </m:r>
                    <m:r>
                      <a:rPr lang="en-US" sz="1100" b="1" i="0" dirty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100" b="1" dirty="0">
                    <a:latin typeface="Calibri"/>
                  </a:rPr>
                  <a:t> inflates longitudinal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1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100" b="1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100" b="1" i="0" dirty="0">
                        <a:latin typeface="Cambria Math" panose="02040503050406030204" pitchFamily="18" charset="0"/>
                      </a:rPr>
                      <m:t>≈0.57</m:t>
                    </m:r>
                  </m:oMath>
                </a14:m>
                <a:r>
                  <a:rPr lang="en-US" sz="1100" b="1" dirty="0">
                    <a:latin typeface="Calibri"/>
                  </a:rPr>
                  <a:t> — not the hero estimand; 2013</a:t>
                </a:r>
                <a14:m>
                  <m:oMath xmlns:m="http://schemas.openxmlformats.org/officeDocument/2006/math">
                    <m:r>
                      <a:rPr lang="en-US" sz="1100" b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100" b="1" dirty="0">
                    <a:latin typeface="Calibri"/>
                  </a:rPr>
                  <a:t>2014 per-season jump traces ESPN box-depth break (PD22 ESPN coverage backup slide).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A765FF-1D96-4DE4-90E9-C91E84AFB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166786"/>
                <a:ext cx="11423599" cy="261610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409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D21_rho_hsort_calibrate_2011_2021_ppm0lt20_bracket_rho_hsort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6318" y="1014045"/>
            <a:ext cx="8355682" cy="448670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9177321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2000" b="1" dirty="0">
                    <a:latin typeface="Calibri"/>
                  </a:rPr>
                  <a:t>PD21 — Per-season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2000" b="1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b="1" dirty="0">
                    <a:latin typeface="Calibri"/>
                  </a:rPr>
                  <a:t> and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1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lang="en-US" sz="2000" b="1" dirty="0">
                    <a:latin typeface="Calibri"/>
                  </a:rPr>
                  <a:t> (contrast: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𝑝𝑝𝑚</m:t>
                    </m:r>
                    <m:r>
                      <a:rPr lang="en-US" sz="2000" b="1" i="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𝑙𝑡</m:t>
                    </m:r>
                    <m:r>
                      <a:rPr lang="en-US" sz="2000" b="1" i="0" dirty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2000" b="1" dirty="0">
                    <a:latin typeface="Calibri"/>
                  </a:rPr>
                  <a:t> — not for calibration)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9177321" cy="400110"/>
              </a:xfrm>
              <a:prstGeom prst="rect">
                <a:avLst/>
              </a:prstGeom>
              <a:blipFill>
                <a:blip r:embed="rId3"/>
                <a:stretch>
                  <a:fillRect l="-692" t="-9375" r="-692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3986541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sz="1000" dirty="0">
                    <a:latin typeface="Calibri"/>
                  </a:rPr>
                  <a:t>PD21 · per-season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 vs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lang="en-US" sz="1000" dirty="0">
                    <a:latin typeface="Calibri"/>
                  </a:rPr>
                  <a:t> · 2011-2021 · contrast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𝑝𝑝𝑚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𝑙𝑡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lang="en-US" sz="1000" dirty="0">
                  <a:latin typeface="Calibri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3986541" cy="246221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35366" y="1149319"/>
                <a:ext cx="3702454" cy="3409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>
                    <a:latin typeface="Calibri"/>
                  </a:rPr>
                  <a:t> PD21 contrast (Aug 2026):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𝑝𝑝𝑚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𝑙𝑡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000" dirty="0">
                    <a:latin typeface="Calibri"/>
                  </a:rPr>
                  <a:t> panel — illustrative only; do not use for locked longitudinal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00" dirty="0">
                    <a:latin typeface="Calibri"/>
                  </a:rPr>
                  <a:t> calibration.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>
                    <a:latin typeface="Calibri"/>
                  </a:rPr>
                  <a:t>  Panel: 2011–2021 MBB · all roster rows kept · raw PPM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000" dirty="0">
                    <a:latin typeface="Calibri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𝑚𝑖𝑛𝑢𝑡𝑒𝑠</m:t>
                    </m:r>
                  </m:oMath>
                </a14:m>
                <a:r>
                  <a:rPr lang="en-US" sz="100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1000" dirty="0">
                    <a:latin typeface="Calibri"/>
                  </a:rPr>
                  <a:t> · no roster caps — contrast / legacy estimand only.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>
                    <a:latin typeface="Calibri"/>
                  </a:rPr>
                  <a:t>  Red (left): per-season calibrated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; dotted red = mean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0.477</m:t>
                    </m:r>
                  </m:oMath>
                </a14:m>
                <a:r>
                  <a:rPr lang="en-US" sz="1000" dirty="0">
                    <a:latin typeface="Calibri"/>
                  </a:rPr>
                  <a:t>). Open circles = hit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en-US" sz="1000" dirty="0">
                    <a:latin typeface="Calibri"/>
                  </a:rPr>
                  <a:t> cap.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>
                    <a:latin typeface="Calibri"/>
                  </a:rPr>
                  <a:t>  Blue (right):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lang="en-US" sz="1000" dirty="0">
                    <a:latin typeface="Calibri"/>
                  </a:rPr>
                  <a:t> by season; dotted blue = longitudinal mean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000" i="0" dirty="0">
                            <a:latin typeface="Cambria Math" panose="02040503050406030204" pitchFamily="18" charset="0"/>
                          </a:rPr>
                          <m:t>emp</m:t>
                        </m:r>
                      </m:sup>
                    </m:sSubSup>
                  </m:oMath>
                </a14:m>
                <a:r>
                  <a:rPr lang="en-US" sz="100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0.171</m:t>
                    </m:r>
                  </m:oMath>
                </a14:m>
                <a:r>
                  <a:rPr lang="en-US" sz="1000" dirty="0">
                    <a:latin typeface="Calibri"/>
                  </a:rPr>
                  <a:t>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i="0" dirty="0">
                        <a:latin typeface="Cambria Math" panose="02040503050406030204" pitchFamily="18" charset="0"/>
                      </a:rPr>
                      <m:t>=1−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i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0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1000" i="0" dirty="0">
                        <a:latin typeface="Cambria Math" panose="02040503050406030204" pitchFamily="18" charset="0"/>
                      </a:rPr>
                      <m:t>/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i="1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i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i="1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10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1000" dirty="0">
                    <a:latin typeface="Calibri"/>
                  </a:rPr>
                  <a:t> — realized sorting on a fixed partition.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>
                    <a:latin typeface="Calibri"/>
                  </a:rPr>
                  <a:t>  2013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000" dirty="0">
                    <a:latin typeface="Calibri"/>
                  </a:rPr>
                  <a:t>$2014 per-season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000" dirty="0"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0.103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→0.569</m:t>
                    </m:r>
                  </m:oMath>
                </a14:m>
                <a:r>
                  <a:rPr lang="en-US" sz="1000" dirty="0">
                    <a:latin typeface="Calibri"/>
                  </a:rPr>
                  <a:t> — coincides with raw ESPN player-season count jump; not used for locked calibration.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>
                    <a:latin typeface="Calibri"/>
                  </a:rPr>
                  <a:t>  Pair with PD22 ESPN coverage backup slide — 2013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000" dirty="0">
                    <a:latin typeface="Calibri"/>
                  </a:rPr>
                  <a:t>2014 raw player-season jump explains this timeseries, not doubled games.</a:t>
                </a:r>
                <a:endParaRPr sz="1000" b="0" i="0" baseline="0" dirty="0">
                  <a:latin typeface="Calibri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66" y="1149319"/>
                <a:ext cx="3702454" cy="3409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0C222D3-03B9-E83A-EA0C-EC283EC4576D}"/>
                  </a:ext>
                </a:extLst>
              </p:cNvPr>
              <p:cNvSpPr txBox="1"/>
              <p:nvPr/>
            </p:nvSpPr>
            <p:spPr>
              <a:xfrm>
                <a:off x="384048" y="6089904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(PD21 contrast): 2013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2014 jump in per-season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100" b="1" i="0" baseline="0" dirty="0">
                    <a:latin typeface="Calibri"/>
                  </a:rPr>
                  <a:t> on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𝑝𝑝𝑚</m:t>
                    </m:r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𝑙𝑡</m:t>
                    </m:r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is ESPN roster-depth artifact — hero min-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panel gives flat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sz="1100" b="1" i="0" baseline="0" dirty="0">
                    <a:latin typeface="Calibri"/>
                  </a:rPr>
                  <a:t>; see PD22 ESPN coverage backup.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0C222D3-03B9-E83A-EA0C-EC283EC45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89904"/>
                <a:ext cx="11423599" cy="261610"/>
              </a:xfrm>
              <a:prstGeom prst="rect">
                <a:avLst/>
              </a:prstGeom>
              <a:blipFill>
                <a:blip r:embed="rId6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Drafted-player retention vs playing-time floor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537839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 dirty="0">
                <a:latin typeface="Calibri"/>
              </a:rPr>
              <a:t>PD22 · drafted retention audit · 2011-2021 · at min 20 drop: 113</a:t>
            </a:r>
            <a:r>
              <a:rPr lang="en-US" sz="1000" b="0" i="0" baseline="0" dirty="0">
                <a:latin typeface="Calibri"/>
              </a:rPr>
              <a:t>3</a:t>
            </a:r>
            <a:r>
              <a:rPr sz="1000" b="0" i="0" baseline="0" dirty="0">
                <a:latin typeface="Calibri"/>
              </a:rPr>
              <a:t>/117</a:t>
            </a:r>
            <a:r>
              <a:rPr lang="en-US" sz="1000" b="0" i="0" baseline="0" dirty="0">
                <a:latin typeface="Calibri"/>
              </a:rPr>
              <a:t>7</a:t>
            </a:r>
            <a:r>
              <a:rPr sz="1000" b="0" i="0" baseline="0" dirty="0">
                <a:latin typeface="Calibri"/>
              </a:rPr>
              <a:t> drafted player-seasons kept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2242" y="1074293"/>
            <a:ext cx="9535176" cy="376300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F9ADE83-317A-6539-917C-5A0C2F34421C}"/>
                  </a:ext>
                </a:extLst>
              </p:cNvPr>
              <p:cNvSpPr txBox="1"/>
              <p:nvPr/>
            </p:nvSpPr>
            <p:spPr>
              <a:xfrm>
                <a:off x="384048" y="4764674"/>
                <a:ext cx="11423599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PD22 item 1 (Alex Aug 2026): audit minutes floor before defending min 20 min or PPM-zero bench policy.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Panel: 2011-2021 MBB · rebuild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𝑚𝑖𝑛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𝑚𝑖𝑛𝑢𝑡𝑒𝑠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after box QC 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draft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= ever-draft flag (not season-specific).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Box QC at panel build: drop dash-name placeholders; keep team-seasons with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distinct games in box (frozen CSV untouched).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Drafted player-seasons: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1,177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521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unique athletes).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Minutes among drafted: min = 0; draft-safe max floor (drop)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min.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Hero lock min = 20: retain 1,133 / 1,177; lose 44 player-seasons (42 unique athletes; 42 at 0 min).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Right panel: red labels = drafted player-seasons lost vs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𝑚𝑖𝑛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𝑚𝑖𝑛𝑢𝑡𝑒𝑠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floor at each threshold.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PPM-zero policy: all drafted rows retained; sub-floor players get raw PPM = 0 before z-score.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Lost at min 20 drop (44): id 51323 (2013): 0.0 min; id 56359 (2013): 0.0 min; id 56965 (2014): 0.0 min (+41 more — see CSV)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Left: empirical cumulative distribution function (ECDF) of drafted minutes (10 min teal, 20 min red). Right: retained count vs floor.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F9ADE83-317A-6539-917C-5A0C2F344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4764674"/>
                <a:ext cx="11423599" cy="1631216"/>
              </a:xfrm>
              <a:prstGeom prst="rect">
                <a:avLst/>
              </a:prstGeom>
              <a:blipFill>
                <a:blip r:embed="rId3"/>
                <a:stretch>
                  <a:fillRect t="-775" b="-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690980-59BF-9212-8DD7-EEC9C7877062}"/>
                  </a:ext>
                </a:extLst>
              </p:cNvPr>
              <p:cNvSpPr txBox="1"/>
              <p:nvPr/>
            </p:nvSpPr>
            <p:spPr>
              <a:xfrm>
                <a:off x="384048" y="6372933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(Alex, PD22): Playing-time floor must be draft-safe — retain every ever-draft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draft</m:t>
                        </m:r>
                      </m:sub>
                    </m:sSub>
                    <m:r>
                      <a:rPr lang="en-US" sz="1100" b="1" i="0" baseline="0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) player-season before we justify min 20 min or PPM-zero bench policy for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sort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calibration.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690980-59BF-9212-8DD7-EEC9C7877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372933"/>
                <a:ext cx="11423599" cy="2616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5664E-0604-5F5D-240A-FF8D03D1C0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31183" y="996029"/>
            <a:ext cx="9823260" cy="543686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Raw panel season-minutes distribution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4374916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PD22 · raw panel minutes · 2011-2021 · median = 3</a:t>
                </a:r>
                <a:r>
                  <a:rPr lang="en-US" sz="1000" dirty="0">
                    <a:latin typeface="Calibri"/>
                  </a:rPr>
                  <a:t>44</a:t>
                </a:r>
                <a:r>
                  <a:rPr sz="1000" b="0" i="0" baseline="0" dirty="0">
                    <a:latin typeface="Calibri"/>
                  </a:rPr>
                  <a:t> min · </a:t>
                </a:r>
                <a14:m>
                  <m:oMath xmlns:m="http://schemas.openxmlformats.org/officeDocument/2006/math">
                    <m:r>
                      <a:rPr lang="en-US" sz="1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000" b="0" i="0" dirty="0" smtClean="0">
                        <a:latin typeface="Cambria Math" panose="02040503050406030204" pitchFamily="18" charset="0"/>
                      </a:rPr>
                      <m:t>1.9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below 20 min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4374916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85C6CB-14DF-95CB-B996-71119A9424E9}"/>
                  </a:ext>
                </a:extLst>
              </p:cNvPr>
              <p:cNvSpPr txBox="1"/>
              <p:nvPr/>
            </p:nvSpPr>
            <p:spPr>
              <a:xfrm>
                <a:off x="384048" y="6454578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(Alex, PD22): Minutes floor must be grounded in the raw roster distribution — not an arbitrary cut — before we defend min 20 min for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/ ASSIGN panels.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85C6CB-14DF-95CB-B996-71119A942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454578"/>
                <a:ext cx="11423599" cy="261610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0DA0F9-7360-1226-E0F5-218CADDA7987}"/>
                  </a:ext>
                </a:extLst>
              </p:cNvPr>
              <p:cNvSpPr txBox="1"/>
              <p:nvPr/>
            </p:nvSpPr>
            <p:spPr>
              <a:xfrm>
                <a:off x="437211" y="4769742"/>
                <a:ext cx="5872149" cy="1543971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PD22 item 2: season-minutes on box-QC panel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𝑚𝑖𝑛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𝑚𝑖𝑛𝑢𝑡𝑒𝑠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rebuild).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Box QC at panel build: drop dash-name placeholders; </a:t>
                </a:r>
                <a:endParaRPr lang="en-US" sz="1000" b="0" i="0" baseline="0" dirty="0">
                  <a:latin typeface="Calibri"/>
                </a:endParaRPr>
              </a:p>
              <a:p>
                <a:r>
                  <a:rPr lang="en-US" sz="1000" dirty="0">
                    <a:latin typeface="Calibri"/>
                  </a:rPr>
                  <a:t>      </a:t>
                </a:r>
                <a:r>
                  <a:rPr sz="1000" b="0" i="0" baseline="0" dirty="0">
                    <a:latin typeface="Calibri"/>
                  </a:rPr>
                  <a:t>keep team-seasons with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distinct games in box (frozen CSV untouched).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Panel: 2011-2021 MBB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59,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283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player-seasons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1,177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ever-draft rows.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Median minutes =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90th percentile =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96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Zero-minute rows: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7,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051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11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of panel).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Below 10 min: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17.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below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min: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1.9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(hero lock).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Ever-draft below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min: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3.7%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(median drafted =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979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min).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Left: empirical cumulative distribution function (ECDF) — all vs ever-draft; teal = 10 min, red = 20 min.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Right: histogram zoom 0–150 min — low-minute mass driving floor choice.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0DA0F9-7360-1226-E0F5-218CADDA7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211" y="4769742"/>
                <a:ext cx="5872149" cy="1543971"/>
              </a:xfrm>
              <a:prstGeom prst="rect">
                <a:avLst/>
              </a:prstGeom>
              <a:blipFill>
                <a:blip r:embed="rId6"/>
                <a:stretch>
                  <a:fillRect t="-813" b="-6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340738" y="836676"/>
            <a:ext cx="9249621" cy="501785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PPM distribution: filtered-out tail vs hero ASSIGN input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3591048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PD22 · PPM tails · 2011-2021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103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sub-20-min rows with PPM &gt; 1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3591048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84048" y="6211091"/>
            <a:ext cx="114235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 dirty="0">
                <a:latin typeface="Calibri"/>
              </a:rPr>
              <a:t>Claim: Minutes floor guards against noisy PPM tails — sub-20-min rows include extreme points-per-minute spikes; hero ASSIGN uses PPM z-scored within season on the min-20 panel.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869D81-1060-CB39-0085-918FC321F1A1}"/>
                  </a:ext>
                </a:extLst>
              </p:cNvPr>
              <p:cNvSpPr txBox="1"/>
              <p:nvPr/>
            </p:nvSpPr>
            <p:spPr>
              <a:xfrm>
                <a:off x="384049" y="4432662"/>
                <a:ext cx="6131052" cy="17851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PD22 items 3–4: points-per-minute (PPM) — filtered-out tail vs hero ASSIGN input.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Box QC at panel build: drop dash-name placeholders; </a:t>
                </a:r>
                <a:endParaRPr lang="en-US" sz="1000" b="0" i="0" baseline="0" dirty="0">
                  <a:latin typeface="Calibri"/>
                </a:endParaRPr>
              </a:p>
              <a:p>
                <a:r>
                  <a:rPr lang="en-US" sz="1000" dirty="0">
                    <a:latin typeface="Calibri"/>
                  </a:rPr>
                  <a:t>      </a:t>
                </a:r>
                <a:r>
                  <a:rPr sz="1000" b="0" i="0" baseline="0" dirty="0">
                    <a:latin typeface="Calibri"/>
                  </a:rPr>
                  <a:t>keep team-seasons with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distinct games in box (frozen CSV untouched).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Panel: 2011-2021 MBB · hero lock min =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min.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Item 3 (left):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2,97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rows with minutes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&lt;20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7,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051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at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min excluded from PPM hist).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Sub-20-min with PPM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&gt;1.0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103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max raw PPM in tail: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Item 4 (right): hero panel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=46,306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— raw PPM then PPM z within season (PD21 ASSIGN ability; empirical roster caps are separate).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Hero raw PPM median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=0.308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standardized ability median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=−0.0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Left: why minutes matter (garbage-time PPM spikes). Right: what enters homophily calibration after the floor.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hero panel + PPM z within season (PD21 ASSIGN input)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869D81-1060-CB39-0085-918FC321F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9" y="4432662"/>
                <a:ext cx="6131052" cy="1785104"/>
              </a:xfrm>
              <a:prstGeom prst="rect">
                <a:avLst/>
              </a:prstGeom>
              <a:blipFill>
                <a:blip r:embed="rId4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574080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 dirty="0">
                <a:latin typeface="Calibri"/>
              </a:rPr>
              <a:t>PD22 — Roster size: </a:t>
            </a:r>
            <a:r>
              <a:rPr lang="en-US" sz="2000" b="1" i="0" baseline="0" dirty="0">
                <a:latin typeface="Calibri"/>
              </a:rPr>
              <a:t>raw </a:t>
            </a:r>
            <a:r>
              <a:rPr sz="2000" b="1" i="0" baseline="0" dirty="0">
                <a:latin typeface="Calibri"/>
              </a:rPr>
              <a:t>box</a:t>
            </a:r>
            <a:r>
              <a:rPr lang="en-US" sz="2000" b="1" i="0" dirty="0">
                <a:latin typeface="Calibri"/>
              </a:rPr>
              <a:t> (No </a:t>
            </a:r>
            <a:r>
              <a:rPr sz="2000" b="1" i="0" baseline="0" dirty="0">
                <a:latin typeface="Calibri"/>
              </a:rPr>
              <a:t>QC</a:t>
            </a:r>
            <a:r>
              <a:rPr lang="en-US" sz="2000" b="1" i="0" baseline="0" dirty="0">
                <a:latin typeface="Calibri"/>
              </a:rPr>
              <a:t>) </a:t>
            </a:r>
            <a:r>
              <a:rPr sz="2000" b="1" i="0" baseline="0" dirty="0">
                <a:latin typeface="Calibri"/>
              </a:rPr>
              <a:t>vs min-20 drop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4029052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PD22 · roster size </a:t>
                </a:r>
                <a:r>
                  <a:rPr lang="en-US" sz="1000" b="0" i="0" baseline="0" dirty="0">
                    <a:latin typeface="Calibri"/>
                  </a:rPr>
                  <a:t>(before QC) </a:t>
                </a:r>
                <a:r>
                  <a:rPr sz="1000" b="0" i="0" baseline="0" dirty="0">
                    <a:latin typeface="Calibri"/>
                  </a:rPr>
                  <a:t>· 2011-2021 · raw median =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:r>
                  <a:rPr lang="en-US" sz="1000" b="0" i="0" baseline="0" dirty="0">
                    <a:latin typeface="Calibri"/>
                  </a:rPr>
                  <a:t>max </a:t>
                </a:r>
                <a14:m>
                  <m:oMath xmlns:m="http://schemas.openxmlformats.org/officeDocument/2006/math">
                    <m:r>
                      <a:rPr lang="en-US" sz="1000" b="0" i="0" baseline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1" baseline="0" smtClean="0">
                        <a:latin typeface="Cambria Math" panose="02040503050406030204" pitchFamily="18" charset="0"/>
                      </a:rPr>
                      <m:t>115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4029052" cy="246221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04975" y="1052409"/>
            <a:ext cx="9381744" cy="39485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325874"/>
            <a:ext cx="114235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latin typeface="Calibri"/>
              </a:rPr>
              <a:t>Claim (PD22 backup): Raw ESPN box rows inflate team-season roster counts — dash placeholders and sparse junk games before panel QC at build.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A9CD9C7-D024-78B9-948E-5E004EF89B3D}"/>
                  </a:ext>
                </a:extLst>
              </p:cNvPr>
              <p:cNvSpPr txBox="1"/>
              <p:nvPr/>
            </p:nvSpPr>
            <p:spPr>
              <a:xfrm>
                <a:off x="384048" y="5074919"/>
                <a:ext cx="11423599" cy="13012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PD22 backup: players per team-season — legacy raw box (no QC) vs min-20 drop.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No box QC: dash-name placeholders and sparse team-seasons still in panel.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Panel: 2011-2021 MBB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6,557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104,790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player-season rows.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Min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raw box (blue): median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mean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=16.0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16.3%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exactly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64.5%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48.1%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Min-20 drop (orange): median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mean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=9.5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only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2.3%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exactly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Tail: max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(BYU 2018);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BYU spike from ESPN dash rows in one game (SCOUT Aug 2026).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Motivation for box QC at panel build — next slide shows after dash + min-games filters.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Left: team-season counts; right: normalized — long tail from junk box rows.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A9CD9C7-D024-78B9-948E-5E004EF89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5074919"/>
                <a:ext cx="11423599" cy="1301299"/>
              </a:xfrm>
              <a:prstGeom prst="rect">
                <a:avLst/>
              </a:prstGeom>
              <a:blipFill>
                <a:blip r:embed="rId4"/>
                <a:stretch>
                  <a:fillRect t="-962" b="-28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664579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/>
              </a:rPr>
              <a:t>PD22 — Games per team-season in raw box data (before QC)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PD22 · team-season games · 2011–2021 · 1,883 with 1 game · median = 29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4528" y="1056344"/>
            <a:ext cx="10742638" cy="394064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84048" y="5074920"/>
                <a:ext cx="11423599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PD22 backup: distinct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𝑔𝑎𝑚𝑒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𝑖𝑑𝑠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per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𝑡𝑒𝑎𝑚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𝑖𝑑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𝑠𝑒𝑎𝑠𝑜𝑛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 in raw box (2011–2021).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Panel: 6,557 team-seasons · median = 29 games · mean = 19.1 · max = 41.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Bimodal: 1,883 team-seasons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28.7%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 with only 1 game (red line) vs cluster near 30–32 (full seasons).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games: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2,</m:t>
                    </m:r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715</m:t>
                    </m:r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41.1%</m:t>
                        </m:r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&gt; 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games: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3,842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— sparse tail is partial coverage / small-school noise.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Default box QC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𝑝𝑎𝑛𝑒𝑙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𝑟𝑒𝑏𝑢𝑖𝑙𝑑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𝑚𝑖𝑛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𝑡𝑒𝑎𝑚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𝑠𝑒𝑎𝑠𝑜𝑛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𝑔𝑎𝑚𝑒𝑠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drops team-seasons with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games</a:t>
                </a:r>
                <a:r>
                  <a:rPr lang="en-US" sz="1000" b="0" i="0" baseline="0" dirty="0">
                    <a:latin typeface="Calibri"/>
                  </a:rPr>
                  <a:t>(keep</a:t>
                </a:r>
                <a:r>
                  <a:rPr lang="en-US" sz="1000" b="0" i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dirty="0" smtClean="0">
                        <a:latin typeface="Cambria Math" panose="02040503050406030204" pitchFamily="18" charset="0"/>
                      </a:rPr>
                      <m:t>≥11</m:t>
                    </m:r>
                  </m:oMath>
                </a14:m>
                <a:r>
                  <a:rPr lang="en-US" sz="1000" b="0" i="0" dirty="0">
                    <a:latin typeface="Calibri"/>
                  </a:rPr>
                  <a:t>)</a:t>
                </a:r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Left: linear counts; right: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𝑙𝑜𝑔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— gap between spikes is low-frequency partial seasons, not hero-panel mass.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Pairs with roster-size backup: low-game team-seasons often inflate per-game roster anomalies (SCOUT ESPN dash rows).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5074920"/>
                <a:ext cx="11423599" cy="1169551"/>
              </a:xfrm>
              <a:prstGeom prst="rect">
                <a:avLst/>
              </a:prstGeom>
              <a:blipFill>
                <a:blip r:embed="rId3"/>
                <a:stretch>
                  <a:fillRect t="-1075" b="-2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84048" y="6230576"/>
                <a:ext cx="11423599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b="1" dirty="0">
                    <a:latin typeface="Calibri"/>
                  </a:rPr>
                  <a:t>Claim (PD22 backup): Box panel mixes full D-I seasons (</a:t>
                </a:r>
                <a14:m>
                  <m:oMath xmlns:m="http://schemas.openxmlformats.org/officeDocument/2006/math">
                    <m:r>
                      <a:rPr lang="en-US" sz="1100" b="1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1100" b="1" i="0" dirty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sz="1100" b="1" dirty="0">
                    <a:latin typeface="Calibri"/>
                  </a:rPr>
                  <a:t> games) with sparse one-game team-seasons — default </a:t>
                </a:r>
                <a14:m>
                  <m:oMath xmlns:m="http://schemas.openxmlformats.org/officeDocument/2006/math">
                    <m:r>
                      <a:rPr lang="en-US" sz="1100" b="1" i="1" dirty="0" smtClean="0">
                        <a:latin typeface="Cambria Math" panose="02040503050406030204" pitchFamily="18" charset="0"/>
                      </a:rPr>
                      <m:t>𝑚𝑖𝑛</m:t>
                    </m:r>
                    <m:r>
                      <a:rPr lang="en-US" sz="1100" b="1" i="0" dirty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100" b="1" i="1" dirty="0">
                        <a:latin typeface="Cambria Math" panose="02040503050406030204" pitchFamily="18" charset="0"/>
                      </a:rPr>
                      <m:t>𝑡𝑒𝑎𝑚</m:t>
                    </m:r>
                    <m:r>
                      <a:rPr lang="en-US" sz="1100" b="1" i="0" dirty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100" b="1" i="1" dirty="0">
                        <a:latin typeface="Cambria Math" panose="02040503050406030204" pitchFamily="18" charset="0"/>
                      </a:rPr>
                      <m:t>𝑠𝑒𝑎𝑠𝑜𝑛</m:t>
                    </m:r>
                    <m:r>
                      <a:rPr lang="en-US" sz="1100" b="1" i="0" dirty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100" b="1" i="1" dirty="0">
                        <a:latin typeface="Cambria Math" panose="02040503050406030204" pitchFamily="18" charset="0"/>
                      </a:rPr>
                      <m:t>𝑔𝑎𝑚𝑒𝑠</m:t>
                    </m:r>
                    <m:r>
                      <a:rPr lang="en-US" sz="1100" b="1" i="0" dirty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sz="1100" b="1" dirty="0">
                    <a:latin typeface="Calibri"/>
                  </a:rPr>
                  <a:t> drops team-seasons with </a:t>
                </a:r>
                <a14:m>
                  <m:oMath xmlns:m="http://schemas.openxmlformats.org/officeDocument/2006/math">
                    <m:r>
                      <a:rPr lang="en-US" sz="1100" b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100" b="1" i="0" dirty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1100" b="1" dirty="0">
                    <a:latin typeface="Calibri"/>
                  </a:rPr>
                  <a:t> games (keep </a:t>
                </a:r>
                <a14:m>
                  <m:oMath xmlns:m="http://schemas.openxmlformats.org/officeDocument/2006/math">
                    <m:r>
                      <a:rPr lang="en-US" sz="1100" b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1100" b="1" i="0" dirty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US" sz="1100" b="1" dirty="0">
                    <a:latin typeface="Calibri"/>
                  </a:rPr>
                  <a:t>) before player-season aggregation.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230576"/>
                <a:ext cx="11423599" cy="430887"/>
              </a:xfrm>
              <a:prstGeom prst="rect">
                <a:avLst/>
              </a:prstGeom>
              <a:blipFill>
                <a:blip r:embed="rId4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008B9-3BDB-ADEB-7B28-E2661A08A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365AD2-EEAF-F00F-B681-4EA530201C2F}"/>
              </a:ext>
            </a:extLst>
          </p:cNvPr>
          <p:cNvSpPr txBox="1"/>
          <p:nvPr/>
        </p:nvSpPr>
        <p:spPr>
          <a:xfrm>
            <a:off x="384048" y="219456"/>
            <a:ext cx="504984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 dirty="0">
                <a:latin typeface="Calibri"/>
              </a:rPr>
              <a:t>PD22 — Games per team-season </a:t>
            </a:r>
            <a:r>
              <a:rPr lang="en-US" sz="2000" b="1" dirty="0">
                <a:latin typeface="Calibri"/>
              </a:rPr>
              <a:t>after box QC</a:t>
            </a:r>
            <a:endParaRPr sz="2000" b="1" i="0" baseline="0" dirty="0"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4BCC7A-2D0E-BB14-8AF2-1FC754AB7407}"/>
                  </a:ext>
                </a:extLst>
              </p:cNvPr>
              <p:cNvSpPr txBox="1"/>
              <p:nvPr/>
            </p:nvSpPr>
            <p:spPr>
              <a:xfrm>
                <a:off x="384048" y="713232"/>
                <a:ext cx="4747582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PD22 · games </a:t>
                </a:r>
                <a:r>
                  <a:rPr lang="en-US" sz="1000" b="0" i="0" baseline="0" dirty="0">
                    <a:latin typeface="Calibri"/>
                  </a:rPr>
                  <a:t>after box QC </a:t>
                </a:r>
                <a:r>
                  <a:rPr sz="1000" b="0" i="0" baseline="0" dirty="0">
                    <a:latin typeface="Calibri"/>
                  </a:rPr>
                  <a:t>· 2011–2021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3,842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 team seasons</a:t>
                </a:r>
                <a:r>
                  <a:rPr sz="1000" b="0" i="0" baseline="0" dirty="0">
                    <a:latin typeface="Calibri"/>
                  </a:rPr>
                  <a:t> · median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=32</m:t>
                    </m:r>
                  </m:oMath>
                </a14:m>
                <a:r>
                  <a:rPr lang="en-US" sz="1000" dirty="0">
                    <a:latin typeface="Calibri"/>
                  </a:rPr>
                  <a:t> · min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1000" i="0" dirty="0" smtClean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4BCC7A-2D0E-BB14-8AF2-1FC754AB7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4747582" cy="246221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7AD5F87-7D3E-42D6-3075-F0BAFEACFD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14324" y="1056344"/>
            <a:ext cx="9363046" cy="394064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3F7FC1-2B42-1E77-B84F-0038568DB09A}"/>
                  </a:ext>
                </a:extLst>
              </p:cNvPr>
              <p:cNvSpPr txBox="1"/>
              <p:nvPr/>
            </p:nvSpPr>
            <p:spPr>
              <a:xfrm>
                <a:off x="384048" y="6230576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b="1" dirty="0">
                    <a:latin typeface="Calibri"/>
                  </a:rPr>
                  <a:t>Claim (PD22 backup): After box QC, team-season game counts are full-season D-I coverage (</a:t>
                </a:r>
                <a14:m>
                  <m:oMath xmlns:m="http://schemas.openxmlformats.org/officeDocument/2006/math">
                    <m:r>
                      <a:rPr lang="en-US" sz="1100" b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1100" b="1" i="0" dirty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US" sz="1100" b="1" dirty="0">
                    <a:latin typeface="Calibri"/>
                  </a:rPr>
                  <a:t> games) — low-game tail (</a:t>
                </a:r>
                <a14:m>
                  <m:oMath xmlns:m="http://schemas.openxmlformats.org/officeDocument/2006/math">
                    <m:r>
                      <a:rPr lang="en-US" sz="1100" b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100" b="1" i="0" dirty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1100" b="1" dirty="0">
                    <a:latin typeface="Calibri"/>
                  </a:rPr>
                  <a:t> games) removed before panel build.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3F7FC1-2B42-1E77-B84F-0038568DB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230576"/>
                <a:ext cx="11423599" cy="2616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16DA0B8-AB63-E6A3-54AD-1A87FE9F16C0}"/>
                  </a:ext>
                </a:extLst>
              </p:cNvPr>
              <p:cNvSpPr txBox="1"/>
              <p:nvPr/>
            </p:nvSpPr>
            <p:spPr>
              <a:xfrm>
                <a:off x="384048" y="5074920"/>
                <a:ext cx="11423599" cy="1155656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PD22 backup (after filter): distinct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𝑔𝑎𝑚𝑒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𝑖𝑑𝑠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per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𝑡𝑒𝑎𝑚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𝑖𝑑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𝑠𝑒𝑎𝑠𝑜𝑛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 surviving box QC.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Box QC at panel build: drop dash-name placeholders; keep team-seasons with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distinct games in box (frozen CSV untouched).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Panel: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3,842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 kept · median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=32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games · mean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=31.6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min =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(all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Removed by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𝑚𝑖𝑛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𝑡𝑒𝑎𝑚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𝑠𝑒𝑎𝑠𝑜𝑛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𝑔𝑎𝑚𝑒𝑠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2,715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 with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≤10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games (see raw games-count slide).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Dropped dash rows: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175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game rows before game-count tally.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No one-game spike — bulk mass sits near 28–32 games (normal D-I seasons).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Left: linear counts; right: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𝑙𝑜𝑔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— post-QC panel is what roster-size and minutes diagnostics use.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16DA0B8-AB63-E6A3-54AD-1A87FE9F1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5074920"/>
                <a:ext cx="11423599" cy="1155656"/>
              </a:xfrm>
              <a:prstGeom prst="rect">
                <a:avLst/>
              </a:prstGeom>
              <a:blipFill>
                <a:blip r:embed="rId5"/>
                <a:stretch>
                  <a:fillRect t="-1087" b="-3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6468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9C2BF-870A-D3AF-53DA-5014BF4D9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546D56C-3961-AC6A-C9A1-F2D11B943DDB}"/>
                  </a:ext>
                </a:extLst>
              </p:cNvPr>
              <p:cNvSpPr txBox="1"/>
              <p:nvPr/>
            </p:nvSpPr>
            <p:spPr>
              <a:xfrm>
                <a:off x="384048" y="219456"/>
                <a:ext cx="6455935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PD22 — Roster size: box-QC panel (min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2000" b="1" i="0" baseline="0" dirty="0">
                    <a:latin typeface="Calibri"/>
                  </a:rPr>
                  <a:t>) vs min-20 drop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546D56C-3961-AC6A-C9A1-F2D11B943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6455935" cy="400110"/>
              </a:xfrm>
              <a:prstGeom prst="rect">
                <a:avLst/>
              </a:prstGeom>
              <a:blipFill>
                <a:blip r:embed="rId2"/>
                <a:stretch>
                  <a:fillRect l="-982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7B7386B-2FD0-AC0C-D5BF-5446FB902376}"/>
                  </a:ext>
                </a:extLst>
              </p:cNvPr>
              <p:cNvSpPr txBox="1"/>
              <p:nvPr/>
            </p:nvSpPr>
            <p:spPr>
              <a:xfrm>
                <a:off x="384048" y="713232"/>
                <a:ext cx="3725700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PD22 · roster size · 2011-2021 · raw median =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21.2%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exactly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7B7386B-2FD0-AC0C-D5BF-5446FB902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3725700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PD22_raw_roster_size_distribution_2011_2021.png">
            <a:extLst>
              <a:ext uri="{FF2B5EF4-FFF2-40B4-BE49-F238E27FC236}">
                <a16:creationId xmlns:a16="http://schemas.microsoft.com/office/drawing/2014/main" id="{2A7F4F52-0C88-604E-2D21-EC68AB51B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4975" y="1051560"/>
            <a:ext cx="9381744" cy="395020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692699-FB0C-9EB7-81C8-E0771E9FE555}"/>
                  </a:ext>
                </a:extLst>
              </p:cNvPr>
              <p:cNvSpPr txBox="1"/>
              <p:nvPr/>
            </p:nvSpPr>
            <p:spPr>
              <a:xfrm>
                <a:off x="384048" y="5074920"/>
                <a:ext cx="11423599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PD22 backup: players per team-season — box-QC panel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𝑚𝑖𝑛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𝑚𝑖𝑛𝑢𝑡𝑒𝑠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 vs min-20 drop.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Box QC at panel build: drop dash-name placeholders; keep team-seasons with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distinct games in box (frozen CSV untouched).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Panel: 2011-2021 MBB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3,842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59,283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player-season rows.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Min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after QC (blue): median = 15, mean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=15.4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21.2%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exactly 15,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62.4%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41.2%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Min-20 drop (orange): median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mean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=12.1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only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3.7%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exactly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— rotation-minute survivors, not dress cap.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Tail: max =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43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𝑡𝑒𝑎𝑚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𝑖𝑑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2655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2019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);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BYU spike gone — dash rows dropped at panel build (SCOUT Aug 2026).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Red dashed = NCAA dress cap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empirical caps in PD21 use min-20 multiset.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Left: team-season counts; right: normalized — bulk mass sits 14–17 after box QC.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692699-FB0C-9EB7-81C8-E0771E9F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5074920"/>
                <a:ext cx="11423599" cy="1323439"/>
              </a:xfrm>
              <a:prstGeom prst="rect">
                <a:avLst/>
              </a:prstGeom>
              <a:blipFill>
                <a:blip r:embed="rId5"/>
                <a:stretch>
                  <a:fillRect t="-943" b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158326-68B8-E546-73DE-62378EDED828}"/>
                  </a:ext>
                </a:extLst>
              </p:cNvPr>
              <p:cNvSpPr txBox="1"/>
              <p:nvPr/>
            </p:nvSpPr>
            <p:spPr>
              <a:xfrm>
                <a:off x="384048" y="6325874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(PD22 backup): After box QC, team-season roster counts cluster near NCAA dress cap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; empirical hero caps (min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) count rotation-minute contributors — not game-day dress lists.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158326-68B8-E546-73DE-62378EDED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325874"/>
                <a:ext cx="11423599" cy="26161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4462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 dirty="0">
                <a:latin typeface="Calibri"/>
              </a:rPr>
              <a:t>PD22 — Raw PPM: full panel vs sub-20-min filtered tail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3804631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PD22 · PPM overlay · 2011-2021 · 103 sub-20-min rows with PPM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3804631" cy="246221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PD22_ppm_full_vs_filtered_2011_20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795" y="713232"/>
            <a:ext cx="6733505" cy="395020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03700" y="2500531"/>
                <a:ext cx="4731850" cy="35309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PD22 overlay: gray = box-QC panel raw PPM (minutes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); blue = sub-20-min tail removed by drop policy.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Box QC at panel build: drop dash-name placeholders; keep team-seasons with $\geq$11 distinct games in box (frozen CSV untouched).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Panel: 2011-2021 MBB · gray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52,232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blue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5,926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7,051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zero-min rows excluded (PPM undefined).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Sub-20 PPM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&gt;1.0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103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max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sub-20 median PPM (positive min)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=0.125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After min-20 drop: hero panel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46,306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raw PPM median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=0.308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(p99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=0.62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Minutes context (box-QC panel):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21.9%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below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min; median =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344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min (all) vs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979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min (ever-draft).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Empirical caps (min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panel): mean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9.6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/ median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players per team-season (p25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p75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); only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2.3%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exactly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— rotation-minute count, not who dressed for a game.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NCAA dress cap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per game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our cap multiset — box panel counts season rows passing the minutes rule.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700" y="2500531"/>
                <a:ext cx="4731850" cy="3530967"/>
              </a:xfrm>
              <a:prstGeom prst="rect">
                <a:avLst/>
              </a:prstGeom>
              <a:blipFill>
                <a:blip r:embed="rId4"/>
                <a:stretch>
                  <a:fillRect b="-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84048" y="6401054"/>
                <a:ext cx="11423599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(PD22): Sub-20-min rows add PPM noise (327 with PPM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, max 6) on top of a rotation-player cloud — minutes floor cleans ability before hero / ASSIGN; empirical roster caps count season contributors, not NCAA dress-out 15.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401054"/>
                <a:ext cx="11423599" cy="430887"/>
              </a:xfrm>
              <a:prstGeom prst="rect">
                <a:avLst/>
              </a:prstGeom>
              <a:blipFill>
                <a:blip r:embed="rId5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6228</TotalTime>
  <Words>3571</Words>
  <Application>Microsoft Macintosh PowerPoint</Application>
  <PresentationFormat>Widescreen</PresentationFormat>
  <Paragraphs>173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Levine, Charles R CTR</dc:creator>
  <cp:lastModifiedBy>Levine, Charles R CTR</cp:lastModifiedBy>
  <cp:revision>35</cp:revision>
  <cp:lastPrinted>2026-08-17T17:48:22Z</cp:lastPrinted>
  <dcterms:created xsi:type="dcterms:W3CDTF">2026-08-13T17:32:16Z</dcterms:created>
  <dcterms:modified xsi:type="dcterms:W3CDTF">2026-08-18T02:25:19Z</dcterms:modified>
</cp:coreProperties>
</file>