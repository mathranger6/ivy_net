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Characterize </a:t>
            </a:r>
            <a:r>
              <a:rPr sz="2000" i="1">
                <a:latin typeface="Cambria Math"/>
              </a:rPr>
              <a:t>\gamma</a:t>
            </a:r>
            <a:r>
              <a:rPr sz="2000"/>
              <a:t> (viability sharpness) — selection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 i="1">
                <a:latin typeface="Cambria Math"/>
              </a:rPr>
              <a:t>\theta=0.72</a:t>
            </a:r>
            <a:r>
              <a:rPr sz="1000"/>
              <a:t> fixed; sort-and-chop assign</a:t>
            </a:r>
          </a:p>
          <a:p>
            <a:pPr>
              <a:spcAft>
                <a:spcPts val="0"/>
              </a:spcAft>
            </a:pPr>
            <a:r>
              <a:rPr sz="1000"/>
              <a:t>arms: </a:t>
            </a:r>
            <a:r>
              <a:rPr sz="1000" i="1">
                <a:latin typeface="Cambria Math"/>
              </a:rPr>
              <a:t>\gamma ∈ {5, 10, 20}</a:t>
            </a:r>
          </a:p>
          <a:p>
            <a:pPr>
              <a:spcAft>
                <a:spcPts val="0"/>
              </a:spcAft>
            </a:pPr>
            <a:r>
              <a:rPr sz="1000"/>
              <a:t>within each </a:t>
            </a:r>
            <a:r>
              <a:rPr sz="1000" i="1">
                <a:latin typeface="Cambria Math"/>
              </a:rPr>
              <a:t>\gamma</a:t>
            </a:r>
            <a:r>
              <a:rPr sz="1000"/>
              <a:t>: </a:t>
            </a:r>
            <a:r>
              <a:rPr sz="1000" i="1">
                <a:latin typeface="Cambria Math"/>
              </a:rPr>
              <a:t>λ ∈ {0, 0.25, 0.55, 0.75, 1.0}</a:t>
            </a:r>
          </a:p>
          <a:p>
            <a:pPr>
              <a:spcAft>
                <a:spcPts val="0"/>
              </a:spcAft>
            </a:pPr>
            <a:r>
              <a:rPr sz="1000"/>
              <a:t>VISUALIZE = mean </a:t>
            </a:r>
            <a:r>
              <a:rPr sz="1000" i="1">
                <a:latin typeface="Cambria Math"/>
              </a:rPr>
              <a:t>Y</a:t>
            </a:r>
            <a:r>
              <a:rPr sz="800" i="1" baseline="-25000">
                <a:latin typeface="Cambria Math"/>
              </a:rPr>
              <a:t>selected</a:t>
            </a:r>
            <a:r>
              <a:rPr sz="1000"/>
              <a:t> vs pool mean (</a:t>
            </a:r>
            <a:r>
              <a:rPr sz="1000" i="1">
                <a:latin typeface="Cambria Math"/>
              </a:rPr>
              <a:t>16</a:t>
            </a:r>
            <a:r>
              <a:rPr sz="1000"/>
              <a:t> bins)</a:t>
            </a:r>
          </a:p>
        </p:txBody>
      </p:sp>
      <p:pic>
        <p:nvPicPr>
          <p:cNvPr id="4" name="Picture 3" descr="GAMMA_sweep_lambda_curves_key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591" y="768096"/>
            <a:ext cx="3600201" cy="3895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Sort-and-chop benchmark: same rosters per </a:t>
            </a:r>
            <a:r>
              <a:rPr sz="900" i="1">
                <a:latin typeface="Cambria Math"/>
              </a:rPr>
              <a:t>\gamma</a:t>
            </a:r>
            <a:r>
              <a:rPr sz="900"/>
              <a:t>; only </a:t>
            </a:r>
            <a:r>
              <a:rPr sz="900" i="1">
                <a:latin typeface="Cambria Math"/>
              </a:rPr>
              <a:t>\gamma</a:t>
            </a:r>
            <a:r>
              <a:rPr sz="900"/>
              <a:t> and </a:t>
            </a:r>
            <a:r>
              <a:rPr sz="900" i="1">
                <a:latin typeface="Cambria Math"/>
              </a:rPr>
              <a:t>λ</a:t>
            </a:r>
            <a:r>
              <a:rPr sz="900"/>
              <a:t> in score change.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Figure uses key arms </a:t>
            </a:r>
            <a:r>
              <a:rPr sz="900" i="1">
                <a:latin typeface="Cambria Math"/>
              </a:rPr>
              <a:t>λ ∈ {0, 0.55, 1.0}</a:t>
            </a:r>
            <a:r>
              <a:rPr sz="900"/>
              <a:t> — full five-arm grid in \texttt{GAMMA\_sweep\_lambda\_curves.png}.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\gamma=5</a:t>
            </a:r>
            <a:r>
              <a:rPr sz="900"/>
              <a:t>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≈ 0.8</a:t>
            </a:r>
            <a:r>
              <a:rPr sz="900"/>
              <a:t> — hump needs larger </a:t>
            </a:r>
            <a:r>
              <a:rPr sz="900" i="1">
                <a:latin typeface="Cambria Math"/>
              </a:rPr>
              <a:t>λ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\gamma=10</a:t>
            </a:r>
            <a:r>
              <a:rPr sz="900"/>
              <a:t> (539):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 i="1">
                <a:latin typeface="Cambria Math"/>
              </a:rPr>
              <a:t>≈ 0.4</a:t>
            </a:r>
            <a:r>
              <a:rPr sz="900"/>
              <a:t> — curve morph near </a:t>
            </a:r>
            <a:r>
              <a:rPr sz="900" i="1">
                <a:latin typeface="Cambria Math"/>
              </a:rPr>
              <a:t>λ \gtrsim 0.4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Below crit: monotone elite-edge shape; above crit: inverted-</a:t>
            </a:r>
            <a:r>
              <a:rPr sz="900" i="1">
                <a:latin typeface="Cambria Math"/>
              </a:rPr>
              <a:t>U</a:t>
            </a:r>
            <a:r>
              <a:rPr sz="900"/>
              <a:t> / hump.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\gamma</a:t>
            </a:r>
            <a:r>
              <a:rPr sz="1100"/>
              <a:t> (sigmoid slope in </a:t>
            </a:r>
            <a:r>
              <a:rPr sz="1100" i="1">
                <a:latin typeface="Cambria Math"/>
              </a:rPr>
              <a:t>L</a:t>
            </a:r>
            <a:r>
              <a:rPr sz="900" i="1" baseline="-25000">
                <a:latin typeface="Cambria Math"/>
              </a:rPr>
              <a:t>C</a:t>
            </a:r>
            <a:r>
              <a:rPr sz="1100"/>
              <a:t>) shifts when congestion bites — higher </a:t>
            </a:r>
            <a:r>
              <a:rPr sz="1100" i="1">
                <a:latin typeface="Cambria Math"/>
              </a:rPr>
              <a:t>\gamma</a:t>
            </a:r>
            <a:r>
              <a:rPr sz="1100"/>
              <a:t> lowers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≈ 4/\gamma</a:t>
            </a:r>
            <a:r>
              <a:rPr sz="1100"/>
              <a:t> on sort-and-chop; below crit, </a:t>
            </a:r>
            <a:r>
              <a:rPr sz="1100" i="1">
                <a:latin typeface="Cambria Math"/>
              </a:rPr>
              <a:t>λ</a:t>
            </a:r>
            <a:r>
              <a:rPr sz="1100"/>
              <a:t> arms can look identical.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rPr sz="2000"/>
              <a:t>Phase B — </a:t>
            </a:r>
            <a:r>
              <a:rPr sz="2000" i="1">
                <a:latin typeface="Cambria Math"/>
              </a:rPr>
              <a:t>λ</a:t>
            </a:r>
            <a:r>
              <a:rPr sz="1800" i="1" baseline="-25000">
                <a:latin typeface="Cambria Math"/>
              </a:rPr>
              <a:t>crit</a:t>
            </a:r>
            <a:r>
              <a:rPr sz="2000" i="1">
                <a:latin typeface="Cambria Math"/>
              </a:rPr>
              <a:t> ≈ 4/\gamma</a:t>
            </a:r>
            <a:r>
              <a:rPr sz="2000"/>
              <a:t> (sort-and-chop algebra)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68096"/>
            <a:ext cx="416052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b="1"/>
            </a:pPr>
            <a:r>
              <a:rPr sz="1100"/>
              <a:t>Characterize </a:t>
            </a:r>
            <a:r>
              <a:rPr sz="1100" i="1">
                <a:latin typeface="Cambria Math"/>
              </a:rPr>
              <a:t>\gamma</a:t>
            </a:r>
            <a:r>
              <a:rPr sz="1100"/>
              <a:t> — one-at-a-time (539 sort-and-chop benchmark)</a:t>
            </a:r>
          </a:p>
          <a:p>
            <a:pPr>
              <a:spcAft>
                <a:spcPts val="0"/>
              </a:spcAft>
            </a:pPr>
            <a:r>
              <a:rPr sz="1100" i="1">
                <a:latin typeface="Cambria Math"/>
              </a:rPr>
              <a:t>σ(x) = 1/(1+e</a:t>
            </a:r>
            <a:r>
              <a:rPr sz="900" baseline="30000">
                <a:latin typeface="Cambria Math"/>
              </a:rPr>
              <a:t>-x</a:t>
            </a:r>
            <a:r>
              <a:rPr sz="1100" i="1">
                <a:latin typeface="Cambria Math"/>
              </a:rPr>
              <a:t>)</a:t>
            </a:r>
            <a:r>
              <a:rPr sz="1100"/>
              <a:t>, </a:t>
            </a:r>
            <a:r>
              <a:rPr sz="1100" i="1">
                <a:latin typeface="Cambria Math"/>
              </a:rPr>
              <a:t>x = \gamma(A-\theta)</a:t>
            </a:r>
          </a:p>
          <a:p>
            <a:pPr>
              <a:spcAft>
                <a:spcPts val="0"/>
              </a:spcAft>
            </a:pPr>
            <a:r>
              <a:rPr sz="1000"/>
              <a:t>Educational: how </a:t>
            </a:r>
            <a:r>
              <a:rPr sz="1000" i="1">
                <a:latin typeface="Cambria Math"/>
              </a:rPr>
              <a:t>\gamma</a:t>
            </a:r>
            <a:r>
              <a:rPr sz="1000"/>
              <a:t> shapes </a:t>
            </a:r>
            <a:r>
              <a:rPr sz="1000" i="1">
                <a:latin typeface="Cambria Math"/>
              </a:rPr>
              <a:t>L</a:t>
            </a:r>
            <a:r>
              <a:rPr sz="800" i="1" baseline="-25000">
                <a:latin typeface="Cambria Math"/>
              </a:rPr>
              <a:t>C</a:t>
            </a:r>
            <a:r>
              <a:rPr sz="1000"/>
              <a:t> along ability axis</a:t>
            </a:r>
          </a:p>
          <a:p>
            <a:pPr>
              <a:spcAft>
                <a:spcPts val="0"/>
              </a:spcAft>
            </a:pPr>
            <a:r>
              <a:rPr sz="1000"/>
              <a:t>vertical lines: </a:t>
            </a:r>
            <a:r>
              <a:rPr sz="10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1000" i="1">
                <a:latin typeface="Cambria Math"/>
              </a:rPr>
              <a:t> = 4/\gamma</a:t>
            </a:r>
            <a:r>
              <a:rPr sz="1000"/>
              <a:t> for each </a:t>
            </a:r>
            <a:r>
              <a:rPr sz="1000" i="1">
                <a:latin typeface="Cambria Math"/>
              </a:rPr>
              <a:t>\gamma</a:t>
            </a:r>
          </a:p>
          <a:p>
            <a:pPr>
              <a:spcAft>
                <a:spcPts val="0"/>
              </a:spcAft>
            </a:pPr>
            <a:r>
              <a:rPr sz="1000"/>
              <a:t>539 defaults: </a:t>
            </a:r>
            <a:r>
              <a:rPr sz="1000" i="1">
                <a:latin typeface="Cambria Math"/>
              </a:rPr>
              <a:t>\theta=0.72</a:t>
            </a:r>
            <a:r>
              <a:rPr sz="1000"/>
              <a:t>, </a:t>
            </a:r>
            <a:r>
              <a:rPr sz="1000" i="1">
                <a:latin typeface="Cambria Math"/>
              </a:rPr>
              <a:t>\gamma=10</a:t>
            </a:r>
            <a:r>
              <a:rPr sz="1000"/>
              <a:t> → crit </a:t>
            </a:r>
            <a:r>
              <a:rPr sz="1000" i="1">
                <a:latin typeface="Cambria Math"/>
              </a:rPr>
              <a:t>= 0.4</a:t>
            </a:r>
          </a:p>
          <a:p>
            <a:pPr>
              <a:spcAft>
                <a:spcPts val="0"/>
              </a:spcAft>
            </a:pPr>
            <a:r>
              <a:rPr sz="1000"/>
              <a:t>Pairs with sort-and-chop </a:t>
            </a:r>
            <a:r>
              <a:rPr sz="1000" i="1">
                <a:latin typeface="Cambria Math"/>
              </a:rPr>
              <a:t>λ</a:t>
            </a:r>
            <a:r>
              <a:rPr sz="1000"/>
              <a:t> threshold memo (doc 06)</a:t>
            </a:r>
          </a:p>
        </p:txBody>
      </p:sp>
      <p:pic>
        <p:nvPicPr>
          <p:cNvPr id="4" name="Picture 3" descr="LAMBDA_threshold_gamma_v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768096"/>
            <a:ext cx="7007047" cy="318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1728"/>
            <a:ext cx="1136873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Soft viability: </a:t>
            </a:r>
            <a:r>
              <a:rPr sz="900" i="1">
                <a:latin typeface="Cambria Math"/>
              </a:rPr>
              <a:t>σ(\gamma(A-\theta))</a:t>
            </a:r>
            <a:r>
              <a:rPr sz="900"/>
              <a:t> — not a hard step; </a:t>
            </a:r>
            <a:r>
              <a:rPr sz="900" i="1">
                <a:latin typeface="Cambria Math"/>
              </a:rPr>
              <a:t>\gamma</a:t>
            </a:r>
            <a:r>
              <a:rPr sz="900"/>
              <a:t> sets knee steepness.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On sort-and-chop, </a:t>
            </a:r>
            <a:r>
              <a:rPr sz="900" i="1">
                <a:latin typeface="Cambria Math"/>
              </a:rPr>
              <a:t>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\parallel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within teams → small </a:t>
            </a:r>
            <a:r>
              <a:rPr sz="900" i="1">
                <a:latin typeface="Cambria Math"/>
              </a:rPr>
              <a:t>λ</a:t>
            </a:r>
            <a:r>
              <a:rPr sz="900"/>
              <a:t> may not reorder top-</a:t>
            </a:r>
            <a:r>
              <a:rPr sz="900" i="1">
                <a:latin typeface="Cambria Math"/>
              </a:rPr>
              <a:t>K</a:t>
            </a:r>
            <a:r>
              <a:rPr sz="9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: first </a:t>
            </a:r>
            <a:r>
              <a:rPr sz="900" i="1">
                <a:latin typeface="Cambria Math"/>
              </a:rPr>
              <a:t>λ</a:t>
            </a:r>
            <a:r>
              <a:rPr sz="900"/>
              <a:t> where </a:t>
            </a:r>
            <a:r>
              <a:rPr sz="900" i="1">
                <a:latin typeface="Cambria Math"/>
              </a:rPr>
              <a:t>S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= A</a:t>
            </a:r>
            <a:r>
              <a:rPr sz="800" i="1" baseline="-25000">
                <a:latin typeface="Cambria Math"/>
              </a:rPr>
              <a:t>i</a:t>
            </a:r>
            <a:r>
              <a:rPr sz="900" i="1">
                <a:latin typeface="Cambria Math"/>
              </a:rPr>
              <a:t> - λ L</a:t>
            </a:r>
            <a:r>
              <a:rPr sz="800" i="1" baseline="-25000">
                <a:latin typeface="Cambria Math"/>
              </a:rPr>
              <a:t>C</a:t>
            </a:r>
            <a:r>
              <a:rPr sz="900"/>
              <a:t> changes who gets selected.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Visual curve departure in </a:t>
            </a:r>
            <a:r>
              <a:rPr sz="900" i="1">
                <a:latin typeface="Cambria Math"/>
              </a:rPr>
              <a:t>16</a:t>
            </a:r>
            <a:r>
              <a:rPr sz="900"/>
              <a:t> bins can lag </a:t>
            </a:r>
            <a:r>
              <a:rPr sz="900" i="1">
                <a:latin typeface="Cambria Math"/>
              </a:rPr>
              <a:t>λ</a:t>
            </a:r>
            <a:r>
              <a:rPr sz="800" i="1" baseline="-25000">
                <a:latin typeface="Cambria Math"/>
              </a:rPr>
              <a:t>crit</a:t>
            </a:r>
            <a:r>
              <a:rPr sz="900"/>
              <a:t> — use finer bins or check reorder.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/>
              <a:t>Ties to Alex Q: why </a:t>
            </a:r>
            <a:r>
              <a:rPr sz="900" i="1">
                <a:latin typeface="Cambria Math"/>
              </a:rPr>
              <a:t>λ=0</a:t>
            </a:r>
            <a:r>
              <a:rPr sz="900"/>
              <a:t> and </a:t>
            </a:r>
            <a:r>
              <a:rPr sz="900" i="1">
                <a:latin typeface="Cambria Math"/>
              </a:rPr>
              <a:t>λ=0.25</a:t>
            </a:r>
            <a:r>
              <a:rPr sz="900"/>
              <a:t> match until </a:t>
            </a:r>
            <a:r>
              <a:rPr sz="900" i="1">
                <a:latin typeface="Cambria Math"/>
              </a:rPr>
              <a:t>λ \gtrsim 4/\gamma</a:t>
            </a:r>
            <a:r>
              <a:rPr sz="90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1100"/>
              <a:t>Claim: </a:t>
            </a:r>
            <a:r>
              <a:rPr sz="1100" i="1">
                <a:latin typeface="Cambria Math"/>
              </a:rPr>
              <a:t>λ</a:t>
            </a:r>
            <a:r>
              <a:rPr sz="900" i="1" baseline="-25000">
                <a:latin typeface="Cambria Math"/>
              </a:rPr>
              <a:t>crit</a:t>
            </a:r>
            <a:r>
              <a:rPr sz="1100" i="1">
                <a:latin typeface="Cambria Math"/>
              </a:rPr>
              <a:t> ≈ 4/\gamma</a:t>
            </a:r>
            <a:r>
              <a:rPr sz="1100"/>
              <a:t> is the first </a:t>
            </a:r>
            <a:r>
              <a:rPr sz="1100" i="1">
                <a:latin typeface="Cambria Math"/>
              </a:rPr>
              <a:t>λ</a:t>
            </a:r>
            <a:r>
              <a:rPr sz="1100"/>
              <a:t> where score reorder beats talent-only on sort-and-chop — not when the curve visually departs from </a:t>
            </a:r>
            <a:r>
              <a:rPr sz="1100" i="1">
                <a:latin typeface="Cambria Math"/>
              </a:rPr>
              <a:t>λ=0</a:t>
            </a:r>
            <a:r>
              <a:rPr sz="1100"/>
              <a:t> in coarse bins.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