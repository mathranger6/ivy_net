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46304"/>
            <a:ext cx="1155161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/>
            </a:pPr>
            <a:r>
              <a:rPr sz="1600"/>
              <a:t>Phase B — Team </a:t>
            </a:r>
            <a:r>
              <a:rPr sz="1600" i="1">
                <a:latin typeface="Cambria Math"/>
              </a:rPr>
              <a:t>L</a:t>
            </a:r>
            <a:r>
              <a:rPr sz="1400" i="1" baseline="-25000">
                <a:latin typeface="Cambria Math"/>
              </a:rPr>
              <a:t>C</a:t>
            </a:r>
            <a:r>
              <a:rPr sz="1600"/>
              <a:t> vs </a:t>
            </a:r>
            <a:r>
              <a:rPr sz="1600" i="1">
                <a:latin typeface="Cambria Math"/>
              </a:rPr>
              <a:t>ρ</a:t>
            </a:r>
            <a:r>
              <a:rPr sz="1600"/>
              <a:t> (PD16 Sketch A) -- How Congestion alone (</a:t>
            </a:r>
            <a:r>
              <a:rPr sz="1600" i="1">
                <a:latin typeface="Cambria Math"/>
              </a:rPr>
              <a:t>L</a:t>
            </a:r>
            <a:r>
              <a:rPr sz="1400" i="1" baseline="-25000">
                <a:latin typeface="Cambria Math"/>
              </a:rPr>
              <a:t>C</a:t>
            </a:r>
            <a:r>
              <a:rPr sz="1600"/>
              <a:t>) varies with change in </a:t>
            </a:r>
            <a:r>
              <a:rPr sz="1600" i="1">
                <a:latin typeface="Cambria Math"/>
              </a:rPr>
              <a:t>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40080"/>
            <a:ext cx="1155161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PD16: team </a:t>
            </a:r>
            <a:r>
              <a:rPr sz="9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900"/>
              <a:t>; </a:t>
            </a:r>
            <a:r>
              <a:rPr sz="900" i="1">
                <a:latin typeface="Cambria Math"/>
              </a:rPr>
              <a:t>\theta</a:t>
            </a:r>
            <a:r>
              <a:rPr sz="900"/>
              <a:t> = 0.804 (naive draft); suffix=_pd16 · 48 bins · 350 teams · seed 42</a:t>
            </a:r>
          </a:p>
        </p:txBody>
      </p:sp>
      <p:pic>
        <p:nvPicPr>
          <p:cNvPr id="4" name="Picture 3" descr="LC_distribution_vs_rho_1d_strip_pd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709049376445"/>
            <a:ext cx="11551615" cy="65399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" y="4648868121600"/>
            <a:ext cx="372861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low </a:t>
            </a:r>
            <a:r>
              <a:rPr sz="900" i="1">
                <a:latin typeface="Cambria Math"/>
              </a:rPr>
              <a:t>ρ</a:t>
            </a:r>
            <a:r>
              <a:rPr sz="900"/>
              <a:t> = one narrow spike near </a:t>
            </a:r>
            <a:r>
              <a:rPr sz="9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900" i="1">
                <a:latin typeface="Cambria Math"/>
              </a:rPr>
              <a:t>≈ 0.15</a:t>
            </a:r>
            <a:r>
              <a:rPr sz="900"/>
              <a:t>. First 3 panels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31538" y="4648868121600"/>
            <a:ext cx="372861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High </a:t>
            </a:r>
            <a:r>
              <a:rPr sz="900" i="1">
                <a:latin typeface="Cambria Math"/>
              </a:rPr>
              <a:t>ρ</a:t>
            </a:r>
            <a:r>
              <a:rPr sz="900"/>
              <a:t> = mass at </a:t>
            </a:r>
            <a:r>
              <a:rPr sz="9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900" i="1">
                <a:latin typeface="Cambria Math"/>
              </a:rPr>
              <a:t>≈ 0</a:t>
            </a:r>
            <a:r>
              <a:rPr sz="900"/>
              <a:t> (weak rosters) + second hump at elite </a:t>
            </a:r>
            <a:r>
              <a:rPr sz="9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43036" y="4648868121600"/>
            <a:ext cx="372861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At </a:t>
            </a:r>
            <a:r>
              <a:rPr sz="900" i="1">
                <a:latin typeface="Cambria Math"/>
              </a:rPr>
              <a:t>ρ=32</a:t>
            </a:r>
            <a:r>
              <a:rPr sz="900"/>
              <a:t>: </a:t>
            </a:r>
            <a:r>
              <a:rPr sz="900" i="1">
                <a:latin typeface="Cambria Math"/>
              </a:rPr>
              <a:t>48\%</a:t>
            </a:r>
            <a:r>
              <a:rPr sz="900"/>
              <a:t> of teams below </a:t>
            </a:r>
            <a:r>
              <a:rPr sz="9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900" i="1">
                <a:latin typeface="Cambria Math"/>
              </a:rPr>
              <a:t>=0.05</a:t>
            </a:r>
            <a:r>
              <a:rPr sz="900"/>
              <a:t> - weak rosters - almost no peer pressure.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5292686188800"/>
            <a:ext cx="635338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900"/>
              <a:t>Of Note: The mean </a:t>
            </a:r>
            <a:r>
              <a:rPr sz="9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900"/>
              <a:t> is almost identical for all plots, hovering </a:t>
            </a:r>
            <a:r>
              <a:rPr sz="900" i="1">
                <a:latin typeface="Cambria Math"/>
              </a:rPr>
              <a:t>≈ .15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080760"/>
            <a:ext cx="1155161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000"/>
              <a:t>Claim: </a:t>
            </a:r>
            <a:r>
              <a:rPr sz="1000" i="1">
                <a:latin typeface="Cambria Math"/>
              </a:rPr>
              <a:t>ρ</a:t>
            </a:r>
            <a:r>
              <a:rPr sz="1000"/>
              <a:t> stratifies team congestion across the league — low-</a:t>
            </a:r>
            <a:r>
              <a:rPr sz="1000" i="1">
                <a:latin typeface="Cambria Math"/>
              </a:rPr>
              <a:t>ρ</a:t>
            </a:r>
            <a:r>
              <a:rPr sz="1000"/>
              <a:t> mixing yields one narrow </a:t>
            </a:r>
            <a:r>
              <a:rPr sz="10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1000"/>
              <a:t> hump; high-</a:t>
            </a:r>
            <a:r>
              <a:rPr sz="1000" i="1">
                <a:latin typeface="Cambria Math"/>
              </a:rPr>
              <a:t>ρ</a:t>
            </a:r>
            <a:r>
              <a:rPr sz="1000"/>
              <a:t> assortativity piles weak teams at </a:t>
            </a:r>
            <a:r>
              <a:rPr sz="10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1000" i="1">
                <a:latin typeface="Cambria Math"/>
              </a:rPr>
              <a:t>≈ 0</a:t>
            </a:r>
            <a:r>
              <a:rPr sz="1000"/>
              <a:t> and elite rosters at higher </a:t>
            </a:r>
            <a:r>
              <a:rPr sz="10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100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46304"/>
            <a:ext cx="1155161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/>
            </a:pPr>
            <a:r>
              <a:rPr sz="1600"/>
              <a:t>Phase B — Realized </a:t>
            </a:r>
            <a:r>
              <a:rPr sz="1600" i="1">
                <a:latin typeface="Cambria Math"/>
              </a:rPr>
              <a:t>T</a:t>
            </a:r>
            <a:r>
              <a:rPr sz="1400" i="1" baseline="-25000">
                <a:latin typeface="Cambria Math"/>
              </a:rPr>
              <a:t>j</a:t>
            </a:r>
            <a:r>
              <a:rPr sz="1600"/>
              <a:t> vs </a:t>
            </a:r>
            <a:r>
              <a:rPr sz="1600" i="1">
                <a:latin typeface="Cambria Math"/>
              </a:rPr>
              <a:t>L</a:t>
            </a:r>
            <a:r>
              <a:rPr sz="1400" i="1" baseline="-25000">
                <a:latin typeface="Cambria Math"/>
              </a:rPr>
              <a:t>C</a:t>
            </a:r>
            <a:r>
              <a:rPr sz="1600"/>
              <a:t> (PD16 Sketch A — co-movement) -- Team talent </a:t>
            </a:r>
            <a:r>
              <a:rPr sz="1600" i="1">
                <a:latin typeface="Cambria Math"/>
              </a:rPr>
              <a:t>T</a:t>
            </a:r>
            <a:r>
              <a:rPr sz="1400" i="1" baseline="-25000">
                <a:latin typeface="Cambria Math"/>
              </a:rPr>
              <a:t>j</a:t>
            </a:r>
            <a:r>
              <a:rPr sz="1600"/>
              <a:t> vs congestion (</a:t>
            </a:r>
            <a:r>
              <a:rPr sz="1600" i="1">
                <a:latin typeface="Cambria Math"/>
              </a:rPr>
              <a:t>L</a:t>
            </a:r>
            <a:r>
              <a:rPr sz="1400" i="1" baseline="-25000">
                <a:latin typeface="Cambria Math"/>
              </a:rPr>
              <a:t>C</a:t>
            </a:r>
            <a:r>
              <a:rPr sz="1600"/>
              <a:t>) as </a:t>
            </a:r>
            <a:r>
              <a:rPr sz="1600" i="1">
                <a:latin typeface="Cambria Math"/>
              </a:rPr>
              <a:t>ρ</a:t>
            </a:r>
            <a:r>
              <a:rPr sz="1600"/>
              <a:t> varies.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40080"/>
            <a:ext cx="1155161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PD16: team </a:t>
            </a:r>
            <a:r>
              <a:rPr sz="9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900"/>
              <a:t>; </a:t>
            </a:r>
            <a:r>
              <a:rPr sz="900" i="1">
                <a:latin typeface="Cambria Math"/>
              </a:rPr>
              <a:t>\theta</a:t>
            </a:r>
            <a:r>
              <a:rPr sz="900"/>
              <a:t> = 0.804 (naive draft); suffix=_pd16 · 48 bins · 350 teams · seed 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19404812800"/>
            <a:ext cx="2880360" cy="467395194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Each cell: # teams at (realized </a:t>
            </a:r>
            <a:r>
              <a:rPr sz="9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</a:t>
            </a:r>
            <a:r>
              <a:rPr sz="900"/>
              <a:t>, team </a:t>
            </a:r>
            <a:r>
              <a:rPr sz="9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900"/>
              <a:t>).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Color = count.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Low </a:t>
            </a:r>
            <a:r>
              <a:rPr sz="900" i="1">
                <a:latin typeface="Cambria Math"/>
              </a:rPr>
              <a:t>ρ</a:t>
            </a:r>
            <a:r>
              <a:rPr sz="900"/>
              <a:t>: compact blob — </a:t>
            </a:r>
            <a:r>
              <a:rPr sz="9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</a:t>
            </a:r>
            <a:r>
              <a:rPr sz="900"/>
              <a:t> and congestion barely co-vary.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High </a:t>
            </a:r>
            <a:r>
              <a:rPr sz="900" i="1">
                <a:latin typeface="Cambria Math"/>
              </a:rPr>
              <a:t>ρ</a:t>
            </a:r>
            <a:r>
              <a:rPr sz="900"/>
              <a:t>: upward tail — as </a:t>
            </a:r>
            <a:r>
              <a:rPr sz="9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</a:t>
            </a:r>
            <a:r>
              <a:rPr sz="900"/>
              <a:t> rises, </a:t>
            </a:r>
            <a:r>
              <a:rPr sz="9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900"/>
              <a:t> rises.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Weak rosters at high </a:t>
            </a:r>
            <a:r>
              <a:rPr sz="900" i="1">
                <a:latin typeface="Cambria Math"/>
              </a:rPr>
              <a:t>ρ</a:t>
            </a:r>
            <a:r>
              <a:rPr sz="900"/>
              <a:t>: low </a:t>
            </a:r>
            <a:r>
              <a:rPr sz="9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</a:t>
            </a:r>
            <a:r>
              <a:rPr sz="900"/>
              <a:t> + low </a:t>
            </a:r>
            <a:r>
              <a:rPr sz="9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Elite rosters: high </a:t>
            </a:r>
            <a:r>
              <a:rPr sz="9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</a:t>
            </a:r>
            <a:r>
              <a:rPr sz="900"/>
              <a:t> + high </a:t>
            </a:r>
            <a:r>
              <a:rPr sz="9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900"/>
              <a:t>.</a:t>
            </a:r>
          </a:p>
        </p:txBody>
      </p:sp>
      <p:pic>
        <p:nvPicPr>
          <p:cNvPr id="5" name="Picture 4" descr="LC_distribution_vs_rho_2d_pd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3156378269873"/>
            <a:ext cx="8488375" cy="50282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080760"/>
            <a:ext cx="1155161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000"/>
              <a:t>Claim: at high </a:t>
            </a:r>
            <a:r>
              <a:rPr sz="1000" i="1">
                <a:latin typeface="Cambria Math"/>
              </a:rPr>
              <a:t>ρ</a:t>
            </a:r>
            <a:r>
              <a:rPr sz="1000"/>
              <a:t>, better teams systematically face more peer pressure — the upward cloud in realized </a:t>
            </a:r>
            <a:r>
              <a:rPr sz="10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</a:t>
            </a:r>
            <a:r>
              <a:rPr sz="1000"/>
              <a:t> vs </a:t>
            </a:r>
            <a:r>
              <a:rPr sz="10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1000"/>
              <a:t>. That gives </a:t>
            </a:r>
            <a:r>
              <a:rPr sz="1000" i="1">
                <a:latin typeface="Cambria Math"/>
              </a:rPr>
              <a:t>ρ</a:t>
            </a:r>
            <a:r>
              <a:rPr sz="1000"/>
              <a:t> a model-internal read beyond “the Pass C selection plot moved.”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