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Characterize </a:t>
            </a:r>
            <a:r>
              <a:rPr sz="2000" i="1">
                <a:latin typeface="Cambria Math"/>
              </a:rPr>
              <a:t>λ</a:t>
            </a:r>
            <a:r>
              <a:rPr sz="2000"/>
              <a:t> (weight on </a:t>
            </a:r>
            <a:r>
              <a:rPr sz="2000" i="1">
                <a:latin typeface="Cambria Math"/>
              </a:rPr>
              <a:t>L</a:t>
            </a:r>
            <a:r>
              <a:rPr sz="1800" i="1" baseline="-25000">
                <a:latin typeface="Cambria Math"/>
              </a:rPr>
              <a:t>C</a:t>
            </a:r>
            <a:r>
              <a:rPr sz="2000"/>
              <a:t> in score)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68096"/>
            <a:ext cx="416052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b="1"/>
            </a:pPr>
            <a:r>
              <a:rPr sz="1100"/>
              <a:t>Characterize </a:t>
            </a:r>
            <a:r>
              <a:rPr sz="1100" i="1">
                <a:latin typeface="Cambria Math"/>
              </a:rPr>
              <a:t>λ</a:t>
            </a:r>
            <a:r>
              <a:rPr sz="1100"/>
              <a:t> — one-at-a-time at 539 baseline (assign + top-</a:t>
            </a:r>
            <a:r>
              <a:rPr sz="1100" i="1">
                <a:latin typeface="Cambria Math"/>
              </a:rPr>
              <a:t>K</a:t>
            </a:r>
            <a:r>
              <a:rPr sz="1100"/>
              <a:t> fixed)</a:t>
            </a:r>
          </a:p>
          <a:p>
            <a:pPr>
              <a:spcAft>
                <a:spcPts val="0"/>
              </a:spcAft>
            </a:pPr>
            <a:r>
              <a:rPr sz="1200" i="1">
                <a:latin typeface="Cambria Math"/>
              </a:rPr>
              <a:t>S</a:t>
            </a:r>
            <a:r>
              <a:rPr sz="1000" i="1" baseline="-25000">
                <a:latin typeface="Cambria Math"/>
              </a:rPr>
              <a:t>i</a:t>
            </a:r>
            <a:r>
              <a:rPr sz="1200" i="1">
                <a:latin typeface="Cambria Math"/>
              </a:rPr>
              <a:t> = A</a:t>
            </a:r>
            <a:r>
              <a:rPr sz="1000" i="1" baseline="-25000">
                <a:latin typeface="Cambria Math"/>
              </a:rPr>
              <a:t>i</a:t>
            </a:r>
            <a:r>
              <a:rPr sz="1200" i="1">
                <a:latin typeface="Cambria Math"/>
              </a:rPr>
              <a:t> - λ · L</a:t>
            </a:r>
            <a:r>
              <a:rPr sz="1000" i="1" baseline="-25000">
                <a:latin typeface="Cambria Math"/>
              </a:rPr>
              <a:t>C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ρ=8</a:t>
            </a:r>
            <a:r>
              <a:rPr sz="1000"/>
              <a:t> fixed (soft assign; same roster all arms)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σ=0.65</a:t>
            </a:r>
            <a:r>
              <a:rPr sz="1000"/>
              <a:t> fixed</a:t>
            </a:r>
          </a:p>
          <a:p>
            <a:pPr>
              <a:spcAft>
                <a:spcPts val="0"/>
              </a:spcAft>
            </a:pPr>
            <a:r>
              <a:rPr sz="1000"/>
              <a:t>arms: </a:t>
            </a:r>
            <a:r>
              <a:rPr sz="1000" i="1">
                <a:latin typeface="Cambria Math"/>
              </a:rPr>
              <a:t>λ ∈ {0, 0.25, 0.55, 1}</a:t>
            </a:r>
          </a:p>
          <a:p>
            <a:pPr>
              <a:spcAft>
                <a:spcPts val="0"/>
              </a:spcAft>
            </a:pPr>
            <a:r>
              <a:rPr sz="1000"/>
              <a:t>top-</a:t>
            </a:r>
            <a:r>
              <a:rPr sz="1000" i="1">
                <a:latin typeface="Cambria Math"/>
              </a:rPr>
              <a:t>K</a:t>
            </a:r>
            <a:r>
              <a:rPr sz="1000"/>
              <a:t> by </a:t>
            </a:r>
            <a:r>
              <a:rPr sz="1000" i="1">
                <a:latin typeface="Cambria Math"/>
              </a:rPr>
              <a:t>S</a:t>
            </a:r>
            <a:r>
              <a:rPr sz="800" i="1" baseline="-25000">
                <a:latin typeface="Cambria Math"/>
              </a:rPr>
              <a:t>i</a:t>
            </a:r>
          </a:p>
          <a:p>
            <a:pPr>
              <a:spcAft>
                <a:spcPts val="0"/>
              </a:spcAft>
            </a:pPr>
            <a:r>
              <a:rPr sz="1000"/>
              <a:t>VISUALIZE = mean </a:t>
            </a:r>
            <a:r>
              <a:rPr sz="1000" i="1">
                <a:latin typeface="Cambria Math"/>
              </a:rPr>
              <a:t>Y</a:t>
            </a:r>
            <a:r>
              <a:rPr sz="800" i="1" baseline="-25000">
                <a:latin typeface="Cambria Math"/>
              </a:rPr>
              <a:t>selected</a:t>
            </a:r>
            <a:r>
              <a:rPr sz="1000"/>
              <a:t> vs pool mean (</a:t>
            </a:r>
            <a:r>
              <a:rPr sz="1000" i="1">
                <a:latin typeface="Cambria Math"/>
              </a:rPr>
              <a:t>16</a:t>
            </a:r>
            <a:r>
              <a:rPr sz="1000"/>
              <a:t> bins)</a:t>
            </a:r>
          </a:p>
        </p:txBody>
      </p:sp>
      <p:pic>
        <p:nvPicPr>
          <p:cNvPr id="4" name="Picture 3" descr="PASS_B_lambda_ablation_selection_by_pool_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759" y="768096"/>
            <a:ext cx="6325864" cy="3895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681728"/>
            <a:ext cx="1136873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OAT: one draw of </a:t>
            </a:r>
            <a:r>
              <a:rPr sz="900" i="1">
                <a:latin typeface="Cambria Math"/>
              </a:rPr>
              <a:t>A</a:t>
            </a:r>
            <a:r>
              <a:rPr sz="800" i="1" baseline="-25000">
                <a:latin typeface="Cambria Math"/>
              </a:rPr>
              <a:t>i</a:t>
            </a:r>
            <a:r>
              <a:rPr sz="900"/>
              <a:t>, </a:t>
            </a:r>
            <a:r>
              <a:rPr sz="900" i="1">
                <a:latin typeface="Cambria Math"/>
              </a:rPr>
              <a:t>T</a:t>
            </a:r>
            <a:r>
              <a:rPr sz="800" i="1" baseline="-25000">
                <a:latin typeface="Cambria Math"/>
              </a:rPr>
              <a:t>j^*</a:t>
            </a:r>
            <a:r>
              <a:rPr sz="900"/>
              <a:t> + one assignment (seed </a:t>
            </a:r>
            <a:r>
              <a:rPr sz="900" i="1">
                <a:latin typeface="Cambria Math"/>
              </a:rPr>
              <a:t>42</a:t>
            </a:r>
            <a:r>
              <a:rPr sz="900"/>
              <a:t>); only SCORE changes.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λ=0</a:t>
            </a:r>
            <a:r>
              <a:rPr sz="900"/>
              <a:t>: </a:t>
            </a:r>
            <a:r>
              <a:rPr sz="900" i="1">
                <a:latin typeface="Cambria Math"/>
              </a:rPr>
              <a:t>S</a:t>
            </a:r>
            <a:r>
              <a:rPr sz="800" i="1" baseline="-25000">
                <a:latin typeface="Cambria Math"/>
              </a:rPr>
              <a:t>i</a:t>
            </a:r>
            <a:r>
              <a:rPr sz="900" i="1">
                <a:latin typeface="Cambria Math"/>
              </a:rPr>
              <a:t> = A</a:t>
            </a:r>
            <a:r>
              <a:rPr sz="800" i="1" baseline="-25000">
                <a:latin typeface="Cambria Math"/>
              </a:rPr>
              <a:t>i</a:t>
            </a:r>
            <a:r>
              <a:rPr sz="900"/>
              <a:t> only — selection vs pool mean stays roughly monotone.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λ&gt;0</a:t>
            </a:r>
            <a:r>
              <a:rPr sz="900"/>
              <a:t>: congestion in score — inverted-</a:t>
            </a:r>
            <a:r>
              <a:rPr sz="900" i="1">
                <a:latin typeface="Cambria Math"/>
              </a:rPr>
              <a:t>U</a:t>
            </a:r>
            <a:r>
              <a:rPr sz="900"/>
              <a:t> / roster-pressure readout emerges.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Pairs with Pass C: </a:t>
            </a:r>
            <a:r>
              <a:rPr sz="900" i="1">
                <a:latin typeface="Cambria Math"/>
              </a:rPr>
              <a:t>λ</a:t>
            </a:r>
            <a:r>
              <a:rPr sz="900"/>
              <a:t> bends score; </a:t>
            </a:r>
            <a:r>
              <a:rPr sz="900" i="1">
                <a:latin typeface="Cambria Math"/>
              </a:rPr>
              <a:t>ρ</a:t>
            </a:r>
            <a:r>
              <a:rPr sz="900"/>
              <a:t> shapes the sorted roster world.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71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100"/>
              <a:t>Claim: at fixed </a:t>
            </a:r>
            <a:r>
              <a:rPr sz="1100" i="1">
                <a:latin typeface="Cambria Math"/>
              </a:rPr>
              <a:t>ρ</a:t>
            </a:r>
            <a:r>
              <a:rPr sz="1100"/>
              <a:t> and top-</a:t>
            </a:r>
            <a:r>
              <a:rPr sz="1100" i="1">
                <a:latin typeface="Cambria Math"/>
              </a:rPr>
              <a:t>K</a:t>
            </a:r>
            <a:r>
              <a:rPr sz="1100"/>
              <a:t>, </a:t>
            </a:r>
            <a:r>
              <a:rPr sz="1100" i="1">
                <a:latin typeface="Cambria Math"/>
              </a:rPr>
              <a:t>λ</a:t>
            </a:r>
            <a:r>
              <a:rPr sz="1100"/>
              <a:t> in score matters — </a:t>
            </a:r>
            <a:r>
              <a:rPr sz="1100" i="1">
                <a:latin typeface="Cambria Math"/>
              </a:rPr>
              <a:t>λ=0</a:t>
            </a:r>
            <a:r>
              <a:rPr sz="1100"/>
              <a:t> yields a roughly monotone talent ladder; </a:t>
            </a:r>
            <a:r>
              <a:rPr sz="1100" i="1">
                <a:latin typeface="Cambria Math"/>
              </a:rPr>
              <a:t>λ&gt;0</a:t>
            </a:r>
            <a:r>
              <a:rPr sz="1100"/>
              <a:t> puts roster pressure in the advancement rule and bends the curve.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