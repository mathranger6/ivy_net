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λ</a:t>
            </a:r>
            <a:r>
              <a:rPr sz="2000"/>
              <a:t> (congestion in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λ</a:t>
            </a:r>
            <a:r>
              <a:rPr sz="1100"/>
              <a:t> — one-at-a-time at 539 baseline (assign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</a:pPr>
            <a:r>
              <a:rPr sz="1200" i="1">
                <a:latin typeface="Cambria Math"/>
              </a:rPr>
              <a:t>S</a:t>
            </a:r>
            <a:r>
              <a:rPr sz="1000" i="1" baseline="-25000">
                <a:latin typeface="Cambria Math"/>
              </a:rPr>
              <a:t>i</a:t>
            </a:r>
            <a:r>
              <a:rPr sz="1200" i="1">
                <a:latin typeface="Cambria Math"/>
              </a:rPr>
              <a:t> = A</a:t>
            </a:r>
            <a:r>
              <a:rPr sz="1000" i="1" baseline="-25000">
                <a:latin typeface="Cambria Math"/>
              </a:rPr>
              <a:t>i</a:t>
            </a:r>
            <a:r>
              <a:rPr sz="1200" i="1">
                <a:latin typeface="Cambria Math"/>
              </a:rPr>
              <a:t> - λ · L</a:t>
            </a:r>
            <a:r>
              <a:rPr sz="1000" i="1" baseline="-25000">
                <a:latin typeface="Cambria Math"/>
              </a:rPr>
              <a:t>C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 fixed (soft assign; same roster all arms)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σ=0.65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λ ∈ {0, 0.25, 0.55, 1}</a:t>
            </a:r>
          </a:p>
          <a:p>
            <a:pPr>
              <a:spcAft>
                <a:spcPts val="0"/>
              </a:spcAft>
            </a:pPr>
            <a:r>
              <a:rPr sz="1000"/>
              <a:t>top-</a:t>
            </a:r>
            <a:r>
              <a:rPr sz="1000" i="1">
                <a:latin typeface="Cambria Math"/>
              </a:rPr>
              <a:t>K</a:t>
            </a:r>
            <a:r>
              <a:rPr sz="1000"/>
              <a:t> by </a:t>
            </a:r>
            <a:r>
              <a:rPr sz="10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PASS_B_lambda_ablation_selection_by_poo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759" y="768096"/>
            <a:ext cx="6325864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one draw of </a:t>
            </a:r>
            <a:r>
              <a:rPr sz="900" i="1">
                <a:latin typeface="Cambria Math"/>
              </a:rPr>
              <a:t>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, </a:t>
            </a:r>
            <a:r>
              <a:rPr sz="900" i="1">
                <a:latin typeface="Cambria Math"/>
              </a:rPr>
              <a:t>T</a:t>
            </a:r>
            <a:r>
              <a:rPr sz="800" i="1" baseline="-25000">
                <a:latin typeface="Cambria Math"/>
              </a:rPr>
              <a:t>j</a:t>
            </a:r>
            <a:r>
              <a:rPr sz="900"/>
              <a:t> + one assignment (seed </a:t>
            </a:r>
            <a:r>
              <a:rPr sz="900" i="1">
                <a:latin typeface="Cambria Math"/>
              </a:rPr>
              <a:t>42</a:t>
            </a:r>
            <a:r>
              <a:rPr sz="900"/>
              <a:t>); only SCORE changes.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λ=0</a:t>
            </a:r>
            <a:r>
              <a:rPr sz="900"/>
              <a:t>: </a:t>
            </a:r>
            <a:r>
              <a:rPr sz="900" i="1">
                <a:latin typeface="Cambria Math"/>
              </a:rPr>
              <a:t>S</a:t>
            </a:r>
            <a:r>
              <a:rPr sz="800" i="1" baseline="-25000">
                <a:latin typeface="Cambria Math"/>
              </a:rPr>
              <a:t>i</a:t>
            </a:r>
            <a:r>
              <a:rPr sz="900" i="1">
                <a:latin typeface="Cambria Math"/>
              </a:rPr>
              <a:t> = A</a:t>
            </a:r>
            <a:r>
              <a:rPr sz="800" i="1" baseline="-25000">
                <a:latin typeface="Cambria Math"/>
              </a:rPr>
              <a:t>i</a:t>
            </a:r>
            <a:r>
              <a:rPr sz="900"/>
              <a:t> only — selection vs pool mean stays roughly monotone.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λ&gt;0</a:t>
            </a:r>
            <a:r>
              <a:rPr sz="900"/>
              <a:t>: congestion in score — inverted-</a:t>
            </a:r>
            <a:r>
              <a:rPr sz="900" i="1">
                <a:latin typeface="Cambria Math"/>
              </a:rPr>
              <a:t>U</a:t>
            </a:r>
            <a:r>
              <a:rPr sz="900"/>
              <a:t> / roster-pressure readout emerges.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Pairs with Pass C: </a:t>
            </a:r>
            <a:r>
              <a:rPr sz="900" i="1">
                <a:latin typeface="Cambria Math"/>
              </a:rPr>
              <a:t>λ</a:t>
            </a:r>
            <a:r>
              <a:rPr sz="900"/>
              <a:t> bends score; </a:t>
            </a:r>
            <a:r>
              <a:rPr sz="900" i="1">
                <a:latin typeface="Cambria Math"/>
              </a:rPr>
              <a:t>ρ</a:t>
            </a:r>
            <a:r>
              <a:rPr sz="900"/>
              <a:t> shapes the sorted roster world.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</a:t>
            </a:r>
            <a:r>
              <a:rPr sz="1100" i="1">
                <a:latin typeface="Cambria Math"/>
              </a:rPr>
              <a:t>ρ</a:t>
            </a:r>
            <a:r>
              <a:rPr sz="1100"/>
              <a:t> and top-</a:t>
            </a:r>
            <a:r>
              <a:rPr sz="1100" i="1">
                <a:latin typeface="Cambria Math"/>
              </a:rPr>
              <a:t>K</a:t>
            </a:r>
            <a:r>
              <a:rPr sz="1100"/>
              <a:t>, </a:t>
            </a:r>
            <a:r>
              <a:rPr sz="1100" i="1">
                <a:latin typeface="Cambria Math"/>
              </a:rPr>
              <a:t>λ</a:t>
            </a:r>
            <a:r>
              <a:rPr sz="1100"/>
              <a:t> in score matters — </a:t>
            </a:r>
            <a:r>
              <a:rPr sz="1100" i="1">
                <a:latin typeface="Cambria Math"/>
              </a:rPr>
              <a:t>λ=0</a:t>
            </a:r>
            <a:r>
              <a:rPr sz="1100"/>
              <a:t> yields a roughly monotone talent ladder; </a:t>
            </a:r>
            <a:r>
              <a:rPr sz="1100" i="1">
                <a:latin typeface="Cambria Math"/>
              </a:rPr>
              <a:t>λ&gt;0</a:t>
            </a:r>
            <a:r>
              <a:rPr sz="1100"/>
              <a:t> puts roster pressure in the advancement rule and bends the curve.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