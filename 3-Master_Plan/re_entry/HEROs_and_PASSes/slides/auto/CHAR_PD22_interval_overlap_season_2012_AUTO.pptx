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737"/>
    <p:restoredTop sz="94636"/>
  </p:normalViewPr>
  <p:slideViewPr>
    <p:cSldViewPr snapToGrid="0" snapToObjects="1">
      <p:cViewPr varScale="1">
        <p:scale>
          <a:sx n="171" d="100"/>
          <a:sy n="171" d="100"/>
        </p:scale>
        <p:origin x="184" y="3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PD22_interval_overlap_season_20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0394" y="996029"/>
            <a:ext cx="7059602" cy="547369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384048" y="219456"/>
            <a:ext cx="1142359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i="0" baseline="0">
                <a:latin typeface="Calibri"/>
              </a:rPr>
              <a:t>PD22 — team interval overlap · season 2012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/>
              <p:cNvSpPr txBox="1"/>
              <p:nvPr/>
            </p:nvSpPr>
            <p:spPr>
              <a:xfrm>
                <a:off x="384048" y="713232"/>
                <a:ext cx="5225598" cy="246221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sz="1000" b="0" i="0" baseline="0" dirty="0">
                    <a:latin typeface="Calibri"/>
                  </a:rPr>
                  <a:t>PD22 item 10 · season 2012 · min 20 min drop panel · 345 team-seasons ·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sort</m:t>
                        </m:r>
                      </m:sub>
                    </m:sSub>
                    <m:r>
                      <a:rPr lang="en-US" sz="1000" b="0" i="0" baseline="0" dirty="0">
                        <a:latin typeface="Cambria Math" panose="02040503050406030204" pitchFamily="18" charset="0"/>
                      </a:rPr>
                      <m:t>=0.071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·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p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1000" b="0" i="0" baseline="0" dirty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sz="1000" b="0" i="0" baseline="0" dirty="0">
                  <a:latin typeface="Calibri"/>
                </a:endParaRPr>
              </a:p>
            </p:txBody>
          </p:sp>
        </mc:Choice>
        <mc:Fallback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8" y="713232"/>
                <a:ext cx="5225598" cy="246221"/>
              </a:xfrm>
              <a:prstGeom prst="rect">
                <a:avLst/>
              </a:prstGeom>
              <a:blipFill>
                <a:blip r:embed="rId3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465824" y="1136161"/>
                <a:ext cx="4384570" cy="290611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PD22 item 10: single-season interval overlap — </a:t>
                </a:r>
                <a:endParaRPr lang="en-US" sz="1000" b="0" i="0" baseline="0" dirty="0">
                  <a:latin typeface="Calibri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sz="1000" dirty="0">
                    <a:latin typeface="Calibri"/>
                  </a:rPr>
                  <a:t>      </a:t>
                </a:r>
                <a:r>
                  <a:rPr sz="1000" b="0" i="0" baseline="0" dirty="0">
                    <a:latin typeface="Calibri"/>
                  </a:rPr>
                  <a:t>season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2,012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only (not pooled).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Box QC at panel build: drop dash-name placeholders; </a:t>
                </a:r>
                <a:endParaRPr lang="en-US" sz="1000" b="0" i="0" baseline="0" dirty="0">
                  <a:latin typeface="Calibri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sz="1000" dirty="0">
                    <a:latin typeface="Calibri"/>
                  </a:rPr>
                  <a:t>      </a:t>
                </a:r>
                <a:r>
                  <a:rPr sz="1000" b="0" i="0" baseline="0" dirty="0">
                    <a:latin typeface="Calibri"/>
                  </a:rPr>
                  <a:t>keep team-seasons with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≥11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distinct games in box (frozen CSV untouched).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Bracket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p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sz="1000" b="0" i="0" baseline="0" dirty="0">
                    <a:latin typeface="Calibri"/>
                  </a:rPr>
                  <a:t> (drop-at-20):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0.000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·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sort</m:t>
                        </m:r>
                      </m:sub>
                    </m:sSub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=0.0709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Each team-season: talent window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sz="1000" b="0" i="0" baseline="0" dirty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1000" b="0" i="0" baseline="0" dirty="0">
                                <a:latin typeface="Cambria Math" panose="02040503050406030204" pitchFamily="18" charset="0"/>
                              </a:rPr>
                              <m:t>min</m:t>
                            </m:r>
                          </m:fName>
                          <m:e>
                            <m:sSub>
                              <m:sSubPr>
                                <m:ctrlPr>
                                  <a:rPr lang="en-US" sz="1000" b="0" i="0" baseline="0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ˆ"/>
                                    <m:ctrlPr>
                                      <a:rPr lang="en-US" sz="1000" b="0" i="0" baseline="0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1000" b="0" i="0" baseline="0" dirty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sz="1000" b="0" i="0" baseline="0" dirty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func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,</m:t>
                        </m:r>
                        <m:func>
                          <m:funcPr>
                            <m:ctrlPr>
                              <a:rPr lang="en-US" sz="1000" b="0" i="0" baseline="0" dirty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1000" b="0" i="0" baseline="0" dirty="0">
                                <a:latin typeface="Cambria Math" panose="02040503050406030204" pitchFamily="18" charset="0"/>
                              </a:rPr>
                              <m:t>max</m:t>
                            </m:r>
                          </m:fName>
                          <m:e>
                            <m:sSub>
                              <m:sSubPr>
                                <m:ctrlPr>
                                  <a:rPr lang="en-US" sz="1000" b="0" i="0" baseline="0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ˆ"/>
                                    <m:ctrlPr>
                                      <a:rPr lang="en-US" sz="1000" b="0" i="0" baseline="0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1000" b="0" i="0" baseline="0" dirty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sz="1000" b="0" i="0" baseline="0" dirty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func>
                      </m:e>
                    </m:d>
                  </m:oMath>
                </a14:m>
                <a:r>
                  <a:rPr sz="1000" b="0" i="0" baseline="0" dirty="0">
                    <a:latin typeface="Calibri"/>
                  </a:rPr>
                  <a:t> on PPM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Top-left: coverage along spectrum; </a:t>
                </a:r>
                <a:endParaRPr lang="en-US" sz="1000" b="0" i="0" baseline="0" dirty="0">
                  <a:latin typeface="Calibri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sz="1000" dirty="0">
                    <a:latin typeface="Calibri"/>
                  </a:rPr>
                  <a:t>      </a:t>
                </a:r>
                <a:r>
                  <a:rPr sz="1000" b="0" i="0" baseline="0" dirty="0">
                    <a:latin typeface="Calibri"/>
                  </a:rPr>
                  <a:t>crimson dashed = disjoint sort-and-chop benchmark.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Bottom: roster intervals sorted by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ˆ"/>
                            <m:ctrlPr>
                              <a:rPr lang="en-US" sz="1000" b="0" i="0" baseline="0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000" b="0" i="0" baseline="0" dirty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</m:acc>
                      </m:e>
                      <m:sub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sz="1000" b="0" i="0" baseline="0" dirty="0">
                    <a:latin typeface="Calibri"/>
                  </a:rPr>
                  <a:t> — stacking = overlap.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p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1000" b="0" i="0" baseline="0" dirty="0">
                        <a:latin typeface="Cambria Math" panose="02040503050406030204" pitchFamily="18" charset="0"/>
                      </a:rPr>
                      <m:t>≈0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but overlap structure remains — bracket fit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≠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visual absence of sorting.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Paired compare window — match season span to LG sim slide.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VECTOR lock: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𝑠𝑜𝑟𝑡</m:t>
                        </m:r>
                      </m:sub>
                    </m:sSub>
                  </m:oMath>
                </a14:m>
                <a:r>
                  <a:rPr sz="1000" b="0" i="0" baseline="0" dirty="0">
                    <a:latin typeface="Calibri"/>
                  </a:rPr>
                  <a:t> is realized sorting — not the generative homophily knob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824" y="1136161"/>
                <a:ext cx="4384570" cy="2906117"/>
              </a:xfrm>
              <a:prstGeom prst="rect">
                <a:avLst/>
              </a:prstGeom>
              <a:blipFill>
                <a:blip r:embed="rId4"/>
                <a:stretch>
                  <a:fillRect b="-4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384048" y="6439903"/>
                <a:ext cx="11423599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1100" b="1" i="0" baseline="0" dirty="0">
                    <a:latin typeface="Calibri"/>
                  </a:rPr>
                  <a:t>Claim (PD22): Single-season overlap diagnostic — does talent-window stacking persist when bracket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100" b="1" i="0" baseline="0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100" b="1" i="0" baseline="0" dirty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p>
                        <m:r>
                          <a:rPr lang="en-US" sz="1100" b="1" i="0" baseline="0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1100" b="1" i="0" baseline="0" dirty="0">
                        <a:latin typeface="Cambria Math" panose="02040503050406030204" pitchFamily="18" charset="0"/>
                      </a:rPr>
                      <m:t>≈0</m:t>
                    </m:r>
                  </m:oMath>
                </a14:m>
                <a:r>
                  <a:rPr sz="1100" b="1" i="0" baseline="0" dirty="0">
                    <a:latin typeface="Calibri"/>
                  </a:rPr>
                  <a:t>?</a:t>
                </a:r>
              </a:p>
            </p:txBody>
          </p:sp>
        </mc:Choice>
        <mc:Fallback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8" y="6439903"/>
                <a:ext cx="11423599" cy="261610"/>
              </a:xfrm>
              <a:prstGeom prst="rect">
                <a:avLst/>
              </a:prstGeom>
              <a:blipFill>
                <a:blip r:embed="rId5"/>
                <a:stretch>
                  <a:fillRect b="-1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189</Words>
  <Application>Microsoft Macintosh PowerPoint</Application>
  <PresentationFormat>Widescreen</PresentationFormat>
  <Paragraphs>15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Cambria Math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Levine, Charles R CTR</cp:lastModifiedBy>
  <cp:revision>2</cp:revision>
  <dcterms:created xsi:type="dcterms:W3CDTF">2013-01-27T09:14:16Z</dcterms:created>
  <dcterms:modified xsi:type="dcterms:W3CDTF">2026-08-18T14:25:02Z</dcterms:modified>
  <cp:category/>
</cp:coreProperties>
</file>