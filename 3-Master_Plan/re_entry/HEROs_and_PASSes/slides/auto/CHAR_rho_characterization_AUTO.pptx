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ρ</a:t>
            </a:r>
            <a:r>
              <a:rPr sz="2000"/>
              <a:t> (assignment assortativity) — sort-and-chop shown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ρ</a:t>
            </a:r>
            <a:r>
              <a:rPr sz="1100"/>
              <a:t> — one-at-a-time at 539 baseline (score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  <a:defRPr sz="1000" b="1"/>
            </a:pPr>
            <a:r>
              <a:t>ASSIGN (knob ρ) — LaTeX:</a:t>
            </a:r>
          </a:p>
          <a:p>
            <a:pPr>
              <a:spcAft>
                <a:spcPts val="0"/>
              </a:spcAft>
            </a:pPr>
            <a:r>
              <a:rPr sz="1000">
                <a:latin typeface="Calibri"/>
              </a:rPr>
              <a:t>\pi_{ij} \propto \exp\left(-\rho \cdot \frac{(A_i-T_{j^*})^2}{2\sigma^2}\right)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σ=0.65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ρ ∈ {0.001, 1, 8, 32}</a:t>
            </a:r>
            <a:r>
              <a:rPr sz="1000"/>
              <a:t> + sort-and-chop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  <a:r>
              <a:rPr sz="1000" i="1">
                <a:latin typeface="Cambria Math"/>
              </a:rPr>
              <a:t> = A</a:t>
            </a:r>
            <a:r>
              <a:rPr sz="800" i="1" baseline="-25000">
                <a:latin typeface="Cambria Math"/>
              </a:rPr>
              <a:t>i</a:t>
            </a:r>
            <a:r>
              <a:rPr sz="1000" i="1">
                <a:latin typeface="Cambria Math"/>
              </a:rPr>
              <a:t> - 0.55 · 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(crowding in score held constant across arms)</a:t>
            </a:r>
          </a:p>
          <a:p>
            <a:pPr>
              <a:spcAft>
                <a:spcPts val="0"/>
              </a:spcAft>
            </a:pPr>
            <a:r>
              <a:rPr sz="1000"/>
              <a:t>top-</a:t>
            </a:r>
            <a:r>
              <a:rPr sz="1000" i="1">
                <a:latin typeface="Cambria Math"/>
              </a:rPr>
              <a:t>K</a:t>
            </a:r>
            <a:r>
              <a:rPr sz="1000"/>
              <a:t> by </a:t>
            </a: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PASS_C_rho_ablation_selection_by_pool_mean_with_sortc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376" y="768096"/>
            <a:ext cx="5228631" cy="3511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97680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one draw of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,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900"/>
              <a:t> (seed </a:t>
            </a:r>
            <a:r>
              <a:rPr sz="900" i="1">
                <a:latin typeface="Cambria Math"/>
              </a:rPr>
              <a:t>42</a:t>
            </a:r>
            <a:r>
              <a:rPr sz="900"/>
              <a:t>); only ASSIGN changes across arms.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Low </a:t>
            </a:r>
            <a:r>
              <a:rPr sz="900" i="1">
                <a:latin typeface="Cambria Math"/>
              </a:rPr>
              <a:t>ρ</a:t>
            </a:r>
            <a:r>
              <a:rPr sz="900"/>
              <a:t>: rosters mix —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nearly uniform; curve tilts up weakly (no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High </a:t>
            </a:r>
            <a:r>
              <a:rPr sz="900" i="1">
                <a:latin typeface="Cambria Math"/>
              </a:rPr>
              <a:t>ρ</a:t>
            </a:r>
            <a:r>
              <a:rPr sz="900"/>
              <a:t>: assortative matching — flat bottom bins, interior peak, top-bin dip.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Sort-and-chop benchmark: hard rank match (same score rule as soft arms).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586984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/>
              <a:t>Why </a:t>
            </a:r>
            <a:r>
              <a:rPr sz="1000" i="1">
                <a:latin typeface="Cambria Math"/>
              </a:rPr>
              <a:t>ρ</a:t>
            </a:r>
            <a:r>
              <a:rPr sz="1000"/>
              <a:t> matters here: assignment assortativity sets how spread out team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is across the league — at </a:t>
            </a:r>
            <a:r>
              <a:rPr sz="1000" i="1">
                <a:latin typeface="Cambria Math"/>
              </a:rPr>
              <a:t>ρ ≈ 0</a:t>
            </a:r>
            <a:r>
              <a:rPr sz="1000"/>
              <a:t> (arm </a:t>
            </a:r>
            <a:r>
              <a:rPr sz="1000" i="1">
                <a:latin typeface="Cambria Math"/>
              </a:rPr>
              <a:t>0.001</a:t>
            </a:r>
            <a:r>
              <a:rPr sz="1000"/>
              <a:t>) rosters mix and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is nearly uniform; selection still tilts up pool-mean bins because global top-</a:t>
            </a:r>
            <a:r>
              <a:rPr sz="1000" i="1">
                <a:latin typeface="Cambria Math"/>
              </a:rPr>
              <a:t>K</a:t>
            </a:r>
            <a:r>
              <a:rPr sz="1000"/>
              <a:t> favors better players on stronger teams (see doc 08). At high </a:t>
            </a:r>
            <a:r>
              <a:rPr sz="1000" i="1">
                <a:latin typeface="Cambria Math"/>
              </a:rPr>
              <a:t>ρ</a:t>
            </a:r>
            <a:r>
              <a:rPr sz="1000"/>
              <a:t> weak teams pile up near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 i="1">
                <a:latin typeface="Cambria Math"/>
              </a:rPr>
              <a:t> ≈ 0</a:t>
            </a:r>
            <a:r>
              <a:rPr sz="1000"/>
              <a:t> while elite rosters face real congestion — the inverted-</a:t>
            </a:r>
            <a:r>
              <a:rPr sz="1000" i="1">
                <a:latin typeface="Cambria Math"/>
              </a:rPr>
              <a:t>U</a:t>
            </a:r>
            <a:r>
              <a:rPr sz="1000"/>
              <a:t> emerges.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score and top-</a:t>
            </a:r>
            <a:r>
              <a:rPr sz="1100" i="1">
                <a:latin typeface="Cambria Math"/>
              </a:rPr>
              <a:t>K</a:t>
            </a:r>
            <a:r>
              <a:rPr sz="1100"/>
              <a:t>, </a:t>
            </a:r>
            <a:r>
              <a:rPr sz="1100" i="1">
                <a:latin typeface="Cambria Math"/>
              </a:rPr>
              <a:t>ρ</a:t>
            </a:r>
            <a:r>
              <a:rPr sz="1100"/>
              <a:t> in assignment matters — low-</a:t>
            </a:r>
            <a:r>
              <a:rPr sz="1100" i="1">
                <a:latin typeface="Cambria Math"/>
              </a:rPr>
              <a:t>ρ</a:t>
            </a:r>
            <a:r>
              <a:rPr sz="1100"/>
              <a:t> mixing yields a weak monotone tilt (no inverted-</a:t>
            </a:r>
            <a:r>
              <a:rPr sz="1100" i="1">
                <a:latin typeface="Cambria Math"/>
              </a:rPr>
              <a:t>U</a:t>
            </a:r>
            <a:r>
              <a:rPr sz="1100"/>
              <a:t>); high-</a:t>
            </a:r>
            <a:r>
              <a:rPr sz="1100" i="1">
                <a:latin typeface="Cambria Math"/>
              </a:rPr>
              <a:t>ρ</a:t>
            </a:r>
            <a:r>
              <a:rPr sz="1100"/>
              <a:t> assortativity delivers the peer-pressure inverted-</a:t>
            </a:r>
            <a:r>
              <a:rPr sz="1100" i="1">
                <a:latin typeface="Cambria Math"/>
              </a:rPr>
              <a:t>U</a:t>
            </a:r>
            <a:r>
              <a:rPr sz="1100"/>
              <a:t> readout.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ρ</a:t>
            </a:r>
            <a:r>
              <a:rPr sz="2000"/>
              <a:t> (assignment assortativity) — sort-and-chop suppressed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ρ</a:t>
            </a:r>
            <a:r>
              <a:rPr sz="1100"/>
              <a:t> — one-at-a-time at 539 baseline (score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  <a:defRPr sz="1000" b="1"/>
            </a:pPr>
            <a:r>
              <a:t>ASSIGN (knob ρ) — LaTeX:</a:t>
            </a:r>
          </a:p>
          <a:p>
            <a:pPr>
              <a:spcAft>
                <a:spcPts val="0"/>
              </a:spcAft>
            </a:pPr>
            <a:r>
              <a:rPr sz="1000">
                <a:latin typeface="Calibri"/>
              </a:rPr>
              <a:t>\pi_{ij} \propto \exp\left(-\rho \cdot \frac{(A_i-T_{j^*})^2}{2\sigma^2}\right)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σ=0.65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ρ ∈ {0.001, 1, 8, 32}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  <a:r>
              <a:rPr sz="1000" i="1">
                <a:latin typeface="Cambria Math"/>
              </a:rPr>
              <a:t> = A</a:t>
            </a:r>
            <a:r>
              <a:rPr sz="800" i="1" baseline="-25000">
                <a:latin typeface="Cambria Math"/>
              </a:rPr>
              <a:t>i</a:t>
            </a:r>
            <a:r>
              <a:rPr sz="1000" i="1">
                <a:latin typeface="Cambria Math"/>
              </a:rPr>
              <a:t> - 0.55 · 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(crowding in score held constant across arms)</a:t>
            </a:r>
          </a:p>
          <a:p>
            <a:pPr>
              <a:spcAft>
                <a:spcPts val="0"/>
              </a:spcAft>
            </a:pPr>
            <a:r>
              <a:rPr sz="1000"/>
              <a:t>top-</a:t>
            </a:r>
            <a:r>
              <a:rPr sz="1000" i="1">
                <a:latin typeface="Cambria Math"/>
              </a:rPr>
              <a:t>K</a:t>
            </a:r>
            <a:r>
              <a:rPr sz="1000"/>
              <a:t> by </a:t>
            </a: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PASS_C_rho_ablation_selection_by_pool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779" y="768096"/>
            <a:ext cx="5345824" cy="3511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97680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one draw of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,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900"/>
              <a:t> (seed </a:t>
            </a:r>
            <a:r>
              <a:rPr sz="900" i="1">
                <a:latin typeface="Cambria Math"/>
              </a:rPr>
              <a:t>42</a:t>
            </a:r>
            <a:r>
              <a:rPr sz="900"/>
              <a:t>); only ASSIGN changes across arms.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Low </a:t>
            </a:r>
            <a:r>
              <a:rPr sz="900" i="1">
                <a:latin typeface="Cambria Math"/>
              </a:rPr>
              <a:t>ρ</a:t>
            </a:r>
            <a:r>
              <a:rPr sz="900"/>
              <a:t>: rosters mix — </a:t>
            </a:r>
            <a:r>
              <a:rPr sz="9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nearly uniform; curve tilts up weakly (no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High </a:t>
            </a:r>
            <a:r>
              <a:rPr sz="900" i="1">
                <a:latin typeface="Cambria Math"/>
              </a:rPr>
              <a:t>ρ</a:t>
            </a:r>
            <a:r>
              <a:rPr sz="900"/>
              <a:t>: assortative matching — flat bottom bins, interior peak, top-bin dip.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Sort-and-chop arm omitted from plot (still in CSV bundle; toggle restores it).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586984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/>
              <a:t>Why </a:t>
            </a:r>
            <a:r>
              <a:rPr sz="1000" i="1">
                <a:latin typeface="Cambria Math"/>
              </a:rPr>
              <a:t>ρ</a:t>
            </a:r>
            <a:r>
              <a:rPr sz="1000"/>
              <a:t> matters here: assignment assortativity sets how spread out team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is across the league — at </a:t>
            </a:r>
            <a:r>
              <a:rPr sz="1000" i="1">
                <a:latin typeface="Cambria Math"/>
              </a:rPr>
              <a:t>ρ ≈ 0</a:t>
            </a:r>
            <a:r>
              <a:rPr sz="1000"/>
              <a:t> (arm </a:t>
            </a:r>
            <a:r>
              <a:rPr sz="1000" i="1">
                <a:latin typeface="Cambria Math"/>
              </a:rPr>
              <a:t>0.001</a:t>
            </a:r>
            <a:r>
              <a:rPr sz="1000"/>
              <a:t>) rosters mix and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is nearly uniform; selection still tilts up pool-mean bins because global top-</a:t>
            </a:r>
            <a:r>
              <a:rPr sz="1000" i="1">
                <a:latin typeface="Cambria Math"/>
              </a:rPr>
              <a:t>K</a:t>
            </a:r>
            <a:r>
              <a:rPr sz="1000"/>
              <a:t> favors better players on stronger teams (see doc 08). At high </a:t>
            </a:r>
            <a:r>
              <a:rPr sz="1000" i="1">
                <a:latin typeface="Cambria Math"/>
              </a:rPr>
              <a:t>ρ</a:t>
            </a:r>
            <a:r>
              <a:rPr sz="1000"/>
              <a:t> weak teams pile up near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 i="1">
                <a:latin typeface="Cambria Math"/>
              </a:rPr>
              <a:t> ≈ 0</a:t>
            </a:r>
            <a:r>
              <a:rPr sz="1000"/>
              <a:t> while elite rosters face real congestion — the inverted-</a:t>
            </a:r>
            <a:r>
              <a:rPr sz="1000" i="1">
                <a:latin typeface="Cambria Math"/>
              </a:rPr>
              <a:t>U</a:t>
            </a:r>
            <a:r>
              <a:rPr sz="1000"/>
              <a:t> emerges.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score and top-</a:t>
            </a:r>
            <a:r>
              <a:rPr sz="1100" i="1">
                <a:latin typeface="Cambria Math"/>
              </a:rPr>
              <a:t>K</a:t>
            </a:r>
            <a:r>
              <a:rPr sz="1100"/>
              <a:t>, </a:t>
            </a:r>
            <a:r>
              <a:rPr sz="1100" i="1">
                <a:latin typeface="Cambria Math"/>
              </a:rPr>
              <a:t>ρ</a:t>
            </a:r>
            <a:r>
              <a:rPr sz="1100"/>
              <a:t> in assignment matters — low-</a:t>
            </a:r>
            <a:r>
              <a:rPr sz="1100" i="1">
                <a:latin typeface="Cambria Math"/>
              </a:rPr>
              <a:t>ρ</a:t>
            </a:r>
            <a:r>
              <a:rPr sz="1100"/>
              <a:t> mixing yields a weak monotone tilt (no inverted-</a:t>
            </a:r>
            <a:r>
              <a:rPr sz="1100" i="1">
                <a:latin typeface="Cambria Math"/>
              </a:rPr>
              <a:t>U</a:t>
            </a:r>
            <a:r>
              <a:rPr sz="1100"/>
              <a:t>); high-</a:t>
            </a:r>
            <a:r>
              <a:rPr sz="1100" i="1">
                <a:latin typeface="Cambria Math"/>
              </a:rPr>
              <a:t>ρ</a:t>
            </a:r>
            <a:r>
              <a:rPr sz="1100"/>
              <a:t> assortativity delivers the peer-pressure inverted-</a:t>
            </a:r>
            <a:r>
              <a:rPr sz="1100" i="1">
                <a:latin typeface="Cambria Math"/>
              </a:rPr>
              <a:t>U</a:t>
            </a:r>
            <a:r>
              <a:rPr sz="1100"/>
              <a:t> readout.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