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PD17 — Empirical MBB characterization (real rosters, not curve fitting)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49808"/>
            <a:ext cx="5806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 baseline="0">
                <a:latin typeface="Calibri"/>
              </a:rPr>
              <a:t>Symbols (mini glossary)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4048" y="1024128"/>
          <a:ext cx="5806439" cy="5065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030"/>
                <a:gridCol w="1741932"/>
                <a:gridCol w="3135477"/>
              </a:tblGrid>
              <a:tr h="506577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 i="0" baseline="0">
                          <a:latin typeface="Calibri"/>
                        </a:rPr>
                        <a:t>Symbol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 i="0" baseline="0">
                          <a:latin typeface="Calibri"/>
                        </a:rPr>
                        <a:t>Plain name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1" i="0" baseline="0">
                          <a:latin typeface="Calibri"/>
                        </a:rPr>
                        <a:t>On this deck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506577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\hat{A}_{i}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Player ability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800" b="0" i="0" baseline="0">
                          <a:latin typeface="Calibri"/>
                        </a:rPr>
                        <a:t>PPM z within season (filtered panel)</a:t>
                      </a:r>
                    </a:p>
                  </a:txBody>
                  <a:tcPr anchor="ctr"/>
                </a:tc>
              </a:tr>
              <a:tr h="506577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\hat{T}_{j}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Realized team talent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800" b="0" i="0" baseline="0">
                          <a:latin typeface="Calibri"/>
                        </a:rPr>
                        <a:t>Mean \hat{A}_{i} on roster — not T_{j^*}</a:t>
                      </a:r>
                    </a:p>
                  </a:txBody>
                  <a:tcPr anchor="ctr"/>
                </a:tc>
              </a:tr>
              <a:tr h="506577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T_{j^*}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Sim assignment target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800" b="0" i="0" baseline="0">
                          <a:latin typeface="Calibri"/>
                        </a:rPr>
                        <a:t>Pass B only — not observed in NCAA data</a:t>
                      </a:r>
                    </a:p>
                  </a:txBody>
                  <a:tcPr anchor="ctr"/>
                </a:tc>
              </a:tr>
              <a:tr h="506577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\rho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Assignment assortativity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800" b="0" i="0" baseline="0">
                          <a:latin typeface="Calibri"/>
                        </a:rPr>
                        <a:t>Sim soft-match knob; overlap forensics on data</a:t>
                      </a:r>
                    </a:p>
                  </a:txBody>
                  <a:tcPr anchor="ctr"/>
                </a:tc>
              </a:tr>
              <a:tr h="506577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L_C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Team congestion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800" b="0" i="0" baseline="0">
                          <a:latin typeface="Calibri"/>
                        </a:rPr>
                        <a:t>mean_j \sigma(\gamma(\hat{A}_{j} - \theta)) per roster</a:t>
                      </a:r>
                    </a:p>
                  </a:txBody>
                  <a:tcPr anchor="ctr"/>
                </a:tc>
              </a:tr>
              <a:tr h="506577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\lambda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Congestion weight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800" b="0" i="0" baseline="0">
                          <a:latin typeface="Calibri"/>
                        </a:rPr>
                        <a:t>Score S_i = A_i - \lambda L_C (sim / later on data)</a:t>
                      </a:r>
                    </a:p>
                  </a:txBody>
                  <a:tcPr anchor="ctr"/>
                </a:tc>
              </a:tr>
              <a:tr h="506577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\theta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Viability cutline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800" b="0" i="0" baseline="0">
                          <a:latin typeface="Calibri"/>
                        </a:rPr>
                        <a:t>F^{-1}_{\hat{A}}(1-K/N) on empirical \hat{A}_{i}</a:t>
                      </a:r>
                    </a:p>
                  </a:txBody>
                  <a:tcPr anchor="ctr"/>
                </a:tc>
              </a:tr>
              <a:tr h="506577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\gamma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Sigmoid sharpness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800" b="0" i="0" baseline="0">
                          <a:latin typeface="Calibri"/>
                        </a:rPr>
                        <a:t>Reshapes team L_C — 539 placeholder until lock</a:t>
                      </a:r>
                    </a:p>
                  </a:txBody>
                  <a:tcPr anchor="ctr"/>
                </a:tc>
              </a:tr>
              <a:tr h="506583"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K/N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900" b="0" i="0" baseline="0">
                          <a:latin typeface="Calibri"/>
                        </a:rPr>
                        <a:t>Draft rate</a:t>
                      </a:r>
                    </a:p>
                  </a:txBody>
                  <a:tcPr anchor="ctr"/>
                </a:tc>
                <a:tc>
                  <a:txBody>
                    <a:bodyPr wrap="square" lIns="50800" rIns="50800" tIns="25400" bIns="25400"/>
                    <a:lstStyle/>
                    <a:p>
                      <a:r>
                        <a:rPr sz="800" b="0" i="0" baseline="0">
                          <a:latin typeface="Calibri"/>
                        </a:rPr>
                        <a:t>Accepted / total in filtered panel (\approx 1.8\%)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46520" y="749808"/>
            <a:ext cx="536112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baseline="0">
                <a:latin typeface="Calibri"/>
              </a:rPr>
              <a:t>How to read slides 2–7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005840"/>
            <a:ext cx="5361127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Pipeline on real MBB 2011–2021: ASSIGN (overlap) \rightarrow SCORE (L_C, \gamma) \rightarrow later SELECT.</a:t>
            </a:r>
          </a:p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Phase B deck (separate): same pipeline in a fake league — characterization, not NCAA fit.</a:t>
            </a:r>
          </a:p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Filters: PPM z within season, min 20 min, poolq winsor 0.01–0.99, all teams.</a:t>
            </a:r>
          </a:p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Not curve-fitting to the hero yet — descriptive inputs Alex asked for before pinning \rho, \theta, \gamma, \lambda.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496312"/>
            <a:ext cx="536112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baseline="0">
                <a:latin typeface="Calibri"/>
              </a:rPr>
              <a:t>Deck map (assign \rightarrow score)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752344"/>
            <a:ext cx="5361127" cy="331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Slide 2 — \hat{A}_{i}, \hat{T}_{j} inputs</a:t>
            </a:r>
          </a:p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Slide 3 — team interval overlap (\rho diagnostic, 530 CELL 8)</a:t>
            </a:r>
          </a:p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Slide 4 — team L_C distribution</a:t>
            </a:r>
          </a:p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Slide 5 — Sketch A: \hat{T}_{j} vs L_C</a:t>
            </a:r>
          </a:p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Slide 6 — \gamma sweep on real rosters</a:t>
            </a:r>
          </a:p>
          <a:p>
            <a:pPr>
              <a:buChar char="•"/>
              <a:lnSpc>
                <a:spcPct val="150000"/>
              </a:lnSpc>
            </a:pPr>
            <a:r>
              <a:rPr sz="1000" b="0" i="0" baseline="0">
                <a:latin typeface="Calibri"/>
              </a:rPr>
              <a:t>  Slide 7 — sim \rho vs empirical coverage (optional add)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6089904"/>
            <a:ext cx="11423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(PD17): Map empirical properties of real rosters — prerequisite for pinning \rho and \theta from data, then \gamma and \lambda without hero-curve matching.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