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28"/>
    <p:restoredTop sz="94637"/>
  </p:normalViewPr>
  <p:slideViewPr>
    <p:cSldViewPr snapToGrid="0" snapToObjects="1">
      <p:cViewPr varScale="1">
        <p:scale>
          <a:sx n="192" d="100"/>
          <a:sy n="192" d="100"/>
        </p:scale>
        <p:origin x="200" y="17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Grandchild sim — team \hat{A}_{i} interval overlap (2015-2019)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/>
              <p:cNvSpPr txBox="1"/>
              <p:nvPr/>
            </p:nvSpPr>
            <p:spPr>
              <a:xfrm>
                <a:off x="384048" y="713232"/>
                <a:ext cx="5853077" cy="246221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/>
              <a:p>
                <a:r>
                  <a:rPr sz="1000" b="0" i="0" baseline="0" dirty="0">
                    <a:latin typeface="Calibri"/>
                  </a:rPr>
                  <a:t>MBB 2015-2019 · Grandchild ASSIGN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·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=30,345</m:t>
                    </m:r>
                  </m:oMath>
                </a14:m>
                <a:r>
                  <a:rPr lang="en-US" sz="1000" b="0" i="0" dirty="0">
                    <a:latin typeface="Calibri"/>
                  </a:rPr>
                  <a:t>  </a:t>
                </a:r>
                <a:r>
                  <a:rPr sz="1000" b="0" i="0" baseline="0" dirty="0"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2,023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team-seasons ·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=0.146</m:t>
                    </m:r>
                  </m:oMath>
                </a14:m>
                <a:endParaRPr sz="1000" b="0" i="0" baseline="0" dirty="0">
                  <a:latin typeface="Calibri"/>
                </a:endParaRPr>
              </a:p>
            </p:txBody>
          </p:sp>
        </mc:Choice>
        <mc:Fallback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8" y="713232"/>
                <a:ext cx="5853077" cy="246221"/>
              </a:xfrm>
              <a:prstGeom prst="rect">
                <a:avLst/>
              </a:prstGeom>
              <a:blipFill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GRANDCHILD_league_interval_overlap_2015_20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7579" y="1033272"/>
            <a:ext cx="6523276" cy="49834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84047" y="1280160"/>
                <a:ext cx="4565639" cy="27040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/>
                  <a:t> Each team-season: talent window [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1000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000" dirty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sSub>
                          <m:sSubPr>
                            <m:ctrlPr>
                              <a:rPr lang="ar-AE" sz="1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ˆ"/>
                                <m:ctrlPr>
                                  <a:rPr lang="ar-AE" sz="1000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sz="1000" dirty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ar-AE" sz="1000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  <m:r>
                      <a:rPr lang="ar-AE" sz="1000" dirty="0">
                        <a:latin typeface="Cambria Math" panose="02040503050406030204" pitchFamily="18" charset="0"/>
                      </a:rPr>
                      <m:t>,</m:t>
                    </m:r>
                    <m:func>
                      <m:funcPr>
                        <m:ctrlPr>
                          <a:rPr lang="en-US" sz="1000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1000" dirty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sSub>
                          <m:sSubPr>
                            <m:ctrlPr>
                              <a:rPr lang="ar-AE" sz="1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ˆ"/>
                                <m:ctrlPr>
                                  <a:rPr lang="ar-AE" sz="1000" dirty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sz="1000" dirty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</m:acc>
                          </m:e>
                          <m:sub>
                            <m:r>
                              <a:rPr lang="ar-AE" sz="1000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func>
                  </m:oMath>
                </a14:m>
                <a:r>
                  <a:rPr lang="ar-AE" sz="1000" dirty="0"/>
                  <a:t>] </a:t>
                </a:r>
                <a:r>
                  <a:rPr lang="en-US" sz="1000" dirty="0"/>
                  <a:t>on PPM z.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lang="en-US" sz="1000" dirty="0"/>
                  <a:t>  Coverage = how many windows cover a point on the spectrum (530 CELL 8).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Grandchild ASSIGN: \rho=0.5, endogenous \</a:t>
                </a:r>
                <a:r>
                  <a:rPr sz="1000" b="0" i="0" baseline="0" dirty="0" err="1">
                    <a:latin typeface="Calibri"/>
                  </a:rPr>
                  <a:t>mu_j</a:t>
                </a:r>
                <a:r>
                  <a:rPr sz="1000" b="0" i="0" baseline="0" dirty="0">
                    <a:latin typeface="Calibri"/>
                  </a:rPr>
                  <a:t> — no T_{j^*}.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Red dashed: disjoint sort-and-chop on same player pool (537 B analog).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=1−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𝜇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d>
                                      <m:dPr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/</m:t>
                    </m:r>
                    <m:nary>
                      <m:naryPr>
                        <m:chr m:val="∑"/>
                        <m:limLoc m:val="undOvr"/>
                        <m:supHide m:val="on"/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sSup>
                          <m:sSupPr>
                            <m:ctrlP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ˆ"/>
                                        <m:ctrlP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000" b="0" i="0" baseline="0" dirty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sz="1000" b="0" i="0" baseline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000" b="0" i="0" baseline="0" dirty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sz="1000" b="0" i="0" baseline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sz="1000" b="0" i="0" baseline="0" dirty="0">
                    <a:latin typeface="Calibri"/>
                  </a:rPr>
                  <a:t> — realized sorting on a fixed partition.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Assign partition: </a:t>
                </a:r>
                <a14:m>
                  <m:oMath xmlns:m="http://schemas.openxmlformats.org/officeDocument/2006/math">
                    <m:r>
                      <a:rPr lang="en-US" sz="1000" b="0" i="1" baseline="0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sz="1000" b="0" i="1" baseline="0" dirty="0" smtClean="0">
                        <a:latin typeface="Cambria Math" panose="02040503050406030204" pitchFamily="18" charset="0"/>
                      </a:rPr>
                      <m:t>_{</m:t>
                    </m:r>
                    <m:r>
                      <a:rPr lang="en-US" sz="1000" b="0" i="1" baseline="0" dirty="0" smtClean="0">
                        <a:latin typeface="Cambria Math" panose="02040503050406030204" pitchFamily="18" charset="0"/>
                      </a:rPr>
                      <m:t>𝑠𝑜𝑟𝑡</m:t>
                    </m:r>
                    <m:r>
                      <a:rPr lang="en-US" sz="1000" b="0" i="1" baseline="0" dirty="0" smtClean="0">
                        <a:latin typeface="Cambria Math" panose="02040503050406030204" pitchFamily="18" charset="0"/>
                      </a:rPr>
                      <m:t>} = 0.146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(0 = none, 1 = full team sorting).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Sim max coverage</a:t>
                </a:r>
                <a14:m>
                  <m:oMath xmlns:m="http://schemas.openxmlformats.org/officeDocument/2006/math">
                    <m:r>
                      <a:rPr lang="en-US" sz="1000" b="0" i="1" baseline="0" dirty="0" smtClean="0">
                        <a:latin typeface="Cambria Math" panose="02040503050406030204" pitchFamily="18" charset="0"/>
                      </a:rPr>
                      <m:t>=2,020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sort-and-chop max</a:t>
                </a:r>
                <a14:m>
                  <m:oMath xmlns:m="http://schemas.openxmlformats.org/officeDocument/2006/math">
                    <m:r>
                      <a:rPr lang="en-US" sz="1000" b="0" i="1" baseline="0" dirty="0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 Normalized peak</a:t>
                </a:r>
                <a14:m>
                  <m:oMath xmlns:m="http://schemas.openxmlformats.org/officeDocument/2006/math">
                    <m:r>
                      <a:rPr lang="en-US" sz="1000" b="0" i="1" baseline="0" dirty="0" smtClean="0">
                        <a:latin typeface="Cambria Math" panose="02040503050406030204" pitchFamily="18" charset="0"/>
                      </a:rPr>
                      <m:t>=1.00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</a:t>
                </a:r>
                <a14:m>
                  <m:oMath xmlns:m="http://schemas.openxmlformats.org/officeDocument/2006/math">
                    <m:r>
                      <a:rPr lang="en-US" sz="1000" b="0" i="1" baseline="0" dirty="0" smtClean="0">
                        <a:latin typeface="Cambria Math" panose="02040503050406030204" pitchFamily="18" charset="0"/>
                      </a:rPr>
                      <m:t>86%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of grid points have </a:t>
                </a:r>
                <a14:m>
                  <m:oMath xmlns:m="http://schemas.openxmlformats.org/officeDocument/2006/math">
                    <m:r>
                      <a:rPr lang="en-US" sz="1000" b="0" i="1" baseline="0" dirty="0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 team covering.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Roster span: mean=3.37 z, median=3.23 z (2,023 team-seasons).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NCAA ref max </a:t>
                </a:r>
                <a:r>
                  <a:rPr sz="1000" b="0" i="0" baseline="0" dirty="0" err="1">
                    <a:latin typeface="Calibri"/>
                  </a:rPr>
                  <a:t>cov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=3,117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NCAA overlap grid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=86%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; NCAA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  <m:r>
                      <a:rPr lang="en-US" sz="1000" b="0" i="0" baseline="0" dirty="0">
                        <a:latin typeface="Cambria Math" panose="02040503050406030204" pitchFamily="18" charset="0"/>
                      </a:rPr>
                      <m:t>=0.105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  <a:p>
                <a:pPr>
                  <a:lnSpc>
                    <a:spcPct val="150000"/>
                  </a:lnSpc>
                  <a:buChar char="•"/>
                </a:pPr>
                <a:r>
                  <a:rPr sz="1000" b="0" i="0" baseline="0" dirty="0">
                    <a:latin typeface="Calibri"/>
                  </a:rPr>
                  <a:t>  VECTOR lock: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000" b="0" i="0" baseline="0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1000" b="0" i="0" baseline="0" dirty="0">
                            <a:latin typeface="Cambria Math" panose="02040503050406030204" pitchFamily="18" charset="0"/>
                          </a:rPr>
                          <m:t>𝑠𝑜𝑟𝑡</m:t>
                        </m:r>
                      </m:sub>
                    </m:sSub>
                  </m:oMath>
                </a14:m>
                <a:r>
                  <a:rPr sz="1000" b="0" i="0" baseline="0" dirty="0">
                    <a:latin typeface="Calibri"/>
                  </a:rPr>
                  <a:t> is realized sorting — not the generative homophily knob </a:t>
                </a:r>
                <a14:m>
                  <m:oMath xmlns:m="http://schemas.openxmlformats.org/officeDocument/2006/math">
                    <m:r>
                      <a:rPr lang="en-US" sz="1000" b="0" i="0" baseline="0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sz="1000" b="0" i="0" baseline="0" dirty="0"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047" y="1280160"/>
                <a:ext cx="4565639" cy="2704074"/>
              </a:xfrm>
              <a:prstGeom prst="rect">
                <a:avLst/>
              </a:prstGeom>
              <a:blipFill>
                <a:blip r:embed="rId4"/>
                <a:stretch>
                  <a:fillRect b="-4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384048" y="6053328"/>
            <a:ext cx="11423599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Claim: Grandchild ASSIGN on the same season window as paired NCAA slide — one realization per season, stacked team-seasons.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247</Words>
  <Application>Microsoft Macintosh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Levine, Charles R CTR</cp:lastModifiedBy>
  <cp:revision>2</cp:revision>
  <dcterms:created xsi:type="dcterms:W3CDTF">2013-01-27T09:14:16Z</dcterms:created>
  <dcterms:modified xsi:type="dcterms:W3CDTF">2026-08-11T16:36:24Z</dcterms:modified>
  <cp:category/>
</cp:coreProperties>
</file>