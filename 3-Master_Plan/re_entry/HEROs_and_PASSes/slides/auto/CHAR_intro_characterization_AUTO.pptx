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Fake-league characterization (not curve fitting)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49808"/>
            <a:ext cx="5806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1200"/>
              <a:t>Knobs (mini glossary)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84048" y="1024128"/>
          <a:ext cx="5806439" cy="5102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901"/>
                <a:gridCol w="1625803"/>
                <a:gridCol w="3367735"/>
              </a:tblGrid>
              <a:tr h="566928">
                <a:tc>
                  <a:txBody>
                    <a:bodyPr wrap="square" lIns="50800" rIns="50800" tIns="25400" bIns="25400"/>
                    <a:lstStyle/>
                    <a:p>
                      <a:pPr>
                        <a:defRPr sz="900" b="1">
                          <a:latin typeface="Calibri"/>
                        </a:defRPr>
                      </a:pPr>
                      <a:r>
                        <a:t>Symbol</a:t>
                      </a:r>
                    </a:p>
                  </a:txBody>
                  <a:tcPr anchor="ctr">
                    <a:solidFill>
                      <a:srgbClr val="EEEEEE"/>
                    </a:solidFill>
                  </a:tcPr>
                </a:tc>
                <a:tc>
                  <a:txBody>
                    <a:bodyPr wrap="square" lIns="50800" rIns="50800" tIns="25400" bIns="25400"/>
                    <a:lstStyle/>
                    <a:p>
                      <a:pPr>
                        <a:defRPr sz="900" b="1">
                          <a:latin typeface="Calibri"/>
                        </a:defRPr>
                      </a:pPr>
                      <a:r>
                        <a:t>Plain name</a:t>
                      </a:r>
                    </a:p>
                  </a:txBody>
                  <a:tcPr anchor="ctr">
                    <a:solidFill>
                      <a:srgbClr val="EEEEEE"/>
                    </a:solidFill>
                  </a:tcPr>
                </a:tc>
                <a:tc>
                  <a:txBody>
                    <a:bodyPr wrap="square" lIns="50800" rIns="50800" tIns="25400" bIns="25400"/>
                    <a:lstStyle/>
                    <a:p>
                      <a:pPr>
                        <a:defRPr sz="900" b="1">
                          <a:latin typeface="Calibri"/>
                        </a:defRPr>
                      </a:pPr>
                      <a:r>
                        <a:t>What it controls</a:t>
                      </a:r>
                    </a:p>
                  </a:txBody>
                  <a:tcPr anchor="ctr">
                    <a:solidFill>
                      <a:srgbClr val="EEEEEE"/>
                    </a:solidFill>
                  </a:tcPr>
                </a:tc>
              </a:tr>
              <a:tr h="566928"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i="1">
                          <a:latin typeface="Cambria Math"/>
                        </a:rPr>
                        <a:t>A</a:t>
                      </a:r>
                      <a:r>
                        <a:rPr sz="800" i="1" baseline="-25000">
                          <a:latin typeface="Cambria Math"/>
                        </a:rPr>
                        <a:t>i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pPr>
                        <a:defRPr sz="900">
                          <a:latin typeface="Calibri"/>
                        </a:defRPr>
                      </a:pPr>
                      <a:r>
                        <a:t>Player ability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pPr>
                        <a:defRPr sz="800">
                          <a:latin typeface="Calibri"/>
                        </a:defRPr>
                      </a:pPr>
                      <a:r>
                        <a:t>Innate talent draw — Beta(2,2) on [0,1] (539 preset)</a:t>
                      </a:r>
                    </a:p>
                  </a:txBody>
                  <a:tcPr anchor="ctr"/>
                </a:tc>
              </a:tr>
              <a:tr h="566928"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i="1">
                          <a:latin typeface="Cambria Math"/>
                        </a:rPr>
                        <a:t>T</a:t>
                      </a:r>
                      <a:r>
                        <a:rPr sz="800" i="1" baseline="-25000">
                          <a:latin typeface="Cambria Math"/>
                        </a:rPr>
                        <a:t>j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pPr>
                        <a:defRPr sz="900">
                          <a:latin typeface="Calibri"/>
                        </a:defRPr>
                      </a:pPr>
                      <a:r>
                        <a:t>Team talent target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pPr>
                        <a:defRPr sz="800">
                          <a:latin typeface="Calibri"/>
                        </a:defRPr>
                      </a:pPr>
                      <a:r>
                        <a:t>Synthetic iid Uniform[0,1] per team (`draw_target_means`); not real NCAA schools</a:t>
                      </a:r>
                    </a:p>
                  </a:txBody>
                  <a:tcPr anchor="ctr"/>
                </a:tc>
              </a:tr>
              <a:tr h="566928"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i="1">
                          <a:latin typeface="Cambria Math"/>
                        </a:rPr>
                        <a:t>ρ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pPr>
                        <a:defRPr sz="900">
                          <a:latin typeface="Calibri"/>
                        </a:defRPr>
                      </a:pPr>
                      <a:r>
                        <a:t>Assignment assortativity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r>
                        <a:rPr sz="800"/>
                        <a:t>Soft match strength: players </a:t>
                      </a:r>
                      <a:r>
                        <a:rPr sz="800" i="1">
                          <a:latin typeface="Cambria Math"/>
                        </a:rPr>
                        <a:t>\to</a:t>
                      </a:r>
                      <a:r>
                        <a:rPr sz="800"/>
                        <a:t> teams with </a:t>
                      </a:r>
                      <a:r>
                        <a:rPr sz="800" i="1">
                          <a:latin typeface="Cambria Math"/>
                        </a:rPr>
                        <a:t>T</a:t>
                      </a:r>
                      <a:r>
                        <a:rPr sz="800" i="1" baseline="-25000">
                          <a:latin typeface="Cambria Math"/>
                        </a:rPr>
                        <a:t>j</a:t>
                      </a:r>
                      <a:r>
                        <a:rPr sz="800" i="1">
                          <a:latin typeface="Cambria Math"/>
                        </a:rPr>
                        <a:t> \approx A</a:t>
                      </a:r>
                      <a:r>
                        <a:rPr sz="800" i="1" baseline="-25000">
                          <a:latin typeface="Cambria Math"/>
                        </a:rPr>
                        <a:t>i</a:t>
                      </a:r>
                    </a:p>
                  </a:txBody>
                  <a:tcPr anchor="ctr"/>
                </a:tc>
              </a:tr>
              <a:tr h="566928"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i="1">
                          <a:latin typeface="Cambria Math"/>
                        </a:rPr>
                        <a:t>L</a:t>
                      </a:r>
                      <a:r>
                        <a:rPr sz="800" i="1" baseline="-25000">
                          <a:latin typeface="Cambria Math"/>
                        </a:rPr>
                        <a:t>C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pPr>
                        <a:defRPr sz="900">
                          <a:latin typeface="Calibri"/>
                        </a:defRPr>
                      </a:pPr>
                      <a:r>
                        <a:t>Congestion measure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r>
                        <a:rPr sz="800"/>
                        <a:t>LOO peer viability — deck uses smooth </a:t>
                      </a:r>
                      <a:r>
                        <a:rPr sz="800" i="1">
                          <a:latin typeface="Cambria Math"/>
                        </a:rPr>
                        <a:t>σ</a:t>
                      </a:r>
                      <a:r>
                        <a:rPr sz="800"/>
                        <a:t>; code also has hard share (</a:t>
                      </a:r>
                      <a:r>
                        <a:rPr sz="800" i="1">
                          <a:latin typeface="Cambria Math"/>
                        </a:rPr>
                        <a:t>A</a:t>
                      </a:r>
                      <a:r>
                        <a:rPr sz="800" i="1" baseline="-25000">
                          <a:latin typeface="Cambria Math"/>
                        </a:rPr>
                        <a:t>j</a:t>
                      </a:r>
                      <a:r>
                        <a:rPr sz="800" i="1">
                          <a:latin typeface="Cambria Math"/>
                        </a:rPr>
                        <a:t>&gt;\theta</a:t>
                      </a:r>
                      <a:r>
                        <a:rPr sz="800"/>
                        <a:t>)</a:t>
                      </a:r>
                    </a:p>
                  </a:txBody>
                  <a:tcPr anchor="ctr"/>
                </a:tc>
              </a:tr>
              <a:tr h="566928"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i="1">
                          <a:latin typeface="Cambria Math"/>
                        </a:rPr>
                        <a:t>λ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pPr>
                        <a:defRPr sz="900">
                          <a:latin typeface="Calibri"/>
                        </a:defRPr>
                      </a:pPr>
                      <a:r>
                        <a:t>Congestion weight in score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r>
                        <a:rPr sz="800"/>
                        <a:t>How hard </a:t>
                      </a:r>
                      <a:r>
                        <a:rPr sz="800" i="1">
                          <a:latin typeface="Cambria Math"/>
                        </a:rPr>
                        <a:t>L</a:t>
                      </a:r>
                      <a:r>
                        <a:rPr sz="800" i="1" baseline="-25000">
                          <a:latin typeface="Cambria Math"/>
                        </a:rPr>
                        <a:t>C</a:t>
                      </a:r>
                      <a:r>
                        <a:rPr sz="800"/>
                        <a:t> penalizes ranking — not congestion itself</a:t>
                      </a:r>
                    </a:p>
                  </a:txBody>
                  <a:tcPr anchor="ctr"/>
                </a:tc>
              </a:tr>
              <a:tr h="566928"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i="1">
                          <a:latin typeface="Cambria Math"/>
                        </a:rPr>
                        <a:t>\theta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pPr>
                        <a:defRPr sz="900">
                          <a:latin typeface="Calibri"/>
                        </a:defRPr>
                      </a:pPr>
                      <a:r>
                        <a:t>Viability cutline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pPr>
                        <a:defRPr sz="800">
                          <a:latin typeface="Calibri"/>
                        </a:defRPr>
                      </a:pPr>
                      <a:r>
                        <a:t>Center of the sigmoid</a:t>
                      </a:r>
                    </a:p>
                  </a:txBody>
                  <a:tcPr anchor="ctr"/>
                </a:tc>
              </a:tr>
              <a:tr h="566928"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i="1">
                          <a:latin typeface="Cambria Math"/>
                        </a:rPr>
                        <a:t>\gamma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pPr>
                        <a:defRPr sz="900">
                          <a:latin typeface="Calibri"/>
                        </a:defRPr>
                      </a:pPr>
                      <a:r>
                        <a:t>Sigmoid sharpness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r>
                        <a:rPr sz="800"/>
                        <a:t>Steepness of viability step around </a:t>
                      </a:r>
                      <a:r>
                        <a:rPr sz="800" i="1">
                          <a:latin typeface="Cambria Math"/>
                        </a:rPr>
                        <a:t>\theta</a:t>
                      </a:r>
                    </a:p>
                  </a:txBody>
                  <a:tcPr anchor="ctr"/>
                </a:tc>
              </a:tr>
              <a:tr h="566928"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i="1">
                          <a:latin typeface="Cambria Math"/>
                        </a:rPr>
                        <a:t>K/N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pPr>
                        <a:defRPr sz="900">
                          <a:latin typeface="Calibri"/>
                        </a:defRPr>
                      </a:pPr>
                      <a:r>
                        <a:t>Selectivity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r>
                        <a:rPr sz="800"/>
                        <a:t>Fraction of league selected (</a:t>
                      </a:r>
                      <a:r>
                        <a:rPr sz="800" i="1">
                          <a:latin typeface="Cambria Math"/>
                        </a:rPr>
                        <a:t>K \div N</a:t>
                      </a:r>
                      <a:r>
                        <a:rPr sz="800"/>
                        <a:t>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46520" y="749808"/>
            <a:ext cx="5361127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b="1"/>
            </a:pPr>
            <a:r>
              <a:rPr sz="900"/>
              <a:t>Not curve fitting: which rules \emph{bend} synthetic selection curves — not NCAA fit yet.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Three steps: ASSIGN (</a:t>
            </a:r>
            <a:r>
              <a:rPr sz="900" i="1">
                <a:latin typeface="Cambria Math"/>
              </a:rPr>
              <a:t>ρ</a:t>
            </a:r>
            <a:r>
              <a:rPr sz="900"/>
              <a:t>) </a:t>
            </a:r>
            <a:r>
              <a:rPr sz="900" i="1">
                <a:latin typeface="Cambria Math"/>
              </a:rPr>
              <a:t>\to</a:t>
            </a:r>
            <a:r>
              <a:rPr sz="900"/>
              <a:t> SCORE (</a:t>
            </a:r>
            <a:r>
              <a:rPr sz="900" i="1">
                <a:latin typeface="Cambria Math"/>
              </a:rPr>
              <a:t>S</a:t>
            </a:r>
            <a:r>
              <a:rPr sz="800" i="1" baseline="-25000">
                <a:latin typeface="Cambria Math"/>
              </a:rPr>
              <a:t>i</a:t>
            </a:r>
            <a:r>
              <a:rPr sz="900" i="1">
                <a:latin typeface="Cambria Math"/>
              </a:rPr>
              <a:t> = A</a:t>
            </a:r>
            <a:r>
              <a:rPr sz="800" i="1" baseline="-25000">
                <a:latin typeface="Cambria Math"/>
              </a:rPr>
              <a:t>i</a:t>
            </a:r>
            <a:r>
              <a:rPr sz="900" i="1">
                <a:latin typeface="Cambria Math"/>
              </a:rPr>
              <a:t> - λ L</a:t>
            </a:r>
            <a:r>
              <a:rPr sz="800" i="1" baseline="-25000">
                <a:latin typeface="Cambria Math"/>
              </a:rPr>
              <a:t>C</a:t>
            </a:r>
            <a:r>
              <a:rPr sz="900"/>
              <a:t>) </a:t>
            </a:r>
            <a:r>
              <a:rPr sz="900" i="1">
                <a:latin typeface="Cambria Math"/>
              </a:rPr>
              <a:t>\to</a:t>
            </a:r>
            <a:r>
              <a:rPr sz="900"/>
              <a:t> SELECT (top-</a:t>
            </a:r>
            <a:r>
              <a:rPr sz="900" i="1">
                <a:latin typeface="Cambria Math"/>
              </a:rPr>
              <a:t>K</a:t>
            </a:r>
            <a:r>
              <a:rPr sz="900"/>
              <a:t>); then VISUALIZE by pool-mean bin.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900"/>
              <a:t> in this deck: \texttt{crowding\_smooth} (mean </a:t>
            </a:r>
            <a:r>
              <a:rPr sz="900" i="1">
                <a:latin typeface="Cambria Math"/>
              </a:rPr>
              <a:t>σ</a:t>
            </a:r>
            <a:r>
              <a:rPr sz="900"/>
              <a:t>). Code also builds hard </a:t>
            </a:r>
            <a:r>
              <a:rPr sz="9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900"/>
              <a:t> = LOO share with </a:t>
            </a:r>
            <a:r>
              <a:rPr sz="900" i="1">
                <a:latin typeface="Cambria Math"/>
              </a:rPr>
              <a:t>A</a:t>
            </a:r>
            <a:r>
              <a:rPr sz="800" i="1" baseline="-25000">
                <a:latin typeface="Cambria Math"/>
              </a:rPr>
              <a:t>j</a:t>
            </a:r>
            <a:r>
              <a:rPr sz="900" i="1">
                <a:latin typeface="Cambria Math"/>
              </a:rPr>
              <a:t> &gt; \theta</a:t>
            </a:r>
            <a:r>
              <a:rPr sz="900"/>
              <a:t> — not shown here.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One-at-a-time (OAT): each slide moves one knob; other settings stay at benchmark values.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Seed 42 on stochastic steps: draw </a:t>
            </a:r>
            <a:r>
              <a:rPr sz="900" i="1">
                <a:latin typeface="Cambria Math"/>
              </a:rPr>
              <a:t>A</a:t>
            </a:r>
            <a:r>
              <a:rPr sz="800" i="1" baseline="-25000">
                <a:latin typeface="Cambria Math"/>
              </a:rPr>
              <a:t>i</a:t>
            </a:r>
            <a:r>
              <a:rPr sz="900"/>
              <a:t>, </a:t>
            </a:r>
            <a:r>
              <a:rPr sz="9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</a:t>
            </a:r>
            <a:r>
              <a:rPr sz="900"/>
              <a:t>; soft-</a:t>
            </a:r>
            <a:r>
              <a:rPr sz="900" i="1">
                <a:latin typeface="Cambria Math"/>
              </a:rPr>
              <a:t>ρ</a:t>
            </a:r>
            <a:r>
              <a:rPr sz="900"/>
              <a:t> assignment. Score, top-</a:t>
            </a:r>
            <a:r>
              <a:rPr sz="900" i="1">
                <a:latin typeface="Cambria Math"/>
              </a:rPr>
              <a:t>K</a:t>
            </a:r>
            <a:r>
              <a:rPr sz="900"/>
              <a:t>, bins are deterministic.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League: </a:t>
            </a:r>
            <a:r>
              <a:rPr sz="900" i="1">
                <a:latin typeface="Cambria Math"/>
              </a:rPr>
              <a:t>N=5600</a:t>
            </a:r>
            <a:r>
              <a:rPr sz="900"/>
              <a:t>, </a:t>
            </a:r>
            <a:r>
              <a:rPr sz="900" i="1">
                <a:latin typeface="Cambria Math"/>
              </a:rPr>
              <a:t>K=560</a:t>
            </a:r>
            <a:r>
              <a:rPr sz="900"/>
              <a:t>, </a:t>
            </a:r>
            <a:r>
              <a:rPr sz="900" i="1">
                <a:latin typeface="Cambria Math"/>
              </a:rPr>
              <a:t>K/N=10%</a:t>
            </a:r>
            <a:r>
              <a:rPr sz="900"/>
              <a:t> (539 preset).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46520" y="2660903"/>
            <a:ext cx="5361127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b="1"/>
            </a:pPr>
            <a:r>
              <a:rPr sz="900" i="1">
                <a:latin typeface="Cambria Math"/>
              </a:rPr>
              <a:t>A</a:t>
            </a:r>
            <a:r>
              <a:rPr sz="800" i="1" baseline="-25000">
                <a:latin typeface="Cambria Math"/>
              </a:rPr>
              <a:t>i</a:t>
            </a:r>
            <a:r>
              <a:rPr sz="900"/>
              <a:t>: Beta(2,2) on [0,1] — \texttt{SELECTION\_539\_ABILITY\_DRAW}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</a:t>
            </a:r>
            <a:r>
              <a:rPr sz="900"/>
              <a:t>: Uniform[0,1] iid per team — \texttt{draw\_target\_means}; synthetic ideal seats, not NCAA roster data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λ=0.55</a:t>
            </a:r>
            <a:r>
              <a:rPr sz="900"/>
              <a:t> — \texttt{tier1\_539\_reference\_settings.json} / playground default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\theta=0.72</a:t>
            </a:r>
            <a:r>
              <a:rPr sz="900"/>
              <a:t>, </a:t>
            </a:r>
            <a:r>
              <a:rPr sz="900" i="1">
                <a:latin typeface="Cambria Math"/>
              </a:rPr>
              <a:t>\gamma=10</a:t>
            </a:r>
            <a:r>
              <a:rPr sz="900"/>
              <a:t> — same 539 reference JSON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ρ=8</a:t>
            </a:r>
            <a:r>
              <a:rPr sz="900"/>
              <a:t> — gallery fixed assign for </a:t>
            </a:r>
            <a:r>
              <a:rPr sz="900" i="1">
                <a:latin typeface="Cambria Math"/>
              </a:rPr>
              <a:t>λ</a:t>
            </a:r>
            <a:r>
              <a:rPr sz="900"/>
              <a:t> / </a:t>
            </a:r>
            <a:r>
              <a:rPr sz="900" i="1">
                <a:latin typeface="Cambria Math"/>
              </a:rPr>
              <a:t>\theta</a:t>
            </a:r>
            <a:r>
              <a:rPr sz="900"/>
              <a:t> slides (moderate-high mixing; not a 539 JSON field)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K/N=10%</a:t>
            </a:r>
            <a:r>
              <a:rPr sz="900"/>
              <a:t> — characterization default (MBB draft </a:t>
            </a:r>
            <a:r>
              <a:rPr sz="900" i="1">
                <a:latin typeface="Cambria Math"/>
              </a:rPr>
              <a:t>\approx</a:t>
            </a:r>
            <a:r>
              <a:rPr sz="900"/>
              <a:t> 1% is a separate calibration point)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114799"/>
            <a:ext cx="5361127" cy="1975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b="1"/>
            </a:pPr>
            <a:r>
              <a:rPr sz="900"/>
              <a:t>Real hero: draft rate vs \textbf{poolq\_loo} (teammate quality, leave-one-out) — a \textbf{bend} at the top bins.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This deck: fraction selected vs \textbf{pool mean} in a fake league — same \emph{kind} of question, different axis and league.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Benchmarks anchor to the Alex 539 playground track so sim slides stay comparable; we have \textbf{not} re-fit those numbers to NCAA data in Phase B.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6126480"/>
            <a:ext cx="11423599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1100"/>
              <a:t>Claim: Phase B maps which generative knobs move \emph{who gets selected} — prerequisite before Phase C calibration to the hero.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