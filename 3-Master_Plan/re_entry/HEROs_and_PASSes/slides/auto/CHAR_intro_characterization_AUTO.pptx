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Phase B — Fake-league characterization (not curve fitting)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49808"/>
            <a:ext cx="5806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 baseline="0">
                <a:latin typeface="Calibri"/>
              </a:rPr>
              <a:t>Knobs (mini glossary)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84048" y="1024128"/>
          <a:ext cx="5806439" cy="5065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901"/>
                <a:gridCol w="1625803"/>
                <a:gridCol w="3367735"/>
              </a:tblGrid>
              <a:tr h="506577"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b="1" i="0" baseline="0">
                          <a:latin typeface="Calibri"/>
                        </a:rPr>
                        <a:t>Symbol</a:t>
                      </a:r>
                    </a:p>
                  </a:txBody>
                  <a:tcPr anchor="ctr">
                    <a:solidFill>
                      <a:srgbClr val="EEEEEE"/>
                    </a:solidFill>
                  </a:tcPr>
                </a:tc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b="1" i="0" baseline="0">
                          <a:latin typeface="Calibri"/>
                        </a:rPr>
                        <a:t>Plain name</a:t>
                      </a:r>
                    </a:p>
                  </a:txBody>
                  <a:tcPr anchor="ctr">
                    <a:solidFill>
                      <a:srgbClr val="EEEEEE"/>
                    </a:solidFill>
                  </a:tcPr>
                </a:tc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b="1" i="0" baseline="0">
                          <a:latin typeface="Calibri"/>
                        </a:rPr>
                        <a:t>What it controls</a:t>
                      </a:r>
                    </a:p>
                  </a:txBody>
                  <a:tcPr anchor="ctr">
                    <a:solidFill>
                      <a:srgbClr val="EEEEEE"/>
                    </a:solidFill>
                  </a:tcPr>
                </a:tc>
              </a:tr>
              <a:tr h="506577"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b="0" i="0" baseline="0">
                          <a:latin typeface="Calibri"/>
                        </a:rPr>
                        <a:t>A_{i}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b="0" i="0" baseline="0">
                          <a:latin typeface="Calibri"/>
                        </a:rPr>
                        <a:t>Player ability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r>
                        <a:rPr sz="800" b="0" i="0" baseline="0">
                          <a:latin typeface="Calibri"/>
                        </a:rPr>
                        <a:t>Innate talent draw — Beta(2,2) on [0,1] (539 preset)</a:t>
                      </a:r>
                    </a:p>
                  </a:txBody>
                  <a:tcPr anchor="ctr"/>
                </a:tc>
              </a:tr>
              <a:tr h="506577"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b="0" i="0" baseline="0">
                          <a:latin typeface="Calibri"/>
                        </a:rPr>
                        <a:t>T_{j^*}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b="0" i="0" baseline="0">
                          <a:latin typeface="Calibri"/>
                        </a:rPr>
                        <a:t>Sim assignment target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r>
                        <a:rPr sz="800" b="0" i="0" baseline="0">
                          <a:latin typeface="Calibri"/>
                        </a:rPr>
                        <a:t>Synthetic iid Uniform[0,1] per team; soft-assign attractor — not realized roster talent</a:t>
                      </a:r>
                    </a:p>
                  </a:txBody>
                  <a:tcPr anchor="ctr"/>
                </a:tc>
              </a:tr>
              <a:tr h="506577"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b="0" i="0" baseline="0">
                          <a:latin typeface="Calibri"/>
                        </a:rPr>
                        <a:t>T_{j}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b="0" i="0" baseline="0">
                          <a:latin typeface="Calibri"/>
                        </a:rPr>
                        <a:t>Realized team talent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r>
                        <a:rPr sz="800" b="0" i="0" baseline="0">
                          <a:latin typeface="Calibri"/>
                        </a:rPr>
                        <a:t>Mean A_{i} on team j roster after ASSIGN (not T_{j^*})</a:t>
                      </a:r>
                    </a:p>
                  </a:txBody>
                  <a:tcPr anchor="ctr"/>
                </a:tc>
              </a:tr>
              <a:tr h="506577"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b="0" i="0" baseline="0">
                          <a:latin typeface="Calibri"/>
                        </a:rPr>
                        <a:t>\rho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b="0" i="0" baseline="0">
                          <a:latin typeface="Calibri"/>
                        </a:rPr>
                        <a:t>Assignment assortativity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r>
                        <a:rPr sz="800" b="0" i="0" baseline="0">
                          <a:latin typeface="Calibri"/>
                        </a:rPr>
                        <a:t>Soft match strength: players \rightarrow teams with T_{j^*} \approx A_{i}</a:t>
                      </a:r>
                    </a:p>
                  </a:txBody>
                  <a:tcPr anchor="ctr"/>
                </a:tc>
              </a:tr>
              <a:tr h="506577"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b="0" i="0" baseline="0">
                          <a:latin typeface="Calibri"/>
                        </a:rPr>
                        <a:t>L_C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b="0" i="0" baseline="0">
                          <a:latin typeface="Calibri"/>
                        </a:rPr>
                        <a:t>Team congestion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r>
                        <a:rPr sz="800" b="0" i="0" baseline="0">
                          <a:latin typeface="Calibri"/>
                        </a:rPr>
                        <a:t>Team-level mean \sigma(\gamma(A_{j}-\theta)) on roster — same L_C for all players on team j</a:t>
                      </a:r>
                    </a:p>
                  </a:txBody>
                  <a:tcPr anchor="ctr"/>
                </a:tc>
              </a:tr>
              <a:tr h="506577"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b="0" i="0" baseline="0">
                          <a:latin typeface="Calibri"/>
                        </a:rPr>
                        <a:t>\lambda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b="0" i="0" baseline="0">
                          <a:latin typeface="Calibri"/>
                        </a:rPr>
                        <a:t>Congestion weight in score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r>
                        <a:rPr sz="800" b="0" i="0" baseline="0">
                          <a:latin typeface="Calibri"/>
                        </a:rPr>
                        <a:t>How hard L_C penalizes ranking — not congestion itself</a:t>
                      </a:r>
                    </a:p>
                  </a:txBody>
                  <a:tcPr anchor="ctr"/>
                </a:tc>
              </a:tr>
              <a:tr h="506577"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b="0" i="0" baseline="0">
                          <a:latin typeface="Calibri"/>
                        </a:rPr>
                        <a:t>\theta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b="0" i="0" baseline="0">
                          <a:latin typeface="Calibri"/>
                        </a:rPr>
                        <a:t>Viability cutline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r>
                        <a:rPr sz="800" b="0" i="0" baseline="0">
                          <a:latin typeface="Calibri"/>
                        </a:rPr>
                        <a:t>Center of the sigmoid (F_A^{-1}(1-K/N) in k_over_n mode)</a:t>
                      </a:r>
                    </a:p>
                  </a:txBody>
                  <a:tcPr anchor="ctr"/>
                </a:tc>
              </a:tr>
              <a:tr h="506577"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b="0" i="0" baseline="0">
                          <a:latin typeface="Calibri"/>
                        </a:rPr>
                        <a:t>\gamma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b="0" i="0" baseline="0">
                          <a:latin typeface="Calibri"/>
                        </a:rPr>
                        <a:t>Sigmoid sharpness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r>
                        <a:rPr sz="800" b="0" i="0" baseline="0">
                          <a:latin typeface="Calibri"/>
                        </a:rPr>
                        <a:t>Steepness of viability step around \theta</a:t>
                      </a:r>
                    </a:p>
                  </a:txBody>
                  <a:tcPr anchor="ctr"/>
                </a:tc>
              </a:tr>
              <a:tr h="506583"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b="0" i="0" baseline="0">
                          <a:latin typeface="Calibri"/>
                        </a:rPr>
                        <a:t>K/N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r>
                        <a:rPr sz="900" b="0" i="0" baseline="0">
                          <a:latin typeface="Calibri"/>
                        </a:rPr>
                        <a:t>Selectivity</a:t>
                      </a:r>
                    </a:p>
                  </a:txBody>
                  <a:tcPr anchor="ctr"/>
                </a:tc>
                <a:tc>
                  <a:txBody>
                    <a:bodyPr wrap="square" lIns="50800" rIns="50800" tIns="25400" bIns="25400"/>
                    <a:lstStyle/>
                    <a:p>
                      <a:r>
                        <a:rPr sz="800" b="0" i="0" baseline="0">
                          <a:latin typeface="Calibri"/>
                        </a:rPr>
                        <a:t>Fraction of league selected (K \div N)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46520" y="749808"/>
            <a:ext cx="5361127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 baseline="0">
                <a:latin typeface="Calibri"/>
              </a:rPr>
              <a:t>How to read this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46520" y="1005840"/>
            <a:ext cx="5361127" cy="1618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lnSpc>
                <a:spcPct val="150000"/>
              </a:lnSpc>
            </a:pPr>
            <a:r>
              <a:rPr sz="1000" b="0" i="0" baseline="0">
                <a:latin typeface="Calibri"/>
              </a:rPr>
              <a:t>  Not curve fitting: which rules bend synthetic selection curves — not NCAA fit yet.</a:t>
            </a:r>
          </a:p>
          <a:p>
            <a:pPr>
              <a:buChar char="•"/>
              <a:lnSpc>
                <a:spcPct val="150000"/>
              </a:lnSpc>
            </a:pPr>
            <a:r>
              <a:rPr sz="1000" b="0" i="0" baseline="0">
                <a:latin typeface="Calibri"/>
              </a:rPr>
              <a:t>  Three steps: ASSIGN (\rho) \rightarrow SCORE (S_i = A_i - \lambda L_C) \rightarrow SELECT (top-K); then VISUALIZE by pool-mean bin.</a:t>
            </a:r>
          </a:p>
          <a:p>
            <a:pPr>
              <a:buChar char="•"/>
              <a:lnSpc>
                <a:spcPct val="150000"/>
              </a:lnSpc>
            </a:pPr>
            <a:r>
              <a:rPr sz="1000" b="0" i="0" baseline="0">
                <a:latin typeface="Calibri"/>
              </a:rPr>
              <a:t>  L_C in this deck: team smooth (crowding_smooth_team) — mean peer viability over the full roster.</a:t>
            </a:r>
          </a:p>
          <a:p>
            <a:pPr>
              <a:buChar char="•"/>
              <a:lnSpc>
                <a:spcPct val="150000"/>
              </a:lnSpc>
            </a:pPr>
            <a:r>
              <a:rPr sz="1000" b="0" i="0" baseline="0">
                <a:latin typeface="Calibri"/>
              </a:rPr>
              <a:t>  One-at-a-time (OAT): each slide moves one knob; other settings stay at benchmark values.</a:t>
            </a:r>
          </a:p>
          <a:p>
            <a:pPr>
              <a:buChar char="•"/>
              <a:lnSpc>
                <a:spcPct val="150000"/>
              </a:lnSpc>
            </a:pPr>
            <a:r>
              <a:rPr sz="1000" b="0" i="0" baseline="0">
                <a:latin typeface="Calibri"/>
              </a:rPr>
              <a:t>  Seed 42 on stochastic steps: draw A_i, T_{j^*}; soft-\rho assignment. Score, top-K, bins are deterministic.</a:t>
            </a:r>
          </a:p>
          <a:p>
            <a:pPr>
              <a:buChar char="•"/>
              <a:lnSpc>
                <a:spcPct val="150000"/>
              </a:lnSpc>
            </a:pPr>
            <a:r>
              <a:rPr sz="1000" b="0" i="0" baseline="0">
                <a:latin typeface="Calibri"/>
              </a:rPr>
              <a:t>  League: N=5600, K=560, K/N=10% (539 preset).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2660903"/>
            <a:ext cx="5361127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 baseline="0">
                <a:latin typeface="Calibri"/>
              </a:rPr>
              <a:t>Benchmark values (while sweeping other knobs)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916935"/>
            <a:ext cx="5361127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lnSpc>
                <a:spcPct val="150000"/>
              </a:lnSpc>
            </a:pPr>
            <a:r>
              <a:rPr sz="1000" b="0" i="0" baseline="0">
                <a:latin typeface="Calibri"/>
              </a:rPr>
              <a:t>  A_i: Beta(2,2) on [0,1] — SELECTION_539_ABILITY_DRAW</a:t>
            </a:r>
          </a:p>
          <a:p>
            <a:pPr>
              <a:buChar char="•"/>
              <a:lnSpc>
                <a:spcPct val="150000"/>
              </a:lnSpc>
            </a:pPr>
            <a:r>
              <a:rPr sz="1000" b="0" i="0" baseline="0">
                <a:latin typeface="Calibri"/>
              </a:rPr>
              <a:t>  T_{j^*}: Uniform[0,1] iid per team — draw_target_means; synthetic targets, not NCAA data</a:t>
            </a:r>
          </a:p>
          <a:p>
            <a:pPr>
              <a:buChar char="•"/>
              <a:lnSpc>
                <a:spcPct val="150000"/>
              </a:lnSpc>
            </a:pPr>
            <a:r>
              <a:rPr sz="1000" b="0" i="0" baseline="0">
                <a:latin typeface="Calibri"/>
              </a:rPr>
              <a:t>  T_j: realized roster mean after ASSIGN — not drawn; Sketch A 2D y-axis</a:t>
            </a:r>
          </a:p>
          <a:p>
            <a:pPr>
              <a:buChar char="•"/>
              <a:lnSpc>
                <a:spcPct val="150000"/>
              </a:lnSpc>
            </a:pPr>
            <a:r>
              <a:rPr sz="1000" b="0" i="0" baseline="0">
                <a:latin typeface="Calibri"/>
              </a:rPr>
              <a:t>  \lambda=0.55 — tier1_539_reference_settings.json / playground default</a:t>
            </a:r>
          </a:p>
          <a:p>
            <a:pPr>
              <a:buChar char="•"/>
              <a:lnSpc>
                <a:spcPct val="150000"/>
              </a:lnSpc>
            </a:pPr>
            <a:r>
              <a:rPr sz="1000" b="0" i="0" baseline="0">
                <a:latin typeface="Calibri"/>
              </a:rPr>
              <a:t>  \theta=0.804 — F_A^{-1}(1-K/N) (naive draft on sim draw)</a:t>
            </a:r>
          </a:p>
          <a:p>
            <a:pPr>
              <a:buChar char="•"/>
              <a:lnSpc>
                <a:spcPct val="150000"/>
              </a:lnSpc>
            </a:pPr>
            <a:r>
              <a:rPr sz="1000" b="0" i="0" baseline="0">
                <a:latin typeface="Calibri"/>
              </a:rPr>
              <a:t>  \gamma=10 — 539 placeholder until lock on real rosters</a:t>
            </a:r>
          </a:p>
          <a:p>
            <a:pPr>
              <a:buChar char="•"/>
              <a:lnSpc>
                <a:spcPct val="150000"/>
              </a:lnSpc>
            </a:pPr>
            <a:r>
              <a:rPr sz="1000" b="0" i="0" baseline="0">
                <a:latin typeface="Calibri"/>
              </a:rPr>
              <a:t>  \rho=8 — gallery fixed assign for \lambda / \theta slides (moderate-high mixing)</a:t>
            </a:r>
          </a:p>
          <a:p>
            <a:pPr>
              <a:buChar char="•"/>
              <a:lnSpc>
                <a:spcPct val="150000"/>
              </a:lnSpc>
            </a:pPr>
            <a:r>
              <a:rPr sz="1000" b="0" i="0" baseline="0">
                <a:latin typeface="Calibri"/>
              </a:rPr>
              <a:t>  K/N=10% — characterization default (MBB draft \approx 1% is a separate calibration point)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4114799"/>
            <a:ext cx="5361127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 baseline="0">
                <a:latin typeface="Calibri"/>
              </a:rPr>
              <a:t>Empirical data (Layer A) vs this deck (Layer 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370831"/>
            <a:ext cx="5361127" cy="168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lnSpc>
                <a:spcPct val="150000"/>
              </a:lnSpc>
            </a:pPr>
            <a:r>
              <a:rPr sz="1000" b="0" i="0" baseline="0">
                <a:latin typeface="Calibri"/>
              </a:rPr>
              <a:t>  Real hero (Layer A): draft rate vs teammate-quality ventiles — bend at the top bins (Pass A / So_Far_).</a:t>
            </a:r>
          </a:p>
          <a:p>
            <a:pPr>
              <a:buChar char="•"/>
              <a:lnSpc>
                <a:spcPct val="150000"/>
              </a:lnSpc>
            </a:pPr>
            <a:r>
              <a:rPr sz="1000" b="0" i="0" baseline="0">
                <a:latin typeface="Calibri"/>
              </a:rPr>
              <a:t>  This deck: fraction selected vs pool mean in a fake league — same kind of question, different axis and league.</a:t>
            </a:r>
          </a:p>
          <a:p>
            <a:pPr>
              <a:buChar char="•"/>
              <a:lnSpc>
                <a:spcPct val="150000"/>
              </a:lnSpc>
            </a:pPr>
            <a:r>
              <a:rPr sz="1000" b="0" i="0" baseline="0">
                <a:latin typeface="Calibri"/>
              </a:rPr>
              <a:t>  Benchmarks anchor to the Alex 539 playground track; not re-fit to NCAA data in Phase B.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6089904"/>
            <a:ext cx="11423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Claim: Phase B maps which generative knobs move who gets selected — prerequisite before Phase C calibration to the hero.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