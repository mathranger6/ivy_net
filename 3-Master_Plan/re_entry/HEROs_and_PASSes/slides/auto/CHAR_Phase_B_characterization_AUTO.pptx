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shown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\frac{(A_i-T_j)^2}{2\sigma^2}\right)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  <a:r>
              <a:rPr sz="1000"/>
              <a:t> + sort-and-chop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272" y="768096"/>
            <a:ext cx="6006838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hard rank match (same score rule as soft arms).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suppressed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\frac{(A_i-T_j)^2}{2\sigma^2}\right)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467" y="768096"/>
            <a:ext cx="6074448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arm omitted from plot (still in CSV bundle; toggle restores it).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λ</a:t>
            </a:r>
            <a:r>
              <a:rPr sz="2000"/>
              <a:t> (congestion in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λ</a:t>
            </a:r>
            <a:r>
              <a:rPr sz="1100"/>
              <a:t> — one-at-a-time at 539 baseline (assign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200" i="1">
                <a:latin typeface="Cambria Math"/>
              </a:rPr>
              <a:t>S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= A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- λ · L</a:t>
            </a:r>
            <a:r>
              <a:rPr sz="1000" i="1" baseline="-25000">
                <a:latin typeface="Cambria Math"/>
              </a:rPr>
              <a:t>C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 fixed (soft assign; same roster all arms)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λ ∈ {0, 0.25, 0.55, 1}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759" y="768096"/>
            <a:ext cx="6325864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+ one assignment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SCORE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λ=0</a:t>
            </a:r>
            <a:r>
              <a:rPr sz="900"/>
              <a:t>: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 only — selection vs pool mean stays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λ&gt;0</a:t>
            </a:r>
            <a:r>
              <a:rPr sz="900"/>
              <a:t>: congestion in score —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roster-pressure readout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Pairs with Pass C: </a:t>
            </a:r>
            <a:r>
              <a:rPr sz="900" i="1">
                <a:latin typeface="Cambria Math"/>
              </a:rPr>
              <a:t>λ</a:t>
            </a:r>
            <a:r>
              <a:rPr sz="900"/>
              <a:t> bends score; </a:t>
            </a:r>
            <a:r>
              <a:rPr sz="900" i="1">
                <a:latin typeface="Cambria Math"/>
              </a:rPr>
              <a:t>ρ</a:t>
            </a:r>
            <a:r>
              <a:rPr sz="900"/>
              <a:t> shapes the sorted roster world.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 in score matters — </a:t>
            </a:r>
            <a:r>
              <a:rPr sz="1100" i="1">
                <a:latin typeface="Cambria Math"/>
              </a:rPr>
              <a:t>λ=0</a:t>
            </a:r>
            <a:r>
              <a:rPr sz="1100"/>
              <a:t> yields a roughly monotone talent ladder; </a:t>
            </a:r>
            <a:r>
              <a:rPr sz="1100" i="1">
                <a:latin typeface="Cambria Math"/>
              </a:rPr>
              <a:t>λ&gt;0</a:t>
            </a:r>
            <a:r>
              <a:rPr sz="1100"/>
              <a:t> puts roster pressure in the advancement rule and bends the curve.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(viability cutline) — OAT at </a:t>
            </a:r>
            <a:r>
              <a:rPr sz="2000" i="1">
                <a:latin typeface="Cambria Math"/>
              </a:rPr>
              <a:t>K/N=10\%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(assign + 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= 10\%</a:t>
            </a:r>
            <a:r>
              <a:rPr sz="1000"/>
              <a:t> (</a:t>
            </a:r>
            <a:r>
              <a:rPr sz="1000" i="1">
                <a:latin typeface="Cambria Math"/>
              </a:rPr>
              <a:t>K=560</a:t>
            </a:r>
            <a:r>
              <a:rPr sz="1000"/>
              <a:t>, </a:t>
            </a:r>
            <a:r>
              <a:rPr sz="1000" i="1">
                <a:latin typeface="Cambria Math"/>
              </a:rPr>
              <a:t>N=5600</a:t>
            </a:r>
            <a:r>
              <a:rPr sz="1000"/>
              <a:t>)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57" y="768096"/>
            <a:ext cx="6810469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soft </a:t>
            </a:r>
            <a:r>
              <a:rPr sz="900" i="1">
                <a:latin typeface="Cambria Math"/>
              </a:rPr>
              <a:t>ρ=8</a:t>
            </a:r>
            <a:r>
              <a:rPr sz="900"/>
              <a:t>, </a:t>
            </a:r>
            <a:r>
              <a:rPr sz="900" i="1">
                <a:latin typeface="Cambria Math"/>
              </a:rPr>
              <a:t>λ=0.55</a:t>
            </a:r>
            <a:r>
              <a:rPr sz="900"/>
              <a:t>, </a:t>
            </a:r>
            <a:r>
              <a:rPr sz="900" i="1">
                <a:latin typeface="Cambria Math"/>
              </a:rPr>
              <a:t>\gamma=10</a:t>
            </a:r>
            <a:r>
              <a:rPr sz="900"/>
              <a:t> fixed; only </a:t>
            </a:r>
            <a:r>
              <a:rPr sz="900" i="1">
                <a:latin typeface="Cambria Math"/>
              </a:rPr>
              <a:t>\theta</a:t>
            </a:r>
            <a:r>
              <a:rPr sz="900"/>
              <a:t> in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\theta=0.50</a:t>
            </a:r>
            <a:r>
              <a:rPr sz="900"/>
              <a:t>: mid-pool hump (peak bin </a:t>
            </a:r>
            <a:r>
              <a:rPr sz="900" i="1">
                <a:latin typeface="Cambria Math"/>
              </a:rPr>
              <a:t>\approx 13</a:t>
            </a:r>
            <a:r>
              <a:rPr sz="900"/>
              <a:t>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\theta=0.72</a:t>
            </a:r>
            <a:r>
              <a:rPr sz="900"/>
              <a:t> (539 default): similar hump, slightly higher peak rate.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\theta=0.90</a:t>
            </a:r>
            <a:r>
              <a:rPr sz="900"/>
              <a:t>: top bins dominate — curve becomes monotone-increasing at the elite 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, and </a:t>
            </a:r>
            <a:r>
              <a:rPr sz="1100" i="1">
                <a:latin typeface="Cambria Math"/>
              </a:rPr>
              <a:t>K/N=10\%</a:t>
            </a:r>
            <a:r>
              <a:rPr sz="1100"/>
              <a:t>, </a:t>
            </a:r>
            <a:r>
              <a:rPr sz="1100" i="1">
                <a:latin typeface="Cambria Math"/>
              </a:rPr>
              <a:t>\theta</a:t>
            </a:r>
            <a:r>
              <a:rPr sz="1100"/>
              <a:t> (viability cutline) moves the readout — low </a:t>
            </a:r>
            <a:r>
              <a:rPr sz="1100" i="1">
                <a:latin typeface="Cambria Math"/>
              </a:rPr>
              <a:t>\theta</a:t>
            </a:r>
            <a:r>
              <a:rPr sz="1100"/>
              <a:t> keeps a mid-pool hump; high </a:t>
            </a:r>
            <a:r>
              <a:rPr sz="1100" i="1">
                <a:latin typeface="Cambria Math"/>
              </a:rPr>
              <a:t>\theta</a:t>
            </a:r>
            <a:r>
              <a:rPr sz="1100"/>
              <a:t> top-saturates the curve.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— panel with </a:t>
            </a:r>
            <a:r>
              <a:rPr sz="2000" i="1">
                <a:latin typeface="Cambria Math"/>
              </a:rPr>
              <a:t>K/N</a:t>
            </a:r>
            <a:r>
              <a:rPr sz="2000"/>
              <a:t> (selectivity)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</a:t>
            </a:r>
            <a:r>
              <a:rPr sz="1100" i="1">
                <a:latin typeface="Cambria Math"/>
              </a:rPr>
              <a:t>K/N</a:t>
            </a:r>
            <a:r>
              <a:rPr sz="1100"/>
              <a:t> varies; assign + score rule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∈ {1\%, 10\%, 40\%}</a:t>
            </a:r>
            <a:r>
              <a:rPr sz="1000"/>
              <a:t> — heatmap = peak pool-mean bin</a:t>
            </a:r>
          </a:p>
          <a:p>
            <a:pPr>
              <a:spcAft>
                <a:spcPts val="0"/>
              </a:spcAft>
            </a:pPr>
            <a:r>
              <a:rPr sz="1000"/>
              <a:t>Readout: where the inverted-</a:t>
            </a:r>
            <a:r>
              <a:rPr sz="1000" i="1">
                <a:latin typeface="Cambria Math"/>
              </a:rPr>
              <a:t>U</a:t>
            </a:r>
            <a:r>
              <a:rPr sz="1000"/>
              <a:t> peak sits vs selectivity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48" y="768096"/>
            <a:ext cx="6810486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Grid: </a:t>
            </a:r>
            <a:r>
              <a:rPr sz="900" i="1">
                <a:latin typeface="Cambria Math"/>
              </a:rPr>
              <a:t>\theta ∈ {0.50, 0.72, 0.90}</a:t>
            </a:r>
            <a:r>
              <a:rPr sz="900"/>
              <a:t> </a:t>
            </a:r>
            <a:r>
              <a:rPr sz="900" i="1">
                <a:latin typeface="Cambria Math"/>
              </a:rPr>
              <a:t>\times</a:t>
            </a:r>
            <a:r>
              <a:rPr sz="900"/>
              <a:t> </a:t>
            </a:r>
            <a:r>
              <a:rPr sz="900" i="1">
                <a:latin typeface="Cambria Math"/>
              </a:rPr>
              <a:t>K/N ∈ {1\%, 10\%, 40\%}</a:t>
            </a:r>
            <a:r>
              <a:rPr sz="900"/>
              <a:t> on </a:t>
            </a:r>
            <a:r>
              <a:rPr sz="900" i="1">
                <a:latin typeface="Cambria Math"/>
              </a:rPr>
              <a:t>N=5600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K/N=1\%</a:t>
            </a:r>
            <a:r>
              <a:rPr sz="900"/>
              <a:t>: peak bin rises </a:t>
            </a:r>
            <a:r>
              <a:rPr sz="900" i="1">
                <a:latin typeface="Cambria Math"/>
              </a:rPr>
              <a:t>6 \to 9 \to 12</a:t>
            </a:r>
            <a:r>
              <a:rPr sz="900"/>
              <a:t> as </a:t>
            </a:r>
            <a:r>
              <a:rPr sz="900" i="1">
                <a:latin typeface="Cambria Math"/>
              </a:rPr>
              <a:t>\theta</a:t>
            </a:r>
            <a:r>
              <a:rPr sz="900"/>
              <a:t> increases.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K/N=10\%</a:t>
            </a:r>
            <a:r>
              <a:rPr sz="900"/>
              <a:t>: </a:t>
            </a:r>
            <a:r>
              <a:rPr sz="900" i="1">
                <a:latin typeface="Cambria Math"/>
              </a:rPr>
              <a:t>\theta=0.90</a:t>
            </a:r>
            <a:r>
              <a:rPr sz="900"/>
              <a:t> pushes peak to bin </a:t>
            </a:r>
            <a:r>
              <a:rPr sz="900" i="1">
                <a:latin typeface="Cambria Math"/>
              </a:rPr>
              <a:t>16</a:t>
            </a:r>
            <a:r>
              <a:rPr sz="900"/>
              <a:t> (top saturation).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K/N=40\%</a:t>
            </a:r>
            <a:r>
              <a:rPr sz="900"/>
              <a:t>: all arms peak at bin </a:t>
            </a:r>
            <a:r>
              <a:rPr sz="900" i="1">
                <a:latin typeface="Cambria Math"/>
              </a:rPr>
              <a:t>16</a:t>
            </a:r>
            <a:r>
              <a:rPr sz="900"/>
              <a:t> — selectivity dominates </a:t>
            </a:r>
            <a:r>
              <a:rPr sz="900" i="1">
                <a:latin typeface="Cambria Math"/>
              </a:rPr>
              <a:t>\theta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Do not fix </a:t>
            </a:r>
            <a:r>
              <a:rPr sz="900" i="1">
                <a:latin typeface="Cambria Math"/>
              </a:rPr>
              <a:t>\theta = f(K/N)</a:t>
            </a:r>
            <a:r>
              <a:rPr sz="900"/>
              <a:t> without Alex — panel is descriptive.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\theta</a:t>
            </a:r>
            <a:r>
              <a:rPr sz="1100"/>
              <a:t> and </a:t>
            </a:r>
            <a:r>
              <a:rPr sz="1100" i="1">
                <a:latin typeface="Cambria Math"/>
              </a:rPr>
              <a:t>K/N</a:t>
            </a:r>
            <a:r>
              <a:rPr sz="1100"/>
              <a:t> co-vary — at MBB-like selectivity (</a:t>
            </a:r>
            <a:r>
              <a:rPr sz="1100" i="1">
                <a:latin typeface="Cambria Math"/>
              </a:rPr>
              <a:t>1\%</a:t>
            </a:r>
            <a:r>
              <a:rPr sz="1100"/>
              <a:t>) raising </a:t>
            </a:r>
            <a:r>
              <a:rPr sz="1100" i="1">
                <a:latin typeface="Cambria Math"/>
              </a:rPr>
              <a:t>\theta</a:t>
            </a:r>
            <a:r>
              <a:rPr sz="1100"/>
              <a:t> shifts peak bin up the pool ladder; at </a:t>
            </a:r>
            <a:r>
              <a:rPr sz="1100" i="1">
                <a:latin typeface="Cambria Math"/>
              </a:rPr>
              <a:t>40\%</a:t>
            </a:r>
            <a:r>
              <a:rPr sz="1100"/>
              <a:t> selectivity curves are top-saturated regardless of </a:t>
            </a:r>
            <a:r>
              <a:rPr sz="1100" i="1">
                <a:latin typeface="Cambria Math"/>
              </a:rPr>
              <a:t>\theta</a:t>
            </a:r>
            <a:r>
              <a:rPr sz="110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\gamma</a:t>
            </a:r>
            <a:r>
              <a:rPr sz="2000"/>
              <a:t> (viability sharpness) — selection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\theta=0.72</a:t>
            </a:r>
            <a:r>
              <a:rPr sz="1000"/>
              <a:t> fixed; sort-and-chop assign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\gamma ∈ {5, 10, 20}</a:t>
            </a:r>
          </a:p>
          <a:p>
            <a:pPr>
              <a:spcAft>
                <a:spcPts val="0"/>
              </a:spcAft>
            </a:pPr>
            <a:r>
              <a:rPr sz="1000"/>
              <a:t>within each </a:t>
            </a:r>
            <a:r>
              <a:rPr sz="1000" i="1">
                <a:latin typeface="Cambria Math"/>
              </a:rPr>
              <a:t>\gamma</a:t>
            </a:r>
            <a:r>
              <a:rPr sz="1000"/>
              <a:t>: </a:t>
            </a:r>
            <a:r>
              <a:rPr sz="1000" i="1">
                <a:latin typeface="Cambria Math"/>
              </a:rPr>
              <a:t>λ ∈ {0, 0.25, 0.55, 0.75, 1.0}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768096"/>
            <a:ext cx="7007047" cy="23939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same rosters per </a:t>
            </a:r>
            <a:r>
              <a:rPr sz="900" i="1">
                <a:latin typeface="Cambria Math"/>
              </a:rPr>
              <a:t>\gamma</a:t>
            </a:r>
            <a:r>
              <a:rPr sz="900"/>
              <a:t>; only </a:t>
            </a:r>
            <a:r>
              <a:rPr sz="900" i="1">
                <a:latin typeface="Cambria Math"/>
              </a:rPr>
              <a:t>\gamma</a:t>
            </a:r>
            <a:r>
              <a:rPr sz="900"/>
              <a:t> and </a:t>
            </a:r>
            <a:r>
              <a:rPr sz="900" i="1">
                <a:latin typeface="Cambria Math"/>
              </a:rPr>
              <a:t>λ</a:t>
            </a:r>
            <a:r>
              <a:rPr sz="900"/>
              <a:t> in score change.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\gamma=5</a:t>
            </a:r>
            <a:r>
              <a:rPr sz="900"/>
              <a:t>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\approx 0.8</a:t>
            </a:r>
            <a:r>
              <a:rPr sz="900"/>
              <a:t> — hump needs larger </a:t>
            </a:r>
            <a:r>
              <a:rPr sz="900" i="1">
                <a:latin typeface="Cambria Math"/>
              </a:rPr>
              <a:t>λ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\gamma=10</a:t>
            </a:r>
            <a:r>
              <a:rPr sz="900"/>
              <a:t> (539):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\approx 0.4</a:t>
            </a:r>
            <a:r>
              <a:rPr sz="900"/>
              <a:t> — curve morph near </a:t>
            </a:r>
            <a:r>
              <a:rPr sz="900" i="1">
                <a:latin typeface="Cambria Math"/>
              </a:rPr>
              <a:t>λ \gtrsim 0.4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\gamma=20</a:t>
            </a:r>
            <a:r>
              <a:rPr sz="900"/>
              <a:t>: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 i="1">
                <a:latin typeface="Cambria Math"/>
              </a:rPr>
              <a:t>\approx 0.2</a:t>
            </a:r>
            <a:r>
              <a:rPr sz="900"/>
              <a:t> — congestion reorders at modest </a:t>
            </a:r>
            <a:r>
              <a:rPr sz="900" i="1">
                <a:latin typeface="Cambria Math"/>
              </a:rPr>
              <a:t>λ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Below crit: monotone elite-edge shape; above crit: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hump.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\gamma</a:t>
            </a:r>
            <a:r>
              <a:rPr sz="1100"/>
              <a:t> (sigmoid slope in </a:t>
            </a: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) shifts when congestion bites — higher </a:t>
            </a:r>
            <a:r>
              <a:rPr sz="1100" i="1">
                <a:latin typeface="Cambria Math"/>
              </a:rPr>
              <a:t>\gamma</a:t>
            </a:r>
            <a:r>
              <a:rPr sz="1100"/>
              <a:t> lowers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\approx 4/\gamma</a:t>
            </a:r>
            <a:r>
              <a:rPr sz="1100"/>
              <a:t> on sort-and-chop; below crit, </a:t>
            </a:r>
            <a:r>
              <a:rPr sz="1100" i="1">
                <a:latin typeface="Cambria Math"/>
              </a:rPr>
              <a:t>λ</a:t>
            </a:r>
            <a:r>
              <a:rPr sz="1100"/>
              <a:t> arms can look identical.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</a:t>
            </a:r>
            <a:r>
              <a:rPr sz="2000" i="1">
                <a:latin typeface="Cambria Math"/>
              </a:rPr>
              <a:t>λ</a:t>
            </a:r>
            <a:r>
              <a:rPr sz="1800" i="1" baseline="-25000">
                <a:latin typeface="Cambria Math"/>
              </a:rPr>
              <a:t>crit</a:t>
            </a:r>
            <a:r>
              <a:rPr sz="2000" i="1">
                <a:latin typeface="Cambria Math"/>
              </a:rPr>
              <a:t> \approx 4/\gamma</a:t>
            </a:r>
            <a:r>
              <a:rPr sz="2000"/>
              <a:t> (sort-and-chop algebra)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\gamma</a:t>
            </a:r>
            <a:r>
              <a:rPr sz="1100"/>
              <a:t> — one-at-a-time (539 sort-and-chop benchmark)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σ(x) = 1/(1+e</a:t>
            </a:r>
            <a:r>
              <a:rPr sz="900" baseline="30000">
                <a:latin typeface="Cambria Math"/>
              </a:rPr>
              <a:t>-x</a:t>
            </a:r>
            <a:r>
              <a:rPr sz="1100" i="1">
                <a:latin typeface="Cambria Math"/>
              </a:rPr>
              <a:t>)</a:t>
            </a:r>
            <a:r>
              <a:rPr sz="1100"/>
              <a:t>, </a:t>
            </a:r>
            <a:r>
              <a:rPr sz="1100" i="1">
                <a:latin typeface="Cambria Math"/>
              </a:rPr>
              <a:t>x = \gamma(A-\theta)</a:t>
            </a:r>
          </a:p>
          <a:p>
            <a:pPr>
              <a:spcAft>
                <a:spcPts val="0"/>
              </a:spcAft>
            </a:pPr>
            <a:r>
              <a:rPr sz="1000"/>
              <a:t>Educational: how </a:t>
            </a:r>
            <a:r>
              <a:rPr sz="1000" i="1">
                <a:latin typeface="Cambria Math"/>
              </a:rPr>
              <a:t>\gamma</a:t>
            </a:r>
            <a:r>
              <a:rPr sz="1000"/>
              <a:t> shapes </a:t>
            </a: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along ability axis</a:t>
            </a:r>
          </a:p>
          <a:p>
            <a:pPr>
              <a:spcAft>
                <a:spcPts val="0"/>
              </a:spcAft>
            </a:pPr>
            <a:r>
              <a:rPr sz="1000"/>
              <a:t>vertical lines: </a:t>
            </a:r>
            <a:r>
              <a:rPr sz="10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1000" i="1">
                <a:latin typeface="Cambria Math"/>
              </a:rPr>
              <a:t> = 4/\gamma</a:t>
            </a:r>
            <a:r>
              <a:rPr sz="1000"/>
              <a:t> for each </a:t>
            </a:r>
            <a:r>
              <a:rPr sz="1000" i="1">
                <a:latin typeface="Cambria Math"/>
              </a:rPr>
              <a:t>\gamma</a:t>
            </a:r>
          </a:p>
          <a:p>
            <a:pPr>
              <a:spcAft>
                <a:spcPts val="0"/>
              </a:spcAft>
            </a:pPr>
            <a:r>
              <a:rPr sz="1000"/>
              <a:t>539 defaults: </a:t>
            </a:r>
            <a:r>
              <a:rPr sz="1000" i="1">
                <a:latin typeface="Cambria Math"/>
              </a:rPr>
              <a:t>\theta=0.72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→ crit </a:t>
            </a:r>
            <a:r>
              <a:rPr sz="1000" i="1">
                <a:latin typeface="Cambria Math"/>
              </a:rPr>
              <a:t>= 0.4</a:t>
            </a:r>
          </a:p>
          <a:p>
            <a:pPr>
              <a:spcAft>
                <a:spcPts val="0"/>
              </a:spcAft>
            </a:pPr>
            <a:r>
              <a:rPr sz="1000"/>
              <a:t>Pairs with sort-and-chop </a:t>
            </a:r>
            <a:r>
              <a:rPr sz="1000" i="1">
                <a:latin typeface="Cambria Math"/>
              </a:rPr>
              <a:t>λ</a:t>
            </a:r>
            <a:r>
              <a:rPr sz="1000"/>
              <a:t> threshold memo (doc 06)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768096"/>
            <a:ext cx="7007047" cy="31866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Soft viability: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— not a hard step; </a:t>
            </a:r>
            <a:r>
              <a:rPr sz="900" i="1">
                <a:latin typeface="Cambria Math"/>
              </a:rPr>
              <a:t>\gamma</a:t>
            </a:r>
            <a:r>
              <a:rPr sz="900"/>
              <a:t> sets knee steepness.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On sort-and-chop,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\parallel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within teams → small </a:t>
            </a:r>
            <a:r>
              <a:rPr sz="900" i="1">
                <a:latin typeface="Cambria Math"/>
              </a:rPr>
              <a:t>λ</a:t>
            </a:r>
            <a:r>
              <a:rPr sz="900"/>
              <a:t> may not reorder top-</a:t>
            </a:r>
            <a:r>
              <a:rPr sz="900" i="1">
                <a:latin typeface="Cambria Math"/>
              </a:rPr>
              <a:t>K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: first </a:t>
            </a:r>
            <a:r>
              <a:rPr sz="900" i="1">
                <a:latin typeface="Cambria Math"/>
              </a:rPr>
              <a:t>λ</a:t>
            </a:r>
            <a:r>
              <a:rPr sz="900"/>
              <a:t> where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- λ L</a:t>
            </a:r>
            <a:r>
              <a:rPr sz="800" i="1" baseline="-25000">
                <a:latin typeface="Cambria Math"/>
              </a:rPr>
              <a:t>C</a:t>
            </a:r>
            <a:r>
              <a:rPr sz="900"/>
              <a:t> changes who gets selected.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Visual curve departure in </a:t>
            </a:r>
            <a:r>
              <a:rPr sz="900" i="1">
                <a:latin typeface="Cambria Math"/>
              </a:rPr>
              <a:t>16</a:t>
            </a:r>
            <a:r>
              <a:rPr sz="900"/>
              <a:t> bins can lag </a:t>
            </a:r>
            <a:r>
              <a:rPr sz="900" i="1">
                <a:latin typeface="Cambria Math"/>
              </a:rPr>
              <a:t>λ</a:t>
            </a:r>
            <a:r>
              <a:rPr sz="800" i="1" baseline="-25000">
                <a:latin typeface="Cambria Math"/>
              </a:rPr>
              <a:t>crit</a:t>
            </a:r>
            <a:r>
              <a:rPr sz="900"/>
              <a:t> — use finer bins or check reorder.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Ties to Alex Q: why </a:t>
            </a:r>
            <a:r>
              <a:rPr sz="900" i="1">
                <a:latin typeface="Cambria Math"/>
              </a:rPr>
              <a:t>λ=0</a:t>
            </a:r>
            <a:r>
              <a:rPr sz="900"/>
              <a:t> and </a:t>
            </a:r>
            <a:r>
              <a:rPr sz="900" i="1">
                <a:latin typeface="Cambria Math"/>
              </a:rPr>
              <a:t>λ=0.25</a:t>
            </a:r>
            <a:r>
              <a:rPr sz="900"/>
              <a:t> match until </a:t>
            </a:r>
            <a:r>
              <a:rPr sz="900" i="1">
                <a:latin typeface="Cambria Math"/>
              </a:rPr>
              <a:t>λ \gtrsim 4/\gamma</a:t>
            </a:r>
            <a:r>
              <a:rPr sz="900"/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λ</a:t>
            </a:r>
            <a:r>
              <a:rPr sz="900" i="1" baseline="-25000">
                <a:latin typeface="Cambria Math"/>
              </a:rPr>
              <a:t>crit</a:t>
            </a:r>
            <a:r>
              <a:rPr sz="1100" i="1">
                <a:latin typeface="Cambria Math"/>
              </a:rPr>
              <a:t> \approx 4/\gamma</a:t>
            </a:r>
            <a:r>
              <a:rPr sz="1100"/>
              <a:t> is the first </a:t>
            </a:r>
            <a:r>
              <a:rPr sz="1100" i="1">
                <a:latin typeface="Cambria Math"/>
              </a:rPr>
              <a:t>λ</a:t>
            </a:r>
            <a:r>
              <a:rPr sz="1100"/>
              <a:t> where score reorder beats talent-only on sort-and-chop — not when the curve visually departs from </a:t>
            </a:r>
            <a:r>
              <a:rPr sz="1100" i="1">
                <a:latin typeface="Cambria Math"/>
              </a:rPr>
              <a:t>λ=0</a:t>
            </a:r>
            <a:r>
              <a:rPr sz="1100"/>
              <a:t> in coarse bins.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