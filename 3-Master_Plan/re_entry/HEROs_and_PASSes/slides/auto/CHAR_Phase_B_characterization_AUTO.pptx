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Fake-league characterization (not curve fitting)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1024128"/>
          <a:ext cx="5806439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901"/>
                <a:gridCol w="1625803"/>
                <a:gridCol w="3367735"/>
              </a:tblGrid>
              <a:tr h="510235"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Plain name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 b="1">
                          <a:latin typeface="Calibri"/>
                        </a:defRPr>
                      </a:pPr>
                      <a:r>
                        <a:t>What it controls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A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Player ability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Innate talent draw — Beta(2,2) on [0,1] (539 preset)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j^*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Sim assignment target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Synthetic iid Uniform[0,1] per team (`draw_target_means`); soft-assign attractor — not realized roster talent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Realized team talent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Mean </a:t>
                      </a:r>
                      <a:r>
                        <a:rPr sz="800" i="1">
                          <a:latin typeface="Cambria Math"/>
                        </a:rPr>
                        <a:t>A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  <a:r>
                        <a:rPr sz="800"/>
                        <a:t> on team </a:t>
                      </a:r>
                      <a:r>
                        <a:rPr sz="800" i="1">
                          <a:latin typeface="Cambria Math"/>
                        </a:rPr>
                        <a:t>j</a:t>
                      </a:r>
                      <a:r>
                        <a:rPr sz="800"/>
                        <a:t>'s roster after ASSIGN; empirical </a:t>
                      </a:r>
                      <a:r>
                        <a:rPr sz="8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jt</a:t>
                      </a:r>
                      <a:r>
                        <a:rPr sz="800"/>
                        <a:t> from </a:t>
                      </a:r>
                      <a:r>
                        <a:rPr sz="800" i="1">
                          <a:latin typeface="Cambria Math"/>
                        </a:rPr>
                        <a:t>\hat{A}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ρ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Assignment assortativity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Soft match strength: players </a:t>
                      </a:r>
                      <a:r>
                        <a:rPr sz="800" i="1">
                          <a:latin typeface="Cambria Math"/>
                        </a:rPr>
                        <a:t>\to</a:t>
                      </a:r>
                      <a:r>
                        <a:rPr sz="800"/>
                        <a:t> teams with </a:t>
                      </a:r>
                      <a:r>
                        <a:rPr sz="800" i="1">
                          <a:latin typeface="Cambria Math"/>
                        </a:rPr>
                        <a:t>T</a:t>
                      </a:r>
                      <a:r>
                        <a:rPr sz="800" i="1" baseline="-25000">
                          <a:latin typeface="Cambria Math"/>
                        </a:rPr>
                        <a:t>j^*</a:t>
                      </a:r>
                      <a:r>
                        <a:rPr sz="800" i="1">
                          <a:latin typeface="Cambria Math"/>
                        </a:rPr>
                        <a:t> ≈ A</a:t>
                      </a:r>
                      <a:r>
                        <a:rPr sz="800" i="1" baseline="-25000">
                          <a:latin typeface="Cambria Math"/>
                        </a:rPr>
                        <a:t>i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L</a:t>
                      </a:r>
                      <a:r>
                        <a:rPr sz="800" i="1" baseline="-25000">
                          <a:latin typeface="Cambria Math"/>
                        </a:rPr>
                        <a:t>C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Congestion measure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LOO peer viability — deck uses smooth </a:t>
                      </a:r>
                      <a:r>
                        <a:rPr sz="800" i="1">
                          <a:latin typeface="Cambria Math"/>
                        </a:rPr>
                        <a:t>σ</a:t>
                      </a:r>
                      <a:r>
                        <a:rPr sz="800"/>
                        <a:t>; code also has hard share (</a:t>
                      </a:r>
                      <a:r>
                        <a:rPr sz="800" i="1">
                          <a:latin typeface="Cambria Math"/>
                        </a:rPr>
                        <a:t>A</a:t>
                      </a:r>
                      <a:r>
                        <a:rPr sz="800" i="1" baseline="-25000">
                          <a:latin typeface="Cambria Math"/>
                        </a:rPr>
                        <a:t>j</a:t>
                      </a:r>
                      <a:r>
                        <a:rPr sz="800" i="1">
                          <a:latin typeface="Cambria Math"/>
                        </a:rPr>
                        <a:t>&gt;\theta</a:t>
                      </a:r>
                      <a:r>
                        <a:rPr sz="800"/>
                        <a:t>)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λ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Congestion weight in score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How hard </a:t>
                      </a:r>
                      <a:r>
                        <a:rPr sz="800" i="1">
                          <a:latin typeface="Cambria Math"/>
                        </a:rPr>
                        <a:t>L</a:t>
                      </a:r>
                      <a:r>
                        <a:rPr sz="800" i="1" baseline="-25000">
                          <a:latin typeface="Cambria Math"/>
                        </a:rPr>
                        <a:t>C</a:t>
                      </a:r>
                      <a:r>
                        <a:rPr sz="800"/>
                        <a:t> penalizes ranking — not congestion itself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\theta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Viability cutline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800">
                          <a:latin typeface="Calibri"/>
                        </a:defRPr>
                      </a:pPr>
                      <a:r>
                        <a:t>Center of the sigmoid</a:t>
                      </a:r>
                    </a:p>
                  </a:txBody>
                  <a:tcPr anchor="ctr"/>
                </a:tc>
              </a:tr>
              <a:tr h="510235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\gamma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Sigmoid sharpness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Steepness of viability step around </a:t>
                      </a:r>
                      <a:r>
                        <a:rPr sz="800" i="1">
                          <a:latin typeface="Cambria Math"/>
                        </a:rPr>
                        <a:t>\theta</a:t>
                      </a:r>
                    </a:p>
                  </a:txBody>
                  <a:tcPr anchor="ctr"/>
                </a:tc>
              </a:tr>
              <a:tr h="51023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i="1">
                          <a:latin typeface="Cambria Math"/>
                        </a:rPr>
                        <a:t>K/N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pPr>
                        <a:defRPr sz="900">
                          <a:latin typeface="Calibri"/>
                        </a:defRPr>
                      </a:pPr>
                      <a:r>
                        <a:t>Selectivity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/>
                        <a:t>Fraction of league selected (</a:t>
                      </a:r>
                      <a:r>
                        <a:rPr sz="800" i="1">
                          <a:latin typeface="Cambria Math"/>
                        </a:rPr>
                        <a:t>K \div N</a:t>
                      </a:r>
                      <a:r>
                        <a:rPr sz="800"/>
                        <a:t>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749808"/>
            <a:ext cx="5361127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/>
              <a:t>Not curve fitting: which rules \emph{bend} synthetic selection curves — not NCAA fit yet.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Three steps: ASSIGN (</a:t>
            </a:r>
            <a:r>
              <a:rPr sz="900" i="1">
                <a:latin typeface="Cambria Math"/>
              </a:rPr>
              <a:t>ρ</a:t>
            </a:r>
            <a:r>
              <a:rPr sz="900"/>
              <a:t>) </a:t>
            </a:r>
            <a:r>
              <a:rPr sz="900" i="1">
                <a:latin typeface="Cambria Math"/>
              </a:rPr>
              <a:t>\to</a:t>
            </a:r>
            <a:r>
              <a:rPr sz="900"/>
              <a:t> SCORE (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) </a:t>
            </a:r>
            <a:r>
              <a:rPr sz="900" i="1">
                <a:latin typeface="Cambria Math"/>
              </a:rPr>
              <a:t>\to</a:t>
            </a:r>
            <a:r>
              <a:rPr sz="900"/>
              <a:t> SELECT (top-</a:t>
            </a:r>
            <a:r>
              <a:rPr sz="900" i="1">
                <a:latin typeface="Cambria Math"/>
              </a:rPr>
              <a:t>K</a:t>
            </a:r>
            <a:r>
              <a:rPr sz="900"/>
              <a:t>); then VISUALIZE by pool-mean bin.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in this deck: \texttt{crowding\_smooth} (mean </a:t>
            </a:r>
            <a:r>
              <a:rPr sz="900" i="1">
                <a:latin typeface="Cambria Math"/>
              </a:rPr>
              <a:t>σ</a:t>
            </a:r>
            <a:r>
              <a:rPr sz="900"/>
              <a:t>). Code also builds hard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= LOO share with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j</a:t>
            </a:r>
            <a:r>
              <a:rPr sz="900" i="1">
                <a:latin typeface="Cambria Math"/>
              </a:rPr>
              <a:t> &gt; \theta</a:t>
            </a:r>
            <a:r>
              <a:rPr sz="900"/>
              <a:t> — not shown here.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One-at-a-time (OAT): each slide moves one knob; other settings stay at benchmark values.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Seed 42 on stochastic steps: draw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; soft-</a:t>
            </a:r>
            <a:r>
              <a:rPr sz="900" i="1">
                <a:latin typeface="Cambria Math"/>
              </a:rPr>
              <a:t>ρ</a:t>
            </a:r>
            <a:r>
              <a:rPr sz="900"/>
              <a:t> assignment. Score, top-</a:t>
            </a:r>
            <a:r>
              <a:rPr sz="900" i="1">
                <a:latin typeface="Cambria Math"/>
              </a:rPr>
              <a:t>K</a:t>
            </a:r>
            <a:r>
              <a:rPr sz="900"/>
              <a:t>, bins are deterministic.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League: </a:t>
            </a:r>
            <a:r>
              <a:rPr sz="900" i="1">
                <a:latin typeface="Cambria Math"/>
              </a:rPr>
              <a:t>N=5600</a:t>
            </a:r>
            <a:r>
              <a:rPr sz="900"/>
              <a:t>, </a:t>
            </a:r>
            <a:r>
              <a:rPr sz="900" i="1">
                <a:latin typeface="Cambria Math"/>
              </a:rPr>
              <a:t>K=560</a:t>
            </a:r>
            <a:r>
              <a:rPr sz="900"/>
              <a:t>, </a:t>
            </a:r>
            <a:r>
              <a:rPr sz="900" i="1">
                <a:latin typeface="Cambria Math"/>
              </a:rPr>
              <a:t>K/N=10%</a:t>
            </a:r>
            <a:r>
              <a:rPr sz="900"/>
              <a:t> (539 preset).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2660903"/>
            <a:ext cx="53611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: Beta(2,2) on [0,1] — \texttt{SELECTION\_539\_ABILITY\_DRAW}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: Uniform[0,1] iid per team — \texttt{draw\_target\_means}; synthetic assignment targets, not NCAA roster data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: realized roster mean after ASSIGN — not drawn; Sketch A 2D </a:t>
            </a:r>
            <a:r>
              <a:rPr sz="900" i="1">
                <a:latin typeface="Cambria Math"/>
              </a:rPr>
              <a:t>y</a:t>
            </a:r>
            <a:r>
              <a:rPr sz="900"/>
              <a:t>-axis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λ=0.55</a:t>
            </a:r>
            <a:r>
              <a:rPr sz="900"/>
              <a:t> — \texttt{tier1\_539\_reference\_settings.json} / playground default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— same 539 reference JSON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ρ=8</a:t>
            </a:r>
            <a:r>
              <a:rPr sz="900"/>
              <a:t> — gallery fixed assign for </a:t>
            </a:r>
            <a:r>
              <a:rPr sz="900" i="1">
                <a:latin typeface="Cambria Math"/>
              </a:rPr>
              <a:t>λ</a:t>
            </a:r>
            <a:r>
              <a:rPr sz="900"/>
              <a:t> / </a:t>
            </a:r>
            <a:r>
              <a:rPr sz="900" i="1">
                <a:latin typeface="Cambria Math"/>
              </a:rPr>
              <a:t>\theta</a:t>
            </a:r>
            <a:r>
              <a:rPr sz="900"/>
              <a:t> slides (moderate-high mixing; not a 539 JSON field)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K/N=10%</a:t>
            </a:r>
            <a:r>
              <a:rPr sz="900"/>
              <a:t> — characterization default (MBB draft </a:t>
            </a:r>
            <a:r>
              <a:rPr sz="900" i="1">
                <a:latin typeface="Cambria Math"/>
              </a:rPr>
              <a:t>≈</a:t>
            </a:r>
            <a:r>
              <a:rPr sz="900"/>
              <a:t> 1% is a separate calibration point)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114799"/>
            <a:ext cx="5361127" cy="1975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b="1"/>
            </a:pPr>
            <a:r>
              <a:rPr sz="900"/>
              <a:t>Real hero: draft rate vs \textbf{poolq\_loo} (teammate quality, leave-one-out) — a \textbf{bend} at the top bins.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This deck: fraction selected vs \textbf{pool mean} in a fake league — same \emph{kind} of question, different axis and league.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Benchmarks anchor to the Alex 539 playground track so sim slides stay comparable; we have \textbf{not} re-fit those numbers to NCAA data in Phase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6126480"/>
            <a:ext cx="1142359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100"/>
              <a:t>Claim: Phase B maps which generative knobs move \emph{who gets selected} — prerequisite before Phase C calibration to the hero.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01168"/>
            <a:ext cx="11423599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800"/>
              <a:t>Phase B — Simulated league inputs: actual </a:t>
            </a:r>
            <a:r>
              <a:rPr sz="1800" i="1">
                <a:latin typeface="Cambria Math"/>
              </a:rPr>
              <a:t>A</a:t>
            </a:r>
            <a:r>
              <a:rPr sz="1600" i="1" baseline="-25000">
                <a:latin typeface="Cambria Math"/>
              </a:rPr>
              <a:t>i</a:t>
            </a:r>
            <a:r>
              <a:rPr sz="1800"/>
              <a:t> and </a:t>
            </a:r>
            <a:r>
              <a:rPr sz="1800" i="1">
                <a:latin typeface="Cambria Math"/>
              </a:rPr>
              <a:t>T</a:t>
            </a:r>
            <a:r>
              <a:rPr sz="1600" i="1" baseline="-25000">
                <a:latin typeface="Cambria Math"/>
              </a:rPr>
              <a:t>j^*</a:t>
            </a:r>
            <a:r>
              <a:rPr sz="1800"/>
              <a:t> draws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11423599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539 preset · seed 42 · </a:t>
            </a:r>
            <a:r>
              <a:rPr sz="900" i="1">
                <a:latin typeface="Cambria Math"/>
              </a:rPr>
              <a:t>N=5,600</a:t>
            </a:r>
            <a:r>
              <a:rPr sz="900"/>
              <a:t> players · 350 teams × roster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05840"/>
            <a:ext cx="3063240" cy="4974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One draw reused across all OAT arms — only placement / score rules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Left: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∼</a:t>
            </a:r>
            <a:r>
              <a:rPr sz="900"/>
              <a:t> Beta(2,2) on [0,1] — unimodal, mean </a:t>
            </a:r>
            <a:r>
              <a:rPr sz="900" i="1">
                <a:latin typeface="Cambria Math"/>
              </a:rPr>
              <a:t>≈ 0.5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Right: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 i="1">
                <a:latin typeface="Cambria Math"/>
              </a:rPr>
              <a:t> ∼</a:t>
            </a:r>
            <a:r>
              <a:rPr sz="900"/>
              <a:t> iid Uniform[0,1] per team — sim assignment targets.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Orange curve = theoretical pdf scaled to histogram bin width.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This run: mean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=0.500</a:t>
            </a:r>
            <a:r>
              <a:rPr sz="900"/>
              <a:t>, mean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 i="1">
                <a:latin typeface="Cambria Math"/>
              </a:rPr>
              <a:t>=0.491</a:t>
            </a:r>
            <a:r>
              <a:rPr sz="900"/>
              <a:t> (sd 0.223 / 0.290).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Not NCAA data — fake league inputs for characterization.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792428"/>
            <a:ext cx="8177479" cy="3401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/>
            </a:pPr>
            <a:r>
              <a:rPr sz="1000"/>
              <a:t>Claim: Phase B fixes one stochastic league draw (seed 42) — </a:t>
            </a:r>
            <a:r>
              <a:rPr sz="10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1000"/>
              <a:t> and </a:t>
            </a:r>
            <a:r>
              <a:rPr sz="10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1000"/>
              <a:t> are the inputs every OAT arm reuses; only ASSIGN / SCORE knobs change across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shown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\frac{(A_i-T_{j^*})^2}{2\sigma^2}\right)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  <a:r>
              <a:rPr sz="1000"/>
              <a:t> + sort-and-chop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246" y="768096"/>
            <a:ext cx="5172890" cy="3511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97680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hard rank match (same score rule as soft arms).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86984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/>
              <a:t>Why </a:t>
            </a:r>
            <a:r>
              <a:rPr sz="1000" i="1">
                <a:latin typeface="Cambria Math"/>
              </a:rPr>
              <a:t>ρ</a:t>
            </a:r>
            <a:r>
              <a:rPr sz="1000"/>
              <a:t> matters here: assignment assortativity sets how spread out team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is across the league — at </a:t>
            </a:r>
            <a:r>
              <a:rPr sz="1000" i="1">
                <a:latin typeface="Cambria Math"/>
              </a:rPr>
              <a:t>ρ ≈ 0</a:t>
            </a:r>
            <a:r>
              <a:rPr sz="1000"/>
              <a:t> (arm </a:t>
            </a:r>
            <a:r>
              <a:rPr sz="1000" i="1">
                <a:latin typeface="Cambria Math"/>
              </a:rPr>
              <a:t>0.001</a:t>
            </a:r>
            <a:r>
              <a:rPr sz="1000"/>
              <a:t>) rosters mix and peer pressure looks the same everywhere;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 weak teams pile up near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 ≈ 0</a:t>
            </a:r>
            <a:r>
              <a:rPr sz="1000"/>
              <a:t> while elite rosters face real congestion.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suppressed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\frac{(A_i-T_{j^*})^2}{2\sigma^2}\right)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895" y="768096"/>
            <a:ext cx="5235593" cy="3511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97680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arm omitted from plot (still in CSV bundle; toggle restores it).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86984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/>
              <a:t>Why </a:t>
            </a:r>
            <a:r>
              <a:rPr sz="1000" i="1">
                <a:latin typeface="Cambria Math"/>
              </a:rPr>
              <a:t>ρ</a:t>
            </a:r>
            <a:r>
              <a:rPr sz="1000"/>
              <a:t> matters here: assignment assortativity sets how spread out team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is across the league — at </a:t>
            </a:r>
            <a:r>
              <a:rPr sz="1000" i="1">
                <a:latin typeface="Cambria Math"/>
              </a:rPr>
              <a:t>ρ ≈ 0</a:t>
            </a:r>
            <a:r>
              <a:rPr sz="1000"/>
              <a:t> (arm </a:t>
            </a:r>
            <a:r>
              <a:rPr sz="1000" i="1">
                <a:latin typeface="Cambria Math"/>
              </a:rPr>
              <a:t>0.001</a:t>
            </a:r>
            <a:r>
              <a:rPr sz="1000"/>
              <a:t>) rosters mix and peer pressure looks the same everywhere;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 weak teams pile up near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 ≈ 0</a:t>
            </a:r>
            <a:r>
              <a:rPr sz="1000"/>
              <a:t> while elite rosters face real congestion.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5161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600"/>
              <a:t>Phase B — Team 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 vs </a:t>
            </a:r>
            <a:r>
              <a:rPr sz="1600" i="1">
                <a:latin typeface="Cambria Math"/>
              </a:rPr>
              <a:t>ρ</a:t>
            </a:r>
            <a:r>
              <a:rPr sz="1600"/>
              <a:t> (PD16 Sketch A) -- How Congestion alone (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) varies with change in </a:t>
            </a:r>
            <a:r>
              <a:rPr sz="1600" i="1">
                <a:latin typeface="Cambria Math"/>
              </a:rPr>
              <a:t>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40080"/>
            <a:ext cx="1155161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PD16: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; </a:t>
            </a:r>
            <a:r>
              <a:rPr sz="900" i="1">
                <a:latin typeface="Cambria Math"/>
              </a:rPr>
              <a:t>\theta</a:t>
            </a:r>
            <a:r>
              <a:rPr sz="900"/>
              <a:t> = 0.804 (naive draft); suffix=_pd16 · 48 bins · 350 teams · seed 42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09049376445"/>
            <a:ext cx="11551615" cy="6539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 = one narrow spike near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≈ 0.15</a:t>
            </a:r>
            <a:r>
              <a:rPr sz="900"/>
              <a:t>. First 3 panels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31538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 = mass at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≈ 0</a:t>
            </a:r>
            <a:r>
              <a:rPr sz="900"/>
              <a:t> (weak rosters) + second hump at elite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43036" y="4648868121600"/>
            <a:ext cx="372861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At </a:t>
            </a:r>
            <a:r>
              <a:rPr sz="900" i="1">
                <a:latin typeface="Cambria Math"/>
              </a:rPr>
              <a:t>ρ=32</a:t>
            </a:r>
            <a:r>
              <a:rPr sz="900"/>
              <a:t>: </a:t>
            </a:r>
            <a:r>
              <a:rPr sz="900" i="1">
                <a:latin typeface="Cambria Math"/>
              </a:rPr>
              <a:t>48\%</a:t>
            </a:r>
            <a:r>
              <a:rPr sz="900"/>
              <a:t> of teams below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 i="1">
                <a:latin typeface="Cambria Math"/>
              </a:rPr>
              <a:t>=0.05</a:t>
            </a:r>
            <a:r>
              <a:rPr sz="900"/>
              <a:t> - weak rosters - almost no peer pressure.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292686188800"/>
            <a:ext cx="63533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900"/>
              <a:t>Of Note: The mean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is almost identical for all plots, hovering </a:t>
            </a:r>
            <a:r>
              <a:rPr sz="900" i="1">
                <a:latin typeface="Cambria Math"/>
              </a:rPr>
              <a:t>≈ 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080760"/>
            <a:ext cx="115516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000"/>
              <a:t>Claim: </a:t>
            </a:r>
            <a:r>
              <a:rPr sz="1000" i="1">
                <a:latin typeface="Cambria Math"/>
              </a:rPr>
              <a:t>ρ</a:t>
            </a:r>
            <a:r>
              <a:rPr sz="1000"/>
              <a:t> stratifies team congestion across the league — low-</a:t>
            </a:r>
            <a:r>
              <a:rPr sz="1000" i="1">
                <a:latin typeface="Cambria Math"/>
              </a:rPr>
              <a:t>ρ</a:t>
            </a:r>
            <a:r>
              <a:rPr sz="1000"/>
              <a:t> mixing yields one narrow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hump; high-</a:t>
            </a:r>
            <a:r>
              <a:rPr sz="1000" i="1">
                <a:latin typeface="Cambria Math"/>
              </a:rPr>
              <a:t>ρ</a:t>
            </a:r>
            <a:r>
              <a:rPr sz="1000"/>
              <a:t> assortativity piles weak teams at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 i="1">
                <a:latin typeface="Cambria Math"/>
              </a:rPr>
              <a:t>≈ 0</a:t>
            </a:r>
            <a:r>
              <a:rPr sz="1000"/>
              <a:t> and elite rosters at higher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1155161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/>
            </a:pPr>
            <a:r>
              <a:rPr sz="1600"/>
              <a:t>Phase B — Realized </a:t>
            </a:r>
            <a:r>
              <a:rPr sz="1600" i="1">
                <a:latin typeface="Cambria Math"/>
              </a:rPr>
              <a:t>T</a:t>
            </a:r>
            <a:r>
              <a:rPr sz="1400" i="1" baseline="-25000">
                <a:latin typeface="Cambria Math"/>
              </a:rPr>
              <a:t>j</a:t>
            </a:r>
            <a:r>
              <a:rPr sz="1600"/>
              <a:t> vs 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 (PD16 Sketch A — co-movement) -- Team talent </a:t>
            </a:r>
            <a:r>
              <a:rPr sz="1600" i="1">
                <a:latin typeface="Cambria Math"/>
              </a:rPr>
              <a:t>T</a:t>
            </a:r>
            <a:r>
              <a:rPr sz="1400" i="1" baseline="-25000">
                <a:latin typeface="Cambria Math"/>
              </a:rPr>
              <a:t>j</a:t>
            </a:r>
            <a:r>
              <a:rPr sz="1600"/>
              <a:t> vs congestion (</a:t>
            </a:r>
            <a:r>
              <a:rPr sz="1600" i="1">
                <a:latin typeface="Cambria Math"/>
              </a:rPr>
              <a:t>L</a:t>
            </a:r>
            <a:r>
              <a:rPr sz="1400" i="1" baseline="-25000">
                <a:latin typeface="Cambria Math"/>
              </a:rPr>
              <a:t>C</a:t>
            </a:r>
            <a:r>
              <a:rPr sz="1600"/>
              <a:t>) as </a:t>
            </a:r>
            <a:r>
              <a:rPr sz="1600" i="1">
                <a:latin typeface="Cambria Math"/>
              </a:rPr>
              <a:t>ρ</a:t>
            </a:r>
            <a:r>
              <a:rPr sz="1600"/>
              <a:t> varies.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40080"/>
            <a:ext cx="1155161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PD16: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; </a:t>
            </a:r>
            <a:r>
              <a:rPr sz="900" i="1">
                <a:latin typeface="Cambria Math"/>
              </a:rPr>
              <a:t>\theta</a:t>
            </a:r>
            <a:r>
              <a:rPr sz="900"/>
              <a:t> = 0.804 (naive draft); suffix=_pd16 · 48 bins · 350 teams · seed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19404812800"/>
            <a:ext cx="2880360" cy="467395194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Each cell: # teams at (realized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, team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Color = count.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compact blob —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and congestion barely co-vary.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upward tail — as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rises,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rises.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Weak rosters at high </a:t>
            </a:r>
            <a:r>
              <a:rPr sz="900" i="1">
                <a:latin typeface="Cambria Math"/>
              </a:rPr>
              <a:t>ρ</a:t>
            </a:r>
            <a:r>
              <a:rPr sz="900"/>
              <a:t>: low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low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Elite rosters: high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high </a:t>
            </a:r>
            <a:r>
              <a:rPr sz="9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156378269873"/>
            <a:ext cx="8488375" cy="50282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080760"/>
            <a:ext cx="115516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000"/>
              <a:t>Claim: at high </a:t>
            </a:r>
            <a:r>
              <a:rPr sz="1000" i="1">
                <a:latin typeface="Cambria Math"/>
              </a:rPr>
              <a:t>ρ</a:t>
            </a:r>
            <a:r>
              <a:rPr sz="1000"/>
              <a:t>, better teams systematically face more peer pressure — the upward cloud in realized </a:t>
            </a:r>
            <a:r>
              <a:rPr sz="10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1000"/>
              <a:t> vs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. That gives </a:t>
            </a:r>
            <a:r>
              <a:rPr sz="1000" i="1">
                <a:latin typeface="Cambria Math"/>
              </a:rPr>
              <a:t>ρ</a:t>
            </a:r>
            <a:r>
              <a:rPr sz="1000"/>
              <a:t> a model-internal read beyond “the Pass C selection plot moved.”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λ</a:t>
            </a:r>
            <a:r>
              <a:rPr sz="2000"/>
              <a:t> (weight on </a:t>
            </a:r>
            <a:r>
              <a:rPr sz="2000" i="1">
                <a:latin typeface="Cambria Math"/>
              </a:rPr>
              <a:t>L</a:t>
            </a:r>
            <a:r>
              <a:rPr sz="1800" i="1" baseline="-25000">
                <a:latin typeface="Cambria Math"/>
              </a:rPr>
              <a:t>C</a:t>
            </a:r>
            <a:r>
              <a:rPr sz="2000"/>
              <a:t> in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λ</a:t>
            </a:r>
            <a:r>
              <a:rPr sz="1100"/>
              <a:t> — one-at-a-time at 539 baseline (assign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200" i="1">
                <a:latin typeface="Cambria Math"/>
              </a:rPr>
              <a:t>S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= A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- λ · L</a:t>
            </a:r>
            <a:r>
              <a:rPr sz="1000" i="1" baseline="-25000">
                <a:latin typeface="Cambria Math"/>
              </a:rPr>
              <a:t>C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 fixed (soft assign; same roster all arms)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λ ∈ {0, 0.25, 0.55, 1}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759" y="768096"/>
            <a:ext cx="6325864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j^*</a:t>
            </a:r>
            <a:r>
              <a:rPr sz="900"/>
              <a:t> + one assignment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SCORE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</a:t>
            </a:r>
            <a:r>
              <a:rPr sz="900"/>
              <a:t>: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 only — selection vs pool mean stays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λ&gt;0</a:t>
            </a:r>
            <a:r>
              <a:rPr sz="900"/>
              <a:t>: congestion in score —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roster-pressure readout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Pairs with Pass C: </a:t>
            </a:r>
            <a:r>
              <a:rPr sz="900" i="1">
                <a:latin typeface="Cambria Math"/>
              </a:rPr>
              <a:t>λ</a:t>
            </a:r>
            <a:r>
              <a:rPr sz="900"/>
              <a:t> bends score; </a:t>
            </a:r>
            <a:r>
              <a:rPr sz="900" i="1">
                <a:latin typeface="Cambria Math"/>
              </a:rPr>
              <a:t>ρ</a:t>
            </a:r>
            <a:r>
              <a:rPr sz="900"/>
              <a:t> shapes the sorted roster world.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 in score matters — </a:t>
            </a:r>
            <a:r>
              <a:rPr sz="1100" i="1">
                <a:latin typeface="Cambria Math"/>
              </a:rPr>
              <a:t>λ=0</a:t>
            </a:r>
            <a:r>
              <a:rPr sz="1100"/>
              <a:t> yields a roughly monotone talent ladder; </a:t>
            </a:r>
            <a:r>
              <a:rPr sz="1100" i="1">
                <a:latin typeface="Cambria Math"/>
              </a:rPr>
              <a:t>λ&gt;0</a:t>
            </a:r>
            <a:r>
              <a:rPr sz="1100"/>
              <a:t> puts roster pressure in the advancement rule and bends the curve.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(viability cutline) — OAT at </a:t>
            </a:r>
            <a:r>
              <a:rPr sz="2000" i="1">
                <a:latin typeface="Cambria Math"/>
              </a:rPr>
              <a:t>K/N=10\%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(assign + 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= 10\%</a:t>
            </a:r>
            <a:r>
              <a:rPr sz="1000"/>
              <a:t> (</a:t>
            </a:r>
            <a:r>
              <a:rPr sz="1000" i="1">
                <a:latin typeface="Cambria Math"/>
              </a:rPr>
              <a:t>K=560</a:t>
            </a:r>
            <a:r>
              <a:rPr sz="1000"/>
              <a:t>, </a:t>
            </a:r>
            <a:r>
              <a:rPr sz="1000" i="1">
                <a:latin typeface="Cambria Math"/>
              </a:rPr>
              <a:t>N=5600</a:t>
            </a:r>
            <a:r>
              <a:rPr sz="1000"/>
              <a:t>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mode: \texttt{crowding\_smooth} (hard \texttt{crowding} also in code)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57" y="768096"/>
            <a:ext cx="6810469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soft </a:t>
            </a:r>
            <a:r>
              <a:rPr sz="900" i="1">
                <a:latin typeface="Cambria Math"/>
              </a:rPr>
              <a:t>ρ=8</a:t>
            </a:r>
            <a:r>
              <a:rPr sz="900"/>
              <a:t>, </a:t>
            </a:r>
            <a:r>
              <a:rPr sz="900" i="1">
                <a:latin typeface="Cambria Math"/>
              </a:rPr>
              <a:t>λ=0.55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fixed; only </a:t>
            </a:r>
            <a:r>
              <a:rPr sz="900" i="1">
                <a:latin typeface="Cambria Math"/>
              </a:rPr>
              <a:t>\theta</a:t>
            </a:r>
            <a:r>
              <a:rPr sz="900"/>
              <a:t> in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\theta=0.50</a:t>
            </a:r>
            <a:r>
              <a:rPr sz="900"/>
              <a:t>: mid-pool hump (peak bin </a:t>
            </a:r>
            <a:r>
              <a:rPr sz="900" i="1">
                <a:latin typeface="Cambria Math"/>
              </a:rPr>
              <a:t>≈ 13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 (539 default): similar hump, slightly higher peak rate.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\theta=0.90</a:t>
            </a:r>
            <a:r>
              <a:rPr sz="900"/>
              <a:t>: top bins dominate — curve becomes monotone-increasing at the elite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, and </a:t>
            </a:r>
            <a:r>
              <a:rPr sz="1100" i="1">
                <a:latin typeface="Cambria Math"/>
              </a:rPr>
              <a:t>K/N=10\%</a:t>
            </a:r>
            <a:r>
              <a:rPr sz="1100"/>
              <a:t>, </a:t>
            </a:r>
            <a:r>
              <a:rPr sz="1100" i="1">
                <a:latin typeface="Cambria Math"/>
              </a:rPr>
              <a:t>\theta</a:t>
            </a:r>
            <a:r>
              <a:rPr sz="1100"/>
              <a:t> (viability cutline) moves the readout — low </a:t>
            </a:r>
            <a:r>
              <a:rPr sz="1100" i="1">
                <a:latin typeface="Cambria Math"/>
              </a:rPr>
              <a:t>\theta</a:t>
            </a:r>
            <a:r>
              <a:rPr sz="1100"/>
              <a:t> keeps a mid-pool hump; high </a:t>
            </a:r>
            <a:r>
              <a:rPr sz="1100" i="1">
                <a:latin typeface="Cambria Math"/>
              </a:rPr>
              <a:t>\theta</a:t>
            </a:r>
            <a:r>
              <a:rPr sz="1100"/>
              <a:t> top-saturates the curve.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— panel with </a:t>
            </a:r>
            <a:r>
              <a:rPr sz="2000" i="1">
                <a:latin typeface="Cambria Math"/>
              </a:rPr>
              <a:t>K/N</a:t>
            </a:r>
            <a:r>
              <a:rPr sz="2000"/>
              <a:t> (selectivity)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</a:t>
            </a:r>
            <a:r>
              <a:rPr sz="1100" i="1">
                <a:latin typeface="Cambria Math"/>
              </a:rPr>
              <a:t>K/N</a:t>
            </a:r>
            <a:r>
              <a:rPr sz="1100"/>
              <a:t> varies; assign + score rule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∈ {1\%, 10\%, 40\%}</a:t>
            </a:r>
            <a:r>
              <a:rPr sz="1000"/>
              <a:t> — heatmap = peak pool-mean bin</a:t>
            </a:r>
          </a:p>
          <a:p>
            <a:pPr>
              <a:spcAft>
                <a:spcPts val="0"/>
              </a:spcAft>
            </a:pPr>
            <a:r>
              <a:rPr sz="1000"/>
              <a:t>Readout: where the inverted-</a:t>
            </a:r>
            <a:r>
              <a:rPr sz="1000" i="1">
                <a:latin typeface="Cambria Math"/>
              </a:rPr>
              <a:t>U</a:t>
            </a:r>
            <a:r>
              <a:rPr sz="1000"/>
              <a:t> peak sits vs selectivity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48" y="768096"/>
            <a:ext cx="6810486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Grid: </a:t>
            </a:r>
            <a:r>
              <a:rPr sz="900" i="1">
                <a:latin typeface="Cambria Math"/>
              </a:rPr>
              <a:t>\theta ∈ {0.50, 0.72, 0.90}</a:t>
            </a:r>
            <a:r>
              <a:rPr sz="900"/>
              <a:t> </a:t>
            </a:r>
            <a:r>
              <a:rPr sz="900" i="1">
                <a:latin typeface="Cambria Math"/>
              </a:rPr>
              <a:t>\times</a:t>
            </a:r>
            <a:r>
              <a:rPr sz="900"/>
              <a:t> </a:t>
            </a:r>
            <a:r>
              <a:rPr sz="900" i="1">
                <a:latin typeface="Cambria Math"/>
              </a:rPr>
              <a:t>K/N ∈ {1\%, 10\%, 40\%}</a:t>
            </a:r>
            <a:r>
              <a:rPr sz="900"/>
              <a:t> on </a:t>
            </a:r>
            <a:r>
              <a:rPr sz="900" i="1">
                <a:latin typeface="Cambria Math"/>
              </a:rPr>
              <a:t>N=5600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K/N=1\%</a:t>
            </a:r>
            <a:r>
              <a:rPr sz="900"/>
              <a:t>: peak bin rises </a:t>
            </a:r>
            <a:r>
              <a:rPr sz="900" i="1">
                <a:latin typeface="Cambria Math"/>
              </a:rPr>
              <a:t>6 \to 9 \to 12</a:t>
            </a:r>
            <a:r>
              <a:rPr sz="900"/>
              <a:t> as </a:t>
            </a:r>
            <a:r>
              <a:rPr sz="900" i="1">
                <a:latin typeface="Cambria Math"/>
              </a:rPr>
              <a:t>\theta</a:t>
            </a:r>
            <a:r>
              <a:rPr sz="900"/>
              <a:t> increases.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K/N=10\%</a:t>
            </a:r>
            <a:r>
              <a:rPr sz="900"/>
              <a:t>: </a:t>
            </a:r>
            <a:r>
              <a:rPr sz="900" i="1">
                <a:latin typeface="Cambria Math"/>
              </a:rPr>
              <a:t>\theta=0.90</a:t>
            </a:r>
            <a:r>
              <a:rPr sz="900"/>
              <a:t> pushes peak to bin </a:t>
            </a:r>
            <a:r>
              <a:rPr sz="900" i="1">
                <a:latin typeface="Cambria Math"/>
              </a:rPr>
              <a:t>16</a:t>
            </a:r>
            <a:r>
              <a:rPr sz="900"/>
              <a:t> (top saturation).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K/N=40\%</a:t>
            </a:r>
            <a:r>
              <a:rPr sz="900"/>
              <a:t>: all arms peak at bin </a:t>
            </a:r>
            <a:r>
              <a:rPr sz="900" i="1">
                <a:latin typeface="Cambria Math"/>
              </a:rPr>
              <a:t>16</a:t>
            </a:r>
            <a:r>
              <a:rPr sz="900"/>
              <a:t> — selectivity dominates </a:t>
            </a:r>
            <a:r>
              <a:rPr sz="900" i="1">
                <a:latin typeface="Cambria Math"/>
              </a:rPr>
              <a:t>\theta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Do not fix </a:t>
            </a:r>
            <a:r>
              <a:rPr sz="900" i="1">
                <a:latin typeface="Cambria Math"/>
              </a:rPr>
              <a:t>\theta = f(K/N)</a:t>
            </a:r>
            <a:r>
              <a:rPr sz="900"/>
              <a:t> without Alex — panel is descriptive.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\theta</a:t>
            </a:r>
            <a:r>
              <a:rPr sz="1100"/>
              <a:t> and </a:t>
            </a:r>
            <a:r>
              <a:rPr sz="1100" i="1">
                <a:latin typeface="Cambria Math"/>
              </a:rPr>
              <a:t>K/N</a:t>
            </a:r>
            <a:r>
              <a:rPr sz="1100"/>
              <a:t> co-vary — at MBB-like selectivity (</a:t>
            </a:r>
            <a:r>
              <a:rPr sz="1100" i="1">
                <a:latin typeface="Cambria Math"/>
              </a:rPr>
              <a:t>1\%</a:t>
            </a:r>
            <a:r>
              <a:rPr sz="1100"/>
              <a:t>) raising </a:t>
            </a:r>
            <a:r>
              <a:rPr sz="1100" i="1">
                <a:latin typeface="Cambria Math"/>
              </a:rPr>
              <a:t>\theta</a:t>
            </a:r>
            <a:r>
              <a:rPr sz="1100"/>
              <a:t> shifts peak bin up the pool ladder; at </a:t>
            </a:r>
            <a:r>
              <a:rPr sz="1100" i="1">
                <a:latin typeface="Cambria Math"/>
              </a:rPr>
              <a:t>40\%</a:t>
            </a:r>
            <a:r>
              <a:rPr sz="1100"/>
              <a:t> selectivity curves are top-saturated regardless of </a:t>
            </a:r>
            <a:r>
              <a:rPr sz="1100" i="1">
                <a:latin typeface="Cambria Math"/>
              </a:rPr>
              <a:t>\theta</a:t>
            </a:r>
            <a:r>
              <a:rPr sz="110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\gamma</a:t>
            </a:r>
            <a:r>
              <a:rPr sz="2000"/>
              <a:t> (viability sharpness) — selection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\theta=0.72</a:t>
            </a:r>
            <a:r>
              <a:rPr sz="1000"/>
              <a:t> fixed; sort-and-chop assign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\gamma ∈ {5, 10, 20}</a:t>
            </a:r>
          </a:p>
          <a:p>
            <a:pPr>
              <a:spcAft>
                <a:spcPts val="0"/>
              </a:spcAft>
            </a:pPr>
            <a:r>
              <a:rPr sz="1000"/>
              <a:t>within each </a:t>
            </a:r>
            <a:r>
              <a:rPr sz="1000" i="1">
                <a:latin typeface="Cambria Math"/>
              </a:rPr>
              <a:t>\gamma</a:t>
            </a:r>
            <a:r>
              <a:rPr sz="1000"/>
              <a:t>: </a:t>
            </a:r>
            <a:r>
              <a:rPr sz="1000" i="1">
                <a:latin typeface="Cambria Math"/>
              </a:rPr>
              <a:t>λ ∈ {0, 0.25, 0.55, 0.75, 1.0}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591" y="768096"/>
            <a:ext cx="3600201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same rosters per </a:t>
            </a:r>
            <a:r>
              <a:rPr sz="900" i="1">
                <a:latin typeface="Cambria Math"/>
              </a:rPr>
              <a:t>\gamma</a:t>
            </a:r>
            <a:r>
              <a:rPr sz="900"/>
              <a:t>; only </a:t>
            </a:r>
            <a:r>
              <a:rPr sz="900" i="1">
                <a:latin typeface="Cambria Math"/>
              </a:rPr>
              <a:t>\gamma</a:t>
            </a:r>
            <a:r>
              <a:rPr sz="900"/>
              <a:t> and </a:t>
            </a:r>
            <a:r>
              <a:rPr sz="900" i="1">
                <a:latin typeface="Cambria Math"/>
              </a:rPr>
              <a:t>λ</a:t>
            </a:r>
            <a:r>
              <a:rPr sz="900"/>
              <a:t> in score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Figure uses key arms </a:t>
            </a:r>
            <a:r>
              <a:rPr sz="900" i="1">
                <a:latin typeface="Cambria Math"/>
              </a:rPr>
              <a:t>λ ∈ {0, 0.55, 1.0}</a:t>
            </a:r>
            <a:r>
              <a:rPr sz="900"/>
              <a:t> — full five-arm grid in \texttt{GAMMA\_sweep\_lambda\_curves.png}.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\gamma=5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≈ 0.8</a:t>
            </a:r>
            <a:r>
              <a:rPr sz="900"/>
              <a:t> — hump needs larger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\gamma=10</a:t>
            </a:r>
            <a:r>
              <a:rPr sz="900"/>
              <a:t> (539):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≈ 0.4</a:t>
            </a:r>
            <a:r>
              <a:rPr sz="900"/>
              <a:t> — curve morph near </a:t>
            </a:r>
            <a:r>
              <a:rPr sz="900" i="1">
                <a:latin typeface="Cambria Math"/>
              </a:rPr>
              <a:t>λ \gtrsim 0.4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Below crit: monotone elite-edge shape; above crit: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\gamma</a:t>
            </a:r>
            <a:r>
              <a:rPr sz="1100"/>
              <a:t> (sigmoid slope in </a:t>
            </a: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) shifts when congestion bites — higher </a:t>
            </a:r>
            <a:r>
              <a:rPr sz="1100" i="1">
                <a:latin typeface="Cambria Math"/>
              </a:rPr>
              <a:t>\gamma</a:t>
            </a:r>
            <a:r>
              <a:rPr sz="1100"/>
              <a:t> lowers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≈ 4/\gamma</a:t>
            </a:r>
            <a:r>
              <a:rPr sz="1100"/>
              <a:t> on sort-and-chop; below crit, </a:t>
            </a:r>
            <a:r>
              <a:rPr sz="1100" i="1">
                <a:latin typeface="Cambria Math"/>
              </a:rPr>
              <a:t>λ</a:t>
            </a:r>
            <a:r>
              <a:rPr sz="1100"/>
              <a:t> arms can look identical.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</a:t>
            </a:r>
            <a:r>
              <a:rPr sz="2000" i="1">
                <a:latin typeface="Cambria Math"/>
              </a:rPr>
              <a:t>λ</a:t>
            </a:r>
            <a:r>
              <a:rPr sz="1800" i="1" baseline="-25000">
                <a:latin typeface="Cambria Math"/>
              </a:rPr>
              <a:t>crit</a:t>
            </a:r>
            <a:r>
              <a:rPr sz="2000" i="1">
                <a:latin typeface="Cambria Math"/>
              </a:rPr>
              <a:t> ≈ 4/\gamma</a:t>
            </a:r>
            <a:r>
              <a:rPr sz="2000"/>
              <a:t> (sort-and-chop algebra)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/>
              <a:t>Educational: how </a:t>
            </a:r>
            <a:r>
              <a:rPr sz="1000" i="1">
                <a:latin typeface="Cambria Math"/>
              </a:rPr>
              <a:t>\gamma</a:t>
            </a:r>
            <a:r>
              <a:rPr sz="1000"/>
              <a:t> shapes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along ability axis</a:t>
            </a:r>
          </a:p>
          <a:p>
            <a:pPr>
              <a:spcAft>
                <a:spcPts val="0"/>
              </a:spcAft>
            </a:pPr>
            <a:r>
              <a:rPr sz="1000"/>
              <a:t>vertical lines: </a:t>
            </a:r>
            <a:r>
              <a:rPr sz="10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1000" i="1">
                <a:latin typeface="Cambria Math"/>
              </a:rPr>
              <a:t> = 4/\gamma</a:t>
            </a:r>
            <a:r>
              <a:rPr sz="1000"/>
              <a:t> for each </a:t>
            </a:r>
            <a:r>
              <a:rPr sz="1000" i="1">
                <a:latin typeface="Cambria Math"/>
              </a:rPr>
              <a:t>\gamma</a:t>
            </a:r>
          </a:p>
          <a:p>
            <a:pPr>
              <a:spcAft>
                <a:spcPts val="0"/>
              </a:spcAft>
            </a:pPr>
            <a:r>
              <a:rPr sz="1000"/>
              <a:t>539 defaults: </a:t>
            </a:r>
            <a:r>
              <a:rPr sz="1000" i="1">
                <a:latin typeface="Cambria Math"/>
              </a:rPr>
              <a:t>\theta=0.72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→ crit </a:t>
            </a:r>
            <a:r>
              <a:rPr sz="1000" i="1">
                <a:latin typeface="Cambria Math"/>
              </a:rPr>
              <a:t>= 0.4</a:t>
            </a:r>
          </a:p>
          <a:p>
            <a:pPr>
              <a:spcAft>
                <a:spcPts val="0"/>
              </a:spcAft>
            </a:pPr>
            <a:r>
              <a:rPr sz="1000"/>
              <a:t>Pairs with sort-and-chop </a:t>
            </a:r>
            <a:r>
              <a:rPr sz="1000" i="1">
                <a:latin typeface="Cambria Math"/>
              </a:rPr>
              <a:t>λ</a:t>
            </a:r>
            <a:r>
              <a:rPr sz="1000"/>
              <a:t> threshold memo (doc 06)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3177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Soft viability: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— not a hard step; </a:t>
            </a:r>
            <a:r>
              <a:rPr sz="900" i="1">
                <a:latin typeface="Cambria Math"/>
              </a:rPr>
              <a:t>\gamma</a:t>
            </a:r>
            <a:r>
              <a:rPr sz="900"/>
              <a:t> sets knee steepness.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 sort-and-chop,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\parallel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within teams → small </a:t>
            </a:r>
            <a:r>
              <a:rPr sz="900" i="1">
                <a:latin typeface="Cambria Math"/>
              </a:rPr>
              <a:t>λ</a:t>
            </a:r>
            <a:r>
              <a:rPr sz="900"/>
              <a:t> may not reorder top-</a:t>
            </a:r>
            <a:r>
              <a:rPr sz="900" i="1">
                <a:latin typeface="Cambria Math"/>
              </a:rPr>
              <a:t>K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: first </a:t>
            </a:r>
            <a:r>
              <a:rPr sz="900" i="1">
                <a:latin typeface="Cambria Math"/>
              </a:rPr>
              <a:t>λ</a:t>
            </a:r>
            <a:r>
              <a:rPr sz="900"/>
              <a:t> where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changes who gets selected.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Visual curve departure in </a:t>
            </a:r>
            <a:r>
              <a:rPr sz="900" i="1">
                <a:latin typeface="Cambria Math"/>
              </a:rPr>
              <a:t>16</a:t>
            </a:r>
            <a:r>
              <a:rPr sz="900"/>
              <a:t> bins can lag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 — use finer bins or check reorder.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Ties to Alex Q: why </a:t>
            </a:r>
            <a:r>
              <a:rPr sz="900" i="1">
                <a:latin typeface="Cambria Math"/>
              </a:rPr>
              <a:t>λ=0</a:t>
            </a:r>
            <a:r>
              <a:rPr sz="900"/>
              <a:t> and </a:t>
            </a:r>
            <a:r>
              <a:rPr sz="900" i="1">
                <a:latin typeface="Cambria Math"/>
              </a:rPr>
              <a:t>λ=0.25</a:t>
            </a:r>
            <a:r>
              <a:rPr sz="900"/>
              <a:t> match until </a:t>
            </a:r>
            <a:r>
              <a:rPr sz="900" i="1">
                <a:latin typeface="Cambria Math"/>
              </a:rPr>
              <a:t>λ \gtrsim 4/\gamma</a:t>
            </a:r>
            <a:r>
              <a:rPr sz="90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≈ 4/\gamma</a:t>
            </a:r>
            <a:r>
              <a:rPr sz="1100"/>
              <a:t> is the first </a:t>
            </a:r>
            <a:r>
              <a:rPr sz="1100" i="1">
                <a:latin typeface="Cambria Math"/>
              </a:rPr>
              <a:t>λ</a:t>
            </a:r>
            <a:r>
              <a:rPr sz="1100"/>
              <a:t> where score reorder beats talent-only on sort-and-chop — not when the curve visually departs from </a:t>
            </a:r>
            <a:r>
              <a:rPr sz="1100" i="1">
                <a:latin typeface="Cambria Math"/>
              </a:rPr>
              <a:t>λ=0</a:t>
            </a:r>
            <a:r>
              <a:rPr sz="1100"/>
              <a:t> in coarse bins.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