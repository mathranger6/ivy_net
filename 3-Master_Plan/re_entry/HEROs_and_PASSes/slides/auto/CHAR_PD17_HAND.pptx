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5" r:id="rId2"/>
    <p:sldId id="256" r:id="rId3"/>
    <p:sldId id="288" r:id="rId4"/>
    <p:sldId id="283" r:id="rId5"/>
    <p:sldId id="285" r:id="rId6"/>
    <p:sldId id="279" r:id="rId7"/>
    <p:sldId id="287" r:id="rId8"/>
    <p:sldId id="286" r:id="rId9"/>
    <p:sldId id="289" r:id="rId10"/>
    <p:sldId id="290" r:id="rId11"/>
    <p:sldId id="293" r:id="rId12"/>
    <p:sldId id="292" r:id="rId13"/>
    <p:sldId id="294" r:id="rId14"/>
    <p:sldId id="257" r:id="rId15"/>
    <p:sldId id="275" r:id="rId16"/>
    <p:sldId id="27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45"/>
    <p:restoredTop sz="94639"/>
  </p:normalViewPr>
  <p:slideViewPr>
    <p:cSldViewPr snapToGrid="0" snapToObjects="1">
      <p:cViewPr varScale="1">
        <p:scale>
          <a:sx n="159" d="100"/>
          <a:sy n="159" d="100"/>
        </p:scale>
        <p:origin x="192" y="29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3984F2-0FE4-904E-B6D8-FBA3A2D4DB33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65AC5-4B69-CD42-A9CA-DA3CB3FA4F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87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65AC5-4B69-CD42-A9CA-DA3CB3FA4FF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20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5.png"/><Relationship Id="rId4" Type="http://schemas.openxmlformats.org/officeDocument/2006/relationships/image" Target="../media/image3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0.png"/><Relationship Id="rId5" Type="http://schemas.openxmlformats.org/officeDocument/2006/relationships/image" Target="../media/image38.png"/><Relationship Id="rId4" Type="http://schemas.openxmlformats.org/officeDocument/2006/relationships/image" Target="../media/image18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39.png"/><Relationship Id="rId10" Type="http://schemas.openxmlformats.org/officeDocument/2006/relationships/image" Target="../media/image280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119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lang="en-US" sz="2000" dirty="0"/>
              <a:t>PD17 — Empirical MBB characterization</a:t>
            </a:r>
            <a:endParaRPr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sz="1100" b="0" i="0" baseline="-2500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acc>
                                  <m:accPr>
                                    <m:chr m:val="̂"/>
                                    <m:ctrlP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200" b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roster, not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𝑚𝑒𝑎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en-US" sz="1100" b="0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b="0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ˆ"/>
                                              <m:ctrlP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100" b="0" i="0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per roster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Score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 (sim / later on data)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empirical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Reshapes team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– 539 placeholder until lock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Accepted / total in filtered panel (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≈.1.8%</m:t>
                              </m:r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04878" r="-621429" b="-8292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90909" r="-621429" b="-67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190909" r="-707" b="-67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509524" r="-70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624390" r="-707" b="-3097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707143" r="-621429" b="-2023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707143" r="-707" b="-20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826829" r="-621429" b="-1073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826829" r="-707" b="-1073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904762" r="-621429" b="-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904762" r="-707" b="-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/>
              <p:nvPr/>
            </p:nvSpPr>
            <p:spPr>
              <a:xfrm>
                <a:off x="6953296" y="1160502"/>
                <a:ext cx="2663999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b="1" i="0" baseline="0" dirty="0">
                    <a:latin typeface="Calibri"/>
                  </a:rPr>
                  <a:t>Deck map (assign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b="1" i="0" baseline="0" dirty="0">
                    <a:latin typeface="Calibri"/>
                  </a:rPr>
                  <a:t>score)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296" y="1160502"/>
                <a:ext cx="2663999" cy="369332"/>
              </a:xfrm>
              <a:prstGeom prst="rect">
                <a:avLst/>
              </a:prstGeom>
              <a:blipFill>
                <a:blip r:embed="rId3"/>
                <a:stretch>
                  <a:fillRect l="-1896" t="-6667" r="-948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/>
              <p:nvPr/>
            </p:nvSpPr>
            <p:spPr>
              <a:xfrm>
                <a:off x="6830873" y="1810402"/>
                <a:ext cx="5361127" cy="20977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2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 inputs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3 — team interval overlap (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diagnostic, 530 CELL 8)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4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 distribution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5 —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14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6 —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sweep on real rosters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7 — sim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</a:t>
                </a:r>
                <a:r>
                  <a:rPr lang="en-US" sz="1400" dirty="0">
                    <a:latin typeface="Calibri"/>
                  </a:rPr>
                  <a:t>calibration capstone</a:t>
                </a:r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0873" y="1810402"/>
                <a:ext cx="5361127" cy="2097754"/>
              </a:xfrm>
              <a:prstGeom prst="rect">
                <a:avLst/>
              </a:prstGeom>
              <a:blipFill>
                <a:blip r:embed="rId4"/>
                <a:stretch>
                  <a:fillRect l="-473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/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Map empirical properties of real rosters — prerequisite for pinning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from data, then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without hero-curve matching.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MPIRICAL_Ai_Tj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032" y="2102294"/>
            <a:ext cx="9115615" cy="3779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MBB 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blipFill>
                <a:blip r:embed="rId3"/>
                <a:stretch>
                  <a:fillRect l="-1416" t="-8333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676656"/>
            <a:ext cx="417293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ppm z within season · min 20 min · poolq winsor 0.01–0.99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Realized rosters — descriptive inputs, not sim draws.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Left: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player ability (one value per player-season).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Right: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(team-season; not LOO).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tighter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(averaging shrinks spread).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=-0.001,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=0.011 (sd 0.995 / 0.401).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1" i="0" baseline="0" dirty="0">
                    <a:latin typeface="Calibri"/>
                  </a:rPr>
                  <a:t>PD17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proxy: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𝐍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𝟎𝟏𝟖𝟐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(1,134 drafted / 62,180 player-seasons).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blipFill>
                <a:blip r:embed="rId4"/>
                <a:stretch>
                  <a:fillRect b="-1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050" b="1" i="0" baseline="0" dirty="0">
                    <a:latin typeface="Calibri"/>
                  </a:rPr>
                  <a:t>Claim (PD17): World-first inputs from the real MBB panel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player-season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team-season.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(sim assignment targets).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diagnostic)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blipFill>
                <a:blip r:embed="rId2"/>
                <a:stretch>
                  <a:fillRect l="-1018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PPM z within season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(PD17): Real NCAA rosters leave massively overlapping team talent windows — full 2011–2021 panel target for \rho characterization (530 CELL 8).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=6,305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=0.97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=2.98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z,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FontTx/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/>
                  <a:t>Full panel 2011–2021 — pooled team-seasons (not 1:1 with single-season sim)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35F5BBA-FE92-EBB2-1A5B-5A8BE08E4EA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NCAA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blipFill>
                <a:blip r:embed="rId2"/>
                <a:stretch>
                  <a:fillRect l="-1114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PPM z within season · min 20 min · poolq winsor 0.01–0.99 · 3,200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coverage=3,117; sort-and-chop max=7. Normalized peak=0.97.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mean=2.99 z, median=2.85 z (3,200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Grandchild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NCAA interval overlap on a fixed season window — paired compare to Grandchild ASSIGN sim on the same 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2726C4-13A6-2432-1753-CD7C561EDC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Grandchild sim — team \hat{A}_{i} interval overlap (2015-2019)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85307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Grandchild ASSIGN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=30,345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2,023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=0.146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853077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league_interval_overlap_2015_20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579" y="1033272"/>
            <a:ext cx="6523276" cy="49834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ar-AE" sz="100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lang="ar-AE" sz="1000" dirty="0"/>
                  <a:t>] </a:t>
                </a:r>
                <a:r>
                  <a:rPr lang="en-US" sz="1000" dirty="0"/>
                  <a:t>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Grandchild ASSIGN: \rho=0.5, endogenous \</a:t>
                </a:r>
                <a:r>
                  <a:rPr sz="1000" b="0" i="0" baseline="0" dirty="0" err="1">
                    <a:latin typeface="Calibri"/>
                  </a:rPr>
                  <a:t>mu_j</a:t>
                </a:r>
                <a:r>
                  <a:rPr sz="1000" b="0" i="0" baseline="0" dirty="0">
                    <a:latin typeface="Calibri"/>
                  </a:rPr>
                  <a:t> — no T_{j^*}.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 pool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partition: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_{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𝑠𝑜𝑟𝑡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} = 0.146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 max coverage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=2,020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=1.00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mean=3.37 z, median=3.23 z (2,023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ref max </a:t>
                </a:r>
                <a:r>
                  <a:rPr sz="1000" b="0" i="0" baseline="0" dirty="0" err="1">
                    <a:latin typeface="Calibri"/>
                  </a:rPr>
                  <a:t>cov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=3,117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overlap grid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blipFill>
                <a:blip r:embed="rId4"/>
                <a:stretch>
                  <a:fillRect b="-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Grandchild ASSIGN on the same season window as paired NCAA slide — one realization per season, stacked team-seasons.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? Realized assortativity on rosters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21461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Realized sorting index · Grandchild / PD17 · alias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𝚜𝚘𝚛𝚝𝚒𝚗𝚐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𝚒𝚗𝚍𝚎𝚡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𝚑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in code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21461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612647" y="1259207"/>
                <a:ext cx="4660703" cy="37675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b="0" i="0" baseline="0" dirty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b="0" i="0" baseline="0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Denominator: total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league mean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Numerator: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own team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within-team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explained-variance / ANOVA-style.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 label tells you little (random-like partition).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teams are perfectly separated (point-mass rosters).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Alex one-liner: knowing roster explains how much ability deviates from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Newman network assortativity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partition statistic on abilities.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Complements interval overlap (geometry) — use both in brief.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↑⇒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in Grandchild sweep (see inset plot).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Memo: </a:t>
                </a:r>
                <a:r>
                  <a:rPr sz="1000" b="0" i="0" baseline="0" dirty="0" err="1">
                    <a:latin typeface="Calibri"/>
                  </a:rPr>
                  <a:t>grandchild_assign</a:t>
                </a:r>
                <a:r>
                  <a:rPr sz="1000" b="0" i="0" baseline="0" dirty="0">
                    <a:latin typeface="Calibri"/>
                  </a:rPr>
                  <a:t>/</a:t>
                </a:r>
                <a:r>
                  <a:rPr sz="1000" b="0" i="0" baseline="0" dirty="0" err="1">
                    <a:latin typeface="Calibri"/>
                  </a:rPr>
                  <a:t>GRANDCHILD_D_and_H_sort_interpretation.md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7" y="1259207"/>
                <a:ext cx="4660703" cy="3767570"/>
              </a:xfrm>
              <a:prstGeom prst="rect">
                <a:avLst/>
              </a:prstGeom>
              <a:blipFill>
                <a:blip r:embed="rId4"/>
                <a:stretch>
                  <a:fillRect t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12702" y="1067653"/>
            <a:ext cx="6594945" cy="436357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realized assortativity on a fixed partition — generative homophily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ASSIGN knob;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after assign.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each roster.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PD16 team-smooth definition — one value per team-season.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LOO; includes every roster member in the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(539 placeholder until PD17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from draft rate: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blipFill>
                <a:blip r:embed="rId4"/>
                <a:stretch>
                  <a:fillRect b="-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636625" y="1117239"/>
            <a:ext cx="8164564" cy="4797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carry a spread of team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the descriptive input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was meant to stratify in sim.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19257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Grandchild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192575" cy="400110"/>
              </a:xfrm>
              <a:prstGeom prst="rect">
                <a:avLst/>
              </a:prstGeom>
              <a:blipFill>
                <a:blip r:embed="rId2"/>
                <a:stretch>
                  <a:fillRect l="-1220" t="-9375" r="-24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Grandchild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empirical_lc_compare_2011_2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514" y="2512541"/>
            <a:ext cx="9304973" cy="363222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Grandchild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Grandchild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Grandchild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Grandchild):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Grandchild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13D6-7E6D-B7C1-4EAE-999EC635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603283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Grandchild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603283" cy="400110"/>
              </a:xfrm>
              <a:prstGeom prst="rect">
                <a:avLst/>
              </a:prstGeom>
              <a:blipFill>
                <a:blip r:embed="rId2"/>
                <a:stretch>
                  <a:fillRect l="-960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Grandchild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A2E4362-E823-1DBA-9111-A82417F718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6967" y="2512541"/>
            <a:ext cx="9298066" cy="363222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Grandchild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Grandchild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Grandchild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Grandchild):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Grandchild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7811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0B372-5859-748F-1EC5-E4169F60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603283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Grandchild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603283" cy="400110"/>
              </a:xfrm>
              <a:prstGeom prst="rect">
                <a:avLst/>
              </a:prstGeom>
              <a:blipFill>
                <a:blip r:embed="rId2"/>
                <a:stretch>
                  <a:fillRect l="-960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Grandchild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5D8A1A4-9D26-CC59-69BF-64A876FFF6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837341" y="2512541"/>
            <a:ext cx="6517318" cy="363222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Grandchild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Grandchild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Grandchild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Grandchild):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Grandchild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616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NCAA roster sizes after the minutes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min 20 min · mean=9.6 vs LG $C=15$</a:t>
            </a:r>
          </a:p>
        </p:txBody>
      </p:sp>
      <p:pic>
        <p:nvPicPr>
          <p:cNvPr id="4" name="Picture 3" descr="GRANDCHILD_ncaa_roster_size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73" y="916050"/>
            <a:ext cx="10375454" cy="40634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9127" y="5405189"/>
            <a:ext cx="11095528" cy="565952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>
              <a:buChar char="•"/>
            </a:pPr>
            <a:r>
              <a:rPr sz="1000" b="0" i="0" baseline="0" dirty="0">
                <a:latin typeface="Calibri"/>
              </a:rPr>
              <a:t>  Qualifying players per real NCAA team-season (\</a:t>
            </a:r>
            <a:r>
              <a:rPr sz="1000" b="0" i="0" baseline="0" dirty="0" err="1">
                <a:latin typeface="Calibri"/>
              </a:rPr>
              <a:t>geq</a:t>
            </a:r>
            <a:r>
              <a:rPr sz="1000" b="0" i="0" baseline="0" dirty="0">
                <a:latin typeface="Calibri"/>
              </a:rPr>
              <a:t> 20 ESPN minutes).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$n=6,492$ team-seasons · mean=9.6 · median=11 · sd=3.6.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Red dotted = NCAA mean; orange dashed = LG fixed $C=15$.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Only 2.3\% of teams have exactly 15 qualifying players.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Same ability pool ~62k; LG repacks into J=N/15 synthetic 15-man leagues.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Minutes floor shapes peer count — state explicitly in methods.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empirical teams are ~10 rotation players; LG uses fixed 15 — comparability is distributional, not headcount.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Hero sensitivity — min\_minutes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poolq\_loo ventiles · 0 / 10 / 20 min</a:t>
            </a:r>
          </a:p>
        </p:txBody>
      </p:sp>
      <p:pic>
        <p:nvPicPr>
          <p:cNvPr id="4" name="Picture 3" descr="HERO_min_minutes_sensitivit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88" y="1220692"/>
            <a:ext cx="11276037" cy="3219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5703" y="4827530"/>
            <a:ext cx="10697609" cy="651613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>
              <a:buChar char="•"/>
            </a:pPr>
            <a:r>
              <a:rPr sz="1000" b="0" i="0" baseline="0" dirty="0">
                <a:latin typeface="Calibri"/>
              </a:rPr>
              <a:t>  Hero x-axis: draft rate vs poolq_loo </a:t>
            </a:r>
            <a:r>
              <a:rPr sz="1000" b="0" i="0" baseline="0" dirty="0" err="1">
                <a:latin typeface="Calibri"/>
              </a:rPr>
              <a:t>ventiles</a:t>
            </a:r>
            <a:r>
              <a:rPr sz="1000" b="0" i="0" baseline="0" dirty="0">
                <a:latin typeface="Calibri"/>
              </a:rPr>
              <a:t> · MBB 2011-2021 · 16 quantile.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min\_minutes defines who enters the panel and LOO peer pool — not neutral QC.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min=0: $n=82,893$, drafted=1,136, bin16=1.39\%,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min=10: $n=72,687$, drafted=1,136, bin16=1.08\%,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min=20: $n=62,180$, drafted=1,134, bin16=1.16\%,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Hero lock: min=20 — cleanest top-</a:t>
            </a:r>
            <a:r>
              <a:rPr sz="1000" b="0" i="0" baseline="0" dirty="0" err="1">
                <a:latin typeface="Calibri"/>
              </a:rPr>
              <a:t>ventile</a:t>
            </a:r>
            <a:r>
              <a:rPr sz="1000" b="0" i="0" baseline="0" dirty="0">
                <a:latin typeface="Calibri"/>
              </a:rPr>
              <a:t> cliff; min=10 robust appendix.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We are not simulating minutes in LG.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inverted-U survives 10- and 20-minute floors; min=20 sharpens the elite ventile dip (+2 drafted vs min=0).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Hero sensitivity — min\_minutes overlay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same bins, three floors</a:t>
            </a:r>
          </a:p>
        </p:txBody>
      </p:sp>
      <p:pic>
        <p:nvPicPr>
          <p:cNvPr id="4" name="Picture 3" descr="HERO_min_minutes_sensitivity_overlay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77" y="941832"/>
            <a:ext cx="8150047" cy="4259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4098" y="5205075"/>
            <a:ext cx="11134852" cy="706776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>
              <a:buChar char="•"/>
            </a:pPr>
            <a:r>
              <a:rPr sz="1000" b="0" i="0" baseline="0" dirty="0">
                <a:latin typeface="Calibri"/>
              </a:rPr>
              <a:t>  Hero x-axis: draft rate vs poolq_loo </a:t>
            </a:r>
            <a:r>
              <a:rPr sz="1000" b="0" i="0" baseline="0" dirty="0" err="1">
                <a:latin typeface="Calibri"/>
              </a:rPr>
              <a:t>ventiles</a:t>
            </a:r>
            <a:r>
              <a:rPr sz="1000" b="0" i="0" baseline="0" dirty="0">
                <a:latin typeface="Calibri"/>
              </a:rPr>
              <a:t> · MBB 2011-2021 · 16 quantile.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min\_minutes defines who enters the panel and LOO peer pool — not neutral QC.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min=0: $n=82,893$, drafted=1,136, bin16=1.39\%,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min=10: $n=72,687$, drafted=1,136, bin16=1.08\%,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min=20: $n=62,180$, drafted=1,134, bin16=1.16\%,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Overlay: same </a:t>
            </a:r>
            <a:r>
              <a:rPr sz="1000" b="0" i="0" baseline="0" dirty="0" err="1">
                <a:latin typeface="Calibri"/>
              </a:rPr>
              <a:t>estimand</a:t>
            </a:r>
            <a:r>
              <a:rPr sz="1000" b="0" i="0" baseline="0" dirty="0">
                <a:latin typeface="Calibri"/>
              </a:rPr>
              <a:t>, different playing-time floors.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We are not simulating minutes in LG.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pattern is not an artifact of one arbitrary cutoff.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blipFill>
                <a:blip r:embed="rId2"/>
                <a:stretch>
                  <a:fillRect l="-1548" t="-11111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.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cell: count of team-seasons at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Color = count (empirical Sketch A — no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(realized talent,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Look for upward co-movement: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blipFill>
                <a:blip r:embed="rId4"/>
                <a:stretch>
                  <a:fillRect b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vs_Tj_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815" y="1051560"/>
            <a:ext cx="6558185" cy="4928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actual team-seasons, stronger realized rosters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) tend to co-occur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empirical Sketch A.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blipFill>
                <a:blip r:embed="rId6"/>
                <a:stretch>
                  <a:fillRect t="-416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</a:t>
                </a:r>
                <a:r>
                  <a:rPr lang="en-US" sz="2000" b="1" i="0" baseline="0" dirty="0">
                    <a:latin typeface="Calibri"/>
                  </a:rPr>
                  <a:t>sweep:</a:t>
                </a:r>
                <a:r>
                  <a:rPr sz="2000" b="1" i="0" baseline="0" dirty="0">
                    <a:latin typeface="Calibri"/>
                  </a:rPr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on real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blipFill>
                <a:blip r:embed="rId3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z-units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fixed across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EMPIRICAL_L_C_gamma_sweep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5816" y="1033272"/>
            <a:ext cx="8560063" cy="41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OAT on real panel: fixed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cutline on PPM z); only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in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changes.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blipFill>
                <a:blip r:embed="rId6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Arms: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  <m:t>10,5,1,0.5,0.001</m:t>
                        </m:r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— same team-seasons, same rosters.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=0.029,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84%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teams below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=0.499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, max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=0.500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— spread opens on z-scale.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real rosters, γ reshapes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high γ compresses viability near 0 on the PPM-z scale; low γ spreads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into the interior of [0,1].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PD17 — Empirical vs sim interval overlap (\rho calibration target)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Assign block capstone · empirical MBB vs 539 sim · same coverage diagnostic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8522" y="960120"/>
            <a:ext cx="11063037" cy="34594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4372927"/>
                <a:ext cx="6334804" cy="14720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Three panels: empirical (left) · four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/>
                  <a:t> arms (center)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=1→32</m:t>
                    </m:r>
                  </m:oMath>
                </a14:m>
                <a:r>
                  <a:rPr lang="en-US" sz="1000" dirty="0"/>
                  <a:t> sweep (right).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err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00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00" dirty="0"/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00" i="0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US" sz="1000" dirty="0"/>
                  <a:t> draw across sim panels; seed fixed.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Empirical max coverage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6,305</m:t>
                    </m:r>
                  </m:oMath>
                </a14:m>
                <a:r>
                  <a:rPr lang="en-US" sz="1000" dirty="0"/>
                  <a:t>; sort-and-chop max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Center: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0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0.001,1,8,32</m:t>
                        </m:r>
                      </m:e>
                    </m:d>
                  </m:oMath>
                </a14:m>
                <a:r>
                  <a:rPr lang="en-US" sz="1000" dirty="0"/>
                  <a:t>; right sweep peaks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=1→1000</m:t>
                    </m:r>
                  </m:oMath>
                </a14:m>
                <a:r>
                  <a:rPr lang="en-US" sz="1000" dirty="0"/>
                  <a:t>,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=32→588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Sim sort-and-chop peak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000" dirty="0"/>
                  <a:t> on both sim panels.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PPM z vs [0,1] ability — compare shape, seed 42.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372927"/>
                <a:ext cx="6334804" cy="1472070"/>
              </a:xfrm>
              <a:prstGeom prst="rect">
                <a:avLst/>
              </a:prstGeom>
              <a:blipFill>
                <a:blip r:embed="rId3"/>
                <a:stretch>
                  <a:fillRect b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sit at high coverage peak — sim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must be tuned so soft assign matches that overlap, not sort-and-chop.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4307</TotalTime>
  <Words>2906</Words>
  <Application>Microsoft Macintosh PowerPoint</Application>
  <PresentationFormat>Widescreen</PresentationFormat>
  <Paragraphs>207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Avenir Next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62</cp:revision>
  <cp:lastPrinted>2026-08-04T17:29:11Z</cp:lastPrinted>
  <dcterms:created xsi:type="dcterms:W3CDTF">2013-01-27T09:14:16Z</dcterms:created>
  <dcterms:modified xsi:type="dcterms:W3CDTF">2026-08-11T18:59:55Z</dcterms:modified>
  <cp:category/>
</cp:coreProperties>
</file>