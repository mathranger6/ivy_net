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5" r:id="rId2"/>
    <p:sldId id="256" r:id="rId3"/>
    <p:sldId id="288" r:id="rId4"/>
    <p:sldId id="283" r:id="rId5"/>
    <p:sldId id="285" r:id="rId6"/>
    <p:sldId id="279" r:id="rId7"/>
    <p:sldId id="287" r:id="rId8"/>
    <p:sldId id="286" r:id="rId9"/>
    <p:sldId id="289" r:id="rId10"/>
    <p:sldId id="290" r:id="rId11"/>
    <p:sldId id="257" r:id="rId12"/>
    <p:sldId id="275" r:id="rId13"/>
    <p:sldId id="27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45"/>
    <p:restoredTop sz="94639"/>
  </p:normalViewPr>
  <p:slideViewPr>
    <p:cSldViewPr snapToGrid="0" snapToObjects="1">
      <p:cViewPr varScale="1">
        <p:scale>
          <a:sx n="159" d="100"/>
          <a:sy n="159" d="100"/>
        </p:scale>
        <p:origin x="192" y="29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984F2-0FE4-904E-B6D8-FBA3A2D4DB33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65AC5-4B69-CD42-A9CA-DA3CB3FA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75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65AC5-4B69-CD42-A9CA-DA3CB3FA4FF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2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25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0.png"/><Relationship Id="rId5" Type="http://schemas.openxmlformats.org/officeDocument/2006/relationships/image" Target="../media/image35.png"/><Relationship Id="rId4" Type="http://schemas.openxmlformats.org/officeDocument/2006/relationships/image" Target="../media/image18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11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5" Type="http://schemas.openxmlformats.org/officeDocument/2006/relationships/image" Target="../media/image36.png"/><Relationship Id="rId10" Type="http://schemas.openxmlformats.org/officeDocument/2006/relationships/image" Target="../media/image280.png"/><Relationship Id="rId4" Type="http://schemas.openxmlformats.org/officeDocument/2006/relationships/image" Target="../media/image220.png"/><Relationship Id="rId9" Type="http://schemas.openxmlformats.org/officeDocument/2006/relationships/image" Target="../media/image2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44119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lang="en-US" sz="2000" dirty="0"/>
              <a:t>PD17 — Empirical MBB characterization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384048" y="749808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1200"/>
              <a:t>Knobs (mini glossary)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3212608"/>
                  </p:ext>
                </p:extLst>
              </p:nvPr>
            </p:nvGraphicFramePr>
            <p:xfrm>
              <a:off x="384048" y="1024128"/>
              <a:ext cx="6375981" cy="533511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926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975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857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6403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200" b="0" i="0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0" i="0" dirty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1100" b="0" i="0" baseline="-2500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PPM within season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̂"/>
                                    <m:ctrlPr>
                                      <a:rPr lang="en-US" sz="1200" b="0" i="1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baseline="0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200" b="0" baseline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Realized team talent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Mean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sz="1100" b="0" i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0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on roster, not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T</a:t>
                          </a:r>
                          <a:r>
                            <a:rPr lang="en-US" sz="1200" b="0" baseline="-25000" dirty="0"/>
                            <a:t>j 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Sim assignment target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Pass B only – not observed in NCAA data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7805221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Sim soft-match knob; overlay forensics on data</a:t>
                          </a:r>
                          <a:endParaRPr lang="en-US" sz="1100" b="0" baseline="-25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Team</a:t>
                          </a: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congestion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baseline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0" dirty="0" smtClean="0">
                                  <a:latin typeface="Cambria Math" panose="02040503050406030204" pitchFamily="18" charset="0"/>
                                </a:rPr>
                                <m:t>𝑚𝑒𝑎</m:t>
                              </m:r>
                              <m:sSub>
                                <m:sSubPr>
                                  <m:ctrlP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100" b="0" i="0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d>
                                    <m:dPr>
                                      <m:ctrlPr>
                                        <a:rPr lang="en-US" sz="1100" b="0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100" b="0" i="1" dirty="0" err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ˆ"/>
                                              <m:ctrlPr>
                                                <a:rPr lang="en-US" sz="1100" b="0" i="0" dirty="0" err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100" b="0" i="0" dirty="0" err="1" smtClean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100" b="0" i="0" dirty="0" err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100" b="0" i="0" dirty="0" err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100" b="0" i="0" dirty="0" err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per roster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Congestion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Score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b>
                                <m:sSubPr>
                                  <m:ctrlP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 (sim / later on data)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Viability cutline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acc>
                                    <m:accPr>
                                      <m:chr m:val="ˆ"/>
                                      <m:ctrlPr>
                                        <a:rPr lang="en-US" sz="1100" b="0" i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0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sub>
                                <m:sup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on empirical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sz="11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1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Reshapes team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– 539 placeholder until lock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Draft rate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Accepted / total in filtered panel (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0" dirty="0" smtClean="0">
                                  <a:latin typeface="Cambria Math" panose="02040503050406030204" pitchFamily="18" charset="0"/>
                                </a:rPr>
                                <m:t>≈.1.8%</m:t>
                              </m:r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)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3212608"/>
                  </p:ext>
                </p:extLst>
              </p:nvPr>
            </p:nvGraphicFramePr>
            <p:xfrm>
              <a:off x="384048" y="1024128"/>
              <a:ext cx="6375981" cy="533511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926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975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857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6403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104878" r="-621429" b="-8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PPM within season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190909" r="-621429" b="-6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Realized team talent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190909" r="-707" b="-67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T</a:t>
                          </a:r>
                          <a:r>
                            <a:rPr lang="en-US" sz="1200" b="0" baseline="-25000" dirty="0"/>
                            <a:t>j 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Sim assignment target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Pass B only – not observed in NCAA data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7805221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Sim soft-match knob; overlay forensics on data</a:t>
                          </a:r>
                          <a:endParaRPr lang="en-US" sz="1100" b="0" baseline="-25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Team</a:t>
                          </a: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congestion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509524" r="-707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Congestion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624390" r="-707" b="-3097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707143" r="-621429" b="-20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Viability cutline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707143" r="-707" b="-20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826829" r="-621429" b="-1073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826829" r="-707" b="-1073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904762" r="-621429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Draft rate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904762" r="-707" b="-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B85130-921E-304E-4FF4-9E2C7E1DBD76}"/>
                  </a:ext>
                </a:extLst>
              </p:cNvPr>
              <p:cNvSpPr txBox="1"/>
              <p:nvPr/>
            </p:nvSpPr>
            <p:spPr>
              <a:xfrm>
                <a:off x="6953296" y="1160502"/>
                <a:ext cx="266399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b="1" i="0" baseline="0" dirty="0">
                    <a:latin typeface="Calibri"/>
                  </a:rPr>
                  <a:t>Deck map (assign </a:t>
                </a:r>
                <a14:m>
                  <m:oMath xmlns:m="http://schemas.openxmlformats.org/officeDocument/2006/math">
                    <m:r>
                      <a:rPr lang="en-US" b="1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b="1" i="0" baseline="0" dirty="0">
                    <a:latin typeface="Calibri"/>
                  </a:rPr>
                  <a:t>score)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B85130-921E-304E-4FF4-9E2C7E1DB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96" y="1160502"/>
                <a:ext cx="2663999" cy="369332"/>
              </a:xfrm>
              <a:prstGeom prst="rect">
                <a:avLst/>
              </a:prstGeom>
              <a:blipFill>
                <a:blip r:embed="rId3"/>
                <a:stretch>
                  <a:fillRect l="-1896" t="-6667" r="-9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7FE12E-A462-56D0-1668-8FB0FB29E48A}"/>
                  </a:ext>
                </a:extLst>
              </p:cNvPr>
              <p:cNvSpPr txBox="1"/>
              <p:nvPr/>
            </p:nvSpPr>
            <p:spPr>
              <a:xfrm>
                <a:off x="6830873" y="1810402"/>
                <a:ext cx="5361127" cy="2097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2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 inputs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3 — team interval overlap (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diagnostic, 530 CELL 8)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4 —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 distribution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5 — Sketch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sz="14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6 —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sweep on real rosters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7 — sim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</a:t>
                </a:r>
                <a:r>
                  <a:rPr lang="en-US" sz="1400" dirty="0">
                    <a:latin typeface="Calibri"/>
                  </a:rPr>
                  <a:t>calibration capstone</a:t>
                </a:r>
                <a:endParaRPr sz="14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7FE12E-A462-56D0-1668-8FB0FB29E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873" y="1810402"/>
                <a:ext cx="5361127" cy="2097754"/>
              </a:xfrm>
              <a:prstGeom prst="rect">
                <a:avLst/>
              </a:prstGeom>
              <a:blipFill>
                <a:blip r:embed="rId4"/>
                <a:stretch>
                  <a:fillRect l="-473"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D6AE3C-2E51-0813-F108-49D66345E4EC}"/>
                  </a:ext>
                </a:extLst>
              </p:cNvPr>
              <p:cNvSpPr txBox="1"/>
              <p:nvPr/>
            </p:nvSpPr>
            <p:spPr>
              <a:xfrm>
                <a:off x="305673" y="6462433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Map empirical properties of real rosters — prerequisite for pinning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from data, then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without hero-curve matching.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D6AE3C-2E51-0813-F108-49D66345E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73" y="6462433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MPIRICAL_Ai_Tj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32" y="2102294"/>
            <a:ext cx="9115615" cy="3779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01168"/>
                <a:ext cx="4466159" cy="44800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MBB 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sz="20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01168"/>
                <a:ext cx="4466159" cy="448008"/>
              </a:xfrm>
              <a:prstGeom prst="rect">
                <a:avLst/>
              </a:prstGeom>
              <a:blipFill>
                <a:blip r:embed="rId3"/>
                <a:stretch>
                  <a:fillRect l="-1416" t="-8333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84048" y="676656"/>
            <a:ext cx="41729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 dirty="0">
                <a:latin typeface="Calibri"/>
              </a:rPr>
              <a:t>MBB 2011-2021 · ppm z within season · min 20 min · poolq winsor 0.01–0.99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84047" y="1005840"/>
                <a:ext cx="3902659" cy="1805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b="0" i="0" baseline="0" dirty="0">
                    <a:latin typeface="Calibri"/>
                  </a:rPr>
                  <a:t>Realized rosters — descriptive inputs, not sim draws.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b="0" i="0" baseline="0" dirty="0">
                    <a:latin typeface="Calibri"/>
                  </a:rPr>
                  <a:t>Left: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— player ability (one value per player-season).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b="0" i="0" baseline="0" dirty="0">
                    <a:latin typeface="Calibri"/>
                  </a:rPr>
                  <a:t>Right: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—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on roster (team-season; not LOO).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tighter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(averaging shrinks spread).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b="0" i="0" baseline="0" dirty="0">
                    <a:latin typeface="Calibri"/>
                  </a:rPr>
                  <a:t>This run: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=-0.001,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=0.011 (sd 0.995 / 0.401).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b="1" i="0" baseline="0" dirty="0">
                    <a:latin typeface="Calibri"/>
                  </a:rPr>
                  <a:t>PD17 </a:t>
                </a:r>
                <a14:m>
                  <m:oMath xmlns:m="http://schemas.openxmlformats.org/officeDocument/2006/math"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𝛉</m:t>
                    </m:r>
                  </m:oMath>
                </a14:m>
                <a:r>
                  <a:rPr lang="en-US" sz="1000" b="1" i="0" baseline="0" dirty="0">
                    <a:latin typeface="Calibri"/>
                  </a:rPr>
                  <a:t> </a:t>
                </a:r>
                <a:r>
                  <a:rPr sz="1000" b="1" i="0" baseline="0" dirty="0">
                    <a:latin typeface="Calibri"/>
                  </a:rPr>
                  <a:t>proxy: </a:t>
                </a:r>
                <a14:m>
                  <m:oMath xmlns:m="http://schemas.openxmlformats.org/officeDocument/2006/math"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𝐊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𝐍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𝟎𝟏𝟖𝟐</m:t>
                    </m:r>
                  </m:oMath>
                </a14:m>
                <a:r>
                  <a:rPr lang="en-US" sz="1000" b="1" i="0" baseline="0" dirty="0">
                    <a:latin typeface="Calibri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000" b="1" i="0" baseline="0" dirty="0">
                    <a:latin typeface="Calibri"/>
                  </a:rPr>
                  <a:t> </a:t>
                </a:r>
                <a:r>
                  <a:rPr sz="1000" b="1" i="0" baseline="0" dirty="0">
                    <a:latin typeface="Calibri"/>
                  </a:rPr>
                  <a:t>(1,134 drafted / 62,180 player-seasons).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" y="1005840"/>
                <a:ext cx="3902659" cy="1805623"/>
              </a:xfrm>
              <a:prstGeom prst="rect">
                <a:avLst/>
              </a:prstGeom>
              <a:blipFill>
                <a:blip r:embed="rId4"/>
                <a:stretch>
                  <a:fillRect b="-1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79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50" b="1" i="0" baseline="0" dirty="0">
                    <a:latin typeface="Calibri"/>
                  </a:rPr>
                  <a:t>Claim (PD17): World-first inputs from the real MBB panel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1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50" b="1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50" b="1" i="0" baseline="0" dirty="0">
                    <a:latin typeface="Calibri"/>
                  </a:rPr>
                  <a:t> per player-season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1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5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50" b="1" i="0" baseline="0" dirty="0">
                    <a:latin typeface="Calibri"/>
                  </a:rPr>
                  <a:t> per team-season.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1" i="0" baseline="0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p>
                          <m:sSupPr>
                            <m:ctrlP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sz="1050" b="1" i="0" baseline="0" dirty="0">
                    <a:latin typeface="Calibri"/>
                  </a:rPr>
                  <a:t>(sim assignment targets).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7917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6222473" cy="41819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interval overlap (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diagnostic)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6222473" cy="418191"/>
              </a:xfrm>
              <a:prstGeom prst="rect">
                <a:avLst/>
              </a:prstGeom>
              <a:blipFill>
                <a:blip r:embed="rId2"/>
                <a:stretch>
                  <a:fillRect l="-1018" t="-14706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7142212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PPM z within season · min 20 min · poolq winsor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0.01–0.99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(530 CELL 8 port)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7142212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(PD17): Real NCAA rosters leave massively overlapping team talent windows — full 2011–2021 panel target for \rho characterization (530 CELL 8).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3CA96-92E5-5E38-04CC-FCAA87134494}"/>
                  </a:ext>
                </a:extLst>
              </p:cNvPr>
              <p:cNvSpPr txBox="1"/>
              <p:nvPr/>
            </p:nvSpPr>
            <p:spPr>
              <a:xfrm>
                <a:off x="384047" y="1202289"/>
                <a:ext cx="4387055" cy="2704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team-season: talent window [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sSub>
                          <m:sSub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sz="1000" b="0" i="0" baseline="0" dirty="0">
                    <a:latin typeface="Calibri"/>
                  </a:rPr>
                  <a:t>] on PPM z.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Coverage = how many windows cover a point on the spectrum (530 CELL 8).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Red dashed: disjoint sort-and-chop on same player-seasons (537 B analog).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NCAA partition: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(0 = none, 1 = full team sorting).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Max coverage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=6,305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sort-and-chop max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 Normalized peak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=0.97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86%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of grid points have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 covering.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Roster span: mean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=2.98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z, median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=2.87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FontTx/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lang="en-US" sz="1000" dirty="0"/>
                  <a:t>Full panel 2011–2021 — pooled team-seasons (not 1:1 with single-season sim)</a:t>
                </a:r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3CA96-92E5-5E38-04CC-FCAA87134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" y="1202289"/>
                <a:ext cx="4387055" cy="2704074"/>
              </a:xfrm>
              <a:prstGeom prst="rect">
                <a:avLst/>
              </a:prstGeom>
              <a:blipFill>
                <a:blip r:embed="rId4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35F5BBA-FE92-EBB2-1A5B-5A8BE08E4E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37579" y="1034307"/>
            <a:ext cx="6523276" cy="49814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685082" cy="41819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NCAA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baseline="0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baseline="0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interval overlap (2015-2019)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685082" cy="418191"/>
              </a:xfrm>
              <a:prstGeom prst="rect">
                <a:avLst/>
              </a:prstGeom>
              <a:blipFill>
                <a:blip r:embed="rId2"/>
                <a:stretch>
                  <a:fillRect l="-1114" t="-14706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7075463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2015-2019 · PPM z within season · min 20 min · poolq winsor 0.01–0.99 · 3,200 team-seasons (530 CELL 8 port)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7075463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4047" y="1202289"/>
                <a:ext cx="4387055" cy="2704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team-season: talent window [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sSub>
                          <m:sSub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sz="1000" b="0" i="0" baseline="0" dirty="0">
                    <a:latin typeface="Calibri"/>
                  </a:rPr>
                  <a:t>] on PPM z.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Coverage = how many windows cover a point on the spectrum (530 CELL 8).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Red dashed: disjoint sort-and-chop on same player-seasons (537 B analog).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NCAA partition: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(0 = none, 1 = full team sorting).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Max coverage=3,117; sort-and-chop max=7. Normalized peak=0.97.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86%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of grid points have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 covering.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Roster span: mean=2.99 z, median=2.85 z (3,200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Paired compare window — match season span to Grandchild sim slide.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" y="1202289"/>
                <a:ext cx="4387055" cy="2704074"/>
              </a:xfrm>
              <a:prstGeom prst="rect">
                <a:avLst/>
              </a:prstGeom>
              <a:blipFill>
                <a:blip r:embed="rId4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Claim: NCAA interval overlap on a fixed season window — paired compare to Grandchild ASSIGN sim on the same window.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2726C4-13A6-2432-1753-CD7C561EDC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37579" y="1034307"/>
            <a:ext cx="6523276" cy="49814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Grandchild sim — team \hat{A}_{i} interval overlap (2015-2019)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5853077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2015-2019 · Grandchild ASSIGN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=30,345</m:t>
                    </m:r>
                  </m:oMath>
                </a14:m>
                <a:r>
                  <a:rPr lang="en-US" sz="1000" b="0" i="0" dirty="0">
                    <a:latin typeface="Calibri"/>
                  </a:rPr>
                  <a:t>  </a:t>
                </a:r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2,023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=0.146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5853077" cy="246221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GRANDCHILD_league_interval_overlap_2015_2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579" y="1033272"/>
            <a:ext cx="6523276" cy="49834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4047" y="1191929"/>
                <a:ext cx="4565639" cy="2704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Each team-season: talent window [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ar-AE" sz="1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ar-AE" sz="100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sz="100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ar-AE" sz="100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ar-AE" sz="1000" dirty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sz="100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sSub>
                          <m:sSubPr>
                            <m:ctrlPr>
                              <a:rPr lang="ar-AE" sz="1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ar-AE" sz="100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sz="100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ar-AE" sz="100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ar-AE" sz="1000" dirty="0"/>
                  <a:t>] </a:t>
                </a:r>
                <a:r>
                  <a:rPr lang="en-US" sz="1000" dirty="0"/>
                  <a:t>on PPM z.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Coverage = how many windows cover a point on the spectrum (530 CELL 8).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Grandchild ASSIGN: \rho=0.5, endogenous \</a:t>
                </a:r>
                <a:r>
                  <a:rPr sz="1000" b="0" i="0" baseline="0" dirty="0" err="1">
                    <a:latin typeface="Calibri"/>
                  </a:rPr>
                  <a:t>mu_j</a:t>
                </a:r>
                <a:r>
                  <a:rPr sz="1000" b="0" i="0" baseline="0" dirty="0">
                    <a:latin typeface="Calibri"/>
                  </a:rPr>
                  <a:t> — no T_{j^*}.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Red dashed: disjoint sort-and-chop on same player pool (537 B analog).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Assign partition: 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_{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𝑠𝑜𝑟𝑡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} = 0.146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(0 = none, 1 = full team sorting).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Sim max coverage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=2,020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sort-and-chop max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 Normalized peak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=1.00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86%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of grid points have 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 covering.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Roster span: mean=3.37 z, median=3.23 z (2,023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NCAA ref max </a:t>
                </a:r>
                <a:r>
                  <a:rPr sz="1000" b="0" i="0" baseline="0" dirty="0" err="1">
                    <a:latin typeface="Calibri"/>
                  </a:rPr>
                  <a:t>cov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=3,117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NCAA overlap grid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=86%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NCAA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" y="1191929"/>
                <a:ext cx="4565639" cy="2704074"/>
              </a:xfrm>
              <a:prstGeom prst="rect">
                <a:avLst/>
              </a:prstGeom>
              <a:blipFill>
                <a:blip r:embed="rId4"/>
                <a:stretch>
                  <a:fillRect b="-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Claim: Grandchild ASSIGN on the same season window as paired NCAA slide — one realization per season, stacked team-seasons.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235536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lang="en-US" sz="2000" b="1" i="0" baseline="0" dirty="0">
                    <a:latin typeface="Calibri"/>
                  </a:rPr>
                  <a:t> </a:t>
                </a:r>
                <a:r>
                  <a:rPr sz="2000" b="1" i="0" baseline="0" dirty="0">
                    <a:latin typeface="Calibri"/>
                  </a:rPr>
                  <a:t>? Realized assortativity on rosters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235536" cy="400110"/>
              </a:xfrm>
              <a:prstGeom prst="rect">
                <a:avLst/>
              </a:prstGeom>
              <a:blipFill>
                <a:blip r:embed="rId2"/>
                <a:stretch>
                  <a:fillRect l="-1211" t="-9375" r="-242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4214615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Realized sorting index · Grandchild / PD17 · alias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𝚜𝚘𝚛𝚝𝚒𝚗𝚐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𝚒𝚗𝚍𝚎𝚡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𝚑</m:t>
                        </m:r>
                      </m:e>
                    </m:box>
                  </m:oMath>
                </a14:m>
                <a:r>
                  <a:rPr sz="1000" b="0" i="0" baseline="0" dirty="0">
                    <a:latin typeface="Calibri"/>
                  </a:rPr>
                  <a:t> in code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214615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12647" y="1259207"/>
                <a:ext cx="4660703" cy="3767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b="0" i="0" baseline="0" dirty="0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b="0" i="0" baseline="0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b="0" i="0" baseline="0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ˆ"/>
                                            <m:ctrlP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0" baseline="0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ˆ"/>
                                            <m:ctrlP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0" baseline="0" dirty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  <m:d>
                                          <m:dPr>
                                            <m:ctrlP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0" baseline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b="0" i="0" baseline="0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ˆ"/>
                                            <m:ctrlP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0" baseline="0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b="0" i="0" baseline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  <a:buChar char="•"/>
                </a:pPr>
                <a:endParaRPr lang="en-US" sz="1000" dirty="0">
                  <a:latin typeface="Calibri"/>
                </a:endParaRP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Denominator: total spread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around league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Numerator: spread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around own team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within-team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total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— explained-variance / ANOVA-style.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team label tells you little (random-like partition).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teams are perfectly separated (point-mass rosters).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Alex one-liner: knowing roster explains how much ability deviates from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Not Newman network assortativity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partition statistic on abilities.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Complements interval overlap (geometry) — use both in brief.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↑⇒</m:t>
                    </m:r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in Grandchild sweep (see inset plot).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Memo: </a:t>
                </a:r>
                <a:r>
                  <a:rPr sz="1000" b="0" i="0" baseline="0" dirty="0" err="1">
                    <a:latin typeface="Calibri"/>
                  </a:rPr>
                  <a:t>grandchild_assign</a:t>
                </a:r>
                <a:r>
                  <a:rPr sz="1000" b="0" i="0" baseline="0" dirty="0">
                    <a:latin typeface="Calibri"/>
                  </a:rPr>
                  <a:t>/</a:t>
                </a:r>
                <a:r>
                  <a:rPr sz="1000" b="0" i="0" baseline="0" dirty="0" err="1">
                    <a:latin typeface="Calibri"/>
                  </a:rPr>
                  <a:t>GRANDCHILD_D_and_H_sort_interpretation.md</a:t>
                </a:r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7" y="1259207"/>
                <a:ext cx="4660703" cy="3767570"/>
              </a:xfrm>
              <a:prstGeom prst="rect">
                <a:avLst/>
              </a:prstGeom>
              <a:blipFill>
                <a:blip r:embed="rId4"/>
                <a:stretch>
                  <a:fillRect t="-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12702" y="1067653"/>
            <a:ext cx="6594945" cy="43635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is realized assortativity on a fixed partition — generative homophily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is the ASSIGN knob;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after assign.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4309321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distribution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4309321" cy="400110"/>
              </a:xfrm>
              <a:prstGeom prst="rect">
                <a:avLst/>
              </a:prstGeom>
              <a:blipFill>
                <a:blip r:embed="rId2"/>
                <a:stretch>
                  <a:fillRect l="-1471" t="-9375" r="-588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7688708" cy="27013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PPM z within season · min 20 min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=0.0182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placeholder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7688708" cy="270139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8" y="1051560"/>
                <a:ext cx="3300848" cy="20388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𝑚𝑒𝑎</m:t>
                    </m:r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000" b="0" i="1" baseline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0" i="1" baseline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on each roster.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Same PD16 team-smooth definition — one value per team-season.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Not LOO; includes every roster member in the mean.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(539 placeholder until PD17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/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calibration).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This run: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=0.039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from draft rate: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51560"/>
                <a:ext cx="3300848" cy="2038891"/>
              </a:xfrm>
              <a:prstGeom prst="rect">
                <a:avLst/>
              </a:prstGeom>
              <a:blipFill>
                <a:blip r:embed="rId4"/>
                <a:stretch>
                  <a:fillRect b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36625" y="1117239"/>
            <a:ext cx="8164564" cy="47972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Real rosters carry a spread of team congestion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— the descriptive input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was meant to stratify in sim.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19257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Empirical vs Grandchild —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distribution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192575" cy="400110"/>
              </a:xfrm>
              <a:prstGeom prst="rect">
                <a:avLst/>
              </a:prstGeom>
              <a:blipFill>
                <a:blip r:embed="rId2"/>
                <a:stretch>
                  <a:fillRect l="-1220" t="-9375" r="-244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5206938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Grandchild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5206938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GRANDCHILD_empirical_lc_compare_2011_2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514" y="2512541"/>
            <a:ext cx="9304973" cy="36322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4048" y="1053119"/>
                <a:ext cx="10605228" cy="1289028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𝑚𝑒𝑎</m:t>
                    </m:r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— team-smooth congestion.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Left panel: empirical NCAA (real rosters). Right: Grandchild ASSIGN sim.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MBB 2011-2021 · PPM z · min 20 min · poolq winsor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0.01–0.99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Shared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(HAND17 slide-4 default; 539 placeholder).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Empirical: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Grandchild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4,140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Sim: one Grandchild league per season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), stacked team-seasons.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ASSIGN shapes rosters;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score-side input — computed after assign.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53119"/>
                <a:ext cx="10605228" cy="12890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345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 / Grandchild):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on real rosters vs Grandchild sim — same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100" b="1" i="0" baseline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100" b="1" i="0" baseline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100" b="1" i="0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100" b="1" i="0" baseline="0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100" b="1" i="0" baseline="0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100" b="1" i="0" baseline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b="1" i="0" baseline="0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100" b="1" i="0" baseline="0" dirty="0">
                    <a:latin typeface="Calibri"/>
                  </a:rPr>
                  <a:t> formula; compare distribution shape before SCORE.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3456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913D6-7E6D-B7C1-4EAE-999EC635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D05749-2603-C9E4-8045-4E8FD874C889}"/>
                  </a:ext>
                </a:extLst>
              </p:cNvPr>
              <p:cNvSpPr txBox="1"/>
              <p:nvPr/>
            </p:nvSpPr>
            <p:spPr>
              <a:xfrm>
                <a:off x="384048" y="219456"/>
                <a:ext cx="6603283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Empirical vs Grandchild —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distribution</a:t>
                </a:r>
                <a:r>
                  <a:rPr lang="en-US" sz="2000" b="1" i="0" baseline="0" dirty="0">
                    <a:latin typeface="Calibri"/>
                  </a:rPr>
                  <a:t> (normalized)</a:t>
                </a:r>
                <a:endParaRPr sz="2000" b="1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D05749-2603-C9E4-8045-4E8FD874C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6603283" cy="400110"/>
              </a:xfrm>
              <a:prstGeom prst="rect">
                <a:avLst/>
              </a:prstGeom>
              <a:blipFill>
                <a:blip r:embed="rId2"/>
                <a:stretch>
                  <a:fillRect l="-960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3BCE47-EBC2-90F7-C334-155A36021C01}"/>
                  </a:ext>
                </a:extLst>
              </p:cNvPr>
              <p:cNvSpPr txBox="1"/>
              <p:nvPr/>
            </p:nvSpPr>
            <p:spPr>
              <a:xfrm>
                <a:off x="384048" y="713232"/>
                <a:ext cx="5206938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Grandchild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3BCE47-EBC2-90F7-C334-155A36021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5206938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A2E4362-E823-1DBA-9111-A82417F718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46967" y="2512541"/>
            <a:ext cx="9298066" cy="36322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294FED-061D-1875-793A-CC7AC4690DB7}"/>
                  </a:ext>
                </a:extLst>
              </p:cNvPr>
              <p:cNvSpPr txBox="1"/>
              <p:nvPr/>
            </p:nvSpPr>
            <p:spPr>
              <a:xfrm>
                <a:off x="384048" y="1053119"/>
                <a:ext cx="10605228" cy="1289028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𝑚𝑒𝑎</m:t>
                    </m:r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— team-smooth congestion.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Left panel: empirical NCAA (real rosters). Right: Grandchild ASSIGN sim.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MBB 2011-2021 · PPM z · min 20 min · poolq winsor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0.01–0.99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Shared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(HAND17 slide-4 default; 539 placeholder).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Empirical: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Grandchild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4,140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Sim: one Grandchild league per season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), stacked team-seasons.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ASSIGN shapes rosters;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score-side input — computed after assign.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294FED-061D-1875-793A-CC7AC4690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53119"/>
                <a:ext cx="10605228" cy="12890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47B90F-72AA-241F-9758-1977F0F56E3D}"/>
                  </a:ext>
                </a:extLst>
              </p:cNvPr>
              <p:cNvSpPr txBox="1"/>
              <p:nvPr/>
            </p:nvSpPr>
            <p:spPr>
              <a:xfrm>
                <a:off x="384048" y="6053328"/>
                <a:ext cx="11423599" cy="345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 / Grandchild):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on real rosters vs Grandchild sim — same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100" b="1" i="1" baseline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100" b="1" i="1" baseline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100" b="1" i="0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100" b="1" i="0" baseline="0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100" b="1" i="0" baseline="0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100" b="1" i="0" baseline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b="1" i="0" baseline="0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100" b="1" i="0" baseline="0" dirty="0">
                    <a:latin typeface="Calibri"/>
                  </a:rPr>
                  <a:t> formula; compare distribution shape before SCORE.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47B90F-72AA-241F-9758-1977F0F56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3456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59A2B6-0AE9-5FF2-81B1-B32950D9BC13}"/>
                  </a:ext>
                </a:extLst>
              </p:cNvPr>
              <p:cNvSpPr txBox="1"/>
              <p:nvPr/>
            </p:nvSpPr>
            <p:spPr>
              <a:xfrm>
                <a:off x="7194885" y="234845"/>
                <a:ext cx="444366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0000"/>
                    </a:solidFill>
                  </a:rPr>
                  <a:t>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FF0000"/>
                    </a:solidFill>
                  </a:rPr>
                  <a:t> formula; normalized so team-season count differences don’t dominate the visual.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59A2B6-0AE9-5FF2-81B1-B32950D9B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885" y="234845"/>
                <a:ext cx="4443662" cy="646331"/>
              </a:xfrm>
              <a:prstGeom prst="rect">
                <a:avLst/>
              </a:prstGeom>
              <a:blipFill>
                <a:blip r:embed="rId7"/>
                <a:stretch>
                  <a:fillRect l="-1140" t="-3846" r="-170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7811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0B372-5859-748F-1EC5-E4169F60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3C3C2F-D657-224B-8085-C3920155D7E1}"/>
                  </a:ext>
                </a:extLst>
              </p:cNvPr>
              <p:cNvSpPr txBox="1"/>
              <p:nvPr/>
            </p:nvSpPr>
            <p:spPr>
              <a:xfrm>
                <a:off x="384048" y="219456"/>
                <a:ext cx="6603283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Empirical vs Grandchild —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distribution</a:t>
                </a:r>
                <a:r>
                  <a:rPr lang="en-US" sz="2000" b="1" i="0" baseline="0" dirty="0">
                    <a:latin typeface="Calibri"/>
                  </a:rPr>
                  <a:t> (normalized)</a:t>
                </a:r>
                <a:endParaRPr sz="2000" b="1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3C3C2F-D657-224B-8085-C3920155D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6603283" cy="400110"/>
              </a:xfrm>
              <a:prstGeom prst="rect">
                <a:avLst/>
              </a:prstGeom>
              <a:blipFill>
                <a:blip r:embed="rId2"/>
                <a:stretch>
                  <a:fillRect l="-960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CDA663-D4F0-0D29-A670-9836BD3DBECF}"/>
                  </a:ext>
                </a:extLst>
              </p:cNvPr>
              <p:cNvSpPr txBox="1"/>
              <p:nvPr/>
            </p:nvSpPr>
            <p:spPr>
              <a:xfrm>
                <a:off x="384048" y="713232"/>
                <a:ext cx="5206938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Grandchild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CDA663-D4F0-0D29-A670-9836BD3DB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5206938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5D8A1A4-9D26-CC59-69BF-64A876FFF6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37341" y="2512541"/>
            <a:ext cx="6517318" cy="36322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50DF50-0F8E-A287-90D3-779BD78490C0}"/>
                  </a:ext>
                </a:extLst>
              </p:cNvPr>
              <p:cNvSpPr txBox="1"/>
              <p:nvPr/>
            </p:nvSpPr>
            <p:spPr>
              <a:xfrm>
                <a:off x="384048" y="1053119"/>
                <a:ext cx="10605228" cy="1289028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𝑚𝑒𝑎</m:t>
                    </m:r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— team-smooth congestion.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Left panel: empirical NCAA (real rosters). Right: Grandchild ASSIGN sim.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MBB 2011-2021 · PPM z · min 20 min · poolq winsor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0.01–0.99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Shared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(HAND17 slide-4 default; 539 placeholder).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Empirical: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Grandchild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4,140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Sim: one Grandchild league per season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), stacked team-seasons.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ASSIGN shapes rosters;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score-side input — computed after assign.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50DF50-0F8E-A287-90D3-779BD7849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53119"/>
                <a:ext cx="10605228" cy="12890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0A92BE-3EA4-C919-6A4E-C06365DEC09F}"/>
                  </a:ext>
                </a:extLst>
              </p:cNvPr>
              <p:cNvSpPr txBox="1"/>
              <p:nvPr/>
            </p:nvSpPr>
            <p:spPr>
              <a:xfrm>
                <a:off x="384048" y="6053328"/>
                <a:ext cx="11423599" cy="345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 / Grandchild):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on real rosters vs Grandchild sim — same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100" b="1" i="1" baseline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100" b="1" i="1" baseline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100" b="1" i="0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100" b="1" i="0" baseline="0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100" b="1" i="0" baseline="0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100" b="1" i="0" baseline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b="1" i="0" baseline="0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100" b="1" i="0" baseline="0" dirty="0">
                    <a:latin typeface="Calibri"/>
                  </a:rPr>
                  <a:t> formula; compare distribution shape before SCORE.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0A92BE-3EA4-C919-6A4E-C06365DEC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3456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724212-18AD-8E82-98E9-6048B1218706}"/>
                  </a:ext>
                </a:extLst>
              </p:cNvPr>
              <p:cNvSpPr txBox="1"/>
              <p:nvPr/>
            </p:nvSpPr>
            <p:spPr>
              <a:xfrm>
                <a:off x="7194885" y="234845"/>
                <a:ext cx="444366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0000"/>
                    </a:solidFill>
                  </a:rPr>
                  <a:t>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FF0000"/>
                    </a:solidFill>
                  </a:rPr>
                  <a:t> formula; normalized so team-season count differences don’t dominate the visual.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724212-18AD-8E82-98E9-6048B1218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885" y="234845"/>
                <a:ext cx="4443662" cy="646331"/>
              </a:xfrm>
              <a:prstGeom prst="rect">
                <a:avLst/>
              </a:prstGeom>
              <a:blipFill>
                <a:blip r:embed="rId7"/>
                <a:stretch>
                  <a:fillRect l="-1140" t="-3846" r="-170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2616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4088363" cy="44800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Sketch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sz="20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4088363" cy="448008"/>
              </a:xfrm>
              <a:prstGeom prst="rect">
                <a:avLst/>
              </a:prstGeom>
              <a:blipFill>
                <a:blip r:embed="rId2"/>
                <a:stretch>
                  <a:fillRect l="-1548" t="-11111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7717562" cy="27013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PPM z within season · min 20 min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=0.0182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·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placeholder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7717562" cy="270139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8" y="1051560"/>
                <a:ext cx="3526036" cy="1367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cell: count of team-seasons at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Color = count (empirical Sketch A — no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arms).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on roster (realized talent,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Look for upward co-movement: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with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=0.011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51560"/>
                <a:ext cx="3526036" cy="1367810"/>
              </a:xfrm>
              <a:prstGeom prst="rect">
                <a:avLst/>
              </a:prstGeom>
              <a:blipFill>
                <a:blip r:embed="rId4"/>
                <a:stretch>
                  <a:fillRect b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EMPIRICAL_L_C_vs_Tj_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815" y="1051560"/>
            <a:ext cx="6558185" cy="49286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87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On actual team-seasons, stronger realized rosters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10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) tend to co-occur with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— empirical Sketch A.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87964"/>
              </a:xfrm>
              <a:prstGeom prst="rect">
                <a:avLst/>
              </a:prstGeom>
              <a:blipFill>
                <a:blip r:embed="rId6"/>
                <a:stretch>
                  <a:fillRect t="-4167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71483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</a:t>
                </a:r>
                <a:r>
                  <a:rPr lang="en-US" sz="2000" b="1" i="0" baseline="0" dirty="0">
                    <a:latin typeface="Calibri"/>
                  </a:rPr>
                  <a:t>sweep:</a:t>
                </a:r>
                <a:r>
                  <a:rPr sz="2000" b="1" i="0" baseline="0" dirty="0">
                    <a:latin typeface="Calibri"/>
                  </a:rPr>
                  <a:t>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on real rosters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714834" cy="400110"/>
              </a:xfrm>
              <a:prstGeom prst="rect">
                <a:avLst/>
              </a:prstGeom>
              <a:blipFill>
                <a:blip r:embed="rId3"/>
                <a:stretch>
                  <a:fillRect l="-1109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6012800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PPM z · min 20 min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z-units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 fixed across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arms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6012800" cy="24622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EMPIRICAL_L_C_gamma_sweep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816" y="1033272"/>
            <a:ext cx="8560063" cy="411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8" y="5202936"/>
                <a:ext cx="3685946" cy="438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OAT on real panel: fixed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cutline on PPM z); only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9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900" b="0" i="1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en-US" sz="9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9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a:rPr lang="en-US" sz="900" b="0" i="0" baseline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900" b="0" i="0" baseline="0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900" b="0" i="0" baseline="0" dirty="0">
                    <a:latin typeface="Calibri"/>
                  </a:rPr>
                  <a:t> changes.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202936"/>
                <a:ext cx="3685946" cy="438133"/>
              </a:xfrm>
              <a:prstGeom prst="rect">
                <a:avLst/>
              </a:prstGeom>
              <a:blipFill>
                <a:blip r:embed="rId6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52874" y="5202936"/>
                <a:ext cx="368594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Arms: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900" b="0" i="0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b="0" i="0" baseline="0" dirty="0" smtClean="0">
                            <a:latin typeface="Cambria Math" panose="02040503050406030204" pitchFamily="18" charset="0"/>
                          </a:rPr>
                          <m:t>10,5,1,0.5,0.001</m:t>
                        </m:r>
                      </m:e>
                    </m:d>
                  </m:oMath>
                </a14:m>
                <a:r>
                  <a:rPr sz="900" b="0" i="0" baseline="0" dirty="0">
                    <a:latin typeface="Calibri"/>
                  </a:rPr>
                  <a:t> — same team-seasons, same rosters.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74" y="5202936"/>
                <a:ext cx="3685946" cy="230832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121700" y="5202936"/>
                <a:ext cx="368594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=0.029,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84%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teams below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700" y="5202936"/>
                <a:ext cx="3685946" cy="230832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4048" y="5961888"/>
                <a:ext cx="3622402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=0.499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, max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=0.500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— spread opens on z-scale.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961888"/>
                <a:ext cx="3622402" cy="230832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84048" y="6158844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On real rosters, γ reshapes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— high γ compresses viability near 0 on the PPM-z scale; low γ spreads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into the interior of [0,1].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158844"/>
                <a:ext cx="11423599" cy="261610"/>
              </a:xfrm>
              <a:prstGeom prst="rect">
                <a:avLst/>
              </a:prstGeom>
              <a:blipFill>
                <a:blip r:embed="rId10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PD17 — Empirical vs sim interval overlap (\rho calibration target)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Assign block capstone · empirical MBB vs 539 sim · same coverage diagnostic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8522" y="960120"/>
            <a:ext cx="11063037" cy="34594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8" y="4372927"/>
                <a:ext cx="6334804" cy="1472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Three panels: empirical (left) · four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/>
                  <a:t> arms (center) ·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=1→32</m:t>
                    </m:r>
                  </m:oMath>
                </a14:m>
                <a:r>
                  <a:rPr lang="en-US" sz="1000" dirty="0"/>
                  <a:t> sweep (right).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000" dirty="0"/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p>
                          <m:sSupPr>
                            <m:ctrlP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1000" i="0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1000" dirty="0"/>
                  <a:t> draw across sim panels; seed fixed.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Empirical max coverage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6,305</m:t>
                    </m:r>
                  </m:oMath>
                </a14:m>
                <a:r>
                  <a:rPr lang="en-US" sz="1000" dirty="0"/>
                  <a:t>; sort-and-chop max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1000" dirty="0"/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Center: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0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0.001,1,8,32</m:t>
                        </m:r>
                      </m:e>
                    </m:d>
                  </m:oMath>
                </a14:m>
                <a:r>
                  <a:rPr lang="en-US" sz="1000" dirty="0"/>
                  <a:t>; right sweep peaks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=1→1000</m:t>
                    </m:r>
                  </m:oMath>
                </a14:m>
                <a:r>
                  <a:rPr lang="en-US" sz="1000" dirty="0"/>
                  <a:t>,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=32→588</m:t>
                    </m:r>
                  </m:oMath>
                </a14:m>
                <a:r>
                  <a:rPr lang="en-US" sz="1000" dirty="0"/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Sim sort-and-chop peak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000" dirty="0"/>
                  <a:t> on both sim panels.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PPM z vs [0,1] ability — compare shape, seed 42.</a:t>
                </a:r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4372927"/>
                <a:ext cx="6334804" cy="1472070"/>
              </a:xfrm>
              <a:prstGeom prst="rect">
                <a:avLst/>
              </a:prstGeom>
              <a:blipFill>
                <a:blip r:embed="rId3"/>
                <a:stretch>
                  <a:fillRect b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Real rosters sit at high coverage peak — sim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must be tuned so soft assign matches that overlap, not sort-and-chop.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4269</TotalTime>
  <Words>2441</Words>
  <Application>Microsoft Macintosh PowerPoint</Application>
  <PresentationFormat>Widescreen</PresentationFormat>
  <Paragraphs>178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Avenir Next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59</cp:revision>
  <cp:lastPrinted>2026-08-04T17:29:11Z</cp:lastPrinted>
  <dcterms:created xsi:type="dcterms:W3CDTF">2013-01-27T09:14:16Z</dcterms:created>
  <dcterms:modified xsi:type="dcterms:W3CDTF">2026-08-11T18:21:05Z</dcterms:modified>
  <cp:category/>
</cp:coreProperties>
</file>