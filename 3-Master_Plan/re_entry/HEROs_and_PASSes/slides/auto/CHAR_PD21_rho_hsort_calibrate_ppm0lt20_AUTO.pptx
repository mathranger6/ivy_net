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2"/>
  </p:normalViewPr>
  <p:slideViewPr>
    <p:cSldViewPr snapToGrid="0" snapToObjects="1">
      <p:cViewPr varScale="1">
        <p:scale>
          <a:sx n="165" d="100"/>
          <a:sy n="165" d="100"/>
        </p:scale>
        <p:origin x="208" y="3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3A7B-5CEF-8C7D-478B-773E9B38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A04B81-646E-D343-4FBB-A6016C810F10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1132444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b="1" dirty="0">
                    <a:latin typeface="Calibri"/>
                  </a:rPr>
                  <a:t> 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libri"/>
                  </a:rPr>
                  <a:t> (contrast: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b="1" dirty="0">
                    <a:latin typeface="Calibri"/>
                  </a:rPr>
                  <a:t> — not for calibration)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A04B81-646E-D343-4FBB-A6016C810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1324447" cy="400110"/>
              </a:xfrm>
              <a:prstGeom prst="rect">
                <a:avLst/>
              </a:prstGeom>
              <a:blipFill>
                <a:blip r:embed="rId2"/>
                <a:stretch>
                  <a:fillRect l="-560" t="-9375" r="-224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63BA28-9729-D981-C68F-89411D02D584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634148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dirty="0">
                    <a:latin typeface="Calibri"/>
                  </a:rPr>
                  <a:t>PD21 · LG ASSIGN calibration · 2011-2021 ·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00" dirty="0">
                    <a:latin typeface="Calibri"/>
                  </a:rPr>
                  <a:t> seeds · bracket </a:t>
                </a:r>
                <a:r>
                  <a:rPr lang="en-US" sz="100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0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≈0.57</m:t>
                    </m:r>
                  </m:oMath>
                </a14:m>
                <a:r>
                  <a:rPr lang="en-US" sz="1000" dirty="0">
                    <a:latin typeface="Calibri"/>
                  </a:rPr>
                  <a:t> · contrast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sz="100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63BA28-9729-D981-C68F-89411D02D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341480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1A2C5D9-4665-1CCD-DFAB-99BDDD694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82923" y="1160349"/>
            <a:ext cx="7647946" cy="4982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FC5FF9-D481-36F9-4F81-B02AE7EBCB6E}"/>
                  </a:ext>
                </a:extLst>
              </p:cNvPr>
              <p:cNvSpPr txBox="1"/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PD21 contrast (Aug 2026):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panel — illustrative only; do not use for locked longitudinal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Alex (Aug 2026): calibrate ASSIGN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MLE parked.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Panel: 2011–2021 MBB · all roster rows kept · raw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minutes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· no roster caps — contrast / legacy estimand only.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Search: bracket + bisect (</a:t>
                </a:r>
                <a:r>
                  <a:rPr lang="en-US" sz="100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0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0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i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i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dirty="0">
                    <a:latin typeface="Calibri"/>
                  </a:rPr>
                  <a:t> — realized sorting on a fixed partition.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≈0.5695</m:t>
                    </m:r>
                  </m:oMath>
                </a14:m>
                <a:r>
                  <a:rPr lang="en-US" sz="100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0.169</m:t>
                    </m:r>
                  </m:oMath>
                </a14:m>
                <a:r>
                  <a:rPr lang="en-US" sz="100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0.171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Per-season: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/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1000" dirty="0">
                    <a:latin typeface="Calibri"/>
                  </a:rPr>
                  <a:t>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00" dirty="0">
                    <a:latin typeface="Calibri"/>
                  </a:rPr>
                  <a:t>; nonzero — 2011: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≈0.0184</m:t>
                    </m:r>
                  </m:oMath>
                </a14:m>
                <a:r>
                  <a:rPr lang="en-US" sz="1000" dirty="0">
                    <a:latin typeface="Calibri"/>
                  </a:rPr>
                  <a:t>, 2012: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≈0.0184</m:t>
                    </m:r>
                  </m:oMath>
                </a14:m>
                <a:r>
                  <a:rPr lang="en-US" sz="1000" dirty="0">
                    <a:latin typeface="Calibri"/>
                  </a:rPr>
                  <a:t>, 2013: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≈0.103</m:t>
                    </m:r>
                  </m:oMath>
                </a14:m>
                <a:r>
                  <a:rPr lang="en-US" sz="1000" dirty="0">
                    <a:latin typeface="Calibri"/>
                  </a:rPr>
                  <a:t>, 2014: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≈0.569</m:t>
                    </m:r>
                  </m:oMath>
                </a14:m>
                <a:r>
                  <a:rPr lang="en-US" sz="1000" dirty="0">
                    <a:latin typeface="Calibri"/>
                  </a:rPr>
                  <a:t>, 2015: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≈0.594</m:t>
                    </m:r>
                  </m:oMath>
                </a14:m>
                <a:r>
                  <a:rPr lang="en-US" sz="1000" dirty="0">
                    <a:latin typeface="Calibri"/>
                  </a:rPr>
                  <a:t>, …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Legacy reference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00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i="0" dirty="0">
                        <a:latin typeface="Cambria Math" panose="02040503050406030204" pitchFamily="18" charset="0"/>
                      </a:rPr>
                      <m:t>≈0.061</m:t>
                    </m:r>
                  </m:oMath>
                </a14:m>
                <a:r>
                  <a:rPr lang="en-US" sz="100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4.6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−06</m:t>
                    </m:r>
                  </m:oMath>
                </a14:m>
                <a:r>
                  <a:rPr lang="en-US" sz="100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Figure bottom-right inset: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— red dots jump at 2014; dotted line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across seasons.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2014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0.103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→0.569</m:t>
                    </m:r>
                  </m:oMath>
                </a14:m>
                <a:r>
                  <a:rPr lang="en-US" sz="1000" dirty="0">
                    <a:latin typeface="Calibri"/>
                  </a:rPr>
                  <a:t> — coincides with raw ESPN player-season count jump; not used for locked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Contrast slide only: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(all roster rows,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min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, no caps) inflates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and the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2014 per-season jump — do not use for locked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Footer claim on this slide is about contrast failure mode — not the hero-panel near-zero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story on slide 5.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(x-axis zoomed to evaluated bracket).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FC5FF9-D481-36F9-4F81-B02AE7EBC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blipFill>
                <a:blip r:embed="rId5"/>
                <a:stretch>
                  <a:fillRect t="-282" r="-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A765FF-1D96-4DE4-90E9-C91E84AFBBFC}"/>
                  </a:ext>
                </a:extLst>
              </p:cNvPr>
              <p:cNvSpPr txBox="1"/>
              <p:nvPr/>
            </p:nvSpPr>
            <p:spPr>
              <a:xfrm>
                <a:off x="384048" y="6166786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latin typeface="Calibri"/>
                  </a:rPr>
                  <a:t>Claim (PD21 contrast):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100" b="1" dirty="0">
                    <a:latin typeface="Calibri"/>
                  </a:rPr>
                  <a:t> inflates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dirty="0">
                        <a:latin typeface="Cambria Math" panose="02040503050406030204" pitchFamily="18" charset="0"/>
                      </a:rPr>
                      <m:t>≈0.57</m:t>
                    </m:r>
                  </m:oMath>
                </a14:m>
                <a:r>
                  <a:rPr lang="en-US" sz="1100" b="1" dirty="0">
                    <a:latin typeface="Calibri"/>
                  </a:rPr>
                  <a:t> — not the hero estimand; 2013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100" b="1" dirty="0">
                    <a:latin typeface="Calibri"/>
                  </a:rPr>
                  <a:t>2014 per-season jump traces ESPN box-depth break (PD22 ESPN coverage backup slide).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A765FF-1D96-4DE4-90E9-C91E84AFB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66786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40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429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2026-08-18T02:10:42Z</dcterms:modified>
  <cp:category/>
</cp:coreProperties>
</file>