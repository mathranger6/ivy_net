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84048" y="219456"/>
            <a:ext cx="11423599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000" b="1" i="0" baseline="0">
                <a:latin typeface="Calibri"/>
              </a:rPr>
              <a:t>PD21 — Calibrate homophily $\rho$ to empirical sorting index $H_{\mathrm{sort}}$ (contrast: ppm0lt20 — not for calibration)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84048" y="713232"/>
            <a:ext cx="11423599" cy="2468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 i="0" baseline="0">
                <a:latin typeface="Calibri"/>
              </a:rPr>
              <a:t>PD21 · LG ASSIGN calibration · 2011-2021 · 50 seeds · bracket tol=0.001 · longitudinal $\rho^* \approx 0.0484$ · contrast ppm0lt20</a:t>
            </a:r>
          </a:p>
        </p:txBody>
      </p:sp>
      <p:pic>
        <p:nvPicPr>
          <p:cNvPr id="4" name="Picture 3" descr="PD21_rho_hsort_calibrate_2011_2021_ppm0lt20_bracke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79976" y="1102132"/>
            <a:ext cx="7427671" cy="484576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384048" y="3849624"/>
            <a:ext cx="3794760" cy="2148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Char char="•"/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 baseline="0">
                <a:latin typeface="Calibri"/>
              </a:rPr>
              <a:t>  PD21 contrast (Aug 2026): ppm0lt20 panel — illustrative only; do not use for locked longitudinal $\rho$ calibration.</a:t>
            </a:r>
          </a:p>
          <a:p>
            <a:pPr>
              <a:buChar char="•"/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 baseline="0">
                <a:latin typeface="Calibri"/>
              </a:rPr>
              <a:t>  Alex (Aug 2026): calibrate ASSIGN $\rho$ so LG simulated $H_{\mathrm{sort}}$ matches empirical NCAA; formal $\rho$ MLE parked.</a:t>
            </a:r>
          </a:p>
          <a:p>
            <a:pPr>
              <a:buChar char="•"/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 baseline="0">
                <a:latin typeface="Calibri"/>
              </a:rPr>
              <a:t>  Panel: 2011–2021 MBB · all roster rows kept · raw PPM$=0$ if minutes$&lt;20$ · no roster caps — contrast / legacy estimand only.</a:t>
            </a:r>
          </a:p>
          <a:p>
            <a:pPr>
              <a:buChar char="•"/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 baseline="0">
                <a:latin typeface="Calibri"/>
              </a:rPr>
              <a:t>  Search: bracket + bisect (tol=0.001), 50 seeds/arm; $H_{\mathrm{sort}}^{\mathrm{sim}}$ monotone in $\rho$.</a:t>
            </a:r>
          </a:p>
          <a:p>
            <a:pPr>
              <a:buChar char="•"/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 baseline="0">
                <a:latin typeface="Calibri"/>
              </a:rPr>
              <a:t>  H_{sort} = 1 - \sum_i(\hat{A}_i - \hat{\mu}_{g(i)})^2 / \sum_i(\hat{A}_i - \bar{A})^2 — realized sorting on a fixed partition.</a:t>
            </a:r>
          </a:p>
          <a:p>
            <a:pPr>
              <a:buChar char="•"/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 baseline="0">
                <a:latin typeface="Calibri"/>
              </a:rPr>
              <a:t>  Longitudinal $\rho^* \approx 0.04844$; mean $H_{\mathrm{sort}}^{\mathrm{sim}}$ at $\rho^*$ = 0.067; mean $H_{\mathrm{sort}}^{\mathrm{emp}}$ = 0.065.</a:t>
            </a:r>
          </a:p>
          <a:p>
            <a:pPr>
              <a:buChar char="•"/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 baseline="0">
                <a:latin typeface="Calibri"/>
              </a:rPr>
              <a:t>  Per-season: 5/11 seasons at $\rho^*=0$; nonzero — 2015: \rho^* \approx 0.184, 2016: \rho^* \approx 0.161, 2017: \rho^* \approx 0.0129, 2018: \rho^* \approx 0.0457, 2019: \rho^* \approx 0.0715, …</a:t>
            </a:r>
          </a:p>
          <a:p>
            <a:pPr>
              <a:buChar char="•"/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 baseline="0">
                <a:latin typeface="Calibri"/>
              </a:rPr>
              <a:t>  Legacy reference $\rho=0.5$: mean $|error| \approx 0.089$ vs $\approx 4.9e-06$ at $\rho^*$.</a:t>
            </a:r>
          </a:p>
          <a:p>
            <a:pPr>
              <a:buChar char="•"/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 baseline="0">
                <a:latin typeface="Calibri"/>
              </a:rPr>
              <a:t>  Figure bottom-right inset: per-season $\rho^*$ — red dots spike at 2015–2016; dotted line = mean $\rho^*$ across seasons.</a:t>
            </a:r>
          </a:p>
          <a:p>
            <a:pPr>
              <a:buChar char="•"/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 baseline="0">
                <a:latin typeface="Calibri"/>
              </a:rPr>
              <a:t>  2014$\rightarrow$2015 per-season $\rho^*$: $0.000\rightarrow0.184$ — mid-decade spike co-moves with empirical $H_{\mathrm{sort}}$; not used for locked calibration.</a:t>
            </a:r>
          </a:p>
          <a:p>
            <a:pPr>
              <a:buChar char="•"/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 baseline="0">
                <a:latin typeface="Calibri"/>
              </a:rPr>
              <a:t>  Contrast slide only: ppm0lt20 (all roster rows, PPM$=0$ if min$&lt;20$, no caps) can yield positive per-season $\rho^*$ where hero drop gives $0$ — do not use for locked calibration.</a:t>
            </a:r>
          </a:p>
          <a:p>
            <a:pPr>
              <a:buChar char="•"/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 baseline="0">
                <a:latin typeface="Calibri"/>
              </a:rPr>
              <a:t>  Footer claim on this slide is about contrast failure mode — not the hero-panel near-zero $\rho^*$ story on the hero calibration slide (HAND20 slide 14).</a:t>
            </a:r>
          </a:p>
          <a:p>
            <a:pPr>
              <a:buChar char="•"/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 baseline="0">
                <a:latin typeface="Calibri"/>
              </a:rPr>
              <a:t>  VECTOR lock: H_{sort} is realized sorting — not the generative homophily knob \rho.</a:t>
            </a:r>
          </a:p>
          <a:p>
            <a:pPr>
              <a:buChar char="•"/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 baseline="0">
                <a:latin typeface="Calibri"/>
              </a:rPr>
              <a:t>  Figure: small multiples — blue sim curve, red empirical line, green $\rho^*$ (x-axis zoomed to evaluated bracket).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84048" y="6053328"/>
            <a:ext cx="11423599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 baseline="0">
                <a:latin typeface="Calibri"/>
              </a:rPr>
              <a:t>Claim (PD21 contrast): ppm0lt20 yields modest longitudinal $\rho^* \approx 0.0484$ (hero panel $=0$) — not the locked estimand; 2014$\rightarrow$2015 per-season spike co-moves with mid-decade $H_{\mathrm{sort}}$ on uncapped roster rows (PD22 ESPN coverage — HAND20 slide 9).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