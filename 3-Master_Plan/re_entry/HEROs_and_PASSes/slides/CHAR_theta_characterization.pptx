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\theta</a:t>
            </a:r>
            <a:r>
              <a:rPr sz="2000"/>
              <a:t> (viability cutline) — OAT at </a:t>
            </a:r>
            <a:r>
              <a:rPr sz="2000" i="1">
                <a:latin typeface="Cambria Math"/>
              </a:rPr>
              <a:t>K/N=10\%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\theta</a:t>
            </a:r>
            <a:r>
              <a:rPr sz="1100"/>
              <a:t> — one-at-a-time at 539 baseline (assign + score + top-</a:t>
            </a:r>
            <a:r>
              <a:rPr sz="1100" i="1">
                <a:latin typeface="Cambria Math"/>
              </a:rPr>
              <a:t>K</a:t>
            </a:r>
            <a:r>
              <a:rPr sz="1100"/>
              <a:t> fixed)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L</a:t>
            </a:r>
            <a:r>
              <a:rPr sz="900" i="1" baseline="-25000">
                <a:latin typeface="Cambria Math"/>
              </a:rPr>
              <a:t>C</a:t>
            </a:r>
            <a:r>
              <a:rPr sz="1100" i="1">
                <a:latin typeface="Cambria Math"/>
              </a:rPr>
              <a:t> = mean</a:t>
            </a:r>
            <a:r>
              <a:rPr sz="900" i="1" baseline="-25000">
                <a:latin typeface="Cambria Math"/>
              </a:rPr>
              <a:t>j \neq i</a:t>
            </a:r>
            <a:r>
              <a:rPr sz="1100" i="1">
                <a:latin typeface="Cambria Math"/>
              </a:rPr>
              <a:t>·σ\big(\gamma(A</a:t>
            </a:r>
            <a:r>
              <a:rPr sz="900" i="1" baseline="-25000">
                <a:latin typeface="Cambria Math"/>
              </a:rPr>
              <a:t>j</a:t>
            </a:r>
            <a:r>
              <a:rPr sz="1100" i="1">
                <a:latin typeface="Cambria Math"/>
              </a:rPr>
              <a:t> - \theta)\big)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ρ=8</a:t>
            </a:r>
            <a:r>
              <a:rPr sz="1000"/>
              <a:t>, </a:t>
            </a:r>
            <a:r>
              <a:rPr sz="1000" i="1">
                <a:latin typeface="Cambria Math"/>
              </a:rPr>
              <a:t>λ=0.55</a:t>
            </a:r>
            <a:r>
              <a:rPr sz="1000"/>
              <a:t>, </a:t>
            </a:r>
            <a:r>
              <a:rPr sz="1000" i="1">
                <a:latin typeface="Cambria Math"/>
              </a:rPr>
              <a:t>\gamma=10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\theta ∈ {0.50, 0.72, 0.90}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K/N = 10\%</a:t>
            </a:r>
            <a:r>
              <a:rPr sz="1000"/>
              <a:t> (</a:t>
            </a:r>
            <a:r>
              <a:rPr sz="1000" i="1">
                <a:latin typeface="Cambria Math"/>
              </a:rPr>
              <a:t>K=560</a:t>
            </a:r>
            <a:r>
              <a:rPr sz="1000"/>
              <a:t>, </a:t>
            </a:r>
            <a:r>
              <a:rPr sz="1000" i="1">
                <a:latin typeface="Cambria Math"/>
              </a:rPr>
              <a:t>N=5600</a:t>
            </a:r>
            <a:r>
              <a:rPr sz="1000"/>
              <a:t>)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THETA_OAT_selection_by_pool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039" y="768096"/>
            <a:ext cx="6859304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OAT: soft </a:t>
            </a:r>
            <a:r>
              <a:rPr sz="900" i="1">
                <a:latin typeface="Cambria Math"/>
              </a:rPr>
              <a:t>ρ=8</a:t>
            </a:r>
            <a:r>
              <a:rPr sz="900"/>
              <a:t>, </a:t>
            </a:r>
            <a:r>
              <a:rPr sz="900" i="1">
                <a:latin typeface="Cambria Math"/>
              </a:rPr>
              <a:t>λ=0.55</a:t>
            </a:r>
            <a:r>
              <a:rPr sz="900"/>
              <a:t>, </a:t>
            </a:r>
            <a:r>
              <a:rPr sz="900" i="1">
                <a:latin typeface="Cambria Math"/>
              </a:rPr>
              <a:t>\gamma=10</a:t>
            </a:r>
            <a:r>
              <a:rPr sz="900"/>
              <a:t> fixed; only </a:t>
            </a:r>
            <a:r>
              <a:rPr sz="900" i="1">
                <a:latin typeface="Cambria Math"/>
              </a:rPr>
              <a:t>\theta</a:t>
            </a:r>
            <a:r>
              <a:rPr sz="900"/>
              <a:t> in </a:t>
            </a:r>
            <a:r>
              <a:rPr sz="900" i="1">
                <a:latin typeface="Cambria Math"/>
              </a:rPr>
              <a:t>σ(\gamma(A-\theta))</a:t>
            </a:r>
            <a:r>
              <a:rPr sz="900"/>
              <a:t> changes.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\theta=0.50</a:t>
            </a:r>
            <a:r>
              <a:rPr sz="900"/>
              <a:t>: mid-pool hump (peak bin </a:t>
            </a:r>
            <a:r>
              <a:rPr sz="900" i="1">
                <a:latin typeface="Cambria Math"/>
              </a:rPr>
              <a:t>\approx 13</a:t>
            </a:r>
            <a:r>
              <a:rPr sz="900"/>
              <a:t>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\theta=0.72</a:t>
            </a:r>
            <a:r>
              <a:rPr sz="900"/>
              <a:t> (539 default): similar hump, slightly higher peak rate.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\theta=0.90</a:t>
            </a:r>
            <a:r>
              <a:rPr sz="900"/>
              <a:t>: top bins dominate — curve becomes monotone-increasing at the elite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at fixed </a:t>
            </a:r>
            <a:r>
              <a:rPr sz="1100" i="1">
                <a:latin typeface="Cambria Math"/>
              </a:rPr>
              <a:t>ρ</a:t>
            </a:r>
            <a:r>
              <a:rPr sz="1100"/>
              <a:t>, </a:t>
            </a:r>
            <a:r>
              <a:rPr sz="1100" i="1">
                <a:latin typeface="Cambria Math"/>
              </a:rPr>
              <a:t>λ</a:t>
            </a:r>
            <a:r>
              <a:rPr sz="1100"/>
              <a:t>, and </a:t>
            </a:r>
            <a:r>
              <a:rPr sz="1100" i="1">
                <a:latin typeface="Cambria Math"/>
              </a:rPr>
              <a:t>K/N=10\%</a:t>
            </a:r>
            <a:r>
              <a:rPr sz="1100"/>
              <a:t>, </a:t>
            </a:r>
            <a:r>
              <a:rPr sz="1100" i="1">
                <a:latin typeface="Cambria Math"/>
              </a:rPr>
              <a:t>\theta</a:t>
            </a:r>
            <a:r>
              <a:rPr sz="1100"/>
              <a:t> (viability cutline) moves the readout — low </a:t>
            </a:r>
            <a:r>
              <a:rPr sz="1100" i="1">
                <a:latin typeface="Cambria Math"/>
              </a:rPr>
              <a:t>\theta</a:t>
            </a:r>
            <a:r>
              <a:rPr sz="1100"/>
              <a:t> keeps a mid-pool hump; high </a:t>
            </a:r>
            <a:r>
              <a:rPr sz="1100" i="1">
                <a:latin typeface="Cambria Math"/>
              </a:rPr>
              <a:t>\theta</a:t>
            </a:r>
            <a:r>
              <a:rPr sz="1100"/>
              <a:t> top-saturates the curve.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\theta</a:t>
            </a:r>
            <a:r>
              <a:rPr sz="2000"/>
              <a:t> — panel with </a:t>
            </a:r>
            <a:r>
              <a:rPr sz="2000" i="1">
                <a:latin typeface="Cambria Math"/>
              </a:rPr>
              <a:t>K/N</a:t>
            </a:r>
            <a:r>
              <a:rPr sz="2000"/>
              <a:t> (selectivity)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\theta</a:t>
            </a:r>
            <a:r>
              <a:rPr sz="1100"/>
              <a:t> — one-at-a-time at 539 baseline (</a:t>
            </a:r>
            <a:r>
              <a:rPr sz="1100" i="1">
                <a:latin typeface="Cambria Math"/>
              </a:rPr>
              <a:t>K/N</a:t>
            </a:r>
            <a:r>
              <a:rPr sz="1100"/>
              <a:t> varies; assign + score rule fixed)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L</a:t>
            </a:r>
            <a:r>
              <a:rPr sz="900" i="1" baseline="-25000">
                <a:latin typeface="Cambria Math"/>
              </a:rPr>
              <a:t>C</a:t>
            </a:r>
            <a:r>
              <a:rPr sz="1100" i="1">
                <a:latin typeface="Cambria Math"/>
              </a:rPr>
              <a:t> = mean</a:t>
            </a:r>
            <a:r>
              <a:rPr sz="900" i="1" baseline="-25000">
                <a:latin typeface="Cambria Math"/>
              </a:rPr>
              <a:t>j \neq i</a:t>
            </a:r>
            <a:r>
              <a:rPr sz="1100" i="1">
                <a:latin typeface="Cambria Math"/>
              </a:rPr>
              <a:t>·σ\big(\gamma(A</a:t>
            </a:r>
            <a:r>
              <a:rPr sz="900" i="1" baseline="-25000">
                <a:latin typeface="Cambria Math"/>
              </a:rPr>
              <a:t>j</a:t>
            </a:r>
            <a:r>
              <a:rPr sz="1100" i="1">
                <a:latin typeface="Cambria Math"/>
              </a:rPr>
              <a:t> - \theta)\big)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ρ=8</a:t>
            </a:r>
            <a:r>
              <a:rPr sz="1000"/>
              <a:t>, </a:t>
            </a:r>
            <a:r>
              <a:rPr sz="1000" i="1">
                <a:latin typeface="Cambria Math"/>
              </a:rPr>
              <a:t>λ=0.55</a:t>
            </a:r>
            <a:r>
              <a:rPr sz="1000"/>
              <a:t>, </a:t>
            </a:r>
            <a:r>
              <a:rPr sz="1000" i="1">
                <a:latin typeface="Cambria Math"/>
              </a:rPr>
              <a:t>\gamma=10</a:t>
            </a:r>
            <a:r>
              <a:rPr sz="1000"/>
              <a:t> fixed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\theta ∈ {0.50, 0.72, 0.90}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K/N ∈ {1\%, 10\%, 40\%}</a:t>
            </a:r>
            <a:r>
              <a:rPr sz="1000"/>
              <a:t> — heatmap = peak pool-mean bin</a:t>
            </a:r>
          </a:p>
          <a:p>
            <a:pPr>
              <a:spcAft>
                <a:spcPts val="0"/>
              </a:spcAft>
            </a:pPr>
            <a:r>
              <a:rPr sz="1000"/>
              <a:t>Readout: where the inverted-</a:t>
            </a:r>
            <a:r>
              <a:rPr sz="1000" i="1">
                <a:latin typeface="Cambria Math"/>
              </a:rPr>
              <a:t>U</a:t>
            </a:r>
            <a:r>
              <a:rPr sz="1000"/>
              <a:t> peak sits vs selectivity</a:t>
            </a:r>
          </a:p>
        </p:txBody>
      </p:sp>
      <p:pic>
        <p:nvPicPr>
          <p:cNvPr id="4" name="Picture 3" descr="THETA_KN_sweep_peak_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268" y="768096"/>
            <a:ext cx="6882846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Grid: </a:t>
            </a:r>
            <a:r>
              <a:rPr sz="900" i="1">
                <a:latin typeface="Cambria Math"/>
              </a:rPr>
              <a:t>\theta ∈ {0.50, 0.72, 0.90}</a:t>
            </a:r>
            <a:r>
              <a:rPr sz="900"/>
              <a:t> </a:t>
            </a:r>
            <a:r>
              <a:rPr sz="900" i="1">
                <a:latin typeface="Cambria Math"/>
              </a:rPr>
              <a:t>\times</a:t>
            </a:r>
            <a:r>
              <a:rPr sz="900"/>
              <a:t> </a:t>
            </a:r>
            <a:r>
              <a:rPr sz="900" i="1">
                <a:latin typeface="Cambria Math"/>
              </a:rPr>
              <a:t>K/N ∈ {1\%, 10\%, 40\%}</a:t>
            </a:r>
            <a:r>
              <a:rPr sz="900"/>
              <a:t> on </a:t>
            </a:r>
            <a:r>
              <a:rPr sz="900" i="1">
                <a:latin typeface="Cambria Math"/>
              </a:rPr>
              <a:t>N=5600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At </a:t>
            </a:r>
            <a:r>
              <a:rPr sz="900" i="1">
                <a:latin typeface="Cambria Math"/>
              </a:rPr>
              <a:t>K/N=1\%</a:t>
            </a:r>
            <a:r>
              <a:rPr sz="900"/>
              <a:t>: peak bin rises </a:t>
            </a:r>
            <a:r>
              <a:rPr sz="900" i="1">
                <a:latin typeface="Cambria Math"/>
              </a:rPr>
              <a:t>6 \to 9 \to 12</a:t>
            </a:r>
            <a:r>
              <a:rPr sz="900"/>
              <a:t> as </a:t>
            </a:r>
            <a:r>
              <a:rPr sz="900" i="1">
                <a:latin typeface="Cambria Math"/>
              </a:rPr>
              <a:t>\theta</a:t>
            </a:r>
            <a:r>
              <a:rPr sz="900"/>
              <a:t> increases.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At </a:t>
            </a:r>
            <a:r>
              <a:rPr sz="900" i="1">
                <a:latin typeface="Cambria Math"/>
              </a:rPr>
              <a:t>K/N=10\%</a:t>
            </a:r>
            <a:r>
              <a:rPr sz="900"/>
              <a:t>: </a:t>
            </a:r>
            <a:r>
              <a:rPr sz="900" i="1">
                <a:latin typeface="Cambria Math"/>
              </a:rPr>
              <a:t>\theta=0.90</a:t>
            </a:r>
            <a:r>
              <a:rPr sz="900"/>
              <a:t> pushes peak to bin </a:t>
            </a:r>
            <a:r>
              <a:rPr sz="900" i="1">
                <a:latin typeface="Cambria Math"/>
              </a:rPr>
              <a:t>16</a:t>
            </a:r>
            <a:r>
              <a:rPr sz="900"/>
              <a:t> (top saturation).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At </a:t>
            </a:r>
            <a:r>
              <a:rPr sz="900" i="1">
                <a:latin typeface="Cambria Math"/>
              </a:rPr>
              <a:t>K/N=40\%</a:t>
            </a:r>
            <a:r>
              <a:rPr sz="900"/>
              <a:t>: all arms peak at bin </a:t>
            </a:r>
            <a:r>
              <a:rPr sz="900" i="1">
                <a:latin typeface="Cambria Math"/>
              </a:rPr>
              <a:t>16</a:t>
            </a:r>
            <a:r>
              <a:rPr sz="900"/>
              <a:t> — selectivity dominates </a:t>
            </a:r>
            <a:r>
              <a:rPr sz="900" i="1">
                <a:latin typeface="Cambria Math"/>
              </a:rPr>
              <a:t>\theta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Do not fix </a:t>
            </a:r>
            <a:r>
              <a:rPr sz="900" i="1">
                <a:latin typeface="Cambria Math"/>
              </a:rPr>
              <a:t>\theta = f(K/N)</a:t>
            </a:r>
            <a:r>
              <a:rPr sz="900"/>
              <a:t> without Alex — panel is descriptive.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</a:t>
            </a:r>
            <a:r>
              <a:rPr sz="1100" i="1">
                <a:latin typeface="Cambria Math"/>
              </a:rPr>
              <a:t>\theta</a:t>
            </a:r>
            <a:r>
              <a:rPr sz="1100"/>
              <a:t> and </a:t>
            </a:r>
            <a:r>
              <a:rPr sz="1100" i="1">
                <a:latin typeface="Cambria Math"/>
              </a:rPr>
              <a:t>K/N</a:t>
            </a:r>
            <a:r>
              <a:rPr sz="1100"/>
              <a:t> co-vary — at MBB-like selectivity (</a:t>
            </a:r>
            <a:r>
              <a:rPr sz="1100" i="1">
                <a:latin typeface="Cambria Math"/>
              </a:rPr>
              <a:t>1\%</a:t>
            </a:r>
            <a:r>
              <a:rPr sz="1100"/>
              <a:t>) raising </a:t>
            </a:r>
            <a:r>
              <a:rPr sz="1100" i="1">
                <a:latin typeface="Cambria Math"/>
              </a:rPr>
              <a:t>\theta</a:t>
            </a:r>
            <a:r>
              <a:rPr sz="1100"/>
              <a:t> shifts peak bin up the pool ladder; at </a:t>
            </a:r>
            <a:r>
              <a:rPr sz="1100" i="1">
                <a:latin typeface="Cambria Math"/>
              </a:rPr>
              <a:t>40\%</a:t>
            </a:r>
            <a:r>
              <a:rPr sz="1100"/>
              <a:t> selectivity curves are top-saturated regardless of </a:t>
            </a:r>
            <a:r>
              <a:rPr sz="1100" i="1">
                <a:latin typeface="Cambria Math"/>
              </a:rPr>
              <a:t>\theta</a:t>
            </a:r>
            <a:r>
              <a:rPr sz="110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