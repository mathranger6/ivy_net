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3" r:id="rId2"/>
    <p:sldId id="304" r:id="rId3"/>
    <p:sldId id="305" r:id="rId4"/>
    <p:sldId id="306" r:id="rId5"/>
    <p:sldId id="336" r:id="rId6"/>
    <p:sldId id="307" r:id="rId7"/>
    <p:sldId id="323" r:id="rId8"/>
    <p:sldId id="324" r:id="rId9"/>
    <p:sldId id="325" r:id="rId10"/>
    <p:sldId id="311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22" r:id="rId19"/>
    <p:sldId id="326" r:id="rId20"/>
    <p:sldId id="327" r:id="rId21"/>
    <p:sldId id="32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6"/>
    <p:restoredTop sz="94632"/>
  </p:normalViewPr>
  <p:slideViewPr>
    <p:cSldViewPr snapToGrid="0" snapToObjects="1">
      <p:cViewPr varScale="1">
        <p:scale>
          <a:sx n="197" d="100"/>
          <a:sy n="197" d="100"/>
        </p:scale>
        <p:origin x="208" y="19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E7DCF-1A3D-1CEE-5EBF-9B07041D6A72}"/>
              </a:ext>
            </a:extLst>
          </p:cNvPr>
          <p:cNvSpPr txBox="1"/>
          <p:nvPr/>
        </p:nvSpPr>
        <p:spPr>
          <a:xfrm>
            <a:off x="169762" y="2967335"/>
            <a:ext cx="11852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BASICS data plots HAND</a:t>
            </a:r>
          </a:p>
        </p:txBody>
      </p:sp>
    </p:spTree>
    <p:extLst>
      <p:ext uri="{BB962C8B-B14F-4D97-AF65-F5344CB8AC3E}">
        <p14:creationId xmlns:p14="http://schemas.microsoft.com/office/powerpoint/2010/main" val="300703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D71F2-FD7A-9990-7C81-D882FC1BD1DE}"/>
              </a:ext>
            </a:extLst>
          </p:cNvPr>
          <p:cNvSpPr txBox="1"/>
          <p:nvPr/>
        </p:nvSpPr>
        <p:spPr>
          <a:xfrm>
            <a:off x="4077371" y="132203"/>
            <a:ext cx="4037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Original HERO slide (R.I.P.)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ACA4C-1185-1968-6F02-B9FBC097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743224"/>
            <a:ext cx="76708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6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BEF7FB-78CB-9630-E8BA-38E2C1C39BA0}"/>
              </a:ext>
            </a:extLst>
          </p:cNvPr>
          <p:cNvSpPr txBox="1"/>
          <p:nvPr/>
        </p:nvSpPr>
        <p:spPr>
          <a:xfrm>
            <a:off x="635784" y="79140"/>
            <a:ext cx="11020062" cy="818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Futura-Book" panose="020B0500000000000000" pitchFamily="34" charset="0"/>
              </a:rPr>
              <a:t>Abbreviations Glossary</a:t>
            </a:r>
            <a:endParaRPr lang="en-US" sz="1600" b="1" dirty="0">
              <a:latin typeface="Futura-Book" panose="020B0500000000000000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BDP – Basic Data Plots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FP – full population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08_21 – include years 2008-2021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mg10 – (minimum games10) removing rows for teams that had &lt;= 10 games that team season. So 11+ games.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CPR – Cut Player Rows, specifically the rows cut by the mg10 filter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min20 – removing player rows for players with &lt; 20 total minutes for that team season.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QC – MINIMUM DATA SET - post Quality Control – for now this means after removing the “-” player rows with no name.  For right now assume ALL data is QC.  Note- it does not </a:t>
            </a:r>
            <a:r>
              <a:rPr lang="en-US" sz="1600" b="1" dirty="0">
                <a:latin typeface="Futura-Book" panose="020B0500000000000000" pitchFamily="34" charset="0"/>
              </a:rPr>
              <a:t>yet</a:t>
            </a:r>
            <a:r>
              <a:rPr lang="en-US" sz="1600" dirty="0">
                <a:latin typeface="Futura-Book" panose="020B0500000000000000" pitchFamily="34" charset="0"/>
              </a:rPr>
              <a:t> mean mg10 also.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DFT – Draft Only Teams – remove all teams that have Never had a player drafted any season in the data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Futura-Book" panose="020B0500000000000000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Futura-Book" panose="020B0500000000000000" pitchFamily="34" charset="0"/>
              </a:rPr>
              <a:t>Example Usage</a:t>
            </a:r>
          </a:p>
          <a:p>
            <a:pPr algn="ctr">
              <a:lnSpc>
                <a:spcPct val="150000"/>
              </a:lnSpc>
            </a:pPr>
            <a:endParaRPr lang="en-US" sz="1600" b="1" dirty="0">
              <a:latin typeface="Futura-Book" panose="020B0500000000000000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FP 11_21 – This means the full data population of players from 2011-2021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mg10 13_21 – This means start with FP, then remove mg10, for just years 2013-2021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Futura-Book" panose="020B0500000000000000" pitchFamily="34" charset="0"/>
              </a:rPr>
              <a:t>min5 mg10 11_21 – This means start FP, then remove players with less than 5 minutes for the season, then remove mg10 rows and for seasons 2011-2021.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Futura-Book" panose="020B0500000000000000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Futura-Book" panose="020B0500000000000000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Futura-Book" panose="020B0500000000000000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Futura-Book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23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6911-CDC1-BCEE-FC77-39E28EA6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45E41D-A22F-832C-5F93-3189D562F503}"/>
                  </a:ext>
                </a:extLst>
              </p:cNvPr>
              <p:cNvSpPr txBox="1"/>
              <p:nvPr/>
            </p:nvSpPr>
            <p:spPr>
              <a:xfrm>
                <a:off x="1724494" y="79140"/>
                <a:ext cx="8743013" cy="5576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 dirty="0">
                    <a:latin typeface="Futura-Book" panose="020B0500000000000000" pitchFamily="34" charset="0"/>
                  </a:rPr>
                  <a:t>Formulas and Symbols</a:t>
                </a:r>
              </a:p>
              <a:p>
                <a:pPr algn="ctr">
                  <a:lnSpc>
                    <a:spcPct val="150000"/>
                  </a:lnSpc>
                </a:pPr>
                <a:endParaRPr lang="en-US" sz="1600" b="1" dirty="0">
                  <a:latin typeface="Futura-Book" panose="020B0500000000000000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– empirical player performance metric for player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600" dirty="0">
                  <a:latin typeface="Futura-Book" panose="020B0500000000000000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– empirical team mean talent (not LOO) for team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1600" dirty="0">
                  <a:latin typeface="Futura-Book" panose="020B0500000000000000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– empirical computed assortativity for the league (full population)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- team congestion for team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.  Formerly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 We no longer use LOO congestion!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– number of selections that season (in MBB total players drafted that year)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– congestion weight – how heavily congestion effects your success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– homophily – how much in the model players seek like talent – used for ASSIGN only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600" dirty="0">
                    <a:latin typeface="Futura-Book" panose="020B0500000000000000" pitchFamily="34" charset="0"/>
                  </a:rPr>
                  <a:t> – sharpness– how black and white is whether your teammates are viable draftees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 dirty="0">
                  <a:latin typeface="Futura-Book" panose="020B0500000000000000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 dirty="0">
                  <a:latin typeface="Futura-Book" panose="020B0500000000000000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600" dirty="0">
                  <a:latin typeface="Futura-Book" panose="020B0500000000000000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600" dirty="0">
                  <a:latin typeface="Futura-Book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45E41D-A22F-832C-5F93-3189D562F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494" y="79140"/>
                <a:ext cx="8743013" cy="5576014"/>
              </a:xfrm>
              <a:prstGeom prst="rect">
                <a:avLst/>
              </a:prstGeom>
              <a:blipFill>
                <a:blip r:embed="rId2"/>
                <a:stretch>
                  <a:fillRect l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31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E80C5-5EF3-DB8F-2276-B96DB33B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BDAAE-0D68-33D3-16A5-265795D6DDD1}"/>
              </a:ext>
            </a:extLst>
          </p:cNvPr>
          <p:cNvSpPr txBox="1"/>
          <p:nvPr/>
        </p:nvSpPr>
        <p:spPr>
          <a:xfrm>
            <a:off x="739546" y="815913"/>
            <a:ext cx="10098157" cy="5226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400" b="1" dirty="0">
                <a:latin typeface="Futura-Book" panose="020B0500000000000000" pitchFamily="34" charset="0"/>
              </a:rPr>
              <a:t>4 BASE POPULATIONS FOR ANALYSIS – all 2012-2021</a:t>
            </a:r>
            <a:endParaRPr lang="en-US" sz="1600" b="1" dirty="0">
              <a:latin typeface="Futura-Book" panose="020B0500000000000000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600" dirty="0">
                <a:latin typeface="Futura-Book" panose="020B0500000000000000" pitchFamily="34" charset="0"/>
              </a:rPr>
              <a:t>FP 11_21 – The full league population  no minimum team games, no min playing minutes per season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600" dirty="0">
                <a:latin typeface="Futura-Book" panose="020B0500000000000000" pitchFamily="34" charset="0"/>
              </a:rPr>
              <a:t>mg10 min0 – Only teams with more than10 games per season, no playing time floor for players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600" dirty="0">
                <a:latin typeface="Futura-Book" panose="020B0500000000000000" pitchFamily="34" charset="0"/>
              </a:rPr>
              <a:t>mg10 min10 – Teams more than10 games, at least 10 minutes season playing time for players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600" dirty="0">
                <a:latin typeface="Futura-Book" panose="020B0500000000000000" pitchFamily="34" charset="0"/>
              </a:rPr>
              <a:t>mg10 min20 – Teams more than10 games, at least 20 minutes season playing time for players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Futura-Book" panose="020B0500000000000000" pitchFamily="34" charset="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Futura-Book" panose="020B0500000000000000" pitchFamily="34" charset="0"/>
            </a:endParaRPr>
          </a:p>
          <a:p>
            <a:pPr>
              <a:lnSpc>
                <a:spcPct val="250000"/>
              </a:lnSpc>
            </a:pPr>
            <a:endParaRPr lang="en-US" sz="1600" dirty="0">
              <a:latin typeface="Futura-Book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53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8DAB4B-74C1-94B1-34EC-33D1441C9F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05065" y="1261279"/>
            <a:ext cx="8981871" cy="55602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10479A-0BC3-9092-28F5-7A2313A6687F}"/>
                  </a:ext>
                </a:extLst>
              </p:cNvPr>
              <p:cNvSpPr txBox="1"/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PPM</a:t>
                </a:r>
                <a:r>
                  <a:rPr lang="en-US" sz="2000" dirty="0"/>
                  <a:t> – Points Per Minute as talent performance metric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10479A-0BC3-9092-28F5-7A2313A66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blipFill>
                <a:blip r:embed="rId3"/>
                <a:stretch>
                  <a:fillRect l="-1020" t="-4918" r="-102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03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20062-AE8C-8D8E-A32B-2811F11D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A1893-7448-FECB-1740-A97CBE61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05065" y="1261279"/>
            <a:ext cx="8981871" cy="55602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96A201-1474-58B4-9D90-3C4F00C833FD}"/>
                  </a:ext>
                </a:extLst>
              </p:cNvPr>
              <p:cNvSpPr txBox="1"/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PPM</a:t>
                </a:r>
                <a:r>
                  <a:rPr lang="en-US" sz="2000" dirty="0"/>
                  <a:t> – Points Per Minute as talent performance metric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96A201-1474-58B4-9D90-3C4F00C83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blipFill>
                <a:blip r:embed="rId3"/>
                <a:stretch>
                  <a:fillRect l="-1020" t="-4918" r="-102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87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D4AA-1B3F-4013-9F45-748EC86F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B44F76-ABFE-E71D-2CD8-339401F1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05066" y="1261279"/>
            <a:ext cx="8981869" cy="55602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68C3C8-F2A1-6487-9854-36055A580F1C}"/>
                  </a:ext>
                </a:extLst>
              </p:cNvPr>
              <p:cNvSpPr txBox="1"/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PPM</a:t>
                </a:r>
                <a:r>
                  <a:rPr lang="en-US" sz="2000" dirty="0"/>
                  <a:t> – Points Per Minute as talent performance metric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68C3C8-F2A1-6487-9854-36055A580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blipFill>
                <a:blip r:embed="rId3"/>
                <a:stretch>
                  <a:fillRect l="-1020" t="-4918" r="-102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42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35F7-76E7-A5E5-DCF5-A4A7615A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2BF516-7C2A-0CF4-46C7-374935FB2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05066" y="1261279"/>
            <a:ext cx="8981869" cy="55602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1005D9-9577-54D6-181C-E8194183CCDA}"/>
                  </a:ext>
                </a:extLst>
              </p:cNvPr>
              <p:cNvSpPr txBox="1"/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PPM</a:t>
                </a:r>
                <a:r>
                  <a:rPr lang="en-US" sz="2000" dirty="0"/>
                  <a:t> – Points Per Minute as talent performance metric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1005D9-9577-54D6-181C-E8194183C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81" y="225925"/>
                <a:ext cx="6216638" cy="755784"/>
              </a:xfrm>
              <a:prstGeom prst="rect">
                <a:avLst/>
              </a:prstGeom>
              <a:blipFill>
                <a:blip r:embed="rId3"/>
                <a:stretch>
                  <a:fillRect l="-1020" t="-4918" r="-102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458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2D93-C3F2-6DCB-EAF5-6654C60E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53DF92-CBAD-F1F0-A96F-72F3EE62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49788" y="1089499"/>
            <a:ext cx="9292425" cy="57524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D96AD9-4FF2-084D-A86D-AEC1D29679DD}"/>
                  </a:ext>
                </a:extLst>
              </p:cNvPr>
              <p:cNvSpPr txBox="1"/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BPM</a:t>
                </a:r>
                <a:r>
                  <a:rPr lang="en-US" sz="2000" dirty="0"/>
                  <a:t> – Box Plus Minus as talent performance metric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D96AD9-4FF2-084D-A86D-AEC1D2967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blipFill>
                <a:blip r:embed="rId3"/>
                <a:stretch>
                  <a:fillRect l="-403" t="-4918" r="-403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77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06B2-572C-06EB-476F-46F8C418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C1AE3-20EB-1240-D534-DDE315BF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49788" y="1089499"/>
            <a:ext cx="9292425" cy="57524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D9FFE9-30E9-3087-62CE-82C2B36ED831}"/>
                  </a:ext>
                </a:extLst>
              </p:cNvPr>
              <p:cNvSpPr txBox="1"/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BPM</a:t>
                </a:r>
                <a:r>
                  <a:rPr lang="en-US" sz="2000" dirty="0"/>
                  <a:t> – Box Plus Minus as talent performance metric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D9FFE9-30E9-3087-62CE-82C2B36ED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blipFill>
                <a:blip r:embed="rId3"/>
                <a:stretch>
                  <a:fillRect l="-403" t="-4918" r="-403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00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2EDC-D692-3CAF-DAA9-64340553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D97E71-202A-0922-1171-4AD175D5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49788" y="1089499"/>
            <a:ext cx="9292424" cy="57524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3366E-06DF-7C09-DA91-F2777B8A3D50}"/>
                  </a:ext>
                </a:extLst>
              </p:cNvPr>
              <p:cNvSpPr txBox="1"/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BPM</a:t>
                </a:r>
                <a:r>
                  <a:rPr lang="en-US" sz="2000" dirty="0"/>
                  <a:t> – Box Plus Minus as talent performance metric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A3366E-06DF-7C09-DA91-F2777B8A3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blipFill>
                <a:blip r:embed="rId3"/>
                <a:stretch>
                  <a:fillRect l="-403" t="-4918" r="-403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220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0FD76-BA7C-6DE2-7CC4-7B8F2CC8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4D0292-EF7F-90DF-BEF3-BD4842B15705}"/>
                  </a:ext>
                </a:extLst>
              </p:cNvPr>
              <p:cNvSpPr txBox="1"/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BPM</a:t>
                </a:r>
                <a:r>
                  <a:rPr lang="en-US" sz="2000" dirty="0"/>
                  <a:t> – Box Plus Minus as talent performance metric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4D0292-EF7F-90DF-BEF3-BD4842B15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955" y="225925"/>
                <a:ext cx="6274090" cy="760208"/>
              </a:xfrm>
              <a:prstGeom prst="rect">
                <a:avLst/>
              </a:prstGeom>
              <a:blipFill>
                <a:blip r:embed="rId2"/>
                <a:stretch>
                  <a:fillRect l="-403" t="-4918" r="-403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CF3F5E2-84EC-CC69-EF3A-B2BBD23A52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9788" y="1089499"/>
            <a:ext cx="9292424" cy="575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7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1545-A825-5225-05F4-AD397ADB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D3731C-9425-E4C9-3CA9-7188384DCFCF}"/>
                  </a:ext>
                </a:extLst>
              </p:cNvPr>
              <p:cNvSpPr txBox="1"/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OBPM</a:t>
                </a:r>
                <a:r>
                  <a:rPr lang="en-US" sz="2000" dirty="0"/>
                  <a:t> – Offensive Box Plus Minus as talent performance metric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D3731C-9425-E4C9-3CA9-7188384DC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blipFill>
                <a:blip r:embed="rId2"/>
                <a:stretch>
                  <a:fillRect l="-940" t="-4918" r="-94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000D8C0-2872-D555-5DEC-AADF4EEA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9788" y="1089499"/>
            <a:ext cx="9292424" cy="575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3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FD235-FD80-E4C0-A6BF-AE0CA60FF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FD9BFB-8069-731E-CA6F-AFF6D67D6465}"/>
                  </a:ext>
                </a:extLst>
              </p:cNvPr>
              <p:cNvSpPr txBox="1"/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OBPM</a:t>
                </a:r>
                <a:r>
                  <a:rPr lang="en-US" sz="2000" dirty="0"/>
                  <a:t> – Offensive Box Plus Minus as talent performance metric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FD9BFB-8069-731E-CA6F-AFF6D67D6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blipFill>
                <a:blip r:embed="rId2"/>
                <a:stretch>
                  <a:fillRect l="-940" t="-4918" r="-94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1865226-26CA-FCB2-BFCA-566D33EC8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9789" y="1089499"/>
            <a:ext cx="9292422" cy="575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90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A78C7-B987-E10B-4E63-BC774271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DB3913-2E8F-AC38-5A8F-6552BC791647}"/>
                  </a:ext>
                </a:extLst>
              </p:cNvPr>
              <p:cNvSpPr txBox="1"/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OBPM</a:t>
                </a:r>
                <a:r>
                  <a:rPr lang="en-US" sz="2000" dirty="0"/>
                  <a:t> – Offensive Box Plus Minus as talent performance metric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DB3913-2E8F-AC38-5A8F-6552BC79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blipFill>
                <a:blip r:embed="rId2"/>
                <a:stretch>
                  <a:fillRect l="-940" t="-4918" r="-94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7FC4F0C-1E55-4DC8-39F2-730BAA55E8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9789" y="1089499"/>
            <a:ext cx="9292422" cy="575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5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B6154-6336-D783-72C7-257876CA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17B5F0-55D5-F800-8C09-330EA01BF679}"/>
                  </a:ext>
                </a:extLst>
              </p:cNvPr>
              <p:cNvSpPr txBox="1"/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Player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) and Team Mean Talent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acc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) Distributions</a:t>
                </a:r>
              </a:p>
              <a:p>
                <a:pPr algn="ctr"/>
                <a:r>
                  <a:rPr lang="en-US" sz="2000" b="1" dirty="0"/>
                  <a:t>OBPM</a:t>
                </a:r>
                <a:r>
                  <a:rPr lang="en-US" sz="2000" dirty="0"/>
                  <a:t> – Offensive Box Plus Minus as talent performance metric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17B5F0-55D5-F800-8C09-330EA01BF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415" y="225925"/>
                <a:ext cx="6757171" cy="760208"/>
              </a:xfrm>
              <a:prstGeom prst="rect">
                <a:avLst/>
              </a:prstGeom>
              <a:blipFill>
                <a:blip r:embed="rId2"/>
                <a:stretch>
                  <a:fillRect l="-940" t="-4918" r="-94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DB454A2-701F-EB8A-B6E8-59BA2185B3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9790" y="1089499"/>
            <a:ext cx="9292420" cy="575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91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99E61-9FD0-B67E-85F9-393A5E35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CE988F-9DC8-19E8-7F4B-7D5597270547}"/>
                  </a:ext>
                </a:extLst>
              </p:cNvPr>
              <p:cNvSpPr txBox="1"/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Team Roster Size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) Distributions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CE988F-9DC8-19E8-7F4B-7D5597270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blipFill>
                <a:blip r:embed="rId2"/>
                <a:stretch>
                  <a:fillRect l="-1639" t="-7143" r="-1639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FB442C5-A346-FF87-EA8A-17954EED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90850" y="914400"/>
            <a:ext cx="62103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70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FB36-4082-DD93-E707-F3CE1ADDF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F5C53C-8E2B-5861-EDF6-BDF74C86519F}"/>
                  </a:ext>
                </a:extLst>
              </p:cNvPr>
              <p:cNvSpPr txBox="1"/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Team Roster Size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) Distributions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F5C53C-8E2B-5861-EDF6-BDF74C865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blipFill>
                <a:blip r:embed="rId2"/>
                <a:stretch>
                  <a:fillRect l="-1639" t="-7143" r="-1639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D426C93-4519-814E-1874-9FCD54F51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90850" y="914400"/>
            <a:ext cx="62103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94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1BF7-4A04-AE34-D0F7-83F15295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7E46C5-426C-CBC5-73A0-DB949E2F3385}"/>
                  </a:ext>
                </a:extLst>
              </p:cNvPr>
              <p:cNvSpPr txBox="1"/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Team Roster Size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) Distributions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7E46C5-426C-CBC5-73A0-DB949E2F3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blipFill>
                <a:blip r:embed="rId2"/>
                <a:stretch>
                  <a:fillRect l="-1639" t="-7143" r="-1639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5A94566-EA3B-1119-1363-5698B7FF5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90850" y="914400"/>
            <a:ext cx="62103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729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66179-8B86-A742-770B-73A16A97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25E6D6-2FB3-73E6-BABC-17E605DCE14A}"/>
                  </a:ext>
                </a:extLst>
              </p:cNvPr>
              <p:cNvSpPr txBox="1"/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Team Roster Size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) Distributions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25E6D6-2FB3-73E6-BABC-17E605DCE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224" y="225925"/>
                <a:ext cx="4637553" cy="519181"/>
              </a:xfrm>
              <a:prstGeom prst="rect">
                <a:avLst/>
              </a:prstGeom>
              <a:blipFill>
                <a:blip r:embed="rId2"/>
                <a:stretch>
                  <a:fillRect l="-1639" t="-7143" r="-1639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6991FF2-4299-7E01-8660-90E3D61CB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90850" y="914400"/>
            <a:ext cx="62103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4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5128</TotalTime>
  <Words>699</Words>
  <Application>Microsoft Macintosh PowerPoint</Application>
  <PresentationFormat>Widescreen</PresentationFormat>
  <Paragraphs>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Futura Medium</vt:lpstr>
      <vt:lpstr>Futura-Book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61</cp:revision>
  <cp:lastPrinted>2026-08-20T19:21:21Z</cp:lastPrinted>
  <dcterms:created xsi:type="dcterms:W3CDTF">2013-01-27T09:14:16Z</dcterms:created>
  <dcterms:modified xsi:type="dcterms:W3CDTF">2026-08-20T21:01:55Z</dcterms:modified>
  <cp:category/>
</cp:coreProperties>
</file>