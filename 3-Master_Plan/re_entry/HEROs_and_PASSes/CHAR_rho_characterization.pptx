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200" i="1">
                <a:latin typeface="Cambria Math"/>
              </a:rPr>
              <a:t>π</a:t>
            </a:r>
            <a:r>
              <a:rPr sz="1200" i="1">
                <a:latin typeface="Cambria Math"/>
              </a:rPr>
              <a:t>ij</a:t>
            </a:r>
            <a:r>
              <a:rPr sz="1200" i="1">
                <a:latin typeface="Cambria Math"/>
              </a:rPr>
              <a:t> ∝ exp\left(-ρ\,\frac{(A</a:t>
            </a:r>
            <a:r>
              <a:rPr sz="1200" i="1">
                <a:latin typeface="Cambria Math"/>
              </a:rPr>
              <a:t>i</a:t>
            </a:r>
            <a:r>
              <a:rPr sz="1200" i="1">
                <a:latin typeface="Cambria Math"/>
              </a:rPr>
              <a:t>-T</a:t>
            </a:r>
            <a:r>
              <a:rPr sz="1200" i="1">
                <a:latin typeface="Cambria Math"/>
              </a:rPr>
              <a:t>j</a:t>
            </a:r>
            <a:r>
              <a:rPr sz="1200" i="1">
                <a:latin typeface="Cambria Math"/>
              </a:rPr>
              <a:t>)</a:t>
            </a:r>
            <a:r>
              <a:rPr sz="1000">
                <a:latin typeface="Cambria Math"/>
              </a:rPr>
              <a:t>2</a:t>
            </a:r>
            <a:r>
              <a:rPr sz="1200" i="1">
                <a:latin typeface="Cambria Math"/>
              </a:rPr>
              <a:t>}{2σ</a:t>
            </a:r>
            <a:r>
              <a:rPr sz="1000">
                <a:latin typeface="Cambria Math"/>
              </a:rPr>
              <a:t>2</a:t>
            </a:r>
            <a:r>
              <a:rPr sz="1200" i="1">
                <a:latin typeface="Cambria Math"/>
              </a:rPr>
              <a:t>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
arms: </a:t>
            </a:r>
            <a:r>
              <a:rPr sz="1000" i="1">
                <a:latin typeface="Cambria Math"/>
              </a:rPr>
              <a:t>ρ \in {0.1, 1, 8, 32}</a:t>
            </a:r>
            <a:r>
              <a:rPr sz="1000"/>
              <a:t> + sort-and-chop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1000" i="1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1000" i="1">
                <a:latin typeface="Cambria Math"/>
              </a:rPr>
              <a:t>i</a:t>
            </a:r>
            <a:r>
              <a:rPr sz="1000" i="1">
                <a:latin typeface="Cambria Math"/>
              </a:rPr>
              <a:t> - 0.55\,L</a:t>
            </a:r>
            <a:r>
              <a:rPr sz="1000" i="1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1000" i="1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1000" i="1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C_rho_ablation_selection_by_pool_mean_with_sortc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56" y="768096"/>
            <a:ext cx="6257471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900" i="1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900" i="1">
                <a:latin typeface="Cambria Math"/>
              </a:rPr>
              <a:t>j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players mix across teams — selection vs pool mean stays nearly flat.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peer environments concentrate;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hard rank match (same score rule as soft arms).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nearly flat curve;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suppressed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200" i="1">
                <a:latin typeface="Cambria Math"/>
              </a:rPr>
              <a:t>π</a:t>
            </a:r>
            <a:r>
              <a:rPr sz="1200" i="1">
                <a:latin typeface="Cambria Math"/>
              </a:rPr>
              <a:t>ij</a:t>
            </a:r>
            <a:r>
              <a:rPr sz="1200" i="1">
                <a:latin typeface="Cambria Math"/>
              </a:rPr>
              <a:t> ∝ exp\left(-ρ\,\frac{(A</a:t>
            </a:r>
            <a:r>
              <a:rPr sz="1200" i="1">
                <a:latin typeface="Cambria Math"/>
              </a:rPr>
              <a:t>i</a:t>
            </a:r>
            <a:r>
              <a:rPr sz="1200" i="1">
                <a:latin typeface="Cambria Math"/>
              </a:rPr>
              <a:t>-T</a:t>
            </a:r>
            <a:r>
              <a:rPr sz="1200" i="1">
                <a:latin typeface="Cambria Math"/>
              </a:rPr>
              <a:t>j</a:t>
            </a:r>
            <a:r>
              <a:rPr sz="1200" i="1">
                <a:latin typeface="Cambria Math"/>
              </a:rPr>
              <a:t>)</a:t>
            </a:r>
            <a:r>
              <a:rPr sz="1000">
                <a:latin typeface="Cambria Math"/>
              </a:rPr>
              <a:t>2</a:t>
            </a:r>
            <a:r>
              <a:rPr sz="1200" i="1">
                <a:latin typeface="Cambria Math"/>
              </a:rPr>
              <a:t>}{2σ</a:t>
            </a:r>
            <a:r>
              <a:rPr sz="1000">
                <a:latin typeface="Cambria Math"/>
              </a:rPr>
              <a:t>2</a:t>
            </a:r>
            <a:r>
              <a:rPr sz="1200" i="1">
                <a:latin typeface="Cambria Math"/>
              </a:rPr>
              <a:t>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
arms: </a:t>
            </a:r>
            <a:r>
              <a:rPr sz="1000" i="1">
                <a:latin typeface="Cambria Math"/>
              </a:rPr>
              <a:t>ρ \in {0.1, 1, 8, 32}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1000" i="1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1000" i="1">
                <a:latin typeface="Cambria Math"/>
              </a:rPr>
              <a:t>i</a:t>
            </a:r>
            <a:r>
              <a:rPr sz="1000" i="1">
                <a:latin typeface="Cambria Math"/>
              </a:rPr>
              <a:t> - 0.55\,L</a:t>
            </a:r>
            <a:r>
              <a:rPr sz="1000" i="1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1000" i="1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1000" i="1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C_rho_ablation_selection_by_pool_mean_no_sortc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161" y="768096"/>
            <a:ext cx="6139061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900" i="1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900" i="1">
                <a:latin typeface="Cambria Math"/>
              </a:rPr>
              <a:t>j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players mix across teams — selection vs pool mean stays nearly flat.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peer environments concentrate;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arm omitted from plot (still in CSV bundle; toggle restores 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nearly flat curve;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