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17"/>
    <p:restoredTop sz="94679"/>
  </p:normalViewPr>
  <p:slideViewPr>
    <p:cSldViewPr snapToGrid="0">
      <p:cViewPr varScale="1">
        <p:scale>
          <a:sx n="179" d="100"/>
          <a:sy n="179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855B-F196-1C70-E311-23EF9DBB8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6DC83-6AFD-CB17-EE2F-F59DE513F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99F4-4603-9E69-61C1-BB6ED929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D8137-2249-4990-1BE5-ADD77F60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BD23-7EA9-5138-A862-71328DBE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5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0637-F9FE-4E23-A28E-D6759697C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109D-AEB6-9603-E9A4-E3C64196C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622F1-D9EC-9FC4-3020-7C4D0F35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42C5C-706A-E59F-DFB6-335DCA32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D3A9-3E56-2539-2B54-EAE0F9A2C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9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A49F-BF1E-84CE-7A41-C873582C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FEB07-ED32-5CC2-AD57-C3F58E21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9C087-6BDD-D435-CA85-42A3E700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6E844-10DD-21F3-0251-216D34CA9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879D6-198F-7FDC-351E-9F8F83F6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0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58CD-4C63-1D61-4BC7-D38411CC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951FA-BCB6-0156-98D4-D6A4923F3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C5FEB-F3C2-A35A-DA9E-0B954F5E2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82F4E-D916-5F43-CFB0-75CD7003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9060D-7E7A-326C-98E1-49907F07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D9E79-8807-CD28-503A-8A17949C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8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5023-16B8-CE6A-FD5E-7B9016E4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32F8C-9AF2-E0CC-7A24-1714F8DA1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7798F-AE0C-A59A-5B4E-CC1C21CA5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D12F3-2A44-A1D9-F9D8-01789F4E5D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3F886-D0EF-042A-D045-0EC93B480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563D90-F5F0-1BFC-C29B-D4050CC5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A22432-D2B1-7199-7BEF-BD84F94F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D9ADD-20F4-D792-8DFB-9137EC05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885D-D566-545A-0F49-1C8D5823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D9CEF-A716-E2C0-782A-A5EBC843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0901E-D76B-B0A9-EC91-3E76DFD0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CCAD6-5A8F-C9CC-E7C5-A861DA74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2C585-4659-FA07-638C-A5E53006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C55B4-D41D-07B7-81B1-B6F6C26B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88CE4-0E65-316A-345F-836CCF2F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2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9D30-EDF6-1D66-98F2-C1352D3D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FE2C6-5E56-5D0C-9491-1C0D29AD3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7E283-CA38-9FCA-C9ED-B6ACEF667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44041-5E48-8B94-B77C-B62A5F59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2DA47-6044-7C32-5551-158E6F82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8A2F5-4B01-4359-9A89-98852CC01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2992-06C9-99B4-FB20-F038EF90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1865F-91B2-E943-27F0-BBDED510D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80C91-FEF0-D9EB-F99C-090C5EAD6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82124-BD9F-39EC-64DE-DEB981C8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6BE8C-270C-3877-4431-9A061285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3E695-AD68-0ACB-2FA1-699330FA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B00F-35D0-E229-8EBD-D35FEFC7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B4D99-7167-63F0-E515-449D01805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BD3B9-1F22-FBE5-A77B-84C60CEF9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95614-AD53-96F1-585E-F9189AAF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4053-A6E8-51BB-80DF-EC6B52D0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50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6BBDB-C722-747C-510F-268C4EF68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B6CE-A981-5CDF-5FFD-A4CAC18F4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92E5D-CBA9-0D52-AE37-468CDA6C2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83248-F7DB-7FD2-B294-602A983A6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F4669-719F-AB2E-EE2B-B98C1B3B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2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3C853-D14E-4678-C2FC-B46AB9A5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63CD2-D0EB-14B7-EA0A-EE66831CF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5FAD-1AFB-794E-D9E9-3F844EBB6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7A141-5066-284B-8859-8D81B7CAB7AE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1B95E-D9FB-893E-C58F-95F39ABD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ED839-5A38-29FF-3315-16E15973F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1DBAE1-3073-6343-87A1-123A9B923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6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/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noFill/>
            </p:spPr>
            <p:txBody>
              <a:bodyPr wrap="square" numCol="2" rtlCol="0">
                <a:noAutofit/>
              </a:bodyPr>
              <a:lstStyle/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Assignment to pools 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 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Scoring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sz="1400" b="0" dirty="0">
                  <a:latin typeface="Futura Medium" panose="020B0602020204020303" pitchFamily="34" charset="-79"/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Selection - select top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.</a:t>
                </a: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US" sz="1400" dirty="0"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Visualize – bin and plot.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48F736-A396-43B9-B51B-15DA9BA1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" y="828420"/>
                <a:ext cx="5644309" cy="1062211"/>
              </a:xfrm>
              <a:prstGeom prst="rect">
                <a:avLst/>
              </a:prstGeom>
              <a:blipFill>
                <a:blip r:embed="rId2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7749C4F-EE9C-B1EA-1134-44EC02293BA7}"/>
              </a:ext>
            </a:extLst>
          </p:cNvPr>
          <p:cNvGrpSpPr/>
          <p:nvPr/>
        </p:nvGrpSpPr>
        <p:grpSpPr>
          <a:xfrm>
            <a:off x="327226" y="5113691"/>
            <a:ext cx="4516916" cy="1651969"/>
            <a:chOff x="6222694" y="1896492"/>
            <a:chExt cx="3261913" cy="15739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736192-DD40-FDF1-097C-DDB6E6B0FEC8}"/>
                </a:ext>
              </a:extLst>
            </p:cNvPr>
            <p:cNvSpPr txBox="1"/>
            <p:nvPr/>
          </p:nvSpPr>
          <p:spPr>
            <a:xfrm>
              <a:off x="6222694" y="1896492"/>
              <a:ext cx="3261912" cy="263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Congestion Equation v1</a:t>
              </a:r>
              <a:endParaRPr lang="en-US" sz="12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/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b="0" dirty="0"/>
                    <a:t>  (congestion)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b="0" i="1" smtClean="0">
                            <a:solidFill>
                              <a:srgbClr val="9437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9437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  <a:p>
                  <a:r>
                    <a:rPr lang="en-US" sz="1200" dirty="0"/>
                    <a:t>Knockout (sim): </a:t>
                  </a:r>
                  <a14:m>
                    <m:oMath xmlns:m="http://schemas.openxmlformats.org/officeDocument/2006/math"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 = 0 ⇒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200" dirty="0"/>
                    <a:t> (congestion out of selection)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(hard)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count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med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0" i="0" dirty="0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12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a14:m>
                  <a:endParaRPr lang="en-US" sz="1200" dirty="0"/>
                </a:p>
                <a:p>
                  <a:r>
                    <a:rPr lang="en-US" sz="12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a14:m>
                  <a:r>
                    <a:rPr lang="en-US" sz="1200" dirty="0"/>
                    <a:t> (smooth, sim default)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200" dirty="0"/>
                    <a:t>  LOO mean of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</m:oMath>
                  </a14:m>
                  <a:r>
                    <a:rPr lang="en-US" sz="1200" dirty="0"/>
                    <a:t>  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A98D608-4F63-807E-D1C7-797CA0D726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695" y="2107914"/>
                  <a:ext cx="3261912" cy="136254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C208B5-EB39-7B80-C198-C8E98A540F97}"/>
              </a:ext>
            </a:extLst>
          </p:cNvPr>
          <p:cNvSpPr txBox="1"/>
          <p:nvPr/>
        </p:nvSpPr>
        <p:spPr>
          <a:xfrm>
            <a:off x="308113" y="2001582"/>
            <a:ext cx="3865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1. Soft Assignment</a:t>
            </a:r>
            <a:endParaRPr lang="en-US" sz="1400" dirty="0">
              <a:solidFill>
                <a:srgbClr val="0432FF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69F68-CAA9-E49D-F6C1-5CFDC19B2386}"/>
              </a:ext>
            </a:extLst>
          </p:cNvPr>
          <p:cNvSpPr txBox="1"/>
          <p:nvPr/>
        </p:nvSpPr>
        <p:spPr>
          <a:xfrm>
            <a:off x="1498888" y="307119"/>
            <a:ext cx="3473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MODEL FOUR STEP PROCESS:</a:t>
            </a:r>
          </a:p>
          <a:p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2C98397-F41D-C757-7DD0-297ADAF9D84A}"/>
              </a:ext>
            </a:extLst>
          </p:cNvPr>
          <p:cNvGrpSpPr/>
          <p:nvPr/>
        </p:nvGrpSpPr>
        <p:grpSpPr>
          <a:xfrm>
            <a:off x="5739323" y="3112649"/>
            <a:ext cx="5821260" cy="2762104"/>
            <a:chOff x="5896486" y="1893636"/>
            <a:chExt cx="5821260" cy="276210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1A9E92-5C9D-BCD7-C6C5-E0DA529B171F}"/>
                </a:ext>
              </a:extLst>
            </p:cNvPr>
            <p:cNvSpPr txBox="1"/>
            <p:nvPr/>
          </p:nvSpPr>
          <p:spPr>
            <a:xfrm>
              <a:off x="5896486" y="1893636"/>
              <a:ext cx="4536028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4. Visualize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A24237-A28E-D2A3-9F28-712E70DD479A}"/>
                </a:ext>
              </a:extLst>
            </p:cNvPr>
            <p:cNvGrpSpPr/>
            <p:nvPr/>
          </p:nvGrpSpPr>
          <p:grpSpPr>
            <a:xfrm>
              <a:off x="6012815" y="2135929"/>
              <a:ext cx="5704931" cy="2519811"/>
              <a:chOff x="6012815" y="2135929"/>
              <a:chExt cx="5704931" cy="251981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2F7F6AD-3FF6-6C6F-0329-C3D9E58FA597}"/>
                  </a:ext>
                </a:extLst>
              </p:cNvPr>
              <p:cNvSpPr txBox="1"/>
              <p:nvPr/>
            </p:nvSpPr>
            <p:spPr>
              <a:xfrm>
                <a:off x="7838076" y="2135929"/>
                <a:ext cx="1921873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300" dirty="0">
                    <a:solidFill>
                      <a:srgbClr val="0432FF"/>
                    </a:solidFill>
                    <a:latin typeface="Futura Medium" panose="020B0602020204020303" pitchFamily="34" charset="-79"/>
                    <a:cs typeface="Futura Medium" panose="020B0602020204020303" pitchFamily="34" charset="-79"/>
                  </a:rPr>
                  <a:t>TALENT vs SELECTION</a:t>
                </a: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535A64FD-CCE0-2EBD-8861-BAE439E7A4CA}"/>
                  </a:ext>
                </a:extLst>
              </p:cNvPr>
              <p:cNvGrpSpPr/>
              <p:nvPr/>
            </p:nvGrpSpPr>
            <p:grpSpPr>
              <a:xfrm>
                <a:off x="6012815" y="4103742"/>
                <a:ext cx="5704931" cy="551998"/>
                <a:chOff x="6096000" y="2274932"/>
                <a:chExt cx="5704931" cy="551998"/>
              </a:xfrm>
            </p:grpSpPr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80F20F0-942E-865E-0CF4-8CDD18DA42FD}"/>
                    </a:ext>
                  </a:extLst>
                </p:cNvPr>
                <p:cNvSpPr txBox="1"/>
                <p:nvPr/>
              </p:nvSpPr>
              <p:spPr>
                <a:xfrm>
                  <a:off x="6096000" y="2274932"/>
                  <a:ext cx="570493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300" dirty="0">
                      <a:solidFill>
                        <a:srgbClr val="0432FF"/>
                      </a:solidFill>
                      <a:latin typeface="Futura Medium" panose="020B0602020204020303" pitchFamily="34" charset="-79"/>
                      <a:cs typeface="Futura Medium" panose="020B0602020204020303" pitchFamily="34" charset="-79"/>
                    </a:rPr>
                    <a:t>Empirical (real panel)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b="0" dirty="0"/>
                        <a:t>Naïve: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 </a:t>
                      </a:r>
                      <a14:m>
                        <m:oMath xmlns:m="http://schemas.openxmlformats.org/officeDocument/2006/math">
                          <m:r>
                            <a:rPr lang="en-US" sz="1200" b="0" dirty="0" smtClean="0">
                              <a:latin typeface="Cambria Math" panose="02040503050406030204" pitchFamily="18" charset="0"/>
                            </a:rPr>
                            <m:t>≈</m:t>
                          </m:r>
                        </m:oMath>
                      </a14:m>
                      <a:r>
                        <a:rPr lang="en-US" sz="1200" b="0" dirty="0"/>
                        <a:t>  monotone              Hero:  </a:t>
                      </a:r>
                      <a14:m>
                        <m:oMath xmlns:m="http://schemas.openxmlformats.org/officeDocument/2006/math"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𝑃𝑜𝑜𝑙𝑄</m:t>
                              </m:r>
                              <m:r>
                                <a:rPr lang="en-US" sz="1200" b="0" i="0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𝐿𝑂𝑂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→ </m:t>
                          </m:r>
                        </m:oMath>
                      </a14:m>
                      <a:r>
                        <a:rPr lang="en-US" sz="1200" b="0" dirty="0"/>
                        <a:t>  tail dip</a:t>
                      </a:r>
                    </a:p>
                  </p:txBody>
                </p:sp>
              </mc:Choice>
              <mc:Fallback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0B77B650-C396-DEF6-5A33-8DB93D5652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000" y="2485170"/>
                      <a:ext cx="5704931" cy="34176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222" b="-1071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87A4389-5EED-3727-88B2-2098D31DAA44}"/>
                  </a:ext>
                </a:extLst>
              </p:cNvPr>
              <p:cNvGrpSpPr/>
              <p:nvPr/>
            </p:nvGrpSpPr>
            <p:grpSpPr>
              <a:xfrm>
                <a:off x="6379001" y="2593972"/>
                <a:ext cx="4972558" cy="1262789"/>
                <a:chOff x="5929630" y="765162"/>
                <a:chExt cx="4972558" cy="1262789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70FB135-E9EC-6756-E718-9EA297D4BB65}"/>
                    </a:ext>
                  </a:extLst>
                </p:cNvPr>
                <p:cNvGrpSpPr/>
                <p:nvPr/>
              </p:nvGrpSpPr>
              <p:grpSpPr>
                <a:xfrm>
                  <a:off x="8563807" y="765162"/>
                  <a:ext cx="2338381" cy="1262789"/>
                  <a:chOff x="9163891" y="765162"/>
                  <a:chExt cx="2338381" cy="1262789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2BD0EC91-815F-C3E5-4E8F-7E226E707EEB}"/>
                      </a:ext>
                    </a:extLst>
                  </p:cNvPr>
                  <p:cNvGrpSpPr/>
                  <p:nvPr/>
                </p:nvGrpSpPr>
                <p:grpSpPr>
                  <a:xfrm>
                    <a:off x="9248166" y="1052739"/>
                    <a:ext cx="2169831" cy="975212"/>
                    <a:chOff x="9238479" y="1052739"/>
                    <a:chExt cx="2169831" cy="975212"/>
                  </a:xfrm>
                </p:grpSpPr>
                <p:cxnSp>
                  <p:nvCxnSpPr>
                    <p:cNvPr id="13" name="Straight Arrow Connector 12">
                      <a:extLst>
                        <a:ext uri="{FF2B5EF4-FFF2-40B4-BE49-F238E27FC236}">
                          <a16:creationId xmlns:a16="http://schemas.microsoft.com/office/drawing/2014/main" id="{234D3C5B-0386-6577-8F3A-3B32318FCE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021826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Straight Arrow Connector 14">
                      <a:extLst>
                        <a:ext uri="{FF2B5EF4-FFF2-40B4-BE49-F238E27FC236}">
                          <a16:creationId xmlns:a16="http://schemas.microsoft.com/office/drawing/2014/main" id="{5CD78934-FF51-6805-CC54-572EE0E2BE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853830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1" name="Freeform 20">
                      <a:extLst>
                        <a:ext uri="{FF2B5EF4-FFF2-40B4-BE49-F238E27FC236}">
                          <a16:creationId xmlns:a16="http://schemas.microsoft.com/office/drawing/2014/main" id="{EF02243E-BE04-CFA6-42FF-2D21A22E0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0567" y="1156263"/>
                      <a:ext cx="1093689" cy="593999"/>
                    </a:xfrm>
                    <a:custGeom>
                      <a:avLst/>
                      <a:gdLst>
                        <a:gd name="csX0" fmla="*/ 0 w 1593560"/>
                        <a:gd name="csY0" fmla="*/ 588775 h 593999"/>
                        <a:gd name="csX1" fmla="*/ 265593 w 1593560"/>
                        <a:gd name="csY1" fmla="*/ 584981 h 593999"/>
                        <a:gd name="csX2" fmla="*/ 538775 w 1593560"/>
                        <a:gd name="csY2" fmla="*/ 505303 h 593999"/>
                        <a:gd name="csX3" fmla="*/ 770221 w 1593560"/>
                        <a:gd name="csY3" fmla="*/ 395272 h 593999"/>
                        <a:gd name="csX4" fmla="*/ 982695 w 1593560"/>
                        <a:gd name="csY4" fmla="*/ 239710 h 593999"/>
                        <a:gd name="csX5" fmla="*/ 1130669 w 1593560"/>
                        <a:gd name="csY5" fmla="*/ 122090 h 593999"/>
                        <a:gd name="csX6" fmla="*/ 1305201 w 1593560"/>
                        <a:gd name="csY6" fmla="*/ 676 h 593999"/>
                        <a:gd name="csX7" fmla="*/ 1506294 w 1593560"/>
                        <a:gd name="csY7" fmla="*/ 80354 h 593999"/>
                        <a:gd name="csX8" fmla="*/ 1593560 w 1593560"/>
                        <a:gd name="csY8" fmla="*/ 232121 h 593999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</a:cxnLst>
                      <a:rect l="l" t="t" r="r" b="b"/>
                      <a:pathLst>
                        <a:path w="1593560" h="593999">
                          <a:moveTo>
                            <a:pt x="0" y="588775"/>
                          </a:moveTo>
                          <a:cubicBezTo>
                            <a:pt x="87898" y="593834"/>
                            <a:pt x="175797" y="598893"/>
                            <a:pt x="265593" y="584981"/>
                          </a:cubicBezTo>
                          <a:cubicBezTo>
                            <a:pt x="355389" y="571069"/>
                            <a:pt x="454670" y="536921"/>
                            <a:pt x="538775" y="505303"/>
                          </a:cubicBezTo>
                          <a:cubicBezTo>
                            <a:pt x="622880" y="473685"/>
                            <a:pt x="696234" y="439537"/>
                            <a:pt x="770221" y="395272"/>
                          </a:cubicBezTo>
                          <a:cubicBezTo>
                            <a:pt x="844208" y="351007"/>
                            <a:pt x="922620" y="285240"/>
                            <a:pt x="982695" y="239710"/>
                          </a:cubicBezTo>
                          <a:cubicBezTo>
                            <a:pt x="1042770" y="194180"/>
                            <a:pt x="1076918" y="161929"/>
                            <a:pt x="1130669" y="122090"/>
                          </a:cubicBezTo>
                          <a:cubicBezTo>
                            <a:pt x="1184420" y="82251"/>
                            <a:pt x="1242597" y="7632"/>
                            <a:pt x="1305201" y="676"/>
                          </a:cubicBezTo>
                          <a:cubicBezTo>
                            <a:pt x="1367805" y="-6280"/>
                            <a:pt x="1458234" y="41780"/>
                            <a:pt x="1506294" y="80354"/>
                          </a:cubicBezTo>
                          <a:cubicBezTo>
                            <a:pt x="1554354" y="118928"/>
                            <a:pt x="1573957" y="175524"/>
                            <a:pt x="1593560" y="232121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/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>
                    <p:sp>
                      <p:nvSpPr>
                        <p:cNvPr id="22" name="TextBox 21">
                          <a:extLst>
                            <a:ext uri="{FF2B5EF4-FFF2-40B4-BE49-F238E27FC236}">
                              <a16:creationId xmlns:a16="http://schemas.microsoft.com/office/drawing/2014/main" id="{E3E0712F-1D01-EB8E-7547-12BDDB329C60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238479" y="1299374"/>
                          <a:ext cx="615351" cy="153888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l="-8163" t="-7692" r="-20408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𝑃𝑜𝑜𝑙𝑄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𝐿𝑂𝑂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>
                    <p:sp>
                      <p:nvSpPr>
                        <p:cNvPr id="23" name="TextBox 22">
                          <a:extLst>
                            <a:ext uri="{FF2B5EF4-FFF2-40B4-BE49-F238E27FC236}">
                              <a16:creationId xmlns:a16="http://schemas.microsoft.com/office/drawing/2014/main" id="{3FCE6E86-C6BA-9D19-0046-C043E90E37A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0407670" y="1874063"/>
                          <a:ext cx="560407" cy="153888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l="-8696" t="-15385" r="-17391" b="-3846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AA5E550-27E9-1E5D-A47B-CC9894E5E972}"/>
                      </a:ext>
                    </a:extLst>
                  </p:cNvPr>
                  <p:cNvSpPr txBox="1"/>
                  <p:nvPr/>
                </p:nvSpPr>
                <p:spPr>
                  <a:xfrm>
                    <a:off x="9163891" y="765162"/>
                    <a:ext cx="2338381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HERO (empirical)</a:t>
                    </a:r>
                  </a:p>
                </p:txBody>
              </p:sp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5D42937F-04FB-BCCD-5B63-F83C664D59A5}"/>
                    </a:ext>
                  </a:extLst>
                </p:cNvPr>
                <p:cNvGrpSpPr/>
                <p:nvPr/>
              </p:nvGrpSpPr>
              <p:grpSpPr>
                <a:xfrm>
                  <a:off x="5929630" y="766052"/>
                  <a:ext cx="2807266" cy="1261899"/>
                  <a:chOff x="5929630" y="766052"/>
                  <a:chExt cx="2807266" cy="1261899"/>
                </a:xfrm>
              </p:grpSpPr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4303886C-1548-5570-E17E-5BD0CF5AC674}"/>
                      </a:ext>
                    </a:extLst>
                  </p:cNvPr>
                  <p:cNvSpPr txBox="1"/>
                  <p:nvPr/>
                </p:nvSpPr>
                <p:spPr>
                  <a:xfrm>
                    <a:off x="5929630" y="766052"/>
                    <a:ext cx="2807266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i="1" dirty="0">
                        <a:solidFill>
                          <a:srgbClr val="0432FF"/>
                        </a:solidFill>
                      </a:rPr>
                      <a:t>Naïve (empirical)</a:t>
                    </a:r>
                  </a:p>
                </p:txBody>
              </p:sp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2E92C112-BF68-EC93-A4F2-C2FEC165B307}"/>
                      </a:ext>
                    </a:extLst>
                  </p:cNvPr>
                  <p:cNvGrpSpPr/>
                  <p:nvPr/>
                </p:nvGrpSpPr>
                <p:grpSpPr>
                  <a:xfrm>
                    <a:off x="6250967" y="1052739"/>
                    <a:ext cx="2164593" cy="975212"/>
                    <a:chOff x="6288893" y="1052739"/>
                    <a:chExt cx="2164593" cy="975212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=1|</m:t>
                                </m:r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>
                    <p:sp>
                      <p:nvSpPr>
                        <p:cNvPr id="31" name="TextBox 30">
                          <a:extLst>
                            <a:ext uri="{FF2B5EF4-FFF2-40B4-BE49-F238E27FC236}">
                              <a16:creationId xmlns:a16="http://schemas.microsoft.com/office/drawing/2014/main" id="{2BE58BA4-22A1-ABB5-039D-E96A936D1027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288893" y="1299374"/>
                          <a:ext cx="738739" cy="153888"/>
                        </a:xfrm>
                        <a:prstGeom prst="rect">
                          <a:avLst/>
                        </a:prstGeom>
                        <a:blipFill>
                          <a:blip r:embed="rId7"/>
                          <a:stretch>
                            <a:fillRect l="-3390" t="-7692" r="-3390" b="-3076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000" dirty="0"/>
                        </a:p>
                      </p:txBody>
                    </p:sp>
                  </mc:Choice>
                  <mc:Fallback>
                    <p:sp>
                      <p:nvSpPr>
                        <p:cNvPr id="32" name="TextBox 31">
                          <a:extLst>
                            <a:ext uri="{FF2B5EF4-FFF2-40B4-BE49-F238E27FC236}">
                              <a16:creationId xmlns:a16="http://schemas.microsoft.com/office/drawing/2014/main" id="{78092802-0200-04DA-853D-32FFCFD8E61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599437" y="1874063"/>
                          <a:ext cx="153618" cy="153888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23077" r="-7692" b="-1538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35" name="Freeform 34">
                      <a:extLst>
                        <a:ext uri="{FF2B5EF4-FFF2-40B4-BE49-F238E27FC236}">
                          <a16:creationId xmlns:a16="http://schemas.microsoft.com/office/drawing/2014/main" id="{A2F5A194-1ED3-EC75-8B0B-8728190CC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134169" y="1156509"/>
                      <a:ext cx="1095016" cy="562794"/>
                    </a:xfrm>
                    <a:custGeom>
                      <a:avLst/>
                      <a:gdLst>
                        <a:gd name="csX0" fmla="*/ 0 w 1403850"/>
                        <a:gd name="csY0" fmla="*/ 409773 h 409773"/>
                        <a:gd name="csX1" fmla="*/ 18971 w 1403850"/>
                        <a:gd name="csY1" fmla="*/ 405979 h 409773"/>
                        <a:gd name="csX2" fmla="*/ 34148 w 1403850"/>
                        <a:gd name="csY2" fmla="*/ 402185 h 409773"/>
                        <a:gd name="csX3" fmla="*/ 79678 w 1403850"/>
                        <a:gd name="csY3" fmla="*/ 394596 h 409773"/>
                        <a:gd name="csX4" fmla="*/ 91060 w 1403850"/>
                        <a:gd name="csY4" fmla="*/ 387008 h 409773"/>
                        <a:gd name="csX5" fmla="*/ 132797 w 1403850"/>
                        <a:gd name="csY5" fmla="*/ 379419 h 409773"/>
                        <a:gd name="csX6" fmla="*/ 170738 w 1403850"/>
                        <a:gd name="csY6" fmla="*/ 368037 h 409773"/>
                        <a:gd name="csX7" fmla="*/ 185915 w 1403850"/>
                        <a:gd name="csY7" fmla="*/ 360448 h 409773"/>
                        <a:gd name="csX8" fmla="*/ 220063 w 1403850"/>
                        <a:gd name="csY8" fmla="*/ 371831 h 409773"/>
                        <a:gd name="csX9" fmla="*/ 242828 w 1403850"/>
                        <a:gd name="csY9" fmla="*/ 379419 h 409773"/>
                        <a:gd name="csX10" fmla="*/ 254211 w 1403850"/>
                        <a:gd name="csY10" fmla="*/ 383214 h 409773"/>
                        <a:gd name="csX11" fmla="*/ 276976 w 1403850"/>
                        <a:gd name="csY11" fmla="*/ 387008 h 409773"/>
                        <a:gd name="csX12" fmla="*/ 303535 w 1403850"/>
                        <a:gd name="csY12" fmla="*/ 383214 h 409773"/>
                        <a:gd name="csX13" fmla="*/ 314918 w 1403850"/>
                        <a:gd name="csY13" fmla="*/ 375625 h 409773"/>
                        <a:gd name="csX14" fmla="*/ 333889 w 1403850"/>
                        <a:gd name="csY14" fmla="*/ 364243 h 409773"/>
                        <a:gd name="csX15" fmla="*/ 349065 w 1403850"/>
                        <a:gd name="csY15" fmla="*/ 360448 h 409773"/>
                        <a:gd name="csX16" fmla="*/ 364242 w 1403850"/>
                        <a:gd name="csY16" fmla="*/ 352860 h 409773"/>
                        <a:gd name="csX17" fmla="*/ 390801 w 1403850"/>
                        <a:gd name="csY17" fmla="*/ 345272 h 409773"/>
                        <a:gd name="csX18" fmla="*/ 405978 w 1403850"/>
                        <a:gd name="csY18" fmla="*/ 337683 h 409773"/>
                        <a:gd name="csX19" fmla="*/ 432538 w 1403850"/>
                        <a:gd name="csY19" fmla="*/ 326301 h 409773"/>
                        <a:gd name="csX20" fmla="*/ 455303 w 1403850"/>
                        <a:gd name="csY20" fmla="*/ 307330 h 409773"/>
                        <a:gd name="csX21" fmla="*/ 478068 w 1403850"/>
                        <a:gd name="csY21" fmla="*/ 295947 h 409773"/>
                        <a:gd name="csX22" fmla="*/ 489450 w 1403850"/>
                        <a:gd name="csY22" fmla="*/ 288359 h 409773"/>
                        <a:gd name="csX23" fmla="*/ 576717 w 1403850"/>
                        <a:gd name="csY23" fmla="*/ 295947 h 409773"/>
                        <a:gd name="csX24" fmla="*/ 614659 w 1403850"/>
                        <a:gd name="csY24" fmla="*/ 292153 h 409773"/>
                        <a:gd name="csX25" fmla="*/ 626041 w 1403850"/>
                        <a:gd name="csY25" fmla="*/ 280770 h 409773"/>
                        <a:gd name="csX26" fmla="*/ 641218 w 1403850"/>
                        <a:gd name="csY26" fmla="*/ 254211 h 409773"/>
                        <a:gd name="csX27" fmla="*/ 660189 w 1403850"/>
                        <a:gd name="csY27" fmla="*/ 239034 h 409773"/>
                        <a:gd name="csX28" fmla="*/ 675366 w 1403850"/>
                        <a:gd name="csY28" fmla="*/ 235240 h 409773"/>
                        <a:gd name="csX29" fmla="*/ 686748 w 1403850"/>
                        <a:gd name="csY29" fmla="*/ 231446 h 409773"/>
                        <a:gd name="csX30" fmla="*/ 709514 w 1403850"/>
                        <a:gd name="csY30" fmla="*/ 235240 h 409773"/>
                        <a:gd name="csX31" fmla="*/ 724690 w 1403850"/>
                        <a:gd name="csY31" fmla="*/ 239034 h 409773"/>
                        <a:gd name="csX32" fmla="*/ 743661 w 1403850"/>
                        <a:gd name="csY32" fmla="*/ 235240 h 409773"/>
                        <a:gd name="csX33" fmla="*/ 762632 w 1403850"/>
                        <a:gd name="csY33" fmla="*/ 223858 h 409773"/>
                        <a:gd name="csX34" fmla="*/ 777809 w 1403850"/>
                        <a:gd name="csY34" fmla="*/ 216269 h 409773"/>
                        <a:gd name="csX35" fmla="*/ 792986 w 1403850"/>
                        <a:gd name="csY35" fmla="*/ 204887 h 409773"/>
                        <a:gd name="csX36" fmla="*/ 830928 w 1403850"/>
                        <a:gd name="csY36" fmla="*/ 182121 h 409773"/>
                        <a:gd name="csX37" fmla="*/ 861281 w 1403850"/>
                        <a:gd name="csY37" fmla="*/ 174533 h 409773"/>
                        <a:gd name="csX38" fmla="*/ 887840 w 1403850"/>
                        <a:gd name="csY38" fmla="*/ 166945 h 409773"/>
                        <a:gd name="csX39" fmla="*/ 910606 w 1403850"/>
                        <a:gd name="csY39" fmla="*/ 151768 h 409773"/>
                        <a:gd name="csX40" fmla="*/ 940959 w 1403850"/>
                        <a:gd name="csY40" fmla="*/ 125209 h 409773"/>
                        <a:gd name="csX41" fmla="*/ 971313 w 1403850"/>
                        <a:gd name="csY41" fmla="*/ 121414 h 409773"/>
                        <a:gd name="csX42" fmla="*/ 994078 w 1403850"/>
                        <a:gd name="csY42" fmla="*/ 129003 h 409773"/>
                        <a:gd name="csX43" fmla="*/ 1039608 w 1403850"/>
                        <a:gd name="csY43" fmla="*/ 121414 h 409773"/>
                        <a:gd name="csX44" fmla="*/ 1077550 w 1403850"/>
                        <a:gd name="csY44" fmla="*/ 117620 h 409773"/>
                        <a:gd name="csX45" fmla="*/ 1142051 w 1403850"/>
                        <a:gd name="csY45" fmla="*/ 110032 h 409773"/>
                        <a:gd name="csX46" fmla="*/ 1157228 w 1403850"/>
                        <a:gd name="csY46" fmla="*/ 102443 h 409773"/>
                        <a:gd name="csX47" fmla="*/ 1176199 w 1403850"/>
                        <a:gd name="csY47" fmla="*/ 94855 h 409773"/>
                        <a:gd name="csX48" fmla="*/ 1206553 w 1403850"/>
                        <a:gd name="csY48" fmla="*/ 68296 h 409773"/>
                        <a:gd name="csX49" fmla="*/ 1217935 w 1403850"/>
                        <a:gd name="csY49" fmla="*/ 60707 h 409773"/>
                        <a:gd name="csX50" fmla="*/ 1236906 w 1403850"/>
                        <a:gd name="csY50" fmla="*/ 45531 h 409773"/>
                        <a:gd name="csX51" fmla="*/ 1255877 w 1403850"/>
                        <a:gd name="csY51" fmla="*/ 30354 h 409773"/>
                        <a:gd name="csX52" fmla="*/ 1290025 w 1403850"/>
                        <a:gd name="csY52" fmla="*/ 18971 h 409773"/>
                        <a:gd name="csX53" fmla="*/ 1301407 w 1403850"/>
                        <a:gd name="csY53" fmla="*/ 11383 h 409773"/>
                        <a:gd name="csX54" fmla="*/ 1316584 w 1403850"/>
                        <a:gd name="csY54" fmla="*/ 7589 h 409773"/>
                        <a:gd name="csX55" fmla="*/ 1346938 w 1403850"/>
                        <a:gd name="csY55" fmla="*/ 0 h 409773"/>
                        <a:gd name="csX56" fmla="*/ 1403850 w 1403850"/>
                        <a:gd name="csY56" fmla="*/ 3795 h 4097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  <a:cxn ang="0">
                          <a:pos x="csX43" y="csY43"/>
                        </a:cxn>
                        <a:cxn ang="0">
                          <a:pos x="csX44" y="csY44"/>
                        </a:cxn>
                        <a:cxn ang="0">
                          <a:pos x="csX45" y="csY45"/>
                        </a:cxn>
                        <a:cxn ang="0">
                          <a:pos x="csX46" y="csY46"/>
                        </a:cxn>
                        <a:cxn ang="0">
                          <a:pos x="csX47" y="csY47"/>
                        </a:cxn>
                        <a:cxn ang="0">
                          <a:pos x="csX48" y="csY48"/>
                        </a:cxn>
                        <a:cxn ang="0">
                          <a:pos x="csX49" y="csY49"/>
                        </a:cxn>
                        <a:cxn ang="0">
                          <a:pos x="csX50" y="csY50"/>
                        </a:cxn>
                        <a:cxn ang="0">
                          <a:pos x="csX51" y="csY51"/>
                        </a:cxn>
                        <a:cxn ang="0">
                          <a:pos x="csX52" y="csY52"/>
                        </a:cxn>
                        <a:cxn ang="0">
                          <a:pos x="csX53" y="csY53"/>
                        </a:cxn>
                        <a:cxn ang="0">
                          <a:pos x="csX54" y="csY54"/>
                        </a:cxn>
                        <a:cxn ang="0">
                          <a:pos x="csX55" y="csY55"/>
                        </a:cxn>
                        <a:cxn ang="0">
                          <a:pos x="csX56" y="csY56"/>
                        </a:cxn>
                      </a:cxnLst>
                      <a:rect l="l" t="t" r="r" b="b"/>
                      <a:pathLst>
                        <a:path w="1403850" h="409773">
                          <a:moveTo>
                            <a:pt x="0" y="409773"/>
                          </a:moveTo>
                          <a:cubicBezTo>
                            <a:pt x="6324" y="408508"/>
                            <a:pt x="12676" y="407378"/>
                            <a:pt x="18971" y="405979"/>
                          </a:cubicBezTo>
                          <a:cubicBezTo>
                            <a:pt x="24062" y="404848"/>
                            <a:pt x="29023" y="403146"/>
                            <a:pt x="34148" y="402185"/>
                          </a:cubicBezTo>
                          <a:cubicBezTo>
                            <a:pt x="49270" y="399349"/>
                            <a:pt x="79678" y="394596"/>
                            <a:pt x="79678" y="394596"/>
                          </a:cubicBezTo>
                          <a:cubicBezTo>
                            <a:pt x="83472" y="392067"/>
                            <a:pt x="86790" y="388609"/>
                            <a:pt x="91060" y="387008"/>
                          </a:cubicBezTo>
                          <a:cubicBezTo>
                            <a:pt x="95705" y="385266"/>
                            <a:pt x="129760" y="380026"/>
                            <a:pt x="132797" y="379419"/>
                          </a:cubicBezTo>
                          <a:cubicBezTo>
                            <a:pt x="141873" y="377604"/>
                            <a:pt x="164287" y="371263"/>
                            <a:pt x="170738" y="368037"/>
                          </a:cubicBezTo>
                          <a:lnTo>
                            <a:pt x="185915" y="360448"/>
                          </a:lnTo>
                          <a:cubicBezTo>
                            <a:pt x="222375" y="367742"/>
                            <a:pt x="188643" y="359264"/>
                            <a:pt x="220063" y="371831"/>
                          </a:cubicBezTo>
                          <a:cubicBezTo>
                            <a:pt x="227490" y="374802"/>
                            <a:pt x="235240" y="376890"/>
                            <a:pt x="242828" y="379419"/>
                          </a:cubicBezTo>
                          <a:cubicBezTo>
                            <a:pt x="246622" y="380684"/>
                            <a:pt x="250266" y="382556"/>
                            <a:pt x="254211" y="383214"/>
                          </a:cubicBezTo>
                          <a:lnTo>
                            <a:pt x="276976" y="387008"/>
                          </a:lnTo>
                          <a:cubicBezTo>
                            <a:pt x="285829" y="385743"/>
                            <a:pt x="294969" y="385784"/>
                            <a:pt x="303535" y="383214"/>
                          </a:cubicBezTo>
                          <a:cubicBezTo>
                            <a:pt x="307903" y="381904"/>
                            <a:pt x="311051" y="378042"/>
                            <a:pt x="314918" y="375625"/>
                          </a:cubicBezTo>
                          <a:cubicBezTo>
                            <a:pt x="321172" y="371717"/>
                            <a:pt x="327150" y="367238"/>
                            <a:pt x="333889" y="364243"/>
                          </a:cubicBezTo>
                          <a:cubicBezTo>
                            <a:pt x="338654" y="362125"/>
                            <a:pt x="344183" y="362279"/>
                            <a:pt x="349065" y="360448"/>
                          </a:cubicBezTo>
                          <a:cubicBezTo>
                            <a:pt x="354361" y="358462"/>
                            <a:pt x="359043" y="355088"/>
                            <a:pt x="364242" y="352860"/>
                          </a:cubicBezTo>
                          <a:cubicBezTo>
                            <a:pt x="371861" y="349595"/>
                            <a:pt x="383101" y="347197"/>
                            <a:pt x="390801" y="345272"/>
                          </a:cubicBezTo>
                          <a:cubicBezTo>
                            <a:pt x="395860" y="342742"/>
                            <a:pt x="400779" y="339911"/>
                            <a:pt x="405978" y="337683"/>
                          </a:cubicBezTo>
                          <a:cubicBezTo>
                            <a:pt x="427261" y="328562"/>
                            <a:pt x="407371" y="340682"/>
                            <a:pt x="432538" y="326301"/>
                          </a:cubicBezTo>
                          <a:cubicBezTo>
                            <a:pt x="450513" y="316029"/>
                            <a:pt x="438191" y="321590"/>
                            <a:pt x="455303" y="307330"/>
                          </a:cubicBezTo>
                          <a:cubicBezTo>
                            <a:pt x="465112" y="299156"/>
                            <a:pt x="466657" y="299750"/>
                            <a:pt x="478068" y="295947"/>
                          </a:cubicBezTo>
                          <a:cubicBezTo>
                            <a:pt x="481862" y="293418"/>
                            <a:pt x="484899" y="288643"/>
                            <a:pt x="489450" y="288359"/>
                          </a:cubicBezTo>
                          <a:cubicBezTo>
                            <a:pt x="498255" y="287809"/>
                            <a:pt x="563367" y="294612"/>
                            <a:pt x="576717" y="295947"/>
                          </a:cubicBezTo>
                          <a:cubicBezTo>
                            <a:pt x="589364" y="294682"/>
                            <a:pt x="602511" y="295891"/>
                            <a:pt x="614659" y="292153"/>
                          </a:cubicBezTo>
                          <a:cubicBezTo>
                            <a:pt x="619787" y="290575"/>
                            <a:pt x="622922" y="285136"/>
                            <a:pt x="626041" y="280770"/>
                          </a:cubicBezTo>
                          <a:cubicBezTo>
                            <a:pt x="633475" y="270363"/>
                            <a:pt x="632262" y="263167"/>
                            <a:pt x="641218" y="254211"/>
                          </a:cubicBezTo>
                          <a:cubicBezTo>
                            <a:pt x="646944" y="248485"/>
                            <a:pt x="653110" y="242967"/>
                            <a:pt x="660189" y="239034"/>
                          </a:cubicBezTo>
                          <a:cubicBezTo>
                            <a:pt x="664747" y="236502"/>
                            <a:pt x="670352" y="236673"/>
                            <a:pt x="675366" y="235240"/>
                          </a:cubicBezTo>
                          <a:cubicBezTo>
                            <a:pt x="679211" y="234141"/>
                            <a:pt x="682954" y="232711"/>
                            <a:pt x="686748" y="231446"/>
                          </a:cubicBezTo>
                          <a:cubicBezTo>
                            <a:pt x="694337" y="232711"/>
                            <a:pt x="701970" y="233731"/>
                            <a:pt x="709514" y="235240"/>
                          </a:cubicBezTo>
                          <a:cubicBezTo>
                            <a:pt x="714627" y="236263"/>
                            <a:pt x="719476" y="239034"/>
                            <a:pt x="724690" y="239034"/>
                          </a:cubicBezTo>
                          <a:cubicBezTo>
                            <a:pt x="731139" y="239034"/>
                            <a:pt x="737337" y="236505"/>
                            <a:pt x="743661" y="235240"/>
                          </a:cubicBezTo>
                          <a:cubicBezTo>
                            <a:pt x="749985" y="231446"/>
                            <a:pt x="756186" y="227439"/>
                            <a:pt x="762632" y="223858"/>
                          </a:cubicBezTo>
                          <a:cubicBezTo>
                            <a:pt x="767576" y="221111"/>
                            <a:pt x="773013" y="219267"/>
                            <a:pt x="777809" y="216269"/>
                          </a:cubicBezTo>
                          <a:cubicBezTo>
                            <a:pt x="783171" y="212918"/>
                            <a:pt x="787805" y="208513"/>
                            <a:pt x="792986" y="204887"/>
                          </a:cubicBezTo>
                          <a:cubicBezTo>
                            <a:pt x="800856" y="199378"/>
                            <a:pt x="819750" y="185847"/>
                            <a:pt x="830928" y="182121"/>
                          </a:cubicBezTo>
                          <a:cubicBezTo>
                            <a:pt x="840822" y="178823"/>
                            <a:pt x="851387" y="177831"/>
                            <a:pt x="861281" y="174533"/>
                          </a:cubicBezTo>
                          <a:cubicBezTo>
                            <a:pt x="877611" y="169090"/>
                            <a:pt x="868784" y="171709"/>
                            <a:pt x="887840" y="166945"/>
                          </a:cubicBezTo>
                          <a:cubicBezTo>
                            <a:pt x="909751" y="134080"/>
                            <a:pt x="877935" y="176271"/>
                            <a:pt x="910606" y="151768"/>
                          </a:cubicBezTo>
                          <a:cubicBezTo>
                            <a:pt x="966732" y="109673"/>
                            <a:pt x="892405" y="149484"/>
                            <a:pt x="940959" y="125209"/>
                          </a:cubicBezTo>
                          <a:cubicBezTo>
                            <a:pt x="953172" y="112996"/>
                            <a:pt x="946772" y="115279"/>
                            <a:pt x="971313" y="121414"/>
                          </a:cubicBezTo>
                          <a:cubicBezTo>
                            <a:pt x="979073" y="123354"/>
                            <a:pt x="994078" y="129003"/>
                            <a:pt x="994078" y="129003"/>
                          </a:cubicBezTo>
                          <a:cubicBezTo>
                            <a:pt x="1009255" y="126473"/>
                            <a:pt x="1024363" y="123493"/>
                            <a:pt x="1039608" y="121414"/>
                          </a:cubicBezTo>
                          <a:cubicBezTo>
                            <a:pt x="1052202" y="119697"/>
                            <a:pt x="1064917" y="119024"/>
                            <a:pt x="1077550" y="117620"/>
                          </a:cubicBezTo>
                          <a:lnTo>
                            <a:pt x="1142051" y="110032"/>
                          </a:lnTo>
                          <a:cubicBezTo>
                            <a:pt x="1147110" y="107502"/>
                            <a:pt x="1152059" y="104740"/>
                            <a:pt x="1157228" y="102443"/>
                          </a:cubicBezTo>
                          <a:cubicBezTo>
                            <a:pt x="1163452" y="99677"/>
                            <a:pt x="1170245" y="98162"/>
                            <a:pt x="1176199" y="94855"/>
                          </a:cubicBezTo>
                          <a:cubicBezTo>
                            <a:pt x="1212596" y="74636"/>
                            <a:pt x="1169372" y="93086"/>
                            <a:pt x="1206553" y="68296"/>
                          </a:cubicBezTo>
                          <a:lnTo>
                            <a:pt x="1217935" y="60707"/>
                          </a:lnTo>
                          <a:cubicBezTo>
                            <a:pt x="1233049" y="38036"/>
                            <a:pt x="1216542" y="57750"/>
                            <a:pt x="1236906" y="45531"/>
                          </a:cubicBezTo>
                          <a:cubicBezTo>
                            <a:pt x="1255956" y="34100"/>
                            <a:pt x="1231016" y="40713"/>
                            <a:pt x="1255877" y="30354"/>
                          </a:cubicBezTo>
                          <a:cubicBezTo>
                            <a:pt x="1266952" y="25739"/>
                            <a:pt x="1280042" y="25627"/>
                            <a:pt x="1290025" y="18971"/>
                          </a:cubicBezTo>
                          <a:cubicBezTo>
                            <a:pt x="1293819" y="16442"/>
                            <a:pt x="1297216" y="13179"/>
                            <a:pt x="1301407" y="11383"/>
                          </a:cubicBezTo>
                          <a:cubicBezTo>
                            <a:pt x="1306200" y="9329"/>
                            <a:pt x="1311570" y="9021"/>
                            <a:pt x="1316584" y="7589"/>
                          </a:cubicBezTo>
                          <a:cubicBezTo>
                            <a:pt x="1343814" y="-190"/>
                            <a:pt x="1308359" y="7717"/>
                            <a:pt x="1346938" y="0"/>
                          </a:cubicBezTo>
                          <a:cubicBezTo>
                            <a:pt x="1398784" y="3989"/>
                            <a:pt x="1379772" y="3795"/>
                            <a:pt x="1403850" y="3795"/>
                          </a:cubicBezTo>
                        </a:path>
                      </a:pathLst>
                    </a:custGeom>
                    <a:noFill/>
                    <a:ln>
                      <a:solidFill>
                        <a:srgbClr val="0432FF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200" dirty="0"/>
                    </a:p>
                  </p:txBody>
                </p: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3E016420-5927-FD32-0FCE-83E364F87D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067002" y="1052739"/>
                      <a:ext cx="0" cy="94884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80B21997-826F-5CDA-BDC4-DE7298E6ED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899006" y="1829061"/>
                      <a:ext cx="1554480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headEnd type="triangle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ECA550-A462-0B6D-B433-F7FBCA53C9CF}"/>
              </a:ext>
            </a:extLst>
          </p:cNvPr>
          <p:cNvGrpSpPr/>
          <p:nvPr/>
        </p:nvGrpSpPr>
        <p:grpSpPr>
          <a:xfrm>
            <a:off x="308112" y="3548422"/>
            <a:ext cx="4536028" cy="1536048"/>
            <a:chOff x="436400" y="1835634"/>
            <a:chExt cx="3628824" cy="15360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71144F-2EC4-33F7-5D2E-B4BD02D87E7F}"/>
                </a:ext>
              </a:extLst>
            </p:cNvPr>
            <p:cNvSpPr txBox="1"/>
            <p:nvPr/>
          </p:nvSpPr>
          <p:spPr>
            <a:xfrm>
              <a:off x="451691" y="1835634"/>
              <a:ext cx="36135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432FF"/>
                  </a:solidFill>
                  <a:latin typeface="Futura Medium" panose="020B0602020204020303" pitchFamily="34" charset="-79"/>
                  <a:cs typeface="Futura Medium" panose="020B0602020204020303" pitchFamily="34" charset="-79"/>
                </a:rPr>
                <a:t>2. Unified Selection Score Equation</a:t>
              </a:r>
              <a:endParaRPr lang="en-US" sz="1400" dirty="0">
                <a:solidFill>
                  <a:srgbClr val="0432FF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/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0" dirty="0"/>
                    <a:t>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sz="1200" dirty="0">
                    <a:solidFill>
                      <a:srgbClr val="9437FF"/>
                    </a:solidFill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selection score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200" dirty="0"/>
                    <a:t>individual performance metric</a:t>
                  </a:r>
                </a:p>
                <a:p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200" dirty="0"/>
                    <a:t> environmental weight</a:t>
                  </a:r>
                </a:p>
                <a:p>
                  <a:r>
                    <a:rPr lang="en-US" sz="1200" dirty="0">
                      <a:solidFill>
                        <a:srgbClr val="0432FF"/>
                      </a:solidFill>
                    </a:rPr>
                    <a:t>environmental impact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a14:m>
                  <a:r>
                    <a:rPr lang="en-US" sz="1200" dirty="0"/>
                    <a:t>     (</a:t>
                  </a:r>
                  <a14:m>
                    <m:oMath xmlns:m="http://schemas.openxmlformats.org/officeDocument/2006/math"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benefits, 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sz="1200" dirty="0"/>
                    <a:t> drawbacks)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1D1ECB8-4444-68F0-367A-195A32F20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400" y="2048243"/>
                  <a:ext cx="3613533" cy="1323439"/>
                </a:xfrm>
                <a:prstGeom prst="rect">
                  <a:avLst/>
                </a:prstGeom>
                <a:blipFill>
                  <a:blip r:embed="rId9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4E77B8A6-F58E-8DB5-727E-F8CED3934D83}"/>
              </a:ext>
            </a:extLst>
          </p:cNvPr>
          <p:cNvSpPr txBox="1"/>
          <p:nvPr/>
        </p:nvSpPr>
        <p:spPr>
          <a:xfrm>
            <a:off x="5739323" y="2007354"/>
            <a:ext cx="453602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3. Selection</a:t>
            </a:r>
            <a:endParaRPr lang="en-US" sz="1400" dirty="0">
              <a:solidFill>
                <a:srgbClr val="0432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/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9437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 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rgbClr val="9437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600" b="0" i="1" smtClean="0">
                                  <a:solidFill>
                                    <a:srgbClr val="9437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0" i="1" smtClean="0">
                                              <a:solidFill>
                                                <a:srgbClr val="9437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solidFill>
                                                    <a:srgbClr val="9437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b="0" i="1" smtClean="0">
                                      <a:solidFill>
                                        <a:srgbClr val="9437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solidFill>
                                            <a:srgbClr val="9437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rgbClr val="9437FF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 Soft preference of player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for team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00" dirty="0"/>
                  <a:t> before we normalize to probabilities and fill seats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Team target PoolQ,  \rho  -&gt;. Assortativity knob</a:t>
                </a:r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Fixed length-scale in ability units (default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~0.65</m:t>
                    </m:r>
                  </m:oMath>
                </a14:m>
                <a:r>
                  <a:rPr lang="en-US" sz="1200" dirty="0"/>
                  <a:t>)</a:t>
                </a:r>
              </a:p>
              <a:p>
                <a:endParaRPr lang="en-US" sz="1200" dirty="0"/>
              </a:p>
              <a:p>
                <a:pPr/>
                <a:endParaRPr lang="en-US" sz="1200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A497B29-CB0B-2225-3C2C-3BD04FF5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13" y="2162594"/>
                <a:ext cx="4536028" cy="178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/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The current trivial method is just to choose the top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dirty="0"/>
                  <a:t> players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200" dirty="0"/>
              </a:p>
              <a:p>
                <a:r>
                  <a:rPr lang="en-US" sz="1200" dirty="0"/>
                  <a:t>Future methods could introduce stochastic 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7E5036B-5655-642A-64B3-0642C6A3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54" y="2377885"/>
                <a:ext cx="4536027" cy="461665"/>
              </a:xfrm>
              <a:prstGeom prst="rect">
                <a:avLst/>
              </a:prstGeom>
              <a:blipFill>
                <a:blip r:embed="rId11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05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264</Words>
  <Application>Microsoft Macintosh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Futura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15</cp:revision>
  <cp:lastPrinted>2026-07-27T19:14:00Z</cp:lastPrinted>
  <dcterms:created xsi:type="dcterms:W3CDTF">2026-07-27T17:00:38Z</dcterms:created>
  <dcterms:modified xsi:type="dcterms:W3CDTF">2026-07-31T16:54:27Z</dcterms:modified>
</cp:coreProperties>
</file>