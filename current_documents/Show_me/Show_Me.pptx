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3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321" r:id="rId11"/>
    <p:sldId id="265" r:id="rId12"/>
    <p:sldId id="269" r:id="rId13"/>
    <p:sldId id="279" r:id="rId14"/>
    <p:sldId id="266" r:id="rId15"/>
    <p:sldId id="272" r:id="rId16"/>
    <p:sldId id="273" r:id="rId17"/>
    <p:sldId id="317" r:id="rId18"/>
    <p:sldId id="275" r:id="rId19"/>
    <p:sldId id="276" r:id="rId20"/>
    <p:sldId id="270" r:id="rId21"/>
    <p:sldId id="271" r:id="rId22"/>
    <p:sldId id="277" r:id="rId23"/>
    <p:sldId id="278" r:id="rId24"/>
    <p:sldId id="280" r:id="rId25"/>
    <p:sldId id="281" r:id="rId26"/>
    <p:sldId id="282" r:id="rId27"/>
    <p:sldId id="283" r:id="rId28"/>
    <p:sldId id="316" r:id="rId29"/>
    <p:sldId id="291" r:id="rId30"/>
    <p:sldId id="284" r:id="rId31"/>
    <p:sldId id="285" r:id="rId32"/>
    <p:sldId id="314" r:id="rId33"/>
    <p:sldId id="318" r:id="rId34"/>
    <p:sldId id="289" r:id="rId35"/>
    <p:sldId id="290" r:id="rId36"/>
    <p:sldId id="299" r:id="rId37"/>
    <p:sldId id="300" r:id="rId38"/>
    <p:sldId id="292" r:id="rId39"/>
    <p:sldId id="301" r:id="rId40"/>
    <p:sldId id="302" r:id="rId41"/>
    <p:sldId id="312" r:id="rId42"/>
    <p:sldId id="303" r:id="rId43"/>
    <p:sldId id="304" r:id="rId44"/>
    <p:sldId id="305" r:id="rId45"/>
    <p:sldId id="306" r:id="rId46"/>
    <p:sldId id="320" r:id="rId47"/>
    <p:sldId id="308" r:id="rId48"/>
    <p:sldId id="309" r:id="rId49"/>
    <p:sldId id="310" r:id="rId50"/>
    <p:sldId id="311" r:id="rId51"/>
    <p:sldId id="294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89"/>
    <p:restoredTop sz="94708"/>
  </p:normalViewPr>
  <p:slideViewPr>
    <p:cSldViewPr snapToGrid="0">
      <p:cViewPr>
        <p:scale>
          <a:sx n="119" d="100"/>
          <a:sy n="119" d="100"/>
        </p:scale>
        <p:origin x="2320" y="2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70BD6-0CEF-D44A-A610-5E2A9FD7558D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CE250F-0D5D-B44C-ADA0-E05DC33FC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38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E250F-0D5D-B44C-ADA0-E05DC33FC82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51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1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00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0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85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5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4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5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4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0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47ABDA-16C6-6D04-5F50-9A94527356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EEA607-A257-13B6-B87F-EA66162BD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7" y="1581944"/>
            <a:ext cx="8961467" cy="46779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E7F2A8-3028-C506-9C6D-578E5F9BA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127226"/>
            <a:ext cx="73406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817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87048B-C01F-4971-BAFF-101FA6CD5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71"/>
            <a:ext cx="7503720" cy="659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41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0D3506-C778-5EAB-73A0-DC885B3DF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6" y="1788249"/>
            <a:ext cx="8913950" cy="4262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1EF29A-D7FF-0537-0949-F1A3DF153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127226"/>
            <a:ext cx="73406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978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4F28-1866-355D-B49C-7E78E8AF7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9DD83-F59D-6BAC-255E-D750E1A1A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73A8E4-F4FB-5BD0-304C-304DF25C7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21" y="103662"/>
            <a:ext cx="7886700" cy="661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915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765CF0-FC79-B35A-1703-35BD2EDC6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9527" y="1973401"/>
            <a:ext cx="9293527" cy="34150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C40579-0085-AA19-B24E-D184FBBDA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127226"/>
            <a:ext cx="73406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84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A9A96-8E08-35E8-4C29-31284D983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BB11C-D381-DBD1-7DD3-6E0A25922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277541-44A6-2085-2AB9-9093C0B1E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17020"/>
            <a:ext cx="6849836" cy="669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744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BD2AE5-5BC9-20C2-500A-F49DED916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0407"/>
            <a:ext cx="6126480" cy="29403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9443C9-4679-E703-74EF-B86B3CBFD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459" y="3909568"/>
            <a:ext cx="6126480" cy="29484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EF0DF23-2101-C793-C734-9119951AB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250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4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4E9598-4E9E-19FA-B45D-3F75D9EC6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924" y="931332"/>
            <a:ext cx="6493623" cy="59266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8DB72A4-9C9E-7F08-4016-EB185F03F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197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1CF54A-512E-2196-4946-237B1E8F5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0997"/>
            <a:ext cx="7772400" cy="643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890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C38F3-46D6-04F1-1E62-2C6BA35AE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82F88E-77B8-3BF0-8996-A92942B08E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89" b="7089"/>
          <a:stretch/>
        </p:blipFill>
        <p:spPr>
          <a:xfrm>
            <a:off x="1837267" y="2482850"/>
            <a:ext cx="5469467" cy="15472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AC6C71-8A23-CD86-2C60-45B3A5632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94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52B473-5F50-1AB5-4D56-5C12B5DD8430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increase 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02060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52B473-5F50-1AB5-4D56-5C12B5DD8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4796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6CE05-3FCE-EDFB-8912-4AC6CF98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812196-EF53-64FA-C94A-18026BF05958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0.260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  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𝑝𝑟𝑒𝑠𝑡𝑖𝑔𝑒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0.061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  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/>
              </a:p>
              <a:p>
                <a:endParaRPr lang="en-US" b="1" dirty="0"/>
              </a:p>
              <a:p>
                <a:r>
                  <a:rPr lang="en-US" b="1" dirty="0"/>
                  <a:t>With no interaction term, the trade‑off at constant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/>
                  <a:t> 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−0.237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/>
                <a:r>
                  <a:rPr lang="en-US" dirty="0"/>
                  <a:t>is offset by</a:t>
                </a:r>
              </a:p>
              <a:p>
                <a:pPr algn="ctr"/>
                <a:r>
                  <a:rPr lang="en-US" dirty="0"/>
                  <a:t>A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0.2375 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4.21×</m:t>
                    </m:r>
                  </m:oMath>
                </a14:m>
                <a:r>
                  <a:rPr lang="en-US" sz="2000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4.2</m:t>
                      </m:r>
                      <m:r>
                        <a:rPr lang="en-US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812196-EF53-64FA-C94A-18026BF05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 b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8D43B0FF-97D1-8221-6BBD-20C7D667AF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125" b="22466"/>
          <a:stretch>
            <a:fillRect/>
          </a:stretch>
        </p:blipFill>
        <p:spPr>
          <a:xfrm>
            <a:off x="5436098" y="496711"/>
            <a:ext cx="3301502" cy="993423"/>
          </a:xfrm>
          <a:prstGeom prst="rect">
            <a:avLst/>
          </a:prstGeom>
          <a:ln w="53975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218512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164919-AE47-68F9-0BF6-47C1566C61E8}"/>
                  </a:ext>
                </a:extLst>
              </p:cNvPr>
              <p:cNvSpPr txBox="1"/>
              <p:nvPr/>
            </p:nvSpPr>
            <p:spPr>
              <a:xfrm>
                <a:off x="853938" y="1470483"/>
                <a:ext cx="7436125" cy="3917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The following results are counterintuitive:  </a:t>
                </a:r>
              </a:p>
              <a:p>
                <a:pPr algn="ctr">
                  <a:lnSpc>
                    <a:spcPct val="150000"/>
                  </a:lnSpc>
                </a:pPr>
                <a:endParaRPr lang="en-US" sz="2400" dirty="0"/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𝑟𝑎𝑡𝑖𝑜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𝑟𝑎𝑛𝑘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𝑛𝑜𝑟𝑚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𝑠𝑛𝑟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positively correlated with promotion.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However, when fitted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sz="2400" dirty="0"/>
                  <a:t> ,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using a Cox Proportional Hazards model,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That correlation reverses.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164919-AE47-68F9-0BF6-47C1566C6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938" y="1470483"/>
                <a:ext cx="7436125" cy="3917034"/>
              </a:xfrm>
              <a:prstGeom prst="rect">
                <a:avLst/>
              </a:prstGeom>
              <a:blipFill>
                <a:blip r:embed="rId2"/>
                <a:stretch>
                  <a:fillRect r="-171" b="-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1185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6B53D-C431-8B6D-22F6-D08B75BF4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66068"/>
            <a:ext cx="7772400" cy="332586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B51E7ED-7D75-A4D8-47F9-FFC72775B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127226"/>
            <a:ext cx="73406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855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21ECB-82C3-B5A9-AC9D-E0DD9281D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0C0118-3A75-FD6A-FB40-210259A60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383" y="0"/>
            <a:ext cx="7175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858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6FBB-0D5C-0944-32D0-C5DF13F58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E5F7F9-CBB2-0596-F8D9-A676121B3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30153"/>
            <a:ext cx="7772400" cy="37976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93E7D3-70EB-FE42-19B6-B929F44E8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50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28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A0F7-1E18-E727-2EC4-8317330BA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8DDD85-0077-27C1-CCDE-BEE6AC4D0D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80924" y="1051053"/>
            <a:ext cx="6493623" cy="56872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5DC8435-F5AC-08C4-10DE-6C72F42B3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37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47FA-338D-51C2-9C80-A9B9C5743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6F88B6-1B0E-3124-BEBA-B286EFB2C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4529"/>
            <a:ext cx="7772400" cy="634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00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15B88-7E43-ECCA-5A20-DBE89040D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41A2F3-38F9-DCAA-949F-C5B8A6296B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65" r="3623" b="18233"/>
          <a:stretch>
            <a:fillRect/>
          </a:stretch>
        </p:blipFill>
        <p:spPr>
          <a:xfrm>
            <a:off x="1837267" y="2482850"/>
            <a:ext cx="5469467" cy="15472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072452-BCC4-2FE6-B109-E4BFC1D43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4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6C241-70E7-F4BB-03F7-88F2A230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C580E8-9169-AA4D-ED98-117D266F06F6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increase in </a:t>
                </a:r>
                <a:r>
                  <a:rPr lang="en-US" kern="100" dirty="0">
                    <a:solidFill>
                      <a:srgbClr val="011893"/>
                    </a:solidFill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02060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C580E8-9169-AA4D-ED98-117D266F0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53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AFBF0-D5BF-34C7-6A9B-CD1F236D8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0854AB-805D-E56B-6DCB-06F3C076FFC6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3169</m:t>
                    </m:r>
                  </m:oMath>
                </a14:m>
                <a:r>
                  <a:rPr lang="en-US" dirty="0"/>
                  <a:t>  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𝑟𝑎𝑛𝑘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0.0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590</m:t>
                    </m:r>
                  </m:oMath>
                </a14:m>
                <a:r>
                  <a:rPr lang="en-US" dirty="0"/>
                  <a:t>  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With no interaction term, the trade‑off at constant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/>
                  <a:t> 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0.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1863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/>
                <a:r>
                  <a:rPr lang="en-US" dirty="0"/>
                  <a:t>is offset by</a:t>
                </a:r>
              </a:p>
              <a:p>
                <a:pPr algn="ctr"/>
                <a:r>
                  <a:rPr lang="en-US" dirty="0"/>
                  <a:t>A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1863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5.38</m:t>
                    </m:r>
                    <m:r>
                      <a:rPr lang="en-US" sz="20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−5.38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0854AB-805D-E56B-6DCB-06F3C076F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182F49E1-F8EE-A9E3-4EAA-3553C4BB38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9" r="639"/>
          <a:stretch/>
        </p:blipFill>
        <p:spPr>
          <a:xfrm>
            <a:off x="5436098" y="496711"/>
            <a:ext cx="3301502" cy="993423"/>
          </a:xfrm>
          <a:prstGeom prst="rect">
            <a:avLst/>
          </a:prstGeom>
          <a:ln w="53975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905096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C6986-3681-C40D-4375-40E78D48C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F9AE0D-4CE0-EEF1-D6DD-D81B56319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134" y="1322473"/>
            <a:ext cx="6197600" cy="53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E932E3-A1BE-DF95-2A54-09FFAE23D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184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90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EEAE2-875D-5C97-BA2A-4E7B1445B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9B3E10-A879-2D8E-611C-66BA6B194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09" y="1538314"/>
            <a:ext cx="5918200" cy="1384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73149D-0A56-4239-8625-BECC3F1C9A26}"/>
              </a:ext>
            </a:extLst>
          </p:cNvPr>
          <p:cNvSpPr txBox="1"/>
          <p:nvPr/>
        </p:nvSpPr>
        <p:spPr>
          <a:xfrm>
            <a:off x="684508" y="994190"/>
            <a:ext cx="5633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coef_df_full.loc</a:t>
            </a:r>
            <a:r>
              <a:rPr lang="en-US" dirty="0"/>
              <a:t>[</a:t>
            </a:r>
            <a:r>
              <a:rPr lang="en-US" dirty="0" err="1"/>
              <a:t>coef_df_full</a:t>
            </a:r>
            <a:r>
              <a:rPr lang="en-US" dirty="0"/>
              <a:t>['variable'].</a:t>
            </a:r>
            <a:r>
              <a:rPr lang="en-US" dirty="0" err="1"/>
              <a:t>isin</a:t>
            </a:r>
            <a:r>
              <a:rPr lang="en-US" dirty="0"/>
              <a:t>(cols)]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41718D-3D38-9594-241A-7B7E6C5E2686}"/>
              </a:ext>
            </a:extLst>
          </p:cNvPr>
          <p:cNvSpPr txBox="1"/>
          <p:nvPr/>
        </p:nvSpPr>
        <p:spPr>
          <a:xfrm>
            <a:off x="316209" y="2968626"/>
            <a:ext cx="81406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df_cox.groupby</a:t>
            </a:r>
            <a:r>
              <a:rPr lang="en-US" dirty="0"/>
              <a:t>(</a:t>
            </a:r>
            <a:r>
              <a:rPr lang="en-US" dirty="0" err="1"/>
              <a:t>pd.qcut</a:t>
            </a:r>
            <a:r>
              <a:rPr lang="en-US" dirty="0"/>
              <a:t>(</a:t>
            </a:r>
            <a:r>
              <a:rPr lang="en-US" dirty="0" err="1"/>
              <a:t>df_cox</a:t>
            </a:r>
            <a:r>
              <a:rPr lang="en-US" dirty="0"/>
              <a:t>['</a:t>
            </a:r>
            <a:r>
              <a:rPr lang="en-US" dirty="0" err="1"/>
              <a:t>z_tb_ratio_rank_norm_snr</a:t>
            </a:r>
            <a:r>
              <a:rPr lang="en-US" dirty="0"/>
              <a:t>'], 3))['</a:t>
            </a:r>
            <a:r>
              <a:rPr lang="en-US" dirty="0" err="1"/>
              <a:t>z_cum_tb_rcvd_ratio_snr</a:t>
            </a:r>
            <a:r>
              <a:rPr lang="en-US" dirty="0"/>
              <a:t>'].mean()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DB6F00-857E-B344-0CBA-344327AC0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61" y="4114505"/>
            <a:ext cx="7772400" cy="167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68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B2E791-C17D-F6C9-1C2E-B5A2D3138B22}"/>
              </a:ext>
            </a:extLst>
          </p:cNvPr>
          <p:cNvSpPr txBox="1"/>
          <p:nvPr/>
        </p:nvSpPr>
        <p:spPr>
          <a:xfrm>
            <a:off x="366793" y="648844"/>
            <a:ext cx="8214102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dirty="0">
                <a:effectLst/>
              </a:rPr>
              <a:t>Thanks — those results line up perfectly with the collinearity story:</a:t>
            </a: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Step 4 (coefficients):</a:t>
            </a:r>
            <a:endParaRPr lang="en-US" dirty="0"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1400" dirty="0" err="1">
                <a:effectLst/>
                <a:latin typeface="Menlo" panose="020B0609030804020204" pitchFamily="49" charset="0"/>
              </a:rPr>
              <a:t>z_tb_ratio_rank_norm_snr</a:t>
            </a:r>
            <a:r>
              <a:rPr lang="en-US" sz="1400" dirty="0">
                <a:effectLst/>
              </a:rPr>
              <a:t> </a:t>
            </a:r>
            <a:r>
              <a:rPr lang="en-US" dirty="0">
                <a:effectLst/>
              </a:rPr>
              <a:t>has </a:t>
            </a:r>
            <a:r>
              <a:rPr lang="en-US" b="1" dirty="0">
                <a:effectLst/>
              </a:rPr>
              <a:t>positive</a:t>
            </a:r>
            <a:r>
              <a:rPr lang="en-US" dirty="0">
                <a:effectLst/>
              </a:rPr>
              <a:t> coefficient (0.21698) and </a:t>
            </a:r>
            <a:r>
              <a:rPr lang="en-US" b="1" dirty="0">
                <a:effectLst/>
              </a:rPr>
              <a:t>HR ≈ 1.24</a:t>
            </a:r>
            <a:r>
              <a:rPr lang="en-US" dirty="0">
                <a:effectLst/>
              </a:rPr>
              <a:t>, so once the absolute ratio is removed, it behaves as you expected.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en-US" b="1" dirty="0"/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Step 5 (pool‑strength check):</a:t>
            </a:r>
            <a:endParaRPr lang="en-US" dirty="0"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dirty="0">
                <a:effectLst/>
              </a:rPr>
              <a:t>The mean </a:t>
            </a:r>
            <a:r>
              <a:rPr lang="en-US" sz="1400" dirty="0" err="1">
                <a:effectLst/>
                <a:latin typeface="Menlo" panose="020B0609030804020204" pitchFamily="49" charset="0"/>
              </a:rPr>
              <a:t>z_cum_tb_rcvd_ratio_snr</a:t>
            </a:r>
            <a:r>
              <a:rPr lang="en-US" sz="1400" dirty="0">
                <a:effectLst/>
              </a:rPr>
              <a:t> </a:t>
            </a:r>
            <a:r>
              <a:rPr lang="en-US" dirty="0">
                <a:effectLst/>
              </a:rPr>
              <a:t>rises across rank‑norm bins:</a:t>
            </a: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low rank bin: </a:t>
            </a:r>
            <a:r>
              <a:rPr lang="en-US" b="1" dirty="0">
                <a:effectLst/>
              </a:rPr>
              <a:t>−1.02</a:t>
            </a:r>
            <a:endParaRPr lang="en-US" dirty="0">
              <a:effectLst/>
            </a:endParaRP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mid bin: </a:t>
            </a:r>
            <a:r>
              <a:rPr lang="en-US" b="1" dirty="0">
                <a:effectLst/>
              </a:rPr>
              <a:t>0.07</a:t>
            </a:r>
            <a:endParaRPr lang="en-US" dirty="0">
              <a:effectLst/>
            </a:endParaRP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high rank bin: </a:t>
            </a:r>
            <a:r>
              <a:rPr lang="en-US" b="1" dirty="0">
                <a:effectLst/>
              </a:rPr>
              <a:t>1.00</a:t>
            </a:r>
            <a:endParaRPr lang="en-US" dirty="0"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dirty="0">
                <a:effectLst/>
              </a:rPr>
              <a:t>So higher rank in pool is strongly tied to higher absolute performance — exactly the shared signal that was being split between the two variables.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en-US" dirty="0"/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dirty="0">
                <a:effectLst/>
              </a:rPr>
              <a:t>If you want to keep both variables in the model but avoid the sign flip, we can try:</a:t>
            </a: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removing one of them,</a:t>
            </a: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replacing rank with </a:t>
            </a:r>
            <a:r>
              <a:rPr lang="en-US" b="1" dirty="0">
                <a:effectLst/>
              </a:rPr>
              <a:t>pool mean‑adjusted residuals</a:t>
            </a:r>
            <a:r>
              <a:rPr lang="en-US" dirty="0">
                <a:effectLst/>
              </a:rPr>
              <a:t>, or</a:t>
            </a: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adding an interaction term and interpreting jointly.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0146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F6D4E-7527-FDF9-3312-D0EC49F0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49E4B3-10F1-79FA-4DC0-701F50414866}"/>
              </a:ext>
            </a:extLst>
          </p:cNvPr>
          <p:cNvSpPr txBox="1"/>
          <p:nvPr/>
        </p:nvSpPr>
        <p:spPr>
          <a:xfrm>
            <a:off x="2528710" y="2856089"/>
            <a:ext cx="2647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New Approach RUN 1</a:t>
            </a:r>
          </a:p>
        </p:txBody>
      </p:sp>
    </p:spTree>
    <p:extLst>
      <p:ext uri="{BB962C8B-B14F-4D97-AF65-F5344CB8AC3E}">
        <p14:creationId xmlns:p14="http://schemas.microsoft.com/office/powerpoint/2010/main" val="1780259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22BE3-55D5-7AF9-614A-F486913FD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0E61E1-4DDF-4D2B-CDD0-F060968C5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1664"/>
            <a:ext cx="7772400" cy="32146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01C5B0-7CA7-49B1-3954-994AB828A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127226"/>
            <a:ext cx="73406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163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0F404-C580-35F4-4077-45EC1725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F70A22-DCD7-5049-36D8-08EA3BCC5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09" y="0"/>
            <a:ext cx="7108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944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FB018-70DB-2E48-BC61-39C809AD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0BA31-8D3E-13E8-7969-277AF2B65C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05564"/>
            <a:ext cx="7038977" cy="52217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AE16E3-CF64-84AD-9342-FE4EE936D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017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5AB329-655A-2875-5F0F-27F8A6063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26779"/>
            <a:ext cx="7772400" cy="30779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27D9F0D-5389-94E6-A3CD-D240C5093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28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2F7D4-205B-B594-5E30-E76CF9FC3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9FCCB8-843F-3774-3B1C-306F7CB5E5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064" y="2342320"/>
            <a:ext cx="9118936" cy="3292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194B67-2FAB-F8AA-C2FE-86BC0C09A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6615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E23EF-18F4-9855-C86D-E093F50C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9D6008-59BE-1E6D-B08D-0F89C8F6CB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7942" y="2176669"/>
            <a:ext cx="7668115" cy="2504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2EE7C8-FDCF-11AC-3D2F-8C0A648C1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400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B27A4-1F0F-313A-C211-29049F4F1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AE7F81-B8FA-F488-C6F7-7061D3EF5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0435"/>
            <a:ext cx="4389120" cy="28835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C89763-4241-F16B-BF37-1A8B46D52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2" y="932182"/>
            <a:ext cx="4389120" cy="28400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55C860-4906-31C9-17CB-034550EB2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3913909"/>
            <a:ext cx="4389120" cy="294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712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04D93-34A4-9DA3-5586-A2469F569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940E3E-8F8D-969B-3867-E6BE21ED3B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6038" y="1051053"/>
            <a:ext cx="6403394" cy="56872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FCA2FD5-5B77-03C0-DB02-44C8EB77A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19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C4DF-32A1-87AC-9D0A-347B5162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B64F17-0D4E-C025-2FEB-0C9B520D0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1876"/>
            <a:ext cx="7772400" cy="651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090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D1D88-3095-80F5-CAF4-4978A361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9970CB-6060-D847-CE09-F23E0D154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72751"/>
            <a:ext cx="7772400" cy="25124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E6F4E6-A8A4-3783-4C9A-621138DA1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582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FE479-198F-1894-62CA-332B4E1E6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A06CCB-ACD3-991F-CBBF-427F2B22B7D4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increase 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02060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A06CCB-ACD3-991F-CBBF-427F2B22B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450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65162-95A5-DCEF-7848-394DEAA45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CB870-15E4-83A5-8B28-DB2954EE70BA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3169</m:t>
                    </m:r>
                  </m:oMath>
                </a14:m>
                <a:r>
                  <a:rPr lang="en-US" dirty="0"/>
                  <a:t>  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dirty="0"/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𝑝𝑜𝑜𝑙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0.0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590</m:t>
                    </m:r>
                  </m:oMath>
                </a14:m>
                <a:r>
                  <a:rPr lang="en-US" dirty="0"/>
                  <a:t>  for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/>
                  <a:t> 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−1.2951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</a:t>
                </a:r>
              </a:p>
              <a:p>
                <a:pPr algn="ctr"/>
                <a:r>
                  <a:rPr lang="en-US" dirty="0"/>
                  <a:t>A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−1.2951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0.7722</m:t>
                    </m:r>
                    <m:r>
                      <a:rPr lang="en-US" sz="20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0.7722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CB870-15E4-83A5-8B28-DB2954EE7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47928E8-C2D1-56AE-F0F7-190842AF3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007" y="356631"/>
            <a:ext cx="3445255" cy="111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404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049FF-7677-7A0C-9D12-4B1FF4C6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CC939D-9746-87D1-F35B-A93D0F978520}"/>
              </a:ext>
            </a:extLst>
          </p:cNvPr>
          <p:cNvSpPr txBox="1"/>
          <p:nvPr/>
        </p:nvSpPr>
        <p:spPr>
          <a:xfrm>
            <a:off x="2528710" y="2856089"/>
            <a:ext cx="2647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New Approach RUN 2</a:t>
            </a:r>
          </a:p>
        </p:txBody>
      </p:sp>
    </p:spTree>
    <p:extLst>
      <p:ext uri="{BB962C8B-B14F-4D97-AF65-F5344CB8AC3E}">
        <p14:creationId xmlns:p14="http://schemas.microsoft.com/office/powerpoint/2010/main" val="33068358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08530-18B3-3FCA-B961-E0BE111D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E413EC-BABE-D140-DCD9-8785601117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1948693"/>
            <a:ext cx="7772400" cy="29606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848344-BF36-79F3-6D22-7ECB29034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127226"/>
            <a:ext cx="73406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5912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25FA4-B685-AD44-8F12-4AA33D2C7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D03381-787B-7345-19E9-822AA182C9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59154" y="0"/>
            <a:ext cx="70256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444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525F8-E1E4-AFE5-6A0A-E1A26980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C4D896-7226-3218-4376-CAB8EC435F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01675"/>
            <a:ext cx="7038977" cy="52295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0229865-8F89-A30C-D8DA-18B6480C8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5184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8A90D-8960-A2E3-D593-54598B36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E13686-568B-9428-8AED-984FCF802E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3012" y="1888143"/>
            <a:ext cx="6877988" cy="36412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CA3A43-1BCA-66C8-415E-48C9EAAF0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3201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D324-8E30-AB42-0920-9E136F8DA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1BACC6-0BCE-659C-5BDB-7FCF228D16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94" y="1782921"/>
            <a:ext cx="8968875" cy="32921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069B81-1E05-41D5-73DA-0A048BE89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0662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82EE7-D019-63E0-1026-1E107010C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F7E247-1100-6B13-9A85-29DB7E2DA7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7574" y="2359919"/>
            <a:ext cx="8828853" cy="28644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E14B50-52E0-4A21-A68A-F2827A40A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50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771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83DFE-F43E-E9DE-05EF-5DA925A9A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DFC808-B438-7E93-3402-0243DFA743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47" y="910435"/>
            <a:ext cx="4385625" cy="28835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3190CE-1894-1B0D-ACF7-0BA0846049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8190" y="932182"/>
            <a:ext cx="4382503" cy="28400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9EEC00-E288-3AC0-5A65-C58B86840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3834264"/>
            <a:ext cx="4389120" cy="293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432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6C2B7-8B8A-256E-76DF-A36DCBE9A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1EC3BC-0548-EEC5-DFEA-77FDB9401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6038" y="1066851"/>
            <a:ext cx="6403394" cy="56556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33E9456-AA7B-F598-EB83-75DCD2261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8663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C3F5F-29CD-C4A5-F5BB-077D5FEAF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A9E943-BFA8-6A91-14A0-07F4CD1C4B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01576" y="171876"/>
            <a:ext cx="7740848" cy="651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448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0D88F-E485-36D4-3174-D26D24612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7B505E-C02F-B3D8-D36D-E468811589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5490030" y="1183341"/>
            <a:ext cx="4805444" cy="13504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D068CA-9439-6450-C85A-03B4AC754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771" y="2275133"/>
            <a:ext cx="6360459" cy="2035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15DC92-836B-E184-3C86-06D807318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26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B775-383A-D2CF-003D-0C287EAB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D32EAB-8A80-F52E-CE92-152ED28B3FB1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increase in </a:t>
                </a:r>
                <a:r>
                  <a:rPr lang="en-US" kern="100" dirty="0">
                    <a:solidFill>
                      <a:srgbClr val="011893"/>
                    </a:solidFill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02060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C580E8-9169-AA4D-ED98-117D266F0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62409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9F504-24A9-684B-4C6F-FBB38E470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10F48F-281D-882D-0194-103E1B624C03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3169</m:t>
                    </m:r>
                  </m:oMath>
                </a14:m>
                <a:r>
                  <a:rPr lang="en-US" dirty="0"/>
                  <a:t>  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𝑟𝑎𝑛𝑘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0.0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590</m:t>
                    </m:r>
                  </m:oMath>
                </a14:m>
                <a:r>
                  <a:rPr lang="en-US" dirty="0"/>
                  <a:t>  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With no interaction term, the trade‑off at constant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/>
                  <a:t> 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0.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1863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/>
                <a:r>
                  <a:rPr lang="en-US" dirty="0"/>
                  <a:t>is offset by</a:t>
                </a:r>
              </a:p>
              <a:p>
                <a:pPr algn="ctr"/>
                <a:r>
                  <a:rPr lang="en-US" dirty="0"/>
                  <a:t>A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1863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5.38</m:t>
                    </m:r>
                    <m:r>
                      <a:rPr lang="en-US" sz="20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−5.38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0854AB-805D-E56B-6DCB-06F3C076F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7B1D708-5E9A-A980-9062-4F2192F94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885" y="478044"/>
            <a:ext cx="3470686" cy="111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9955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FB0B2-FE69-2161-5844-629148566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9414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4262</TotalTime>
  <Words>1661</Words>
  <Application>Microsoft Macintosh PowerPoint</Application>
  <PresentationFormat>On-screen Show (4:3)</PresentationFormat>
  <Paragraphs>153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Aptos</vt:lpstr>
      <vt:lpstr>Aptos Display</vt:lpstr>
      <vt:lpstr>Arial</vt:lpstr>
      <vt:lpstr>Cambria Math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Levine, Charles R CTR</dc:creator>
  <cp:lastModifiedBy>Levine, Charles R CTR</cp:lastModifiedBy>
  <cp:revision>16</cp:revision>
  <cp:lastPrinted>2026-02-09T19:02:00Z</cp:lastPrinted>
  <dcterms:created xsi:type="dcterms:W3CDTF">2026-01-28T22:43:07Z</dcterms:created>
  <dcterms:modified xsi:type="dcterms:W3CDTF">2026-02-09T19:50:38Z</dcterms:modified>
</cp:coreProperties>
</file>