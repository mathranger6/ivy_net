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9"/>
  </p:notesMasterIdLst>
  <p:sldIdLst>
    <p:sldId id="412" r:id="rId2"/>
    <p:sldId id="324" r:id="rId3"/>
    <p:sldId id="283" r:id="rId4"/>
    <p:sldId id="327" r:id="rId5"/>
    <p:sldId id="416" r:id="rId6"/>
    <p:sldId id="331" r:id="rId7"/>
    <p:sldId id="316" r:id="rId8"/>
    <p:sldId id="284" r:id="rId9"/>
    <p:sldId id="285" r:id="rId10"/>
    <p:sldId id="290" r:id="rId11"/>
    <p:sldId id="318" r:id="rId12"/>
    <p:sldId id="289" r:id="rId13"/>
    <p:sldId id="299" r:id="rId14"/>
    <p:sldId id="300" r:id="rId15"/>
    <p:sldId id="322" r:id="rId16"/>
    <p:sldId id="325" r:id="rId17"/>
    <p:sldId id="339" r:id="rId18"/>
    <p:sldId id="340" r:id="rId19"/>
    <p:sldId id="341" r:id="rId20"/>
    <p:sldId id="342" r:id="rId21"/>
    <p:sldId id="343" r:id="rId22"/>
    <p:sldId id="344" r:id="rId23"/>
    <p:sldId id="417" r:id="rId24"/>
    <p:sldId id="334" r:id="rId25"/>
    <p:sldId id="335" r:id="rId26"/>
    <p:sldId id="337" r:id="rId27"/>
    <p:sldId id="338" r:id="rId28"/>
    <p:sldId id="394" r:id="rId29"/>
    <p:sldId id="395" r:id="rId30"/>
    <p:sldId id="396" r:id="rId31"/>
    <p:sldId id="398" r:id="rId32"/>
    <p:sldId id="400" r:id="rId33"/>
    <p:sldId id="401" r:id="rId34"/>
    <p:sldId id="402" r:id="rId35"/>
    <p:sldId id="403" r:id="rId36"/>
    <p:sldId id="407" r:id="rId37"/>
    <p:sldId id="405" r:id="rId38"/>
    <p:sldId id="406" r:id="rId39"/>
    <p:sldId id="408" r:id="rId40"/>
    <p:sldId id="409" r:id="rId41"/>
    <p:sldId id="346" r:id="rId42"/>
    <p:sldId id="349" r:id="rId43"/>
    <p:sldId id="348" r:id="rId44"/>
    <p:sldId id="350" r:id="rId45"/>
    <p:sldId id="352" r:id="rId46"/>
    <p:sldId id="353" r:id="rId47"/>
    <p:sldId id="354" r:id="rId48"/>
    <p:sldId id="355" r:id="rId49"/>
    <p:sldId id="359" r:id="rId50"/>
    <p:sldId id="357" r:id="rId51"/>
    <p:sldId id="358" r:id="rId52"/>
    <p:sldId id="360" r:id="rId53"/>
    <p:sldId id="361" r:id="rId54"/>
    <p:sldId id="362" r:id="rId55"/>
    <p:sldId id="411" r:id="rId56"/>
    <p:sldId id="364" r:id="rId57"/>
    <p:sldId id="366" r:id="rId58"/>
    <p:sldId id="368" r:id="rId59"/>
    <p:sldId id="369" r:id="rId60"/>
    <p:sldId id="370" r:id="rId61"/>
    <p:sldId id="371" r:id="rId62"/>
    <p:sldId id="375" r:id="rId63"/>
    <p:sldId id="373" r:id="rId64"/>
    <p:sldId id="374" r:id="rId65"/>
    <p:sldId id="376" r:id="rId66"/>
    <p:sldId id="377" r:id="rId67"/>
    <p:sldId id="415" r:id="rId6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871"/>
    <p:restoredTop sz="94725"/>
  </p:normalViewPr>
  <p:slideViewPr>
    <p:cSldViewPr snapToGrid="0">
      <p:cViewPr varScale="1">
        <p:scale>
          <a:sx n="144" d="100"/>
          <a:sy n="144" d="100"/>
        </p:scale>
        <p:origin x="9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E70BD6-0CEF-D44A-A610-5E2A9FD7558D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CE250F-0D5D-B44C-ADA0-E05DC33FC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638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1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319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72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100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3/3/26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202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485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3/3/26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652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448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5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4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901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7A9070-CDB3-F94E-8A1D-A649529BCBC1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7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67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7B66B-2923-E4A7-0A3D-18F33A97F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D4A671-B034-E3C9-6422-09013E2E0148}"/>
              </a:ext>
            </a:extLst>
          </p:cNvPr>
          <p:cNvSpPr txBox="1"/>
          <p:nvPr/>
        </p:nvSpPr>
        <p:spPr>
          <a:xfrm>
            <a:off x="1549764" y="1608202"/>
            <a:ext cx="54319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Ford Antenna Medium" panose="02000505000000020004" pitchFamily="2" charset="0"/>
              </a:rPr>
              <a:t>RUN 1  - Using </a:t>
            </a:r>
          </a:p>
          <a:p>
            <a:pPr algn="ctr"/>
            <a:endParaRPr lang="en-US" sz="3200" dirty="0">
              <a:latin typeface="Ford Antenna Medium" panose="02000505000000020004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629BF-6F30-17BD-A9A3-21A5C881B3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705005"/>
              </p:ext>
            </p:extLst>
          </p:nvPr>
        </p:nvGraphicFramePr>
        <p:xfrm>
          <a:off x="1888298" y="3429000"/>
          <a:ext cx="475488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396371366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z_tb_ratio_bwd_snr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99500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z_pool_minus_mean_snr_bwd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84190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z_star_pool_interaction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6401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53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42F91-9C22-44DA-A6FA-011D7F23C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C33E5A-03AC-B4C9-C368-5C8A3B4B9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64A2E6-A211-B69B-B6E3-47085E59950D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𝑟𝑎𝑡𝑖𝑜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𝑏𝑤𝑑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</m:oMath>
                  </m:oMathPara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𝑝𝑜𝑜𝑙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𝑚𝑖𝑛𝑢𝑠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𝑚𝑒𝑎𝑛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𝑏𝑤𝑑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</a:p>
              <a:p>
                <a:pPr algn="ctr">
                  <a:lnSpc>
                    <a:spcPct val="150000"/>
                  </a:lnSpc>
                </a:pPr>
                <a:endParaRPr lang="en-US" sz="2400" dirty="0">
                  <a:solidFill>
                    <a:srgbClr val="0432FF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𝑠𝑡𝑎𝑟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𝑝𝑜𝑜𝑙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𝑖𝑛𝑡𝑒𝑟𝑎𝑐𝑡𝑖𝑜𝑛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64A2E6-A211-B69B-B6E3-47085E599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28623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3677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0F404-C580-35F4-4077-45EC17254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AF70A22-DCD7-5049-36D8-08EA3BCC5D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6561" y="115296"/>
            <a:ext cx="6661164" cy="66274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477C92-E931-C92C-D56E-9AE967CD90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38325"/>
            <a:ext cx="4031857" cy="20818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353010-2AEB-1237-D73A-28D99DE316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33731" y="4474329"/>
            <a:ext cx="3395749" cy="210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294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F81CA-97EA-59D7-F2B8-AF398BFC2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45EAB4-6D1B-65CA-61F5-F53FA9F5FC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100" y="58069"/>
            <a:ext cx="7084087" cy="67418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DE7271-826E-983C-9A9F-970EF3CE21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37779"/>
            <a:ext cx="4031857" cy="20829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E3BD3C-E0E2-7C2D-967A-22D3FB47E9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83900" y="4510601"/>
            <a:ext cx="3012702" cy="185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456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79AD3D-DEB3-E7DA-460D-D87C3D79D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39675"/>
            <a:ext cx="7772400" cy="457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028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A60945-ABB5-4416-2A2C-B6E15DE85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4AF47D-DA5E-7C61-F3F9-45E477AA3A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1420" y="0"/>
            <a:ext cx="6991446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4DDC913-6DAA-6096-799B-134367A3B3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42611"/>
            <a:ext cx="4031857" cy="207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21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FB018-70DB-2E48-BC61-39C809AD1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C0BA31-8D3E-13E8-7969-277AF2B65C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07189" y="1318883"/>
            <a:ext cx="6937045" cy="519508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FAE16E3-CF64-84AD-9342-FE4EE936D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09" y="331600"/>
            <a:ext cx="7682005" cy="40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901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2F7D4-205B-B594-5E30-E76CF9FC3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9FCCB8-843F-3774-3B1C-306F7CB5E5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2136" y="2342320"/>
            <a:ext cx="8864792" cy="32921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194B67-2FAB-F8AA-C2FE-86BC0C09A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3245"/>
            <a:ext cx="68580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661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E23EF-18F4-9855-C86D-E093F50CB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9D6008-59BE-1E6D-B08D-0F89C8F6CB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6584" y="2180922"/>
            <a:ext cx="7630831" cy="24961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2EE7C8-FDCF-11AC-3D2F-8C0A648C1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249" y="249133"/>
            <a:ext cx="61595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340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D1D88-3095-80F5-CAF4-4978A361A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E6F4E6-A8A4-3783-4C9A-621138DA1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37072"/>
            <a:ext cx="7772400" cy="4829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065962-3A99-4170-E320-CAB0E5F754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5105357"/>
            <a:ext cx="7772400" cy="11684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20C742-39F2-54CB-4E05-515C45DF96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8450" y="2209800"/>
            <a:ext cx="60071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582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04D93-34A4-9DA3-5586-A2469F569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940E3E-8F8D-969B-3867-E6BE21ED3B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26038" y="1240294"/>
            <a:ext cx="6403394" cy="53087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FCA2FD5-5B77-03C0-DB02-44C8EB77A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5" y="213373"/>
            <a:ext cx="75311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01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FC4DF-32A1-87AC-9D0A-347B51620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5B64F17-0D4E-C025-2FEB-0C9B520D06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25143"/>
            <a:ext cx="7772400" cy="6407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609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FE479-198F-1894-62CA-332B4E1E6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A06CCB-ACD3-991F-CBBF-427F2B22B7D4}"/>
                  </a:ext>
                </a:extLst>
              </p:cNvPr>
              <p:cNvSpPr txBox="1"/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To quantify the two effects with respect to each other: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 the 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fitted model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𝐻𝑅</m:t>
                              </m:r>
                            </m:e>
                          </m:d>
                        </m:e>
                      </m:func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3∗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with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and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 effect of x at a given y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 effect of y at a given x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 simple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trade‑off rate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(how much x you need to change to offset y) is therefore:</a:t>
                </a:r>
                <a:endParaRPr lang="en-US" b="0" i="0" kern="100" dirty="0">
                  <a:solidFill>
                    <a:srgbClr val="011893"/>
                  </a:solidFill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kern="100" smtClean="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 there’s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 interaction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 = 0)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then it simplifies to: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−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2 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So, a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+1 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increase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		is equivalent to a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:r>
                  <a:rPr lang="en-US" kern="100" dirty="0">
                    <a:solidFill>
                      <a:srgbClr val="002060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change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A06CCB-ACD3-991F-CBBF-427F2B22B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blipFill>
                <a:blip r:embed="rId2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645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65162-95A5-DCEF-7848-394DEAA45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BCB870-15E4-83A5-8B28-DB2954EE70BA}"/>
                  </a:ext>
                </a:extLst>
              </p:cNvPr>
              <p:cNvSpPr txBox="1"/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r>
                  <a:rPr lang="en-US" b="1" dirty="0"/>
                  <a:t>Using the generated coefficient table: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𝑐𝑢𝑚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 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2455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𝑝𝑜𝑜𝑙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3596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With no interaction term, the trade‑off at constant</a:t>
                </a:r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𝑯𝑹</m:t>
                    </m:r>
                  </m:oMath>
                </a14:m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:r>
                  <a:rPr lang="en-US" b="1" dirty="0"/>
                  <a:t>is: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𝑝𝑜𝑜𝑙</m:t>
                              </m:r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−1.4649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r>
                  <a:rPr lang="en-US" b="1" dirty="0"/>
                  <a:t>Interpretation (z‑score units):</a:t>
                </a:r>
                <a:endParaRPr lang="en-US" dirty="0"/>
              </a:p>
              <a:p>
                <a:pPr algn="ctr"/>
                <a:r>
                  <a:rPr lang="en-US" dirty="0"/>
                  <a:t>A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is offset by a</a:t>
                </a:r>
              </a:p>
              <a:p>
                <a:pPr algn="ctr"/>
                <a:r>
                  <a:rPr lang="en-US" dirty="0"/>
                  <a:t> 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−1.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4649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 </a:t>
                </a:r>
              </a:p>
              <a:p>
                <a:pPr algn="ctr"/>
                <a:r>
                  <a:rPr lang="en-US" dirty="0"/>
                  <a:t>to keep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𝐻𝑅</m:t>
                    </m:r>
                  </m:oMath>
                </a14:m>
                <a:r>
                  <a:rPr lang="en-US" dirty="0"/>
                  <a:t> constant.</a:t>
                </a:r>
              </a:p>
              <a:p>
                <a:endParaRPr lang="en-US" b="1" dirty="0"/>
              </a:p>
              <a:p>
                <a:r>
                  <a:rPr lang="en-US" b="1" dirty="0"/>
                  <a:t>Equivalently: 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000" dirty="0"/>
                  <a:t>is about 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0.6826 </m:t>
                    </m:r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>
                    <a:solidFill>
                      <a:srgbClr val="0432FF"/>
                    </a:solidFill>
                  </a:rPr>
                  <a:t> </a:t>
                </a:r>
                <a:endParaRPr lang="en-US" sz="2000" dirty="0">
                  <a:solidFill>
                    <a:srgbClr val="002060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the effect of 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en-US" dirty="0"/>
                  <a:t>  </a:t>
                </a:r>
              </a:p>
              <a:p>
                <a:r>
                  <a:rPr lang="en-US" b="1" dirty="0"/>
                  <a:t>Since</a:t>
                </a:r>
                <a:endParaRPr lang="en-US" b="1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𝑝𝑜𝑜𝑙</m:t>
                              </m:r>
                            </m:sub>
                          </m:sSub>
                        </m:den>
                      </m:f>
                      <m:r>
                        <a:rPr lang="en-US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−0.6826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BCB870-15E4-83A5-8B28-DB2954EE7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blipFill>
                <a:blip r:embed="rId2"/>
                <a:stretch>
                  <a:fillRect l="-570" t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47928E8-C2D1-56AE-F0F7-190842AF34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54007" y="423719"/>
            <a:ext cx="3445255" cy="97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440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6830E-11D2-E76A-CFB7-F920EB2AC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AF5912-ACC7-7E1A-803B-3C86C98A0478}"/>
              </a:ext>
            </a:extLst>
          </p:cNvPr>
          <p:cNvSpPr txBox="1"/>
          <p:nvPr/>
        </p:nvSpPr>
        <p:spPr>
          <a:xfrm>
            <a:off x="1549764" y="1608202"/>
            <a:ext cx="54319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Ford Antenna Medium" panose="02000505000000020004" pitchFamily="2" charset="0"/>
              </a:rPr>
              <a:t>RUN 2  - Using </a:t>
            </a:r>
          </a:p>
          <a:p>
            <a:pPr algn="ctr"/>
            <a:endParaRPr lang="en-US" sz="3200" dirty="0">
              <a:latin typeface="Ford Antenna Medium" panose="02000505000000020004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A2A60EA-10FD-51C2-54DE-D30235A459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110347"/>
              </p:ext>
            </p:extLst>
          </p:nvPr>
        </p:nvGraphicFramePr>
        <p:xfrm>
          <a:off x="1888298" y="3429000"/>
          <a:ext cx="475488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396371366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z_tb_ratio_rank_norm_snr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99500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z_pool_tb_ratio_mean_snr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84190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z_rank_pool_interaction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6401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8690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E2F4E-156D-3FDB-8A70-A7DDE23CC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8B0CC9-F7C9-BA52-1E03-C1D3BBFE1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549D6E3-BC5A-8237-0A8A-D30E1A022046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𝑟𝑎𝑡𝑖𝑜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𝑟𝑎𝑛𝑘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𝑛𝑜𝑟𝑚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</m:oMath>
                  </m:oMathPara>
                </a14:m>
                <a:endParaRPr lang="en-US" sz="2400" dirty="0"/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𝑝𝑜𝑜𝑙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𝑟𝑎𝑡𝑖𝑜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𝑚𝑒𝑎𝑛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𝑟𝑎𝑛𝑘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𝑝𝑜𝑜𝑙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𝑖𝑛𝑡𝑒𝑟𝑎𝑐𝑡𝑖𝑜𝑛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549D6E3-BC5A-8237-0A8A-D30E1A022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2862322"/>
              </a:xfrm>
              <a:prstGeom prst="rect">
                <a:avLst/>
              </a:prstGeom>
              <a:blipFill>
                <a:blip r:embed="rId3"/>
                <a:stretch>
                  <a:fillRect b="-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8073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E6A3B-D4D2-E999-B3B3-54681DD23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42FEE8D-37BF-9E52-1608-227F0ABAE0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3372" y="0"/>
            <a:ext cx="7047542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CCC468-DA50-27C5-FAAA-AC263BEB43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8342" y="1107452"/>
            <a:ext cx="4029258" cy="21435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D8DE34-2C3D-6952-06E5-E7AE02E66E0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82864" y="4441633"/>
            <a:ext cx="3607517" cy="2174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773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01721-E069-271A-C331-34C5593D3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3FEF4C-090D-9EFC-B828-443644A98E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1643" y="40412"/>
            <a:ext cx="7051001" cy="67771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07BAE8-8D43-6EF4-D564-75E9AA7939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25627"/>
            <a:ext cx="4031857" cy="21072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470C22-D446-76AB-3CD2-3658D47C56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77719" y="4429084"/>
            <a:ext cx="3604483" cy="219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595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6A381E6-F4CE-3EEA-A0A1-0CC9AE310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835566-F2B9-5DCC-082A-105483821B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1643" y="7360"/>
            <a:ext cx="7051001" cy="68432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EC04B47-2944-808F-108C-CA13D57184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17186"/>
            <a:ext cx="4031857" cy="212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948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4EDDF-D83E-A5ED-4616-34A20E6D2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F365C3-7757-1E71-7F49-18BC50F3D7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71135" y="1320804"/>
            <a:ext cx="7009152" cy="519124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F436716-4CB2-0E86-9C58-4DFB18021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09" y="331600"/>
            <a:ext cx="7682005" cy="40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2145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D11C3-015F-B676-70E1-5D1C88BBA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DA2EBF-65A9-4BB1-4A2B-6863A6A4B4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759" y="1804767"/>
            <a:ext cx="8953544" cy="32484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9001A36-745D-4D45-0492-80657D2B8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3245"/>
            <a:ext cx="68580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3952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0FF02-D86B-6588-BABB-195C368CD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A0F288-468B-361A-0361-25CE8D79D8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39195" y="2425700"/>
            <a:ext cx="8665610" cy="27876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8A7F93-F366-6D50-B762-C66E49263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250" y="249133"/>
            <a:ext cx="61595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1286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C48B9-D5ED-62D1-A66D-3FAC7DD79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584BE0-76F7-9B86-3496-8276CE7AB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37072"/>
            <a:ext cx="7772400" cy="4829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9F1906-0046-CB5A-ABE2-D398D97396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5105357"/>
            <a:ext cx="7772400" cy="11684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13A28E-7DAC-23DF-0DFA-1E2011022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8450" y="2209800"/>
            <a:ext cx="60071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094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D2C99-72B1-EE6D-1724-F1466D25F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5535A8-031D-9AE7-17AE-772626B2C1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63876" y="1240294"/>
            <a:ext cx="6327718" cy="53087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A1B1301-E857-D70B-647B-D25F00CFE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5" y="213373"/>
            <a:ext cx="75311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2267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46FFE-C64A-1102-EC0F-05E90E247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6A58A36-17B9-23F2-1FA1-AF6B8FD8F4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64135"/>
            <a:ext cx="7772400" cy="632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4490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6D778-071A-4021-EDEF-950A40B4B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CF701A-9008-288B-C676-293CAEAF3ABF}"/>
                  </a:ext>
                </a:extLst>
              </p:cNvPr>
              <p:cNvSpPr txBox="1"/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To quantify the two effects with respect to each other: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 the 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fitted model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𝐻𝑅</m:t>
                              </m:r>
                            </m:e>
                          </m:d>
                        </m:e>
                      </m:func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3∗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with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𝑟𝑎𝑛𝑘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𝑛𝑜𝑟𝑚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and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 effect of x at a given y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 effect of y at a given x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 simple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trade‑off rate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(how much x you need to change to offset y) is therefore:</a:t>
                </a:r>
                <a:endParaRPr lang="en-US" b="0" i="0" kern="100" dirty="0">
                  <a:solidFill>
                    <a:srgbClr val="011893"/>
                  </a:solidFill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kern="100" smtClean="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 there’s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 interaction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 = 0)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 it simplifies to: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−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2 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So, a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+1 </m:t>
                    </m:r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increase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		is equivalent to a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02060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 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change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𝑟𝑎𝑛𝑘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𝑛𝑜𝑟𝑚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CF701A-9008-288B-C676-293CAEAF3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blipFill>
                <a:blip r:embed="rId2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26378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D90D2-0379-0086-0A6C-5A8FAD295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6722A0-42CB-567A-3D97-96F5604F7E81}"/>
                  </a:ext>
                </a:extLst>
              </p:cNvPr>
              <p:cNvSpPr txBox="1"/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r>
                  <a:rPr lang="en-US" b="1" dirty="0"/>
                  <a:t>Using the generated coefficient table: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𝑟𝑎𝑛𝑘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 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3620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𝑟𝑎𝑛𝑘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𝑛𝑜𝑟𝑚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𝑝𝑜𝑜𝑙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5123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With no interaction term, the trade‑off at constant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𝑯𝑹</m:t>
                    </m:r>
                  </m:oMath>
                </a14:m>
                <a:r>
                  <a:rPr lang="en-US" b="1" dirty="0"/>
                  <a:t> is: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𝑝𝑜𝑜𝑙</m:t>
                              </m:r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𝑟𝑎𝑛𝑘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−1.4152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r>
                  <a:rPr lang="en-US" b="1" dirty="0"/>
                  <a:t>Interpretation (z‑score units):</a:t>
                </a:r>
                <a:endParaRPr lang="en-US" dirty="0"/>
              </a:p>
              <a:p>
                <a:pPr algn="ctr"/>
                <a:r>
                  <a:rPr lang="en-US" dirty="0"/>
                  <a:t>A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is offset by a</a:t>
                </a:r>
              </a:p>
              <a:p>
                <a:pPr algn="ctr"/>
                <a:r>
                  <a:rPr lang="en-US" dirty="0"/>
                  <a:t> 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−1.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4152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𝑟𝑎𝑛𝑘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𝑛𝑜𝑟𝑚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to keep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𝐻𝑅</m:t>
                    </m:r>
                  </m:oMath>
                </a14:m>
                <a:r>
                  <a:rPr lang="en-US" dirty="0"/>
                  <a:t> constant.</a:t>
                </a:r>
              </a:p>
              <a:p>
                <a:endParaRPr lang="en-US" b="1" dirty="0"/>
              </a:p>
              <a:p>
                <a:r>
                  <a:rPr lang="en-US" b="1" dirty="0"/>
                  <a:t>Equivalently: 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𝑟𝑎𝑛𝑘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𝑛𝑜𝑟𝑚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 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sz="2000" dirty="0"/>
                  <a:t>is about 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0.7066</m:t>
                    </m:r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>
                    <a:solidFill>
                      <a:srgbClr val="0432FF"/>
                    </a:solidFill>
                  </a:rPr>
                  <a:t> </a:t>
                </a:r>
                <a:endParaRPr lang="en-US" sz="2000" dirty="0">
                  <a:solidFill>
                    <a:srgbClr val="002060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the effect of 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en-US" dirty="0"/>
                  <a:t>  </a:t>
                </a:r>
              </a:p>
              <a:p>
                <a:r>
                  <a:rPr lang="en-US" b="1" dirty="0"/>
                  <a:t>Since</a:t>
                </a:r>
                <a:endParaRPr lang="en-US" b="1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𝑟𝑎𝑛𝑘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𝑝𝑜𝑜𝑙</m:t>
                              </m:r>
                            </m:sub>
                          </m:sSub>
                        </m:den>
                      </m:f>
                      <m:r>
                        <a:rPr lang="en-US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−0.7066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6722A0-42CB-567A-3D97-96F5604F7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blipFill>
                <a:blip r:embed="rId2"/>
                <a:stretch>
                  <a:fillRect l="-570" t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8B9F6B9-E871-9819-468B-01C3EB116B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54007" y="440607"/>
            <a:ext cx="3445255" cy="94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0635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3852683-A722-37EB-7A50-DC570E0AC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8899FB-0955-C103-CD32-5E18B7D256A5}"/>
              </a:ext>
            </a:extLst>
          </p:cNvPr>
          <p:cNvSpPr txBox="1"/>
          <p:nvPr/>
        </p:nvSpPr>
        <p:spPr>
          <a:xfrm>
            <a:off x="1549764" y="1608202"/>
            <a:ext cx="54319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Ford Antenna Medium" panose="02000505000000020004" pitchFamily="2" charset="0"/>
              </a:rPr>
              <a:t>RUN 9  - Using </a:t>
            </a:r>
          </a:p>
          <a:p>
            <a:pPr algn="ctr"/>
            <a:endParaRPr lang="en-US" sz="3200" dirty="0">
              <a:latin typeface="Ford Antenna Medium" panose="02000505000000020004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0C9C88-42A2-68EF-C989-D129972EC92C}"/>
              </a:ext>
            </a:extLst>
          </p:cNvPr>
          <p:cNvGraphicFramePr>
            <a:graphicFrameLocks noGrp="1"/>
          </p:cNvGraphicFramePr>
          <p:nvPr/>
        </p:nvGraphicFramePr>
        <p:xfrm>
          <a:off x="1888298" y="3429000"/>
          <a:ext cx="475488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396371366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z_prestige_mean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99500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z_cum_tb_rcvd_ratio_snr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84190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z_prestige_tb_interaction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640111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3B70C2E-0A43-1356-70CF-1E89FC70AA82}"/>
              </a:ext>
            </a:extLst>
          </p:cNvPr>
          <p:cNvSpPr txBox="1"/>
          <p:nvPr/>
        </p:nvSpPr>
        <p:spPr>
          <a:xfrm>
            <a:off x="1549764" y="5097567"/>
            <a:ext cx="54319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Ford Antenna Medium" panose="02000505000000020004" pitchFamily="2" charset="0"/>
              </a:rPr>
              <a:t>With </a:t>
            </a:r>
            <a:r>
              <a:rPr lang="en-US" sz="2400" dirty="0" err="1">
                <a:latin typeface="Ford Antenna Medium" panose="02000505000000020004" pitchFamily="2" charset="0"/>
              </a:rPr>
              <a:t>Ygs</a:t>
            </a:r>
            <a:r>
              <a:rPr lang="en-US" sz="2400" dirty="0">
                <a:latin typeface="Ford Antenna Medium" panose="02000505000000020004" pitchFamily="2" charset="0"/>
              </a:rPr>
              <a:t> 2002-2011, IN, AR, FA Only</a:t>
            </a:r>
          </a:p>
          <a:p>
            <a:pPr algn="ctr"/>
            <a:endParaRPr lang="en-US" sz="2400" dirty="0">
              <a:latin typeface="Ford Antenna Medium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6199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1E491B3-519A-50BF-5B86-45E033B8E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3B260D-332B-D298-38BE-877A8C58E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62A4A3-C354-9500-E313-A3BCB4C25951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𝑝𝑟𝑒𝑠𝑡𝑖𝑔𝑒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𝑚𝑒𝑎𝑛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𝑐𝑢𝑚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𝑟𝑐𝑣𝑑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𝑟𝑎𝑡𝑖𝑜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𝑝𝑟𝑒𝑠𝑡𝑖𝑔𝑒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𝑖𝑛𝑡𝑒𝑟𝑎𝑐𝑡𝑖𝑜𝑛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62A4A3-C354-9500-E313-A3BCB4C25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2862322"/>
              </a:xfrm>
              <a:prstGeom prst="rect">
                <a:avLst/>
              </a:prstGeom>
              <a:blipFill>
                <a:blip r:embed="rId3"/>
                <a:stretch>
                  <a:fillRect b="-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91842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6FCA659-3FA7-0767-F0BD-03B6FBF6B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CA7D44-A4F0-1383-2F62-8BE2E3490E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15559" y="124618"/>
            <a:ext cx="6603168" cy="66087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372815-7D95-DB89-806F-B34589E068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47062"/>
            <a:ext cx="4031857" cy="20643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3D9411-D089-C563-6368-DFF4199B4D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24600" y="4497458"/>
            <a:ext cx="3019894" cy="184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9039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292428F-0953-9E16-E713-3D4EADA07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BA0BEB-A345-D4FD-95D5-4E3807C0F0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4925" y="151610"/>
            <a:ext cx="7036830" cy="65547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EDBFDB-ACCA-C7EA-BC91-6976AA8E44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56867" y="1153887"/>
            <a:ext cx="3992208" cy="20506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76A1A4-E5B9-5D27-217C-E797F62420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26183" y="4420233"/>
            <a:ext cx="3203457" cy="199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8000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38F259C-4263-253E-BA01-E9E139DDD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188DD0-A1BD-523B-58A4-3B25948809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8331" y="47771"/>
            <a:ext cx="6997625" cy="67624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5085AE-0D57-B267-F2A1-5B7EAED7EB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62659" y="1156791"/>
            <a:ext cx="3980624" cy="20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913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69AE3D6-F938-2E0A-1803-F8E3C6E83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092382-3A2E-35C2-DD47-BCFE0F4E13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14411" y="1328851"/>
            <a:ext cx="6922600" cy="517514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2E71450-F24D-349C-214C-71BC9674D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09" y="331600"/>
            <a:ext cx="7682005" cy="40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326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D6C6EE0-8485-8915-EE40-1E9A2A7EF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0AB930-AAD2-0FC0-7463-C43794C4A1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4024" y="2369500"/>
            <a:ext cx="8861016" cy="32377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ED42AFC-FF00-0FDA-A161-E154B0413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3245"/>
            <a:ext cx="68580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5382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3FC2072-DC1F-2954-182B-B822B2018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55B40C4-E2AB-4FD4-39D6-71E264B8B4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2284" y="2181051"/>
            <a:ext cx="7639430" cy="24958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1FD1E9-27E1-527B-D2DE-8BFB6FC3A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249" y="249133"/>
            <a:ext cx="61595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4722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4A73F8E-BA0D-53BE-736D-E2227C27B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95662C-1DAF-9B9B-A5EC-229BCB5DF4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60884" y="2390382"/>
            <a:ext cx="7222231" cy="2077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74EAF0-6DF6-09A0-8FF3-D333CA6E3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7072"/>
            <a:ext cx="7772400" cy="4829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44DAA4-ED60-0B86-D6A1-1B846139F6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3619" y="5039379"/>
            <a:ext cx="7316761" cy="130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58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A38CEBD-54A4-118D-FF52-0024B4562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9689AB-5D36-D6CA-215B-1A3BE11C62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87706" y="1240294"/>
            <a:ext cx="6280057" cy="53087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58FB4D9-8CF4-3C35-8432-BD0B61F2C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5" y="213373"/>
            <a:ext cx="75311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1810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8178F8F-1565-57A9-334C-DDE43563D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16AC6F-66D0-9EF0-DFC3-6B4A5B7917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25143"/>
            <a:ext cx="7772400" cy="64077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AE27E7-713D-3F93-4ADD-479B23FE94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265908"/>
            <a:ext cx="7772400" cy="632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6598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C9FD907-0C29-6E00-4851-05A30AA6A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7552C9-EE95-4A48-388D-9EC02C3D4F9C}"/>
                  </a:ext>
                </a:extLst>
              </p:cNvPr>
              <p:cNvSpPr txBox="1"/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To quantify the two effects with respect to each other: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 the 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fitted model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𝐻𝑅</m:t>
                              </m:r>
                            </m:e>
                          </m:d>
                        </m:e>
                      </m:func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3∗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with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𝑝𝑟𝑒𝑠𝑡𝑖𝑔𝑒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and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 effect of x at a given y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 effect of y at a given x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 simple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trade‑off rate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(how much x you need to change to offset y) is therefore:</a:t>
                </a:r>
                <a:endParaRPr lang="en-US" b="0" i="0" kern="100" dirty="0">
                  <a:solidFill>
                    <a:srgbClr val="011893"/>
                  </a:solidFill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kern="100" smtClean="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 there’s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 interaction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 = 0)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then it simplifies to: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−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2 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So, a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+1 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increase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		is equivalent to 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 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change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𝑝𝑟𝑒𝑠𝑡𝑖𝑔𝑒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AC0EA2-11B4-9666-400A-9101005AC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blipFill>
                <a:blip r:embed="rId2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18668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108C6B5-DA25-3E09-52B1-410EDF90A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4A920C-4BEC-F516-21CD-305E054225EC}"/>
                  </a:ext>
                </a:extLst>
              </p:cNvPr>
              <p:cNvSpPr txBox="1"/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r>
                  <a:rPr lang="en-US" b="1" dirty="0"/>
                  <a:t>Using the generated coefficient table: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𝑝𝑟𝑒𝑠𝑡𝑖𝑔𝑒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 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05883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𝑐𝑢𝑚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3437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With no interaction term, the trade‑off at constant</a:t>
                </a:r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𝑯𝑹</m:t>
                    </m:r>
                  </m:oMath>
                </a14:m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:r>
                  <a:rPr lang="en-US" b="1" dirty="0"/>
                  <a:t>is: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𝑝𝑟𝑒𝑠𝑡𝑖𝑔𝑒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−5.8430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r>
                  <a:rPr lang="en-US" b="1" dirty="0"/>
                  <a:t>Interpretation (z‑score units):</a:t>
                </a:r>
                <a:endParaRPr lang="en-US" dirty="0"/>
              </a:p>
              <a:p>
                <a:pPr algn="ctr"/>
                <a:r>
                  <a:rPr lang="en-US" dirty="0"/>
                  <a:t>A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is offset by a</a:t>
                </a:r>
              </a:p>
              <a:p>
                <a:pPr algn="ctr"/>
                <a:r>
                  <a:rPr lang="en-US" dirty="0"/>
                  <a:t> 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5.8430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to keep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𝐻𝑅</m:t>
                    </m:r>
                  </m:oMath>
                </a14:m>
                <a:r>
                  <a:rPr lang="en-US" dirty="0"/>
                  <a:t> constant.</a:t>
                </a:r>
              </a:p>
              <a:p>
                <a:endParaRPr lang="en-US" b="1" dirty="0"/>
              </a:p>
              <a:p>
                <a:r>
                  <a:rPr lang="en-US" b="1" dirty="0"/>
                  <a:t>Equivalently: 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000" dirty="0"/>
                  <a:t>is about 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0. 1711 </m:t>
                    </m:r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>
                    <a:solidFill>
                      <a:srgbClr val="0432FF"/>
                    </a:solidFill>
                  </a:rPr>
                  <a:t> </a:t>
                </a:r>
                <a:endParaRPr lang="en-US" sz="2000" dirty="0">
                  <a:solidFill>
                    <a:srgbClr val="002060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the effect of 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en-US" dirty="0"/>
                  <a:t>  </a:t>
                </a:r>
              </a:p>
              <a:p>
                <a:r>
                  <a:rPr lang="en-US" b="1" dirty="0"/>
                  <a:t>Since</a:t>
                </a:r>
                <a:endParaRPr lang="en-US" b="1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𝑝𝑟𝑒𝑠𝑡𝑖𝑔𝑒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den>
                      </m:f>
                      <m:r>
                        <a:rPr lang="en-US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−0.1711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4A920C-4BEC-F516-21CD-305E05422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blipFill>
                <a:blip r:embed="rId2"/>
                <a:stretch>
                  <a:fillRect l="-570" t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56779EEC-8479-7981-CA06-2BFF763D68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9238" y="454047"/>
            <a:ext cx="3194792" cy="91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9353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A937FBB-956C-B70F-7F03-F2B903AF5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E5283A-5143-21F5-C6C5-420DD607C991}"/>
              </a:ext>
            </a:extLst>
          </p:cNvPr>
          <p:cNvSpPr txBox="1"/>
          <p:nvPr/>
        </p:nvSpPr>
        <p:spPr>
          <a:xfrm>
            <a:off x="1549764" y="1608202"/>
            <a:ext cx="54319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Ford Antenna Medium" panose="02000505000000020004" pitchFamily="2" charset="0"/>
              </a:rPr>
              <a:t>RUN 3  - Using </a:t>
            </a:r>
          </a:p>
          <a:p>
            <a:pPr algn="ctr"/>
            <a:endParaRPr lang="en-US" sz="3200" dirty="0">
              <a:latin typeface="Ford Antenna Medium" panose="02000505000000020004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426D842-4DCF-1A5D-96AA-10E8FF8A7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025846"/>
              </p:ext>
            </p:extLst>
          </p:nvPr>
        </p:nvGraphicFramePr>
        <p:xfrm>
          <a:off x="1888298" y="3429000"/>
          <a:ext cx="475488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396371366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z_prestige_mean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99500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z_cum_tb_rcvd_ratio_snr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84190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z_prestige_tb_interaction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6401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17510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237EF0E-6E7E-A0BD-CBC0-084C091F5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37973C-B4A7-17D3-07D6-01D45934F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EA1D7C-4566-34D4-99FE-DD744FA975E7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𝑝𝑟𝑒𝑠𝑡𝑖𝑔𝑒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𝑚𝑒𝑎𝑛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𝑐𝑢𝑚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𝑟𝑐𝑣𝑑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𝑟𝑎𝑡𝑖𝑜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𝑝𝑟𝑒𝑠𝑡𝑖𝑔𝑒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𝑖𝑛𝑡𝑒𝑟𝑎𝑐𝑡𝑖𝑜𝑛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EA1D7C-4566-34D4-99FE-DD744FA97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2862322"/>
              </a:xfrm>
              <a:prstGeom prst="rect">
                <a:avLst/>
              </a:prstGeom>
              <a:blipFill>
                <a:blip r:embed="rId3"/>
                <a:stretch>
                  <a:fillRect b="-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25138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3F37FDE-E116-7089-FCC4-DCE42F782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E2E751-9FD8-BAD1-C315-081FEE8D6E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4805" y="115296"/>
            <a:ext cx="6664676" cy="66274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EEACBE-7DE6-C899-8859-6D5E2B0470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39879"/>
            <a:ext cx="4031857" cy="20786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33AC9B-9F66-492E-ECA7-0E4ADF49AF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85567" y="4416061"/>
            <a:ext cx="3533215" cy="215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8042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490C860-B638-46FB-E76E-B11FDF912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80CCF94-C98F-DE5C-6628-AA97492510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100" y="151609"/>
            <a:ext cx="7084087" cy="65547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77FD8B-6FFE-BE5B-A29B-20AD520B58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53887"/>
            <a:ext cx="4031857" cy="20506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C50793-4F26-21F2-D8B2-D38EEE5BCA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01836" y="4481524"/>
            <a:ext cx="3460304" cy="203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140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88E4FD6-FFE8-03BE-E01F-895075194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D6BE3BA-C2B8-7CD8-EDD6-2C81920ACD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1643" y="36299"/>
            <a:ext cx="7051001" cy="67854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9230D3-EC37-3F39-1A53-D1F8820970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30422"/>
            <a:ext cx="4031857" cy="209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9766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FFCA967-04AB-10D1-8318-1209537F7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AAA800-32FC-E817-E563-35C5133AC1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56223" y="1320042"/>
            <a:ext cx="7038977" cy="519276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BC87CF3-2D1C-D03F-0391-F20F4CEEC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09" y="331600"/>
            <a:ext cx="7682005" cy="40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6419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AF5B0C0-07FD-D2C7-2A6C-A53691513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B167D5-722C-2CA9-BB64-859EFEA4EA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8572" y="2342320"/>
            <a:ext cx="8951921" cy="32921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5E9576-A889-5657-E1F3-7594FA87D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3245"/>
            <a:ext cx="68580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0429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692EC81-E498-23D1-A148-7724ABA24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261D16-0DBE-F2DC-ACD1-BAD41CF827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7942" y="2181051"/>
            <a:ext cx="7668115" cy="24958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AD592B-B9D5-E74E-0FB5-0EE3A7189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249" y="249133"/>
            <a:ext cx="61595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7944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D1D395A-0CEC-3E67-EFE9-9043753B1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F81857-2BA6-FA17-C587-FB94D64E06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359999"/>
            <a:ext cx="7772400" cy="213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A17D93-3A6C-D7E3-9D14-D9ADC9F7F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7072"/>
            <a:ext cx="7772400" cy="4829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76B1D44-4AE3-CFE1-6C93-AD294C8B14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5032018"/>
            <a:ext cx="7772400" cy="1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4263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BCCB4A7-8468-3AC1-A8B2-B27FA9046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7F2FB0-F2F0-3802-261D-2F93B425F8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27988" y="1240294"/>
            <a:ext cx="6399493" cy="53087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53E684A-E916-9964-C434-742CEF064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5" y="213373"/>
            <a:ext cx="75311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6338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6E960E1-2614-8018-97FE-CD5F21A61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7610B1-EB1D-D7A9-A2B0-72E485837C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25143"/>
            <a:ext cx="7772400" cy="64077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2DEC7E-A686-C785-4D56-E07420037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6695"/>
            <a:ext cx="7772400" cy="648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8700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E7367C4-029C-73DB-D88E-320695DB7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4B8B0F-4B26-74FF-2D58-CC4288266A50}"/>
                  </a:ext>
                </a:extLst>
              </p:cNvPr>
              <p:cNvSpPr txBox="1"/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To quantify the two effects with respect to each other: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 the 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fitted model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𝐻𝑅</m:t>
                              </m:r>
                            </m:e>
                          </m:d>
                        </m:e>
                      </m:func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3∗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with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𝑝𝑟𝑒𝑠𝑡𝑖𝑔𝑒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and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 effect of x at a given y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 effect of y at a given x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 simple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trade‑off rate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(how much x you need to change to offset y) is therefore:</a:t>
                </a:r>
                <a:endParaRPr lang="en-US" b="0" i="0" kern="100" dirty="0">
                  <a:solidFill>
                    <a:srgbClr val="011893"/>
                  </a:solidFill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kern="100" smtClean="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 there’s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 interaction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 = 0)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then it simplifies to: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−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2 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So, a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+1 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increase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		is equivalent to 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 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change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𝑝𝑟𝑒𝑠𝑡𝑖𝑔𝑒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4B8B0F-4B26-74FF-2D58-CC4288266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blipFill>
                <a:blip r:embed="rId2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53522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C2EC8F3-F66D-4D70-7B26-457482152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C2EA35-0046-D03A-4E3B-0C24F447E314}"/>
                  </a:ext>
                </a:extLst>
              </p:cNvPr>
              <p:cNvSpPr txBox="1"/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r>
                  <a:rPr lang="en-US" b="1" dirty="0"/>
                  <a:t>Using the generated coefficient table: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𝑝𝑟𝑒𝑠𝑡𝑖𝑔𝑒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 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08717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𝑐𝑢𝑚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3186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With no interaction term, the trade‑off at constant</a:t>
                </a:r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𝑯𝑹</m:t>
                    </m:r>
                  </m:oMath>
                </a14:m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:r>
                  <a:rPr lang="en-US" b="1" dirty="0"/>
                  <a:t>is: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𝑝𝑟𝑒𝑠𝑡𝑖𝑔𝑒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−3.6548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r>
                  <a:rPr lang="en-US" b="1" dirty="0"/>
                  <a:t>Interpretation (z‑score units):</a:t>
                </a:r>
                <a:endParaRPr lang="en-US" dirty="0"/>
              </a:p>
              <a:p>
                <a:pPr algn="ctr"/>
                <a:r>
                  <a:rPr lang="en-US" dirty="0"/>
                  <a:t>A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is offset by a</a:t>
                </a:r>
              </a:p>
              <a:p>
                <a:pPr algn="ctr"/>
                <a:r>
                  <a:rPr lang="en-US" dirty="0"/>
                  <a:t> 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3.6548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to keep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𝐻𝑅</m:t>
                    </m:r>
                  </m:oMath>
                </a14:m>
                <a:r>
                  <a:rPr lang="en-US" dirty="0"/>
                  <a:t> constant.</a:t>
                </a:r>
              </a:p>
              <a:p>
                <a:endParaRPr lang="en-US" b="1" dirty="0"/>
              </a:p>
              <a:p>
                <a:r>
                  <a:rPr lang="en-US" b="1" dirty="0"/>
                  <a:t>Equivalently: 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000" dirty="0"/>
                  <a:t>is about 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0. 2736</m:t>
                    </m:r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>
                    <a:solidFill>
                      <a:srgbClr val="0432FF"/>
                    </a:solidFill>
                  </a:rPr>
                  <a:t> </a:t>
                </a:r>
                <a:endParaRPr lang="en-US" sz="2000" dirty="0">
                  <a:solidFill>
                    <a:srgbClr val="002060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the effect of 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en-US" dirty="0"/>
                  <a:t>  </a:t>
                </a:r>
              </a:p>
              <a:p>
                <a:r>
                  <a:rPr lang="en-US" b="1" dirty="0"/>
                  <a:t>Since</a:t>
                </a:r>
                <a:endParaRPr lang="en-US" b="1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𝑝𝑟𝑒𝑠𝑡𝑖𝑔𝑒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den>
                      </m:f>
                      <m:r>
                        <a:rPr lang="en-US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−0.2736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C2EA35-0046-D03A-4E3B-0C24F447E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blipFill>
                <a:blip r:embed="rId2"/>
                <a:stretch>
                  <a:fillRect l="-570" t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4C7FA7F-B01F-43FE-6D9F-4EBD4217C0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54007" y="440607"/>
            <a:ext cx="3445255" cy="94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6524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A71AC28-65C0-ABBA-07A5-AE7B4985A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784ABB-DECD-7EEB-0C42-F88A8B196308}"/>
              </a:ext>
            </a:extLst>
          </p:cNvPr>
          <p:cNvSpPr txBox="1"/>
          <p:nvPr/>
        </p:nvSpPr>
        <p:spPr>
          <a:xfrm>
            <a:off x="1549764" y="1608202"/>
            <a:ext cx="54319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Ford Antenna Medium" panose="02000505000000020004" pitchFamily="2" charset="0"/>
              </a:rPr>
              <a:t>RUN 4  - Using </a:t>
            </a:r>
          </a:p>
          <a:p>
            <a:pPr algn="ctr"/>
            <a:endParaRPr lang="en-US" sz="3200" dirty="0">
              <a:latin typeface="Ford Antenna Medium" panose="02000505000000020004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BD9B4C7-2DD7-6694-02D4-3033638DF8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839628"/>
              </p:ext>
            </p:extLst>
          </p:nvPr>
        </p:nvGraphicFramePr>
        <p:xfrm>
          <a:off x="1888298" y="3429000"/>
          <a:ext cx="475488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396371366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z_prestige_mean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99500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z_cum_tb_rcvd_ratio_snr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84190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z_prestige_tb_interaction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640111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85FE537-8FEE-AA84-9BC9-EF1597B20014}"/>
              </a:ext>
            </a:extLst>
          </p:cNvPr>
          <p:cNvSpPr txBox="1"/>
          <p:nvPr/>
        </p:nvSpPr>
        <p:spPr>
          <a:xfrm>
            <a:off x="1549764" y="5097567"/>
            <a:ext cx="54319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Ford Antenna Medium" panose="02000505000000020004" pitchFamily="2" charset="0"/>
              </a:rPr>
              <a:t>With just YGs 2002-2006</a:t>
            </a:r>
          </a:p>
          <a:p>
            <a:pPr algn="ctr"/>
            <a:endParaRPr lang="en-US" sz="2400" dirty="0">
              <a:latin typeface="Ford Antenna Medium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4660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5A81143-F68A-CBF1-DC0C-E980BA1B3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276235-22F2-DC19-988E-27CCBDA02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8C91AD2-B557-BC4A-80EE-567E81D30FCB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𝑝𝑟𝑒𝑠𝑡𝑖𝑔𝑒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𝑚𝑒𝑎𝑛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𝑐𝑢𝑚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𝑟𝑐𝑣𝑑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𝑟𝑎𝑡𝑖𝑜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𝑝𝑟𝑒𝑠𝑡𝑖𝑔𝑒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𝑖𝑛𝑡𝑒𝑟𝑎𝑐𝑡𝑖𝑜𝑛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8C91AD2-B557-BC4A-80EE-567E81D30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2862322"/>
              </a:xfrm>
              <a:prstGeom prst="rect">
                <a:avLst/>
              </a:prstGeom>
              <a:blipFill>
                <a:blip r:embed="rId3"/>
                <a:stretch>
                  <a:fillRect b="-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033905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C3B84E6-AF4D-274B-1C75-0EF2AF335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D402DD-C08C-B17F-E123-3A6041BE84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4805" y="115296"/>
            <a:ext cx="6664676" cy="66274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0958D0-02E3-3CBD-5028-A36385E4F5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39879"/>
            <a:ext cx="4031857" cy="20786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72791D-256D-2A74-AD55-67AB632C4F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36242" y="4413903"/>
            <a:ext cx="3605306" cy="219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9866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F38F46C-9D0A-227B-7856-8209E5217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3C5F3C-A4C4-D5A7-09CE-51057D60A4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100" y="151609"/>
            <a:ext cx="7084087" cy="65547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3244B0-EEB0-8414-EC0B-C67B414D38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53887"/>
            <a:ext cx="4031857" cy="20506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A931E9-4226-3D73-F533-F8D74E069DA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153"/>
          <a:stretch>
            <a:fillRect/>
          </a:stretch>
        </p:blipFill>
        <p:spPr>
          <a:xfrm>
            <a:off x="5161566" y="4310787"/>
            <a:ext cx="3782810" cy="217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72460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222E3DF-E0FB-CA4E-FCDE-51E1D233E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5F820B-3592-0C8F-3F2F-B862635CF1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1643" y="36299"/>
            <a:ext cx="7051001" cy="67854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9007A8-3A1D-2275-963C-7028A280D6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30422"/>
            <a:ext cx="4031857" cy="209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453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3AAEC36-6343-3B41-07F3-4A0818003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B75537-A4A9-709E-E7EC-29C478FAF3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56223" y="1320042"/>
            <a:ext cx="7038977" cy="519276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C089528-C18D-CEC0-A2CD-C445805DA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09" y="331600"/>
            <a:ext cx="7682005" cy="40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13592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231B2B9-1FCE-619C-FE2B-DEA59EE34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BD5C47-BD64-B312-2F46-2A252FBE9A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8572" y="2342320"/>
            <a:ext cx="8951921" cy="32921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83B0F9-3C66-785A-7145-47FBC365A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3245"/>
            <a:ext cx="68580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9061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B21760C-BAA9-C6BA-E57B-8EAB3C872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7F21FDB-F995-59BB-CC2C-AE662E11AA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7942" y="2181051"/>
            <a:ext cx="7668115" cy="24958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67728B-65EB-417F-D2CE-3E1826FA2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249" y="249133"/>
            <a:ext cx="61595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820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F5D14C7-738D-819E-8890-14C9E1C0B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4866F5-6271-12DD-5E0F-373746788C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3412" y="2359999"/>
            <a:ext cx="7557175" cy="213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1057730-1B43-1810-6BDF-E98F7AAA0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7072"/>
            <a:ext cx="7772400" cy="4829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8C1473-377B-9824-1FB4-C38D5FBA5C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5032018"/>
            <a:ext cx="7772400" cy="1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2773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1730F24-EA72-8A5C-677D-2EB9B1A58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F55E64-AD11-AED9-37A5-35C237981E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27988" y="1240294"/>
            <a:ext cx="6399493" cy="53087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073ECAD-1DE2-2B61-74A2-5C71CE964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5" y="213373"/>
            <a:ext cx="75311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06989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BE482FF-5BDD-CCFB-572F-DA02C61D7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B65D56-A1C3-A8FA-E6BA-D6637498DD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25143"/>
            <a:ext cx="7772400" cy="64077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1BD2E5-4F6E-355E-A315-604ACE905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6695"/>
            <a:ext cx="7772400" cy="648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11713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409B6E2-B0BE-D2BA-B271-261DC47D0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F52973-175F-50B0-1515-E4693BC56425}"/>
                  </a:ext>
                </a:extLst>
              </p:cNvPr>
              <p:cNvSpPr txBox="1"/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To quantify the two effects with respect to each other: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 the 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fitted model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𝐻𝑅</m:t>
                              </m:r>
                            </m:e>
                          </m:d>
                        </m:e>
                      </m:func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3∗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with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𝑝𝑟𝑒𝑠𝑡𝑖𝑔𝑒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and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 effect of x at a given y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 effect of y at a given x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 simple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trade‑off rate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(how much x you need to change to offset y) is therefore:</a:t>
                </a:r>
                <a:endParaRPr lang="en-US" b="0" i="0" kern="100" dirty="0">
                  <a:solidFill>
                    <a:srgbClr val="011893"/>
                  </a:solidFill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kern="100" smtClean="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 there’s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 interaction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 = 0)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then it simplifies to: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−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2 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So, a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+1 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increase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		is equivalent to 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 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change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𝑝𝑟𝑒𝑠𝑡𝑖𝑔𝑒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F52973-175F-50B0-1515-E4693BC56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blipFill>
                <a:blip r:embed="rId2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267626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694E67E-9BAF-3778-B7E0-1305AD312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7BDC07-B426-1146-DE52-5EC03B2FD523}"/>
                  </a:ext>
                </a:extLst>
              </p:cNvPr>
              <p:cNvSpPr txBox="1"/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r>
                  <a:rPr lang="en-US" b="1" dirty="0"/>
                  <a:t>Using the generated coefficient table: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𝑝𝑟𝑒𝑠𝑡𝑖𝑔𝑒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 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08717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𝑐𝑢𝑚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3186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With no interaction term, the trade‑off at constant</a:t>
                </a:r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𝑯𝑹</m:t>
                    </m:r>
                  </m:oMath>
                </a14:m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:r>
                  <a:rPr lang="en-US" b="1" dirty="0"/>
                  <a:t>is: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𝑝𝑟𝑒𝑠𝑡𝑖𝑔𝑒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−3.6548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r>
                  <a:rPr lang="en-US" b="1" dirty="0"/>
                  <a:t>Interpretation (z‑score units):</a:t>
                </a:r>
                <a:endParaRPr lang="en-US" dirty="0"/>
              </a:p>
              <a:p>
                <a:pPr algn="ctr"/>
                <a:r>
                  <a:rPr lang="en-US" dirty="0"/>
                  <a:t>A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is offset by a</a:t>
                </a:r>
              </a:p>
              <a:p>
                <a:pPr algn="ctr"/>
                <a:r>
                  <a:rPr lang="en-US" dirty="0"/>
                  <a:t> 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3.6548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to keep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𝐻𝑅</m:t>
                    </m:r>
                  </m:oMath>
                </a14:m>
                <a:r>
                  <a:rPr lang="en-US" dirty="0"/>
                  <a:t> constant.</a:t>
                </a:r>
              </a:p>
              <a:p>
                <a:endParaRPr lang="en-US" b="1" dirty="0"/>
              </a:p>
              <a:p>
                <a:r>
                  <a:rPr lang="en-US" b="1" dirty="0"/>
                  <a:t>Equivalently: 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000" dirty="0"/>
                  <a:t>is about 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0. 2736</m:t>
                    </m:r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>
                    <a:solidFill>
                      <a:srgbClr val="0432FF"/>
                    </a:solidFill>
                  </a:rPr>
                  <a:t> </a:t>
                </a:r>
                <a:endParaRPr lang="en-US" sz="2000" dirty="0">
                  <a:solidFill>
                    <a:srgbClr val="002060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the effect of 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en-US" dirty="0"/>
                  <a:t>  </a:t>
                </a:r>
              </a:p>
              <a:p>
                <a:r>
                  <a:rPr lang="en-US" b="1" dirty="0"/>
                  <a:t>Since</a:t>
                </a:r>
                <a:endParaRPr lang="en-US" b="1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𝑝𝑟𝑒𝑠𝑡𝑖𝑔𝑒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den>
                      </m:f>
                      <m:r>
                        <a:rPr lang="en-US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−0.2736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7BDC07-B426-1146-DE52-5EC03B2FD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blipFill>
                <a:blip r:embed="rId2"/>
                <a:stretch>
                  <a:fillRect l="-570" t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D5D420E-767E-6878-7E8D-BE6919766A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05156" y="440607"/>
            <a:ext cx="3342957" cy="94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88871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8EEFD9D-F189-1448-35B9-66C55545C78B}"/>
              </a:ext>
            </a:extLst>
          </p:cNvPr>
          <p:cNvGrpSpPr/>
          <p:nvPr/>
        </p:nvGrpSpPr>
        <p:grpSpPr>
          <a:xfrm>
            <a:off x="135081" y="149866"/>
            <a:ext cx="3326120" cy="2963457"/>
            <a:chOff x="135081" y="149866"/>
            <a:chExt cx="3326120" cy="296345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A5DD86A-23DD-18D1-018D-399F8E099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135081" y="520995"/>
              <a:ext cx="3326120" cy="2592328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1CF0896-EE52-FE1A-B1C3-058E89C6C6A4}"/>
                </a:ext>
              </a:extLst>
            </p:cNvPr>
            <p:cNvSpPr txBox="1"/>
            <p:nvPr/>
          </p:nvSpPr>
          <p:spPr>
            <a:xfrm>
              <a:off x="686313" y="149866"/>
              <a:ext cx="22236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2002-2011 IN only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8856D9C-6896-ACF0-314F-26669D71FDBA}"/>
              </a:ext>
            </a:extLst>
          </p:cNvPr>
          <p:cNvGrpSpPr/>
          <p:nvPr/>
        </p:nvGrpSpPr>
        <p:grpSpPr>
          <a:xfrm>
            <a:off x="4028682" y="209277"/>
            <a:ext cx="3308237" cy="2965255"/>
            <a:chOff x="144022" y="149866"/>
            <a:chExt cx="3308237" cy="296525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E48282D-99F7-BE76-4B96-7C1929885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44022" y="519198"/>
              <a:ext cx="3308237" cy="2595923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78188EB-0D77-2D41-658B-FD1406457ED2}"/>
                </a:ext>
              </a:extLst>
            </p:cNvPr>
            <p:cNvSpPr txBox="1"/>
            <p:nvPr/>
          </p:nvSpPr>
          <p:spPr>
            <a:xfrm>
              <a:off x="686313" y="149866"/>
              <a:ext cx="27054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2002-2011 CS + CSS only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D869D2C-E02A-6CF2-78BA-AB433C898F5F}"/>
              </a:ext>
            </a:extLst>
          </p:cNvPr>
          <p:cNvGrpSpPr/>
          <p:nvPr/>
        </p:nvGrpSpPr>
        <p:grpSpPr>
          <a:xfrm>
            <a:off x="264233" y="3742879"/>
            <a:ext cx="3326120" cy="2965255"/>
            <a:chOff x="135081" y="149866"/>
            <a:chExt cx="3326120" cy="296525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D7D320-EB02-1418-9D3B-E68C5DA9D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081" y="519198"/>
              <a:ext cx="3326120" cy="2595923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E7D6359-FDB3-73CC-A8E6-DB01FDC611BA}"/>
                </a:ext>
              </a:extLst>
            </p:cNvPr>
            <p:cNvSpPr txBox="1"/>
            <p:nvPr/>
          </p:nvSpPr>
          <p:spPr>
            <a:xfrm>
              <a:off x="686313" y="149866"/>
              <a:ext cx="22236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2002-2011 IN only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4514F04-DCB5-ED58-D974-973BFE730F05}"/>
              </a:ext>
            </a:extLst>
          </p:cNvPr>
          <p:cNvGrpSpPr/>
          <p:nvPr/>
        </p:nvGrpSpPr>
        <p:grpSpPr>
          <a:xfrm>
            <a:off x="4570973" y="3429000"/>
            <a:ext cx="3326120" cy="2965255"/>
            <a:chOff x="135081" y="149866"/>
            <a:chExt cx="3326120" cy="296525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B01BC64-D6BE-D2A8-CE7B-5AADE6918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081" y="519198"/>
              <a:ext cx="3326120" cy="2595923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362CFC9-7AC0-63B7-8C22-DE1094F01977}"/>
                </a:ext>
              </a:extLst>
            </p:cNvPr>
            <p:cNvSpPr txBox="1"/>
            <p:nvPr/>
          </p:nvSpPr>
          <p:spPr>
            <a:xfrm>
              <a:off x="686313" y="149866"/>
              <a:ext cx="22236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2002-2011 IN only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0599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7797</TotalTime>
  <Words>2055</Words>
  <Application>Microsoft Macintosh PowerPoint</Application>
  <PresentationFormat>On-screen Show (4:3)</PresentationFormat>
  <Paragraphs>206</Paragraphs>
  <Slides>67</Slides>
  <Notes>0</Notes>
  <HiddenSlides>42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4" baseType="lpstr">
      <vt:lpstr>Aptos</vt:lpstr>
      <vt:lpstr>Aptos Display</vt:lpstr>
      <vt:lpstr>Aptos Narrow</vt:lpstr>
      <vt:lpstr>Arial</vt:lpstr>
      <vt:lpstr>Cambria Math</vt:lpstr>
      <vt:lpstr>Ford Antenna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Levine, Charles R CTR</dc:creator>
  <cp:lastModifiedBy>Levine, Charles R CTR</cp:lastModifiedBy>
  <cp:revision>36</cp:revision>
  <cp:lastPrinted>2026-02-13T15:04:22Z</cp:lastPrinted>
  <dcterms:created xsi:type="dcterms:W3CDTF">2026-01-28T22:43:07Z</dcterms:created>
  <dcterms:modified xsi:type="dcterms:W3CDTF">2026-03-03T17:29:21Z</dcterms:modified>
</cp:coreProperties>
</file>