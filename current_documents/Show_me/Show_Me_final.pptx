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9"/>
  </p:notesMasterIdLst>
  <p:sldIdLst>
    <p:sldId id="326" r:id="rId2"/>
    <p:sldId id="258" r:id="rId3"/>
    <p:sldId id="329" r:id="rId4"/>
    <p:sldId id="259" r:id="rId5"/>
    <p:sldId id="330" r:id="rId6"/>
    <p:sldId id="261" r:id="rId7"/>
    <p:sldId id="262" r:id="rId8"/>
    <p:sldId id="331" r:id="rId9"/>
    <p:sldId id="263" r:id="rId10"/>
    <p:sldId id="264" r:id="rId11"/>
    <p:sldId id="321" r:id="rId12"/>
    <p:sldId id="265" r:id="rId13"/>
    <p:sldId id="269" r:id="rId14"/>
    <p:sldId id="323" r:id="rId15"/>
    <p:sldId id="334" r:id="rId16"/>
    <p:sldId id="272" r:id="rId17"/>
    <p:sldId id="273" r:id="rId18"/>
    <p:sldId id="317" r:id="rId19"/>
    <p:sldId id="275" r:id="rId20"/>
    <p:sldId id="276" r:id="rId21"/>
    <p:sldId id="270" r:id="rId22"/>
    <p:sldId id="271" r:id="rId23"/>
    <p:sldId id="277" r:id="rId24"/>
    <p:sldId id="281" r:id="rId25"/>
    <p:sldId id="324" r:id="rId26"/>
    <p:sldId id="283" r:id="rId27"/>
    <p:sldId id="316" r:id="rId28"/>
    <p:sldId id="284" r:id="rId29"/>
    <p:sldId id="285" r:id="rId30"/>
    <p:sldId id="314" r:id="rId31"/>
    <p:sldId id="318" r:id="rId32"/>
    <p:sldId id="289" r:id="rId33"/>
    <p:sldId id="290" r:id="rId34"/>
    <p:sldId id="299" r:id="rId35"/>
    <p:sldId id="300" r:id="rId36"/>
    <p:sldId id="322" r:id="rId37"/>
    <p:sldId id="325" r:id="rId38"/>
    <p:sldId id="302" r:id="rId39"/>
    <p:sldId id="312" r:id="rId40"/>
    <p:sldId id="304" r:id="rId41"/>
    <p:sldId id="305" r:id="rId42"/>
    <p:sldId id="306" r:id="rId43"/>
    <p:sldId id="320" r:id="rId44"/>
    <p:sldId id="308" r:id="rId45"/>
    <p:sldId id="309" r:id="rId46"/>
    <p:sldId id="310" r:id="rId47"/>
    <p:sldId id="311" r:id="rId4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589"/>
    <p:restoredTop sz="94708"/>
  </p:normalViewPr>
  <p:slideViewPr>
    <p:cSldViewPr snapToGrid="0">
      <p:cViewPr>
        <p:scale>
          <a:sx n="119" d="100"/>
          <a:sy n="119" d="100"/>
        </p:scale>
        <p:origin x="2320" y="2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E70BD6-0CEF-D44A-A610-5E2A9FD7558D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CE250F-0D5D-B44C-ADA0-E05DC33FC8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638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CE250F-0D5D-B44C-ADA0-E05DC33FC82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851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1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319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72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100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202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485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652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448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5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4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A9070-CDB3-F94E-8A1D-A649529BCBC1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901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7A9070-CDB3-F94E-8A1D-A649529BCBC1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5300E-7D60-634E-BC58-083E443E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14B80-5167-A888-5970-15D3388D7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9CB582-AAA7-2F24-5AC0-CA14A72ED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0457D66-76F4-6156-0D77-E0411AF05380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𝑝𝑟𝑒𝑠𝑡𝑖𝑔𝑒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𝑚𝑒𝑎𝑛</m:t>
                      </m:r>
                    </m:oMath>
                  </m:oMathPara>
                </a14:m>
                <a:endParaRPr lang="en-US" sz="2400" dirty="0"/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Grouped by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𝑐𝑢𝑚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𝑟𝑐𝑣𝑑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𝑟𝑎𝑡𝑖𝑜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0457D66-76F4-6156-0D77-E0411AF05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28623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7029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87048B-C01F-4971-BAFF-101FA6CD5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71"/>
            <a:ext cx="7503720" cy="659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413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B9759-95A4-B6E0-4F8B-F3C8CAE80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64CC9C-385D-1FB6-78FD-AA216BBE6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AC578B-F14B-A2C0-07A6-932CA57A7D27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𝑐𝑢𝑚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𝑟𝑐𝑣𝑑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𝑟𝑎𝑡𝑖𝑜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</m:oMath>
                  </m:oMathPara>
                </a14:m>
                <a:endParaRPr lang="en-US" sz="2400" dirty="0"/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Grouped by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𝑝𝑟𝑒𝑠𝑡𝑖𝑔𝑒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𝑚𝑒𝑎𝑛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AC578B-F14B-A2C0-07A6-932CA57A7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28623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4321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94F28-1866-355D-B49C-7E78E8AF7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9DD83-F59D-6BAC-255E-D750E1A1A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73A8E4-F4FB-5BD0-304C-304DF25C7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21" y="103662"/>
            <a:ext cx="7886700" cy="661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915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73652-6628-23F5-6AF7-A6403A1BB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963FEE-B7A7-8F04-F537-A15C36D03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B256008-F047-AE77-6E4C-83839F5B307C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𝑝𝑟𝑒𝑠𝑡𝑖𝑔𝑒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𝑚𝑒𝑎𝑛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B256008-F047-AE77-6E4C-83839F5B3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7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5749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A9A96-8E08-35E8-4C29-31284D983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BB11C-D381-DBD1-7DD3-6E0A25922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277541-44A6-2085-2AB9-9093C0B1E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17020"/>
            <a:ext cx="6849836" cy="669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744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F0DF23-2101-C793-C734-9119951AB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250" y="249133"/>
            <a:ext cx="6159500" cy="457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3465D94-C95F-F8E2-42AE-A8F6A2EFBF22}"/>
                  </a:ext>
                </a:extLst>
              </p:cNvPr>
              <p:cNvSpPr txBox="1"/>
              <p:nvPr/>
            </p:nvSpPr>
            <p:spPr>
              <a:xfrm>
                <a:off x="730872" y="2180488"/>
                <a:ext cx="7436125" cy="28090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Partial Effects Plots for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𝑝𝑟𝑒𝑠𝑡𝑖𝑔𝑒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𝑚𝑒𝑎𝑛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𝑐𝑢𝑚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𝑡𝑏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𝑟𝑐𝑣𝑑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𝑟𝑎𝑡𝑖𝑜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𝑠𝑛𝑟</m:t>
                    </m:r>
                  </m:oMath>
                </a14:m>
                <a:endParaRPr lang="en-US" sz="2400" dirty="0"/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As well as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𝑝𝑟𝑒𝑠𝑡𝑖𝑔𝑒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𝑚𝑒𝑎𝑛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𝑐𝑢𝑚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𝑡𝑏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𝑟𝑐𝑣𝑑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𝑟𝑎𝑡𝑖𝑜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𝑠𝑛𝑟</m:t>
                    </m:r>
                  </m:oMath>
                </a14:m>
                <a:endParaRPr lang="en-US" sz="2400" dirty="0"/>
              </a:p>
              <a:p>
                <a:pPr algn="ctr">
                  <a:lnSpc>
                    <a:spcPct val="150000"/>
                  </a:lnSpc>
                </a:pPr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3465D94-C95F-F8E2-42AE-A8F6A2EFB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872" y="2180488"/>
                <a:ext cx="7436125" cy="28090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974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9621D-16CC-0E81-A975-903C184B4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009C6C-3992-7EAB-612C-81663524C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0407"/>
            <a:ext cx="6126480" cy="29403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D09C3B-EE1B-47FF-4960-6B1A9DA6E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263" y="3909568"/>
            <a:ext cx="6126480" cy="294843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E128857-B115-E48D-4730-9A86F4F70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2250" y="249133"/>
            <a:ext cx="6159500" cy="457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20113A4-39E1-CDBF-AD8B-6F741BE9B1E3}"/>
                  </a:ext>
                </a:extLst>
              </p:cNvPr>
              <p:cNvSpPr txBox="1"/>
              <p:nvPr/>
            </p:nvSpPr>
            <p:spPr>
              <a:xfrm>
                <a:off x="6264202" y="1628605"/>
                <a:ext cx="2427977" cy="8819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𝑝𝑟𝑒𝑠𝑡𝑖𝑔𝑒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𝑚𝑒𝑎𝑛</m:t>
                    </m:r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𝑐𝑢𝑚</m:t>
                    </m:r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𝑡𝑏</m:t>
                    </m:r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𝑟𝑐𝑣𝑑</m:t>
                    </m:r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𝑟𝑎𝑡𝑖𝑜</m:t>
                    </m:r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𝑠𝑛𝑟</m:t>
                    </m:r>
                  </m:oMath>
                </a14:m>
                <a:endParaRPr lang="en-US" sz="1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20113A4-39E1-CDBF-AD8B-6F741BE9B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4202" y="1628605"/>
                <a:ext cx="2427977" cy="881973"/>
              </a:xfrm>
              <a:prstGeom prst="rect">
                <a:avLst/>
              </a:prstGeom>
              <a:blipFill>
                <a:blip r:embed="rId5"/>
                <a:stretch>
                  <a:fillRect l="-521" r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6DA5499-E7F8-CCC1-4463-E8F18D48508C}"/>
                  </a:ext>
                </a:extLst>
              </p:cNvPr>
              <p:cNvSpPr txBox="1"/>
              <p:nvPr/>
            </p:nvSpPr>
            <p:spPr>
              <a:xfrm>
                <a:off x="-825368" y="4668896"/>
                <a:ext cx="4572000" cy="8819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𝑝𝑟𝑒𝑠𝑡𝑖𝑔𝑒</m:t>
                    </m:r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𝑚𝑒𝑎𝑛</m:t>
                    </m:r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𝑐𝑢𝑚</m:t>
                    </m:r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𝑡𝑏</m:t>
                    </m:r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𝑟𝑐𝑣𝑑</m:t>
                    </m:r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𝑟𝑎𝑡𝑖𝑜</m:t>
                    </m:r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</m:t>
                    </m:r>
                    <m:r>
                      <a:rPr 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𝑠𝑛𝑟</m:t>
                    </m:r>
                  </m:oMath>
                </a14:m>
                <a:endParaRPr lang="en-US" sz="18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6DA5499-E7F8-CCC1-4463-E8F18D4850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25368" y="4668896"/>
                <a:ext cx="4572000" cy="8819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0180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4E9598-4E9E-19FA-B45D-3F75D9EC6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924" y="931332"/>
            <a:ext cx="6493623" cy="592666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8DB72A4-9C9E-7F08-4016-EB185F03F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5" y="213373"/>
            <a:ext cx="7531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197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1CF54A-512E-2196-4946-237B1E8F5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0997"/>
            <a:ext cx="7772400" cy="6436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890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C38F3-46D6-04F1-1E62-2C6BA35AE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F82F88E-77B8-3BF0-8996-A92942B08E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89" b="7089"/>
          <a:stretch/>
        </p:blipFill>
        <p:spPr>
          <a:xfrm>
            <a:off x="1837267" y="2482850"/>
            <a:ext cx="5469467" cy="154728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AC6C71-8A23-CD86-2C60-45B3A5632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7072"/>
            <a:ext cx="7772400" cy="48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094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52B473-5F50-1AB5-4D56-5C12B5DD8430}"/>
                  </a:ext>
                </a:extLst>
              </p:cNvPr>
              <p:cNvSpPr txBox="1"/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To quantify the two effects with respect to each other: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the 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fitted model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𝐻𝑅</m:t>
                              </m:r>
                            </m:e>
                          </m:d>
                        </m:e>
                      </m:func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1∗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2∗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3∗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with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𝑝𝑟𝑒𝑠𝑡𝑖𝑔𝑒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 effect of x at a given y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 +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 effect of y at a given x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 +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 simple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trade‑off rate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(how much x you need to change to offset y) is therefore:</a:t>
                </a:r>
                <a:endParaRPr lang="en-US" b="0" i="0" kern="100" dirty="0">
                  <a:solidFill>
                    <a:srgbClr val="011893"/>
                  </a:solidFill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kern="100" smtClean="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 + 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 + 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 there’s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 interaction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 = 0)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then it simplifies to: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𝑑𝑦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−</m:t>
                    </m:r>
                    <m:f>
                      <m:fPr>
                        <m:ctrlP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2 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So, a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+1 </m:t>
                    </m:r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increase in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𝑝𝑟𝑒𝑠𝑡𝑖𝑔𝑒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		is equivalent to 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02060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 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change in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52B473-5F50-1AB5-4D56-5C12B5DD8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blipFill>
                <a:blip r:embed="rId2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4796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6CE05-3FCE-EDFB-8912-4AC6CF98B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812196-EF53-64FA-C94A-18026BF05958}"/>
                  </a:ext>
                </a:extLst>
              </p:cNvPr>
              <p:cNvSpPr txBox="1"/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r>
                  <a:rPr lang="en-US" b="1" dirty="0"/>
                  <a:t>Using the generated coefficient table: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𝑐𝑢𝑚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0.260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  for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𝑝𝑟𝑒𝑠𝑡𝑖𝑔𝑒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0.061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/>
                  <a:t>  for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endParaRPr lang="en-US" dirty="0"/>
              </a:p>
              <a:p>
                <a:endParaRPr lang="en-US" b="1" dirty="0"/>
              </a:p>
              <a:p>
                <a:r>
                  <a:rPr lang="en-US" b="1" dirty="0"/>
                  <a:t>With no interaction term, the trade‑off at constant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𝑯𝑹</m:t>
                    </m:r>
                  </m:oMath>
                </a14:m>
                <a:r>
                  <a:rPr lang="en-US" b="1" dirty="0"/>
                  <a:t> is: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𝑝𝑟𝑒𝑠𝑡𝑖𝑔𝑒</m:t>
                              </m:r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−0.237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r>
                  <a:rPr lang="en-US" b="1" dirty="0"/>
                  <a:t>Interpretation (z‑score units):</a:t>
                </a:r>
                <a:endParaRPr lang="en-US" dirty="0"/>
              </a:p>
              <a:p>
                <a:pPr algn="ctr"/>
                <a:r>
                  <a:rPr lang="en-US" dirty="0"/>
                  <a:t>A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 </a:t>
                </a:r>
              </a:p>
              <a:p>
                <a:pPr algn="ctr"/>
                <a:r>
                  <a:rPr lang="en-US" dirty="0"/>
                  <a:t>is offset by</a:t>
                </a:r>
              </a:p>
              <a:p>
                <a:pPr algn="ctr"/>
                <a:r>
                  <a:rPr lang="en-US" dirty="0"/>
                  <a:t>A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0.2375 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 </a:t>
                </a:r>
              </a:p>
              <a:p>
                <a:pPr algn="ctr"/>
                <a:r>
                  <a:rPr lang="en-US" dirty="0"/>
                  <a:t>to keep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𝐻𝑅</m:t>
                    </m:r>
                  </m:oMath>
                </a14:m>
                <a:r>
                  <a:rPr lang="en-US" dirty="0"/>
                  <a:t> constant.</a:t>
                </a:r>
              </a:p>
              <a:p>
                <a:endParaRPr lang="en-US" b="1" dirty="0"/>
              </a:p>
              <a:p>
                <a:r>
                  <a:rPr lang="en-US" b="1" dirty="0"/>
                  <a:t>Equivalently: 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/>
                  <a:t>is about 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4.21×</m:t>
                    </m:r>
                  </m:oMath>
                </a14:m>
                <a:r>
                  <a:rPr lang="en-US" sz="2000" dirty="0">
                    <a:solidFill>
                      <a:srgbClr val="002060"/>
                    </a:solidFill>
                  </a:rPr>
                  <a:t> 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the effect of A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r>
                  <a:rPr lang="en-US" dirty="0"/>
                  <a:t>  </a:t>
                </a:r>
              </a:p>
              <a:p>
                <a:r>
                  <a:rPr lang="en-US" b="1" dirty="0"/>
                  <a:t>Since</a:t>
                </a:r>
                <a:endParaRPr lang="en-US" b="1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𝑝𝑟𝑒𝑠𝑡𝑖𝑔𝑒</m:t>
                              </m:r>
                            </m:sub>
                          </m:sSub>
                        </m:den>
                      </m:f>
                      <m:r>
                        <a:rPr lang="en-US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4.2</m:t>
                      </m:r>
                      <m:r>
                        <a:rPr lang="en-US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812196-EF53-64FA-C94A-18026BF05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blipFill>
                <a:blip r:embed="rId2"/>
                <a:stretch>
                  <a:fillRect l="-570" t="-593" b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8D43B0FF-97D1-8221-6BBD-20C7D667AF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125" b="22466"/>
          <a:stretch>
            <a:fillRect/>
          </a:stretch>
        </p:blipFill>
        <p:spPr>
          <a:xfrm>
            <a:off x="5436098" y="496711"/>
            <a:ext cx="3301502" cy="993423"/>
          </a:xfrm>
          <a:prstGeom prst="rect">
            <a:avLst/>
          </a:prstGeom>
          <a:ln w="53975"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3218512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767A4-0908-220E-9145-3D7D0ED3A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883A2F-D15F-EF9B-883B-A04B5C6F4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700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3B9C97-4736-E153-8717-3241CF3C2132}"/>
                  </a:ext>
                </a:extLst>
              </p:cNvPr>
              <p:cNvSpPr txBox="1"/>
              <p:nvPr/>
            </p:nvSpPr>
            <p:spPr>
              <a:xfrm>
                <a:off x="901700" y="1018662"/>
                <a:ext cx="7436125" cy="5579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b="1" i="1" dirty="0"/>
                  <a:t>The following results are counterintuitive:  </a:t>
                </a:r>
              </a:p>
              <a:p>
                <a:pPr algn="ctr">
                  <a:lnSpc>
                    <a:spcPct val="150000"/>
                  </a:lnSpc>
                </a:pPr>
                <a:endParaRPr lang="en-US" sz="2400" dirty="0"/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We can see while plotting Competing Risks Cumulative Incidence Function Curves (empirical) that :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𝑟𝑎𝑡𝑖𝑜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𝑟𝑎𝑛𝑘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𝑛𝑜𝑟𝑚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is positively correlated with promotion.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However, when fitted with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r>
                  <a:rPr lang="en-US" sz="2400" dirty="0"/>
                  <a:t> ,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using a Cox Proportional Hazards model,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While looking at Partial Effects, we will see that correlation </a:t>
                </a:r>
                <a:r>
                  <a:rPr lang="en-US" sz="2400" b="1" i="1" dirty="0"/>
                  <a:t>reverses</a:t>
                </a:r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3B9C97-4736-E153-8717-3241CF3C2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00" y="1018662"/>
                <a:ext cx="7436125" cy="5579028"/>
              </a:xfrm>
              <a:prstGeom prst="rect">
                <a:avLst/>
              </a:prstGeom>
              <a:blipFill>
                <a:blip r:embed="rId3"/>
                <a:stretch>
                  <a:fillRect l="-1024" r="-1706" b="-15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0070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655BC-F4A0-4A4A-15D5-8BADD7EBF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A59E27-A800-5D73-E020-3F5DE09BA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E8E2E25-0202-3E35-8C34-9B06A4A735A1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Plots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𝑟𝑎𝑡𝑖𝑜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𝑟𝑎𝑛𝑘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𝑛𝑜𝑟𝑚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E8E2E25-0202-3E35-8C34-9B06A4A73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2437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21ECB-82C3-B5A9-AC9D-E0DD9281D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00C0118-3A75-FD6A-FB40-210259A60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383" y="0"/>
            <a:ext cx="71752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858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16FBB-0D5C-0944-32D0-C5DF13F58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E5F7F9-CBB2-0596-F8D9-A676121B3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30153"/>
            <a:ext cx="7772400" cy="37976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993E7D3-70EB-FE42-19B6-B929F44E8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250" y="249133"/>
            <a:ext cx="61595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5282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8A0F7-1E18-E727-2EC4-8317330BA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8DDD85-0077-27C1-CCDE-BEE6AC4D0D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80924" y="1051053"/>
            <a:ext cx="6493623" cy="56872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5DC8435-F5AC-08C4-10DE-6C72F42B3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5" y="213373"/>
            <a:ext cx="7531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3376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447FA-338D-51C2-9C80-A9B9C5743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6F88B6-1B0E-3124-BEBA-B286EFB2C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4529"/>
            <a:ext cx="7772400" cy="634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900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15B88-7E43-ECCA-5A20-DBE89040D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41A2F3-38F9-DCAA-949F-C5B8A6296B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65" r="3623" b="18233"/>
          <a:stretch>
            <a:fillRect/>
          </a:stretch>
        </p:blipFill>
        <p:spPr>
          <a:xfrm>
            <a:off x="1837267" y="2482850"/>
            <a:ext cx="5469467" cy="154728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9072452-BCC4-2FE6-B109-E4BFC1D43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7072"/>
            <a:ext cx="7772400" cy="48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47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6C241-70E7-F4BB-03F7-88F2A2305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C580E8-9169-AA4D-ED98-117D266F06F6}"/>
                  </a:ext>
                </a:extLst>
              </p:cNvPr>
              <p:cNvSpPr txBox="1"/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To quantify the two effects with respect to each other: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the 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fitted model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𝐻𝑅</m:t>
                              </m:r>
                            </m:e>
                          </m:d>
                        </m:e>
                      </m:func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1∗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2∗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3∗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with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𝑟𝑎𝑛𝑘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𝑛𝑜𝑟𝑚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 effect of x at a given y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 +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 effect of y at a given x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 +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 simple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trade‑off rate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(how much x you need to change to offset y) is therefore:</a:t>
                </a:r>
                <a:endParaRPr lang="en-US" b="0" i="0" kern="100" dirty="0">
                  <a:solidFill>
                    <a:srgbClr val="011893"/>
                  </a:solidFill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kern="100" smtClean="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 + 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 + 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 there’s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 interaction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 = 0)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then it simplifies to: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𝑑𝑦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−</m:t>
                    </m:r>
                    <m:f>
                      <m:fPr>
                        <m:ctrlP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2 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So, a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+1 </m:t>
                    </m:r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increase in </a:t>
                </a:r>
                <a:r>
                  <a:rPr lang="en-US" kern="100" dirty="0">
                    <a:solidFill>
                      <a:srgbClr val="011893"/>
                    </a:solidFill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𝑟𝑎𝑛𝑘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𝑛𝑜𝑟𝑚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		is equivalent to 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02060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 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change in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C580E8-9169-AA4D-ED98-117D266F0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blipFill>
                <a:blip r:embed="rId2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539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AFBF0-D5BF-34C7-6A9B-CD1F236D8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0854AB-805D-E56B-6DCB-06F3C076FFC6}"/>
                  </a:ext>
                </a:extLst>
              </p:cNvPr>
              <p:cNvSpPr txBox="1"/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r>
                  <a:rPr lang="en-US" b="1" dirty="0"/>
                  <a:t>Using the generated coefficient table: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𝑐𝑢𝑚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0.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3169</m:t>
                    </m:r>
                  </m:oMath>
                </a14:m>
                <a:r>
                  <a:rPr lang="en-US" dirty="0"/>
                  <a:t>  for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𝑟𝑎𝑛𝑘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0.0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590</m:t>
                    </m:r>
                  </m:oMath>
                </a14:m>
                <a:r>
                  <a:rPr lang="en-US" dirty="0"/>
                  <a:t>  for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𝑟𝑎𝑛𝑘</m:t>
                    </m:r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𝑛𝑜𝑟𝑚</m:t>
                    </m:r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endParaRPr lang="en-US" b="1" dirty="0"/>
              </a:p>
              <a:p>
                <a:endParaRPr lang="en-US" b="1" dirty="0"/>
              </a:p>
              <a:p>
                <a:r>
                  <a:rPr lang="en-US" b="1" dirty="0"/>
                  <a:t>With no interaction term, the trade‑off at constant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𝑯𝑹</m:t>
                    </m:r>
                  </m:oMath>
                </a14:m>
                <a:r>
                  <a:rPr lang="en-US" b="1" dirty="0"/>
                  <a:t> is: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𝑟𝑎𝑛𝑘</m:t>
                              </m:r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0.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1863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r>
                  <a:rPr lang="en-US" b="1" dirty="0"/>
                  <a:t>Interpretation (z‑score units):</a:t>
                </a:r>
                <a:endParaRPr lang="en-US" dirty="0"/>
              </a:p>
              <a:p>
                <a:pPr algn="ctr"/>
                <a:r>
                  <a:rPr lang="en-US" dirty="0"/>
                  <a:t>A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𝑟𝑎𝑛𝑘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𝑛𝑜𝑟𝑚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 </a:t>
                </a:r>
              </a:p>
              <a:p>
                <a:pPr algn="ctr"/>
                <a:r>
                  <a:rPr lang="en-US" dirty="0"/>
                  <a:t>is offset by</a:t>
                </a:r>
              </a:p>
              <a:p>
                <a:pPr algn="ctr"/>
                <a:r>
                  <a:rPr lang="en-US" dirty="0"/>
                  <a:t>A 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1863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 </a:t>
                </a:r>
              </a:p>
              <a:p>
                <a:pPr algn="ctr"/>
                <a:r>
                  <a:rPr lang="en-US" dirty="0"/>
                  <a:t>to keep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𝐻𝑅</m:t>
                    </m:r>
                  </m:oMath>
                </a14:m>
                <a:r>
                  <a:rPr lang="en-US" dirty="0"/>
                  <a:t> constant.</a:t>
                </a:r>
              </a:p>
              <a:p>
                <a:endParaRPr lang="en-US" b="1" dirty="0"/>
              </a:p>
              <a:p>
                <a:r>
                  <a:rPr lang="en-US" b="1" dirty="0"/>
                  <a:t>Equivalently: 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/>
                  <a:t>is about 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5.38</m:t>
                    </m:r>
                    <m:r>
                      <a:rPr lang="en-US" sz="20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>
                    <a:solidFill>
                      <a:srgbClr val="002060"/>
                    </a:solidFill>
                  </a:rPr>
                  <a:t> 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the effect of A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𝑝𝑟𝑒𝑠𝑡𝑖𝑔𝑒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𝑚𝑒𝑎𝑛</m:t>
                    </m:r>
                  </m:oMath>
                </a14:m>
                <a:r>
                  <a:rPr lang="en-US" dirty="0"/>
                  <a:t>  </a:t>
                </a:r>
              </a:p>
              <a:p>
                <a:r>
                  <a:rPr lang="en-US" b="1" dirty="0"/>
                  <a:t>Since</a:t>
                </a:r>
                <a:endParaRPr lang="en-US" b="1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𝑟𝑎𝑛𝑘</m:t>
                              </m:r>
                            </m:sub>
                          </m:sSub>
                        </m:den>
                      </m:f>
                      <m:r>
                        <a:rPr lang="en-US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−5.38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0854AB-805D-E56B-6DCB-06F3C076F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blipFill>
                <a:blip r:embed="rId2"/>
                <a:stretch>
                  <a:fillRect l="-570" t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182F49E1-F8EE-A9E3-4EAA-3553C4BB38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9" r="639"/>
          <a:stretch/>
        </p:blipFill>
        <p:spPr>
          <a:xfrm>
            <a:off x="5436098" y="496711"/>
            <a:ext cx="3301502" cy="993423"/>
          </a:xfrm>
          <a:prstGeom prst="rect">
            <a:avLst/>
          </a:prstGeom>
          <a:ln w="53975"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1905096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C6986-3681-C40D-4375-40E78D48C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F9AE0D-4CE0-EEF1-D6DD-D81B56319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134" y="1322473"/>
            <a:ext cx="6197600" cy="5384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8E932E3-A1BE-DF95-2A54-09FFAE23D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184" y="249133"/>
            <a:ext cx="61595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9907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F6D4E-7527-FDF9-3312-D0EC49F0D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49E4B3-10F1-79FA-4DC0-701F50414866}"/>
              </a:ext>
            </a:extLst>
          </p:cNvPr>
          <p:cNvSpPr txBox="1"/>
          <p:nvPr/>
        </p:nvSpPr>
        <p:spPr>
          <a:xfrm>
            <a:off x="1549764" y="1608202"/>
            <a:ext cx="54319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Ford Antenna Medium" panose="02000505000000020004" pitchFamily="2" charset="0"/>
              </a:rPr>
              <a:t>RUN 1  - Using </a:t>
            </a:r>
          </a:p>
          <a:p>
            <a:pPr algn="ctr"/>
            <a:endParaRPr lang="en-US" sz="3200" dirty="0">
              <a:latin typeface="Ford Antenna Medium" panose="02000505000000020004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2D2F7A9-ABC1-F6BB-40AF-719897302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00091"/>
              </p:ext>
            </p:extLst>
          </p:nvPr>
        </p:nvGraphicFramePr>
        <p:xfrm>
          <a:off x="1888298" y="3429000"/>
          <a:ext cx="475488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396371366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z_cum_tb_rcvd_ratio_snr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99500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z_pool_tb_ratio_mean_snr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84190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u="none" strike="noStrike" dirty="0" err="1">
                          <a:effectLst/>
                        </a:rPr>
                        <a:t>z_star_pool_interaction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6401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02598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42F91-9C22-44DA-A6FA-011D7F23C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C33E5A-03AC-B4C9-C368-5C8A3B4B9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64A2E6-A211-B69B-B6E3-47085E59950D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𝑝𝑜𝑜𝑙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𝑟𝑎𝑡𝑖𝑜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𝑚𝑒𝑎𝑛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64A2E6-A211-B69B-B6E3-47085E599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36777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0F404-C580-35F4-4077-45EC17254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AF70A22-DCD7-5049-36D8-08EA3BCC5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809" y="0"/>
            <a:ext cx="71083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2944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FB018-70DB-2E48-BC61-39C809AD1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C0BA31-8D3E-13E8-7969-277AF2B65C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56223" y="1305564"/>
            <a:ext cx="7038977" cy="522172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FAE16E3-CF64-84AD-9342-FE4EE936D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09" y="331600"/>
            <a:ext cx="7682005" cy="40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9017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2F7D4-205B-B594-5E30-E76CF9FC3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9FCCB8-843F-3774-3B1C-306F7CB5E5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5064" y="2342320"/>
            <a:ext cx="9118936" cy="32921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194B67-2FAB-F8AA-C2FE-86BC0C09A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3245"/>
            <a:ext cx="68580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6615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E23EF-18F4-9855-C86D-E093F50CB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9D6008-59BE-1E6D-B08D-0F89C8F6CB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7942" y="2176669"/>
            <a:ext cx="7668115" cy="25046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2EE7C8-FDCF-11AC-3D2F-8C0A648C1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249" y="249133"/>
            <a:ext cx="61595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3400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B27A4-1F0F-313A-C211-29049F4F1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AE7F81-B8FA-F488-C6F7-7061D3EF5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0435"/>
            <a:ext cx="4389120" cy="28835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C89763-4241-F16B-BF37-1A8B46D52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2" y="932182"/>
            <a:ext cx="4389120" cy="28400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55C860-4906-31C9-17CB-034550EB2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3913909"/>
            <a:ext cx="4389120" cy="294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7124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04D93-34A4-9DA3-5586-A2469F569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940E3E-8F8D-969B-3867-E6BE21ED3B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26038" y="1051053"/>
            <a:ext cx="6403394" cy="56872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FCA2FD5-5B77-03C0-DB02-44C8EB77A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5" y="213373"/>
            <a:ext cx="7531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019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FC4DF-32A1-87AC-9D0A-347B51620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5B64F17-0D4E-C025-2FEB-0C9B520D0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1876"/>
            <a:ext cx="7772400" cy="651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6090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D1D88-3095-80F5-CAF4-4978A361A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9970CB-6060-D847-CE09-F23E0D154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72751"/>
            <a:ext cx="7772400" cy="25124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E6F4E6-A8A4-3783-4C9A-621138DA1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7072"/>
            <a:ext cx="7772400" cy="48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5825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FE479-198F-1894-62CA-332B4E1E6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A06CCB-ACD3-991F-CBBF-427F2B22B7D4}"/>
                  </a:ext>
                </a:extLst>
              </p:cNvPr>
              <p:cNvSpPr txBox="1"/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To quantify the two effects with respect to each other: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the 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fitted model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𝐻𝑅</m:t>
                              </m:r>
                            </m:e>
                          </m:d>
                        </m:e>
                      </m:func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1∗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2∗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3∗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with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 effect of x at a given y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 +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 effect of y at a given x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 +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 simple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trade‑off rate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(how much x you need to change to offset y) is therefore:</a:t>
                </a:r>
                <a:endParaRPr lang="en-US" b="0" i="0" kern="100" dirty="0">
                  <a:solidFill>
                    <a:srgbClr val="011893"/>
                  </a:solidFill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kern="100" smtClean="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 + 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 + 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 there’s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 interaction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 = 0)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then it simplifies to: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𝑑𝑦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−</m:t>
                    </m:r>
                    <m:f>
                      <m:fPr>
                        <m:ctrlP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2 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So, a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+1 </m:t>
                    </m:r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increase in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		is equivalent to 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02060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 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change in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𝑐𝑢𝑚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𝑟𝑐𝑣𝑑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AA06CCB-ACD3-991F-CBBF-427F2B22B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blipFill>
                <a:blip r:embed="rId2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6450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65162-95A5-DCEF-7848-394DEAA45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BCB870-15E4-83A5-8B28-DB2954EE70BA}"/>
                  </a:ext>
                </a:extLst>
              </p:cNvPr>
              <p:cNvSpPr txBox="1"/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r>
                  <a:rPr lang="en-US" b="1" dirty="0"/>
                  <a:t>Using the generated coefficient table: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𝑐𝑢𝑚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0.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3169</m:t>
                    </m:r>
                  </m:oMath>
                </a14:m>
                <a:r>
                  <a:rPr lang="en-US" dirty="0"/>
                  <a:t>  for 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endParaRPr lang="en-US" dirty="0"/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𝑝𝑜𝑜𝑙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0.0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590</m:t>
                    </m:r>
                  </m:oMath>
                </a14:m>
                <a:r>
                  <a:rPr lang="en-US" dirty="0"/>
                  <a:t>  for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With no interaction term, the trade‑off at constant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𝑯𝑹</m:t>
                    </m:r>
                  </m:oMath>
                </a14:m>
                <a:r>
                  <a:rPr lang="en-US" b="1" dirty="0"/>
                  <a:t> is: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𝑝𝑜𝑜𝑙</m:t>
                              </m:r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−1.2951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r>
                  <a:rPr lang="en-US" b="1" dirty="0"/>
                  <a:t>Interpretation (z‑score units):</a:t>
                </a:r>
                <a:endParaRPr lang="en-US" dirty="0"/>
              </a:p>
              <a:p>
                <a:pPr algn="ctr"/>
                <a:r>
                  <a:rPr lang="en-US" dirty="0"/>
                  <a:t>A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 </a:t>
                </a:r>
                <a:r>
                  <a:rPr lang="en-US" dirty="0"/>
                  <a:t>change in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is offset by</a:t>
                </a:r>
              </a:p>
              <a:p>
                <a:pPr algn="ctr"/>
                <a:r>
                  <a:rPr lang="en-US" dirty="0"/>
                  <a:t>A 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−1.2951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 </a:t>
                </a:r>
              </a:p>
              <a:p>
                <a:pPr algn="ctr"/>
                <a:r>
                  <a:rPr lang="en-US" dirty="0"/>
                  <a:t>to keep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𝐻𝑅</m:t>
                    </m:r>
                  </m:oMath>
                </a14:m>
                <a:r>
                  <a:rPr lang="en-US" dirty="0"/>
                  <a:t> constant.</a:t>
                </a:r>
              </a:p>
              <a:p>
                <a:endParaRPr lang="en-US" b="1" dirty="0"/>
              </a:p>
              <a:p>
                <a:r>
                  <a:rPr lang="en-US" b="1" dirty="0"/>
                  <a:t>Equivalently: 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𝑐𝑢𝑚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𝑡𝑏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𝑟𝑐𝑣𝑑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𝑠𝑛𝑟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/>
                  <a:t>is about 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0.7722</m:t>
                    </m:r>
                    <m:r>
                      <a:rPr lang="en-US" sz="20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>
                    <a:solidFill>
                      <a:srgbClr val="002060"/>
                    </a:solidFill>
                  </a:rPr>
                  <a:t> 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the effect of A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  <m:r>
                      <m:rPr>
                        <m:nor/>
                      </m:rPr>
                      <a:rPr lang="en-US" kern="100" dirty="0"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en-US" dirty="0"/>
                  <a:t>  </a:t>
                </a:r>
              </a:p>
              <a:p>
                <a:r>
                  <a:rPr lang="en-US" b="1" dirty="0"/>
                  <a:t>Since</a:t>
                </a:r>
                <a:endParaRPr lang="en-US" b="1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𝑐𝑢𝑚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𝑝𝑜𝑜𝑙</m:t>
                              </m:r>
                            </m:sub>
                          </m:sSub>
                        </m:den>
                      </m:f>
                      <m:r>
                        <a:rPr lang="en-US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0.7722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BCB870-15E4-83A5-8B28-DB2954EE7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blipFill>
                <a:blip r:embed="rId2"/>
                <a:stretch>
                  <a:fillRect l="-570" t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47928E8-C2D1-56AE-F0F7-190842AF3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007" y="356631"/>
            <a:ext cx="3445255" cy="111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4404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6830E-11D2-E76A-CFB7-F920EB2AC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AF5912-ACC7-7E1A-803B-3C86C98A0478}"/>
              </a:ext>
            </a:extLst>
          </p:cNvPr>
          <p:cNvSpPr txBox="1"/>
          <p:nvPr/>
        </p:nvSpPr>
        <p:spPr>
          <a:xfrm>
            <a:off x="1549764" y="1608202"/>
            <a:ext cx="54319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Ford Antenna Medium" panose="02000505000000020004" pitchFamily="2" charset="0"/>
              </a:rPr>
              <a:t>RUN 2  - Using </a:t>
            </a:r>
          </a:p>
          <a:p>
            <a:pPr algn="ctr"/>
            <a:endParaRPr lang="en-US" sz="3200" dirty="0">
              <a:latin typeface="Ford Antenna Medium" panose="02000505000000020004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A2A60EA-10FD-51C2-54DE-D30235A45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110347"/>
              </p:ext>
            </p:extLst>
          </p:nvPr>
        </p:nvGraphicFramePr>
        <p:xfrm>
          <a:off x="1888298" y="3429000"/>
          <a:ext cx="4754880" cy="112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396371366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z_tb_ratio_rank_norm_snr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7995004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z_pool_tb_ratio_mean_snr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841903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z_rank_pool_interaction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6401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86904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E2F4E-156D-3FDB-8A70-A7DDE23CC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8B0CC9-F7C9-BA52-1E03-C1D3BBFE1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37" y="127226"/>
            <a:ext cx="7340600" cy="584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549D6E3-BC5A-8237-0A8A-D30E1A022046}"/>
                  </a:ext>
                </a:extLst>
              </p:cNvPr>
              <p:cNvSpPr txBox="1"/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Competing Risks 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400" dirty="0"/>
                  <a:t>Cumulative Incidence Function Curve (empirical)  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𝑝𝑜𝑜𝑙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𝑡𝑏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𝑟𝑎𝑡𝑖𝑜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𝑚𝑒𝑎𝑛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𝑠𝑛𝑟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549D6E3-BC5A-8237-0A8A-D30E1A022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175" y="2180488"/>
                <a:ext cx="7436125" cy="1754326"/>
              </a:xfrm>
              <a:prstGeom prst="rect">
                <a:avLst/>
              </a:prstGeom>
              <a:blipFill>
                <a:blip r:embed="rId3"/>
                <a:stretch>
                  <a:fillRect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80730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25FA4-B685-AD44-8F12-4AA33D2C7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D03381-787B-7345-19E9-822AA182C9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59154" y="0"/>
            <a:ext cx="70256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4444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525F8-E1E4-AFE5-6A0A-E1A26980D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C4D896-7226-3218-4376-CAB8EC435F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56223" y="1301675"/>
            <a:ext cx="7038977" cy="522950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0229865-8F89-A30C-D8DA-18B6480C8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709" y="331600"/>
            <a:ext cx="7682005" cy="40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5184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ED324-8E30-AB42-0920-9E136F8DA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1BACC6-0BCE-659C-5BDB-7FCF228D16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94" y="1782921"/>
            <a:ext cx="8968875" cy="32921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2069B81-1E05-41D5-73DA-0A048BE89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3245"/>
            <a:ext cx="6858000" cy="3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0662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82EE7-D019-63E0-1026-1E107010C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F7E247-1100-6B13-9A85-29DB7E2DA7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7574" y="2359919"/>
            <a:ext cx="8828853" cy="28644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E14B50-52E0-4A21-A68A-F2827A40A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250" y="249133"/>
            <a:ext cx="61595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0771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83DFE-F43E-E9DE-05EF-5DA925A9A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DFC808-B438-7E93-3402-0243DFA743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747" y="910435"/>
            <a:ext cx="4385625" cy="28835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3190CE-1894-1B0D-ACF7-0BA0846049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8190" y="932182"/>
            <a:ext cx="4382503" cy="28400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9EEC00-E288-3AC0-5A65-C58B86840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3834264"/>
            <a:ext cx="4389120" cy="293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432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6C2B7-8B8A-256E-76DF-A36DCBE9A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1EC3BC-0548-EEC5-DFEA-77FDB9401B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26038" y="1066851"/>
            <a:ext cx="6403394" cy="565562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33E9456-AA7B-F598-EB83-75DCD2261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85" y="213373"/>
            <a:ext cx="753110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8663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C3F5F-29CD-C4A5-F5BB-077D5FEAF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A9E943-BFA8-6A91-14A0-07F4CD1C4B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01576" y="171876"/>
            <a:ext cx="7740848" cy="651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3448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0D88F-E485-36D4-3174-D26D24612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77B505E-C02F-B3D8-D36D-E468811589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5490030" y="1183341"/>
            <a:ext cx="4805444" cy="13504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D068CA-9439-6450-C85A-03B4AC754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771" y="2275133"/>
            <a:ext cx="6360459" cy="20350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15DC92-836B-E184-3C86-06D8073183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7072"/>
            <a:ext cx="7772400" cy="48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126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BB775-383A-D2CF-003D-0C287EAB2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D32EAB-8A80-F52E-CE92-152ED28B3FB1}"/>
                  </a:ext>
                </a:extLst>
              </p:cNvPr>
              <p:cNvSpPr txBox="1"/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To quantify the two effects with respect to each other: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 the 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fitted model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𝐻𝑅</m:t>
                              </m:r>
                            </m:e>
                          </m:d>
                        </m:e>
                      </m:func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1∗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2∗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+ 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3∗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with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𝑟𝑎𝑛𝑘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𝑛𝑜𝑟𝑚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b="0" i="1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then: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 effect of x at a given y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 +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Marginal effect of y at a given x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m:rPr>
                        <m:sty m:val="p"/>
                      </m:rPr>
                      <a:rPr lang="en-US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log</m:t>
                    </m:r>
                    <m:r>
                      <a:rPr lang="en-US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⁡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)=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 + 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3∗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 simple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trade‑off rate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(how much x you need to change to offset y) is therefore:</a:t>
                </a:r>
                <a:endParaRPr lang="en-US" b="0" i="0" kern="100" dirty="0">
                  <a:solidFill>
                    <a:srgbClr val="011893"/>
                  </a:solidFill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kern="100" smtClean="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i="1" kern="100">
                          <a:solidFill>
                            <a:srgbClr val="011893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 + 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i="1" kern="100">
                              <a:solidFill>
                                <a:srgbClr val="011893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1 + 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3∗</m:t>
                              </m:r>
                              <m:r>
                                <a:rPr lang="en-US" i="1" kern="100">
                                  <a:solidFill>
                                    <a:srgbClr val="0118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If there’s </a:t>
                </a:r>
                <a:r>
                  <a:rPr lang="en-US" b="1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no interaction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 = 0)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then it simplifies to:</a:t>
                </a:r>
                <a14:m>
                  <m:oMath xmlns:m="http://schemas.openxmlformats.org/officeDocument/2006/math">
                    <m:r>
                      <a:rPr lang="en-US" b="0" i="0" kern="100" smtClean="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𝑑𝑦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den>
                    </m:f>
                    <m:r>
                      <a:rPr lang="en-US" i="1" kern="100">
                        <a:solidFill>
                          <a:srgbClr val="011893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 −</m:t>
                    </m:r>
                    <m:f>
                      <m:fPr>
                        <m:ctrlP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2 </m:t>
                        </m:r>
                      </m:num>
                      <m:den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i="1" kern="100">
                            <a:solidFill>
                              <a:srgbClr val="011893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So, a </a:t>
                </a:r>
                <a14:m>
                  <m:oMath xmlns:m="http://schemas.openxmlformats.org/officeDocument/2006/math">
                    <m:r>
                      <a:rPr lang="en-US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+1 </m:t>
                    </m:r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increase in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			is equivalent to </a:t>
                </a:r>
              </a:p>
              <a:p>
                <a:pPr marL="228600" marR="0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  <m:r>
                          <a:rPr lang="en-US" b="0" i="1" kern="100" smtClean="0">
                            <a:solidFill>
                              <a:srgbClr val="00206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den>
                    </m:f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kern="100" smtClean="0">
                        <a:solidFill>
                          <a:srgbClr val="002060"/>
                        </a:solidFill>
                        <a:effectLst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</m:oMath>
                </a14:m>
                <a:r>
                  <a:rPr lang="en-US" kern="100" dirty="0">
                    <a:solidFill>
                      <a:srgbClr val="002060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  </a:t>
                </a:r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change in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𝑟𝑎𝑛𝑘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𝑛𝑜𝑟𝑚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D32EAB-8A80-F52E-CE92-152ED28B3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05" y="0"/>
                <a:ext cx="8902840" cy="6576031"/>
              </a:xfrm>
              <a:prstGeom prst="rect">
                <a:avLst/>
              </a:prstGeom>
              <a:blipFill>
                <a:blip r:embed="rId2"/>
                <a:stretch>
                  <a:fillRect t="-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62409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9F504-24A9-684B-4C6F-FBB38E470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10F48F-281D-882D-0194-103E1B624C03}"/>
                  </a:ext>
                </a:extLst>
              </p:cNvPr>
              <p:cNvSpPr txBox="1"/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noFill/>
            </p:spPr>
            <p:txBody>
              <a:bodyPr wrap="square" numCol="2">
                <a:noAutofit/>
              </a:bodyPr>
              <a:lstStyle/>
              <a:p>
                <a:r>
                  <a:rPr lang="en-US" b="1" dirty="0"/>
                  <a:t>Using the generated coefficient table: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𝑟𝑎𝑛𝑘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 0.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3169</m:t>
                    </m:r>
                  </m:oMath>
                </a14:m>
                <a:r>
                  <a:rPr lang="en-US" dirty="0"/>
                  <a:t>  for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𝑟𝑎𝑛𝑘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𝑛𝑜𝑟𝑚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r>
                  <a:rPr lang="en-US" dirty="0"/>
                  <a:t>.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𝑝𝑜𝑜𝑙</m:t>
                        </m:r>
                      </m:sub>
                    </m:sSub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0.0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590</m:t>
                    </m:r>
                  </m:oMath>
                </a14:m>
                <a:r>
                  <a:rPr lang="en-US" dirty="0"/>
                  <a:t>  for 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endParaRPr lang="en-US" b="1" dirty="0"/>
              </a:p>
              <a:p>
                <a:endParaRPr lang="en-US" b="1" dirty="0"/>
              </a:p>
              <a:p>
                <a:r>
                  <a:rPr lang="en-US" b="1" dirty="0"/>
                  <a:t>With no interaction term, the trade‑off at constant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𝑯𝑹</m:t>
                    </m:r>
                  </m:oMath>
                </a14:m>
                <a:r>
                  <a:rPr lang="en-US" b="1" dirty="0"/>
                  <a:t> is: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 −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𝑝𝑜𝑜𝑙</m:t>
                              </m:r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𝑟𝑎𝑛𝑘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−1.3632</m:t>
                      </m:r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r>
                  <a:rPr lang="en-US" b="1" dirty="0"/>
                  <a:t>Interpretation (z‑score units):</a:t>
                </a:r>
                <a:endParaRPr lang="en-US" dirty="0"/>
              </a:p>
              <a:p>
                <a:pPr algn="ctr"/>
                <a:r>
                  <a:rPr lang="en-US" dirty="0"/>
                  <a:t>A</a:t>
                </a:r>
                <a:r>
                  <a:rPr lang="en-US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 </a:t>
                </a:r>
                <a:r>
                  <a:rPr lang="en-US" dirty="0"/>
                  <a:t>change in </a:t>
                </a:r>
                <a:r>
                  <a:rPr lang="en-US" kern="100" dirty="0">
                    <a:solidFill>
                      <a:srgbClr val="011893"/>
                    </a:solidFill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is offset by</a:t>
                </a:r>
              </a:p>
              <a:p>
                <a:pPr algn="ctr"/>
                <a:r>
                  <a:rPr lang="en-US" dirty="0"/>
                  <a:t>A 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1863</m:t>
                    </m:r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:r>
                  <a:rPr lang="en-US" kern="100" dirty="0">
                    <a:solidFill>
                      <a:srgbClr val="011893"/>
                    </a:solidFill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𝑟𝑎𝑛𝑘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𝑛𝑜𝑟𝑚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en-US" dirty="0"/>
                  <a:t>to keep 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𝐻𝑅</m:t>
                    </m:r>
                  </m:oMath>
                </a14:m>
                <a:r>
                  <a:rPr lang="en-US" dirty="0"/>
                  <a:t> constant.</a:t>
                </a:r>
              </a:p>
              <a:p>
                <a:endParaRPr lang="en-US" b="1" dirty="0"/>
              </a:p>
              <a:p>
                <a:r>
                  <a:rPr lang="en-US" b="1" dirty="0"/>
                  <a:t>Equivalently: </a:t>
                </a:r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:r>
                  <a:rPr lang="en-US" kern="100" dirty="0">
                    <a:solidFill>
                      <a:srgbClr val="011893"/>
                    </a:solidFill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𝑟𝑎𝑛𝑘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𝑛𝑜𝑟𝑚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endParaRPr lang="en-US" dirty="0"/>
              </a:p>
              <a:p>
                <a:pPr algn="ctr">
                  <a:lnSpc>
                    <a:spcPct val="150000"/>
                  </a:lnSpc>
                </a:pPr>
                <a:r>
                  <a:rPr lang="en-US" sz="2000" dirty="0"/>
                  <a:t>is about 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0.7336</m:t>
                    </m:r>
                    <m:r>
                      <a:rPr lang="en-US" sz="20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dirty="0">
                    <a:solidFill>
                      <a:srgbClr val="002060"/>
                    </a:solidFill>
                  </a:rPr>
                  <a:t> 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dirty="0"/>
                  <a:t>the effect of A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+1 </m:t>
                    </m:r>
                    <m:r>
                      <a:rPr lang="en-US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 change in </a:t>
                </a:r>
                <a:r>
                  <a:rPr lang="en-US" kern="100" dirty="0">
                    <a:solidFill>
                      <a:srgbClr val="011893"/>
                    </a:solidFill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𝑝𝑜𝑜𝑙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𝑡𝑏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𝑟𝑎𝑡𝑖𝑜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𝑚𝑒𝑎𝑛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_</m:t>
                    </m:r>
                    <m:r>
                      <a:rPr lang="en-US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𝑠𝑛𝑟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Since</a:t>
                </a:r>
                <a:endParaRPr lang="en-US" b="1" i="0" dirty="0">
                  <a:solidFill>
                    <a:srgbClr val="00206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𝑟𝑎𝑛𝑘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dirty="0" err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𝑝𝑜𝑜𝑙</m:t>
                              </m:r>
                            </m:sub>
                          </m:sSub>
                        </m:den>
                      </m:f>
                      <m:r>
                        <a:rPr lang="en-US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0.7336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10F48F-281D-882D-0194-103E1B624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80" y="356631"/>
                <a:ext cx="8902840" cy="6416702"/>
              </a:xfrm>
              <a:prstGeom prst="rect">
                <a:avLst/>
              </a:prstGeom>
              <a:blipFill>
                <a:blip r:embed="rId2"/>
                <a:stretch>
                  <a:fillRect l="-570" t="-593" b="-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7B1D708-5E9A-A980-9062-4F2192F94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885" y="478044"/>
            <a:ext cx="3470686" cy="1110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995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4328</TotalTime>
  <Words>1710</Words>
  <Application>Microsoft Macintosh PowerPoint</Application>
  <PresentationFormat>On-screen Show (4:3)</PresentationFormat>
  <Paragraphs>172</Paragraphs>
  <Slides>47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Aptos</vt:lpstr>
      <vt:lpstr>Aptos Display</vt:lpstr>
      <vt:lpstr>Aptos Narrow</vt:lpstr>
      <vt:lpstr>Arial</vt:lpstr>
      <vt:lpstr>Cambria Math</vt:lpstr>
      <vt:lpstr>Ford Antenna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Levine, Charles R CTR</dc:creator>
  <cp:lastModifiedBy>Levine, Charles R CTR</cp:lastModifiedBy>
  <cp:revision>18</cp:revision>
  <cp:lastPrinted>2026-02-09T19:02:00Z</cp:lastPrinted>
  <dcterms:created xsi:type="dcterms:W3CDTF">2026-01-28T22:43:07Z</dcterms:created>
  <dcterms:modified xsi:type="dcterms:W3CDTF">2026-02-09T20:55:47Z</dcterms:modified>
</cp:coreProperties>
</file>